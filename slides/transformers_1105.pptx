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8"/>
  </p:notesMasterIdLst>
  <p:sldIdLst>
    <p:sldId id="264" r:id="rId2"/>
    <p:sldId id="518" r:id="rId3"/>
    <p:sldId id="665" r:id="rId4"/>
    <p:sldId id="668" r:id="rId5"/>
    <p:sldId id="698" r:id="rId6"/>
    <p:sldId id="699" r:id="rId7"/>
    <p:sldId id="700" r:id="rId8"/>
    <p:sldId id="681" r:id="rId9"/>
    <p:sldId id="701" r:id="rId10"/>
    <p:sldId id="631" r:id="rId11"/>
    <p:sldId id="703" r:id="rId12"/>
    <p:sldId id="709" r:id="rId13"/>
    <p:sldId id="710" r:id="rId14"/>
    <p:sldId id="521" r:id="rId15"/>
    <p:sldId id="523" r:id="rId16"/>
    <p:sldId id="706" r:id="rId17"/>
    <p:sldId id="285" r:id="rId18"/>
    <p:sldId id="526" r:id="rId19"/>
    <p:sldId id="528" r:id="rId20"/>
    <p:sldId id="529" r:id="rId21"/>
    <p:sldId id="704" r:id="rId22"/>
    <p:sldId id="707" r:id="rId23"/>
    <p:sldId id="708" r:id="rId24"/>
    <p:sldId id="702" r:id="rId25"/>
    <p:sldId id="520" r:id="rId26"/>
    <p:sldId id="525" r:id="rId27"/>
    <p:sldId id="527" r:id="rId28"/>
    <p:sldId id="530" r:id="rId29"/>
    <p:sldId id="531" r:id="rId30"/>
    <p:sldId id="532" r:id="rId31"/>
    <p:sldId id="533" r:id="rId32"/>
    <p:sldId id="662" r:id="rId33"/>
    <p:sldId id="325" r:id="rId34"/>
    <p:sldId id="711" r:id="rId35"/>
    <p:sldId id="331" r:id="rId36"/>
    <p:sldId id="333" r:id="rId37"/>
    <p:sldId id="650" r:id="rId38"/>
    <p:sldId id="667" r:id="rId39"/>
    <p:sldId id="712" r:id="rId40"/>
    <p:sldId id="300" r:id="rId41"/>
    <p:sldId id="654" r:id="rId42"/>
    <p:sldId id="653" r:id="rId43"/>
    <p:sldId id="334" r:id="rId44"/>
    <p:sldId id="714" r:id="rId45"/>
    <p:sldId id="338" r:id="rId46"/>
    <p:sldId id="713" r:id="rId47"/>
    <p:sldId id="716" r:id="rId48"/>
    <p:sldId id="320" r:id="rId49"/>
    <p:sldId id="321" r:id="rId50"/>
    <p:sldId id="522" r:id="rId51"/>
    <p:sldId id="717" r:id="rId52"/>
    <p:sldId id="652" r:id="rId53"/>
    <p:sldId id="663" r:id="rId54"/>
    <p:sldId id="718" r:id="rId55"/>
    <p:sldId id="719" r:id="rId56"/>
    <p:sldId id="610" r:id="rId5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46"/>
    <p:restoredTop sz="90822"/>
  </p:normalViewPr>
  <p:slideViewPr>
    <p:cSldViewPr snapToGrid="0">
      <p:cViewPr varScale="1">
        <p:scale>
          <a:sx n="123" d="100"/>
          <a:sy n="123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2025/11/6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31009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7841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24841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69923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6475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stats.stackexchange.com</a:t>
            </a:r>
            <a:r>
              <a:rPr kumimoji="1" lang="en" altLang="zh-TW" dirty="0"/>
              <a:t>/questions/421935/what-exactly-are-keys-queries-and-values-in-attention-mechanisms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8109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5913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3701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8279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87132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163576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0920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6081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15532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07781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803406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81524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30901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RNNs use the recurrent nature to encode relative distance, but self-attention alone does not have the concept of distance. </a:t>
            </a:r>
          </a:p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Figure link: https://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www.google.com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imgres?imgurl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=https%3A%2F%2Fen.pimg.jp%2F062%2F372%2F497%2F1%2F62372497.jpg&amp;tbnid=h12XO59LOC-2AM&amp;vet=12ahUKEwi-hZz5-aeEAxUjiq8BHWxaD30QMygLegQIARBw..i&amp;imgrefurl=https%3A%2F%2Fwww.pixtastock.com%2Fillustration%2F62372497&amp;docid=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EjyqzObtASteNM&amp;w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=450&amp;h=468&amp;q=trouble%20face%20cute%20&amp;ved=2ahUKEwi-hZz5-aeEAxUjiq8BHWxaD30QMygLegQIARBw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78347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8497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397072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57510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90684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315757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4918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151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hyperlink" Target="https://github.com/mcps5601/CGUDL_2025_fa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p.sli.do/event/uuJpcD24bAi7Qj7EzSgQCm" TargetMode="External"/><Relationship Id="rId5" Type="http://schemas.openxmlformats.org/officeDocument/2006/relationships/hyperlink" Target="https://app.sli.do/event/r6bsGhmsqjXx3WLiJiGQdT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An-example-of-the-self-attention-mechanism-following-long-distance-dependency-in-the_fig1_342301870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190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17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2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19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6.png"/><Relationship Id="rId10" Type="http://schemas.openxmlformats.org/officeDocument/2006/relationships/image" Target="../media/image45.png"/><Relationship Id="rId19" Type="http://schemas.openxmlformats.org/officeDocument/2006/relationships/image" Target="../media/image6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5.png"/><Relationship Id="rId18" Type="http://schemas.openxmlformats.org/officeDocument/2006/relationships/image" Target="../media/image76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64.png"/><Relationship Id="rId17" Type="http://schemas.openxmlformats.org/officeDocument/2006/relationships/image" Target="../media/image75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63.png"/><Relationship Id="rId5" Type="http://schemas.openxmlformats.org/officeDocument/2006/relationships/image" Target="../media/image52.png"/><Relationship Id="rId15" Type="http://schemas.openxmlformats.org/officeDocument/2006/relationships/image" Target="../media/image73.png"/><Relationship Id="rId10" Type="http://schemas.openxmlformats.org/officeDocument/2006/relationships/image" Target="../media/image62.png"/><Relationship Id="rId19" Type="http://schemas.openxmlformats.org/officeDocument/2006/relationships/image" Target="../media/image77.png"/><Relationship Id="rId4" Type="http://schemas.openxmlformats.org/officeDocument/2006/relationships/image" Target="../media/image5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79.png"/><Relationship Id="rId7" Type="http://schemas.openxmlformats.org/officeDocument/2006/relationships/image" Target="../media/image7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86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8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81.png"/><Relationship Id="rId10" Type="http://schemas.openxmlformats.org/officeDocument/2006/relationships/image" Target="../media/image220.png"/><Relationship Id="rId4" Type="http://schemas.openxmlformats.org/officeDocument/2006/relationships/image" Target="../media/image80.png"/><Relationship Id="rId9" Type="http://schemas.openxmlformats.org/officeDocument/2006/relationships/image" Target="../media/image19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80.png"/><Relationship Id="rId7" Type="http://schemas.openxmlformats.org/officeDocument/2006/relationships/image" Target="../media/image97.png"/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250.png"/><Relationship Id="rId4" Type="http://schemas.openxmlformats.org/officeDocument/2006/relationships/image" Target="../media/image9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85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0.png"/><Relationship Id="rId4" Type="http://schemas.openxmlformats.org/officeDocument/2006/relationships/image" Target="../media/image600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0.04805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Slido # DL1105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7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F45271-2AEF-5B7E-D479-A54284A7CD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5111" y="4704551"/>
            <a:ext cx="1618422" cy="16184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9" y="4749453"/>
            <a:ext cx="508083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Transformers</a:t>
            </a:r>
          </a:p>
          <a:p>
            <a:r>
              <a:rPr kumimoji="1" lang="zh-TW" altLang="en-US" sz="2400" b="1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自注意力機制模型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27136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2025/11/05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Weakness of RNNs and CNNs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Transformers [90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Announcement about Term Project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Homework 3 [25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 fontScale="90000"/>
          </a:bodyPr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4040418" y="4531432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528455" y="3181250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949" y="3073112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1557165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</a:t>
            </a:fld>
            <a:endParaRPr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07D465-17E9-F1ED-BC61-CAB9793DF4CB}"/>
              </a:ext>
            </a:extLst>
          </p:cNvPr>
          <p:cNvGrpSpPr/>
          <p:nvPr/>
        </p:nvGrpSpPr>
        <p:grpSpPr>
          <a:xfrm>
            <a:off x="547970" y="4012670"/>
            <a:ext cx="11023544" cy="1782262"/>
            <a:chOff x="547970" y="4012670"/>
            <a:chExt cx="11023544" cy="178226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E8AD376-A5C1-BCEE-A20E-1E48C4A91012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F3EBA4E-3A00-2125-D9AF-F8605FEAFFE6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9D0CDE6-9FB0-4205-398E-636C340A773C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4D46F4B8-76DD-B4A5-5BAC-8C9FCB3608E9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D2FF996-4635-36A8-C173-A858231CA9F9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F0364B9-3372-2696-B9BF-7FE6B48F8ABE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07E1F00-22F0-2B19-3BB5-583849515D8D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A299266-13B9-3FC0-4780-6364DC60E4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939ED7D-EB84-B212-99D9-551BE533707B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B0583E1-A83D-31F2-B786-D989656FF794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線箭頭接點 18">
              <a:extLst>
                <a:ext uri="{FF2B5EF4-FFF2-40B4-BE49-F238E27FC236}">
                  <a16:creationId xmlns:a16="http://schemas.microsoft.com/office/drawing/2014/main" id="{707408FA-1271-969E-0707-1DF05634E9F4}"/>
                </a:ext>
              </a:extLst>
            </p:cNvPr>
            <p:cNvCxnSpPr>
              <a:stCxn id="9" idx="3"/>
              <a:endCxn id="11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箭頭接點 19">
              <a:extLst>
                <a:ext uri="{FF2B5EF4-FFF2-40B4-BE49-F238E27FC236}">
                  <a16:creationId xmlns:a16="http://schemas.microsoft.com/office/drawing/2014/main" id="{52D2F549-477F-F97E-B3F4-000FA572D702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箭頭接點 24">
              <a:extLst>
                <a:ext uri="{FF2B5EF4-FFF2-40B4-BE49-F238E27FC236}">
                  <a16:creationId xmlns:a16="http://schemas.microsoft.com/office/drawing/2014/main" id="{25079409-120F-E7F7-131B-F009222EB0B4}"/>
                </a:ext>
              </a:extLst>
            </p:cNvPr>
            <p:cNvCxnSpPr>
              <a:cxnSpLocks/>
              <a:stCxn id="15" idx="3"/>
              <a:endCxn id="17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35C780D0-7996-5F86-8069-EA01AF90FB20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箭頭接點 28">
              <a:extLst>
                <a:ext uri="{FF2B5EF4-FFF2-40B4-BE49-F238E27FC236}">
                  <a16:creationId xmlns:a16="http://schemas.microsoft.com/office/drawing/2014/main" id="{05DE6BAC-D3EF-5A24-7B88-655B2F585ABC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2F8951A5-49BA-68FF-521E-025C42F06150}"/>
                </a:ext>
              </a:extLst>
            </p:cNvPr>
            <p:cNvSpPr txBox="1"/>
            <p:nvPr/>
          </p:nvSpPr>
          <p:spPr>
            <a:xfrm>
              <a:off x="7500792" y="4012670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1" name="直線箭頭接點 30">
              <a:extLst>
                <a:ext uri="{FF2B5EF4-FFF2-40B4-BE49-F238E27FC236}">
                  <a16:creationId xmlns:a16="http://schemas.microsoft.com/office/drawing/2014/main" id="{A969CE53-E3D8-B939-64D9-72A82539CDFB}"/>
                </a:ext>
              </a:extLst>
            </p:cNvPr>
            <p:cNvCxnSpPr>
              <a:cxnSpLocks/>
              <a:stCxn id="5" idx="0"/>
              <a:endCxn id="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89C7E87-90B6-9E46-F431-A995A78D4751}"/>
                </a:ext>
              </a:extLst>
            </p:cNvPr>
            <p:cNvSpPr txBox="1"/>
            <p:nvPr/>
          </p:nvSpPr>
          <p:spPr>
            <a:xfrm>
              <a:off x="7500792" y="5141128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4096EDDB-A80B-2CE9-109B-79E72E6289AB}"/>
                </a:ext>
              </a:extLst>
            </p:cNvPr>
            <p:cNvCxnSpPr>
              <a:cxnSpLocks/>
              <a:stCxn id="7" idx="0"/>
              <a:endCxn id="11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箭頭接點 39">
              <a:extLst>
                <a:ext uri="{FF2B5EF4-FFF2-40B4-BE49-F238E27FC236}">
                  <a16:creationId xmlns:a16="http://schemas.microsoft.com/office/drawing/2014/main" id="{0F7B40D0-4B10-0688-0473-A5E3FA79DD54}"/>
                </a:ext>
              </a:extLst>
            </p:cNvPr>
            <p:cNvCxnSpPr>
              <a:cxnSpLocks/>
              <a:stCxn id="12" idx="0"/>
              <a:endCxn id="13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箭頭接點 42">
              <a:extLst>
                <a:ext uri="{FF2B5EF4-FFF2-40B4-BE49-F238E27FC236}">
                  <a16:creationId xmlns:a16="http://schemas.microsoft.com/office/drawing/2014/main" id="{FCC67591-7155-7503-9B19-204703774C54}"/>
                </a:ext>
              </a:extLst>
            </p:cNvPr>
            <p:cNvCxnSpPr>
              <a:cxnSpLocks/>
              <a:stCxn id="14" idx="0"/>
              <a:endCxn id="15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箭頭接點 45">
              <a:extLst>
                <a:ext uri="{FF2B5EF4-FFF2-40B4-BE49-F238E27FC236}">
                  <a16:creationId xmlns:a16="http://schemas.microsoft.com/office/drawing/2014/main" id="{D0688ECF-FE41-D1A7-AFCE-73157BA34EA3}"/>
                </a:ext>
              </a:extLst>
            </p:cNvPr>
            <p:cNvCxnSpPr>
              <a:cxnSpLocks/>
              <a:stCxn id="16" idx="0"/>
              <a:endCxn id="17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9A4EAF7-C8F8-F0D7-DD7B-205830FD698E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直線箭頭接點 49">
              <a:extLst>
                <a:ext uri="{FF2B5EF4-FFF2-40B4-BE49-F238E27FC236}">
                  <a16:creationId xmlns:a16="http://schemas.microsoft.com/office/drawing/2014/main" id="{E4E944BF-886A-D3C5-57CB-3E981E9EAC43}"/>
                </a:ext>
              </a:extLst>
            </p:cNvPr>
            <p:cNvCxnSpPr>
              <a:cxnSpLocks/>
              <a:stCxn id="49" idx="3"/>
              <a:endCxn id="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5" grpId="0" animBg="1"/>
      <p:bldP spid="5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7C462-748B-33DD-14CF-D1FF7E789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序列模型 </a:t>
            </a:r>
            <a:r>
              <a:rPr kumimoji="1" lang="en-US" altLang="zh-TW" dirty="0"/>
              <a:t>(Sequential Model)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4E7FD3-4F36-3459-C894-7F3C254C0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05EB255-6B8C-5DF8-A3FE-DA863BACF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375" y="1697332"/>
            <a:ext cx="5540824" cy="2787583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741CA8A-8157-7EC5-8878-4A67905B33D4}"/>
              </a:ext>
            </a:extLst>
          </p:cNvPr>
          <p:cNvSpPr/>
          <p:nvPr/>
        </p:nvSpPr>
        <p:spPr>
          <a:xfrm>
            <a:off x="9535886" y="2387124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Conv2d</a:t>
            </a:r>
            <a:endParaRPr kumimoji="1" lang="zh-TW" altLang="en-US" sz="16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4A95FC-9D0D-8B8C-5A8F-5C18B7C565D2}"/>
              </a:ext>
            </a:extLst>
          </p:cNvPr>
          <p:cNvSpPr/>
          <p:nvPr/>
        </p:nvSpPr>
        <p:spPr>
          <a:xfrm>
            <a:off x="9535884" y="2873072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ReLU</a:t>
            </a:r>
            <a:endParaRPr kumimoji="1" lang="zh-TW" altLang="en-US" sz="16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7A428E-D535-5ABB-DCAC-B048140C884F}"/>
              </a:ext>
            </a:extLst>
          </p:cNvPr>
          <p:cNvSpPr/>
          <p:nvPr/>
        </p:nvSpPr>
        <p:spPr>
          <a:xfrm>
            <a:off x="9535884" y="3359020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MaxPool</a:t>
            </a:r>
            <a:endParaRPr kumimoji="1" lang="zh-TW" altLang="en-US" sz="1600" dirty="0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9BF4D844-E93C-7C44-6BDC-793FE4598A63}"/>
              </a:ext>
            </a:extLst>
          </p:cNvPr>
          <p:cNvCxnSpPr>
            <a:cxnSpLocks/>
          </p:cNvCxnSpPr>
          <p:nvPr/>
        </p:nvCxnSpPr>
        <p:spPr>
          <a:xfrm flipH="1">
            <a:off x="10109717" y="2676373"/>
            <a:ext cx="2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B635D24-3F8A-1E67-BE76-5BE340CF94B3}"/>
              </a:ext>
            </a:extLst>
          </p:cNvPr>
          <p:cNvCxnSpPr>
            <a:cxnSpLocks/>
          </p:cNvCxnSpPr>
          <p:nvPr/>
        </p:nvCxnSpPr>
        <p:spPr>
          <a:xfrm>
            <a:off x="10109718" y="3162321"/>
            <a:ext cx="0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5A7ADFEC-9162-ADD0-A7D8-94A078C9789F}"/>
              </a:ext>
            </a:extLst>
          </p:cNvPr>
          <p:cNvCxnSpPr>
            <a:cxnSpLocks/>
          </p:cNvCxnSpPr>
          <p:nvPr/>
        </p:nvCxnSpPr>
        <p:spPr>
          <a:xfrm>
            <a:off x="10109718" y="3648269"/>
            <a:ext cx="0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FBCA333-F37E-EB25-54C6-F93C36305DAD}"/>
              </a:ext>
            </a:extLst>
          </p:cNvPr>
          <p:cNvSpPr txBox="1"/>
          <p:nvPr/>
        </p:nvSpPr>
        <p:spPr>
          <a:xfrm>
            <a:off x="9703834" y="3792511"/>
            <a:ext cx="811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D765F99-59BD-FC26-D44B-26779DE5E102}"/>
              </a:ext>
            </a:extLst>
          </p:cNvPr>
          <p:cNvSpPr txBox="1"/>
          <p:nvPr/>
        </p:nvSpPr>
        <p:spPr>
          <a:xfrm>
            <a:off x="1129005" y="2934305"/>
            <a:ext cx="17634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一層一層執行</a:t>
            </a:r>
            <a:endParaRPr kumimoji="1" lang="en-US" altLang="zh-TW" dirty="0"/>
          </a:p>
          <a:p>
            <a:r>
              <a:rPr kumimoji="1" lang="en-US" altLang="zh-TW" dirty="0"/>
              <a:t>(Recap)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C9A1BC9-0A4C-B0AA-220C-EA7D55AB335C}"/>
              </a:ext>
            </a:extLst>
          </p:cNvPr>
          <p:cNvSpPr txBox="1"/>
          <p:nvPr/>
        </p:nvSpPr>
        <p:spPr>
          <a:xfrm>
            <a:off x="1129005" y="5310104"/>
            <a:ext cx="1902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>
                <a:solidFill>
                  <a:srgbClr val="FF0000"/>
                </a:solidFill>
              </a:rPr>
              <a:t>序列模型</a:t>
            </a:r>
            <a:r>
              <a:rPr kumimoji="1" lang="zh-TW" altLang="en-US" dirty="0">
                <a:solidFill>
                  <a:srgbClr val="FF0000"/>
                </a:solidFill>
              </a:rPr>
              <a:t>：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zh-TW" altLang="en-US" dirty="0">
                <a:solidFill>
                  <a:srgbClr val="FF0000"/>
                </a:solidFill>
              </a:rPr>
              <a:t>一步一步執行，有時間點關係</a:t>
            </a:r>
            <a:endParaRPr kumimoji="1" lang="en-US" altLang="zh-TW" dirty="0">
              <a:solidFill>
                <a:srgbClr val="FF0000"/>
              </a:solidFill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74C47B85-3139-D5F9-3489-30BECC3554C0}"/>
              </a:ext>
            </a:extLst>
          </p:cNvPr>
          <p:cNvGrpSpPr/>
          <p:nvPr/>
        </p:nvGrpSpPr>
        <p:grpSpPr>
          <a:xfrm>
            <a:off x="3284371" y="5171603"/>
            <a:ext cx="8165841" cy="1061831"/>
            <a:chOff x="547970" y="3863327"/>
            <a:chExt cx="11023544" cy="2051523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E2806CF-911B-093B-B007-19FE14E11F9B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DBE0D9F1-5B6F-2979-8724-CFBB56C15B55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0ED17-A3A9-7573-7081-E42AEB712129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B95B4C78-F775-32C5-E486-522B665B50CF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83E87B9-3221-463F-83D8-D2551D7F3CA8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C54EA726-F30F-57FC-CDEA-88960AE5A09F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B3ECA1C-2641-4CF6-7A34-E6B66100FEA6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145E30D-13A5-684D-6B03-46C4D3EA4F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D913F775-EF4F-1DA9-C210-81BD522F3783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538D150-C739-B1B8-7D92-30D36CD6353C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直線箭頭接點 56">
              <a:extLst>
                <a:ext uri="{FF2B5EF4-FFF2-40B4-BE49-F238E27FC236}">
                  <a16:creationId xmlns:a16="http://schemas.microsoft.com/office/drawing/2014/main" id="{23665542-D4B7-385F-2257-ACEC22E3DDAC}"/>
                </a:ext>
              </a:extLst>
            </p:cNvPr>
            <p:cNvCxnSpPr>
              <a:stCxn id="49" idx="3"/>
              <a:endCxn id="50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4E8DB039-2752-9BC0-754C-182D019C0AB1}"/>
                </a:ext>
              </a:extLst>
            </p:cNvPr>
            <p:cNvCxnSpPr>
              <a:cxnSpLocks/>
              <a:stCxn id="50" idx="3"/>
              <a:endCxn id="52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箭頭接點 58">
              <a:extLst>
                <a:ext uri="{FF2B5EF4-FFF2-40B4-BE49-F238E27FC236}">
                  <a16:creationId xmlns:a16="http://schemas.microsoft.com/office/drawing/2014/main" id="{CB626237-A39F-B8E2-0AC8-4B383C76E0EA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箭頭接點 59">
              <a:extLst>
                <a:ext uri="{FF2B5EF4-FFF2-40B4-BE49-F238E27FC236}">
                  <a16:creationId xmlns:a16="http://schemas.microsoft.com/office/drawing/2014/main" id="{196D7A8B-8825-1B8B-DD0D-5F758596C587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箭頭接點 60">
              <a:extLst>
                <a:ext uri="{FF2B5EF4-FFF2-40B4-BE49-F238E27FC236}">
                  <a16:creationId xmlns:a16="http://schemas.microsoft.com/office/drawing/2014/main" id="{8DAC81AF-3DC2-F8A1-742E-57699D00F1D9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8E1027C-341D-68DA-1D79-F3415FFDCED2}"/>
                </a:ext>
              </a:extLst>
            </p:cNvPr>
            <p:cNvSpPr txBox="1"/>
            <p:nvPr/>
          </p:nvSpPr>
          <p:spPr>
            <a:xfrm>
              <a:off x="7500792" y="3863327"/>
              <a:ext cx="683580" cy="891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cxnSp>
          <p:nvCxnSpPr>
            <p:cNvPr id="63" name="直線箭頭接點 62">
              <a:extLst>
                <a:ext uri="{FF2B5EF4-FFF2-40B4-BE49-F238E27FC236}">
                  <a16:creationId xmlns:a16="http://schemas.microsoft.com/office/drawing/2014/main" id="{FD2F4CB1-EAF4-F594-1177-26DD24EC608E}"/>
                </a:ext>
              </a:extLst>
            </p:cNvPr>
            <p:cNvCxnSpPr>
              <a:cxnSpLocks/>
              <a:stCxn id="47" idx="0"/>
              <a:endCxn id="4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527CF7D0-F6B5-1AF7-608C-CD177CAA1F4B}"/>
                </a:ext>
              </a:extLst>
            </p:cNvPr>
            <p:cNvSpPr txBox="1"/>
            <p:nvPr/>
          </p:nvSpPr>
          <p:spPr>
            <a:xfrm>
              <a:off x="7503019" y="5022885"/>
              <a:ext cx="683580" cy="891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cxnSp>
          <p:nvCxnSpPr>
            <p:cNvPr id="65" name="直線箭頭接點 64">
              <a:extLst>
                <a:ext uri="{FF2B5EF4-FFF2-40B4-BE49-F238E27FC236}">
                  <a16:creationId xmlns:a16="http://schemas.microsoft.com/office/drawing/2014/main" id="{53CF1FAA-EB5F-9DAE-344C-A34D7A79C5ED}"/>
                </a:ext>
              </a:extLst>
            </p:cNvPr>
            <p:cNvCxnSpPr>
              <a:cxnSpLocks/>
              <a:stCxn id="48" idx="0"/>
              <a:endCxn id="50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箭頭接點 65">
              <a:extLst>
                <a:ext uri="{FF2B5EF4-FFF2-40B4-BE49-F238E27FC236}">
                  <a16:creationId xmlns:a16="http://schemas.microsoft.com/office/drawing/2014/main" id="{750A2EFB-F806-288F-4CC9-DCC80824FD1F}"/>
                </a:ext>
              </a:extLst>
            </p:cNvPr>
            <p:cNvCxnSpPr>
              <a:cxnSpLocks/>
              <a:stCxn id="51" idx="0"/>
              <a:endCxn id="52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箭頭接點 66">
              <a:extLst>
                <a:ext uri="{FF2B5EF4-FFF2-40B4-BE49-F238E27FC236}">
                  <a16:creationId xmlns:a16="http://schemas.microsoft.com/office/drawing/2014/main" id="{87E7E38B-4D47-4641-85FC-9D57DCC3EA20}"/>
                </a:ext>
              </a:extLst>
            </p:cNvPr>
            <p:cNvCxnSpPr>
              <a:cxnSpLocks/>
              <a:stCxn id="53" idx="0"/>
              <a:endCxn id="54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箭頭接點 67">
              <a:extLst>
                <a:ext uri="{FF2B5EF4-FFF2-40B4-BE49-F238E27FC236}">
                  <a16:creationId xmlns:a16="http://schemas.microsoft.com/office/drawing/2014/main" id="{EDEB6A1B-4C5C-7DB2-5817-3A896ABD65BC}"/>
                </a:ext>
              </a:extLst>
            </p:cNvPr>
            <p:cNvCxnSpPr>
              <a:cxnSpLocks/>
              <a:stCxn id="55" idx="0"/>
              <a:endCxn id="56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DDC9ACD6-F4E0-9288-6780-76F520682107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線箭頭接點 69">
              <a:extLst>
                <a:ext uri="{FF2B5EF4-FFF2-40B4-BE49-F238E27FC236}">
                  <a16:creationId xmlns:a16="http://schemas.microsoft.com/office/drawing/2014/main" id="{792E650A-D404-21FF-D574-5F6C6E5A69D4}"/>
                </a:ext>
              </a:extLst>
            </p:cNvPr>
            <p:cNvCxnSpPr>
              <a:cxnSpLocks/>
              <a:stCxn id="69" idx="3"/>
              <a:endCxn id="4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B878BC7B-CF3A-DD83-C2AD-492D55618A73}"/>
              </a:ext>
            </a:extLst>
          </p:cNvPr>
          <p:cNvCxnSpPr/>
          <p:nvPr/>
        </p:nvCxnSpPr>
        <p:spPr>
          <a:xfrm>
            <a:off x="800886" y="4674637"/>
            <a:ext cx="107115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31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9" grpId="0"/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47294B-057B-CF76-374A-E0E0AD93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為什麼我們需要序列模型</a:t>
            </a:r>
            <a:r>
              <a:rPr kumimoji="1" lang="en" altLang="zh-TW" dirty="0"/>
              <a:t>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6F0BEF-F086-67B5-4C45-6C3E6E926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97E0D01-DF5F-9FDA-B28B-88BD22B023D6}"/>
              </a:ext>
            </a:extLst>
          </p:cNvPr>
          <p:cNvSpPr/>
          <p:nvPr/>
        </p:nvSpPr>
        <p:spPr>
          <a:xfrm>
            <a:off x="134136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430356-F0BC-3C54-0743-3EA48CCDF238}"/>
              </a:ext>
            </a:extLst>
          </p:cNvPr>
          <p:cNvSpPr/>
          <p:nvPr/>
        </p:nvSpPr>
        <p:spPr>
          <a:xfrm>
            <a:off x="2427099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C8CBCE-CD50-F953-51E6-44FD642733A6}"/>
              </a:ext>
            </a:extLst>
          </p:cNvPr>
          <p:cNvSpPr/>
          <p:nvPr/>
        </p:nvSpPr>
        <p:spPr>
          <a:xfrm>
            <a:off x="351283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A3DBFE1C-B07C-558A-6EDA-FED0F895E1D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3E1F0DF0-5BB6-59E2-566E-CA6DB118843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5D89391E-EBD1-FD77-A537-D7A4239F14CC}"/>
              </a:ext>
            </a:extLst>
          </p:cNvPr>
          <p:cNvSpPr/>
          <p:nvPr/>
        </p:nvSpPr>
        <p:spPr>
          <a:xfrm>
            <a:off x="4598570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9DE089D-B868-23AA-D4B4-3AFBB8D462FD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89F7D9DB-90EC-35CF-CEC5-1DDF5A61BBBF}"/>
              </a:ext>
            </a:extLst>
          </p:cNvPr>
          <p:cNvSpPr/>
          <p:nvPr/>
        </p:nvSpPr>
        <p:spPr>
          <a:xfrm>
            <a:off x="158969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C532B7F-1F0B-BF23-FBBC-9214EC576DCC}"/>
              </a:ext>
            </a:extLst>
          </p:cNvPr>
          <p:cNvSpPr/>
          <p:nvPr/>
        </p:nvSpPr>
        <p:spPr>
          <a:xfrm>
            <a:off x="2675428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FE3883-E20F-7FB2-E4B6-B4326F44A75B}"/>
              </a:ext>
            </a:extLst>
          </p:cNvPr>
          <p:cNvSpPr/>
          <p:nvPr/>
        </p:nvSpPr>
        <p:spPr>
          <a:xfrm>
            <a:off x="376116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4277B2-B7E7-D17E-BAC4-D1FA7AADC990}"/>
              </a:ext>
            </a:extLst>
          </p:cNvPr>
          <p:cNvSpPr/>
          <p:nvPr/>
        </p:nvSpPr>
        <p:spPr>
          <a:xfrm>
            <a:off x="4846899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213D764-A530-053D-D983-615947CEBE1F}"/>
              </a:ext>
            </a:extLst>
          </p:cNvPr>
          <p:cNvSpPr/>
          <p:nvPr/>
        </p:nvSpPr>
        <p:spPr>
          <a:xfrm>
            <a:off x="1589693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0E0F23-CC19-703B-F1B9-C6B61024E816}"/>
              </a:ext>
            </a:extLst>
          </p:cNvPr>
          <p:cNvSpPr/>
          <p:nvPr/>
        </p:nvSpPr>
        <p:spPr>
          <a:xfrm>
            <a:off x="2675428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72F3E36-26BB-8CD7-E1D4-B9BDC8B00688}"/>
              </a:ext>
            </a:extLst>
          </p:cNvPr>
          <p:cNvSpPr/>
          <p:nvPr/>
        </p:nvSpPr>
        <p:spPr>
          <a:xfrm>
            <a:off x="3761163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4D048C-A4F0-7830-2440-E59EAFCFC14B}"/>
              </a:ext>
            </a:extLst>
          </p:cNvPr>
          <p:cNvSpPr/>
          <p:nvPr/>
        </p:nvSpPr>
        <p:spPr>
          <a:xfrm>
            <a:off x="4846897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52C7D96-3CA8-3A2A-DAA7-4AB4E5AFF843}"/>
              </a:ext>
            </a:extLst>
          </p:cNvPr>
          <p:cNvCxnSpPr>
            <a:cxnSpLocks/>
            <a:stCxn id="6" idx="0"/>
            <a:endCxn id="23" idx="2"/>
          </p:cNvCxnSpPr>
          <p:nvPr/>
        </p:nvCxnSpPr>
        <p:spPr>
          <a:xfrm flipH="1" flipV="1">
            <a:off x="2774521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C9886DD7-7EEC-F054-5DED-86E6DBF8C9EB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H="1" flipV="1">
            <a:off x="1688786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A3611AA6-58C5-563F-0FAE-3EE587CC5B18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168878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A547A155-6986-3AD3-A3E0-F3A814415EA2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2774521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3F57C7D8-0091-A308-A651-53BC914EBB63}"/>
              </a:ext>
            </a:extLst>
          </p:cNvPr>
          <p:cNvCxnSpPr>
            <a:cxnSpLocks/>
            <a:stCxn id="20" idx="0"/>
            <a:endCxn id="7" idx="2"/>
          </p:cNvCxnSpPr>
          <p:nvPr/>
        </p:nvCxnSpPr>
        <p:spPr>
          <a:xfrm flipV="1">
            <a:off x="386025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287D365-41BE-6306-A2E4-C197E79F0563}"/>
              </a:ext>
            </a:extLst>
          </p:cNvPr>
          <p:cNvCxnSpPr>
            <a:cxnSpLocks/>
            <a:stCxn id="21" idx="0"/>
            <a:endCxn id="10" idx="2"/>
          </p:cNvCxnSpPr>
          <p:nvPr/>
        </p:nvCxnSpPr>
        <p:spPr>
          <a:xfrm flipV="1">
            <a:off x="4945992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946DF4D8-EACC-CBDA-2FDC-B276984986F0}"/>
              </a:ext>
            </a:extLst>
          </p:cNvPr>
          <p:cNvCxnSpPr>
            <a:cxnSpLocks/>
            <a:stCxn id="10" idx="0"/>
            <a:endCxn id="25" idx="2"/>
          </p:cNvCxnSpPr>
          <p:nvPr/>
        </p:nvCxnSpPr>
        <p:spPr>
          <a:xfrm flipH="1" flipV="1">
            <a:off x="4945990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D1F0AEBA-D174-B3D1-92B6-7F91085534C7}"/>
              </a:ext>
            </a:extLst>
          </p:cNvPr>
          <p:cNvCxnSpPr>
            <a:cxnSpLocks/>
            <a:stCxn id="7" idx="0"/>
            <a:endCxn id="24" idx="2"/>
          </p:cNvCxnSpPr>
          <p:nvPr/>
        </p:nvCxnSpPr>
        <p:spPr>
          <a:xfrm flipH="1" flipV="1">
            <a:off x="3860256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CEBE5F1-40F4-848B-AABD-2CBD6A27ADE5}"/>
              </a:ext>
            </a:extLst>
          </p:cNvPr>
          <p:cNvSpPr txBox="1"/>
          <p:nvPr/>
        </p:nvSpPr>
        <p:spPr>
          <a:xfrm>
            <a:off x="125026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194CC2ED-0831-C9FD-8A77-5580A6C2D7A6}"/>
              </a:ext>
            </a:extLst>
          </p:cNvPr>
          <p:cNvSpPr txBox="1"/>
          <p:nvPr/>
        </p:nvSpPr>
        <p:spPr>
          <a:xfrm>
            <a:off x="2335996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708BD810-B636-1101-8BC7-6094A78994B5}"/>
              </a:ext>
            </a:extLst>
          </p:cNvPr>
          <p:cNvSpPr txBox="1"/>
          <p:nvPr/>
        </p:nvSpPr>
        <p:spPr>
          <a:xfrm>
            <a:off x="342173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A25CBC80-B814-2761-4803-B4D45FF5E837}"/>
              </a:ext>
            </a:extLst>
          </p:cNvPr>
          <p:cNvSpPr txBox="1"/>
          <p:nvPr/>
        </p:nvSpPr>
        <p:spPr>
          <a:xfrm>
            <a:off x="4465087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45C2139-9DFE-ECA5-3AFE-E70041C0953F}"/>
              </a:ext>
            </a:extLst>
          </p:cNvPr>
          <p:cNvSpPr/>
          <p:nvPr/>
        </p:nvSpPr>
        <p:spPr>
          <a:xfrm>
            <a:off x="670339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5A189EF-310B-28AC-ED6B-20A0B7001859}"/>
              </a:ext>
            </a:extLst>
          </p:cNvPr>
          <p:cNvSpPr/>
          <p:nvPr/>
        </p:nvSpPr>
        <p:spPr>
          <a:xfrm>
            <a:off x="7789126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1ADC05-3091-6FDF-4FC0-F571D331F899}"/>
              </a:ext>
            </a:extLst>
          </p:cNvPr>
          <p:cNvSpPr/>
          <p:nvPr/>
        </p:nvSpPr>
        <p:spPr>
          <a:xfrm>
            <a:off x="887486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BD877B6A-D2AA-7044-A665-3A5FAE0E9CCD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7398236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63F4DC13-AF58-C154-937C-A94FE92F367B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8483971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77959D83-A107-2258-D535-FBEB61F7D5F0}"/>
              </a:ext>
            </a:extLst>
          </p:cNvPr>
          <p:cNvSpPr/>
          <p:nvPr/>
        </p:nvSpPr>
        <p:spPr>
          <a:xfrm>
            <a:off x="9960597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C5988EBB-95AA-46BA-C7AD-026A0B08208D}"/>
              </a:ext>
            </a:extLst>
          </p:cNvPr>
          <p:cNvCxnSpPr>
            <a:cxnSpLocks/>
            <a:stCxn id="60" idx="3"/>
            <a:endCxn id="63" idx="1"/>
          </p:cNvCxnSpPr>
          <p:nvPr/>
        </p:nvCxnSpPr>
        <p:spPr>
          <a:xfrm>
            <a:off x="9569706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21A0A42E-F02F-0B79-F346-D963AC3D21FB}"/>
              </a:ext>
            </a:extLst>
          </p:cNvPr>
          <p:cNvSpPr/>
          <p:nvPr/>
        </p:nvSpPr>
        <p:spPr>
          <a:xfrm>
            <a:off x="695172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380F248-5A37-CEC6-1B9C-B513E962594A}"/>
              </a:ext>
            </a:extLst>
          </p:cNvPr>
          <p:cNvSpPr/>
          <p:nvPr/>
        </p:nvSpPr>
        <p:spPr>
          <a:xfrm>
            <a:off x="8037455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EA7044A1-7051-7215-01DA-8E480A5D9206}"/>
              </a:ext>
            </a:extLst>
          </p:cNvPr>
          <p:cNvSpPr/>
          <p:nvPr/>
        </p:nvSpPr>
        <p:spPr>
          <a:xfrm>
            <a:off x="912319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34AA197-828F-AA0B-5EFF-05C97191E827}"/>
              </a:ext>
            </a:extLst>
          </p:cNvPr>
          <p:cNvSpPr/>
          <p:nvPr/>
        </p:nvSpPr>
        <p:spPr>
          <a:xfrm>
            <a:off x="10208926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50E6582-C8B8-9BE4-6BA9-FE9A73554388}"/>
              </a:ext>
            </a:extLst>
          </p:cNvPr>
          <p:cNvSpPr/>
          <p:nvPr/>
        </p:nvSpPr>
        <p:spPr>
          <a:xfrm>
            <a:off x="6951720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01DF3EBB-D516-8434-FABD-7B2B4F08B126}"/>
              </a:ext>
            </a:extLst>
          </p:cNvPr>
          <p:cNvSpPr/>
          <p:nvPr/>
        </p:nvSpPr>
        <p:spPr>
          <a:xfrm>
            <a:off x="8037455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463B3B80-1AB4-34C5-A696-657C9EAA4177}"/>
              </a:ext>
            </a:extLst>
          </p:cNvPr>
          <p:cNvSpPr/>
          <p:nvPr/>
        </p:nvSpPr>
        <p:spPr>
          <a:xfrm>
            <a:off x="9123190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8707A40-216D-B23D-0956-98BEEC8E9A1F}"/>
              </a:ext>
            </a:extLst>
          </p:cNvPr>
          <p:cNvSpPr/>
          <p:nvPr/>
        </p:nvSpPr>
        <p:spPr>
          <a:xfrm>
            <a:off x="10208924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0D79868B-BE47-A2BB-95AB-5C14D1906C4C}"/>
              </a:ext>
            </a:extLst>
          </p:cNvPr>
          <p:cNvCxnSpPr>
            <a:cxnSpLocks/>
            <a:stCxn id="59" idx="0"/>
            <a:endCxn id="70" idx="2"/>
          </p:cNvCxnSpPr>
          <p:nvPr/>
        </p:nvCxnSpPr>
        <p:spPr>
          <a:xfrm flipH="1" flipV="1">
            <a:off x="8136548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9BA9D3A9-FE11-3E8C-50A8-D1959539E455}"/>
              </a:ext>
            </a:extLst>
          </p:cNvPr>
          <p:cNvCxnSpPr>
            <a:cxnSpLocks/>
            <a:stCxn id="58" idx="0"/>
            <a:endCxn id="69" idx="2"/>
          </p:cNvCxnSpPr>
          <p:nvPr/>
        </p:nvCxnSpPr>
        <p:spPr>
          <a:xfrm flipH="1" flipV="1">
            <a:off x="7050813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箭頭接點 74">
            <a:extLst>
              <a:ext uri="{FF2B5EF4-FFF2-40B4-BE49-F238E27FC236}">
                <a16:creationId xmlns:a16="http://schemas.microsoft.com/office/drawing/2014/main" id="{C5B89438-0271-2911-2CEE-BDE76FAD0727}"/>
              </a:ext>
            </a:extLst>
          </p:cNvPr>
          <p:cNvCxnSpPr>
            <a:cxnSpLocks/>
            <a:stCxn id="65" idx="0"/>
            <a:endCxn id="58" idx="2"/>
          </p:cNvCxnSpPr>
          <p:nvPr/>
        </p:nvCxnSpPr>
        <p:spPr>
          <a:xfrm flipV="1">
            <a:off x="705081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箭頭接點 75">
            <a:extLst>
              <a:ext uri="{FF2B5EF4-FFF2-40B4-BE49-F238E27FC236}">
                <a16:creationId xmlns:a16="http://schemas.microsoft.com/office/drawing/2014/main" id="{012C37A8-A2E6-2D56-8CCF-6470B636B786}"/>
              </a:ext>
            </a:extLst>
          </p:cNvPr>
          <p:cNvCxnSpPr>
            <a:cxnSpLocks/>
            <a:stCxn id="66" idx="0"/>
            <a:endCxn id="59" idx="2"/>
          </p:cNvCxnSpPr>
          <p:nvPr/>
        </p:nvCxnSpPr>
        <p:spPr>
          <a:xfrm flipV="1">
            <a:off x="8136548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9AF486D3-A361-6702-16FA-78D4ED93B8EF}"/>
              </a:ext>
            </a:extLst>
          </p:cNvPr>
          <p:cNvCxnSpPr>
            <a:cxnSpLocks/>
            <a:stCxn id="67" idx="0"/>
            <a:endCxn id="60" idx="2"/>
          </p:cNvCxnSpPr>
          <p:nvPr/>
        </p:nvCxnSpPr>
        <p:spPr>
          <a:xfrm flipV="1">
            <a:off x="922228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6D65CAF5-FCD9-6488-A3DB-6A8222E4CF04}"/>
              </a:ext>
            </a:extLst>
          </p:cNvPr>
          <p:cNvCxnSpPr>
            <a:cxnSpLocks/>
            <a:stCxn id="68" idx="0"/>
            <a:endCxn id="63" idx="2"/>
          </p:cNvCxnSpPr>
          <p:nvPr/>
        </p:nvCxnSpPr>
        <p:spPr>
          <a:xfrm flipV="1">
            <a:off x="10308019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A6AC5094-4A3B-B872-5BBA-2B64EDB8FCF8}"/>
              </a:ext>
            </a:extLst>
          </p:cNvPr>
          <p:cNvCxnSpPr>
            <a:cxnSpLocks/>
            <a:stCxn id="63" idx="0"/>
            <a:endCxn id="72" idx="2"/>
          </p:cNvCxnSpPr>
          <p:nvPr/>
        </p:nvCxnSpPr>
        <p:spPr>
          <a:xfrm flipH="1" flipV="1">
            <a:off x="10308017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73C19F83-0E0F-76A6-E5BA-A2B98EBCC94E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flipH="1" flipV="1">
            <a:off x="9222283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E0F19CF3-2427-D1A5-EA59-44D8CC1D182E}"/>
              </a:ext>
            </a:extLst>
          </p:cNvPr>
          <p:cNvSpPr txBox="1"/>
          <p:nvPr/>
        </p:nvSpPr>
        <p:spPr>
          <a:xfrm>
            <a:off x="661228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886F13-1EAD-91CC-848B-B4365FA79919}"/>
              </a:ext>
            </a:extLst>
          </p:cNvPr>
          <p:cNvSpPr txBox="1"/>
          <p:nvPr/>
        </p:nvSpPr>
        <p:spPr>
          <a:xfrm>
            <a:off x="7698023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EF83116-D66A-BEB2-6CE2-C8E040EF0D67}"/>
              </a:ext>
            </a:extLst>
          </p:cNvPr>
          <p:cNvSpPr txBox="1"/>
          <p:nvPr/>
        </p:nvSpPr>
        <p:spPr>
          <a:xfrm>
            <a:off x="878375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river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104DEB2F-2FA1-98F3-C82D-9438DF61D2B8}"/>
              </a:ext>
            </a:extLst>
          </p:cNvPr>
          <p:cNvSpPr txBox="1"/>
          <p:nvPr/>
        </p:nvSpPr>
        <p:spPr>
          <a:xfrm>
            <a:off x="9827114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7861B53C-401A-84F6-8501-A0D54B8BA766}"/>
              </a:ext>
            </a:extLst>
          </p:cNvPr>
          <p:cNvSpPr txBox="1"/>
          <p:nvPr/>
        </p:nvSpPr>
        <p:spPr>
          <a:xfrm>
            <a:off x="5593475" y="1583246"/>
            <a:ext cx="2914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Contextual</a:t>
            </a:r>
            <a:r>
              <a:rPr kumimoji="1" lang="en-US" altLang="zh-TW" dirty="0"/>
              <a:t> Embedding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具備上下文知識的表達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cxnSp>
        <p:nvCxnSpPr>
          <p:cNvPr id="87" name="肘形接點 86">
            <a:extLst>
              <a:ext uri="{FF2B5EF4-FFF2-40B4-BE49-F238E27FC236}">
                <a16:creationId xmlns:a16="http://schemas.microsoft.com/office/drawing/2014/main" id="{37F23EB2-F95F-6851-B603-A3361CD85142}"/>
              </a:ext>
            </a:extLst>
          </p:cNvPr>
          <p:cNvCxnSpPr>
            <a:stCxn id="24" idx="0"/>
            <a:endCxn id="72" idx="0"/>
          </p:cNvCxnSpPr>
          <p:nvPr/>
        </p:nvCxnSpPr>
        <p:spPr>
          <a:xfrm rot="5400000" flipH="1" flipV="1">
            <a:off x="7084136" y="-623383"/>
            <a:ext cx="12700" cy="6447761"/>
          </a:xfrm>
          <a:prstGeom prst="bentConnector3">
            <a:avLst>
              <a:gd name="adj1" fmla="val 304898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曲線接點 89">
            <a:extLst>
              <a:ext uri="{FF2B5EF4-FFF2-40B4-BE49-F238E27FC236}">
                <a16:creationId xmlns:a16="http://schemas.microsoft.com/office/drawing/2014/main" id="{680F2D6E-3514-78E3-82B3-D769D21E236C}"/>
              </a:ext>
            </a:extLst>
          </p:cNvPr>
          <p:cNvCxnSpPr>
            <a:cxnSpLocks/>
            <a:stCxn id="20" idx="2"/>
            <a:endCxn id="68" idx="2"/>
          </p:cNvCxnSpPr>
          <p:nvPr/>
        </p:nvCxnSpPr>
        <p:spPr>
          <a:xfrm rot="16200000" flipH="1">
            <a:off x="7084137" y="2296293"/>
            <a:ext cx="12700" cy="6447763"/>
          </a:xfrm>
          <a:prstGeom prst="curvedConnector3">
            <a:avLst>
              <a:gd name="adj1" fmla="val 5620409"/>
            </a:avLst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265129-9C40-FEF4-BAC1-2382F3BAD034}"/>
              </a:ext>
            </a:extLst>
          </p:cNvPr>
          <p:cNvSpPr txBox="1"/>
          <p:nvPr/>
        </p:nvSpPr>
        <p:spPr>
          <a:xfrm>
            <a:off x="5494382" y="6282959"/>
            <a:ext cx="2914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Same word embedding</a:t>
            </a:r>
          </a:p>
        </p:txBody>
      </p:sp>
    </p:spTree>
    <p:extLst>
      <p:ext uri="{BB962C8B-B14F-4D97-AF65-F5344CB8AC3E}">
        <p14:creationId xmlns:p14="http://schemas.microsoft.com/office/powerpoint/2010/main" val="73232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5C561-855F-5840-B0B0-831EEC255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CNN</a:t>
            </a:r>
            <a:r>
              <a:rPr kumimoji="1" lang="zh-TW" altLang="en-US" dirty="0"/>
              <a:t> 作為序列模型的問題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1E7976-058F-51C5-AF05-241AB31D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9A1FB7-CCCB-3A41-3FA2-3AB4638F7189}"/>
              </a:ext>
            </a:extLst>
          </p:cNvPr>
          <p:cNvSpPr/>
          <p:nvPr/>
        </p:nvSpPr>
        <p:spPr>
          <a:xfrm>
            <a:off x="134136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DF8195-529D-38D2-B062-1491DCCBC74D}"/>
              </a:ext>
            </a:extLst>
          </p:cNvPr>
          <p:cNvSpPr/>
          <p:nvPr/>
        </p:nvSpPr>
        <p:spPr>
          <a:xfrm>
            <a:off x="2427099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46C43F-E24F-0DAB-A9D6-DF2B8BB03BFE}"/>
              </a:ext>
            </a:extLst>
          </p:cNvPr>
          <p:cNvSpPr/>
          <p:nvPr/>
        </p:nvSpPr>
        <p:spPr>
          <a:xfrm>
            <a:off x="351283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DC23FD15-BE19-8972-B6A5-F92A7AB8AA8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61E5EEF9-DA32-5F0C-BD79-74F18BD674ED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380C92C7-B0D0-7CA6-1A0B-1D8970D76846}"/>
              </a:ext>
            </a:extLst>
          </p:cNvPr>
          <p:cNvSpPr/>
          <p:nvPr/>
        </p:nvSpPr>
        <p:spPr>
          <a:xfrm>
            <a:off x="4598570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983AF56-58ED-B9E8-5E07-8CBFF42E8EBA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106991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37F12AA5-FEEF-6BD6-07A3-D372FDF21393}"/>
              </a:ext>
            </a:extLst>
          </p:cNvPr>
          <p:cNvSpPr/>
          <p:nvPr/>
        </p:nvSpPr>
        <p:spPr>
          <a:xfrm>
            <a:off x="158969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61FD25-C0F9-70A3-CE25-8703CD303D44}"/>
              </a:ext>
            </a:extLst>
          </p:cNvPr>
          <p:cNvSpPr/>
          <p:nvPr/>
        </p:nvSpPr>
        <p:spPr>
          <a:xfrm>
            <a:off x="2675428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1621A2-6269-B8D5-3CB1-448FDC7B97CA}"/>
              </a:ext>
            </a:extLst>
          </p:cNvPr>
          <p:cNvSpPr/>
          <p:nvPr/>
        </p:nvSpPr>
        <p:spPr>
          <a:xfrm>
            <a:off x="376116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D8416C-474A-891A-1E8A-9789B30F93FD}"/>
              </a:ext>
            </a:extLst>
          </p:cNvPr>
          <p:cNvSpPr/>
          <p:nvPr/>
        </p:nvSpPr>
        <p:spPr>
          <a:xfrm>
            <a:off x="4846899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64AF26-FFD8-A3FE-F160-0052FBB1D051}"/>
              </a:ext>
            </a:extLst>
          </p:cNvPr>
          <p:cNvSpPr/>
          <p:nvPr/>
        </p:nvSpPr>
        <p:spPr>
          <a:xfrm>
            <a:off x="1589693" y="250834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96333B6-BFEE-E40B-18BE-C8B62FD53CDA}"/>
              </a:ext>
            </a:extLst>
          </p:cNvPr>
          <p:cNvSpPr/>
          <p:nvPr/>
        </p:nvSpPr>
        <p:spPr>
          <a:xfrm>
            <a:off x="2675428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2FAF73-53FE-17BB-5D94-646093F2F1FC}"/>
              </a:ext>
            </a:extLst>
          </p:cNvPr>
          <p:cNvSpPr/>
          <p:nvPr/>
        </p:nvSpPr>
        <p:spPr>
          <a:xfrm>
            <a:off x="3761163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A70FA54-9953-191E-5867-347E42C525B0}"/>
              </a:ext>
            </a:extLst>
          </p:cNvPr>
          <p:cNvSpPr/>
          <p:nvPr/>
        </p:nvSpPr>
        <p:spPr>
          <a:xfrm>
            <a:off x="4846897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8A91728F-25C6-9062-A73F-C87E43C9B050}"/>
              </a:ext>
            </a:extLst>
          </p:cNvPr>
          <p:cNvCxnSpPr>
            <a:cxnSpLocks/>
          </p:cNvCxnSpPr>
          <p:nvPr/>
        </p:nvCxnSpPr>
        <p:spPr>
          <a:xfrm flipH="1" flipV="1">
            <a:off x="2774521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50D58B3A-6448-1538-DC06-6C69B403937B}"/>
              </a:ext>
            </a:extLst>
          </p:cNvPr>
          <p:cNvCxnSpPr>
            <a:cxnSpLocks/>
          </p:cNvCxnSpPr>
          <p:nvPr/>
        </p:nvCxnSpPr>
        <p:spPr>
          <a:xfrm flipH="1" flipV="1">
            <a:off x="1688786" y="3210440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0D04A58E-D13D-6620-DFFC-7505B81A9055}"/>
              </a:ext>
            </a:extLst>
          </p:cNvPr>
          <p:cNvCxnSpPr>
            <a:cxnSpLocks/>
          </p:cNvCxnSpPr>
          <p:nvPr/>
        </p:nvCxnSpPr>
        <p:spPr>
          <a:xfrm flipV="1">
            <a:off x="168878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E25E6F09-F7CF-C2F6-E32F-4F4ABD4ACB67}"/>
              </a:ext>
            </a:extLst>
          </p:cNvPr>
          <p:cNvCxnSpPr>
            <a:cxnSpLocks/>
          </p:cNvCxnSpPr>
          <p:nvPr/>
        </p:nvCxnSpPr>
        <p:spPr>
          <a:xfrm flipV="1">
            <a:off x="2774521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6D237900-83F1-D889-12B5-82EE1BF908E1}"/>
              </a:ext>
            </a:extLst>
          </p:cNvPr>
          <p:cNvCxnSpPr>
            <a:cxnSpLocks/>
          </p:cNvCxnSpPr>
          <p:nvPr/>
        </p:nvCxnSpPr>
        <p:spPr>
          <a:xfrm flipV="1">
            <a:off x="386025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B4A92FE8-D938-4E23-6F6C-27304A8290CE}"/>
              </a:ext>
            </a:extLst>
          </p:cNvPr>
          <p:cNvCxnSpPr>
            <a:cxnSpLocks/>
          </p:cNvCxnSpPr>
          <p:nvPr/>
        </p:nvCxnSpPr>
        <p:spPr>
          <a:xfrm flipV="1">
            <a:off x="4945992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2D9A0AD8-DA18-8F70-4807-E0C696BED3C4}"/>
              </a:ext>
            </a:extLst>
          </p:cNvPr>
          <p:cNvCxnSpPr>
            <a:cxnSpLocks/>
          </p:cNvCxnSpPr>
          <p:nvPr/>
        </p:nvCxnSpPr>
        <p:spPr>
          <a:xfrm flipH="1" flipV="1">
            <a:off x="4945990" y="3209286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1F95A78D-8A89-6C2B-D08C-F757807D6CD8}"/>
              </a:ext>
            </a:extLst>
          </p:cNvPr>
          <p:cNvCxnSpPr>
            <a:cxnSpLocks/>
          </p:cNvCxnSpPr>
          <p:nvPr/>
        </p:nvCxnSpPr>
        <p:spPr>
          <a:xfrm flipH="1" flipV="1">
            <a:off x="3860256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BEB1961-0F60-7DE4-EBB5-925969788285}"/>
              </a:ext>
            </a:extLst>
          </p:cNvPr>
          <p:cNvSpPr txBox="1"/>
          <p:nvPr/>
        </p:nvSpPr>
        <p:spPr>
          <a:xfrm>
            <a:off x="125026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5070180-548B-DB19-5BF8-01AC126481ED}"/>
              </a:ext>
            </a:extLst>
          </p:cNvPr>
          <p:cNvSpPr txBox="1"/>
          <p:nvPr/>
        </p:nvSpPr>
        <p:spPr>
          <a:xfrm>
            <a:off x="2335996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4D81FBB-5484-21C4-DA63-9FE2F7AC09AA}"/>
              </a:ext>
            </a:extLst>
          </p:cNvPr>
          <p:cNvSpPr txBox="1"/>
          <p:nvPr/>
        </p:nvSpPr>
        <p:spPr>
          <a:xfrm>
            <a:off x="342173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621F9DB-4474-0446-FA7A-AC87BE66BA9D}"/>
              </a:ext>
            </a:extLst>
          </p:cNvPr>
          <p:cNvSpPr txBox="1"/>
          <p:nvPr/>
        </p:nvSpPr>
        <p:spPr>
          <a:xfrm>
            <a:off x="4465087" y="5816921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B0681473-A86B-9478-A8CA-554B4256CE66}"/>
              </a:ext>
            </a:extLst>
          </p:cNvPr>
          <p:cNvSpPr txBox="1"/>
          <p:nvPr/>
        </p:nvSpPr>
        <p:spPr>
          <a:xfrm>
            <a:off x="1840997" y="1797033"/>
            <a:ext cx="2952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RNN</a:t>
            </a:r>
            <a:r>
              <a:rPr kumimoji="1" lang="zh-TW" altLang="en-US" sz="2000" dirty="0"/>
              <a:t> 難以平行化</a:t>
            </a:r>
          </a:p>
        </p:txBody>
      </p: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A5CF0794-D736-07DA-F8D8-24FCBF4B8FF8}"/>
              </a:ext>
            </a:extLst>
          </p:cNvPr>
          <p:cNvCxnSpPr>
            <a:cxnSpLocks/>
          </p:cNvCxnSpPr>
          <p:nvPr/>
        </p:nvCxnSpPr>
        <p:spPr>
          <a:xfrm>
            <a:off x="6096000" y="1797033"/>
            <a:ext cx="0" cy="441715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D2A0F45-590F-12AA-BC20-F8ECAFA58099}"/>
              </a:ext>
            </a:extLst>
          </p:cNvPr>
          <p:cNvSpPr/>
          <p:nvPr/>
        </p:nvSpPr>
        <p:spPr>
          <a:xfrm>
            <a:off x="710454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580EE99-5C5A-7692-BDF5-7F559E58F9E7}"/>
              </a:ext>
            </a:extLst>
          </p:cNvPr>
          <p:cNvSpPr/>
          <p:nvPr/>
        </p:nvSpPr>
        <p:spPr>
          <a:xfrm>
            <a:off x="8190275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D886029-C36B-AA70-4EEA-F6588CFF9711}"/>
              </a:ext>
            </a:extLst>
          </p:cNvPr>
          <p:cNvSpPr/>
          <p:nvPr/>
        </p:nvSpPr>
        <p:spPr>
          <a:xfrm>
            <a:off x="927601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FFD979D-274B-8CBA-EDD7-93AD7F3F8DBD}"/>
              </a:ext>
            </a:extLst>
          </p:cNvPr>
          <p:cNvSpPr/>
          <p:nvPr/>
        </p:nvSpPr>
        <p:spPr>
          <a:xfrm>
            <a:off x="10361746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6AC0775-2EE2-DBA5-8316-C0842C57BB4E}"/>
              </a:ext>
            </a:extLst>
          </p:cNvPr>
          <p:cNvSpPr txBox="1"/>
          <p:nvPr/>
        </p:nvSpPr>
        <p:spPr>
          <a:xfrm>
            <a:off x="676510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8C42B6-CC86-6942-240B-7608E93032A3}"/>
              </a:ext>
            </a:extLst>
          </p:cNvPr>
          <p:cNvSpPr txBox="1"/>
          <p:nvPr/>
        </p:nvSpPr>
        <p:spPr>
          <a:xfrm>
            <a:off x="7850843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269F9B92-7B20-D778-A07D-50E09042E807}"/>
              </a:ext>
            </a:extLst>
          </p:cNvPr>
          <p:cNvSpPr txBox="1"/>
          <p:nvPr/>
        </p:nvSpPr>
        <p:spPr>
          <a:xfrm>
            <a:off x="893657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89DA2F0-9FA4-7E20-75AE-DF3B973C8FB5}"/>
              </a:ext>
            </a:extLst>
          </p:cNvPr>
          <p:cNvSpPr txBox="1"/>
          <p:nvPr/>
        </p:nvSpPr>
        <p:spPr>
          <a:xfrm>
            <a:off x="9979934" y="5770266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D3C57C-BFE3-DC23-6A7C-AB6E791CA0D3}"/>
              </a:ext>
            </a:extLst>
          </p:cNvPr>
          <p:cNvSpPr txBox="1"/>
          <p:nvPr/>
        </p:nvSpPr>
        <p:spPr>
          <a:xfrm>
            <a:off x="7203631" y="1796769"/>
            <a:ext cx="3327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CNN</a:t>
            </a:r>
            <a:r>
              <a:rPr kumimoji="1" lang="zh-TW" altLang="en-US" sz="2000" dirty="0"/>
              <a:t> 著重局部資訊</a:t>
            </a:r>
          </a:p>
        </p:txBody>
      </p:sp>
      <p:sp>
        <p:nvSpPr>
          <p:cNvPr id="64" name="不規則四邊形 63">
            <a:extLst>
              <a:ext uri="{FF2B5EF4-FFF2-40B4-BE49-F238E27FC236}">
                <a16:creationId xmlns:a16="http://schemas.microsoft.com/office/drawing/2014/main" id="{784C4A3C-C687-7F3C-3369-9EDB3168593A}"/>
              </a:ext>
            </a:extLst>
          </p:cNvPr>
          <p:cNvSpPr/>
          <p:nvPr/>
        </p:nvSpPr>
        <p:spPr>
          <a:xfrm>
            <a:off x="7105837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5" name="不規則四邊形 64">
            <a:extLst>
              <a:ext uri="{FF2B5EF4-FFF2-40B4-BE49-F238E27FC236}">
                <a16:creationId xmlns:a16="http://schemas.microsoft.com/office/drawing/2014/main" id="{94786ED8-9C1F-1924-AA78-912655E5D39B}"/>
              </a:ext>
            </a:extLst>
          </p:cNvPr>
          <p:cNvSpPr/>
          <p:nvPr/>
        </p:nvSpPr>
        <p:spPr>
          <a:xfrm>
            <a:off x="8232652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不規則四邊形 65">
            <a:extLst>
              <a:ext uri="{FF2B5EF4-FFF2-40B4-BE49-F238E27FC236}">
                <a16:creationId xmlns:a16="http://schemas.microsoft.com/office/drawing/2014/main" id="{AA4D104A-DE8E-9DC8-5F3C-DB3A68CA4960}"/>
              </a:ext>
            </a:extLst>
          </p:cNvPr>
          <p:cNvSpPr/>
          <p:nvPr/>
        </p:nvSpPr>
        <p:spPr>
          <a:xfrm>
            <a:off x="9356082" y="4071391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ED65694-1241-6AFD-2448-22F7A513EDAC}"/>
              </a:ext>
            </a:extLst>
          </p:cNvPr>
          <p:cNvCxnSpPr>
            <a:cxnSpLocks/>
          </p:cNvCxnSpPr>
          <p:nvPr/>
        </p:nvCxnSpPr>
        <p:spPr>
          <a:xfrm flipV="1">
            <a:off x="720363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C9DD4CF6-D977-7951-7038-4A35180AF8EC}"/>
              </a:ext>
            </a:extLst>
          </p:cNvPr>
          <p:cNvCxnSpPr>
            <a:cxnSpLocks/>
          </p:cNvCxnSpPr>
          <p:nvPr/>
        </p:nvCxnSpPr>
        <p:spPr>
          <a:xfrm flipV="1">
            <a:off x="8289366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A0D6C7A-0DD3-8D6C-9B1A-D87CEE9865ED}"/>
              </a:ext>
            </a:extLst>
          </p:cNvPr>
          <p:cNvCxnSpPr>
            <a:cxnSpLocks/>
          </p:cNvCxnSpPr>
          <p:nvPr/>
        </p:nvCxnSpPr>
        <p:spPr>
          <a:xfrm flipV="1">
            <a:off x="937510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AB7C8023-A170-C4D0-B5F5-79844C7766B5}"/>
              </a:ext>
            </a:extLst>
          </p:cNvPr>
          <p:cNvCxnSpPr>
            <a:cxnSpLocks/>
          </p:cNvCxnSpPr>
          <p:nvPr/>
        </p:nvCxnSpPr>
        <p:spPr>
          <a:xfrm flipV="1">
            <a:off x="10460837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矩形 72">
            <a:extLst>
              <a:ext uri="{FF2B5EF4-FFF2-40B4-BE49-F238E27FC236}">
                <a16:creationId xmlns:a16="http://schemas.microsoft.com/office/drawing/2014/main" id="{FA4D7496-4E61-4726-07F3-C25612DAC1B0}"/>
              </a:ext>
            </a:extLst>
          </p:cNvPr>
          <p:cNvSpPr/>
          <p:nvPr/>
        </p:nvSpPr>
        <p:spPr>
          <a:xfrm>
            <a:off x="7104538" y="2503585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3D24C8-5FAC-50A3-4D0D-57718D1188DA}"/>
              </a:ext>
            </a:extLst>
          </p:cNvPr>
          <p:cNvSpPr/>
          <p:nvPr/>
        </p:nvSpPr>
        <p:spPr>
          <a:xfrm>
            <a:off x="8190273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224AF52-9C2D-5444-C647-03EA29329B93}"/>
              </a:ext>
            </a:extLst>
          </p:cNvPr>
          <p:cNvSpPr/>
          <p:nvPr/>
        </p:nvSpPr>
        <p:spPr>
          <a:xfrm>
            <a:off x="9276008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C62F46C-1D7D-981B-251A-978326437238}"/>
              </a:ext>
            </a:extLst>
          </p:cNvPr>
          <p:cNvSpPr/>
          <p:nvPr/>
        </p:nvSpPr>
        <p:spPr>
          <a:xfrm>
            <a:off x="10361742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F5F3B9B5-6BF8-4252-994B-3F2C69703D71}"/>
              </a:ext>
            </a:extLst>
          </p:cNvPr>
          <p:cNvCxnSpPr>
            <a:cxnSpLocks/>
          </p:cNvCxnSpPr>
          <p:nvPr/>
        </p:nvCxnSpPr>
        <p:spPr>
          <a:xfrm flipH="1" flipV="1">
            <a:off x="8289366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7E1CFCB0-70D2-1191-ED3B-D99C1346DDF2}"/>
              </a:ext>
            </a:extLst>
          </p:cNvPr>
          <p:cNvCxnSpPr>
            <a:cxnSpLocks/>
          </p:cNvCxnSpPr>
          <p:nvPr/>
        </p:nvCxnSpPr>
        <p:spPr>
          <a:xfrm flipH="1" flipV="1">
            <a:off x="7203631" y="3205684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7DE5DAE9-B81D-79D6-5E54-49A69128E2D4}"/>
              </a:ext>
            </a:extLst>
          </p:cNvPr>
          <p:cNvCxnSpPr>
            <a:cxnSpLocks/>
          </p:cNvCxnSpPr>
          <p:nvPr/>
        </p:nvCxnSpPr>
        <p:spPr>
          <a:xfrm flipH="1" flipV="1">
            <a:off x="10460835" y="3204530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F2B41B5F-24DC-2AA2-B1C0-98B0F04B2183}"/>
              </a:ext>
            </a:extLst>
          </p:cNvPr>
          <p:cNvCxnSpPr>
            <a:cxnSpLocks/>
          </p:cNvCxnSpPr>
          <p:nvPr/>
        </p:nvCxnSpPr>
        <p:spPr>
          <a:xfrm flipH="1" flipV="1">
            <a:off x="9375101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51481737-33DD-7877-0684-32BC3DB938EC}"/>
              </a:ext>
            </a:extLst>
          </p:cNvPr>
          <p:cNvSpPr/>
          <p:nvPr/>
        </p:nvSpPr>
        <p:spPr>
          <a:xfrm>
            <a:off x="7146916" y="3782510"/>
            <a:ext cx="3356297" cy="224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Pooling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81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8" grpId="0"/>
      <p:bldP spid="29" grpId="0"/>
      <p:bldP spid="30" grpId="0"/>
      <p:bldP spid="31" grpId="0"/>
      <p:bldP spid="43" grpId="0" animBg="1"/>
      <p:bldP spid="44" grpId="0" animBg="1"/>
      <p:bldP spid="45" grpId="0" animBg="1"/>
      <p:bldP spid="46" grpId="0" animBg="1"/>
      <p:bldP spid="59" grpId="0"/>
      <p:bldP spid="60" grpId="0"/>
      <p:bldP spid="61" grpId="0"/>
      <p:bldP spid="62" grpId="0"/>
      <p:bldP spid="63" grpId="0"/>
      <p:bldP spid="64" grpId="0" animBg="1"/>
      <p:bldP spid="65" grpId="0" animBg="1"/>
      <p:bldP spid="66" grpId="0" animBg="1"/>
      <p:bldP spid="73" grpId="0" animBg="1"/>
      <p:bldP spid="74" grpId="0" animBg="1"/>
      <p:bldP spid="75" grpId="0" animBg="1"/>
      <p:bldP spid="76" grpId="0" animBg="1"/>
      <p:bldP spid="8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B8AE9C-1909-B974-E8C8-9807CE1AC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and Decoder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106C75-A795-3924-7F0C-B509934C7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383E56-D04D-340B-A396-C1FF6DCBC646}"/>
              </a:ext>
            </a:extLst>
          </p:cNvPr>
          <p:cNvSpPr/>
          <p:nvPr/>
        </p:nvSpPr>
        <p:spPr>
          <a:xfrm>
            <a:off x="6777738" y="405263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D4D7DE-FEA6-5EAD-BA7D-0E9B63A81999}"/>
              </a:ext>
            </a:extLst>
          </p:cNvPr>
          <p:cNvSpPr txBox="1"/>
          <p:nvPr/>
        </p:nvSpPr>
        <p:spPr>
          <a:xfrm>
            <a:off x="6848723" y="585502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21F30ECC-84F2-5D18-362E-5D5B043F7E7B}"/>
              </a:ext>
            </a:extLst>
          </p:cNvPr>
          <p:cNvCxnSpPr>
            <a:cxnSpLocks/>
          </p:cNvCxnSpPr>
          <p:nvPr/>
        </p:nvCxnSpPr>
        <p:spPr>
          <a:xfrm flipV="1">
            <a:off x="714177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FBBA531-BE7B-F9F3-E719-5242A0B9E4BD}"/>
              </a:ext>
            </a:extLst>
          </p:cNvPr>
          <p:cNvCxnSpPr>
            <a:cxnSpLocks/>
          </p:cNvCxnSpPr>
          <p:nvPr/>
        </p:nvCxnSpPr>
        <p:spPr>
          <a:xfrm flipV="1">
            <a:off x="786419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213826B-7FF7-F9EA-A9F9-445F4081DE0B}"/>
              </a:ext>
            </a:extLst>
          </p:cNvPr>
          <p:cNvCxnSpPr>
            <a:cxnSpLocks/>
          </p:cNvCxnSpPr>
          <p:nvPr/>
        </p:nvCxnSpPr>
        <p:spPr>
          <a:xfrm flipV="1">
            <a:off x="1079146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252A1EFC-B9A1-E9B9-C671-FC420A3A4AAD}"/>
              </a:ext>
            </a:extLst>
          </p:cNvPr>
          <p:cNvCxnSpPr>
            <a:cxnSpLocks/>
          </p:cNvCxnSpPr>
          <p:nvPr/>
        </p:nvCxnSpPr>
        <p:spPr>
          <a:xfrm flipV="1">
            <a:off x="1006905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8FFAB12-7688-B996-CE29-CCFBB2E29E54}"/>
              </a:ext>
            </a:extLst>
          </p:cNvPr>
          <p:cNvCxnSpPr>
            <a:cxnSpLocks/>
          </p:cNvCxnSpPr>
          <p:nvPr/>
        </p:nvCxnSpPr>
        <p:spPr>
          <a:xfrm flipV="1">
            <a:off x="7141779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3271C6B-2A38-B65E-147B-30B6DBA820E4}"/>
              </a:ext>
            </a:extLst>
          </p:cNvPr>
          <p:cNvCxnSpPr>
            <a:cxnSpLocks/>
          </p:cNvCxnSpPr>
          <p:nvPr/>
        </p:nvCxnSpPr>
        <p:spPr>
          <a:xfrm flipV="1">
            <a:off x="7864193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7DB29C07-EE45-FDF3-50C5-462B179F554D}"/>
              </a:ext>
            </a:extLst>
          </p:cNvPr>
          <p:cNvCxnSpPr>
            <a:cxnSpLocks/>
          </p:cNvCxnSpPr>
          <p:nvPr/>
        </p:nvCxnSpPr>
        <p:spPr>
          <a:xfrm flipV="1">
            <a:off x="10069053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E80F3625-6DB5-7DD1-C50D-5733EC81F434}"/>
              </a:ext>
            </a:extLst>
          </p:cNvPr>
          <p:cNvCxnSpPr>
            <a:cxnSpLocks/>
          </p:cNvCxnSpPr>
          <p:nvPr/>
        </p:nvCxnSpPr>
        <p:spPr>
          <a:xfrm flipV="1">
            <a:off x="10791467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7DBE63A-42BD-8531-2AE3-FBE67A0DD8F9}"/>
              </a:ext>
            </a:extLst>
          </p:cNvPr>
          <p:cNvSpPr txBox="1"/>
          <p:nvPr/>
        </p:nvSpPr>
        <p:spPr>
          <a:xfrm>
            <a:off x="8643134" y="528827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/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/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/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/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/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/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/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17DF5A0E-5598-F2D7-42EB-37949F9013C8}"/>
              </a:ext>
            </a:extLst>
          </p:cNvPr>
          <p:cNvSpPr txBox="1"/>
          <p:nvPr/>
        </p:nvSpPr>
        <p:spPr>
          <a:xfrm>
            <a:off x="8640752" y="245026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1C10AD-0D04-2B3F-B88B-1109E98C804F}"/>
              </a:ext>
            </a:extLst>
          </p:cNvPr>
          <p:cNvSpPr txBox="1"/>
          <p:nvPr/>
        </p:nvSpPr>
        <p:spPr>
          <a:xfrm>
            <a:off x="7716416" y="1835327"/>
            <a:ext cx="263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sequence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文字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FE795842-E8E8-E357-93AF-80C6CBCBD5A4}"/>
              </a:ext>
            </a:extLst>
          </p:cNvPr>
          <p:cNvSpPr/>
          <p:nvPr/>
        </p:nvSpPr>
        <p:spPr>
          <a:xfrm>
            <a:off x="1443211" y="4100635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8CD6FE4-CA94-843B-C904-8FB743CE2756}"/>
              </a:ext>
            </a:extLst>
          </p:cNvPr>
          <p:cNvSpPr txBox="1"/>
          <p:nvPr/>
        </p:nvSpPr>
        <p:spPr>
          <a:xfrm>
            <a:off x="1494740" y="5903024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DBAC394-6EE5-2FC2-0AFE-A713E61495B0}"/>
              </a:ext>
            </a:extLst>
          </p:cNvPr>
          <p:cNvCxnSpPr>
            <a:cxnSpLocks/>
          </p:cNvCxnSpPr>
          <p:nvPr/>
        </p:nvCxnSpPr>
        <p:spPr>
          <a:xfrm flipV="1">
            <a:off x="5456942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B349A6FB-CF9B-DA91-CB56-8692C92F97F5}"/>
              </a:ext>
            </a:extLst>
          </p:cNvPr>
          <p:cNvCxnSpPr>
            <a:cxnSpLocks/>
          </p:cNvCxnSpPr>
          <p:nvPr/>
        </p:nvCxnSpPr>
        <p:spPr>
          <a:xfrm flipV="1">
            <a:off x="4734527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39036F0C-DCCB-713A-C8B2-0BEBB6436E03}"/>
              </a:ext>
            </a:extLst>
          </p:cNvPr>
          <p:cNvSpPr/>
          <p:nvPr/>
        </p:nvSpPr>
        <p:spPr>
          <a:xfrm>
            <a:off x="1529648" y="5445051"/>
            <a:ext cx="555205" cy="465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D6255ADE-8DF4-9330-0FFD-EC385724AA4E}"/>
              </a:ext>
            </a:extLst>
          </p:cNvPr>
          <p:cNvCxnSpPr>
            <a:cxnSpLocks/>
          </p:cNvCxnSpPr>
          <p:nvPr/>
        </p:nvCxnSpPr>
        <p:spPr>
          <a:xfrm flipV="1">
            <a:off x="1807252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A551582A-C5A2-5592-1221-7E161A40C794}"/>
              </a:ext>
            </a:extLst>
          </p:cNvPr>
          <p:cNvCxnSpPr>
            <a:cxnSpLocks/>
          </p:cNvCxnSpPr>
          <p:nvPr/>
        </p:nvCxnSpPr>
        <p:spPr>
          <a:xfrm flipV="1">
            <a:off x="2529666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439D5CC1-5EA9-6E67-7ED0-8CF169A9CD0E}"/>
              </a:ext>
            </a:extLst>
          </p:cNvPr>
          <p:cNvCxnSpPr>
            <a:cxnSpLocks/>
          </p:cNvCxnSpPr>
          <p:nvPr/>
        </p:nvCxnSpPr>
        <p:spPr>
          <a:xfrm flipV="1">
            <a:off x="4734526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BE18513-56CA-7723-A853-A59FE538F500}"/>
              </a:ext>
            </a:extLst>
          </p:cNvPr>
          <p:cNvCxnSpPr>
            <a:cxnSpLocks/>
          </p:cNvCxnSpPr>
          <p:nvPr/>
        </p:nvCxnSpPr>
        <p:spPr>
          <a:xfrm flipV="1">
            <a:off x="5456940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A108D4A-2D70-D2F4-BA03-472F6B0C8135}"/>
              </a:ext>
            </a:extLst>
          </p:cNvPr>
          <p:cNvSpPr txBox="1"/>
          <p:nvPr/>
        </p:nvSpPr>
        <p:spPr>
          <a:xfrm>
            <a:off x="3308607" y="5336267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/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/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/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blipFill>
                <a:blip r:embed="rId11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/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blipFill>
                <a:blip r:embed="rId12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字方塊 49">
            <a:extLst>
              <a:ext uri="{FF2B5EF4-FFF2-40B4-BE49-F238E27FC236}">
                <a16:creationId xmlns:a16="http://schemas.microsoft.com/office/drawing/2014/main" id="{4782AF22-6890-C7C6-11B4-E49023BCC087}"/>
              </a:ext>
            </a:extLst>
          </p:cNvPr>
          <p:cNvSpPr txBox="1"/>
          <p:nvPr/>
        </p:nvSpPr>
        <p:spPr>
          <a:xfrm>
            <a:off x="3306225" y="3195846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85894FF-15D2-4990-41DC-3797CEBC41B5}"/>
              </a:ext>
            </a:extLst>
          </p:cNvPr>
          <p:cNvSpPr txBox="1"/>
          <p:nvPr/>
        </p:nvSpPr>
        <p:spPr>
          <a:xfrm>
            <a:off x="2778842" y="612944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Input sequence</a:t>
            </a:r>
            <a:endParaRPr kumimoji="1" lang="zh-TW" altLang="en-US" b="1" dirty="0"/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9EE1A76-88B2-97B8-52E6-5D10FC82A873}"/>
              </a:ext>
            </a:extLst>
          </p:cNvPr>
          <p:cNvCxnSpPr>
            <a:cxnSpLocks/>
          </p:cNvCxnSpPr>
          <p:nvPr/>
        </p:nvCxnSpPr>
        <p:spPr>
          <a:xfrm flipV="1">
            <a:off x="2526444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72CEF067-EC75-D88C-AA69-CCB9C35A8DBF}"/>
              </a:ext>
            </a:extLst>
          </p:cNvPr>
          <p:cNvCxnSpPr>
            <a:cxnSpLocks/>
          </p:cNvCxnSpPr>
          <p:nvPr/>
        </p:nvCxnSpPr>
        <p:spPr>
          <a:xfrm flipV="1">
            <a:off x="1828042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1E3ABA0E-0F56-BA7F-4F49-6550375C6564}"/>
              </a:ext>
            </a:extLst>
          </p:cNvPr>
          <p:cNvSpPr/>
          <p:nvPr/>
        </p:nvSpPr>
        <p:spPr>
          <a:xfrm>
            <a:off x="6860958" y="5397054"/>
            <a:ext cx="555203" cy="4651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D02ED2D0-D980-8C22-C056-B89AFB0087E6}"/>
              </a:ext>
            </a:extLst>
          </p:cNvPr>
          <p:cNvSpPr/>
          <p:nvPr/>
        </p:nvSpPr>
        <p:spPr>
          <a:xfrm>
            <a:off x="6777737" y="3345490"/>
            <a:ext cx="4433985" cy="33678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FFN</a:t>
            </a:r>
            <a:r>
              <a:rPr kumimoji="1" lang="zh-TW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TW" sz="2000" dirty="0">
                <a:solidFill>
                  <a:schemeClr val="tx1"/>
                </a:solidFill>
              </a:rPr>
              <a:t>(linear layer(s))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16D9C1FE-8A91-B03A-2377-8B83EC0DE09D}"/>
              </a:ext>
            </a:extLst>
          </p:cNvPr>
          <p:cNvCxnSpPr>
            <a:cxnSpLocks/>
          </p:cNvCxnSpPr>
          <p:nvPr/>
        </p:nvCxnSpPr>
        <p:spPr>
          <a:xfrm flipV="1">
            <a:off x="713574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62086DA5-5290-A670-AC1A-38D2A56FE1A2}"/>
              </a:ext>
            </a:extLst>
          </p:cNvPr>
          <p:cNvCxnSpPr>
            <a:cxnSpLocks/>
          </p:cNvCxnSpPr>
          <p:nvPr/>
        </p:nvCxnSpPr>
        <p:spPr>
          <a:xfrm flipV="1">
            <a:off x="785816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5A918736-41AC-8EE9-E232-C16FDD90E533}"/>
              </a:ext>
            </a:extLst>
          </p:cNvPr>
          <p:cNvCxnSpPr>
            <a:cxnSpLocks/>
          </p:cNvCxnSpPr>
          <p:nvPr/>
        </p:nvCxnSpPr>
        <p:spPr>
          <a:xfrm flipV="1">
            <a:off x="1078543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CE5F32AD-EAE1-A054-DFF3-5593839A3D00}"/>
              </a:ext>
            </a:extLst>
          </p:cNvPr>
          <p:cNvCxnSpPr>
            <a:cxnSpLocks/>
          </p:cNvCxnSpPr>
          <p:nvPr/>
        </p:nvCxnSpPr>
        <p:spPr>
          <a:xfrm flipV="1">
            <a:off x="1006302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/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blipFill>
                <a:blip r:embed="rId13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/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/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/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blipFill>
                <a:blip r:embed="rId1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F9645189-5848-7448-BF59-C9E3DAD0EA6A}"/>
              </a:ext>
            </a:extLst>
          </p:cNvPr>
          <p:cNvCxnSpPr>
            <a:cxnSpLocks/>
          </p:cNvCxnSpPr>
          <p:nvPr/>
        </p:nvCxnSpPr>
        <p:spPr>
          <a:xfrm>
            <a:off x="1045007" y="4590483"/>
            <a:ext cx="338153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4CF5AD8-03CD-B0B9-652B-DF4DB8FE9238}"/>
              </a:ext>
            </a:extLst>
          </p:cNvPr>
          <p:cNvSpPr txBox="1"/>
          <p:nvPr/>
        </p:nvSpPr>
        <p:spPr>
          <a:xfrm>
            <a:off x="2526444" y="1835327"/>
            <a:ext cx="252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hidden states</a:t>
            </a:r>
            <a:endParaRPr kumimoji="1" lang="zh-TW" altLang="en-US" b="1" dirty="0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F7BCD1C7-82B8-FFA2-09EC-A4BC0337536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5737233" y="3505860"/>
            <a:ext cx="1040505" cy="104245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19C8A55-A2F5-4A64-598E-FCB4A79275C2}"/>
              </a:ext>
            </a:extLst>
          </p:cNvPr>
          <p:cNvSpPr txBox="1"/>
          <p:nvPr/>
        </p:nvSpPr>
        <p:spPr>
          <a:xfrm>
            <a:off x="5368375" y="6195910"/>
            <a:ext cx="2502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</a:rPr>
              <a:t>(Encoder </a:t>
            </a:r>
            <a:r>
              <a:rPr kumimoji="1" lang="zh-TW" altLang="en-US" sz="1600" dirty="0">
                <a:solidFill>
                  <a:srgbClr val="FF0000"/>
                </a:solidFill>
              </a:rPr>
              <a:t>的輸出有很多種被</a:t>
            </a:r>
            <a:r>
              <a:rPr kumimoji="1" lang="en-US" altLang="zh-TW" sz="1600" dirty="0">
                <a:solidFill>
                  <a:srgbClr val="FF0000"/>
                </a:solidFill>
              </a:rPr>
              <a:t>Decoder</a:t>
            </a:r>
            <a:r>
              <a:rPr kumimoji="1" lang="zh-TW" altLang="en-US" sz="1600" dirty="0">
                <a:solidFill>
                  <a:srgbClr val="FF0000"/>
                </a:solidFill>
              </a:rPr>
              <a:t>運用的方式</a:t>
            </a:r>
            <a:r>
              <a:rPr kumimoji="1" lang="en-US" altLang="zh-TW" sz="1600" dirty="0">
                <a:solidFill>
                  <a:srgbClr val="FF0000"/>
                </a:solidFill>
              </a:rPr>
              <a:t>)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24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7" grpId="0" animBg="1"/>
      <p:bldP spid="42" grpId="0"/>
      <p:bldP spid="44" grpId="0" animBg="1"/>
      <p:bldP spid="47" grpId="0" animBg="1"/>
      <p:bldP spid="48" grpId="0" animBg="1"/>
      <p:bldP spid="49" grpId="0" animBg="1"/>
      <p:bldP spid="50" grpId="0"/>
      <p:bldP spid="51" grpId="0"/>
      <p:bldP spid="62" grpId="0" animBg="1"/>
      <p:bldP spid="63" grpId="0" animBg="1"/>
      <p:bldP spid="64" grpId="0" animBg="1"/>
      <p:bldP spid="65" grpId="0" animBg="1"/>
      <p:bldP spid="3" grpId="0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988A61A-7679-5029-E481-E972BCDA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07297"/>
            <a:ext cx="3200400" cy="1315617"/>
          </a:xfrm>
        </p:spPr>
        <p:txBody>
          <a:bodyPr/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2B01E6-53DD-CC83-28F9-073680E1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" name="圖片 2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E132445E-8368-87E9-4AD3-2FD115664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66487"/>
            <a:ext cx="3928866" cy="589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18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2B0647-C2D5-4AE6-D86D-5ABAE971E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Overview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F88109-2AFA-7FDE-AC59-65FFDB1FB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73BA5E-8200-87D9-8789-960358423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4F8BB7E-A3D0-2FE9-0D69-343DBC7ACBB2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8E70EB-5C39-EE6C-A7A4-B1B5A2DF6295}"/>
              </a:ext>
            </a:extLst>
          </p:cNvPr>
          <p:cNvSpPr/>
          <p:nvPr/>
        </p:nvSpPr>
        <p:spPr>
          <a:xfrm>
            <a:off x="4284142" y="321906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F74B1C-D857-5A91-CF2E-CFAEC7CBECFA}"/>
              </a:ext>
            </a:extLst>
          </p:cNvPr>
          <p:cNvSpPr txBox="1"/>
          <p:nvPr/>
        </p:nvSpPr>
        <p:spPr>
          <a:xfrm>
            <a:off x="3012803" y="4699910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1CA4C49-5A67-F2AD-DE32-3094E2806229}"/>
              </a:ext>
            </a:extLst>
          </p:cNvPr>
          <p:cNvSpPr txBox="1"/>
          <p:nvPr/>
        </p:nvSpPr>
        <p:spPr>
          <a:xfrm>
            <a:off x="8006652" y="3925468"/>
            <a:ext cx="1103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chemeClr val="bg2">
                    <a:lumMod val="25000"/>
                  </a:schemeClr>
                </a:solidFill>
              </a:rPr>
              <a:t>Decoder</a:t>
            </a:r>
            <a:endParaRPr kumimoji="1" lang="zh-TW" altLang="en-US" b="1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793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5019869" y="4581331"/>
            <a:ext cx="951722" cy="5131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3598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278DEF-6E89-E355-EA39-783FBA72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922932-B69B-701E-CDFA-192BFB5BA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0E5907-2812-4288-312F-44F6E8A0D411}"/>
              </a:ext>
            </a:extLst>
          </p:cNvPr>
          <p:cNvSpPr txBox="1"/>
          <p:nvPr/>
        </p:nvSpPr>
        <p:spPr>
          <a:xfrm>
            <a:off x="653143" y="1782378"/>
            <a:ext cx="10918370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來自論文：</a:t>
            </a:r>
            <a:r>
              <a:rPr kumimoji="1" lang="en-US" altLang="zh-TW" sz="2000" dirty="0"/>
              <a:t>Attention Is All You Need (Vaswani et al., 2017)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內部的主要機制為 </a:t>
            </a:r>
            <a:r>
              <a:rPr kumimoji="1" lang="en-US" altLang="zh-TW" sz="2000" dirty="0"/>
              <a:t>Self-attention</a:t>
            </a:r>
          </a:p>
        </p:txBody>
      </p:sp>
      <p:pic>
        <p:nvPicPr>
          <p:cNvPr id="11" name="Picture 2" descr="An example of the self-attention mechanism following long-distance... |  Download Scientific Diagram">
            <a:extLst>
              <a:ext uri="{FF2B5EF4-FFF2-40B4-BE49-F238E27FC236}">
                <a16:creationId xmlns:a16="http://schemas.microsoft.com/office/drawing/2014/main" id="{D27BF699-1C9D-83B3-05F1-467BFC464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166" y="4063123"/>
            <a:ext cx="2574277" cy="2438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1D241A5-B782-7E7D-94EF-C4CB6B319D2C}"/>
              </a:ext>
            </a:extLst>
          </p:cNvPr>
          <p:cNvSpPr txBox="1"/>
          <p:nvPr/>
        </p:nvSpPr>
        <p:spPr>
          <a:xfrm>
            <a:off x="8235189" y="657179"/>
            <a:ext cx="3336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TW" sz="1000" dirty="0"/>
              <a:t>Source:  </a:t>
            </a:r>
            <a:r>
              <a:rPr lang="en-US" altLang="zh-TW" sz="1000" dirty="0">
                <a:hlinkClick r:id="rId4"/>
              </a:rPr>
              <a:t>An example of the self-attention mechanism following long-distance... | Download Scientific Diagram (researchgate.net)</a:t>
            </a:r>
            <a:endParaRPr kumimoji="1" lang="zh-TW" altLang="en-US" sz="1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596E24C-8837-E4CB-668B-111077149FF6}"/>
              </a:ext>
            </a:extLst>
          </p:cNvPr>
          <p:cNvSpPr txBox="1"/>
          <p:nvPr/>
        </p:nvSpPr>
        <p:spPr>
          <a:xfrm>
            <a:off x="1016648" y="3013501"/>
            <a:ext cx="5713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Self-attention: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句子內的每個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token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自己跟自己做 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</a:t>
            </a:r>
            <a:endParaRPr kumimoji="1" lang="zh-TW" altLang="en-US" sz="28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99D4D8-8FEF-8896-ABBF-169C70A5ED46}"/>
              </a:ext>
            </a:extLst>
          </p:cNvPr>
          <p:cNvSpPr/>
          <p:nvPr/>
        </p:nvSpPr>
        <p:spPr>
          <a:xfrm>
            <a:off x="6991352" y="4229935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C264D1-8CB3-30E8-7DF9-70BA946628FA}"/>
              </a:ext>
            </a:extLst>
          </p:cNvPr>
          <p:cNvSpPr/>
          <p:nvPr/>
        </p:nvSpPr>
        <p:spPr>
          <a:xfrm>
            <a:off x="725665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E9430DF-4168-3C2A-E619-D15C74A36129}"/>
              </a:ext>
            </a:extLst>
          </p:cNvPr>
          <p:cNvSpPr/>
          <p:nvPr/>
        </p:nvSpPr>
        <p:spPr>
          <a:xfrm>
            <a:off x="8342390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DE3523-782F-A9AC-5694-5D5444917831}"/>
              </a:ext>
            </a:extLst>
          </p:cNvPr>
          <p:cNvSpPr/>
          <p:nvPr/>
        </p:nvSpPr>
        <p:spPr>
          <a:xfrm>
            <a:off x="942812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6BF96CC-5120-AE99-5F01-BD0E54A29D80}"/>
              </a:ext>
            </a:extLst>
          </p:cNvPr>
          <p:cNvSpPr/>
          <p:nvPr/>
        </p:nvSpPr>
        <p:spPr>
          <a:xfrm>
            <a:off x="10513861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7FA16-B95E-51FD-ED76-0AB83511CF71}"/>
              </a:ext>
            </a:extLst>
          </p:cNvPr>
          <p:cNvSpPr/>
          <p:nvPr/>
        </p:nvSpPr>
        <p:spPr>
          <a:xfrm>
            <a:off x="7256655" y="295900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F75E8D-A223-5D3B-BACB-586258BDC78D}"/>
              </a:ext>
            </a:extLst>
          </p:cNvPr>
          <p:cNvSpPr/>
          <p:nvPr/>
        </p:nvSpPr>
        <p:spPr>
          <a:xfrm>
            <a:off x="8342390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97CFC3B-300D-0935-8C2C-57D4825575FE}"/>
              </a:ext>
            </a:extLst>
          </p:cNvPr>
          <p:cNvSpPr/>
          <p:nvPr/>
        </p:nvSpPr>
        <p:spPr>
          <a:xfrm>
            <a:off x="9428125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1C258EC-B73B-4830-72E7-458868D34801}"/>
              </a:ext>
            </a:extLst>
          </p:cNvPr>
          <p:cNvSpPr/>
          <p:nvPr/>
        </p:nvSpPr>
        <p:spPr>
          <a:xfrm>
            <a:off x="10513859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B4F18413-6B49-AC47-A147-6B5A5EA35449}"/>
              </a:ext>
            </a:extLst>
          </p:cNvPr>
          <p:cNvCxnSpPr>
            <a:cxnSpLocks/>
          </p:cNvCxnSpPr>
          <p:nvPr/>
        </p:nvCxnSpPr>
        <p:spPr>
          <a:xfrm flipH="1" flipV="1">
            <a:off x="8441483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19964024-F7F9-13B6-6673-A26A1FD7E37C}"/>
              </a:ext>
            </a:extLst>
          </p:cNvPr>
          <p:cNvCxnSpPr>
            <a:cxnSpLocks/>
          </p:cNvCxnSpPr>
          <p:nvPr/>
        </p:nvCxnSpPr>
        <p:spPr>
          <a:xfrm flipH="1" flipV="1">
            <a:off x="7355748" y="3661106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E6A0404C-133F-6390-3EFA-BAFB44078F77}"/>
              </a:ext>
            </a:extLst>
          </p:cNvPr>
          <p:cNvCxnSpPr>
            <a:cxnSpLocks/>
          </p:cNvCxnSpPr>
          <p:nvPr/>
        </p:nvCxnSpPr>
        <p:spPr>
          <a:xfrm flipV="1">
            <a:off x="735574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F669D6FD-9956-7FAB-875F-C6BC4EEA5B9B}"/>
              </a:ext>
            </a:extLst>
          </p:cNvPr>
          <p:cNvCxnSpPr>
            <a:cxnSpLocks/>
          </p:cNvCxnSpPr>
          <p:nvPr/>
        </p:nvCxnSpPr>
        <p:spPr>
          <a:xfrm flipV="1">
            <a:off x="8441483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397A92AC-3E97-378C-6C92-D2466D92170D}"/>
              </a:ext>
            </a:extLst>
          </p:cNvPr>
          <p:cNvCxnSpPr>
            <a:cxnSpLocks/>
          </p:cNvCxnSpPr>
          <p:nvPr/>
        </p:nvCxnSpPr>
        <p:spPr>
          <a:xfrm flipV="1">
            <a:off x="952721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4F0AB2AA-F447-AE6F-EDCA-CD8DF4897E59}"/>
              </a:ext>
            </a:extLst>
          </p:cNvPr>
          <p:cNvCxnSpPr>
            <a:cxnSpLocks/>
          </p:cNvCxnSpPr>
          <p:nvPr/>
        </p:nvCxnSpPr>
        <p:spPr>
          <a:xfrm flipV="1">
            <a:off x="10612954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C9F9F19-887F-E917-195B-3222016C0F08}"/>
              </a:ext>
            </a:extLst>
          </p:cNvPr>
          <p:cNvCxnSpPr>
            <a:cxnSpLocks/>
          </p:cNvCxnSpPr>
          <p:nvPr/>
        </p:nvCxnSpPr>
        <p:spPr>
          <a:xfrm flipH="1" flipV="1">
            <a:off x="10612952" y="3659952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08793E43-9FBA-ECE1-932A-DD41FEB4A43D}"/>
              </a:ext>
            </a:extLst>
          </p:cNvPr>
          <p:cNvCxnSpPr>
            <a:cxnSpLocks/>
          </p:cNvCxnSpPr>
          <p:nvPr/>
        </p:nvCxnSpPr>
        <p:spPr>
          <a:xfrm flipH="1" flipV="1">
            <a:off x="9527218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6A45F95-DF4C-51C6-EC27-950AD8293693}"/>
              </a:ext>
            </a:extLst>
          </p:cNvPr>
          <p:cNvSpPr txBox="1"/>
          <p:nvPr/>
        </p:nvSpPr>
        <p:spPr>
          <a:xfrm>
            <a:off x="691722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87944A4-BEF4-300A-91D9-6FDCEE491AA9}"/>
              </a:ext>
            </a:extLst>
          </p:cNvPr>
          <p:cNvSpPr txBox="1"/>
          <p:nvPr/>
        </p:nvSpPr>
        <p:spPr>
          <a:xfrm>
            <a:off x="8002958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4528C0B-3E7A-BB2D-1CE1-C6732C8F70E4}"/>
              </a:ext>
            </a:extLst>
          </p:cNvPr>
          <p:cNvSpPr txBox="1"/>
          <p:nvPr/>
        </p:nvSpPr>
        <p:spPr>
          <a:xfrm>
            <a:off x="908869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53CC24D-541E-A23B-34A8-6D67A553DB19}"/>
              </a:ext>
            </a:extLst>
          </p:cNvPr>
          <p:cNvSpPr txBox="1"/>
          <p:nvPr/>
        </p:nvSpPr>
        <p:spPr>
          <a:xfrm>
            <a:off x="10132049" y="6267587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1" name="曲線接點 40">
            <a:extLst>
              <a:ext uri="{FF2B5EF4-FFF2-40B4-BE49-F238E27FC236}">
                <a16:creationId xmlns:a16="http://schemas.microsoft.com/office/drawing/2014/main" id="{FEC63B3A-DEE4-8F0C-1A59-5B89414DD97D}"/>
              </a:ext>
            </a:extLst>
          </p:cNvPr>
          <p:cNvCxnSpPr>
            <a:stCxn id="15" idx="0"/>
            <a:endCxn id="16" idx="0"/>
          </p:cNvCxnSpPr>
          <p:nvPr/>
        </p:nvCxnSpPr>
        <p:spPr>
          <a:xfrm rot="5400000" flipH="1" flipV="1">
            <a:off x="7898615" y="4931157"/>
            <a:ext cx="12700" cy="1085735"/>
          </a:xfrm>
          <a:prstGeom prst="curvedConnector3">
            <a:avLst>
              <a:gd name="adj1" fmla="val 7875008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線接點 41">
            <a:extLst>
              <a:ext uri="{FF2B5EF4-FFF2-40B4-BE49-F238E27FC236}">
                <a16:creationId xmlns:a16="http://schemas.microsoft.com/office/drawing/2014/main" id="{667965F5-AD4E-38D5-38F9-208B34806463}"/>
              </a:ext>
            </a:extLst>
          </p:cNvPr>
          <p:cNvCxnSpPr>
            <a:cxnSpLocks/>
            <a:stCxn id="15" idx="0"/>
            <a:endCxn id="17" idx="0"/>
          </p:cNvCxnSpPr>
          <p:nvPr/>
        </p:nvCxnSpPr>
        <p:spPr>
          <a:xfrm rot="5400000" flipH="1" flipV="1">
            <a:off x="8441483" y="4388289"/>
            <a:ext cx="12700" cy="2171470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曲線接點 44">
            <a:extLst>
              <a:ext uri="{FF2B5EF4-FFF2-40B4-BE49-F238E27FC236}">
                <a16:creationId xmlns:a16="http://schemas.microsoft.com/office/drawing/2014/main" id="{659D7D06-A3D4-F085-E644-D198900D7E25}"/>
              </a:ext>
            </a:extLst>
          </p:cNvPr>
          <p:cNvCxnSpPr>
            <a:cxnSpLocks/>
            <a:stCxn id="15" idx="0"/>
            <a:endCxn id="18" idx="0"/>
          </p:cNvCxnSpPr>
          <p:nvPr/>
        </p:nvCxnSpPr>
        <p:spPr>
          <a:xfrm rot="5400000" flipH="1" flipV="1">
            <a:off x="8984351" y="3845421"/>
            <a:ext cx="12700" cy="3257206"/>
          </a:xfrm>
          <a:prstGeom prst="curvedConnector3">
            <a:avLst>
              <a:gd name="adj1" fmla="val 76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曲線接點 48">
            <a:extLst>
              <a:ext uri="{FF2B5EF4-FFF2-40B4-BE49-F238E27FC236}">
                <a16:creationId xmlns:a16="http://schemas.microsoft.com/office/drawing/2014/main" id="{93C236FF-30A9-1C21-E6AE-E5AF57C82284}"/>
              </a:ext>
            </a:extLst>
          </p:cNvPr>
          <p:cNvCxnSpPr>
            <a:cxnSpLocks/>
            <a:stCxn id="16" idx="0"/>
            <a:endCxn id="17" idx="0"/>
          </p:cNvCxnSpPr>
          <p:nvPr/>
        </p:nvCxnSpPr>
        <p:spPr>
          <a:xfrm rot="5400000" flipH="1" flipV="1">
            <a:off x="8984350" y="4931157"/>
            <a:ext cx="12700" cy="1085735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曲線接點 51">
            <a:extLst>
              <a:ext uri="{FF2B5EF4-FFF2-40B4-BE49-F238E27FC236}">
                <a16:creationId xmlns:a16="http://schemas.microsoft.com/office/drawing/2014/main" id="{4510A638-09BF-5419-C0EB-2248E10A4C47}"/>
              </a:ext>
            </a:extLst>
          </p:cNvPr>
          <p:cNvCxnSpPr>
            <a:cxnSpLocks/>
            <a:stCxn id="16" idx="0"/>
            <a:endCxn id="18" idx="0"/>
          </p:cNvCxnSpPr>
          <p:nvPr/>
        </p:nvCxnSpPr>
        <p:spPr>
          <a:xfrm rot="5400000" flipH="1" flipV="1">
            <a:off x="9527218" y="4388289"/>
            <a:ext cx="12700" cy="2171471"/>
          </a:xfrm>
          <a:prstGeom prst="curvedConnector3">
            <a:avLst>
              <a:gd name="adj1" fmla="val 840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曲線接點 54">
            <a:extLst>
              <a:ext uri="{FF2B5EF4-FFF2-40B4-BE49-F238E27FC236}">
                <a16:creationId xmlns:a16="http://schemas.microsoft.com/office/drawing/2014/main" id="{A6969B6B-26AB-272F-FA5A-9C7D2A17AF02}"/>
              </a:ext>
            </a:extLst>
          </p:cNvPr>
          <p:cNvCxnSpPr>
            <a:cxnSpLocks/>
            <a:stCxn id="17" idx="0"/>
            <a:endCxn id="18" idx="0"/>
          </p:cNvCxnSpPr>
          <p:nvPr/>
        </p:nvCxnSpPr>
        <p:spPr>
          <a:xfrm rot="5400000" flipH="1" flipV="1">
            <a:off x="10070086" y="4931156"/>
            <a:ext cx="12700" cy="1085736"/>
          </a:xfrm>
          <a:prstGeom prst="curvedConnector3">
            <a:avLst>
              <a:gd name="adj1" fmla="val 82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01784E2C-2271-BC85-C99B-5D4E1B9DA093}"/>
              </a:ext>
            </a:extLst>
          </p:cNvPr>
          <p:cNvSpPr txBox="1"/>
          <p:nvPr/>
        </p:nvSpPr>
        <p:spPr>
          <a:xfrm>
            <a:off x="4327460" y="4203714"/>
            <a:ext cx="25742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進行的過程需要主動與被動</a:t>
            </a:r>
          </a:p>
        </p:txBody>
      </p:sp>
    </p:spTree>
    <p:extLst>
      <p:ext uri="{BB962C8B-B14F-4D97-AF65-F5344CB8AC3E}">
        <p14:creationId xmlns:p14="http://schemas.microsoft.com/office/powerpoint/2010/main" val="295916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6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958E9F76-24EA-EB9B-8EE4-61ADA15A3925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33038FDF-A8CB-65DB-B2AE-374EDAC276C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9F589A7-4EF9-1A8F-A904-C0D64280F0CB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1408F9D-316F-26B5-3AA6-F42B4089F99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3277445-F103-6185-5D76-1714ACFE059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4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D71A4C7-DB37-C230-E3E6-9FD92EBFDBC4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2657CA6-0056-9CD7-AE53-953CF39118F9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960ADA8F-E51E-C65E-4341-9077F64AB199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4EC8B848-14B5-BC04-E72E-A96A59A07E9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13CD066-0257-5209-D728-F8A2954482C1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6ABEA6E-A73B-7E0C-BD8F-E2381AC0FF1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3277D2B-62DC-44A9-7EDD-D0114E5102A8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BF5FB52-3BEF-26A2-E5F6-8B14A2787A8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7C9B5056-6D20-D90B-300A-DB3217152E3F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DDE3720-988C-94D9-372C-46097B32F582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9DCD9CB0-7A63-B413-969A-A07B829E2CD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E9777522-CEAA-4579-F276-6F26411CF274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292427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65022A-1D3A-208E-38FC-16EA5B4E1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+mn-ea"/>
                <a:cs typeface="Calibri" panose="020F0502020204030204" pitchFamily="34" charset="0"/>
              </a:rPr>
              <a:t>QKV</a:t>
            </a:r>
            <a:r>
              <a:rPr lang="zh-TW" altLang="en-US" dirty="0">
                <a:ea typeface="+mn-ea"/>
                <a:cs typeface="Calibri" panose="020F0502020204030204" pitchFamily="34" charset="0"/>
              </a:rPr>
              <a:t> 的比喻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E927CE-170B-572C-ABAF-1538491E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17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CD54E07-2670-BF3A-C99F-3C71977B7189}"/>
              </a:ext>
            </a:extLst>
          </p:cNvPr>
          <p:cNvSpPr txBox="1"/>
          <p:nvPr/>
        </p:nvSpPr>
        <p:spPr>
          <a:xfrm>
            <a:off x="7959844" y="1081133"/>
            <a:ext cx="37500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4F69B63-AF80-53D1-7655-66B0AECD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855" y="1963711"/>
            <a:ext cx="9160669" cy="3259083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50CCDC48-5F34-4009-8BCA-BC2EBF35C1B9}"/>
              </a:ext>
            </a:extLst>
          </p:cNvPr>
          <p:cNvSpPr/>
          <p:nvPr/>
        </p:nvSpPr>
        <p:spPr>
          <a:xfrm>
            <a:off x="3229204" y="1963711"/>
            <a:ext cx="2024743" cy="34022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A492400-AA7A-B145-F4AC-B93F1B806608}"/>
              </a:ext>
            </a:extLst>
          </p:cNvPr>
          <p:cNvSpPr txBox="1"/>
          <p:nvPr/>
        </p:nvSpPr>
        <p:spPr>
          <a:xfrm>
            <a:off x="3756383" y="1594379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Query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E8B4F4E-F656-8E47-1E8D-474AC5236D16}"/>
              </a:ext>
            </a:extLst>
          </p:cNvPr>
          <p:cNvSpPr/>
          <p:nvPr/>
        </p:nvSpPr>
        <p:spPr>
          <a:xfrm>
            <a:off x="5701814" y="2929089"/>
            <a:ext cx="259391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60E8B354-9A6A-95B2-477A-9FE56CE5990E}"/>
              </a:ext>
            </a:extLst>
          </p:cNvPr>
          <p:cNvSpPr/>
          <p:nvPr/>
        </p:nvSpPr>
        <p:spPr>
          <a:xfrm>
            <a:off x="5776457" y="3665459"/>
            <a:ext cx="467675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254C35C-671F-A13C-E37E-19AE6F99BD38}"/>
              </a:ext>
            </a:extLst>
          </p:cNvPr>
          <p:cNvSpPr/>
          <p:nvPr/>
        </p:nvSpPr>
        <p:spPr>
          <a:xfrm>
            <a:off x="6849480" y="4062460"/>
            <a:ext cx="3566404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65DB248-9E91-CBD6-4300-834D995268A4}"/>
              </a:ext>
            </a:extLst>
          </p:cNvPr>
          <p:cNvSpPr txBox="1"/>
          <p:nvPr/>
        </p:nvSpPr>
        <p:spPr>
          <a:xfrm>
            <a:off x="8295724" y="2873905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9EF5EA"/>
                </a:solidFill>
              </a:rPr>
              <a:t>Key</a:t>
            </a:r>
            <a:endParaRPr kumimoji="1" lang="zh-TW" altLang="en-US" dirty="0">
              <a:solidFill>
                <a:srgbClr val="9EF5EA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D08AC4E-EA6F-EA9A-AFD0-93BFDD79F121}"/>
              </a:ext>
            </a:extLst>
          </p:cNvPr>
          <p:cNvSpPr/>
          <p:nvPr/>
        </p:nvSpPr>
        <p:spPr>
          <a:xfrm>
            <a:off x="1526361" y="2776980"/>
            <a:ext cx="8982832" cy="2372795"/>
          </a:xfrm>
          <a:prstGeom prst="roundRect">
            <a:avLst/>
          </a:prstGeom>
          <a:noFill/>
          <a:ln w="28575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A7EC74E-D55D-F019-1794-B331C5EA1680}"/>
              </a:ext>
            </a:extLst>
          </p:cNvPr>
          <p:cNvSpPr txBox="1"/>
          <p:nvPr/>
        </p:nvSpPr>
        <p:spPr>
          <a:xfrm>
            <a:off x="10453207" y="3808191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40FF"/>
                </a:solidFill>
              </a:rPr>
              <a:t>Value</a:t>
            </a:r>
            <a:endParaRPr kumimoji="1" lang="zh-TW" altLang="en-US" dirty="0">
              <a:solidFill>
                <a:srgbClr val="FF40FF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0620BE0-AC8F-E101-0BD8-7BBB9F8B3A97}"/>
              </a:ext>
            </a:extLst>
          </p:cNvPr>
          <p:cNvSpPr txBox="1"/>
          <p:nvPr/>
        </p:nvSpPr>
        <p:spPr>
          <a:xfrm>
            <a:off x="1357855" y="5565860"/>
            <a:ext cx="9857541" cy="958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Query: (</a:t>
            </a:r>
            <a:r>
              <a:rPr kumimoji="1" lang="zh-TW" altLang="en-US" sz="2000" dirty="0"/>
              <a:t>主動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查詢的關鍵字；</a:t>
            </a:r>
            <a:r>
              <a:rPr kumimoji="1" lang="en-US" altLang="zh-TW" sz="2000" dirty="0"/>
              <a:t>Key: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(</a:t>
            </a:r>
            <a:r>
              <a:rPr kumimoji="1" lang="zh-TW" altLang="en-US" sz="2000" dirty="0"/>
              <a:t>被動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查詢的對象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Value: </a:t>
            </a:r>
            <a:r>
              <a:rPr kumimoji="1" lang="zh-TW" altLang="en-US" sz="2000" dirty="0"/>
              <a:t>值，關鍵字與對象的匹配程度</a:t>
            </a:r>
            <a:endParaRPr kumimoji="1"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17043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 animBg="1"/>
      <p:bldP spid="10" grpId="0" animBg="1"/>
      <p:bldP spid="11" grpId="0" animBg="1"/>
      <p:bldP spid="12" grpId="0"/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34632-1925-DED6-ABF9-99E9101D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為什麼 </a:t>
            </a:r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可以平行化？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7672B-4E61-A146-0784-0A62D7E24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98250A1-BEB4-61A1-6F07-5433DEFD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9" y="1991488"/>
            <a:ext cx="2765086" cy="3450957"/>
          </a:xfrm>
          <a:prstGeom prst="rect">
            <a:avLst/>
          </a:prstGeom>
        </p:spPr>
      </p:pic>
      <p:sp>
        <p:nvSpPr>
          <p:cNvPr id="6" name="圓角矩形 5">
            <a:extLst>
              <a:ext uri="{FF2B5EF4-FFF2-40B4-BE49-F238E27FC236}">
                <a16:creationId xmlns:a16="http://schemas.microsoft.com/office/drawing/2014/main" id="{50745F76-BCA4-CF78-F4BE-CC059C9C5E66}"/>
              </a:ext>
            </a:extLst>
          </p:cNvPr>
          <p:cNvSpPr/>
          <p:nvPr/>
        </p:nvSpPr>
        <p:spPr>
          <a:xfrm>
            <a:off x="528639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9C815E1-E390-94FE-3B0C-2541453CF7E5}"/>
              </a:ext>
            </a:extLst>
          </p:cNvPr>
          <p:cNvSpPr txBox="1"/>
          <p:nvPr/>
        </p:nvSpPr>
        <p:spPr>
          <a:xfrm>
            <a:off x="5861542" y="6178818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7179721-A00D-70F9-E0B9-B7D199E2B83F}"/>
              </a:ext>
            </a:extLst>
          </p:cNvPr>
          <p:cNvSpPr/>
          <p:nvPr/>
        </p:nvSpPr>
        <p:spPr>
          <a:xfrm>
            <a:off x="773490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3C4D787-EFD9-A8BE-C118-31679759D4A0}"/>
              </a:ext>
            </a:extLst>
          </p:cNvPr>
          <p:cNvSpPr txBox="1"/>
          <p:nvPr/>
        </p:nvSpPr>
        <p:spPr>
          <a:xfrm>
            <a:off x="8294219" y="617157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9114E970-6D06-8883-69F2-AC2FFA14557A}"/>
              </a:ext>
            </a:extLst>
          </p:cNvPr>
          <p:cNvSpPr/>
          <p:nvPr/>
        </p:nvSpPr>
        <p:spPr>
          <a:xfrm>
            <a:off x="10155423" y="6144693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70E040-DB77-5805-20E8-637906B04D89}"/>
              </a:ext>
            </a:extLst>
          </p:cNvPr>
          <p:cNvSpPr txBox="1"/>
          <p:nvPr/>
        </p:nvSpPr>
        <p:spPr>
          <a:xfrm>
            <a:off x="10731099" y="617948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15C3A9E0-5231-9712-211B-F2543263D056}"/>
              </a:ext>
            </a:extLst>
          </p:cNvPr>
          <p:cNvSpPr/>
          <p:nvPr/>
        </p:nvSpPr>
        <p:spPr>
          <a:xfrm>
            <a:off x="9554464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5B26178-0D41-620D-92E0-C21F1A858AB7}"/>
              </a:ext>
            </a:extLst>
          </p:cNvPr>
          <p:cNvSpPr/>
          <p:nvPr/>
        </p:nvSpPr>
        <p:spPr>
          <a:xfrm>
            <a:off x="10130090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79815C8-E81D-DC79-5550-8E3356121A36}"/>
              </a:ext>
            </a:extLst>
          </p:cNvPr>
          <p:cNvSpPr/>
          <p:nvPr/>
        </p:nvSpPr>
        <p:spPr>
          <a:xfrm>
            <a:off x="10711761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ADD29C84-8D9E-E259-1D7D-EC0C2203643F}"/>
              </a:ext>
            </a:extLst>
          </p:cNvPr>
          <p:cNvSpPr/>
          <p:nvPr/>
        </p:nvSpPr>
        <p:spPr>
          <a:xfrm>
            <a:off x="7153938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CB7E018-5210-57E9-0114-3AB680FE07B3}"/>
              </a:ext>
            </a:extLst>
          </p:cNvPr>
          <p:cNvSpPr/>
          <p:nvPr/>
        </p:nvSpPr>
        <p:spPr>
          <a:xfrm>
            <a:off x="7729564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AB014BF2-81E8-25AD-3BA9-D63775853E00}"/>
              </a:ext>
            </a:extLst>
          </p:cNvPr>
          <p:cNvSpPr/>
          <p:nvPr/>
        </p:nvSpPr>
        <p:spPr>
          <a:xfrm>
            <a:off x="8311235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07F6C340-CAF8-D2E3-1412-CEFFB7AA4162}"/>
              </a:ext>
            </a:extLst>
          </p:cNvPr>
          <p:cNvSpPr/>
          <p:nvPr/>
        </p:nvSpPr>
        <p:spPr>
          <a:xfrm>
            <a:off x="4704315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A2587DFD-21BD-CDE2-5D60-FAD3BA577A0A}"/>
              </a:ext>
            </a:extLst>
          </p:cNvPr>
          <p:cNvSpPr/>
          <p:nvPr/>
        </p:nvSpPr>
        <p:spPr>
          <a:xfrm>
            <a:off x="5279941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1979137F-8769-9695-7637-80134D5BA169}"/>
              </a:ext>
            </a:extLst>
          </p:cNvPr>
          <p:cNvSpPr/>
          <p:nvPr/>
        </p:nvSpPr>
        <p:spPr>
          <a:xfrm>
            <a:off x="5861612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8BD889CF-9484-0C82-70C0-6340D918B3E9}"/>
              </a:ext>
            </a:extLst>
          </p:cNvPr>
          <p:cNvSpPr/>
          <p:nvPr/>
        </p:nvSpPr>
        <p:spPr>
          <a:xfrm>
            <a:off x="7135071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69BDE403-6F2B-2A4A-A376-248D173FC50A}"/>
              </a:ext>
            </a:extLst>
          </p:cNvPr>
          <p:cNvSpPr/>
          <p:nvPr/>
        </p:nvSpPr>
        <p:spPr>
          <a:xfrm>
            <a:off x="7712548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1E6B737-A27E-9B79-CD6B-948592E1FA13}"/>
              </a:ext>
            </a:extLst>
          </p:cNvPr>
          <p:cNvSpPr/>
          <p:nvPr/>
        </p:nvSpPr>
        <p:spPr>
          <a:xfrm>
            <a:off x="8294219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B71A2F6-89FA-437E-911F-6ECCE0DE0856}"/>
              </a:ext>
            </a:extLst>
          </p:cNvPr>
          <p:cNvSpPr/>
          <p:nvPr/>
        </p:nvSpPr>
        <p:spPr>
          <a:xfrm rot="16200000">
            <a:off x="5266864" y="267068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75455F1-1A19-97DA-1A63-86C922D54717}"/>
              </a:ext>
            </a:extLst>
          </p:cNvPr>
          <p:cNvSpPr txBox="1"/>
          <p:nvPr/>
        </p:nvSpPr>
        <p:spPr>
          <a:xfrm>
            <a:off x="5338224" y="302962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86E813EF-10BA-8164-EA0E-7646D39428B3}"/>
              </a:ext>
            </a:extLst>
          </p:cNvPr>
          <p:cNvSpPr/>
          <p:nvPr/>
        </p:nvSpPr>
        <p:spPr>
          <a:xfrm rot="16200000">
            <a:off x="5265078" y="3260459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09BE094-8006-8567-2B01-7E1A261C401B}"/>
              </a:ext>
            </a:extLst>
          </p:cNvPr>
          <p:cNvSpPr txBox="1"/>
          <p:nvPr/>
        </p:nvSpPr>
        <p:spPr>
          <a:xfrm>
            <a:off x="5336438" y="36194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497FDF6-6E6B-CACA-AD68-09882C9FB31F}"/>
              </a:ext>
            </a:extLst>
          </p:cNvPr>
          <p:cNvSpPr/>
          <p:nvPr/>
        </p:nvSpPr>
        <p:spPr>
          <a:xfrm rot="16200000">
            <a:off x="5259842" y="2080910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4B6D927-ED3F-30DF-7A82-B1BEB8F9C1F9}"/>
              </a:ext>
            </a:extLst>
          </p:cNvPr>
          <p:cNvSpPr txBox="1"/>
          <p:nvPr/>
        </p:nvSpPr>
        <p:spPr>
          <a:xfrm>
            <a:off x="5331202" y="243985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DBE572CA-6E7D-04A6-5ED2-C9A5276AABCF}"/>
              </a:ext>
            </a:extLst>
          </p:cNvPr>
          <p:cNvSpPr/>
          <p:nvPr/>
        </p:nvSpPr>
        <p:spPr>
          <a:xfrm rot="16200000">
            <a:off x="10069103" y="26706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6D73BE6-9C95-6F38-F654-FBC3629F1DE7}"/>
              </a:ext>
            </a:extLst>
          </p:cNvPr>
          <p:cNvSpPr txBox="1"/>
          <p:nvPr/>
        </p:nvSpPr>
        <p:spPr>
          <a:xfrm>
            <a:off x="10140463" y="30296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3D84D303-7B5B-C0CB-60A6-6ACAC5096849}"/>
              </a:ext>
            </a:extLst>
          </p:cNvPr>
          <p:cNvSpPr/>
          <p:nvPr/>
        </p:nvSpPr>
        <p:spPr>
          <a:xfrm rot="16200000">
            <a:off x="10067317" y="32604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D09C80F-9497-4E1F-EF28-F577821AE9AA}"/>
              </a:ext>
            </a:extLst>
          </p:cNvPr>
          <p:cNvSpPr txBox="1"/>
          <p:nvPr/>
        </p:nvSpPr>
        <p:spPr>
          <a:xfrm>
            <a:off x="10138677" y="36194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76BA6002-F22B-2534-E7EB-97C846B2E2BE}"/>
              </a:ext>
            </a:extLst>
          </p:cNvPr>
          <p:cNvSpPr/>
          <p:nvPr/>
        </p:nvSpPr>
        <p:spPr>
          <a:xfrm rot="16200000">
            <a:off x="10062081" y="20809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DAD992D-C285-0814-141D-78D30180B5F4}"/>
              </a:ext>
            </a:extLst>
          </p:cNvPr>
          <p:cNvSpPr txBox="1"/>
          <p:nvPr/>
        </p:nvSpPr>
        <p:spPr>
          <a:xfrm>
            <a:off x="10133441" y="24398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A02C634-C3E5-CA5F-30E9-2F145997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32" y="5725369"/>
            <a:ext cx="2972804" cy="543179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C520CD93-873C-463D-AF8C-A1DDD87CCA79}"/>
              </a:ext>
            </a:extLst>
          </p:cNvPr>
          <p:cNvSpPr txBox="1"/>
          <p:nvPr/>
        </p:nvSpPr>
        <p:spPr>
          <a:xfrm>
            <a:off x="5069918" y="1504369"/>
            <a:ext cx="556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自注意力機制可以利用矩陣乘積來進行平行化計算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C9D9FE6-4146-C56B-E668-E84FB1F3BDE9}"/>
              </a:ext>
            </a:extLst>
          </p:cNvPr>
          <p:cNvSpPr/>
          <p:nvPr/>
        </p:nvSpPr>
        <p:spPr>
          <a:xfrm>
            <a:off x="4704315" y="1912366"/>
            <a:ext cx="6362773" cy="252517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/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/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/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A23F0C9-C20A-2C50-004E-F213D1CB681A}"/>
              </a:ext>
            </a:extLst>
          </p:cNvPr>
          <p:cNvSpPr txBox="1"/>
          <p:nvPr/>
        </p:nvSpPr>
        <p:spPr>
          <a:xfrm>
            <a:off x="9981159" y="40682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DFDC0E-0195-B0B8-3023-708C64EC10D0}"/>
              </a:ext>
            </a:extLst>
          </p:cNvPr>
          <p:cNvSpPr txBox="1"/>
          <p:nvPr/>
        </p:nvSpPr>
        <p:spPr>
          <a:xfrm>
            <a:off x="5143043" y="4074554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51F3D3-FCD0-B930-B86E-B1048D8098B7}"/>
              </a:ext>
            </a:extLst>
          </p:cNvPr>
          <p:cNvSpPr txBox="1"/>
          <p:nvPr/>
        </p:nvSpPr>
        <p:spPr>
          <a:xfrm>
            <a:off x="7625979" y="4070697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7E2A89-6805-53F1-922F-5A0A7785DDBF}"/>
              </a:ext>
            </a:extLst>
          </p:cNvPr>
          <p:cNvSpPr txBox="1"/>
          <p:nvPr/>
        </p:nvSpPr>
        <p:spPr>
          <a:xfrm>
            <a:off x="806832" y="1389504"/>
            <a:ext cx="1398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r>
              <a:rPr kumimoji="1" lang="en-US" altLang="zh-TW" baseline="-25000" dirty="0"/>
              <a:t>  </a:t>
            </a:r>
            <a:r>
              <a:rPr kumimoji="1" lang="en-US" altLang="zh-TW" dirty="0"/>
              <a:t>= 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= d</a:t>
            </a:r>
            <a:r>
              <a:rPr kumimoji="1" lang="en-US" altLang="zh-TW" baseline="-25000" dirty="0"/>
              <a:t>v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9821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5" grpId="0"/>
      <p:bldP spid="46" grpId="0" animBg="1"/>
      <p:bldP spid="47" grpId="0"/>
      <p:bldP spid="49" grpId="0" animBg="1"/>
      <p:bldP spid="50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1" grpId="0"/>
      <p:bldP spid="62" grpId="0" animBg="1"/>
      <p:bldP spid="64" grpId="0"/>
      <p:bldP spid="65" grpId="0"/>
      <p:bldP spid="66" grpId="0"/>
      <p:bldP spid="3" grpId="0"/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6A68A-301E-B63D-162A-5B3335D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(1/2)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F7FA8-74D3-90D4-E217-2B573E67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38BF0D-40C4-8AE8-DA83-56C66988DDE3}"/>
              </a:ext>
            </a:extLst>
          </p:cNvPr>
          <p:cNvSpPr txBox="1"/>
          <p:nvPr/>
        </p:nvSpPr>
        <p:spPr>
          <a:xfrm flipH="1">
            <a:off x="3294318" y="6380722"/>
            <a:ext cx="30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71FF92-2DD4-2188-4923-BA97A6F2420C}"/>
              </a:ext>
            </a:extLst>
          </p:cNvPr>
          <p:cNvSpPr txBox="1"/>
          <p:nvPr/>
        </p:nvSpPr>
        <p:spPr>
          <a:xfrm>
            <a:off x="5751426" y="63702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98D692E-18CA-45DC-0ADE-751EC2AF257B}"/>
              </a:ext>
            </a:extLst>
          </p:cNvPr>
          <p:cNvSpPr txBox="1"/>
          <p:nvPr/>
        </p:nvSpPr>
        <p:spPr>
          <a:xfrm>
            <a:off x="8683120" y="635881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73031F7-19CE-0B6C-0A73-1EDD56C383BE}"/>
              </a:ext>
            </a:extLst>
          </p:cNvPr>
          <p:cNvSpPr/>
          <p:nvPr/>
        </p:nvSpPr>
        <p:spPr>
          <a:xfrm>
            <a:off x="8175681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1FC4D4EB-5E06-0111-4343-8171CF9623B9}"/>
              </a:ext>
            </a:extLst>
          </p:cNvPr>
          <p:cNvSpPr/>
          <p:nvPr/>
        </p:nvSpPr>
        <p:spPr>
          <a:xfrm>
            <a:off x="875130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11F69F7-65E0-4490-C5C6-5778B7BF6D8D}"/>
              </a:ext>
            </a:extLst>
          </p:cNvPr>
          <p:cNvSpPr/>
          <p:nvPr/>
        </p:nvSpPr>
        <p:spPr>
          <a:xfrm>
            <a:off x="9332978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E9A81773-6398-0FD8-CFD4-FD0C35E6F8EE}"/>
              </a:ext>
            </a:extLst>
          </p:cNvPr>
          <p:cNvSpPr/>
          <p:nvPr/>
        </p:nvSpPr>
        <p:spPr>
          <a:xfrm>
            <a:off x="538029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4756521D-145C-8D15-AB0F-07969BA0CEFC}"/>
              </a:ext>
            </a:extLst>
          </p:cNvPr>
          <p:cNvSpPr/>
          <p:nvPr/>
        </p:nvSpPr>
        <p:spPr>
          <a:xfrm>
            <a:off x="5955923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FE491CB-F796-F616-11B0-221FD736E911}"/>
              </a:ext>
            </a:extLst>
          </p:cNvPr>
          <p:cNvSpPr/>
          <p:nvPr/>
        </p:nvSpPr>
        <p:spPr>
          <a:xfrm>
            <a:off x="6537594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4F638086-0B95-9BE7-E2C1-7CC74B40F307}"/>
              </a:ext>
            </a:extLst>
          </p:cNvPr>
          <p:cNvSpPr/>
          <p:nvPr/>
        </p:nvSpPr>
        <p:spPr>
          <a:xfrm>
            <a:off x="2618944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2D7B499-4C3E-2874-182E-6417E0B5D7EE}"/>
              </a:ext>
            </a:extLst>
          </p:cNvPr>
          <p:cNvSpPr/>
          <p:nvPr/>
        </p:nvSpPr>
        <p:spPr>
          <a:xfrm>
            <a:off x="3194570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24C8A30-DC99-4DAB-5978-2BB988269EAA}"/>
              </a:ext>
            </a:extLst>
          </p:cNvPr>
          <p:cNvSpPr/>
          <p:nvPr/>
        </p:nvSpPr>
        <p:spPr>
          <a:xfrm>
            <a:off x="3776241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A4B00D99-E63E-51F8-8E80-DAC3303E99E0}"/>
              </a:ext>
            </a:extLst>
          </p:cNvPr>
          <p:cNvSpPr/>
          <p:nvPr/>
        </p:nvSpPr>
        <p:spPr>
          <a:xfrm rot="16200000">
            <a:off x="1023025" y="251649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B2790E8-356B-E31F-C1D2-BDF92C1401A3}"/>
              </a:ext>
            </a:extLst>
          </p:cNvPr>
          <p:cNvSpPr txBox="1"/>
          <p:nvPr/>
        </p:nvSpPr>
        <p:spPr>
          <a:xfrm>
            <a:off x="1094385" y="287544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C40CFEC-7F97-D4C5-B2BF-D29C8371C62D}"/>
              </a:ext>
            </a:extLst>
          </p:cNvPr>
          <p:cNvSpPr/>
          <p:nvPr/>
        </p:nvSpPr>
        <p:spPr>
          <a:xfrm rot="16200000">
            <a:off x="1021239" y="310627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E524CB2-73CC-21F9-B3B5-BEEF2C249011}"/>
              </a:ext>
            </a:extLst>
          </p:cNvPr>
          <p:cNvSpPr txBox="1"/>
          <p:nvPr/>
        </p:nvSpPr>
        <p:spPr>
          <a:xfrm>
            <a:off x="1092599" y="346521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8EAAB3D0-CD13-31DA-3835-DC7199C9D374}"/>
              </a:ext>
            </a:extLst>
          </p:cNvPr>
          <p:cNvSpPr/>
          <p:nvPr/>
        </p:nvSpPr>
        <p:spPr>
          <a:xfrm rot="16200000">
            <a:off x="1016003" y="192672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8FB1D95-DE5F-3026-238D-0B20A60B05F8}"/>
              </a:ext>
            </a:extLst>
          </p:cNvPr>
          <p:cNvSpPr txBox="1"/>
          <p:nvPr/>
        </p:nvSpPr>
        <p:spPr>
          <a:xfrm>
            <a:off x="1087363" y="228566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B002EE1-BED1-51AD-9687-997241B7A987}"/>
              </a:ext>
            </a:extLst>
          </p:cNvPr>
          <p:cNvSpPr txBox="1"/>
          <p:nvPr/>
        </p:nvSpPr>
        <p:spPr>
          <a:xfrm>
            <a:off x="744356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BA39ED8B-77EF-49D8-DE0B-9FAF0F1AE540}"/>
              </a:ext>
            </a:extLst>
          </p:cNvPr>
          <p:cNvSpPr/>
          <p:nvPr/>
        </p:nvSpPr>
        <p:spPr>
          <a:xfrm rot="16200000">
            <a:off x="8945632" y="24930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29D977C-7DE0-FF3E-EB00-04982A3BF2E8}"/>
              </a:ext>
            </a:extLst>
          </p:cNvPr>
          <p:cNvSpPr txBox="1"/>
          <p:nvPr/>
        </p:nvSpPr>
        <p:spPr>
          <a:xfrm>
            <a:off x="9016992" y="28520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DA8CBA8B-7F66-2F2B-C7C8-9716AB1CBF22}"/>
              </a:ext>
            </a:extLst>
          </p:cNvPr>
          <p:cNvSpPr/>
          <p:nvPr/>
        </p:nvSpPr>
        <p:spPr>
          <a:xfrm rot="16200000">
            <a:off x="8943846" y="308286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1FBA7A4-A711-C6F6-1FA2-EDD2E590B2D5}"/>
              </a:ext>
            </a:extLst>
          </p:cNvPr>
          <p:cNvSpPr txBox="1"/>
          <p:nvPr/>
        </p:nvSpPr>
        <p:spPr>
          <a:xfrm>
            <a:off x="9015206" y="344181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5D93D995-CA86-B16E-D5DD-495D8E9D2688}"/>
              </a:ext>
            </a:extLst>
          </p:cNvPr>
          <p:cNvSpPr/>
          <p:nvPr/>
        </p:nvSpPr>
        <p:spPr>
          <a:xfrm rot="16200000">
            <a:off x="8938610" y="190332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94F8A34-11C1-C5F0-5E5F-0BD107D8AFAC}"/>
              </a:ext>
            </a:extLst>
          </p:cNvPr>
          <p:cNvSpPr txBox="1"/>
          <p:nvPr/>
        </p:nvSpPr>
        <p:spPr>
          <a:xfrm>
            <a:off x="9009970" y="226226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DD28048C-E9C3-2AEE-E956-6F6A334CA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  <p:sp>
        <p:nvSpPr>
          <p:cNvPr id="46" name="圓角矩形 45">
            <a:extLst>
              <a:ext uri="{FF2B5EF4-FFF2-40B4-BE49-F238E27FC236}">
                <a16:creationId xmlns:a16="http://schemas.microsoft.com/office/drawing/2014/main" id="{B025E6CD-3BD7-AA5E-7E5C-87E608ABC292}"/>
              </a:ext>
            </a:extLst>
          </p:cNvPr>
          <p:cNvSpPr/>
          <p:nvPr/>
        </p:nvSpPr>
        <p:spPr>
          <a:xfrm rot="16200000">
            <a:off x="1905552" y="2210291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AB4D5B1F-BB78-9B23-FB73-452C2273ECF0}"/>
              </a:ext>
            </a:extLst>
          </p:cNvPr>
          <p:cNvSpPr txBox="1"/>
          <p:nvPr/>
        </p:nvSpPr>
        <p:spPr>
          <a:xfrm>
            <a:off x="2142647" y="3937219"/>
            <a:ext cx="125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6C1DA17E-5B4C-917A-45A6-842F460AFF80}"/>
              </a:ext>
            </a:extLst>
          </p:cNvPr>
          <p:cNvSpPr txBox="1"/>
          <p:nvPr/>
        </p:nvSpPr>
        <p:spPr>
          <a:xfrm>
            <a:off x="2447913" y="2866312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A044B2FF-92A0-C400-6A7A-C12E669DA6D0}"/>
              </a:ext>
            </a:extLst>
          </p:cNvPr>
          <p:cNvSpPr txBox="1"/>
          <p:nvPr/>
        </p:nvSpPr>
        <p:spPr>
          <a:xfrm>
            <a:off x="6069050" y="3937219"/>
            <a:ext cx="130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2929EA0-4FE9-E667-1E2D-D666ECE0919E}"/>
              </a:ext>
            </a:extLst>
          </p:cNvPr>
          <p:cNvSpPr txBox="1"/>
          <p:nvPr/>
        </p:nvSpPr>
        <p:spPr>
          <a:xfrm>
            <a:off x="4670759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2AB4D049-063C-DCB9-36E0-55CD1463C524}"/>
              </a:ext>
            </a:extLst>
          </p:cNvPr>
          <p:cNvSpPr/>
          <p:nvPr/>
        </p:nvSpPr>
        <p:spPr>
          <a:xfrm rot="16200000">
            <a:off x="4948574" y="251269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33F03E8-FC3B-1D67-892A-56E27AF2768B}"/>
              </a:ext>
            </a:extLst>
          </p:cNvPr>
          <p:cNvSpPr txBox="1"/>
          <p:nvPr/>
        </p:nvSpPr>
        <p:spPr>
          <a:xfrm>
            <a:off x="5019934" y="287163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699435B4-693F-948F-A463-A0BDDB495A6A}"/>
              </a:ext>
            </a:extLst>
          </p:cNvPr>
          <p:cNvSpPr/>
          <p:nvPr/>
        </p:nvSpPr>
        <p:spPr>
          <a:xfrm rot="16200000">
            <a:off x="4946788" y="310246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DD67790-73F3-EB03-8995-410285E8DFB0}"/>
              </a:ext>
            </a:extLst>
          </p:cNvPr>
          <p:cNvSpPr txBox="1"/>
          <p:nvPr/>
        </p:nvSpPr>
        <p:spPr>
          <a:xfrm>
            <a:off x="5018148" y="346140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CAC3D342-125F-5370-D0D8-7247DE6439E8}"/>
              </a:ext>
            </a:extLst>
          </p:cNvPr>
          <p:cNvSpPr/>
          <p:nvPr/>
        </p:nvSpPr>
        <p:spPr>
          <a:xfrm rot="16200000">
            <a:off x="4941552" y="192291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20B2D1D-225A-0B29-9AB5-54C276FAF02A}"/>
              </a:ext>
            </a:extLst>
          </p:cNvPr>
          <p:cNvSpPr txBox="1"/>
          <p:nvPr/>
        </p:nvSpPr>
        <p:spPr>
          <a:xfrm>
            <a:off x="5012912" y="228186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733D17FB-6D3A-89DD-07AB-D1203B0DCE53}"/>
              </a:ext>
            </a:extLst>
          </p:cNvPr>
          <p:cNvSpPr/>
          <p:nvPr/>
        </p:nvSpPr>
        <p:spPr>
          <a:xfrm rot="16200000">
            <a:off x="5831101" y="220648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14DA6F2C-49DB-DE80-404D-39260F2F86C2}"/>
              </a:ext>
            </a:extLst>
          </p:cNvPr>
          <p:cNvSpPr txBox="1"/>
          <p:nvPr/>
        </p:nvSpPr>
        <p:spPr>
          <a:xfrm>
            <a:off x="6373462" y="286250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0CD71591-DAC3-C8CA-B896-544CCC0141FB}"/>
              </a:ext>
            </a:extLst>
          </p:cNvPr>
          <p:cNvSpPr/>
          <p:nvPr/>
        </p:nvSpPr>
        <p:spPr>
          <a:xfrm rot="16200000">
            <a:off x="9811233" y="2182507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FDB5CA85-2498-28A0-CB4C-961B784CFFA7}"/>
              </a:ext>
            </a:extLst>
          </p:cNvPr>
          <p:cNvSpPr txBox="1"/>
          <p:nvPr/>
        </p:nvSpPr>
        <p:spPr>
          <a:xfrm>
            <a:off x="10353594" y="283852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7EAF1D3-C74C-B3BC-F58E-91B383B7C5BD}"/>
              </a:ext>
            </a:extLst>
          </p:cNvPr>
          <p:cNvSpPr txBox="1"/>
          <p:nvPr/>
        </p:nvSpPr>
        <p:spPr>
          <a:xfrm>
            <a:off x="3998498" y="1788431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80E0D3FB-9B92-1E45-E773-FDEDBEBF618C}"/>
              </a:ext>
            </a:extLst>
          </p:cNvPr>
          <p:cNvSpPr txBox="1"/>
          <p:nvPr/>
        </p:nvSpPr>
        <p:spPr>
          <a:xfrm>
            <a:off x="7383698" y="1788430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/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文字方塊 68">
            <a:extLst>
              <a:ext uri="{FF2B5EF4-FFF2-40B4-BE49-F238E27FC236}">
                <a16:creationId xmlns:a16="http://schemas.microsoft.com/office/drawing/2014/main" id="{477173E1-8D52-B8B2-85DB-C383766057D1}"/>
              </a:ext>
            </a:extLst>
          </p:cNvPr>
          <p:cNvSpPr txBox="1"/>
          <p:nvPr/>
        </p:nvSpPr>
        <p:spPr>
          <a:xfrm>
            <a:off x="9484492" y="1508781"/>
            <a:ext cx="13110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V: N x d</a:t>
            </a:r>
            <a:r>
              <a:rPr kumimoji="1" lang="en-US" altLang="zh-TW" sz="2000" baseline="-25000" dirty="0"/>
              <a:t>v</a:t>
            </a:r>
            <a:endParaRPr kumimoji="1" lang="zh-TW" altLang="en-US" sz="2000" baseline="-250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D5691509-CB79-A458-424D-4F6FCE6B7F61}"/>
              </a:ext>
            </a:extLst>
          </p:cNvPr>
          <p:cNvSpPr txBox="1"/>
          <p:nvPr/>
        </p:nvSpPr>
        <p:spPr>
          <a:xfrm>
            <a:off x="1406874" y="1509459"/>
            <a:ext cx="1468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Q: N x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q</a:t>
            </a:r>
            <a:endParaRPr kumimoji="1" lang="zh-TW" altLang="en-US" sz="2000" baseline="-250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CD38873-9614-04BC-8841-4997C4942A56}"/>
              </a:ext>
            </a:extLst>
          </p:cNvPr>
          <p:cNvSpPr txBox="1"/>
          <p:nvPr/>
        </p:nvSpPr>
        <p:spPr>
          <a:xfrm>
            <a:off x="5552041" y="1507282"/>
            <a:ext cx="1203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K: N x d</a:t>
            </a:r>
            <a:r>
              <a:rPr kumimoji="1" lang="en-US" altLang="zh-TW" sz="2000" baseline="-25000" dirty="0"/>
              <a:t>k</a:t>
            </a:r>
            <a:endParaRPr kumimoji="1" lang="zh-TW" altLang="en-US" sz="2000" baseline="-25000" dirty="0"/>
          </a:p>
        </p:txBody>
      </p:sp>
      <p:sp>
        <p:nvSpPr>
          <p:cNvPr id="72" name="向右箭號 71">
            <a:extLst>
              <a:ext uri="{FF2B5EF4-FFF2-40B4-BE49-F238E27FC236}">
                <a16:creationId xmlns:a16="http://schemas.microsoft.com/office/drawing/2014/main" id="{491FA22E-7F0F-35A9-B538-130C61C31608}"/>
              </a:ext>
            </a:extLst>
          </p:cNvPr>
          <p:cNvSpPr/>
          <p:nvPr/>
        </p:nvSpPr>
        <p:spPr>
          <a:xfrm rot="16200000">
            <a:off x="6053778" y="4410624"/>
            <a:ext cx="311727" cy="426027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BBFB79C2-988B-C075-3686-C3AD7C02E9AC}"/>
              </a:ext>
            </a:extLst>
          </p:cNvPr>
          <p:cNvSpPr txBox="1"/>
          <p:nvPr/>
        </p:nvSpPr>
        <p:spPr>
          <a:xfrm>
            <a:off x="10070049" y="3933412"/>
            <a:ext cx="13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06018B9F-ECAC-B785-4568-BAB5992AA405}"/>
              </a:ext>
            </a:extLst>
          </p:cNvPr>
          <p:cNvSpPr txBox="1"/>
          <p:nvPr/>
        </p:nvSpPr>
        <p:spPr>
          <a:xfrm>
            <a:off x="8758872" y="393341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76" name="左中括弧 75">
            <a:extLst>
              <a:ext uri="{FF2B5EF4-FFF2-40B4-BE49-F238E27FC236}">
                <a16:creationId xmlns:a16="http://schemas.microsoft.com/office/drawing/2014/main" id="{8A91D5AB-DB0E-B888-8835-D6D4412887CA}"/>
              </a:ext>
            </a:extLst>
          </p:cNvPr>
          <p:cNvSpPr/>
          <p:nvPr/>
        </p:nvSpPr>
        <p:spPr>
          <a:xfrm rot="5400000">
            <a:off x="2066899" y="60599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7" name="左中括弧 76">
            <a:extLst>
              <a:ext uri="{FF2B5EF4-FFF2-40B4-BE49-F238E27FC236}">
                <a16:creationId xmlns:a16="http://schemas.microsoft.com/office/drawing/2014/main" id="{83AF3BB9-4537-5E77-7100-63B578AFFE54}"/>
              </a:ext>
            </a:extLst>
          </p:cNvPr>
          <p:cNvSpPr/>
          <p:nvPr/>
        </p:nvSpPr>
        <p:spPr>
          <a:xfrm rot="5400000">
            <a:off x="6021057" y="59275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左中括弧 77">
            <a:extLst>
              <a:ext uri="{FF2B5EF4-FFF2-40B4-BE49-F238E27FC236}">
                <a16:creationId xmlns:a16="http://schemas.microsoft.com/office/drawing/2014/main" id="{6CE4AB56-1E8E-E12B-D41D-63F79A7104BF}"/>
              </a:ext>
            </a:extLst>
          </p:cNvPr>
          <p:cNvSpPr/>
          <p:nvPr/>
        </p:nvSpPr>
        <p:spPr>
          <a:xfrm rot="5400000">
            <a:off x="10028472" y="598450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18FBFF0-C1A2-F290-DF9D-49EAE72C0BAE}"/>
              </a:ext>
            </a:extLst>
          </p:cNvPr>
          <p:cNvSpPr txBox="1"/>
          <p:nvPr/>
        </p:nvSpPr>
        <p:spPr>
          <a:xfrm>
            <a:off x="663371" y="5287181"/>
            <a:ext cx="12473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 err="1"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 err="1">
                <a:ea typeface="Microsoft JhengHei" panose="020B0604030504040204" pitchFamily="34" charset="-120"/>
              </a:rPr>
              <a:t>model</a:t>
            </a:r>
            <a:r>
              <a:rPr kumimoji="1" lang="en-US" altLang="zh-TW" sz="1600" baseline="-25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: Embedding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的維度大小</a:t>
            </a:r>
          </a:p>
        </p:txBody>
      </p:sp>
    </p:spTree>
    <p:extLst>
      <p:ext uri="{BB962C8B-B14F-4D97-AF65-F5344CB8AC3E}">
        <p14:creationId xmlns:p14="http://schemas.microsoft.com/office/powerpoint/2010/main" val="340745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46" grpId="0" animBg="1"/>
      <p:bldP spid="47" grpId="0"/>
      <p:bldP spid="48" grpId="0"/>
      <p:bldP spid="50" grpId="0"/>
      <p:bldP spid="52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0" grpId="0" animBg="1"/>
      <p:bldP spid="61" grpId="0"/>
      <p:bldP spid="63" grpId="0" animBg="1"/>
      <p:bldP spid="64" grpId="0"/>
      <p:bldP spid="65" grpId="0"/>
      <p:bldP spid="67" grpId="0"/>
      <p:bldP spid="68" grpId="0"/>
      <p:bldP spid="69" grpId="0"/>
      <p:bldP spid="70" grpId="0"/>
      <p:bldP spid="71" grpId="0"/>
      <p:bldP spid="72" grpId="0" animBg="1"/>
      <p:bldP spid="74" grpId="0"/>
      <p:bldP spid="75" grpId="0"/>
      <p:bldP spid="76" grpId="0" animBg="1"/>
      <p:bldP spid="77" grpId="0" animBg="1"/>
      <p:bldP spid="78" grpId="0" animBg="1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A3C13-B653-04FC-25AC-39AA3DEFA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(2/2)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5C7B03-2F89-183E-7768-69826AC7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A7233D7-8027-5530-4D81-0B7985EBB2A2}"/>
              </a:ext>
            </a:extLst>
          </p:cNvPr>
          <p:cNvSpPr/>
          <p:nvPr/>
        </p:nvSpPr>
        <p:spPr>
          <a:xfrm>
            <a:off x="5816621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DE79E5E-ADF9-CC6D-1AFD-3B1CEB17E57C}"/>
              </a:ext>
            </a:extLst>
          </p:cNvPr>
          <p:cNvSpPr/>
          <p:nvPr/>
        </p:nvSpPr>
        <p:spPr>
          <a:xfrm>
            <a:off x="6394098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BF7C6F2F-C7CE-DA0A-404C-C3837FDBE455}"/>
              </a:ext>
            </a:extLst>
          </p:cNvPr>
          <p:cNvSpPr/>
          <p:nvPr/>
        </p:nvSpPr>
        <p:spPr>
          <a:xfrm>
            <a:off x="6975769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3C5D05F-8248-D78B-E139-80232082DBA9}"/>
              </a:ext>
            </a:extLst>
          </p:cNvPr>
          <p:cNvSpPr/>
          <p:nvPr/>
        </p:nvSpPr>
        <p:spPr>
          <a:xfrm rot="16200000">
            <a:off x="1025544" y="226303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439BA-F9EA-7A2A-A0DB-07808A6AF1D1}"/>
              </a:ext>
            </a:extLst>
          </p:cNvPr>
          <p:cNvSpPr txBox="1"/>
          <p:nvPr/>
        </p:nvSpPr>
        <p:spPr>
          <a:xfrm>
            <a:off x="1096904" y="262197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11135A-FE15-2460-3B7A-8CFE643B1384}"/>
              </a:ext>
            </a:extLst>
          </p:cNvPr>
          <p:cNvSpPr/>
          <p:nvPr/>
        </p:nvSpPr>
        <p:spPr>
          <a:xfrm rot="16200000">
            <a:off x="1023758" y="28528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09F2B71-040D-AF13-0B02-1457D308C460}"/>
              </a:ext>
            </a:extLst>
          </p:cNvPr>
          <p:cNvSpPr txBox="1"/>
          <p:nvPr/>
        </p:nvSpPr>
        <p:spPr>
          <a:xfrm>
            <a:off x="1095118" y="321175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9A8AB3F-E18D-7C06-592B-874FD6E2DF37}"/>
              </a:ext>
            </a:extLst>
          </p:cNvPr>
          <p:cNvSpPr/>
          <p:nvPr/>
        </p:nvSpPr>
        <p:spPr>
          <a:xfrm rot="16200000">
            <a:off x="1018522" y="1673258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87AD23E-311D-D665-741D-93EE60473046}"/>
              </a:ext>
            </a:extLst>
          </p:cNvPr>
          <p:cNvSpPr txBox="1"/>
          <p:nvPr/>
        </p:nvSpPr>
        <p:spPr>
          <a:xfrm>
            <a:off x="1089882" y="203220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6415A89-E2C3-F2DE-517A-B1021B3747C4}"/>
              </a:ext>
            </a:extLst>
          </p:cNvPr>
          <p:cNvSpPr/>
          <p:nvPr/>
        </p:nvSpPr>
        <p:spPr>
          <a:xfrm rot="16200000">
            <a:off x="4201182" y="49624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F38FA28-D565-1F12-C2EB-EF38B63F321F}"/>
              </a:ext>
            </a:extLst>
          </p:cNvPr>
          <p:cNvSpPr txBox="1"/>
          <p:nvPr/>
        </p:nvSpPr>
        <p:spPr>
          <a:xfrm>
            <a:off x="4272542" y="5321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EC60A673-B450-4070-819C-03D8995F15EB}"/>
              </a:ext>
            </a:extLst>
          </p:cNvPr>
          <p:cNvSpPr/>
          <p:nvPr/>
        </p:nvSpPr>
        <p:spPr>
          <a:xfrm rot="16200000">
            <a:off x="4199396" y="55522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6A319F4-C02C-5FB0-D104-DF36FBD7842E}"/>
              </a:ext>
            </a:extLst>
          </p:cNvPr>
          <p:cNvSpPr txBox="1"/>
          <p:nvPr/>
        </p:nvSpPr>
        <p:spPr>
          <a:xfrm>
            <a:off x="4270756" y="59112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26D063D6-F87E-FE78-35A0-4D34497AEF6B}"/>
              </a:ext>
            </a:extLst>
          </p:cNvPr>
          <p:cNvSpPr/>
          <p:nvPr/>
        </p:nvSpPr>
        <p:spPr>
          <a:xfrm rot="16200000">
            <a:off x="4194160" y="43727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4193FE4-07C0-DD2B-8452-FB6BFAC1173F}"/>
              </a:ext>
            </a:extLst>
          </p:cNvPr>
          <p:cNvSpPr txBox="1"/>
          <p:nvPr/>
        </p:nvSpPr>
        <p:spPr>
          <a:xfrm>
            <a:off x="4265520" y="47316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/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blipFill>
                <a:blip r:embed="rId3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/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/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051B7684-70C7-182C-2CAC-28F6F0C5E7E8}"/>
              </a:ext>
            </a:extLst>
          </p:cNvPr>
          <p:cNvSpPr txBox="1"/>
          <p:nvPr/>
        </p:nvSpPr>
        <p:spPr>
          <a:xfrm>
            <a:off x="4113238" y="63600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368FA7D-E8DC-BAB9-D3C8-0C5C2842C13F}"/>
              </a:ext>
            </a:extLst>
          </p:cNvPr>
          <p:cNvSpPr txBox="1"/>
          <p:nvPr/>
        </p:nvSpPr>
        <p:spPr>
          <a:xfrm>
            <a:off x="901723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EF29E84-A2E9-6D78-5426-C84E276AD8CE}"/>
              </a:ext>
            </a:extLst>
          </p:cNvPr>
          <p:cNvSpPr txBox="1"/>
          <p:nvPr/>
        </p:nvSpPr>
        <p:spPr>
          <a:xfrm>
            <a:off x="6307529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691098B-E24E-2838-7B69-363BDBEC591B}"/>
              </a:ext>
            </a:extLst>
          </p:cNvPr>
          <p:cNvSpPr/>
          <p:nvPr/>
        </p:nvSpPr>
        <p:spPr>
          <a:xfrm rot="16200000">
            <a:off x="2508566" y="226303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EFC31714-82BC-0BA3-C0EA-9E44F142CE54}"/>
              </a:ext>
            </a:extLst>
          </p:cNvPr>
          <p:cNvSpPr txBox="1"/>
          <p:nvPr/>
        </p:nvSpPr>
        <p:spPr>
          <a:xfrm>
            <a:off x="2579926" y="262197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5F2415F1-C5A5-29CD-5B6B-4924B0DF6285}"/>
              </a:ext>
            </a:extLst>
          </p:cNvPr>
          <p:cNvSpPr/>
          <p:nvPr/>
        </p:nvSpPr>
        <p:spPr>
          <a:xfrm rot="16200000">
            <a:off x="2506780" y="285280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522759D-9144-D96A-7B98-1171A439F1AA}"/>
              </a:ext>
            </a:extLst>
          </p:cNvPr>
          <p:cNvSpPr txBox="1"/>
          <p:nvPr/>
        </p:nvSpPr>
        <p:spPr>
          <a:xfrm>
            <a:off x="2578140" y="321175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0AABE49-99C0-23D9-7D71-CFD96B73AC05}"/>
              </a:ext>
            </a:extLst>
          </p:cNvPr>
          <p:cNvSpPr/>
          <p:nvPr/>
        </p:nvSpPr>
        <p:spPr>
          <a:xfrm rot="16200000">
            <a:off x="2501544" y="167325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088760E6-0B08-3959-8A3E-2B1BAE98726E}"/>
              </a:ext>
            </a:extLst>
          </p:cNvPr>
          <p:cNvSpPr txBox="1"/>
          <p:nvPr/>
        </p:nvSpPr>
        <p:spPr>
          <a:xfrm>
            <a:off x="2572904" y="20322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C2A2D9B1-CA6D-6F44-D0C3-54123B988D5F}"/>
              </a:ext>
            </a:extLst>
          </p:cNvPr>
          <p:cNvSpPr txBox="1"/>
          <p:nvPr/>
        </p:nvSpPr>
        <p:spPr>
          <a:xfrm>
            <a:off x="2229897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571D26EE-D335-D656-06E9-2DBDCCDE63FA}"/>
              </a:ext>
            </a:extLst>
          </p:cNvPr>
          <p:cNvSpPr/>
          <p:nvPr/>
        </p:nvSpPr>
        <p:spPr>
          <a:xfrm rot="16200000">
            <a:off x="3391093" y="1956826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5C0AD2F-197E-788C-77B9-F4243EE4A6B3}"/>
              </a:ext>
            </a:extLst>
          </p:cNvPr>
          <p:cNvSpPr txBox="1"/>
          <p:nvPr/>
        </p:nvSpPr>
        <p:spPr>
          <a:xfrm>
            <a:off x="3564301" y="3684702"/>
            <a:ext cx="1385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1495D93-286A-63BB-892E-A0CB050E7C02}"/>
              </a:ext>
            </a:extLst>
          </p:cNvPr>
          <p:cNvSpPr txBox="1"/>
          <p:nvPr/>
        </p:nvSpPr>
        <p:spPr>
          <a:xfrm>
            <a:off x="3933454" y="2612847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580728A-CCC7-9510-699E-4BCADB4DE44A}"/>
              </a:ext>
            </a:extLst>
          </p:cNvPr>
          <p:cNvSpPr txBox="1"/>
          <p:nvPr/>
        </p:nvSpPr>
        <p:spPr>
          <a:xfrm>
            <a:off x="1772982" y="2478736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E90D4509-3FDA-3935-C4F9-459D9F32A524}"/>
              </a:ext>
            </a:extLst>
          </p:cNvPr>
          <p:cNvSpPr/>
          <p:nvPr/>
        </p:nvSpPr>
        <p:spPr>
          <a:xfrm rot="16200000">
            <a:off x="5817951" y="496725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942D479B-3BD9-F0E7-92AA-77DE33C5CAD9}"/>
              </a:ext>
            </a:extLst>
          </p:cNvPr>
          <p:cNvSpPr txBox="1"/>
          <p:nvPr/>
        </p:nvSpPr>
        <p:spPr>
          <a:xfrm>
            <a:off x="5889311" y="532619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EC4EFC26-6800-51E4-8108-7BC79E6F0D94}"/>
              </a:ext>
            </a:extLst>
          </p:cNvPr>
          <p:cNvSpPr/>
          <p:nvPr/>
        </p:nvSpPr>
        <p:spPr>
          <a:xfrm rot="16200000">
            <a:off x="5816165" y="555702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141522C-08A2-4981-B050-DC821CEC64BF}"/>
              </a:ext>
            </a:extLst>
          </p:cNvPr>
          <p:cNvSpPr txBox="1"/>
          <p:nvPr/>
        </p:nvSpPr>
        <p:spPr>
          <a:xfrm>
            <a:off x="5887525" y="591597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C78ED41E-C2D2-A47C-7AA0-2FC66B070E0F}"/>
              </a:ext>
            </a:extLst>
          </p:cNvPr>
          <p:cNvSpPr/>
          <p:nvPr/>
        </p:nvSpPr>
        <p:spPr>
          <a:xfrm rot="16200000">
            <a:off x="5810929" y="437747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BDCB82A-E8C6-44F9-30D7-C1F01EC66F1D}"/>
              </a:ext>
            </a:extLst>
          </p:cNvPr>
          <p:cNvSpPr txBox="1"/>
          <p:nvPr/>
        </p:nvSpPr>
        <p:spPr>
          <a:xfrm>
            <a:off x="5882289" y="473642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874C4A8-6274-5C53-883E-25AD87003978}"/>
              </a:ext>
            </a:extLst>
          </p:cNvPr>
          <p:cNvSpPr/>
          <p:nvPr/>
        </p:nvSpPr>
        <p:spPr>
          <a:xfrm rot="16200000">
            <a:off x="6683552" y="4656665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DDCBB80-632C-092F-3C60-95A79EB10447}"/>
              </a:ext>
            </a:extLst>
          </p:cNvPr>
          <p:cNvSpPr txBox="1"/>
          <p:nvPr/>
        </p:nvSpPr>
        <p:spPr>
          <a:xfrm>
            <a:off x="7225913" y="5312686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2CB29ED-F72E-131D-99F0-9C1F3619669A}"/>
              </a:ext>
            </a:extLst>
          </p:cNvPr>
          <p:cNvSpPr txBox="1"/>
          <p:nvPr/>
        </p:nvSpPr>
        <p:spPr>
          <a:xfrm>
            <a:off x="6975770" y="6407570"/>
            <a:ext cx="1359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16BB1430-DDA7-74F3-01A4-EE772C975878}"/>
              </a:ext>
            </a:extLst>
          </p:cNvPr>
          <p:cNvSpPr txBox="1"/>
          <p:nvPr/>
        </p:nvSpPr>
        <p:spPr>
          <a:xfrm>
            <a:off x="5548063" y="640757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82DFA2D-DE0D-0321-47F4-997D2F4B9596}"/>
              </a:ext>
            </a:extLst>
          </p:cNvPr>
          <p:cNvSpPr txBox="1"/>
          <p:nvPr/>
        </p:nvSpPr>
        <p:spPr>
          <a:xfrm>
            <a:off x="4987360" y="522035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DECEF77-DEDF-1937-F350-F924B0117FA1}"/>
              </a:ext>
            </a:extLst>
          </p:cNvPr>
          <p:cNvSpPr txBox="1"/>
          <p:nvPr/>
        </p:nvSpPr>
        <p:spPr>
          <a:xfrm>
            <a:off x="9874086" y="3684702"/>
            <a:ext cx="123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F4BA553-160F-0794-9506-C4029FE6AEBB}"/>
              </a:ext>
            </a:extLst>
          </p:cNvPr>
          <p:cNvSpPr txBox="1"/>
          <p:nvPr/>
        </p:nvSpPr>
        <p:spPr>
          <a:xfrm>
            <a:off x="8469310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9AF9B271-4680-0343-57D0-1D7869B15FE2}"/>
              </a:ext>
            </a:extLst>
          </p:cNvPr>
          <p:cNvSpPr/>
          <p:nvPr/>
        </p:nvSpPr>
        <p:spPr>
          <a:xfrm rot="16200000">
            <a:off x="8715952" y="2283371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E3C0466D-73A7-5734-6A24-D74002DF8F7E}"/>
              </a:ext>
            </a:extLst>
          </p:cNvPr>
          <p:cNvSpPr txBox="1"/>
          <p:nvPr/>
        </p:nvSpPr>
        <p:spPr>
          <a:xfrm>
            <a:off x="8787312" y="264231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6DAAA412-8054-B36F-2765-2C509F010F82}"/>
              </a:ext>
            </a:extLst>
          </p:cNvPr>
          <p:cNvSpPr/>
          <p:nvPr/>
        </p:nvSpPr>
        <p:spPr>
          <a:xfrm rot="16200000">
            <a:off x="8714166" y="287314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5BC683B-06F7-89D1-4B90-369095EF00D3}"/>
              </a:ext>
            </a:extLst>
          </p:cNvPr>
          <p:cNvSpPr txBox="1"/>
          <p:nvPr/>
        </p:nvSpPr>
        <p:spPr>
          <a:xfrm>
            <a:off x="8785526" y="323208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77E2D64E-3B9A-0C90-7B1B-E55EFDB735B3}"/>
              </a:ext>
            </a:extLst>
          </p:cNvPr>
          <p:cNvSpPr/>
          <p:nvPr/>
        </p:nvSpPr>
        <p:spPr>
          <a:xfrm rot="16200000">
            <a:off x="8708930" y="169359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E8A2073-7114-12D0-9A45-C318D4D42075}"/>
              </a:ext>
            </a:extLst>
          </p:cNvPr>
          <p:cNvSpPr txBox="1"/>
          <p:nvPr/>
        </p:nvSpPr>
        <p:spPr>
          <a:xfrm>
            <a:off x="8780290" y="205253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EB3B477A-9F38-FACD-87CF-7CE34A5E7222}"/>
              </a:ext>
            </a:extLst>
          </p:cNvPr>
          <p:cNvSpPr/>
          <p:nvPr/>
        </p:nvSpPr>
        <p:spPr>
          <a:xfrm rot="16200000">
            <a:off x="9598479" y="1977163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7376D16-2168-85B9-9751-887E7245AC78}"/>
              </a:ext>
            </a:extLst>
          </p:cNvPr>
          <p:cNvSpPr txBox="1"/>
          <p:nvPr/>
        </p:nvSpPr>
        <p:spPr>
          <a:xfrm>
            <a:off x="10140840" y="263318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391E5E-DDDC-8167-1642-FFDB05F83676}"/>
              </a:ext>
            </a:extLst>
          </p:cNvPr>
          <p:cNvSpPr txBox="1"/>
          <p:nvPr/>
        </p:nvSpPr>
        <p:spPr>
          <a:xfrm>
            <a:off x="7756544" y="1600675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3F5ED974-471F-FB06-B615-0498742C2234}"/>
              </a:ext>
            </a:extLst>
          </p:cNvPr>
          <p:cNvSpPr txBox="1"/>
          <p:nvPr/>
        </p:nvSpPr>
        <p:spPr>
          <a:xfrm>
            <a:off x="11151076" y="1600674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/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字方塊 60">
            <a:extLst>
              <a:ext uri="{FF2B5EF4-FFF2-40B4-BE49-F238E27FC236}">
                <a16:creationId xmlns:a16="http://schemas.microsoft.com/office/drawing/2014/main" id="{FEE59A29-ED88-1DA6-BEC5-BD762B3177BB}"/>
              </a:ext>
            </a:extLst>
          </p:cNvPr>
          <p:cNvSpPr txBox="1"/>
          <p:nvPr/>
        </p:nvSpPr>
        <p:spPr>
          <a:xfrm>
            <a:off x="7487841" y="2511451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pic>
        <p:nvPicPr>
          <p:cNvPr id="62" name="圖片 61">
            <a:extLst>
              <a:ext uri="{FF2B5EF4-FFF2-40B4-BE49-F238E27FC236}">
                <a16:creationId xmlns:a16="http://schemas.microsoft.com/office/drawing/2014/main" id="{AB6A7DA7-2EB3-7C56-60E2-9B80CAE03A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97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8C6C47-A75A-67B1-8BA1-67AA4150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的公式與縮放項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325A49-BA11-4ECC-4198-978BEF30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885DF9D-C6F6-0AE9-9D6D-776DBE805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322" y="1776364"/>
            <a:ext cx="3585013" cy="447426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D94DDF0-F45F-C7B1-C063-387CF957D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335" y="3429000"/>
            <a:ext cx="4685336" cy="85608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3E20DBB-A5A1-5852-FC59-B7B0FB9BA199}"/>
              </a:ext>
            </a:extLst>
          </p:cNvPr>
          <p:cNvSpPr/>
          <p:nvPr/>
        </p:nvSpPr>
        <p:spPr>
          <a:xfrm>
            <a:off x="3209731" y="4544008"/>
            <a:ext cx="1343608" cy="5225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93F75E-48C4-DF0C-629D-48881BC04322}"/>
              </a:ext>
            </a:extLst>
          </p:cNvPr>
          <p:cNvSpPr/>
          <p:nvPr/>
        </p:nvSpPr>
        <p:spPr>
          <a:xfrm>
            <a:off x="9660294" y="3894367"/>
            <a:ext cx="538065" cy="3230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02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F61E927-F1BF-1314-8AC2-702FA4015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33C50B8-9BD1-D00A-2EF3-781F6A2F057C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86DEAD-FA87-C1F0-E50E-BE3487F6451D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0E6BF5C-B62E-25F3-AB39-7B27780D4D11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FED66AA-9E1A-5D23-1889-0AABB774924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8ECCC90-BA61-4BA8-3547-B5D4BE8FC30A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DD4E539-4901-EC90-FBAA-AC3C72481221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CF62877C-3A81-4C56-66B9-B9C645F717A6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AFB9D7F8-F31B-8108-B8D8-59415B5D946F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514D6E9-DAA7-FF13-C883-4D95D366E449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E2B232B3-E2A0-7183-74D1-AA769D5C8245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B01B2022-D8B2-B48A-9B75-1101E912AEFC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B6605E7B-90DB-890F-71DB-78A04F50D04E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2AC6C5AC-D588-467F-3F4F-C4B9DB6CF877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2AEE2374-BE02-1A8E-12AC-AF679BD8595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514018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  <p:bldP spid="8" grpId="0" animBg="1"/>
      <p:bldP spid="8" grpId="1" animBg="1"/>
      <p:bldP spid="10" grpId="0" animBg="1"/>
      <p:bldP spid="10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9CD860-E77A-D841-66FD-09B16626B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2F17A5E-0CD0-8FD1-B7FD-8538C3C71ED6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BB4326-1B2F-F5E7-4915-49A065F1AF76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C3B79E8-AD22-2830-EAC0-5E39C4997D9A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AE3B48B-8398-C53D-7BAE-1B954653479F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8E271F4-B940-BD15-D999-84605C86BBFF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6AAD4D1-A6F3-8042-3B6F-D715C8169663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A78D0EA-F64D-9934-FE5A-F2D83668B41B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B5AC6563-DF15-4088-9B82-7E18AB7B6CAB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9C3F8AE-1CA9-9400-1081-D721DEB4EDFE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7D99A817-A28C-F147-C840-9955158F4853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D17695EF-B8F3-9CAB-DD1F-95CE77063A64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49F15B57-9EC3-E20D-E251-239221BED53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F01B82BA-B1B5-C597-6033-B59AAE058B92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6D7A1D69-CDC1-B514-2B00-4F9167D4FF96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133571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  <p:bldP spid="6" grpId="0" animBg="1"/>
      <p:bldP spid="6" grpId="1" animBg="1"/>
      <p:bldP spid="7" grpId="0" animBg="1"/>
      <p:bldP spid="7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3973B-891B-BADF-F9F1-501CAC8A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動畫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5686C8-8BF9-08B0-E400-DDDA8D21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圖片 5" descr="一張含有 白色, 設計 的圖片&#10;&#10;自動產生的描述">
            <a:extLst>
              <a:ext uri="{FF2B5EF4-FFF2-40B4-BE49-F238E27FC236}">
                <a16:creationId xmlns:a16="http://schemas.microsoft.com/office/drawing/2014/main" id="{651379A5-8D19-AE8E-759F-03DE6AC62B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709" y="1614196"/>
            <a:ext cx="5760582" cy="5094514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B53A6D3-7ACC-7D2E-8C82-F722CAEE0BE3}"/>
              </a:ext>
            </a:extLst>
          </p:cNvPr>
          <p:cNvSpPr txBox="1"/>
          <p:nvPr/>
        </p:nvSpPr>
        <p:spPr>
          <a:xfrm>
            <a:off x="7507116" y="395742"/>
            <a:ext cx="4064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research.google</a:t>
            </a:r>
            <a:r>
              <a:rPr kumimoji="1" lang="en" altLang="zh-TW" sz="1400" dirty="0"/>
              <a:t>/blog/transformer-a-novel-neural-network-architecture-for-language-understanding/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985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45C4EA-0221-F241-375A-6D3155DD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3658902-D0CD-CCD2-3F00-43B62E3BB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12" y="698830"/>
            <a:ext cx="9151776" cy="526482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8B69D55-0AF8-5594-8199-B6201BAE0577}"/>
              </a:ext>
            </a:extLst>
          </p:cNvPr>
          <p:cNvSpPr txBox="1"/>
          <p:nvPr/>
        </p:nvSpPr>
        <p:spPr>
          <a:xfrm>
            <a:off x="9814686" y="4208107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>
                <a:solidFill>
                  <a:srgbClr val="0070C0"/>
                </a:solidFill>
              </a:rPr>
              <a:t>OpenAI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34E68DC-BD30-8156-D5D7-E93EBA19C2F7}"/>
              </a:ext>
            </a:extLst>
          </p:cNvPr>
          <p:cNvSpPr txBox="1"/>
          <p:nvPr/>
        </p:nvSpPr>
        <p:spPr>
          <a:xfrm>
            <a:off x="765111" y="4206352"/>
            <a:ext cx="1411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Sakana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0D19FC-6EB0-4E19-AE25-DB765FD97692}"/>
              </a:ext>
            </a:extLst>
          </p:cNvPr>
          <p:cNvSpPr txBox="1"/>
          <p:nvPr/>
        </p:nvSpPr>
        <p:spPr>
          <a:xfrm>
            <a:off x="5011387" y="3888756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Cohere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9C39924-8466-9C65-0F2C-B67FB074C2B4}"/>
              </a:ext>
            </a:extLst>
          </p:cNvPr>
          <p:cNvSpPr txBox="1"/>
          <p:nvPr/>
        </p:nvSpPr>
        <p:spPr>
          <a:xfrm>
            <a:off x="5439987" y="5004319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NEAR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708CDF4-F66D-AA4A-0BBB-78B6404978FC}"/>
              </a:ext>
            </a:extLst>
          </p:cNvPr>
          <p:cNvSpPr txBox="1"/>
          <p:nvPr/>
        </p:nvSpPr>
        <p:spPr>
          <a:xfrm>
            <a:off x="2082819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Essential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960FB2E-F740-FFF1-25A6-D1B3C112C612}"/>
              </a:ext>
            </a:extLst>
          </p:cNvPr>
          <p:cNvSpPr txBox="1"/>
          <p:nvPr/>
        </p:nvSpPr>
        <p:spPr>
          <a:xfrm>
            <a:off x="6595727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Anthropic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DE5F3D4-5658-5E7D-AEA8-A32B6B92DA8E}"/>
              </a:ext>
            </a:extLst>
          </p:cNvPr>
          <p:cNvSpPr txBox="1"/>
          <p:nvPr/>
        </p:nvSpPr>
        <p:spPr>
          <a:xfrm>
            <a:off x="8699974" y="2670632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 Inceptive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6D4BAF7-A3A9-B0B8-64BF-5E67A6D78254}"/>
              </a:ext>
            </a:extLst>
          </p:cNvPr>
          <p:cNvSpPr txBox="1"/>
          <p:nvPr/>
        </p:nvSpPr>
        <p:spPr>
          <a:xfrm>
            <a:off x="7574973" y="5963653"/>
            <a:ext cx="414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/abs/1706.03762v6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027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27E861-8C80-70F2-482E-E81AD2BA0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E2CC3B3-4C85-15B8-847D-0C07EB9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065EBD-F6CE-A648-78BE-F215B2C3B775}"/>
              </a:ext>
            </a:extLst>
          </p:cNvPr>
          <p:cNvSpPr txBox="1"/>
          <p:nvPr/>
        </p:nvSpPr>
        <p:spPr>
          <a:xfrm>
            <a:off x="636815" y="1669003"/>
            <a:ext cx="10918370" cy="4640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到目前為止，我們已經介紹了</a:t>
            </a:r>
            <a:r>
              <a:rPr kumimoji="1" lang="en-US" altLang="zh-TW" sz="2400" dirty="0"/>
              <a:t> self-attention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</a:t>
            </a:r>
            <a:r>
              <a:rPr kumimoji="1" lang="en-US" altLang="zh-TW" sz="2000" dirty="0">
                <a:solidFill>
                  <a:srgbClr val="FF0000"/>
                </a:solidFill>
              </a:rPr>
              <a:t>query</a:t>
            </a:r>
            <a:r>
              <a:rPr kumimoji="1" lang="en-US" altLang="zh-TW" sz="2000" dirty="0"/>
              <a:t> the search engine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search engine tries to map our query to the </a:t>
            </a:r>
            <a:r>
              <a:rPr kumimoji="1" lang="en-US" altLang="zh-TW" sz="2000" dirty="0">
                <a:solidFill>
                  <a:srgbClr val="FF0000"/>
                </a:solidFill>
              </a:rPr>
              <a:t>keys</a:t>
            </a:r>
            <a:r>
              <a:rPr kumimoji="1" lang="en-US" altLang="zh-TW" sz="2000" dirty="0"/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The outputs are the attended </a:t>
            </a:r>
            <a:r>
              <a:rPr kumimoji="1" lang="en-US" altLang="zh-TW" sz="2000" dirty="0">
                <a:solidFill>
                  <a:srgbClr val="FF0000"/>
                </a:solidFill>
              </a:rPr>
              <a:t>values</a:t>
            </a:r>
            <a:r>
              <a:rPr kumimoji="1" lang="en-US" altLang="zh-TW" sz="2000" dirty="0"/>
              <a:t> (e.g., the best matched videos).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What if we want to have queries focusing on different aspects? 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 For example, one set of queries focusing on semantic similarity, another set focusing on passive/active voice.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 We need multiple attention mechanisms, i.e. multiple (attention) heads!</a:t>
            </a:r>
          </a:p>
        </p:txBody>
      </p:sp>
    </p:spTree>
    <p:extLst>
      <p:ext uri="{BB962C8B-B14F-4D97-AF65-F5344CB8AC3E}">
        <p14:creationId xmlns:p14="http://schemas.microsoft.com/office/powerpoint/2010/main" val="3455505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AAD79-4C70-332D-A42F-D4192094A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CE2508-05B1-4A95-78EF-DFF8DF213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51F7E57-821E-4072-0243-C90040F629C8}"/>
              </a:ext>
            </a:extLst>
          </p:cNvPr>
          <p:cNvSpPr/>
          <p:nvPr/>
        </p:nvSpPr>
        <p:spPr>
          <a:xfrm>
            <a:off x="2304191" y="3711896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71C703-2960-6C2D-E7A0-7D9BB8B04574}"/>
              </a:ext>
            </a:extLst>
          </p:cNvPr>
          <p:cNvSpPr txBox="1"/>
          <p:nvPr/>
        </p:nvSpPr>
        <p:spPr>
          <a:xfrm>
            <a:off x="2879334" y="3740989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3A9A648-7962-0A75-75FB-E8046A83D399}"/>
              </a:ext>
            </a:extLst>
          </p:cNvPr>
          <p:cNvSpPr/>
          <p:nvPr/>
        </p:nvSpPr>
        <p:spPr>
          <a:xfrm>
            <a:off x="5852088" y="3708281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6359020-C9CE-B6EE-2946-1EA882D68E77}"/>
              </a:ext>
            </a:extLst>
          </p:cNvPr>
          <p:cNvSpPr txBox="1"/>
          <p:nvPr/>
        </p:nvSpPr>
        <p:spPr>
          <a:xfrm>
            <a:off x="6411398" y="37301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C8BC6EA-CB74-9691-54A4-4FB174721209}"/>
              </a:ext>
            </a:extLst>
          </p:cNvPr>
          <p:cNvSpPr/>
          <p:nvPr/>
        </p:nvSpPr>
        <p:spPr>
          <a:xfrm>
            <a:off x="9469078" y="371539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2F81370-0020-55FF-BBB0-6BF887CD52E8}"/>
              </a:ext>
            </a:extLst>
          </p:cNvPr>
          <p:cNvSpPr txBox="1"/>
          <p:nvPr/>
        </p:nvSpPr>
        <p:spPr>
          <a:xfrm>
            <a:off x="10044754" y="375019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4A4C3DE-8BBA-8C10-33F8-BAF21743B5E7}"/>
              </a:ext>
            </a:extLst>
          </p:cNvPr>
          <p:cNvSpPr/>
          <p:nvPr/>
        </p:nvSpPr>
        <p:spPr>
          <a:xfrm>
            <a:off x="8868119" y="226305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AD83EC29-DF50-FF58-A107-F95C0BDB71E9}"/>
              </a:ext>
            </a:extLst>
          </p:cNvPr>
          <p:cNvSpPr/>
          <p:nvPr/>
        </p:nvSpPr>
        <p:spPr>
          <a:xfrm>
            <a:off x="9443745" y="2263053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61865791-D02B-DA94-2665-87334703FFAF}"/>
              </a:ext>
            </a:extLst>
          </p:cNvPr>
          <p:cNvSpPr/>
          <p:nvPr/>
        </p:nvSpPr>
        <p:spPr>
          <a:xfrm>
            <a:off x="10025416" y="2259438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763B29D-6A4E-F9A1-C72A-6C6451EE133F}"/>
              </a:ext>
            </a:extLst>
          </p:cNvPr>
          <p:cNvSpPr/>
          <p:nvPr/>
        </p:nvSpPr>
        <p:spPr>
          <a:xfrm>
            <a:off x="5271117" y="22509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D13634D-3ABB-E7A0-B3FE-4541E5526456}"/>
              </a:ext>
            </a:extLst>
          </p:cNvPr>
          <p:cNvSpPr/>
          <p:nvPr/>
        </p:nvSpPr>
        <p:spPr>
          <a:xfrm>
            <a:off x="5846743" y="2250907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DE724D48-8FB4-7CFF-DEC9-6709287B5A48}"/>
              </a:ext>
            </a:extLst>
          </p:cNvPr>
          <p:cNvSpPr/>
          <p:nvPr/>
        </p:nvSpPr>
        <p:spPr>
          <a:xfrm>
            <a:off x="6428414" y="2247292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892D7E3D-1E8A-A022-4135-3EB7F9BA4A59}"/>
              </a:ext>
            </a:extLst>
          </p:cNvPr>
          <p:cNvSpPr/>
          <p:nvPr/>
        </p:nvSpPr>
        <p:spPr>
          <a:xfrm>
            <a:off x="1722107" y="2254522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B63B24D0-458F-AF9D-A219-9759A8F8B6DA}"/>
              </a:ext>
            </a:extLst>
          </p:cNvPr>
          <p:cNvSpPr/>
          <p:nvPr/>
        </p:nvSpPr>
        <p:spPr>
          <a:xfrm>
            <a:off x="2297733" y="2254522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7A3F346-6F8B-29EC-C76E-50E3C07827CA}"/>
              </a:ext>
            </a:extLst>
          </p:cNvPr>
          <p:cNvSpPr/>
          <p:nvPr/>
        </p:nvSpPr>
        <p:spPr>
          <a:xfrm>
            <a:off x="2879404" y="2250907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120B82-3D5D-4DA1-300E-27DF6A0A25D4}"/>
              </a:ext>
            </a:extLst>
          </p:cNvPr>
          <p:cNvSpPr txBox="1"/>
          <p:nvPr/>
        </p:nvSpPr>
        <p:spPr>
          <a:xfrm>
            <a:off x="664196" y="1619912"/>
            <a:ext cx="3954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174078F-9ABB-A1BC-EF04-8A5F32823479}"/>
              </a:ext>
            </a:extLst>
          </p:cNvPr>
          <p:cNvSpPr/>
          <p:nvPr/>
        </p:nvSpPr>
        <p:spPr>
          <a:xfrm>
            <a:off x="2304191" y="609809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6F4DB1-7313-0479-4C42-D86949A72FC3}"/>
              </a:ext>
            </a:extLst>
          </p:cNvPr>
          <p:cNvSpPr txBox="1"/>
          <p:nvPr/>
        </p:nvSpPr>
        <p:spPr>
          <a:xfrm>
            <a:off x="2879334" y="6127183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A170DCF-3F0C-0B26-5800-55CE7AC29713}"/>
              </a:ext>
            </a:extLst>
          </p:cNvPr>
          <p:cNvSpPr/>
          <p:nvPr/>
        </p:nvSpPr>
        <p:spPr>
          <a:xfrm>
            <a:off x="5852088" y="609694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3B41D52-A1EC-DBE7-4991-6EF147AE61DC}"/>
              </a:ext>
            </a:extLst>
          </p:cNvPr>
          <p:cNvSpPr txBox="1"/>
          <p:nvPr/>
        </p:nvSpPr>
        <p:spPr>
          <a:xfrm>
            <a:off x="6411398" y="6118785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AC585CF-4AB9-7166-0D6D-B264AF924080}"/>
              </a:ext>
            </a:extLst>
          </p:cNvPr>
          <p:cNvSpPr/>
          <p:nvPr/>
        </p:nvSpPr>
        <p:spPr>
          <a:xfrm>
            <a:off x="9469078" y="609913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5425430-A898-2040-270A-CCC326328EE2}"/>
              </a:ext>
            </a:extLst>
          </p:cNvPr>
          <p:cNvSpPr txBox="1"/>
          <p:nvPr/>
        </p:nvSpPr>
        <p:spPr>
          <a:xfrm>
            <a:off x="10044754" y="613393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/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/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/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字方塊 37">
            <a:extLst>
              <a:ext uri="{FF2B5EF4-FFF2-40B4-BE49-F238E27FC236}">
                <a16:creationId xmlns:a16="http://schemas.microsoft.com/office/drawing/2014/main" id="{0DC487A1-5BFF-EB47-508A-23B0DDE31284}"/>
              </a:ext>
            </a:extLst>
          </p:cNvPr>
          <p:cNvSpPr txBox="1"/>
          <p:nvPr/>
        </p:nvSpPr>
        <p:spPr>
          <a:xfrm>
            <a:off x="664196" y="4379685"/>
            <a:ext cx="3857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/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/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/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/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/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/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/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/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/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/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/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/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/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/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/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6A51591A-9722-1565-B40E-6778D3D92B48}"/>
              </a:ext>
            </a:extLst>
          </p:cNvPr>
          <p:cNvSpPr txBox="1"/>
          <p:nvPr/>
        </p:nvSpPr>
        <p:spPr>
          <a:xfrm>
            <a:off x="9469077" y="719594"/>
            <a:ext cx="2082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上標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head</a:t>
            </a: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下標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token index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2220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1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42BE57CF-8AC2-2CE1-29BE-1B24F7F56CD4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第一個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9476D76B-087E-D55B-57B9-B75A57029A5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43279D34-12EE-C627-87E2-FA0248390F1E}"/>
              </a:ext>
            </a:extLst>
          </p:cNvPr>
          <p:cNvSpPr txBox="1"/>
          <p:nvPr/>
        </p:nvSpPr>
        <p:spPr>
          <a:xfrm>
            <a:off x="3505029" y="222959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8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6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07A6717-2133-18BA-D7FD-1FA059FB6472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第二個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226F75D-FE2E-7777-912B-F936432BCE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5CB29E-2796-52C3-149A-078206D3AE0F}"/>
              </a:ext>
            </a:extLst>
          </p:cNvPr>
          <p:cNvSpPr txBox="1"/>
          <p:nvPr/>
        </p:nvSpPr>
        <p:spPr>
          <a:xfrm>
            <a:off x="3505029" y="2229593"/>
            <a:ext cx="2523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Input Dimensions of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07CCAFD-4F22-A3D2-FA6F-2EB554DAF992}"/>
              </a:ext>
            </a:extLst>
          </p:cNvPr>
          <p:cNvSpPr txBox="1"/>
          <p:nvPr/>
        </p:nvSpPr>
        <p:spPr>
          <a:xfrm>
            <a:off x="651298" y="1492711"/>
            <a:ext cx="36314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05A1A75-6E45-9343-C71D-93A7A1D72F48}"/>
              </a:ext>
            </a:extLst>
          </p:cNvPr>
          <p:cNvSpPr txBox="1"/>
          <p:nvPr/>
        </p:nvSpPr>
        <p:spPr>
          <a:xfrm>
            <a:off x="664196" y="4265384"/>
            <a:ext cx="33593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939058B4-8174-A1E6-C718-4D7FD6D4CC79}"/>
              </a:ext>
            </a:extLst>
          </p:cNvPr>
          <p:cNvSpPr/>
          <p:nvPr/>
        </p:nvSpPr>
        <p:spPr>
          <a:xfrm rot="16200000">
            <a:off x="4967274" y="221626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E19A208-239C-5B7E-7C76-AEFD5D225DB1}"/>
              </a:ext>
            </a:extLst>
          </p:cNvPr>
          <p:cNvSpPr txBox="1"/>
          <p:nvPr/>
        </p:nvSpPr>
        <p:spPr>
          <a:xfrm>
            <a:off x="5038634" y="257520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FA8C3C5C-DBF6-D3E3-3C2E-F7D2FC933C14}"/>
              </a:ext>
            </a:extLst>
          </p:cNvPr>
          <p:cNvSpPr/>
          <p:nvPr/>
        </p:nvSpPr>
        <p:spPr>
          <a:xfrm rot="16200000">
            <a:off x="4965488" y="280603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238289C-30AE-21E2-15A8-DC241AF3E043}"/>
              </a:ext>
            </a:extLst>
          </p:cNvPr>
          <p:cNvSpPr txBox="1"/>
          <p:nvPr/>
        </p:nvSpPr>
        <p:spPr>
          <a:xfrm>
            <a:off x="5036848" y="316497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601B2F9F-ADA5-C27E-2280-65F9B17CC050}"/>
              </a:ext>
            </a:extLst>
          </p:cNvPr>
          <p:cNvSpPr/>
          <p:nvPr/>
        </p:nvSpPr>
        <p:spPr>
          <a:xfrm rot="16200000">
            <a:off x="4960252" y="1626486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2AF980F-493B-B6A6-E936-6B794352F150}"/>
              </a:ext>
            </a:extLst>
          </p:cNvPr>
          <p:cNvSpPr txBox="1"/>
          <p:nvPr/>
        </p:nvSpPr>
        <p:spPr>
          <a:xfrm>
            <a:off x="5031612" y="1985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/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blipFill>
                <a:blip r:embed="rId2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5810BCB9-CAA9-8185-A1DA-5092A533BF43}"/>
              </a:ext>
            </a:extLst>
          </p:cNvPr>
          <p:cNvSpPr txBox="1"/>
          <p:nvPr/>
        </p:nvSpPr>
        <p:spPr>
          <a:xfrm>
            <a:off x="4843453" y="36201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57676BC5-F379-BE56-2171-03C038E854BF}"/>
              </a:ext>
            </a:extLst>
          </p:cNvPr>
          <p:cNvSpPr/>
          <p:nvPr/>
        </p:nvSpPr>
        <p:spPr>
          <a:xfrm rot="16200000">
            <a:off x="6450296" y="22162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6D202BF0-C308-6A06-3132-50ADF944D4D4}"/>
              </a:ext>
            </a:extLst>
          </p:cNvPr>
          <p:cNvSpPr txBox="1"/>
          <p:nvPr/>
        </p:nvSpPr>
        <p:spPr>
          <a:xfrm>
            <a:off x="6521656" y="257520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9A473B7-A5C7-B1B8-4960-0990E9292C09}"/>
              </a:ext>
            </a:extLst>
          </p:cNvPr>
          <p:cNvSpPr/>
          <p:nvPr/>
        </p:nvSpPr>
        <p:spPr>
          <a:xfrm rot="16200000">
            <a:off x="6448510" y="280603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1CF5476A-A3D1-D640-5268-EFC5313ABF43}"/>
              </a:ext>
            </a:extLst>
          </p:cNvPr>
          <p:cNvSpPr txBox="1"/>
          <p:nvPr/>
        </p:nvSpPr>
        <p:spPr>
          <a:xfrm>
            <a:off x="6519870" y="316497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09E3B535-A438-AB3E-03FE-B4E36D2877DA}"/>
              </a:ext>
            </a:extLst>
          </p:cNvPr>
          <p:cNvSpPr/>
          <p:nvPr/>
        </p:nvSpPr>
        <p:spPr>
          <a:xfrm rot="16200000">
            <a:off x="6443274" y="162648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27F8EC44-0C63-FA2F-E868-15190580447C}"/>
              </a:ext>
            </a:extLst>
          </p:cNvPr>
          <p:cNvSpPr txBox="1"/>
          <p:nvPr/>
        </p:nvSpPr>
        <p:spPr>
          <a:xfrm>
            <a:off x="6514634" y="198543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06C05B1-308B-C59A-BF88-A019FC498CB0}"/>
              </a:ext>
            </a:extLst>
          </p:cNvPr>
          <p:cNvSpPr txBox="1"/>
          <p:nvPr/>
        </p:nvSpPr>
        <p:spPr>
          <a:xfrm>
            <a:off x="6171627" y="363698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5BEA534-53B4-FCE3-C6AC-1CDDEBBA4D07}"/>
              </a:ext>
            </a:extLst>
          </p:cNvPr>
          <p:cNvSpPr/>
          <p:nvPr/>
        </p:nvSpPr>
        <p:spPr>
          <a:xfrm rot="16200000">
            <a:off x="7332823" y="191005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B316610-C31C-CF70-2AE0-4C89450749DE}"/>
              </a:ext>
            </a:extLst>
          </p:cNvPr>
          <p:cNvSpPr txBox="1"/>
          <p:nvPr/>
        </p:nvSpPr>
        <p:spPr>
          <a:xfrm>
            <a:off x="7674116" y="3636982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3A7ED15-A1B2-4FA7-EAD1-120991913376}"/>
              </a:ext>
            </a:extLst>
          </p:cNvPr>
          <p:cNvSpPr txBox="1"/>
          <p:nvPr/>
        </p:nvSpPr>
        <p:spPr>
          <a:xfrm>
            <a:off x="7875184" y="256607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7EF3AEC-855E-F415-F3D7-CAA8E8822C51}"/>
              </a:ext>
            </a:extLst>
          </p:cNvPr>
          <p:cNvSpPr txBox="1"/>
          <p:nvPr/>
        </p:nvSpPr>
        <p:spPr>
          <a:xfrm>
            <a:off x="5714712" y="2431964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B2D2D164-5472-4E71-AB2E-FC47BD94AE6A}"/>
              </a:ext>
            </a:extLst>
          </p:cNvPr>
          <p:cNvSpPr/>
          <p:nvPr/>
        </p:nvSpPr>
        <p:spPr>
          <a:xfrm rot="16200000">
            <a:off x="6450792" y="490767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A4371DCE-81CF-991E-EEA8-D1B2E9214B30}"/>
              </a:ext>
            </a:extLst>
          </p:cNvPr>
          <p:cNvSpPr txBox="1"/>
          <p:nvPr/>
        </p:nvSpPr>
        <p:spPr>
          <a:xfrm>
            <a:off x="6522152" y="526661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A3F18122-AC6C-295E-7A95-D5D6BE733938}"/>
              </a:ext>
            </a:extLst>
          </p:cNvPr>
          <p:cNvSpPr/>
          <p:nvPr/>
        </p:nvSpPr>
        <p:spPr>
          <a:xfrm rot="16200000">
            <a:off x="6449006" y="549744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2DE0410B-8CDD-A372-1DCB-B6EFB5B53FBC}"/>
              </a:ext>
            </a:extLst>
          </p:cNvPr>
          <p:cNvSpPr txBox="1"/>
          <p:nvPr/>
        </p:nvSpPr>
        <p:spPr>
          <a:xfrm>
            <a:off x="6520366" y="585638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4F749F0D-7646-C905-6302-EB06B4760FBC}"/>
              </a:ext>
            </a:extLst>
          </p:cNvPr>
          <p:cNvSpPr/>
          <p:nvPr/>
        </p:nvSpPr>
        <p:spPr>
          <a:xfrm rot="16200000">
            <a:off x="6443770" y="43178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1F5992-8735-84ED-FC31-840E1434531D}"/>
              </a:ext>
            </a:extLst>
          </p:cNvPr>
          <p:cNvSpPr txBox="1"/>
          <p:nvPr/>
        </p:nvSpPr>
        <p:spPr>
          <a:xfrm>
            <a:off x="6515130" y="46768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335B9D0-169F-5DB1-6789-F3B0912478CF}"/>
              </a:ext>
            </a:extLst>
          </p:cNvPr>
          <p:cNvSpPr txBox="1"/>
          <p:nvPr/>
        </p:nvSpPr>
        <p:spPr>
          <a:xfrm>
            <a:off x="6172123" y="632839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B11D4280-D6CA-B53C-198E-7E7DCACA3146}"/>
              </a:ext>
            </a:extLst>
          </p:cNvPr>
          <p:cNvSpPr/>
          <p:nvPr/>
        </p:nvSpPr>
        <p:spPr>
          <a:xfrm rot="16200000">
            <a:off x="6902621" y="5032162"/>
            <a:ext cx="1732052" cy="8604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805346E-EFD8-049F-68BC-FFD482A6DB8E}"/>
              </a:ext>
            </a:extLst>
          </p:cNvPr>
          <p:cNvSpPr txBox="1"/>
          <p:nvPr/>
        </p:nvSpPr>
        <p:spPr>
          <a:xfrm>
            <a:off x="8172526" y="4246224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/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i="1" kern="10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blipFill>
                <a:blip r:embed="rId3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文字方塊 62">
            <a:extLst>
              <a:ext uri="{FF2B5EF4-FFF2-40B4-BE49-F238E27FC236}">
                <a16:creationId xmlns:a16="http://schemas.microsoft.com/office/drawing/2014/main" id="{B54D322E-4AF3-3422-76C3-7961DA42A069}"/>
              </a:ext>
            </a:extLst>
          </p:cNvPr>
          <p:cNvSpPr txBox="1"/>
          <p:nvPr/>
        </p:nvSpPr>
        <p:spPr>
          <a:xfrm>
            <a:off x="5715208" y="512337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/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/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/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/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/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/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圓角矩形 70">
            <a:extLst>
              <a:ext uri="{FF2B5EF4-FFF2-40B4-BE49-F238E27FC236}">
                <a16:creationId xmlns:a16="http://schemas.microsoft.com/office/drawing/2014/main" id="{A975B5CA-1F72-1CAE-A766-A9E51284AE11}"/>
              </a:ext>
            </a:extLst>
          </p:cNvPr>
          <p:cNvSpPr/>
          <p:nvPr/>
        </p:nvSpPr>
        <p:spPr>
          <a:xfrm rot="16200000">
            <a:off x="7736702" y="5028376"/>
            <a:ext cx="1732052" cy="860403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/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blipFill>
                <a:blip r:embed="rId10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文字方塊 72">
            <a:extLst>
              <a:ext uri="{FF2B5EF4-FFF2-40B4-BE49-F238E27FC236}">
                <a16:creationId xmlns:a16="http://schemas.microsoft.com/office/drawing/2014/main" id="{58FCE292-5C36-01D3-4887-32FC11865AE0}"/>
              </a:ext>
            </a:extLst>
          </p:cNvPr>
          <p:cNvSpPr txBox="1"/>
          <p:nvPr/>
        </p:nvSpPr>
        <p:spPr>
          <a:xfrm>
            <a:off x="7692738" y="6333426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AC24D79-8DD2-68B4-C1D6-030CDED0A8B0}"/>
              </a:ext>
            </a:extLst>
          </p:cNvPr>
          <p:cNvSpPr txBox="1"/>
          <p:nvPr/>
        </p:nvSpPr>
        <p:spPr>
          <a:xfrm>
            <a:off x="7357076" y="4245986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5288BE81-A502-6358-3873-457506E7FC2D}"/>
              </a:ext>
            </a:extLst>
          </p:cNvPr>
          <p:cNvSpPr txBox="1"/>
          <p:nvPr/>
        </p:nvSpPr>
        <p:spPr>
          <a:xfrm>
            <a:off x="4840300" y="63392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A8DABB75-D93B-5672-FA6E-55B8D406D9EE}"/>
              </a:ext>
            </a:extLst>
          </p:cNvPr>
          <p:cNvSpPr txBox="1"/>
          <p:nvPr/>
        </p:nvSpPr>
        <p:spPr>
          <a:xfrm>
            <a:off x="4542266" y="4242728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A3C230CA-AB1B-9DAF-A698-851BFA61D0AF}"/>
              </a:ext>
            </a:extLst>
          </p:cNvPr>
          <p:cNvSpPr txBox="1"/>
          <p:nvPr/>
        </p:nvSpPr>
        <p:spPr>
          <a:xfrm>
            <a:off x="5060971" y="4249440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</p:spTree>
    <p:extLst>
      <p:ext uri="{BB962C8B-B14F-4D97-AF65-F5344CB8AC3E}">
        <p14:creationId xmlns:p14="http://schemas.microsoft.com/office/powerpoint/2010/main" val="388449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/>
      <p:bldP spid="62" grpId="0"/>
      <p:bldP spid="63" grpId="0"/>
      <p:bldP spid="64" grpId="0" animBg="1"/>
      <p:bldP spid="65" grpId="0" animBg="1"/>
      <p:bldP spid="66" grpId="0" animBg="1"/>
      <p:bldP spid="68" grpId="0" animBg="1"/>
      <p:bldP spid="69" grpId="0" animBg="1"/>
      <p:bldP spid="70" grpId="0" animBg="1"/>
      <p:bldP spid="71" grpId="0" animBg="1"/>
      <p:bldP spid="72" grpId="0"/>
      <p:bldP spid="73" grpId="0"/>
      <p:bldP spid="74" grpId="0"/>
      <p:bldP spid="75" grpId="0"/>
      <p:bldP spid="76" grpId="0"/>
      <p:bldP spid="7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Output Dimensions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9E8A022-B941-5199-848E-6444585207C1}"/>
              </a:ext>
            </a:extLst>
          </p:cNvPr>
          <p:cNvSpPr txBox="1"/>
          <p:nvPr/>
        </p:nvSpPr>
        <p:spPr>
          <a:xfrm>
            <a:off x="651298" y="1492711"/>
            <a:ext cx="43032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AE98EFC-9765-E89A-B0EF-CF82BFF27239}"/>
              </a:ext>
            </a:extLst>
          </p:cNvPr>
          <p:cNvSpPr txBox="1"/>
          <p:nvPr/>
        </p:nvSpPr>
        <p:spPr>
          <a:xfrm>
            <a:off x="664196" y="4265384"/>
            <a:ext cx="3590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/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/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圓角矩形 23">
            <a:extLst>
              <a:ext uri="{FF2B5EF4-FFF2-40B4-BE49-F238E27FC236}">
                <a16:creationId xmlns:a16="http://schemas.microsoft.com/office/drawing/2014/main" id="{43D6FDF4-32C4-8668-30C3-51F76856F56F}"/>
              </a:ext>
            </a:extLst>
          </p:cNvPr>
          <p:cNvSpPr/>
          <p:nvPr/>
        </p:nvSpPr>
        <p:spPr>
          <a:xfrm>
            <a:off x="1940213" y="2311628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1453DD7E-9694-FDEC-0E5F-7DA33AC27E9B}"/>
              </a:ext>
            </a:extLst>
          </p:cNvPr>
          <p:cNvSpPr/>
          <p:nvPr/>
        </p:nvSpPr>
        <p:spPr>
          <a:xfrm rot="16200000">
            <a:off x="3219958" y="2314933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B947F8A-DF8B-1BBD-5A1A-C9AAB3EB2BFD}"/>
              </a:ext>
            </a:extLst>
          </p:cNvPr>
          <p:cNvSpPr txBox="1"/>
          <p:nvPr/>
        </p:nvSpPr>
        <p:spPr>
          <a:xfrm>
            <a:off x="3514128" y="264821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2DB9608-2D01-D3C8-372F-60AB4D9C7430}"/>
              </a:ext>
            </a:extLst>
          </p:cNvPr>
          <p:cNvSpPr/>
          <p:nvPr/>
        </p:nvSpPr>
        <p:spPr>
          <a:xfrm rot="16200000">
            <a:off x="3219957" y="5087607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D3157949-CFDA-0920-72FC-6161C7D6617B}"/>
              </a:ext>
            </a:extLst>
          </p:cNvPr>
          <p:cNvSpPr txBox="1"/>
          <p:nvPr/>
        </p:nvSpPr>
        <p:spPr>
          <a:xfrm>
            <a:off x="3514127" y="542088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0C0AB7C3-752C-EB7D-544B-0EB683CEFAE7}"/>
              </a:ext>
            </a:extLst>
          </p:cNvPr>
          <p:cNvSpPr/>
          <p:nvPr/>
        </p:nvSpPr>
        <p:spPr>
          <a:xfrm>
            <a:off x="5261840" y="5084301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806A0C68-2B8F-79B4-2661-9465ABBA2010}"/>
              </a:ext>
            </a:extLst>
          </p:cNvPr>
          <p:cNvSpPr/>
          <p:nvPr/>
        </p:nvSpPr>
        <p:spPr>
          <a:xfrm>
            <a:off x="5261840" y="2320360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69E164E-F6CD-A6B4-D09F-E7D260707004}"/>
              </a:ext>
            </a:extLst>
          </p:cNvPr>
          <p:cNvSpPr txBox="1"/>
          <p:nvPr/>
        </p:nvSpPr>
        <p:spPr>
          <a:xfrm>
            <a:off x="2703919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4AE01C6-7D31-3429-6EA3-72AA1B146E4F}"/>
              </a:ext>
            </a:extLst>
          </p:cNvPr>
          <p:cNvSpPr txBox="1"/>
          <p:nvPr/>
        </p:nvSpPr>
        <p:spPr>
          <a:xfrm>
            <a:off x="4557724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80FC514-61AA-6A3E-3BE3-F6DB3F113ACB}"/>
              </a:ext>
            </a:extLst>
          </p:cNvPr>
          <p:cNvSpPr txBox="1"/>
          <p:nvPr/>
        </p:nvSpPr>
        <p:spPr>
          <a:xfrm>
            <a:off x="2703919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4E15EA7-5783-1839-7B50-8F612FFEC354}"/>
              </a:ext>
            </a:extLst>
          </p:cNvPr>
          <p:cNvSpPr txBox="1"/>
          <p:nvPr/>
        </p:nvSpPr>
        <p:spPr>
          <a:xfrm>
            <a:off x="4557724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6" name="AutoShape 2" descr="d7fb8885690247c9a26854846b52276f">
            <a:extLst>
              <a:ext uri="{FF2B5EF4-FFF2-40B4-BE49-F238E27FC236}">
                <a16:creationId xmlns:a16="http://schemas.microsoft.com/office/drawing/2014/main" id="{C45400A9-B020-DF3B-5CC5-365CB6BEB9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85064" y="354923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sp>
        <p:nvSpPr>
          <p:cNvPr id="37" name="AutoShape 4" descr="d7fb8885690247c9a26854846b52276f">
            <a:extLst>
              <a:ext uri="{FF2B5EF4-FFF2-40B4-BE49-F238E27FC236}">
                <a16:creationId xmlns:a16="http://schemas.microsoft.com/office/drawing/2014/main" id="{CABA0668-9CBC-CFE7-28ED-2C9402C44F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89633" y="2353802"/>
            <a:ext cx="1652631" cy="16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1F458F9F-6DF1-E55D-CFA3-7BAD84050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p:pic>
        <p:nvPicPr>
          <p:cNvPr id="39" name="內容版面配置區 12">
            <a:extLst>
              <a:ext uri="{FF2B5EF4-FFF2-40B4-BE49-F238E27FC236}">
                <a16:creationId xmlns:a16="http://schemas.microsoft.com/office/drawing/2014/main" id="{B6453C47-A2C4-E380-5C64-D12AED88AB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rcRect b="50000"/>
          <a:stretch/>
        </p:blipFill>
        <p:spPr>
          <a:xfrm>
            <a:off x="5990837" y="478009"/>
            <a:ext cx="5815012" cy="4551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8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DC807219-1A4A-E8F1-8769-9756C391D4FB}"/>
              </a:ext>
            </a:extLst>
          </p:cNvPr>
          <p:cNvSpPr txBox="1"/>
          <p:nvPr/>
        </p:nvSpPr>
        <p:spPr>
          <a:xfrm>
            <a:off x="10148051" y="3891114"/>
            <a:ext cx="305895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13FBD4-2A24-CB1C-A77B-97D0A707C1A9}"/>
              </a:ext>
            </a:extLst>
          </p:cNvPr>
          <p:cNvSpPr/>
          <p:nvPr/>
        </p:nvSpPr>
        <p:spPr>
          <a:xfrm flipV="1">
            <a:off x="8387540" y="369061"/>
            <a:ext cx="2549216" cy="56408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/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矩形 45">
            <a:extLst>
              <a:ext uri="{FF2B5EF4-FFF2-40B4-BE49-F238E27FC236}">
                <a16:creationId xmlns:a16="http://schemas.microsoft.com/office/drawing/2014/main" id="{8723F714-7EB9-75FF-A17D-BAF9FF4F2AEA}"/>
              </a:ext>
            </a:extLst>
          </p:cNvPr>
          <p:cNvSpPr/>
          <p:nvPr/>
        </p:nvSpPr>
        <p:spPr>
          <a:xfrm flipV="1">
            <a:off x="10899383" y="369061"/>
            <a:ext cx="507484" cy="564082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/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⋅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blipFill>
                <a:blip r:embed="rId10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1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12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48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24" grpId="0" animBg="1"/>
      <p:bldP spid="30" grpId="0" animBg="1"/>
      <p:bldP spid="31" grpId="0" animBg="1"/>
      <p:bldP spid="40" grpId="0"/>
      <p:bldP spid="41" grpId="0"/>
      <p:bldP spid="42" grpId="0"/>
      <p:bldP spid="43" grpId="0"/>
      <p:bldP spid="48" grpId="0"/>
      <p:bldP spid="4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E250D-F59B-9F2A-18CF-2B4C6C44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MHA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比較好嗎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4A42DA-7060-6472-AB52-36BB8FFD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724350-515B-3F0D-35A5-2E0A6C13D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471" y="2272315"/>
            <a:ext cx="9329057" cy="4229597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50A31FA-F874-23E0-4B6E-E55C8B4D201F}"/>
              </a:ext>
            </a:extLst>
          </p:cNvPr>
          <p:cNvSpPr txBox="1"/>
          <p:nvPr/>
        </p:nvSpPr>
        <p:spPr>
          <a:xfrm>
            <a:off x="653143" y="1564720"/>
            <a:ext cx="5944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實驗證明：不同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head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關注的地方不太一樣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6191D7-66F3-067C-56C0-E40B28FF3B2B}"/>
              </a:ext>
            </a:extLst>
          </p:cNvPr>
          <p:cNvSpPr txBox="1"/>
          <p:nvPr/>
        </p:nvSpPr>
        <p:spPr>
          <a:xfrm>
            <a:off x="5607996" y="522460"/>
            <a:ext cx="59308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400" dirty="0"/>
              <a:t>Clark, Kevin, et al. "What Does BERT Look at? An Analysis of BERT’s Attention." Proceedings of the 2019 ACL Workshop </a:t>
            </a:r>
            <a:r>
              <a:rPr lang="en" altLang="zh-TW" sz="1400" dirty="0" err="1"/>
              <a:t>BlackboxNLP</a:t>
            </a:r>
            <a:r>
              <a:rPr lang="en" altLang="zh-TW" sz="1400" dirty="0"/>
              <a:t>: Analyzing and Interpreting Neural Networks for NLP. 2019.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DD94B6A-34A6-9E82-17AB-E50561CD32B7}"/>
              </a:ext>
            </a:extLst>
          </p:cNvPr>
          <p:cNvSpPr txBox="1"/>
          <p:nvPr/>
        </p:nvSpPr>
        <p:spPr>
          <a:xfrm>
            <a:off x="4531351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關注受詞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1CF96CB-EA9D-A0C0-294D-495BCB572DF5}"/>
              </a:ext>
            </a:extLst>
          </p:cNvPr>
          <p:cNvSpPr txBox="1"/>
          <p:nvPr/>
        </p:nvSpPr>
        <p:spPr>
          <a:xfrm>
            <a:off x="9518398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關注限定詞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42C909-6AA2-F91C-9AFF-F431C71279E2}"/>
              </a:ext>
            </a:extLst>
          </p:cNvPr>
          <p:cNvSpPr txBox="1"/>
          <p:nvPr/>
        </p:nvSpPr>
        <p:spPr>
          <a:xfrm>
            <a:off x="8510155" y="1450768"/>
            <a:ext cx="3093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&lt;layer&gt;-&lt;head number&gt;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505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CB7354-9D15-409E-0B29-090B1BB3F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33</a:t>
            </a:fld>
            <a:endParaRPr lang="en-US"/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4BB10F39-A03E-AB6C-0F91-A122ED2FAD5B}"/>
              </a:ext>
            </a:extLst>
          </p:cNvPr>
          <p:cNvSpPr txBox="1">
            <a:spLocks/>
          </p:cNvSpPr>
          <p:nvPr/>
        </p:nvSpPr>
        <p:spPr>
          <a:xfrm>
            <a:off x="1216574" y="3429000"/>
            <a:ext cx="5523673" cy="188866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kumimoji="1" lang="en-US" altLang="zh-TW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C8C9033-E6DF-71DC-B4B5-F1ABD93D46B7}"/>
                  </a:ext>
                </a:extLst>
              </p:cNvPr>
              <p:cNvSpPr txBox="1"/>
              <p:nvPr/>
            </p:nvSpPr>
            <p:spPr>
              <a:xfrm>
                <a:off x="740032" y="2225419"/>
                <a:ext cx="5006141" cy="2621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p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the concatenated head outputs can be projected to a preferred dimension (hyperparameter: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 worries on how #head changes dimension of outputs!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C8C9033-E6DF-71DC-B4B5-F1ABD93D4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032" y="2225419"/>
                <a:ext cx="5006141" cy="2621615"/>
              </a:xfrm>
              <a:prstGeom prst="rect">
                <a:avLst/>
              </a:prstGeom>
              <a:blipFill>
                <a:blip r:embed="rId2"/>
                <a:stretch>
                  <a:fillRect l="-1772" t="-1449"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標題 1">
            <a:extLst>
              <a:ext uri="{FF2B5EF4-FFF2-40B4-BE49-F238E27FC236}">
                <a16:creationId xmlns:a16="http://schemas.microsoft.com/office/drawing/2014/main" id="{3229EFE1-940A-38A8-F323-9BBC8372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Summary of MHA</a:t>
            </a:r>
            <a:endParaRPr kumimoji="1" lang="zh-TW" altLang="en-US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03B8906-F6F5-296C-3459-27DD3AFB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FD53E5D7-826B-E51E-AD97-A5C84C5910C0}"/>
              </a:ext>
            </a:extLst>
          </p:cNvPr>
          <p:cNvSpPr txBox="1"/>
          <p:nvPr/>
        </p:nvSpPr>
        <p:spPr>
          <a:xfrm>
            <a:off x="10148051" y="3891114"/>
            <a:ext cx="464904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8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819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804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963885" y="4329405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45AD95-2235-FAA3-E90C-45FE8920B0AA}"/>
              </a:ext>
            </a:extLst>
          </p:cNvPr>
          <p:cNvSpPr/>
          <p:nvPr/>
        </p:nvSpPr>
        <p:spPr>
          <a:xfrm>
            <a:off x="6281444" y="4198776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4963885" y="3502072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8F7EAE-D5B1-34D5-3FFC-C765122CEDBE}"/>
              </a:ext>
            </a:extLst>
          </p:cNvPr>
          <p:cNvSpPr/>
          <p:nvPr/>
        </p:nvSpPr>
        <p:spPr>
          <a:xfrm>
            <a:off x="6281444" y="2621903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3C22E-6ED1-3EC0-BFEC-780941DD26EC}"/>
              </a:ext>
            </a:extLst>
          </p:cNvPr>
          <p:cNvSpPr/>
          <p:nvPr/>
        </p:nvSpPr>
        <p:spPr>
          <a:xfrm>
            <a:off x="6281444" y="3374554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內容版面配置區 11">
            <a:extLst>
              <a:ext uri="{FF2B5EF4-FFF2-40B4-BE49-F238E27FC236}">
                <a16:creationId xmlns:a16="http://schemas.microsoft.com/office/drawing/2014/main" id="{AD0221C5-C4D4-07B3-187D-01D027F9B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770" y="2180165"/>
            <a:ext cx="3331029" cy="2631372"/>
          </a:xfrm>
        </p:spPr>
        <p:txBody>
          <a:bodyPr/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Add: Residual Connection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Norm: Layer Normalization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182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Research shows that Residual Connection (He, </a:t>
                </a:r>
                <a:r>
                  <a:rPr kumimoji="1" lang="en-US" altLang="zh-TW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Kaiming</a:t>
                </a: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et al., 2016) stabilizes training. </a:t>
                </a:r>
              </a:p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Let the layers in between learn the residual relationship (i.e. </a:t>
                </a:r>
                <a14:m>
                  <m:oMath xmlns:m="http://schemas.openxmlformats.org/officeDocument/2006/math"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 </a:t>
                </a:r>
                <a:endParaRPr kumimoji="1" lang="zh-TW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  <a:blipFill>
                <a:blip r:embed="rId3"/>
                <a:stretch>
                  <a:fillRect l="-3143" t="-4959" b="-66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群組 2">
            <a:extLst>
              <a:ext uri="{FF2B5EF4-FFF2-40B4-BE49-F238E27FC236}">
                <a16:creationId xmlns:a16="http://schemas.microsoft.com/office/drawing/2014/main" id="{66AF3E9B-8073-0A06-0E26-A442F783E922}"/>
              </a:ext>
            </a:extLst>
          </p:cNvPr>
          <p:cNvGrpSpPr/>
          <p:nvPr/>
        </p:nvGrpSpPr>
        <p:grpSpPr>
          <a:xfrm>
            <a:off x="5536734" y="1845734"/>
            <a:ext cx="5729077" cy="3279676"/>
            <a:chOff x="1487244" y="3429000"/>
            <a:chExt cx="4341001" cy="2438400"/>
          </a:xfrm>
        </p:grpSpPr>
        <p:pic>
          <p:nvPicPr>
            <p:cNvPr id="11266" name="Picture 2">
              <a:extLst>
                <a:ext uri="{FF2B5EF4-FFF2-40B4-BE49-F238E27FC236}">
                  <a16:creationId xmlns:a16="http://schemas.microsoft.com/office/drawing/2014/main" id="{AC779B95-3AD3-DF11-CE41-9BD368CA8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86545" y="3429000"/>
              <a:ext cx="3441700" cy="2438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E788C8FC-5EEE-1E2E-A51C-621CFEAF185F}"/>
                </a:ext>
              </a:extLst>
            </p:cNvPr>
            <p:cNvSpPr txBox="1"/>
            <p:nvPr/>
          </p:nvSpPr>
          <p:spPr>
            <a:xfrm>
              <a:off x="1487245" y="5120641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Residual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10222FB4-48A5-B892-ED54-49A505228E45}"/>
                </a:ext>
              </a:extLst>
            </p:cNvPr>
            <p:cNvSpPr txBox="1"/>
            <p:nvPr/>
          </p:nvSpPr>
          <p:spPr>
            <a:xfrm>
              <a:off x="1487244" y="3719905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Standard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8F91BD39-6D1A-4467-01AB-173375ED05C5}"/>
              </a:ext>
            </a:extLst>
          </p:cNvPr>
          <p:cNvSpPr txBox="1"/>
          <p:nvPr/>
        </p:nvSpPr>
        <p:spPr>
          <a:xfrm>
            <a:off x="1386071" y="6459622"/>
            <a:ext cx="9989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He, </a:t>
            </a:r>
            <a:r>
              <a:rPr lang="en-US" altLang="zh-TW" sz="1200" dirty="0" err="1">
                <a:latin typeface="Calibri" panose="020F0502020204030204" pitchFamily="34" charset="0"/>
                <a:cs typeface="Calibri" panose="020F0502020204030204" pitchFamily="34" charset="0"/>
              </a:rPr>
              <a:t>Kaiming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, et al. "Deep residual learning for image recognition." Proceedings of the IEEE conference on computer vision and pattern recognition 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098383AD-DEBB-9374-ABB1-2768F534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Norm</a:t>
            </a:r>
            <a:endParaRPr lang="zh-TW" altLang="en-US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4896667-01DC-384D-5D83-367F7FA36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189" y="3829486"/>
            <a:ext cx="3992852" cy="214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548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>
            <a:extLst>
              <a:ext uri="{FF2B5EF4-FFF2-40B4-BE49-F238E27FC236}">
                <a16:creationId xmlns:a16="http://schemas.microsoft.com/office/drawing/2014/main" id="{C4281DB4-CD8B-BC23-22DE-5A9CFB8EE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68" y="2613298"/>
            <a:ext cx="4938540" cy="3802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36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C3013DB-845C-D2CC-87BE-1E67024EAA4F}"/>
              </a:ext>
            </a:extLst>
          </p:cNvPr>
          <p:cNvSpPr txBox="1"/>
          <p:nvPr/>
        </p:nvSpPr>
        <p:spPr>
          <a:xfrm>
            <a:off x="7159323" y="1468998"/>
            <a:ext cx="43647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B: Batch Size</a:t>
            </a:r>
          </a:p>
          <a:p>
            <a:r>
              <a:rPr kumimoji="1" lang="en-US" altLang="zh-TW" dirty="0"/>
              <a:t>C: Channels / Embedding Feature Dimension</a:t>
            </a:r>
          </a:p>
          <a:p>
            <a:r>
              <a:rPr kumimoji="1" lang="en-US" altLang="zh-TW" dirty="0"/>
              <a:t>N: Sequence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Layer Norm: For an input vector, calculate its mean and std across embedding dimension</a:t>
                </a:r>
                <a:r>
                  <a:rPr kumimoji="1" lang="zh-TW" altLang="en-US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(within an example). </a:t>
                </a:r>
              </a:p>
              <a:p>
                <a:pPr lvl="1">
                  <a:buFont typeface="Wingdings" pitchFamily="2" charset="2"/>
                  <a:buChar char="n"/>
                </a:pPr>
                <a:r>
                  <a:rPr kumimoji="1" lang="en-US" altLang="zh-TW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𝐧𝐨𝐫𝐦</m:t>
                    </m:r>
                    <m:d>
                      <m:d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</m:d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num>
                      <m:den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𝝈</m:t>
                        </m:r>
                      </m:den>
                    </m:f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  <a:blipFill>
                <a:blip r:embed="rId4"/>
                <a:stretch>
                  <a:fillRect l="-2564" t="-3000" r="-23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C66F5E8-925C-9D58-7580-BFF2846FCD83}"/>
              </a:ext>
            </a:extLst>
          </p:cNvPr>
          <p:cNvSpPr txBox="1"/>
          <p:nvPr/>
        </p:nvSpPr>
        <p:spPr>
          <a:xfrm>
            <a:off x="2445532" y="6445901"/>
            <a:ext cx="7657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DDAEE2A0-1F04-B1F5-58E5-EAD20D6E0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Add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</a:t>
            </a:r>
            <a:endParaRPr lang="zh-TW" altLang="en-US" u="sng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0C74D646-DA8A-23B9-AAFE-B6692FA2A543}"/>
              </a:ext>
            </a:extLst>
          </p:cNvPr>
          <p:cNvSpPr/>
          <p:nvPr/>
        </p:nvSpPr>
        <p:spPr>
          <a:xfrm>
            <a:off x="599401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3B37AA9C-30E3-FC27-4469-33A6860658A5}"/>
              </a:ext>
            </a:extLst>
          </p:cNvPr>
          <p:cNvSpPr/>
          <p:nvPr/>
        </p:nvSpPr>
        <p:spPr>
          <a:xfrm>
            <a:off x="599401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496D91D-FEC6-71A0-3C44-6ED9AFDD409A}"/>
              </a:ext>
            </a:extLst>
          </p:cNvPr>
          <p:cNvCxnSpPr>
            <a:cxnSpLocks/>
            <a:stCxn id="2" idx="6"/>
            <a:endCxn id="11" idx="2"/>
          </p:cNvCxnSpPr>
          <p:nvPr/>
        </p:nvCxnSpPr>
        <p:spPr>
          <a:xfrm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D8DD46C8-1545-B11D-880A-AD1EB6D16D1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 flipV="1"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橢圓 9">
            <a:extLst>
              <a:ext uri="{FF2B5EF4-FFF2-40B4-BE49-F238E27FC236}">
                <a16:creationId xmlns:a16="http://schemas.microsoft.com/office/drawing/2014/main" id="{FCFBDEB3-364D-612D-F642-0262B1FE7B78}"/>
              </a:ext>
            </a:extLst>
          </p:cNvPr>
          <p:cNvSpPr/>
          <p:nvPr/>
        </p:nvSpPr>
        <p:spPr>
          <a:xfrm>
            <a:off x="774280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A4F4FEE-CF98-CDA8-5059-4075DEC3C4ED}"/>
              </a:ext>
            </a:extLst>
          </p:cNvPr>
          <p:cNvSpPr/>
          <p:nvPr/>
        </p:nvSpPr>
        <p:spPr>
          <a:xfrm>
            <a:off x="774280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1C3D44D-0569-5E22-A32D-6A0323433EEC}"/>
              </a:ext>
            </a:extLst>
          </p:cNvPr>
          <p:cNvCxnSpPr>
            <a:cxnSpLocks/>
          </p:cNvCxnSpPr>
          <p:nvPr/>
        </p:nvCxnSpPr>
        <p:spPr>
          <a:xfrm>
            <a:off x="6565517" y="3995933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1742519E-6833-60C2-3EF7-A01F9DC7286F}"/>
              </a:ext>
            </a:extLst>
          </p:cNvPr>
          <p:cNvCxnSpPr>
            <a:cxnSpLocks/>
            <a:stCxn id="3" idx="6"/>
            <a:endCxn id="11" idx="2"/>
          </p:cNvCxnSpPr>
          <p:nvPr/>
        </p:nvCxnSpPr>
        <p:spPr>
          <a:xfrm>
            <a:off x="6565517" y="5184139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/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/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/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/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blipFill>
                <a:blip r:embed="rId8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字方塊 18">
            <a:extLst>
              <a:ext uri="{FF2B5EF4-FFF2-40B4-BE49-F238E27FC236}">
                <a16:creationId xmlns:a16="http://schemas.microsoft.com/office/drawing/2014/main" id="{97D766D3-C4D0-7F1D-6CB4-15B7CA436DDF}"/>
              </a:ext>
            </a:extLst>
          </p:cNvPr>
          <p:cNvSpPr txBox="1"/>
          <p:nvPr/>
        </p:nvSpPr>
        <p:spPr>
          <a:xfrm rot="5400000">
            <a:off x="599728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416EB0C-7560-2BF9-6E7F-02E8AAFF0922}"/>
              </a:ext>
            </a:extLst>
          </p:cNvPr>
          <p:cNvSpPr txBox="1"/>
          <p:nvPr/>
        </p:nvSpPr>
        <p:spPr>
          <a:xfrm rot="5400000">
            <a:off x="774179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E1E5C7-9033-DFA9-F504-143C01EF6ED8}"/>
              </a:ext>
            </a:extLst>
          </p:cNvPr>
          <p:cNvSpPr/>
          <p:nvPr/>
        </p:nvSpPr>
        <p:spPr>
          <a:xfrm>
            <a:off x="7652543" y="3468993"/>
            <a:ext cx="792480" cy="22758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/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blipFill>
                <a:blip r:embed="rId9"/>
                <a:stretch>
                  <a:fillRect l="-1481" t="-6667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肘形接點 22">
            <a:extLst>
              <a:ext uri="{FF2B5EF4-FFF2-40B4-BE49-F238E27FC236}">
                <a16:creationId xmlns:a16="http://schemas.microsoft.com/office/drawing/2014/main" id="{F26838D2-583C-C750-9591-250996FAD27B}"/>
              </a:ext>
            </a:extLst>
          </p:cNvPr>
          <p:cNvCxnSpPr>
            <a:stCxn id="21" idx="0"/>
            <a:endCxn id="22" idx="1"/>
          </p:cNvCxnSpPr>
          <p:nvPr/>
        </p:nvCxnSpPr>
        <p:spPr>
          <a:xfrm rot="5400000" flipH="1" flipV="1">
            <a:off x="8216360" y="3067610"/>
            <a:ext cx="233807" cy="56896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0198E803-A99E-19C2-9809-A786F3F1CABF}"/>
              </a:ext>
            </a:extLst>
          </p:cNvPr>
          <p:cNvSpPr/>
          <p:nvPr/>
        </p:nvSpPr>
        <p:spPr>
          <a:xfrm>
            <a:off x="9510258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CFB37E9-551B-0C91-FD6B-0C1905058B64}"/>
              </a:ext>
            </a:extLst>
          </p:cNvPr>
          <p:cNvSpPr/>
          <p:nvPr/>
        </p:nvSpPr>
        <p:spPr>
          <a:xfrm>
            <a:off x="9510258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/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/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blipFill>
                <a:blip r:embed="rId11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63EFE47F-4839-4886-8DF6-1DB320B9A316}"/>
              </a:ext>
            </a:extLst>
          </p:cNvPr>
          <p:cNvSpPr txBox="1"/>
          <p:nvPr/>
        </p:nvSpPr>
        <p:spPr>
          <a:xfrm rot="5400000">
            <a:off x="9509244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62895C43-DC03-C392-7552-89EA811C6A5B}"/>
              </a:ext>
            </a:extLst>
          </p:cNvPr>
          <p:cNvCxnSpPr>
            <a:cxnSpLocks/>
            <a:stCxn id="17" idx="3"/>
            <a:endCxn id="24" idx="2"/>
          </p:cNvCxnSpPr>
          <p:nvPr/>
        </p:nvCxnSpPr>
        <p:spPr>
          <a:xfrm>
            <a:off x="8315698" y="3995933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0DCB84E8-F73A-120B-18E8-D595188F2917}"/>
              </a:ext>
            </a:extLst>
          </p:cNvPr>
          <p:cNvCxnSpPr>
            <a:cxnSpLocks/>
            <a:stCxn id="11" idx="6"/>
            <a:endCxn id="25" idx="2"/>
          </p:cNvCxnSpPr>
          <p:nvPr/>
        </p:nvCxnSpPr>
        <p:spPr>
          <a:xfrm>
            <a:off x="8314307" y="5184139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9E94672-4701-CA1A-0EE2-254A445FA577}"/>
              </a:ext>
            </a:extLst>
          </p:cNvPr>
          <p:cNvSpPr txBox="1"/>
          <p:nvPr/>
        </p:nvSpPr>
        <p:spPr>
          <a:xfrm>
            <a:off x="6891354" y="5901929"/>
            <a:ext cx="2274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(Batch Normalization)</a:t>
            </a:r>
          </a:p>
        </p:txBody>
      </p:sp>
      <p:sp>
        <p:nvSpPr>
          <p:cNvPr id="32" name="手繪多邊形 31">
            <a:extLst>
              <a:ext uri="{FF2B5EF4-FFF2-40B4-BE49-F238E27FC236}">
                <a16:creationId xmlns:a16="http://schemas.microsoft.com/office/drawing/2014/main" id="{510354D1-6AB6-4B17-8C94-B2CA77AF5A07}"/>
              </a:ext>
            </a:extLst>
          </p:cNvPr>
          <p:cNvSpPr/>
          <p:nvPr/>
        </p:nvSpPr>
        <p:spPr>
          <a:xfrm>
            <a:off x="3356009" y="5066952"/>
            <a:ext cx="987391" cy="648048"/>
          </a:xfrm>
          <a:custGeom>
            <a:avLst/>
            <a:gdLst>
              <a:gd name="connsiteX0" fmla="*/ 31427 w 987391"/>
              <a:gd name="connsiteY0" fmla="*/ 3812 h 648048"/>
              <a:gd name="connsiteX1" fmla="*/ 104164 w 987391"/>
              <a:gd name="connsiteY1" fmla="*/ 14203 h 648048"/>
              <a:gd name="connsiteX2" fmla="*/ 280809 w 987391"/>
              <a:gd name="connsiteY2" fmla="*/ 24593 h 648048"/>
              <a:gd name="connsiteX3" fmla="*/ 311982 w 987391"/>
              <a:gd name="connsiteY3" fmla="*/ 34984 h 648048"/>
              <a:gd name="connsiteX4" fmla="*/ 363936 w 987391"/>
              <a:gd name="connsiteY4" fmla="*/ 45375 h 648048"/>
              <a:gd name="connsiteX5" fmla="*/ 426282 w 987391"/>
              <a:gd name="connsiteY5" fmla="*/ 66157 h 648048"/>
              <a:gd name="connsiteX6" fmla="*/ 457455 w 987391"/>
              <a:gd name="connsiteY6" fmla="*/ 76548 h 648048"/>
              <a:gd name="connsiteX7" fmla="*/ 499018 w 987391"/>
              <a:gd name="connsiteY7" fmla="*/ 86939 h 648048"/>
              <a:gd name="connsiteX8" fmla="*/ 561364 w 987391"/>
              <a:gd name="connsiteY8" fmla="*/ 107721 h 648048"/>
              <a:gd name="connsiteX9" fmla="*/ 644491 w 987391"/>
              <a:gd name="connsiteY9" fmla="*/ 128503 h 648048"/>
              <a:gd name="connsiteX10" fmla="*/ 706836 w 987391"/>
              <a:gd name="connsiteY10" fmla="*/ 170066 h 648048"/>
              <a:gd name="connsiteX11" fmla="*/ 738009 w 987391"/>
              <a:gd name="connsiteY11" fmla="*/ 190848 h 648048"/>
              <a:gd name="connsiteX12" fmla="*/ 758791 w 987391"/>
              <a:gd name="connsiteY12" fmla="*/ 222021 h 648048"/>
              <a:gd name="connsiteX13" fmla="*/ 821136 w 987391"/>
              <a:gd name="connsiteY13" fmla="*/ 263584 h 648048"/>
              <a:gd name="connsiteX14" fmla="*/ 873091 w 987391"/>
              <a:gd name="connsiteY14" fmla="*/ 315539 h 648048"/>
              <a:gd name="connsiteX15" fmla="*/ 893873 w 987391"/>
              <a:gd name="connsiteY15" fmla="*/ 346712 h 648048"/>
              <a:gd name="connsiteX16" fmla="*/ 925046 w 987391"/>
              <a:gd name="connsiteY16" fmla="*/ 377884 h 648048"/>
              <a:gd name="connsiteX17" fmla="*/ 935436 w 987391"/>
              <a:gd name="connsiteY17" fmla="*/ 409057 h 648048"/>
              <a:gd name="connsiteX18" fmla="*/ 956218 w 987391"/>
              <a:gd name="connsiteY18" fmla="*/ 440230 h 648048"/>
              <a:gd name="connsiteX19" fmla="*/ 977000 w 987391"/>
              <a:gd name="connsiteY19" fmla="*/ 502575 h 648048"/>
              <a:gd name="connsiteX20" fmla="*/ 987391 w 987391"/>
              <a:gd name="connsiteY20" fmla="*/ 533748 h 648048"/>
              <a:gd name="connsiteX21" fmla="*/ 977000 w 987391"/>
              <a:gd name="connsiteY21" fmla="*/ 627266 h 648048"/>
              <a:gd name="connsiteX22" fmla="*/ 945827 w 987391"/>
              <a:gd name="connsiteY22" fmla="*/ 648048 h 648048"/>
              <a:gd name="connsiteX23" fmla="*/ 748400 w 987391"/>
              <a:gd name="connsiteY23" fmla="*/ 637657 h 648048"/>
              <a:gd name="connsiteX24" fmla="*/ 686055 w 987391"/>
              <a:gd name="connsiteY24" fmla="*/ 606484 h 648048"/>
              <a:gd name="connsiteX25" fmla="*/ 654882 w 987391"/>
              <a:gd name="connsiteY25" fmla="*/ 596093 h 648048"/>
              <a:gd name="connsiteX26" fmla="*/ 592536 w 987391"/>
              <a:gd name="connsiteY26" fmla="*/ 564921 h 648048"/>
              <a:gd name="connsiteX27" fmla="*/ 499018 w 987391"/>
              <a:gd name="connsiteY27" fmla="*/ 512966 h 648048"/>
              <a:gd name="connsiteX28" fmla="*/ 436673 w 987391"/>
              <a:gd name="connsiteY28" fmla="*/ 481793 h 648048"/>
              <a:gd name="connsiteX29" fmla="*/ 405500 w 987391"/>
              <a:gd name="connsiteY29" fmla="*/ 461012 h 648048"/>
              <a:gd name="connsiteX30" fmla="*/ 363936 w 987391"/>
              <a:gd name="connsiteY30" fmla="*/ 440230 h 648048"/>
              <a:gd name="connsiteX31" fmla="*/ 332764 w 987391"/>
              <a:gd name="connsiteY31" fmla="*/ 419448 h 648048"/>
              <a:gd name="connsiteX32" fmla="*/ 301591 w 987391"/>
              <a:gd name="connsiteY32" fmla="*/ 409057 h 648048"/>
              <a:gd name="connsiteX33" fmla="*/ 239246 w 987391"/>
              <a:gd name="connsiteY33" fmla="*/ 367493 h 648048"/>
              <a:gd name="connsiteX34" fmla="*/ 176900 w 987391"/>
              <a:gd name="connsiteY34" fmla="*/ 315539 h 648048"/>
              <a:gd name="connsiteX35" fmla="*/ 114555 w 987391"/>
              <a:gd name="connsiteY35" fmla="*/ 273975 h 648048"/>
              <a:gd name="connsiteX36" fmla="*/ 93773 w 987391"/>
              <a:gd name="connsiteY36" fmla="*/ 242803 h 648048"/>
              <a:gd name="connsiteX37" fmla="*/ 62600 w 987391"/>
              <a:gd name="connsiteY37" fmla="*/ 211630 h 648048"/>
              <a:gd name="connsiteX38" fmla="*/ 52209 w 987391"/>
              <a:gd name="connsiteY38" fmla="*/ 180457 h 648048"/>
              <a:gd name="connsiteX39" fmla="*/ 255 w 987391"/>
              <a:gd name="connsiteY39" fmla="*/ 86939 h 648048"/>
              <a:gd name="connsiteX40" fmla="*/ 31427 w 987391"/>
              <a:gd name="connsiteY40" fmla="*/ 3812 h 648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87391" h="648048">
                <a:moveTo>
                  <a:pt x="31427" y="3812"/>
                </a:moveTo>
                <a:cubicBezTo>
                  <a:pt x="48745" y="-8311"/>
                  <a:pt x="79757" y="12169"/>
                  <a:pt x="104164" y="14203"/>
                </a:cubicBezTo>
                <a:cubicBezTo>
                  <a:pt x="162944" y="19101"/>
                  <a:pt x="222118" y="18724"/>
                  <a:pt x="280809" y="24593"/>
                </a:cubicBezTo>
                <a:cubicBezTo>
                  <a:pt x="291708" y="25683"/>
                  <a:pt x="301356" y="32327"/>
                  <a:pt x="311982" y="34984"/>
                </a:cubicBezTo>
                <a:cubicBezTo>
                  <a:pt x="329116" y="39267"/>
                  <a:pt x="346897" y="40728"/>
                  <a:pt x="363936" y="45375"/>
                </a:cubicBezTo>
                <a:cubicBezTo>
                  <a:pt x="385070" y="51139"/>
                  <a:pt x="405500" y="59230"/>
                  <a:pt x="426282" y="66157"/>
                </a:cubicBezTo>
                <a:cubicBezTo>
                  <a:pt x="436673" y="69621"/>
                  <a:pt x="446829" y="73891"/>
                  <a:pt x="457455" y="76548"/>
                </a:cubicBezTo>
                <a:cubicBezTo>
                  <a:pt x="471309" y="80012"/>
                  <a:pt x="485340" y="82835"/>
                  <a:pt x="499018" y="86939"/>
                </a:cubicBezTo>
                <a:cubicBezTo>
                  <a:pt x="520000" y="93234"/>
                  <a:pt x="539883" y="103425"/>
                  <a:pt x="561364" y="107721"/>
                </a:cubicBezTo>
                <a:cubicBezTo>
                  <a:pt x="575758" y="110600"/>
                  <a:pt x="626518" y="118518"/>
                  <a:pt x="644491" y="128503"/>
                </a:cubicBezTo>
                <a:cubicBezTo>
                  <a:pt x="666324" y="140633"/>
                  <a:pt x="686054" y="156212"/>
                  <a:pt x="706836" y="170066"/>
                </a:cubicBezTo>
                <a:lnTo>
                  <a:pt x="738009" y="190848"/>
                </a:lnTo>
                <a:cubicBezTo>
                  <a:pt x="744936" y="201239"/>
                  <a:pt x="749392" y="213797"/>
                  <a:pt x="758791" y="222021"/>
                </a:cubicBezTo>
                <a:cubicBezTo>
                  <a:pt x="777588" y="238468"/>
                  <a:pt x="821136" y="263584"/>
                  <a:pt x="821136" y="263584"/>
                </a:cubicBezTo>
                <a:cubicBezTo>
                  <a:pt x="876555" y="346712"/>
                  <a:pt x="803818" y="246266"/>
                  <a:pt x="873091" y="315539"/>
                </a:cubicBezTo>
                <a:cubicBezTo>
                  <a:pt x="881922" y="324370"/>
                  <a:pt x="885878" y="337118"/>
                  <a:pt x="893873" y="346712"/>
                </a:cubicBezTo>
                <a:cubicBezTo>
                  <a:pt x="903281" y="358001"/>
                  <a:pt x="914655" y="367493"/>
                  <a:pt x="925046" y="377884"/>
                </a:cubicBezTo>
                <a:cubicBezTo>
                  <a:pt x="928509" y="388275"/>
                  <a:pt x="930538" y="399260"/>
                  <a:pt x="935436" y="409057"/>
                </a:cubicBezTo>
                <a:cubicBezTo>
                  <a:pt x="941021" y="420227"/>
                  <a:pt x="951146" y="428818"/>
                  <a:pt x="956218" y="440230"/>
                </a:cubicBezTo>
                <a:cubicBezTo>
                  <a:pt x="965115" y="460248"/>
                  <a:pt x="970073" y="481793"/>
                  <a:pt x="977000" y="502575"/>
                </a:cubicBezTo>
                <a:lnTo>
                  <a:pt x="987391" y="533748"/>
                </a:lnTo>
                <a:cubicBezTo>
                  <a:pt x="983927" y="564921"/>
                  <a:pt x="987719" y="597790"/>
                  <a:pt x="977000" y="627266"/>
                </a:cubicBezTo>
                <a:cubicBezTo>
                  <a:pt x="972732" y="639003"/>
                  <a:pt x="958303" y="647481"/>
                  <a:pt x="945827" y="648048"/>
                </a:cubicBezTo>
                <a:lnTo>
                  <a:pt x="748400" y="637657"/>
                </a:lnTo>
                <a:cubicBezTo>
                  <a:pt x="670045" y="611539"/>
                  <a:pt x="766627" y="646771"/>
                  <a:pt x="686055" y="606484"/>
                </a:cubicBezTo>
                <a:cubicBezTo>
                  <a:pt x="676258" y="601586"/>
                  <a:pt x="664679" y="600991"/>
                  <a:pt x="654882" y="596093"/>
                </a:cubicBezTo>
                <a:cubicBezTo>
                  <a:pt x="574309" y="555808"/>
                  <a:pt x="670891" y="591039"/>
                  <a:pt x="592536" y="564921"/>
                </a:cubicBezTo>
                <a:cubicBezTo>
                  <a:pt x="521078" y="517281"/>
                  <a:pt x="553886" y="531255"/>
                  <a:pt x="499018" y="512966"/>
                </a:cubicBezTo>
                <a:cubicBezTo>
                  <a:pt x="409699" y="453418"/>
                  <a:pt x="522700" y="524805"/>
                  <a:pt x="436673" y="481793"/>
                </a:cubicBezTo>
                <a:cubicBezTo>
                  <a:pt x="425503" y="476208"/>
                  <a:pt x="416343" y="467208"/>
                  <a:pt x="405500" y="461012"/>
                </a:cubicBezTo>
                <a:cubicBezTo>
                  <a:pt x="392051" y="453327"/>
                  <a:pt x="377385" y="447915"/>
                  <a:pt x="363936" y="440230"/>
                </a:cubicBezTo>
                <a:cubicBezTo>
                  <a:pt x="353093" y="434034"/>
                  <a:pt x="343934" y="425033"/>
                  <a:pt x="332764" y="419448"/>
                </a:cubicBezTo>
                <a:cubicBezTo>
                  <a:pt x="322967" y="414550"/>
                  <a:pt x="311166" y="414376"/>
                  <a:pt x="301591" y="409057"/>
                </a:cubicBezTo>
                <a:cubicBezTo>
                  <a:pt x="279758" y="396927"/>
                  <a:pt x="260028" y="381347"/>
                  <a:pt x="239246" y="367493"/>
                </a:cubicBezTo>
                <a:cubicBezTo>
                  <a:pt x="127853" y="293231"/>
                  <a:pt x="296912" y="408883"/>
                  <a:pt x="176900" y="315539"/>
                </a:cubicBezTo>
                <a:cubicBezTo>
                  <a:pt x="157185" y="300205"/>
                  <a:pt x="114555" y="273975"/>
                  <a:pt x="114555" y="273975"/>
                </a:cubicBezTo>
                <a:cubicBezTo>
                  <a:pt x="107628" y="263584"/>
                  <a:pt x="101768" y="252397"/>
                  <a:pt x="93773" y="242803"/>
                </a:cubicBezTo>
                <a:cubicBezTo>
                  <a:pt x="84365" y="231514"/>
                  <a:pt x="70751" y="223857"/>
                  <a:pt x="62600" y="211630"/>
                </a:cubicBezTo>
                <a:cubicBezTo>
                  <a:pt x="56524" y="202516"/>
                  <a:pt x="57528" y="190032"/>
                  <a:pt x="52209" y="180457"/>
                </a:cubicBezTo>
                <a:cubicBezTo>
                  <a:pt x="39282" y="157189"/>
                  <a:pt x="3322" y="120674"/>
                  <a:pt x="255" y="86939"/>
                </a:cubicBezTo>
                <a:cubicBezTo>
                  <a:pt x="-2254" y="59344"/>
                  <a:pt x="14109" y="15935"/>
                  <a:pt x="31427" y="3812"/>
                </a:cubicBezTo>
                <a:close/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966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7337F5-BBE0-702D-062C-F6B9FA10B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</a:t>
            </a:r>
            <a:endParaRPr kumimoji="1" lang="zh-TW" altLang="en-US" u="sng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835697-ACC9-5D37-3519-4A99AF9D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D5DBDDD-49EF-F891-7BBD-3BA9FD385313}"/>
              </a:ext>
            </a:extLst>
          </p:cNvPr>
          <p:cNvSpPr txBox="1"/>
          <p:nvPr/>
        </p:nvSpPr>
        <p:spPr>
          <a:xfrm>
            <a:off x="2119398" y="6459622"/>
            <a:ext cx="77869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" name="圓角矩形 125">
            <a:extLst>
              <a:ext uri="{FF2B5EF4-FFF2-40B4-BE49-F238E27FC236}">
                <a16:creationId xmlns:a16="http://schemas.microsoft.com/office/drawing/2014/main" id="{21188D0E-E04B-1B16-56FA-9AE6DC9449B9}"/>
              </a:ext>
            </a:extLst>
          </p:cNvPr>
          <p:cNvSpPr/>
          <p:nvPr/>
        </p:nvSpPr>
        <p:spPr>
          <a:xfrm>
            <a:off x="21146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7" name="圓角矩形 126">
            <a:extLst>
              <a:ext uri="{FF2B5EF4-FFF2-40B4-BE49-F238E27FC236}">
                <a16:creationId xmlns:a16="http://schemas.microsoft.com/office/drawing/2014/main" id="{64CEB917-2800-F297-4975-38124C36292E}"/>
              </a:ext>
            </a:extLst>
          </p:cNvPr>
          <p:cNvSpPr/>
          <p:nvPr/>
        </p:nvSpPr>
        <p:spPr>
          <a:xfrm>
            <a:off x="14354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8" name="圓角矩形 127">
            <a:extLst>
              <a:ext uri="{FF2B5EF4-FFF2-40B4-BE49-F238E27FC236}">
                <a16:creationId xmlns:a16="http://schemas.microsoft.com/office/drawing/2014/main" id="{02D4DE40-18FA-320C-9927-C33C583C1302}"/>
              </a:ext>
            </a:extLst>
          </p:cNvPr>
          <p:cNvSpPr/>
          <p:nvPr/>
        </p:nvSpPr>
        <p:spPr>
          <a:xfrm>
            <a:off x="21072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9" name="圓角矩形 128">
            <a:extLst>
              <a:ext uri="{FF2B5EF4-FFF2-40B4-BE49-F238E27FC236}">
                <a16:creationId xmlns:a16="http://schemas.microsoft.com/office/drawing/2014/main" id="{4CCB9AB1-7FB6-18DE-2E5A-695EC6CAD0B7}"/>
              </a:ext>
            </a:extLst>
          </p:cNvPr>
          <p:cNvSpPr/>
          <p:nvPr/>
        </p:nvSpPr>
        <p:spPr>
          <a:xfrm>
            <a:off x="27790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30" name="圓角矩形 129">
            <a:extLst>
              <a:ext uri="{FF2B5EF4-FFF2-40B4-BE49-F238E27FC236}">
                <a16:creationId xmlns:a16="http://schemas.microsoft.com/office/drawing/2014/main" id="{8231FF23-CC5E-C53A-0505-5E6854214D06}"/>
              </a:ext>
            </a:extLst>
          </p:cNvPr>
          <p:cNvSpPr/>
          <p:nvPr/>
        </p:nvSpPr>
        <p:spPr>
          <a:xfrm>
            <a:off x="39119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1" name="圓角矩形 130">
            <a:extLst>
              <a:ext uri="{FF2B5EF4-FFF2-40B4-BE49-F238E27FC236}">
                <a16:creationId xmlns:a16="http://schemas.microsoft.com/office/drawing/2014/main" id="{5DA5171A-B2F2-DA41-08AE-98771C03A81E}"/>
              </a:ext>
            </a:extLst>
          </p:cNvPr>
          <p:cNvSpPr/>
          <p:nvPr/>
        </p:nvSpPr>
        <p:spPr>
          <a:xfrm>
            <a:off x="45837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2" name="圓角矩形 131">
            <a:extLst>
              <a:ext uri="{FF2B5EF4-FFF2-40B4-BE49-F238E27FC236}">
                <a16:creationId xmlns:a16="http://schemas.microsoft.com/office/drawing/2014/main" id="{8FB6E389-8359-C101-318C-6867C0314958}"/>
              </a:ext>
            </a:extLst>
          </p:cNvPr>
          <p:cNvSpPr/>
          <p:nvPr/>
        </p:nvSpPr>
        <p:spPr>
          <a:xfrm>
            <a:off x="52555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3" name="圓角矩形 132">
            <a:extLst>
              <a:ext uri="{FF2B5EF4-FFF2-40B4-BE49-F238E27FC236}">
                <a16:creationId xmlns:a16="http://schemas.microsoft.com/office/drawing/2014/main" id="{D01861E1-93A8-BE9B-5640-BE9FC27BC6C5}"/>
              </a:ext>
            </a:extLst>
          </p:cNvPr>
          <p:cNvSpPr/>
          <p:nvPr/>
        </p:nvSpPr>
        <p:spPr>
          <a:xfrm>
            <a:off x="6388441" y="4988308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4" name="圓角矩形 133">
            <a:extLst>
              <a:ext uri="{FF2B5EF4-FFF2-40B4-BE49-F238E27FC236}">
                <a16:creationId xmlns:a16="http://schemas.microsoft.com/office/drawing/2014/main" id="{DE5E85D5-30BB-CFC0-DAFD-5513817C9B61}"/>
              </a:ext>
            </a:extLst>
          </p:cNvPr>
          <p:cNvSpPr/>
          <p:nvPr/>
        </p:nvSpPr>
        <p:spPr>
          <a:xfrm>
            <a:off x="7060255" y="4988307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5" name="圓角矩形 134">
            <a:extLst>
              <a:ext uri="{FF2B5EF4-FFF2-40B4-BE49-F238E27FC236}">
                <a16:creationId xmlns:a16="http://schemas.microsoft.com/office/drawing/2014/main" id="{85C472BA-2F9F-4579-519B-646396AE6701}"/>
              </a:ext>
            </a:extLst>
          </p:cNvPr>
          <p:cNvSpPr/>
          <p:nvPr/>
        </p:nvSpPr>
        <p:spPr>
          <a:xfrm>
            <a:off x="7732069" y="4988306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6" name="圓角矩形 135">
            <a:extLst>
              <a:ext uri="{FF2B5EF4-FFF2-40B4-BE49-F238E27FC236}">
                <a16:creationId xmlns:a16="http://schemas.microsoft.com/office/drawing/2014/main" id="{4B57EC57-E0BA-7E81-9A22-06CB74D7B7D9}"/>
              </a:ext>
            </a:extLst>
          </p:cNvPr>
          <p:cNvSpPr/>
          <p:nvPr/>
        </p:nvSpPr>
        <p:spPr>
          <a:xfrm>
            <a:off x="8757207" y="4992163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7" name="圓角矩形 136">
            <a:extLst>
              <a:ext uri="{FF2B5EF4-FFF2-40B4-BE49-F238E27FC236}">
                <a16:creationId xmlns:a16="http://schemas.microsoft.com/office/drawing/2014/main" id="{E8925126-DA3C-0C50-5CBB-9AD9EFF26D6C}"/>
              </a:ext>
            </a:extLst>
          </p:cNvPr>
          <p:cNvSpPr/>
          <p:nvPr/>
        </p:nvSpPr>
        <p:spPr>
          <a:xfrm>
            <a:off x="9429021" y="4992162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8" name="圓角矩形 137">
            <a:extLst>
              <a:ext uri="{FF2B5EF4-FFF2-40B4-BE49-F238E27FC236}">
                <a16:creationId xmlns:a16="http://schemas.microsoft.com/office/drawing/2014/main" id="{147ACDAA-F805-3B3E-2340-B2E8DD407637}"/>
              </a:ext>
            </a:extLst>
          </p:cNvPr>
          <p:cNvSpPr/>
          <p:nvPr/>
        </p:nvSpPr>
        <p:spPr>
          <a:xfrm>
            <a:off x="10100835" y="4992161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4" name="圓角矩形 143">
            <a:extLst>
              <a:ext uri="{FF2B5EF4-FFF2-40B4-BE49-F238E27FC236}">
                <a16:creationId xmlns:a16="http://schemas.microsoft.com/office/drawing/2014/main" id="{9FDF8431-6CBC-6B13-74B3-D3C1BB61699A}"/>
              </a:ext>
            </a:extLst>
          </p:cNvPr>
          <p:cNvSpPr/>
          <p:nvPr/>
        </p:nvSpPr>
        <p:spPr>
          <a:xfrm>
            <a:off x="2085975" y="397799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46" name="圓角矩形 145">
            <a:extLst>
              <a:ext uri="{FF2B5EF4-FFF2-40B4-BE49-F238E27FC236}">
                <a16:creationId xmlns:a16="http://schemas.microsoft.com/office/drawing/2014/main" id="{2BBF2825-D932-A0F0-9FC6-1E04DD1AF3B3}"/>
              </a:ext>
            </a:extLst>
          </p:cNvPr>
          <p:cNvSpPr/>
          <p:nvPr/>
        </p:nvSpPr>
        <p:spPr>
          <a:xfrm>
            <a:off x="4562475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7" name="圓角矩形 146">
            <a:extLst>
              <a:ext uri="{FF2B5EF4-FFF2-40B4-BE49-F238E27FC236}">
                <a16:creationId xmlns:a16="http://schemas.microsoft.com/office/drawing/2014/main" id="{A7770556-B5FB-4D38-8664-A02295C60BBB}"/>
              </a:ext>
            </a:extLst>
          </p:cNvPr>
          <p:cNvSpPr/>
          <p:nvPr/>
        </p:nvSpPr>
        <p:spPr>
          <a:xfrm>
            <a:off x="7035089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8" name="圓角矩形 147">
            <a:extLst>
              <a:ext uri="{FF2B5EF4-FFF2-40B4-BE49-F238E27FC236}">
                <a16:creationId xmlns:a16="http://schemas.microsoft.com/office/drawing/2014/main" id="{AA9C4A52-020D-2D95-9825-AAD484823A73}"/>
              </a:ext>
            </a:extLst>
          </p:cNvPr>
          <p:cNvSpPr/>
          <p:nvPr/>
        </p:nvSpPr>
        <p:spPr>
          <a:xfrm>
            <a:off x="9407741" y="3977418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9" name="圓角矩形 148">
            <a:extLst>
              <a:ext uri="{FF2B5EF4-FFF2-40B4-BE49-F238E27FC236}">
                <a16:creationId xmlns:a16="http://schemas.microsoft.com/office/drawing/2014/main" id="{929C3387-115D-2918-FCEE-8E1A66CCCFD2}"/>
              </a:ext>
            </a:extLst>
          </p:cNvPr>
          <p:cNvSpPr/>
          <p:nvPr/>
        </p:nvSpPr>
        <p:spPr>
          <a:xfrm>
            <a:off x="2090592" y="260110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E80CE28C-D04B-30D6-6255-EFB5319659BA}"/>
              </a:ext>
            </a:extLst>
          </p:cNvPr>
          <p:cNvSpPr txBox="1"/>
          <p:nvPr/>
        </p:nvSpPr>
        <p:spPr>
          <a:xfrm>
            <a:off x="2689804" y="5997497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51" name="圓角矩形 150">
            <a:extLst>
              <a:ext uri="{FF2B5EF4-FFF2-40B4-BE49-F238E27FC236}">
                <a16:creationId xmlns:a16="http://schemas.microsoft.com/office/drawing/2014/main" id="{5149D184-A143-5763-5DA6-CD710DABD83E}"/>
              </a:ext>
            </a:extLst>
          </p:cNvPr>
          <p:cNvSpPr/>
          <p:nvPr/>
        </p:nvSpPr>
        <p:spPr>
          <a:xfrm>
            <a:off x="45911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F76E1056-220B-B17F-216D-6C3AB5D82CE7}"/>
              </a:ext>
            </a:extLst>
          </p:cNvPr>
          <p:cNvSpPr txBox="1"/>
          <p:nvPr/>
        </p:nvSpPr>
        <p:spPr>
          <a:xfrm>
            <a:off x="5157393" y="5997497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3" name="圓角矩形 152">
            <a:extLst>
              <a:ext uri="{FF2B5EF4-FFF2-40B4-BE49-F238E27FC236}">
                <a16:creationId xmlns:a16="http://schemas.microsoft.com/office/drawing/2014/main" id="{6B774203-DA4F-4855-A256-CD70A80066D7}"/>
              </a:ext>
            </a:extLst>
          </p:cNvPr>
          <p:cNvSpPr/>
          <p:nvPr/>
        </p:nvSpPr>
        <p:spPr>
          <a:xfrm>
            <a:off x="7067661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BEE6EC71-2F1B-03C8-6F1F-A4B5B374C56F}"/>
              </a:ext>
            </a:extLst>
          </p:cNvPr>
          <p:cNvSpPr txBox="1"/>
          <p:nvPr/>
        </p:nvSpPr>
        <p:spPr>
          <a:xfrm>
            <a:off x="7630100" y="596337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55" name="圓角矩形 154">
            <a:extLst>
              <a:ext uri="{FF2B5EF4-FFF2-40B4-BE49-F238E27FC236}">
                <a16:creationId xmlns:a16="http://schemas.microsoft.com/office/drawing/2014/main" id="{45CB5C92-C3F9-F11A-9C54-1C9600834DD9}"/>
              </a:ext>
            </a:extLst>
          </p:cNvPr>
          <p:cNvSpPr/>
          <p:nvPr/>
        </p:nvSpPr>
        <p:spPr>
          <a:xfrm>
            <a:off x="9443833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ED9DC6-1240-C47C-F450-62D265723BF4}"/>
              </a:ext>
            </a:extLst>
          </p:cNvPr>
          <p:cNvSpPr txBox="1"/>
          <p:nvPr/>
        </p:nvSpPr>
        <p:spPr>
          <a:xfrm>
            <a:off x="10006272" y="5963372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157" name="肘形接點 156">
            <a:extLst>
              <a:ext uri="{FF2B5EF4-FFF2-40B4-BE49-F238E27FC236}">
                <a16:creationId xmlns:a16="http://schemas.microsoft.com/office/drawing/2014/main" id="{AB118C3E-5DA4-C42D-899E-06FD3EBAFF5F}"/>
              </a:ext>
            </a:extLst>
          </p:cNvPr>
          <p:cNvCxnSpPr>
            <a:stCxn id="144" idx="3"/>
            <a:endCxn id="129" idx="0"/>
          </p:cNvCxnSpPr>
          <p:nvPr/>
        </p:nvCxnSpPr>
        <p:spPr>
          <a:xfrm>
            <a:off x="2619375" y="4258982"/>
            <a:ext cx="426394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接點 157">
            <a:extLst>
              <a:ext uri="{FF2B5EF4-FFF2-40B4-BE49-F238E27FC236}">
                <a16:creationId xmlns:a16="http://schemas.microsoft.com/office/drawing/2014/main" id="{960D324B-3993-5876-6734-050A67BFCCEE}"/>
              </a:ext>
            </a:extLst>
          </p:cNvPr>
          <p:cNvCxnSpPr>
            <a:cxnSpLocks/>
            <a:stCxn id="146" idx="3"/>
            <a:endCxn id="132" idx="0"/>
          </p:cNvCxnSpPr>
          <p:nvPr/>
        </p:nvCxnSpPr>
        <p:spPr>
          <a:xfrm>
            <a:off x="5095875" y="4258981"/>
            <a:ext cx="426394" cy="729326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肘形接點 158">
            <a:extLst>
              <a:ext uri="{FF2B5EF4-FFF2-40B4-BE49-F238E27FC236}">
                <a16:creationId xmlns:a16="http://schemas.microsoft.com/office/drawing/2014/main" id="{CAC97027-AE63-BF67-FEAB-4C1DA7F60771}"/>
              </a:ext>
            </a:extLst>
          </p:cNvPr>
          <p:cNvCxnSpPr>
            <a:cxnSpLocks/>
            <a:stCxn id="147" idx="3"/>
            <a:endCxn id="135" idx="0"/>
          </p:cNvCxnSpPr>
          <p:nvPr/>
        </p:nvCxnSpPr>
        <p:spPr>
          <a:xfrm>
            <a:off x="7568489" y="4258981"/>
            <a:ext cx="430280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肘形接點 159">
            <a:extLst>
              <a:ext uri="{FF2B5EF4-FFF2-40B4-BE49-F238E27FC236}">
                <a16:creationId xmlns:a16="http://schemas.microsoft.com/office/drawing/2014/main" id="{F83B067D-1635-9879-587C-BC555EFA2E91}"/>
              </a:ext>
            </a:extLst>
          </p:cNvPr>
          <p:cNvCxnSpPr>
            <a:cxnSpLocks/>
            <a:stCxn id="148" idx="3"/>
            <a:endCxn id="138" idx="0"/>
          </p:cNvCxnSpPr>
          <p:nvPr/>
        </p:nvCxnSpPr>
        <p:spPr>
          <a:xfrm>
            <a:off x="9941141" y="4258406"/>
            <a:ext cx="426394" cy="73375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接點 160">
            <a:extLst>
              <a:ext uri="{FF2B5EF4-FFF2-40B4-BE49-F238E27FC236}">
                <a16:creationId xmlns:a16="http://schemas.microsoft.com/office/drawing/2014/main" id="{9FB69C77-3405-43F6-F02A-9354D4962483}"/>
              </a:ext>
            </a:extLst>
          </p:cNvPr>
          <p:cNvCxnSpPr>
            <a:cxnSpLocks/>
            <a:stCxn id="144" idx="0"/>
            <a:endCxn id="146" idx="0"/>
          </p:cNvCxnSpPr>
          <p:nvPr/>
        </p:nvCxnSpPr>
        <p:spPr>
          <a:xfrm rot="5400000" flipH="1" flipV="1">
            <a:off x="3590925" y="2739744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肘形接點 161">
            <a:extLst>
              <a:ext uri="{FF2B5EF4-FFF2-40B4-BE49-F238E27FC236}">
                <a16:creationId xmlns:a16="http://schemas.microsoft.com/office/drawing/2014/main" id="{838A811A-6599-5C36-357C-ABB414CB767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273917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接點 162">
            <a:extLst>
              <a:ext uri="{FF2B5EF4-FFF2-40B4-BE49-F238E27FC236}">
                <a16:creationId xmlns:a16="http://schemas.microsoft.com/office/drawing/2014/main" id="{CA05571F-1FC6-A6B3-EE42-CD6420B49510}"/>
              </a:ext>
            </a:extLst>
          </p:cNvPr>
          <p:cNvCxnSpPr>
            <a:cxnSpLocks/>
            <a:stCxn id="147" idx="0"/>
            <a:endCxn id="148" idx="0"/>
          </p:cNvCxnSpPr>
          <p:nvPr/>
        </p:nvCxnSpPr>
        <p:spPr>
          <a:xfrm rot="5400000" flipH="1" flipV="1">
            <a:off x="8487828" y="2791380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圓角矩形 165">
            <a:extLst>
              <a:ext uri="{FF2B5EF4-FFF2-40B4-BE49-F238E27FC236}">
                <a16:creationId xmlns:a16="http://schemas.microsoft.com/office/drawing/2014/main" id="{F562B737-86BE-30AA-68C5-FEC2960842B5}"/>
              </a:ext>
            </a:extLst>
          </p:cNvPr>
          <p:cNvSpPr/>
          <p:nvPr/>
        </p:nvSpPr>
        <p:spPr>
          <a:xfrm>
            <a:off x="4560532" y="260349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67" name="圓角矩形 166">
            <a:extLst>
              <a:ext uri="{FF2B5EF4-FFF2-40B4-BE49-F238E27FC236}">
                <a16:creationId xmlns:a16="http://schemas.microsoft.com/office/drawing/2014/main" id="{30CDB28F-641D-E35E-DB8E-2EA97669A4B3}"/>
              </a:ext>
            </a:extLst>
          </p:cNvPr>
          <p:cNvSpPr/>
          <p:nvPr/>
        </p:nvSpPr>
        <p:spPr>
          <a:xfrm>
            <a:off x="7030472" y="2601108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68" name="圓角矩形 167">
            <a:extLst>
              <a:ext uri="{FF2B5EF4-FFF2-40B4-BE49-F238E27FC236}">
                <a16:creationId xmlns:a16="http://schemas.microsoft.com/office/drawing/2014/main" id="{891C1292-8496-D841-CC78-8102C2FCECDA}"/>
              </a:ext>
            </a:extLst>
          </p:cNvPr>
          <p:cNvSpPr/>
          <p:nvPr/>
        </p:nvSpPr>
        <p:spPr>
          <a:xfrm>
            <a:off x="9407741" y="2604912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cxnSp>
        <p:nvCxnSpPr>
          <p:cNvPr id="169" name="肘形接點 168">
            <a:extLst>
              <a:ext uri="{FF2B5EF4-FFF2-40B4-BE49-F238E27FC236}">
                <a16:creationId xmlns:a16="http://schemas.microsoft.com/office/drawing/2014/main" id="{C8624727-5DE9-1AB9-FC29-B4D5F253CC02}"/>
              </a:ext>
            </a:extLst>
          </p:cNvPr>
          <p:cNvCxnSpPr>
            <a:cxnSpLocks/>
            <a:stCxn id="144" idx="2"/>
            <a:endCxn id="127" idx="0"/>
          </p:cNvCxnSpPr>
          <p:nvPr/>
        </p:nvCxnSpPr>
        <p:spPr>
          <a:xfrm rot="5400000">
            <a:off x="1803238" y="4438872"/>
            <a:ext cx="44834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接點 171">
            <a:extLst>
              <a:ext uri="{FF2B5EF4-FFF2-40B4-BE49-F238E27FC236}">
                <a16:creationId xmlns:a16="http://schemas.microsoft.com/office/drawing/2014/main" id="{805DB1A5-AE9E-820F-02E2-849702615140}"/>
              </a:ext>
            </a:extLst>
          </p:cNvPr>
          <p:cNvCxnSpPr>
            <a:cxnSpLocks/>
            <a:stCxn id="146" idx="2"/>
            <a:endCxn id="130" idx="0"/>
          </p:cNvCxnSpPr>
          <p:nvPr/>
        </p:nvCxnSpPr>
        <p:spPr>
          <a:xfrm rot="5400000">
            <a:off x="4279738" y="4438871"/>
            <a:ext cx="448341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肘形接點 174">
            <a:extLst>
              <a:ext uri="{FF2B5EF4-FFF2-40B4-BE49-F238E27FC236}">
                <a16:creationId xmlns:a16="http://schemas.microsoft.com/office/drawing/2014/main" id="{BD64C11C-B4E1-6465-D40C-A38744A17F69}"/>
              </a:ext>
            </a:extLst>
          </p:cNvPr>
          <p:cNvCxnSpPr>
            <a:cxnSpLocks/>
            <a:stCxn id="147" idx="2"/>
            <a:endCxn id="133" idx="0"/>
          </p:cNvCxnSpPr>
          <p:nvPr/>
        </p:nvCxnSpPr>
        <p:spPr>
          <a:xfrm rot="5400000">
            <a:off x="6754295" y="4440814"/>
            <a:ext cx="448340" cy="64664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肘形接點 177">
            <a:extLst>
              <a:ext uri="{FF2B5EF4-FFF2-40B4-BE49-F238E27FC236}">
                <a16:creationId xmlns:a16="http://schemas.microsoft.com/office/drawing/2014/main" id="{95D3D4F7-C90D-BE33-AC40-BA0D54177803}"/>
              </a:ext>
            </a:extLst>
          </p:cNvPr>
          <p:cNvCxnSpPr>
            <a:cxnSpLocks/>
            <a:stCxn id="148" idx="2"/>
            <a:endCxn id="136" idx="0"/>
          </p:cNvCxnSpPr>
          <p:nvPr/>
        </p:nvCxnSpPr>
        <p:spPr>
          <a:xfrm rot="5400000">
            <a:off x="9122789" y="4440511"/>
            <a:ext cx="45277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線箭頭接點 181">
            <a:extLst>
              <a:ext uri="{FF2B5EF4-FFF2-40B4-BE49-F238E27FC236}">
                <a16:creationId xmlns:a16="http://schemas.microsoft.com/office/drawing/2014/main" id="{E8C2832B-018B-87CD-185B-ED44E42EAA35}"/>
              </a:ext>
            </a:extLst>
          </p:cNvPr>
          <p:cNvCxnSpPr>
            <a:cxnSpLocks/>
          </p:cNvCxnSpPr>
          <p:nvPr/>
        </p:nvCxnSpPr>
        <p:spPr>
          <a:xfrm flipV="1">
            <a:off x="235729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線箭頭接點 183">
            <a:extLst>
              <a:ext uri="{FF2B5EF4-FFF2-40B4-BE49-F238E27FC236}">
                <a16:creationId xmlns:a16="http://schemas.microsoft.com/office/drawing/2014/main" id="{B58655A5-2AD5-C1FF-F6DB-4FD4F5B1BA27}"/>
              </a:ext>
            </a:extLst>
          </p:cNvPr>
          <p:cNvCxnSpPr>
            <a:cxnSpLocks/>
          </p:cNvCxnSpPr>
          <p:nvPr/>
        </p:nvCxnSpPr>
        <p:spPr>
          <a:xfrm flipV="1">
            <a:off x="482723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線箭頭接點 184">
            <a:extLst>
              <a:ext uri="{FF2B5EF4-FFF2-40B4-BE49-F238E27FC236}">
                <a16:creationId xmlns:a16="http://schemas.microsoft.com/office/drawing/2014/main" id="{243FABC1-0262-9E5F-1EBA-8F5206179AB0}"/>
              </a:ext>
            </a:extLst>
          </p:cNvPr>
          <p:cNvCxnSpPr>
            <a:cxnSpLocks/>
          </p:cNvCxnSpPr>
          <p:nvPr/>
        </p:nvCxnSpPr>
        <p:spPr>
          <a:xfrm flipV="1">
            <a:off x="7298169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線箭頭接點 185">
            <a:extLst>
              <a:ext uri="{FF2B5EF4-FFF2-40B4-BE49-F238E27FC236}">
                <a16:creationId xmlns:a16="http://schemas.microsoft.com/office/drawing/2014/main" id="{5522B9B3-0117-8A41-329A-39135A07FBD9}"/>
              </a:ext>
            </a:extLst>
          </p:cNvPr>
          <p:cNvCxnSpPr>
            <a:cxnSpLocks/>
          </p:cNvCxnSpPr>
          <p:nvPr/>
        </p:nvCxnSpPr>
        <p:spPr>
          <a:xfrm flipV="1">
            <a:off x="9674441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肘形接點 187">
            <a:extLst>
              <a:ext uri="{FF2B5EF4-FFF2-40B4-BE49-F238E27FC236}">
                <a16:creationId xmlns:a16="http://schemas.microsoft.com/office/drawing/2014/main" id="{E7C71E86-6469-6E64-8153-CE81BF7F38F0}"/>
              </a:ext>
            </a:extLst>
          </p:cNvPr>
          <p:cNvCxnSpPr>
            <a:stCxn id="126" idx="1"/>
            <a:endCxn id="149" idx="1"/>
          </p:cNvCxnSpPr>
          <p:nvPr/>
        </p:nvCxnSpPr>
        <p:spPr>
          <a:xfrm rot="10800000">
            <a:off x="2090593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肘形接點 189">
            <a:extLst>
              <a:ext uri="{FF2B5EF4-FFF2-40B4-BE49-F238E27FC236}">
                <a16:creationId xmlns:a16="http://schemas.microsoft.com/office/drawing/2014/main" id="{02EE5454-DA56-B30F-66F1-B0FDE85C0A15}"/>
              </a:ext>
            </a:extLst>
          </p:cNvPr>
          <p:cNvCxnSpPr/>
          <p:nvPr/>
        </p:nvCxnSpPr>
        <p:spPr>
          <a:xfrm rot="10800000">
            <a:off x="4560831" y="2895801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5B217B7A-650A-7D34-0839-21EBEA373035}"/>
              </a:ext>
            </a:extLst>
          </p:cNvPr>
          <p:cNvCxnSpPr/>
          <p:nvPr/>
        </p:nvCxnSpPr>
        <p:spPr>
          <a:xfrm rot="10800000">
            <a:off x="7030472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肘形接點 191">
            <a:extLst>
              <a:ext uri="{FF2B5EF4-FFF2-40B4-BE49-F238E27FC236}">
                <a16:creationId xmlns:a16="http://schemas.microsoft.com/office/drawing/2014/main" id="{29F9CFEF-21E2-60DD-53E3-BA7E5D373258}"/>
              </a:ext>
            </a:extLst>
          </p:cNvPr>
          <p:cNvCxnSpPr/>
          <p:nvPr/>
        </p:nvCxnSpPr>
        <p:spPr>
          <a:xfrm rot="10800000">
            <a:off x="9416986" y="2897118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01F2C50-9E43-DA7E-565C-C768C863CC75}"/>
              </a:ext>
            </a:extLst>
          </p:cNvPr>
          <p:cNvSpPr/>
          <p:nvPr/>
        </p:nvSpPr>
        <p:spPr>
          <a:xfrm>
            <a:off x="1891147" y="257048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/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blipFill>
                <a:blip r:embed="rId3"/>
                <a:stretch>
                  <a:fillRect l="-3247" t="-3846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/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zh-TW" altLang="en-US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i="1" kern="100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blipFill>
                <a:blip r:embed="rId4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/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blipFill>
                <a:blip r:embed="rId5"/>
                <a:stretch>
                  <a:fillRect b="-109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/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blipFill>
                <a:blip r:embed="rId6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/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blipFill>
                <a:blip r:embed="rId7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926EAE7-7EBC-106D-ADB2-46BA5926BAB6}"/>
              </a:ext>
            </a:extLst>
          </p:cNvPr>
          <p:cNvSpPr/>
          <p:nvPr/>
        </p:nvSpPr>
        <p:spPr>
          <a:xfrm>
            <a:off x="4341998" y="256801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019CF8-718B-DF6E-1087-DFD3F62E01B9}"/>
              </a:ext>
            </a:extLst>
          </p:cNvPr>
          <p:cNvSpPr/>
          <p:nvPr/>
        </p:nvSpPr>
        <p:spPr>
          <a:xfrm>
            <a:off x="6821790" y="2575439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96097D-F9D1-805F-EC75-8C9A943A2046}"/>
              </a:ext>
            </a:extLst>
          </p:cNvPr>
          <p:cNvSpPr/>
          <p:nvPr/>
        </p:nvSpPr>
        <p:spPr>
          <a:xfrm>
            <a:off x="9255836" y="2582799"/>
            <a:ext cx="777898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2016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/>
      <p:bldP spid="196" grpId="0"/>
      <p:bldP spid="197" grpId="0"/>
      <p:bldP spid="198" grpId="0"/>
      <p:bldP spid="199" grpId="0"/>
      <p:bldP spid="3" grpId="0" animBg="1"/>
      <p:bldP spid="6" grpId="0" animBg="1"/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47196-ECCE-00F8-584A-FAB1989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Why LN not BN?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77FB0B-9A84-544C-34FA-77B4002A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EB4FED7-7F4F-C291-97B1-81DE903B35DD}"/>
              </a:ext>
            </a:extLst>
          </p:cNvPr>
          <p:cNvSpPr txBox="1"/>
          <p:nvPr/>
        </p:nvSpPr>
        <p:spPr>
          <a:xfrm>
            <a:off x="653144" y="1953959"/>
            <a:ext cx="10918370" cy="1140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資料長度差距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模型實作表現差異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2495E54-EC25-32E9-93AD-DA42A7E6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456" y="2073283"/>
            <a:ext cx="7772400" cy="38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68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320069" y="5299787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7B5C01-EAB6-E0F6-1949-444BAF6391DB}"/>
              </a:ext>
            </a:extLst>
          </p:cNvPr>
          <p:cNvSpPr/>
          <p:nvPr/>
        </p:nvSpPr>
        <p:spPr>
          <a:xfrm>
            <a:off x="6634141" y="5299786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62369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Lack of Position Modeling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DF78245-9BF7-042E-A528-8DF142F96F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8757" y="1711920"/>
                <a:ext cx="4319081" cy="4023360"/>
              </a:xfrm>
            </p:spPr>
            <p:txBody>
              <a:bodyPr/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RNN processes sequences step-by-step.</a:t>
                </a:r>
                <a:endParaRPr kumimoji="1" lang="en-US" altLang="zh-TW" sz="1600" dirty="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n"/>
                </a:pPr>
                <a:r>
                  <a:rPr kumimoji="1" lang="en-US" altLang="zh-TW" dirty="0">
                    <a:solidFill>
                      <a:srgbClr val="FF000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However, in Transformers, we have no way to know the relative distance of one word to another! </a:t>
                </a:r>
              </a:p>
              <a:p>
                <a:pPr lvl="1">
                  <a:lnSpc>
                    <a:spcPct val="150000"/>
                  </a:lnSpc>
                  <a:buFont typeface="Wingdings" pitchFamily="2" charset="2"/>
                  <a:buChar char="n"/>
                </a:pPr>
                <a:r>
                  <a:rPr kumimoji="1" lang="en-US" altLang="zh-TW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The same word, eg. “Amy”, in the 2 sentences are encoded to the same </a:t>
                </a:r>
                <a14:m>
                  <m:oMath xmlns:m="http://schemas.openxmlformats.org/officeDocument/2006/math">
                    <m:r>
                      <a:rPr kumimoji="1" lang="en-US" altLang="zh-TW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kumimoji="1" lang="en-US" altLang="zh-TW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(</m:t>
                    </m:r>
                  </m:oMath>
                </a14:m>
                <a:r>
                  <a:rPr kumimoji="1" lang="en-US" altLang="zh-TW" dirty="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with the same weight matrices).  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DF78245-9BF7-042E-A528-8DF142F96F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8757" y="1711920"/>
                <a:ext cx="4319081" cy="4023360"/>
              </a:xfrm>
              <a:blipFill>
                <a:blip r:embed="rId3"/>
                <a:stretch>
                  <a:fillRect l="-3226" r="-38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314" name="Picture 2">
            <a:extLst>
              <a:ext uri="{FF2B5EF4-FFF2-40B4-BE49-F238E27FC236}">
                <a16:creationId xmlns:a16="http://schemas.microsoft.com/office/drawing/2014/main" id="{EF54391A-3D74-0DE4-B1EC-95EEE4317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11920"/>
            <a:ext cx="4923579" cy="494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CC822CA-CED2-6066-6A28-15BD538DDAB2}"/>
              </a:ext>
            </a:extLst>
          </p:cNvPr>
          <p:cNvSpPr/>
          <p:nvPr/>
        </p:nvSpPr>
        <p:spPr>
          <a:xfrm flipV="1">
            <a:off x="7600893" y="1826790"/>
            <a:ext cx="1467853" cy="51951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259E51B-3C6B-0416-2A87-F581F36C0282}"/>
              </a:ext>
            </a:extLst>
          </p:cNvPr>
          <p:cNvSpPr txBox="1"/>
          <p:nvPr/>
        </p:nvSpPr>
        <p:spPr>
          <a:xfrm>
            <a:off x="1089255" y="5529112"/>
            <a:ext cx="3988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Problematic because these 2 sentences convey different meanings, but same words are encoded identically!</a:t>
            </a:r>
            <a:endParaRPr kumimoji="1" lang="zh-TW" altLang="en-US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43597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Equations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308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653142" y="1756063"/>
            <a:ext cx="9155876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創造出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相對位置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核心精神：利用三角函數的週期性來建構序列資訊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偶數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2i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0, 1, …,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model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Sin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奇數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2i+1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0, 1, …,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model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Cosine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B5A69B-2C19-BD24-9448-29195020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012" y="4052850"/>
            <a:ext cx="4658591" cy="89044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E6F196F-C8B3-4018-5426-0BC154649F04}"/>
              </a:ext>
            </a:extLst>
          </p:cNvPr>
          <p:cNvSpPr txBox="1"/>
          <p:nvPr/>
        </p:nvSpPr>
        <p:spPr>
          <a:xfrm>
            <a:off x="2419400" y="5111714"/>
            <a:ext cx="3550203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輸入序列中任一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的位置</a:t>
            </a: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522B4799-4167-55A8-686C-6141ADD08D3E}"/>
              </a:ext>
            </a:extLst>
          </p:cNvPr>
          <p:cNvCxnSpPr/>
          <p:nvPr/>
        </p:nvCxnSpPr>
        <p:spPr>
          <a:xfrm>
            <a:off x="3671480" y="4405748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5CFD3839-658F-69D1-BF56-56504049DF0B}"/>
              </a:ext>
            </a:extLst>
          </p:cNvPr>
          <p:cNvCxnSpPr/>
          <p:nvPr/>
        </p:nvCxnSpPr>
        <p:spPr>
          <a:xfrm>
            <a:off x="3700934" y="4919049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512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Visualization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F4FFE725-9F04-0ACC-857D-AC5A2D64E8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865" y="1740085"/>
            <a:ext cx="9040090" cy="337783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293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1797627" y="5468496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Question: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為什麼需要同時有 </a:t>
            </a:r>
            <a:r>
              <a:rPr kumimoji="1" lang="en-US" altLang="zh-TW" dirty="0">
                <a:ea typeface="Microsoft JhengHei" panose="020B0604030504040204" pitchFamily="34" charset="-120"/>
              </a:rPr>
              <a:t>Sin</a:t>
            </a:r>
            <a:r>
              <a:rPr kumimoji="1" lang="zh-TW" altLang="en-US" dirty="0">
                <a:ea typeface="Microsoft JhengHei" panose="020B0604030504040204" pitchFamily="34" charset="-120"/>
              </a:rPr>
              <a:t> 和 </a:t>
            </a:r>
            <a:r>
              <a:rPr kumimoji="1" lang="en-US" altLang="zh-TW" dirty="0">
                <a:ea typeface="Microsoft JhengHei" panose="020B0604030504040204" pitchFamily="34" charset="-120"/>
              </a:rPr>
              <a:t>Cosine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的函數？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69A7344-3D29-8D6A-3F09-515FA8897D59}"/>
              </a:ext>
            </a:extLst>
          </p:cNvPr>
          <p:cNvSpPr txBox="1"/>
          <p:nvPr/>
        </p:nvSpPr>
        <p:spPr>
          <a:xfrm>
            <a:off x="1797627" y="5856443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Ans: </a:t>
            </a:r>
            <a:r>
              <a:rPr kumimoji="1" lang="zh-TW" altLang="en-US" dirty="0">
                <a:ea typeface="Microsoft JhengHei" panose="020B0604030504040204" pitchFamily="34" charset="-120"/>
              </a:rPr>
              <a:t>藉由不同週期性來捕捉序列中各個位置的關係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001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Encoder-Decoder</a:t>
            </a:r>
            <a:r>
              <a:rPr kumimoji="1" lang="zh-TW" altLang="en-US" dirty="0">
                <a:cs typeface="Calibri" panose="020F0502020204030204" pitchFamily="34" charset="0"/>
              </a:rPr>
              <a:t> 橋樑</a:t>
            </a:r>
            <a:r>
              <a:rPr kumimoji="1" lang="en-US" altLang="zh-TW" dirty="0">
                <a:cs typeface="Calibri" panose="020F0502020204030204" pitchFamily="34" charset="0"/>
              </a:rPr>
              <a:t>: 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43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68F626-3EFA-CCD9-2F9E-28233A46C231}"/>
              </a:ext>
            </a:extLst>
          </p:cNvPr>
          <p:cNvSpPr txBox="1"/>
          <p:nvPr/>
        </p:nvSpPr>
        <p:spPr>
          <a:xfrm>
            <a:off x="2520778" y="3797346"/>
            <a:ext cx="6098058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This is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E7C3D80-D57C-1557-2C48-EE4EE6EDA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778" y="1011981"/>
            <a:ext cx="8810326" cy="7909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C7C21DC-31DB-E831-86F3-CD4FF1E94951}"/>
              </a:ext>
            </a:extLst>
          </p:cNvPr>
          <p:cNvSpPr/>
          <p:nvPr/>
        </p:nvSpPr>
        <p:spPr>
          <a:xfrm>
            <a:off x="2520778" y="4500563"/>
            <a:ext cx="951085" cy="27140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25DD7B-D812-7B41-1ED3-2B76B17E4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155" y="5872381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863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E6448A1-8B39-1A28-B6AC-06E8DB0CBE24}"/>
              </a:ext>
            </a:extLst>
          </p:cNvPr>
          <p:cNvSpPr/>
          <p:nvPr/>
        </p:nvSpPr>
        <p:spPr>
          <a:xfrm>
            <a:off x="1231641" y="1810139"/>
            <a:ext cx="6792686" cy="48985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1732106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1724700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396514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06123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473304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653773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20954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9233080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/>
              <a:t>q</a:t>
            </a:r>
            <a:r>
              <a:rPr kumimoji="1" lang="en-US" altLang="zh-TW" sz="2000" baseline="-25000"/>
              <a:t>1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8597358" y="5652179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0247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649351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19274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1703420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1678924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03995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651256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307249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06864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4594635" y="6113844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654514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107580" y="6113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247892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9806801" y="612054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BOS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236820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457335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04596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907E6D7-06F2-F9E2-2962-8A4B5F94371F}"/>
              </a:ext>
            </a:extLst>
          </p:cNvPr>
          <p:cNvSpPr txBox="1"/>
          <p:nvPr/>
        </p:nvSpPr>
        <p:spPr>
          <a:xfrm>
            <a:off x="3729721" y="1413289"/>
            <a:ext cx="1796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Encoder</a:t>
            </a:r>
            <a:endParaRPr kumimoji="1" lang="zh-TW" altLang="en-US" sz="2000" b="1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D0B05900-430A-61A5-54B3-10167885F80D}"/>
              </a:ext>
            </a:extLst>
          </p:cNvPr>
          <p:cNvSpPr/>
          <p:nvPr/>
        </p:nvSpPr>
        <p:spPr>
          <a:xfrm>
            <a:off x="9233080" y="1983370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h'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BE6C3D03-4055-4556-6F8C-9498C1DA9B0C}"/>
              </a:ext>
            </a:extLst>
          </p:cNvPr>
          <p:cNvCxnSpPr>
            <a:stCxn id="36" idx="0"/>
            <a:endCxn id="39" idx="0"/>
          </p:cNvCxnSpPr>
          <p:nvPr/>
        </p:nvCxnSpPr>
        <p:spPr>
          <a:xfrm rot="5400000" flipH="1" flipV="1">
            <a:off x="3138387" y="1936883"/>
            <a:ext cx="1" cy="2336535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7CE2DE16-F127-88EE-FF5B-3599AC4D7B61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5400000" flipH="1" flipV="1">
            <a:off x="5542962" y="1868842"/>
            <a:ext cx="12700" cy="2472614"/>
          </a:xfrm>
          <a:prstGeom prst="bentConnector3">
            <a:avLst>
              <a:gd name="adj1" fmla="val 187347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接點 37">
            <a:extLst>
              <a:ext uri="{FF2B5EF4-FFF2-40B4-BE49-F238E27FC236}">
                <a16:creationId xmlns:a16="http://schemas.microsoft.com/office/drawing/2014/main" id="{66EC57B1-65AC-6393-1C96-63746C3C0F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41576" y="423933"/>
            <a:ext cx="346122" cy="4570285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AD1873D6-DB42-69CC-9FB4-00D36A05E0B0}"/>
              </a:ext>
            </a:extLst>
          </p:cNvPr>
          <p:cNvSpPr txBox="1"/>
          <p:nvPr/>
        </p:nvSpPr>
        <p:spPr>
          <a:xfrm>
            <a:off x="6940334" y="238075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5174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6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2" descr="Original transformer model architecture.">
            <a:extLst>
              <a:ext uri="{FF2B5EF4-FFF2-40B4-BE49-F238E27FC236}">
                <a16:creationId xmlns:a16="http://schemas.microsoft.com/office/drawing/2014/main" id="{5FEA1F66-CAD3-705C-D8C2-5EE8DF0DD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853" y="462437"/>
            <a:ext cx="4196208" cy="56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AB15857-0DB9-8CEA-0EAC-40E5E5AEFCD4}"/>
              </a:ext>
            </a:extLst>
          </p:cNvPr>
          <p:cNvSpPr txBox="1"/>
          <p:nvPr/>
        </p:nvSpPr>
        <p:spPr>
          <a:xfrm>
            <a:off x="8448272" y="1744762"/>
            <a:ext cx="21926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60E25F-5259-576F-9BDF-7019CC4A4FA0}"/>
              </a:ext>
            </a:extLst>
          </p:cNvPr>
          <p:cNvSpPr/>
          <p:nvPr/>
        </p:nvSpPr>
        <p:spPr>
          <a:xfrm>
            <a:off x="4827853" y="2452648"/>
            <a:ext cx="2003580" cy="221435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/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input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blipFill>
                <a:blip r:embed="rId4"/>
                <a:stretch>
                  <a:fillRect l="-3077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/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TW" b="0" i="0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utput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blipFill>
                <a:blip r:embed="rId5"/>
                <a:stretch>
                  <a:fillRect l="-3356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CC8B8A0D-B071-0312-F4A1-FA1EB69D24BE}"/>
              </a:ext>
            </a:extLst>
          </p:cNvPr>
          <p:cNvSpPr txBox="1"/>
          <p:nvPr/>
        </p:nvSpPr>
        <p:spPr>
          <a:xfrm>
            <a:off x="1474122" y="2682662"/>
            <a:ext cx="2374350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Input, output dimension match! </a:t>
            </a:r>
          </a:p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We can have multiple encoders stacked up, to increase the number of trainable parameters.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D8D7EF1-351B-7E6A-959F-805DFB1C6F46}"/>
              </a:ext>
            </a:extLst>
          </p:cNvPr>
          <p:cNvSpPr txBox="1"/>
          <p:nvPr/>
        </p:nvSpPr>
        <p:spPr>
          <a:xfrm>
            <a:off x="4052100" y="3199402"/>
            <a:ext cx="8162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3600" dirty="0">
                <a:solidFill>
                  <a:srgbClr val="FF9300"/>
                </a:solidFill>
              </a:rPr>
              <a:t>N *</a:t>
            </a:r>
            <a:endParaRPr kumimoji="1" lang="zh-TW" altLang="en-US" sz="3600" dirty="0">
              <a:solidFill>
                <a:srgbClr val="FF9300"/>
              </a:solidFill>
            </a:endParaRPr>
          </a:p>
        </p:txBody>
      </p:sp>
      <p:sp>
        <p:nvSpPr>
          <p:cNvPr id="13" name="標題 8">
            <a:extLst>
              <a:ext uri="{FF2B5EF4-FFF2-40B4-BE49-F238E27FC236}">
                <a16:creationId xmlns:a16="http://schemas.microsoft.com/office/drawing/2014/main" id="{96E5584D-C873-0246-547C-D2130791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Number of Layers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06403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780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5169161" y="3741576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F1798C-4899-A3A5-9634-D1AB6AC6C4CE}"/>
              </a:ext>
            </a:extLst>
          </p:cNvPr>
          <p:cNvSpPr/>
          <p:nvPr/>
        </p:nvSpPr>
        <p:spPr>
          <a:xfrm>
            <a:off x="6403912" y="2904931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A15AA51-89E7-A906-92F6-D0501CDE4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260" y="2030887"/>
            <a:ext cx="3489649" cy="24385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Feed Forward Networks: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Simply multiply by a weight matrix (MLP).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Used to project to a specific dimension.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0792B1-FEC6-F57C-965C-7B83786DFF15}"/>
              </a:ext>
            </a:extLst>
          </p:cNvPr>
          <p:cNvSpPr/>
          <p:nvPr/>
        </p:nvSpPr>
        <p:spPr>
          <a:xfrm>
            <a:off x="6403911" y="2295330"/>
            <a:ext cx="858417" cy="2546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5194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47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3186573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A3F028-993D-F301-8C72-D86DFC09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Transformers’ Achievements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EBF71A-B981-E505-92D2-44EEB882F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115203" cy="4023360"/>
          </a:xfrm>
        </p:spPr>
        <p:txBody>
          <a:bodyPr/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1. In original paper, State-of-The-Art (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SoTA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) of machine translation. </a:t>
            </a:r>
          </a:p>
          <a:p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11D3E9-934D-9932-2A91-F9E4C2AA2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48</a:t>
            </a:fld>
            <a:endParaRPr 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4A17411-B717-645A-8507-E025B5B84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53980"/>
            <a:ext cx="7772400" cy="352348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42F3EFA5-FF43-F60E-C8CB-8C8F06602276}"/>
              </a:ext>
            </a:extLst>
          </p:cNvPr>
          <p:cNvSpPr txBox="1"/>
          <p:nvPr/>
        </p:nvSpPr>
        <p:spPr>
          <a:xfrm>
            <a:off x="2644685" y="5849295"/>
            <a:ext cx="79117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BD2B3E-ECBF-1D19-A7BD-E65A9B1A98FD}"/>
              </a:ext>
            </a:extLst>
          </p:cNvPr>
          <p:cNvSpPr txBox="1"/>
          <p:nvPr/>
        </p:nvSpPr>
        <p:spPr>
          <a:xfrm>
            <a:off x="2644685" y="6021103"/>
            <a:ext cx="60979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https://</a:t>
            </a:r>
            <a:r>
              <a:rPr lang="en-US" altLang="zh-TW" sz="1200" b="0" i="0" dirty="0" err="1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arxiv.org</a:t>
            </a:r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/abs/1706.03762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ADC889A-8EAE-1581-53D1-1AA1EE7FD6AF}"/>
              </a:ext>
            </a:extLst>
          </p:cNvPr>
          <p:cNvSpPr txBox="1"/>
          <p:nvPr/>
        </p:nvSpPr>
        <p:spPr>
          <a:xfrm>
            <a:off x="830878" y="5210332"/>
            <a:ext cx="1721922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1024, 300K train steps.</a:t>
            </a:r>
            <a:endParaRPr kumimoji="1" lang="zh-TW" altLang="en-US" sz="1400" dirty="0">
              <a:ln w="0"/>
              <a:solidFill>
                <a:sysClr val="windowText" lastClr="00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8D4DD5A-E706-B6F0-57ED-174E30069FCA}"/>
              </a:ext>
            </a:extLst>
          </p:cNvPr>
          <p:cNvCxnSpPr>
            <a:stCxn id="12" idx="3"/>
          </p:cNvCxnSpPr>
          <p:nvPr/>
        </p:nvCxnSpPr>
        <p:spPr>
          <a:xfrm>
            <a:off x="2552800" y="5687386"/>
            <a:ext cx="2379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C871A64-8FAB-C83E-4517-3E3017EF0ABA}"/>
              </a:ext>
            </a:extLst>
          </p:cNvPr>
          <p:cNvSpPr txBox="1"/>
          <p:nvPr/>
        </p:nvSpPr>
        <p:spPr>
          <a:xfrm>
            <a:off x="830878" y="4094317"/>
            <a:ext cx="1721922" cy="95410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512, 100K train steps.</a:t>
            </a:r>
            <a:endParaRPr kumimoji="1" lang="zh-TW" altLang="en-US" sz="1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F4CF4AA-1081-43CF-B15C-05EF6938393B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2552800" y="4571371"/>
            <a:ext cx="237901" cy="9115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40600898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7C726B-1C00-4F26-0746-371876643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 Variants </a:t>
            </a:r>
            <a:r>
              <a:rPr kumimoji="1" lang="en-US" altLang="zh-TW" sz="2800" dirty="0">
                <a:latin typeface="Calibri" panose="020F0502020204030204" pitchFamily="34" charset="0"/>
                <a:cs typeface="Calibri" panose="020F0502020204030204" pitchFamily="34" charset="0"/>
              </a:rPr>
              <a:t>(there are many more)</a:t>
            </a:r>
            <a:endParaRPr kumimoji="1" lang="zh-TW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502E08-6439-3441-5CA6-525857B6C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Universal Transformer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Adds Adaptive Computation Time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Dehghani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Mostafa, et al. "Universal transformers."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arXiv:1807.03819 (2018).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Tackles long documents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Iz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Beltagy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(2020).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The Long-Document Transformer. arXiv:2004.05150.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Changes the design of positional encoding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Su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Jianlin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"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Enhanced Transformer with Rotary Position Embedding.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CoRR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abs/2104.09864 (2021)."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arXiv:2104.09864 (2021).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Vision Transformer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Tackles vision tasks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Alexey </a:t>
            </a:r>
            <a:r>
              <a:rPr lang="en-US" altLang="zh-TW" dirty="0" err="1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Dosovitskiy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et al. “An Image is Worth 16x16 Words: Transformers for Image Recognition at Scale.” International Conference on Learning Representations. 2021.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itchFamily="2" charset="2"/>
              <a:buChar char="n"/>
            </a:pP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F75FD5-AF41-3278-FC08-A0E2F4C06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23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15B755-B59E-78F1-C229-3D5EFC27A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Tokens vs. words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515392-0725-C712-355C-3FAE0FA4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57E3D11-EF8F-B3E9-3530-C5B1CBFAB6A1}"/>
              </a:ext>
            </a:extLst>
          </p:cNvPr>
          <p:cNvSpPr txBox="1"/>
          <p:nvPr/>
        </p:nvSpPr>
        <p:spPr>
          <a:xfrm>
            <a:off x="653143" y="1586847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token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語言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模型在每個時間點處理的單位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是語言本身的單位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可以是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word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，也可以是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sub-word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一個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可以是一個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，但單純講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token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不一定指的是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F6DF830-9CDD-8C5F-45AB-545D9E97A30F}"/>
              </a:ext>
            </a:extLst>
          </p:cNvPr>
          <p:cNvSpPr/>
          <p:nvPr/>
        </p:nvSpPr>
        <p:spPr>
          <a:xfrm>
            <a:off x="4172216" y="5387236"/>
            <a:ext cx="884809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world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C399350-9E98-3C71-6579-A9282FDBCF35}"/>
              </a:ext>
            </a:extLst>
          </p:cNvPr>
          <p:cNvSpPr/>
          <p:nvPr/>
        </p:nvSpPr>
        <p:spPr>
          <a:xfrm>
            <a:off x="3106416" y="538723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Hello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1F3B38E-2962-C25B-1533-E0C05B928326}"/>
              </a:ext>
            </a:extLst>
          </p:cNvPr>
          <p:cNvSpPr/>
          <p:nvPr/>
        </p:nvSpPr>
        <p:spPr>
          <a:xfrm>
            <a:off x="2040618" y="538723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print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62DCC137-6940-EAB5-275A-5ED12D2AAE70}"/>
              </a:ext>
            </a:extLst>
          </p:cNvPr>
          <p:cNvSpPr/>
          <p:nvPr/>
        </p:nvSpPr>
        <p:spPr>
          <a:xfrm>
            <a:off x="9878400" y="5380881"/>
            <a:ext cx="861974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world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FF3ACD9-FB05-147F-476F-3029E94C9C8E}"/>
              </a:ext>
            </a:extLst>
          </p:cNvPr>
          <p:cNvSpPr/>
          <p:nvPr/>
        </p:nvSpPr>
        <p:spPr>
          <a:xfrm>
            <a:off x="8679092" y="5380881"/>
            <a:ext cx="66218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Hell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EBCC73-E148-0868-C72C-3953BCDB6701}"/>
              </a:ext>
            </a:extLst>
          </p:cNvPr>
          <p:cNvSpPr/>
          <p:nvPr/>
        </p:nvSpPr>
        <p:spPr>
          <a:xfrm>
            <a:off x="7973198" y="5385118"/>
            <a:ext cx="6245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7A9E4AFB-C680-BFD6-72FB-E3E8199DBE54}"/>
              </a:ext>
            </a:extLst>
          </p:cNvPr>
          <p:cNvSpPr/>
          <p:nvPr/>
        </p:nvSpPr>
        <p:spPr>
          <a:xfrm>
            <a:off x="6749166" y="5385118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7E48A54A-A1AA-CA19-190E-CDAD65D44FD5}"/>
              </a:ext>
            </a:extLst>
          </p:cNvPr>
          <p:cNvSpPr/>
          <p:nvPr/>
        </p:nvSpPr>
        <p:spPr>
          <a:xfrm>
            <a:off x="9422466" y="5380881"/>
            <a:ext cx="37474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E229539-8745-33ED-9FB1-D1781B059636}"/>
              </a:ext>
            </a:extLst>
          </p:cNvPr>
          <p:cNvSpPr/>
          <p:nvPr/>
        </p:nvSpPr>
        <p:spPr>
          <a:xfrm>
            <a:off x="7260210" y="5386398"/>
            <a:ext cx="6468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 err="1">
                <a:solidFill>
                  <a:schemeClr val="tx1"/>
                </a:solidFill>
              </a:rPr>
              <a:t>prin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482C3455-2051-ABB5-428F-CC2222CA7A7A}"/>
              </a:ext>
            </a:extLst>
          </p:cNvPr>
          <p:cNvSpPr/>
          <p:nvPr/>
        </p:nvSpPr>
        <p:spPr>
          <a:xfrm>
            <a:off x="1529574" y="5382999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176BEA7-D296-7561-C83D-7A2725B15E24}"/>
              </a:ext>
            </a:extLst>
          </p:cNvPr>
          <p:cNvSpPr txBox="1"/>
          <p:nvPr/>
        </p:nvSpPr>
        <p:spPr>
          <a:xfrm>
            <a:off x="1600012" y="4703550"/>
            <a:ext cx="33178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Traditional word tokenization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F0BE53B-65E6-B251-E39D-9B5D2B8F7AEC}"/>
              </a:ext>
            </a:extLst>
          </p:cNvPr>
          <p:cNvSpPr txBox="1"/>
          <p:nvPr/>
        </p:nvSpPr>
        <p:spPr>
          <a:xfrm>
            <a:off x="7345238" y="4703550"/>
            <a:ext cx="2667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Sub-word Tokenization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FD811F4-CF95-0F0A-998B-13F3617D02FD}"/>
              </a:ext>
            </a:extLst>
          </p:cNvPr>
          <p:cNvSpPr txBox="1"/>
          <p:nvPr/>
        </p:nvSpPr>
        <p:spPr>
          <a:xfrm>
            <a:off x="7372386" y="6156668"/>
            <a:ext cx="265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Transformer</a:t>
            </a:r>
            <a:r>
              <a:rPr kumimoji="1" lang="zh-TW" altLang="en-US" dirty="0">
                <a:solidFill>
                  <a:srgbClr val="FF0000"/>
                </a:solidFill>
              </a:rPr>
              <a:t> 採用此方式</a:t>
            </a:r>
          </a:p>
        </p:txBody>
      </p:sp>
    </p:spTree>
    <p:extLst>
      <p:ext uri="{BB962C8B-B14F-4D97-AF65-F5344CB8AC3E}">
        <p14:creationId xmlns:p14="http://schemas.microsoft.com/office/powerpoint/2010/main" val="5269531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EEEA3-0BCC-9E2B-66DF-C3F22B19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r>
              <a:rPr kumimoji="1" lang="zh-TW" altLang="en-US" dirty="0"/>
              <a:t> 架構常用於現代</a:t>
            </a:r>
            <a:r>
              <a:rPr kumimoji="1" lang="en-US" altLang="zh-TW" dirty="0"/>
              <a:t> AI </a:t>
            </a:r>
            <a:r>
              <a:rPr kumimoji="1" lang="zh-TW" altLang="en-US" dirty="0"/>
              <a:t>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38ECEB-E461-F405-08AF-BBD30D6FF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51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F2EB2-6F05-E173-ADF7-F273D8A8C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8243" y="2612572"/>
            <a:ext cx="1822278" cy="303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DCC39C4-31D1-7D67-F204-9A314EF294B9}"/>
              </a:ext>
            </a:extLst>
          </p:cNvPr>
          <p:cNvSpPr txBox="1"/>
          <p:nvPr/>
        </p:nvSpPr>
        <p:spPr>
          <a:xfrm>
            <a:off x="653143" y="2257205"/>
            <a:ext cx="4627984" cy="234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sz="2000" dirty="0"/>
              <a:t>For example: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3"/>
              </a:rPr>
              <a:t>Devlin et al., 2018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GPT series</a:t>
            </a:r>
            <a:endParaRPr kumimoji="1" lang="zh-TW" altLang="en-US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0A49A49-DDFB-27EB-4B47-7324B570C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6703" y="1548882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2D3EF54-78A3-9F8F-16DB-7E94E0724720}"/>
              </a:ext>
            </a:extLst>
          </p:cNvPr>
          <p:cNvSpPr/>
          <p:nvPr/>
        </p:nvSpPr>
        <p:spPr>
          <a:xfrm>
            <a:off x="7756703" y="3237726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08EEEA7-230D-3111-16CC-0F5AE58AFFE6}"/>
              </a:ext>
            </a:extLst>
          </p:cNvPr>
          <p:cNvSpPr txBox="1"/>
          <p:nvPr/>
        </p:nvSpPr>
        <p:spPr>
          <a:xfrm>
            <a:off x="6586864" y="4662588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D20F2A0-3E29-A390-9125-9D6796EB4891}"/>
              </a:ext>
            </a:extLst>
          </p:cNvPr>
          <p:cNvSpPr txBox="1"/>
          <p:nvPr/>
        </p:nvSpPr>
        <p:spPr>
          <a:xfrm>
            <a:off x="6806722" y="4251992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BD3EBD-5F95-B31A-8A6B-4624EC80C199}"/>
              </a:ext>
            </a:extLst>
          </p:cNvPr>
          <p:cNvSpPr txBox="1"/>
          <p:nvPr/>
        </p:nvSpPr>
        <p:spPr>
          <a:xfrm>
            <a:off x="5401514" y="5691673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369921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3494F-1C3B-3D6B-A72E-E48366CA9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565246-5560-F81C-59D7-7A88C4F9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8A1C55F-1531-41D1-3ADF-3B915E461B49}"/>
              </a:ext>
            </a:extLst>
          </p:cNvPr>
          <p:cNvSpPr txBox="1"/>
          <p:nvPr/>
        </p:nvSpPr>
        <p:spPr>
          <a:xfrm>
            <a:off x="653144" y="1806093"/>
            <a:ext cx="10918370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nlp.seas.harvard.edu</a:t>
            </a:r>
            <a:r>
              <a:rPr kumimoji="1" lang="en-US" altLang="zh-TW" sz="2400" dirty="0"/>
              <a:t>/annotated-transformer/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datascience.stackexchange.com</a:t>
            </a:r>
            <a:r>
              <a:rPr kumimoji="1" lang="en-US" altLang="zh-TW" sz="2400" dirty="0"/>
              <a:t>/questions/82451/why-is-10000-used-as-the-denominator-in-positional-encodings-in-the-transformer</a:t>
            </a:r>
          </a:p>
        </p:txBody>
      </p:sp>
    </p:spTree>
    <p:extLst>
      <p:ext uri="{BB962C8B-B14F-4D97-AF65-F5344CB8AC3E}">
        <p14:creationId xmlns:p14="http://schemas.microsoft.com/office/powerpoint/2010/main" val="27739329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Announcements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247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4BB2F-EC1F-1942-C5BA-BF2D8C862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Project checkpoints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C906AD-7CDC-C0A3-BEBF-A34A414C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6A18D-6FA5-9047-5902-5DC0B4DDE78C}"/>
              </a:ext>
            </a:extLst>
          </p:cNvPr>
          <p:cNvSpPr txBox="1"/>
          <p:nvPr/>
        </p:nvSpPr>
        <p:spPr>
          <a:xfrm>
            <a:off x="653144" y="1806093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>
                <a:ea typeface="Microsoft JhengHei" panose="020B0604030504040204" pitchFamily="34" charset="-120"/>
              </a:rPr>
              <a:t>Week 9: </a:t>
            </a:r>
            <a:r>
              <a:rPr kumimoji="1" lang="zh-TW" altLang="en-US" sz="2400" strike="sngStrike" dirty="0">
                <a:ea typeface="Microsoft JhengHei" panose="020B0604030504040204" pitchFamily="34" charset="-120"/>
              </a:rPr>
              <a:t>確定各組的題目</a:t>
            </a:r>
            <a:endParaRPr kumimoji="1" lang="en-US" altLang="zh-TW" sz="2400" strike="sngStrike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Week 12: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PPT (5 pages)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14: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PPT (5+5 pages), Presentations (selected teams)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Final presentations for all 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16-17: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繳交書面報告以及程式碼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9916074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281933"/>
              </p:ext>
            </p:extLst>
          </p:nvPr>
        </p:nvGraphicFramePr>
        <p:xfrm>
          <a:off x="653142" y="2304626"/>
          <a:ext cx="10700657" cy="3255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6818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70687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58533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12)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 pages)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7866771"/>
                  </a:ext>
                </a:extLst>
              </a:tr>
              <a:tr h="7261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14)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(5+5 pages*)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Selected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取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題目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於課堂中報告，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10min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711125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含程式碼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、小平台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(optional)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80A544A-B20C-DC01-EA74-C3212CC709C5}"/>
              </a:ext>
            </a:extLst>
          </p:cNvPr>
          <p:cNvSpPr txBox="1"/>
          <p:nvPr/>
        </p:nvSpPr>
        <p:spPr>
          <a:xfrm>
            <a:off x="653142" y="56885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</a:t>
            </a:r>
            <a:r>
              <a:rPr lang="zh-TW" altLang="en-US" dirty="0">
                <a:ea typeface="Microsoft JhengHei" panose="020B0604030504040204" pitchFamily="34" charset="-120"/>
              </a:rPr>
              <a:t>繼承</a:t>
            </a:r>
            <a:r>
              <a:rPr lang="en" altLang="zh-TW" dirty="0">
                <a:ea typeface="Microsoft JhengHei" panose="020B0604030504040204" pitchFamily="34" charset="-120"/>
              </a:rPr>
              <a:t>Checkpoint1</a:t>
            </a:r>
            <a:r>
              <a:rPr lang="zh-TW" altLang="en-US" dirty="0">
                <a:ea typeface="Microsoft JhengHei" panose="020B0604030504040204" pitchFamily="34" charset="-120"/>
              </a:rPr>
              <a:t>內容</a:t>
            </a:r>
            <a:r>
              <a:rPr lang="en-US" altLang="zh-TW" dirty="0">
                <a:ea typeface="Microsoft JhengHei" panose="020B0604030504040204" pitchFamily="34" charset="-120"/>
              </a:rPr>
              <a:t>+</a:t>
            </a:r>
            <a:r>
              <a:rPr lang="zh-TW" altLang="en-US" dirty="0">
                <a:ea typeface="Microsoft JhengHei" panose="020B0604030504040204" pitchFamily="34" charset="-120"/>
              </a:rPr>
              <a:t>實作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2" y="180348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40%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8697</TotalTime>
  <Words>3026</Words>
  <Application>Microsoft Macintosh PowerPoint</Application>
  <PresentationFormat>寬螢幕</PresentationFormat>
  <Paragraphs>970</Paragraphs>
  <Slides>56</Slides>
  <Notes>28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56</vt:i4>
      </vt:variant>
    </vt:vector>
  </HeadingPairs>
  <TitlesOfParts>
    <vt:vector size="65" baseType="lpstr">
      <vt:lpstr>Microsoft JhengHei</vt:lpstr>
      <vt:lpstr>新細明體</vt:lpstr>
      <vt:lpstr>PingFang TC</vt:lpstr>
      <vt:lpstr>Arial</vt:lpstr>
      <vt:lpstr>Calibri</vt:lpstr>
      <vt:lpstr>Cambria Math</vt:lpstr>
      <vt:lpstr>Courier New</vt:lpstr>
      <vt:lpstr>Wingdings</vt:lpstr>
      <vt:lpstr>回顧</vt:lpstr>
      <vt:lpstr>深度學習 Deep Learning</vt:lpstr>
      <vt:lpstr>Outline</vt:lpstr>
      <vt:lpstr>[Recap] Recurrent Neural Networks (RNN)</vt:lpstr>
      <vt:lpstr>[Recap] Text Generation with RNN</vt:lpstr>
      <vt:lpstr>[Recap] RNN 的記憶力意義</vt:lpstr>
      <vt:lpstr>序列模型 (Sequential Model)</vt:lpstr>
      <vt:lpstr>為什麼我們需要序列模型?</vt:lpstr>
      <vt:lpstr>深度學習常見模型架構</vt:lpstr>
      <vt:lpstr>RNN 與 CNN 作為序列模型的問題</vt:lpstr>
      <vt:lpstr>Encoder and Decoder</vt:lpstr>
      <vt:lpstr>Transformer</vt:lpstr>
      <vt:lpstr>Overview of Transformer</vt:lpstr>
      <vt:lpstr>Outline of Transformer</vt:lpstr>
      <vt:lpstr>Transformer</vt:lpstr>
      <vt:lpstr>Query (Q), Key (K), and Value (V)</vt:lpstr>
      <vt:lpstr>Query (Q), Key (K), and Value (V)</vt:lpstr>
      <vt:lpstr>QKV 的比喻</vt:lpstr>
      <vt:lpstr>為什麼 Transformers 可以平行化？</vt:lpstr>
      <vt:lpstr>Transformers 的權重值 (1/2)</vt:lpstr>
      <vt:lpstr>Transformers 的權重值 (2/2)</vt:lpstr>
      <vt:lpstr>Self-attention 的公式與縮放項</vt:lpstr>
      <vt:lpstr>Query (Q), Key (K), and Value (V)</vt:lpstr>
      <vt:lpstr>Query (Q), Key (K), and Value (V)</vt:lpstr>
      <vt:lpstr>Self-attention 動畫</vt:lpstr>
      <vt:lpstr>PowerPoint 簡報</vt:lpstr>
      <vt:lpstr>Multi-Head Attention (MHA)</vt:lpstr>
      <vt:lpstr>Multi-Head Attention (MHA)</vt:lpstr>
      <vt:lpstr>Query (Q), Key (K), and Value (V) with MHA</vt:lpstr>
      <vt:lpstr>Query (Q), Key (K), and Value (V) with MHA</vt:lpstr>
      <vt:lpstr>Input Dimensions of MHA</vt:lpstr>
      <vt:lpstr>Output Dimensions</vt:lpstr>
      <vt:lpstr>MHA 比較好嗎？</vt:lpstr>
      <vt:lpstr>Summary of MHA</vt:lpstr>
      <vt:lpstr>Outline of Transformer</vt:lpstr>
      <vt:lpstr>Add &amp; Norm</vt:lpstr>
      <vt:lpstr>Add &amp; Norm</vt:lpstr>
      <vt:lpstr>Add &amp; Norm</vt:lpstr>
      <vt:lpstr>Why LN not BN? </vt:lpstr>
      <vt:lpstr>Outline of Transformer</vt:lpstr>
      <vt:lpstr>Lack of Position Modeling</vt:lpstr>
      <vt:lpstr>Positional Encoding Equations</vt:lpstr>
      <vt:lpstr>Positional Encoding Visualization</vt:lpstr>
      <vt:lpstr>Encoder-Decoder 橋樑: Cross-Attention</vt:lpstr>
      <vt:lpstr>Cross-attention</vt:lpstr>
      <vt:lpstr>Number of Layers</vt:lpstr>
      <vt:lpstr>Outline of Transformer</vt:lpstr>
      <vt:lpstr>[Recap] Text Generation with RNN</vt:lpstr>
      <vt:lpstr>Transformers’ Achievements</vt:lpstr>
      <vt:lpstr>Transformer Variants (there are many more)</vt:lpstr>
      <vt:lpstr>Tokens vs. words</vt:lpstr>
      <vt:lpstr>Transformer 架構常用於現代 AI 模型</vt:lpstr>
      <vt:lpstr>Additional Links</vt:lpstr>
      <vt:lpstr>Announcements</vt:lpstr>
      <vt:lpstr>Project checkpoints</vt:lpstr>
      <vt:lpstr>Project 各個階段分數佔比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1487</cp:revision>
  <dcterms:created xsi:type="dcterms:W3CDTF">2025-02-06T07:16:08Z</dcterms:created>
  <dcterms:modified xsi:type="dcterms:W3CDTF">2025-11-06T15:58:12Z</dcterms:modified>
</cp:coreProperties>
</file>