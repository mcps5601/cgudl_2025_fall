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8"/>
  </p:notesMasterIdLst>
  <p:sldIdLst>
    <p:sldId id="264" r:id="rId2"/>
    <p:sldId id="518" r:id="rId3"/>
    <p:sldId id="665" r:id="rId4"/>
    <p:sldId id="668" r:id="rId5"/>
    <p:sldId id="698" r:id="rId6"/>
    <p:sldId id="699" r:id="rId7"/>
    <p:sldId id="700" r:id="rId8"/>
    <p:sldId id="681" r:id="rId9"/>
    <p:sldId id="701" r:id="rId10"/>
    <p:sldId id="631" r:id="rId11"/>
    <p:sldId id="703" r:id="rId12"/>
    <p:sldId id="709" r:id="rId13"/>
    <p:sldId id="710" r:id="rId14"/>
    <p:sldId id="521" r:id="rId15"/>
    <p:sldId id="523" r:id="rId16"/>
    <p:sldId id="706" r:id="rId17"/>
    <p:sldId id="285" r:id="rId18"/>
    <p:sldId id="526" r:id="rId19"/>
    <p:sldId id="528" r:id="rId20"/>
    <p:sldId id="529" r:id="rId21"/>
    <p:sldId id="704" r:id="rId22"/>
    <p:sldId id="707" r:id="rId23"/>
    <p:sldId id="708" r:id="rId24"/>
    <p:sldId id="702" r:id="rId25"/>
    <p:sldId id="520" r:id="rId26"/>
    <p:sldId id="525" r:id="rId27"/>
    <p:sldId id="527" r:id="rId28"/>
    <p:sldId id="530" r:id="rId29"/>
    <p:sldId id="531" r:id="rId30"/>
    <p:sldId id="532" r:id="rId31"/>
    <p:sldId id="533" r:id="rId32"/>
    <p:sldId id="662" r:id="rId33"/>
    <p:sldId id="325" r:id="rId34"/>
    <p:sldId id="711" r:id="rId35"/>
    <p:sldId id="331" r:id="rId36"/>
    <p:sldId id="333" r:id="rId37"/>
    <p:sldId id="650" r:id="rId38"/>
    <p:sldId id="667" r:id="rId39"/>
    <p:sldId id="712" r:id="rId40"/>
    <p:sldId id="300" r:id="rId41"/>
    <p:sldId id="654" r:id="rId42"/>
    <p:sldId id="653" r:id="rId43"/>
    <p:sldId id="334" r:id="rId44"/>
    <p:sldId id="714" r:id="rId45"/>
    <p:sldId id="338" r:id="rId46"/>
    <p:sldId id="713" r:id="rId47"/>
    <p:sldId id="716" r:id="rId48"/>
    <p:sldId id="320" r:id="rId49"/>
    <p:sldId id="321" r:id="rId50"/>
    <p:sldId id="522" r:id="rId51"/>
    <p:sldId id="717" r:id="rId52"/>
    <p:sldId id="652" r:id="rId53"/>
    <p:sldId id="663" r:id="rId54"/>
    <p:sldId id="718" r:id="rId55"/>
    <p:sldId id="719" r:id="rId56"/>
    <p:sldId id="610" r:id="rId5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  <a:srgbClr val="9EF5EA"/>
    <a:srgbClr val="CDD5DE"/>
    <a:srgbClr val="FCE7D7"/>
    <a:srgbClr val="F9EDC6"/>
    <a:srgbClr val="05A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46"/>
    <p:restoredTop sz="90822"/>
  </p:normalViewPr>
  <p:slideViewPr>
    <p:cSldViewPr snapToGrid="0">
      <p:cViewPr varScale="1">
        <p:scale>
          <a:sx n="123" d="100"/>
          <a:sy n="123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356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BE83B-754F-B948-8CD7-D8047F5EE2C4}" type="datetimeFigureOut">
              <a:rPr kumimoji="1" lang="zh-TW" altLang="en-US" smtClean="0"/>
              <a:t>2025/11/5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6D1C-D09F-2A41-BBEA-6549EF3DDB6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141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81769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08552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31009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17841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248416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16992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264759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TW" dirty="0"/>
              <a:t>https://</a:t>
            </a:r>
            <a:r>
              <a:rPr kumimoji="1" lang="en" altLang="zh-TW" dirty="0" err="1"/>
              <a:t>stats.stackexchange.com</a:t>
            </a:r>
            <a:r>
              <a:rPr kumimoji="1" lang="en" altLang="zh-TW" dirty="0"/>
              <a:t>/questions/421935/what-exactly-are-keys-queries-and-values-in-attention-mechanisms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E3B28-2F7C-524C-99B0-DFA9B150710E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81096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059139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237018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382799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871321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163576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109208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60818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715532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E3B28-2F7C-524C-99B0-DFA9B150710E}" type="slidenum">
              <a:rPr kumimoji="1" lang="zh-TW" altLang="en-US" smtClean="0"/>
              <a:t>35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607781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E3B28-2F7C-524C-99B0-DFA9B150710E}" type="slidenum">
              <a:rPr kumimoji="1" lang="zh-TW" altLang="en-US" smtClean="0"/>
              <a:t>36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803406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281524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130901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RNNs use the recurrent nature to encode relative distance, but self-attention alone does not have the concept of distance. </a:t>
            </a:r>
          </a:p>
          <a:p>
            <a:r>
              <a:rPr kumimoji="1" lang="en-US" altLang="zh-TW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Figure link: https://</a:t>
            </a:r>
            <a:r>
              <a:rPr kumimoji="1" lang="en-US" altLang="zh-TW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www.google.com</a:t>
            </a:r>
            <a:r>
              <a:rPr kumimoji="1" lang="en-US" altLang="zh-TW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kumimoji="1" lang="en-US" altLang="zh-TW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imgres?imgurl</a:t>
            </a:r>
            <a:r>
              <a:rPr kumimoji="1" lang="en-US" altLang="zh-TW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=https%3A%2F%2Fen.pimg.jp%2F062%2F372%2F497%2F1%2F62372497.jpg&amp;tbnid=h12XO59LOC-2AM&amp;vet=12ahUKEwi-hZz5-aeEAxUjiq8BHWxaD30QMygLegQIARBw..i&amp;imgrefurl=https%3A%2F%2Fwww.pixtastock.com%2Fillustration%2F62372497&amp;docid=</a:t>
            </a:r>
            <a:r>
              <a:rPr kumimoji="1" lang="en-US" altLang="zh-TW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EjyqzObtASteNM&amp;w</a:t>
            </a:r>
            <a:r>
              <a:rPr kumimoji="1" lang="en-US" altLang="zh-TW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=450&amp;h=468&amp;q=trouble%20face%20cute%20&amp;ved=2ahUKEwi-hZz5-aeEAxUjiq8BHWxaD30QMygLegQIARBw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E3B28-2F7C-524C-99B0-DFA9B150710E}" type="slidenum">
              <a:rPr kumimoji="1" lang="zh-TW" altLang="en-US" smtClean="0"/>
              <a:t>40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783470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984972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397072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200"/>
              </a:spcBef>
              <a:buNone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K, V uses the output from encoder as their X; </a:t>
            </a:r>
          </a:p>
          <a:p>
            <a:pPr marL="0" indent="0">
              <a:spcBef>
                <a:spcPts val="200"/>
              </a:spcBef>
              <a:buNone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Q uses the decoder’s information as X. 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E3B28-2F7C-524C-99B0-DFA9B150710E}" type="slidenum">
              <a:rPr kumimoji="1" lang="zh-TW" altLang="en-US" smtClean="0"/>
              <a:t>43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457510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690684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E3B28-2F7C-524C-99B0-DFA9B150710E}" type="slidenum">
              <a:rPr kumimoji="1" lang="zh-TW" altLang="en-US" smtClean="0"/>
              <a:t>45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315757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054918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9151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342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pic>
        <p:nvPicPr>
          <p:cNvPr id="8" name="圖片 7" descr="一張含有 黑暗, 鮮豔, 圓形, 對稱 的圖片&#10;&#10;自動產生的描述">
            <a:extLst>
              <a:ext uri="{FF2B5EF4-FFF2-40B4-BE49-F238E27FC236}">
                <a16:creationId xmlns:a16="http://schemas.microsoft.com/office/drawing/2014/main" id="{7B42FF8E-DE09-ED24-7D18-F64355A345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20" y="6349567"/>
            <a:ext cx="462323" cy="453571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7DAD89E-131D-FDCA-9260-AC419110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8683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165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AB314-DF41-49F3-8643-5960470A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96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11/5/25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FF28B-EE0C-0976-1882-688F9026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920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11/5/25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8DE478E-C0B1-6FFC-0061-DA2334C3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198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11/5/25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06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268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1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B6B208-0D45-71D0-C7BE-D6974D30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068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36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76003" y="1355758"/>
            <a:ext cx="10839994" cy="45719"/>
          </a:xfrm>
          <a:prstGeom prst="rect">
            <a:avLst/>
          </a:prstGeom>
          <a:solidFill>
            <a:srgbClr val="05AED6"/>
          </a:solidFill>
          <a:ln>
            <a:solidFill>
              <a:srgbClr val="05AE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CGU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hyperlink" Target="https://github.com/mcps5601/CGUDL_2025_fal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pp.sli.do/event/uuJpcD24bAi7Qj7EzSgQCm" TargetMode="External"/><Relationship Id="rId5" Type="http://schemas.openxmlformats.org/officeDocument/2006/relationships/hyperlink" Target="https://app.sli.do/event/r6bsGhmsqjXx3WLiJiGQdT" TargetMode="Externa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2.png"/><Relationship Id="rId2" Type="http://schemas.openxmlformats.org/officeDocument/2006/relationships/image" Target="../media/image25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2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12" Type="http://schemas.openxmlformats.org/officeDocument/2006/relationships/image" Target="../media/image111.png"/><Relationship Id="rId2" Type="http://schemas.openxmlformats.org/officeDocument/2006/relationships/image" Target="../media/image101.png"/><Relationship Id="rId16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5" Type="http://schemas.openxmlformats.org/officeDocument/2006/relationships/image" Target="../media/image104.png"/><Relationship Id="rId15" Type="http://schemas.openxmlformats.org/officeDocument/2006/relationships/image" Target="../media/image114.png"/><Relationship Id="rId10" Type="http://schemas.openxmlformats.org/officeDocument/2006/relationships/image" Target="../media/image109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Relationship Id="rId14" Type="http://schemas.openxmlformats.org/officeDocument/2006/relationships/image" Target="../media/image1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searchgate.net/figure/An-example-of-the-self-attention-mechanism-following-long-distance-dependency-in-the_fig1_342301870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5" Type="http://schemas.openxmlformats.org/officeDocument/2006/relationships/image" Target="../media/image190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18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image" Target="../media/image17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2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19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59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6.png"/><Relationship Id="rId10" Type="http://schemas.openxmlformats.org/officeDocument/2006/relationships/image" Target="../media/image45.png"/><Relationship Id="rId19" Type="http://schemas.openxmlformats.org/officeDocument/2006/relationships/image" Target="../media/image6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5.png"/><Relationship Id="rId18" Type="http://schemas.openxmlformats.org/officeDocument/2006/relationships/image" Target="../media/image76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64.png"/><Relationship Id="rId17" Type="http://schemas.openxmlformats.org/officeDocument/2006/relationships/image" Target="../media/image75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63.png"/><Relationship Id="rId5" Type="http://schemas.openxmlformats.org/officeDocument/2006/relationships/image" Target="../media/image52.png"/><Relationship Id="rId15" Type="http://schemas.openxmlformats.org/officeDocument/2006/relationships/image" Target="../media/image73.png"/><Relationship Id="rId10" Type="http://schemas.openxmlformats.org/officeDocument/2006/relationships/image" Target="../media/image62.png"/><Relationship Id="rId19" Type="http://schemas.openxmlformats.org/officeDocument/2006/relationships/image" Target="../media/image77.png"/><Relationship Id="rId4" Type="http://schemas.openxmlformats.org/officeDocument/2006/relationships/image" Target="../media/image51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79.png"/><Relationship Id="rId7" Type="http://schemas.openxmlformats.org/officeDocument/2006/relationships/image" Target="../media/image7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0" Type="http://schemas.openxmlformats.org/officeDocument/2006/relationships/image" Target="../media/image86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88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81.png"/><Relationship Id="rId10" Type="http://schemas.openxmlformats.org/officeDocument/2006/relationships/image" Target="../media/image220.png"/><Relationship Id="rId4" Type="http://schemas.openxmlformats.org/officeDocument/2006/relationships/image" Target="../media/image80.png"/><Relationship Id="rId9" Type="http://schemas.openxmlformats.org/officeDocument/2006/relationships/image" Target="../media/image19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80.png"/><Relationship Id="rId7" Type="http://schemas.openxmlformats.org/officeDocument/2006/relationships/image" Target="../media/image97.png"/><Relationship Id="rId2" Type="http://schemas.openxmlformats.org/officeDocument/2006/relationships/image" Target="../media/image9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250.png"/><Relationship Id="rId4" Type="http://schemas.openxmlformats.org/officeDocument/2006/relationships/image" Target="../media/image9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85.png"/><Relationship Id="rId7" Type="http://schemas.openxmlformats.org/officeDocument/2006/relationships/image" Target="../media/image1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11" Type="http://schemas.openxmlformats.org/officeDocument/2006/relationships/image" Target="../media/image127.png"/><Relationship Id="rId5" Type="http://schemas.openxmlformats.org/officeDocument/2006/relationships/image" Target="../media/image121.png"/><Relationship Id="rId10" Type="http://schemas.openxmlformats.org/officeDocument/2006/relationships/image" Target="../media/image126.png"/><Relationship Id="rId4" Type="http://schemas.openxmlformats.org/officeDocument/2006/relationships/image" Target="../media/image120.png"/><Relationship Id="rId9" Type="http://schemas.openxmlformats.org/officeDocument/2006/relationships/image" Target="../media/image1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0.png"/><Relationship Id="rId4" Type="http://schemas.openxmlformats.org/officeDocument/2006/relationships/image" Target="../media/image600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2.png"/><Relationship Id="rId2" Type="http://schemas.openxmlformats.org/officeDocument/2006/relationships/image" Target="../media/image25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810.04805" TargetMode="External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圓角矩形 4">
            <a:extLst>
              <a:ext uri="{FF2B5EF4-FFF2-40B4-BE49-F238E27FC236}">
                <a16:creationId xmlns:a16="http://schemas.microsoft.com/office/drawing/2014/main" id="{3C6264BC-1151-9168-C7F5-CC114FF3CC95}"/>
              </a:ext>
            </a:extLst>
          </p:cNvPr>
          <p:cNvSpPr/>
          <p:nvPr/>
        </p:nvSpPr>
        <p:spPr>
          <a:xfrm>
            <a:off x="667422" y="2025546"/>
            <a:ext cx="10857156" cy="2426189"/>
          </a:xfrm>
          <a:prstGeom prst="roundRect">
            <a:avLst/>
          </a:prstGeom>
          <a:solidFill>
            <a:srgbClr val="9EF5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058193-D513-E805-2BD5-118E50D9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1959" y="1006002"/>
            <a:ext cx="5437882" cy="3224045"/>
          </a:xfrm>
        </p:spPr>
        <p:txBody>
          <a:bodyPr anchor="b">
            <a:normAutofit/>
          </a:bodyPr>
          <a:lstStyle/>
          <a:p>
            <a:r>
              <a:rPr kumimoji="1" lang="zh-TW" altLang="en-US" sz="5800" b="1" dirty="0">
                <a:ea typeface="Microsoft JhengHei" panose="020B0604030504040204" pitchFamily="34" charset="-120"/>
              </a:rPr>
              <a:t>深度學習</a:t>
            </a:r>
            <a:br>
              <a:rPr kumimoji="1" lang="en-US" altLang="zh-TW" sz="5800" b="1" dirty="0">
                <a:ea typeface="Microsoft JhengHei" panose="020B0604030504040204" pitchFamily="34" charset="-120"/>
              </a:rPr>
            </a:br>
            <a:r>
              <a:rPr kumimoji="1" lang="en-US" altLang="zh-TW" sz="5800" b="1" dirty="0">
                <a:ea typeface="Microsoft JhengHei" panose="020B0604030504040204" pitchFamily="34" charset="-120"/>
              </a:rPr>
              <a:t>Deep Learning</a:t>
            </a:r>
            <a:endParaRPr kumimoji="1" lang="zh-TW" altLang="en-US" sz="5800" b="1" dirty="0">
              <a:ea typeface="Microsoft JhengHei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0C8410-1877-4FB2-39F9-E0CFE0480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9528" y="253272"/>
            <a:ext cx="1468923" cy="1468923"/>
          </a:xfrm>
          <a:prstGeom prst="rect">
            <a:avLst/>
          </a:prstGeom>
        </p:spPr>
      </p:pic>
      <p:pic>
        <p:nvPicPr>
          <p:cNvPr id="8" name="圖片 7" descr="一張含有 螢幕擷取畫面, 樣式, 圓形, 圖形 的圖片&#10;&#10;AI 產生的內容可能不正確。">
            <a:extLst>
              <a:ext uri="{FF2B5EF4-FFF2-40B4-BE49-F238E27FC236}">
                <a16:creationId xmlns:a16="http://schemas.microsoft.com/office/drawing/2014/main" id="{22F76685-E2D2-0BC7-76BB-5BDBC9DCFE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175" y="4533398"/>
            <a:ext cx="1960729" cy="1960729"/>
          </a:xfrm>
          <a:prstGeom prst="rect">
            <a:avLst/>
          </a:prstGeom>
        </p:spPr>
      </p:pic>
      <p:sp>
        <p:nvSpPr>
          <p:cNvPr id="11" name="文字方塊 10">
            <a:hlinkClick r:id="rId5"/>
            <a:extLst>
              <a:ext uri="{FF2B5EF4-FFF2-40B4-BE49-F238E27FC236}">
                <a16:creationId xmlns:a16="http://schemas.microsoft.com/office/drawing/2014/main" id="{8F823108-2692-7850-78FB-371EE4D6F4E9}"/>
              </a:ext>
            </a:extLst>
          </p:cNvPr>
          <p:cNvSpPr txBox="1"/>
          <p:nvPr/>
        </p:nvSpPr>
        <p:spPr>
          <a:xfrm>
            <a:off x="9181606" y="6296804"/>
            <a:ext cx="1825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6"/>
              </a:rPr>
              <a:t>Slido # DL1105</a:t>
            </a:r>
            <a:endParaRPr kumimoji="1"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8C6CA94-AF36-F0D4-5089-5AA183D3CA39}"/>
              </a:ext>
            </a:extLst>
          </p:cNvPr>
          <p:cNvSpPr txBox="1"/>
          <p:nvPr/>
        </p:nvSpPr>
        <p:spPr>
          <a:xfrm>
            <a:off x="6388165" y="6296804"/>
            <a:ext cx="203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7"/>
              </a:rPr>
              <a:t>Course GitHub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8F45271-2AEF-5B7E-D479-A54284A7CD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5111" y="4704551"/>
            <a:ext cx="1618422" cy="161842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EC54666-0C58-F99D-556B-7D8163B991AA}"/>
              </a:ext>
            </a:extLst>
          </p:cNvPr>
          <p:cNvSpPr txBox="1"/>
          <p:nvPr/>
        </p:nvSpPr>
        <p:spPr>
          <a:xfrm>
            <a:off x="901959" y="4749453"/>
            <a:ext cx="508083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Transformers</a:t>
            </a:r>
          </a:p>
          <a:p>
            <a:r>
              <a:rPr kumimoji="1" lang="zh-TW" altLang="en-US" sz="2400" b="1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自注意力機制模型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24A82EC-22FA-ABE2-B4AF-6FCD7356A734}"/>
              </a:ext>
            </a:extLst>
          </p:cNvPr>
          <p:cNvSpPr txBox="1"/>
          <p:nvPr/>
        </p:nvSpPr>
        <p:spPr>
          <a:xfrm>
            <a:off x="901959" y="5827136"/>
            <a:ext cx="4453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林英嘉 </a:t>
            </a:r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(Ying-Jia Lin)</a:t>
            </a:r>
          </a:p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2025/11/05</a:t>
            </a:r>
            <a:endParaRPr kumimoji="1" lang="zh-TW" altLang="en-US" sz="2000" b="1" dirty="0">
              <a:latin typeface="+mj-lt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314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5B9393-1699-985A-E66F-F2B388438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A6DC57-0B7A-1B21-F9F0-721D122B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FAFA69A-F103-08DD-98C8-542BFACBF3C4}"/>
              </a:ext>
            </a:extLst>
          </p:cNvPr>
          <p:cNvSpPr txBox="1"/>
          <p:nvPr/>
        </p:nvSpPr>
        <p:spPr>
          <a:xfrm>
            <a:off x="653143" y="1586847"/>
            <a:ext cx="10918370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Weakness of RNNs and CNNs [10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Transformers [90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Announcement about Term Project [10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Homework 3 [25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Quiz [15 min]</a:t>
            </a:r>
          </a:p>
        </p:txBody>
      </p:sp>
    </p:spTree>
    <p:extLst>
      <p:ext uri="{BB962C8B-B14F-4D97-AF65-F5344CB8AC3E}">
        <p14:creationId xmlns:p14="http://schemas.microsoft.com/office/powerpoint/2010/main" val="2647002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A844F5-9BB5-8741-7E11-3D7900B40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altLang="zh-TW" dirty="0">
                <a:ea typeface="新細明體"/>
                <a:cs typeface="Calibri" panose="020F0502020204030204" pitchFamily="34" charset="0"/>
              </a:rPr>
              <a:t>[Recap] Recurrent Neural Networks (RNN)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59731F-DF8E-F243-F6F3-E0926081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3</a:t>
            </a:fld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F5B106-0BAF-60DD-4273-71B0D8629245}"/>
              </a:ext>
            </a:extLst>
          </p:cNvPr>
          <p:cNvSpPr>
            <a:spLocks noGrp="1"/>
          </p:cNvSpPr>
          <p:nvPr/>
        </p:nvSpPr>
        <p:spPr>
          <a:xfrm>
            <a:off x="1066800" y="1615276"/>
            <a:ext cx="10058400" cy="402336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20F0502020204030204" pitchFamily="34" charset="0"/>
              <a:buChar char="Ø"/>
            </a:pPr>
            <a:r>
              <a:rPr lang="en-US" sz="2400" dirty="0">
                <a:solidFill>
                  <a:srgbClr val="404040"/>
                </a:solidFill>
                <a:latin typeface="Calibri" panose="020F0502020204030204" pitchFamily="34" charset="0"/>
                <a:ea typeface="+mn-lt"/>
                <a:cs typeface="+mn-lt"/>
              </a:rPr>
              <a:t>Recurrent Neural Networks (RNNs) are a type of artificial neural network designed to handle sequential data by </a:t>
            </a:r>
            <a:r>
              <a:rPr lang="en-US" sz="2400" dirty="0">
                <a:solidFill>
                  <a:schemeClr val="accent1"/>
                </a:solidFill>
                <a:latin typeface="Calibri" panose="020F0502020204030204" pitchFamily="34" charset="0"/>
                <a:ea typeface="+mn-lt"/>
                <a:cs typeface="+mn-lt"/>
              </a:rPr>
              <a:t>capturing temporal dependencies</a:t>
            </a:r>
            <a:r>
              <a:rPr lang="en-US" sz="2400" dirty="0">
                <a:solidFill>
                  <a:srgbClr val="404040"/>
                </a:solidFill>
                <a:latin typeface="Calibri" panose="020F0502020204030204" pitchFamily="34" charset="0"/>
                <a:ea typeface="+mn-lt"/>
                <a:cs typeface="+mn-lt"/>
              </a:rPr>
              <a:t>.</a:t>
            </a:r>
          </a:p>
          <a:p>
            <a:pPr marL="635000" lvl="1" indent="-342900">
              <a:buFont typeface="Courier New" panose="020F0502020204030204" pitchFamily="34" charset="0"/>
              <a:buChar char="o"/>
            </a:pPr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+mn-lt"/>
                <a:cs typeface="+mn-lt"/>
              </a:rPr>
              <a:t>RNN </a:t>
            </a:r>
            <a:r>
              <a:rPr lang="zh-TW" alt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+mn-lt"/>
                <a:cs typeface="+mn-lt"/>
              </a:rPr>
              <a:t>的“遞迴”是指它在每一個時間步中重複使用相同的參數（同一組權重），並把先前的隱藏狀態傳到下一個時間步</a:t>
            </a:r>
            <a:endParaRPr lang="en-US" sz="2200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+mn-lt"/>
              <a:cs typeface="+mn-lt"/>
            </a:endParaRP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C4F34826-E22D-51B8-3036-543B02C0B18B}"/>
              </a:ext>
            </a:extLst>
          </p:cNvPr>
          <p:cNvSpPr/>
          <p:nvPr/>
        </p:nvSpPr>
        <p:spPr>
          <a:xfrm>
            <a:off x="4040418" y="4531432"/>
            <a:ext cx="326571" cy="3265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TW" altLang="en-US"/>
          </a:p>
        </p:txBody>
      </p:sp>
      <p:pic>
        <p:nvPicPr>
          <p:cNvPr id="6" name="圖片 5" descr="一張含有 圖表, 螢幕擷取畫面, 行, 設計 的圖片&#10;&#10;自動產生的描述">
            <a:extLst>
              <a:ext uri="{FF2B5EF4-FFF2-40B4-BE49-F238E27FC236}">
                <a16:creationId xmlns:a16="http://schemas.microsoft.com/office/drawing/2014/main" id="{64D6D508-1E28-1B2F-1579-DEBDD383C2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93" b="4767"/>
          <a:stretch/>
        </p:blipFill>
        <p:spPr>
          <a:xfrm>
            <a:off x="1528455" y="3181250"/>
            <a:ext cx="1966371" cy="3009684"/>
          </a:xfrm>
          <a:prstGeom prst="rect">
            <a:avLst/>
          </a:prstGeom>
        </p:spPr>
      </p:pic>
      <p:pic>
        <p:nvPicPr>
          <p:cNvPr id="10" name="圖片 9" descr="一張含有 文字, 螢幕擷取畫面, 字型, 圖表 的圖片&#10;&#10;自動產生的描述">
            <a:extLst>
              <a:ext uri="{FF2B5EF4-FFF2-40B4-BE49-F238E27FC236}">
                <a16:creationId xmlns:a16="http://schemas.microsoft.com/office/drawing/2014/main" id="{DA0F7D75-46D7-D4A7-34E0-3F7381D1D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949" y="3073112"/>
            <a:ext cx="6636151" cy="338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523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ECFD3-9F9E-D486-2DC7-84073400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C0D99D-1E40-8E98-9837-A229A457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a typeface="新細明體"/>
                <a:cs typeface="Calibri Light"/>
              </a:rPr>
              <a:t>[Recap] Text Generation with RNN</a:t>
            </a:r>
            <a:endParaRPr lang="zh-TW" altLang="en-US" dirty="0">
              <a:ea typeface="新細明體"/>
              <a:cs typeface="Calibri Light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44121A3-4B88-E98F-8D6C-0396D775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4</a:t>
            </a:fld>
            <a:endParaRPr lang="zh-TW" altLang="en-US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C8F4C0A3-FA3F-2E2B-F8BE-653E57712662}"/>
              </a:ext>
            </a:extLst>
          </p:cNvPr>
          <p:cNvSpPr/>
          <p:nvPr/>
        </p:nvSpPr>
        <p:spPr>
          <a:xfrm>
            <a:off x="2455649" y="5222793"/>
            <a:ext cx="673768" cy="571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love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74BF1484-9D99-02A5-AAAF-EE9BBEFB506F}"/>
              </a:ext>
            </a:extLst>
          </p:cNvPr>
          <p:cNvSpPr/>
          <p:nvPr/>
        </p:nvSpPr>
        <p:spPr>
          <a:xfrm>
            <a:off x="1091281" y="5222792"/>
            <a:ext cx="673768" cy="571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22B29D0B-5991-2E5E-3F83-667A16EA833A}"/>
              </a:ext>
            </a:extLst>
          </p:cNvPr>
          <p:cNvSpPr/>
          <p:nvPr/>
        </p:nvSpPr>
        <p:spPr>
          <a:xfrm>
            <a:off x="3802954" y="5222792"/>
            <a:ext cx="673768" cy="571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an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" name="直線箭頭接點 2">
            <a:extLst>
              <a:ext uri="{FF2B5EF4-FFF2-40B4-BE49-F238E27FC236}">
                <a16:creationId xmlns:a16="http://schemas.microsoft.com/office/drawing/2014/main" id="{B6F1BF5D-E0DF-596A-0806-DB62092410DE}"/>
              </a:ext>
            </a:extLst>
          </p:cNvPr>
          <p:cNvCxnSpPr>
            <a:cxnSpLocks/>
          </p:cNvCxnSpPr>
          <p:nvPr/>
        </p:nvCxnSpPr>
        <p:spPr>
          <a:xfrm flipV="1">
            <a:off x="1417435" y="4635584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A74271B2-06A7-502A-FC23-4C6E28205970}"/>
              </a:ext>
            </a:extLst>
          </p:cNvPr>
          <p:cNvSpPr/>
          <p:nvPr/>
        </p:nvSpPr>
        <p:spPr>
          <a:xfrm>
            <a:off x="996132" y="3813918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B9775F-52E9-275E-3013-33A5AE9299C9}"/>
              </a:ext>
            </a:extLst>
          </p:cNvPr>
          <p:cNvSpPr/>
          <p:nvPr/>
        </p:nvSpPr>
        <p:spPr>
          <a:xfrm>
            <a:off x="2365865" y="3813918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A8E273-92C8-B725-9D20-B5D11A1BACFB}"/>
              </a:ext>
            </a:extLst>
          </p:cNvPr>
          <p:cNvSpPr/>
          <p:nvPr/>
        </p:nvSpPr>
        <p:spPr>
          <a:xfrm>
            <a:off x="3718535" y="3813917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71962B3F-9FA6-0220-1AF1-6586D948FF0E}"/>
              </a:ext>
            </a:extLst>
          </p:cNvPr>
          <p:cNvCxnSpPr>
            <a:cxnSpLocks/>
          </p:cNvCxnSpPr>
          <p:nvPr/>
        </p:nvCxnSpPr>
        <p:spPr>
          <a:xfrm flipV="1">
            <a:off x="2787168" y="4635585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CB4E6377-CCC8-2632-4A20-88A949727A04}"/>
              </a:ext>
            </a:extLst>
          </p:cNvPr>
          <p:cNvCxnSpPr>
            <a:cxnSpLocks/>
          </p:cNvCxnSpPr>
          <p:nvPr/>
        </p:nvCxnSpPr>
        <p:spPr>
          <a:xfrm flipV="1">
            <a:off x="4141007" y="4635584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F1FF3DF9-C6C8-FDCE-E3CE-61925F28344B}"/>
              </a:ext>
            </a:extLst>
          </p:cNvPr>
          <p:cNvCxnSpPr>
            <a:cxnSpLocks/>
          </p:cNvCxnSpPr>
          <p:nvPr/>
        </p:nvCxnSpPr>
        <p:spPr>
          <a:xfrm>
            <a:off x="1880704" y="4197320"/>
            <a:ext cx="454165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1D44DBB5-ED82-02A3-9302-A42011057600}"/>
              </a:ext>
            </a:extLst>
          </p:cNvPr>
          <p:cNvCxnSpPr>
            <a:cxnSpLocks/>
          </p:cNvCxnSpPr>
          <p:nvPr/>
        </p:nvCxnSpPr>
        <p:spPr>
          <a:xfrm>
            <a:off x="3264370" y="4197320"/>
            <a:ext cx="454165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箭頭接點 32">
            <a:extLst>
              <a:ext uri="{FF2B5EF4-FFF2-40B4-BE49-F238E27FC236}">
                <a16:creationId xmlns:a16="http://schemas.microsoft.com/office/drawing/2014/main" id="{257328A5-5F55-A752-538F-ABF645111174}"/>
              </a:ext>
            </a:extLst>
          </p:cNvPr>
          <p:cNvCxnSpPr>
            <a:cxnSpLocks/>
          </p:cNvCxnSpPr>
          <p:nvPr/>
        </p:nvCxnSpPr>
        <p:spPr>
          <a:xfrm flipV="1">
            <a:off x="4132163" y="3226711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圓角矩形 33">
                <a:extLst>
                  <a:ext uri="{FF2B5EF4-FFF2-40B4-BE49-F238E27FC236}">
                    <a16:creationId xmlns:a16="http://schemas.microsoft.com/office/drawing/2014/main" id="{42772646-7307-A288-7C9B-A7DFA1BD87C6}"/>
                  </a:ext>
                </a:extLst>
              </p:cNvPr>
              <p:cNvSpPr/>
              <p:nvPr/>
            </p:nvSpPr>
            <p:spPr>
              <a:xfrm>
                <a:off x="3795279" y="2538249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</m:oMath>
                  </m:oMathPara>
                </a14:m>
                <a:endParaRPr kumimoji="1" lang="zh-TW" alt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圓角矩形 33">
                <a:extLst>
                  <a:ext uri="{FF2B5EF4-FFF2-40B4-BE49-F238E27FC236}">
                    <a16:creationId xmlns:a16="http://schemas.microsoft.com/office/drawing/2014/main" id="{42772646-7307-A288-7C9B-A7DFA1BD87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279" y="2538249"/>
                <a:ext cx="673768" cy="5715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矩形 35">
            <a:extLst>
              <a:ext uri="{FF2B5EF4-FFF2-40B4-BE49-F238E27FC236}">
                <a16:creationId xmlns:a16="http://schemas.microsoft.com/office/drawing/2014/main" id="{6C09E09E-1B5A-6B4B-0B4C-ABDBCCADEF4B}"/>
              </a:ext>
            </a:extLst>
          </p:cNvPr>
          <p:cNvSpPr/>
          <p:nvPr/>
        </p:nvSpPr>
        <p:spPr>
          <a:xfrm>
            <a:off x="5340637" y="2479771"/>
            <a:ext cx="1968284" cy="6884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Classification Layer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F504C4C2-7B73-596C-F469-CE40F29F2DF4}"/>
              </a:ext>
            </a:extLst>
          </p:cNvPr>
          <p:cNvCxnSpPr>
            <a:cxnSpLocks/>
          </p:cNvCxnSpPr>
          <p:nvPr/>
        </p:nvCxnSpPr>
        <p:spPr>
          <a:xfrm>
            <a:off x="4592137" y="2823999"/>
            <a:ext cx="6376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D522AE8D-1F2D-4249-2548-0DF2ADBD9008}"/>
              </a:ext>
            </a:extLst>
          </p:cNvPr>
          <p:cNvSpPr txBox="1"/>
          <p:nvPr/>
        </p:nvSpPr>
        <p:spPr>
          <a:xfrm>
            <a:off x="3148029" y="2048470"/>
            <a:ext cx="1968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Hidden size: 100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37B4C94E-E666-2B84-016F-D31C7068B918}"/>
                  </a:ext>
                </a:extLst>
              </p:cNvPr>
              <p:cNvSpPr/>
              <p:nvPr/>
            </p:nvSpPr>
            <p:spPr>
              <a:xfrm>
                <a:off x="5987895" y="4064084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kumimoji="1" lang="en-US" altLang="zh-TW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kumimoji="1" lang="zh-TW" alt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37B4C94E-E666-2B84-016F-D31C7068B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7895" y="4064084"/>
                <a:ext cx="673768" cy="5715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0">
            <a:extLst>
              <a:ext uri="{FF2B5EF4-FFF2-40B4-BE49-F238E27FC236}">
                <a16:creationId xmlns:a16="http://schemas.microsoft.com/office/drawing/2014/main" id="{82598EF1-AAEA-BC2D-6367-51A87950FCBF}"/>
              </a:ext>
            </a:extLst>
          </p:cNvPr>
          <p:cNvSpPr txBox="1"/>
          <p:nvPr/>
        </p:nvSpPr>
        <p:spPr>
          <a:xfrm>
            <a:off x="4992490" y="3667054"/>
            <a:ext cx="27270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(Hidden size </a:t>
            </a:r>
            <a:r>
              <a:rPr kumimoji="1" lang="en-US" altLang="zh-TW" sz="1600" dirty="0" err="1">
                <a:solidFill>
                  <a:srgbClr val="FF0000"/>
                </a:solidFill>
              </a:rPr>
              <a:t>Vocab_size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AD626588-EC2D-EEE2-4116-B55D7C483E57}"/>
              </a:ext>
            </a:extLst>
          </p:cNvPr>
          <p:cNvCxnSpPr>
            <a:cxnSpLocks/>
          </p:cNvCxnSpPr>
          <p:nvPr/>
        </p:nvCxnSpPr>
        <p:spPr>
          <a:xfrm>
            <a:off x="6348132" y="3247790"/>
            <a:ext cx="0" cy="3781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F2099F3C-F78E-6A2B-2947-F9C8737CFA85}"/>
              </a:ext>
            </a:extLst>
          </p:cNvPr>
          <p:cNvSpPr txBox="1"/>
          <p:nvPr/>
        </p:nvSpPr>
        <p:spPr>
          <a:xfrm>
            <a:off x="8430482" y="2323987"/>
            <a:ext cx="12467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a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apple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b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banana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elephant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eraser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zoo</a:t>
            </a:r>
            <a:endParaRPr kumimoji="1" lang="zh-TW" altLang="en-US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EB660368-A093-E449-96B6-37BABFD81213}"/>
              </a:ext>
            </a:extLst>
          </p:cNvPr>
          <p:cNvSpPr txBox="1"/>
          <p:nvPr/>
        </p:nvSpPr>
        <p:spPr>
          <a:xfrm>
            <a:off x="9528585" y="2323987"/>
            <a:ext cx="12467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0.0001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0.600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0.0001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0.0003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0.300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0.05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0.0001</a:t>
            </a:r>
            <a:endParaRPr kumimoji="1" lang="zh-TW" altLang="en-US" dirty="0"/>
          </a:p>
        </p:txBody>
      </p: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66956FDE-BE9A-324F-F66F-A8C197B137C2}"/>
              </a:ext>
            </a:extLst>
          </p:cNvPr>
          <p:cNvCxnSpPr/>
          <p:nvPr/>
        </p:nvCxnSpPr>
        <p:spPr>
          <a:xfrm flipV="1">
            <a:off x="7572381" y="2479771"/>
            <a:ext cx="728432" cy="1826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E9E6F8AF-77C6-BAD2-7887-E81A757F7645}"/>
              </a:ext>
            </a:extLst>
          </p:cNvPr>
          <p:cNvCxnSpPr>
            <a:cxnSpLocks/>
          </p:cNvCxnSpPr>
          <p:nvPr/>
        </p:nvCxnSpPr>
        <p:spPr>
          <a:xfrm flipH="1" flipV="1">
            <a:off x="7572381" y="4403283"/>
            <a:ext cx="728432" cy="1826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EEE00C0D-5F7E-C3ED-CA9C-8112CF99132E}"/>
              </a:ext>
            </a:extLst>
          </p:cNvPr>
          <p:cNvCxnSpPr/>
          <p:nvPr/>
        </p:nvCxnSpPr>
        <p:spPr>
          <a:xfrm>
            <a:off x="6843972" y="4349834"/>
            <a:ext cx="630978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右大括弧 52">
            <a:extLst>
              <a:ext uri="{FF2B5EF4-FFF2-40B4-BE49-F238E27FC236}">
                <a16:creationId xmlns:a16="http://schemas.microsoft.com/office/drawing/2014/main" id="{E09434B5-6FEC-D973-FCC9-0E540FD23417}"/>
              </a:ext>
            </a:extLst>
          </p:cNvPr>
          <p:cNvSpPr/>
          <p:nvPr/>
        </p:nvSpPr>
        <p:spPr>
          <a:xfrm>
            <a:off x="10501384" y="2417802"/>
            <a:ext cx="373278" cy="378268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2D8C42DF-7E9A-C921-36DB-8E5134655A89}"/>
              </a:ext>
            </a:extLst>
          </p:cNvPr>
          <p:cNvSpPr txBox="1"/>
          <p:nvPr/>
        </p:nvSpPr>
        <p:spPr>
          <a:xfrm>
            <a:off x="10859150" y="3982823"/>
            <a:ext cx="839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Vocab</a:t>
            </a:r>
          </a:p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size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A151BD34-8F4C-0447-E9B3-FEF499EC3283}"/>
              </a:ext>
            </a:extLst>
          </p:cNvPr>
          <p:cNvSpPr txBox="1"/>
          <p:nvPr/>
        </p:nvSpPr>
        <p:spPr>
          <a:xfrm>
            <a:off x="8416651" y="1937300"/>
            <a:ext cx="83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0070C0"/>
                </a:solidFill>
              </a:rPr>
              <a:t>Vocab</a:t>
            </a: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5EEBE339-6BDB-4693-61B8-51C7547502C9}"/>
              </a:ext>
            </a:extLst>
          </p:cNvPr>
          <p:cNvSpPr txBox="1"/>
          <p:nvPr/>
        </p:nvSpPr>
        <p:spPr>
          <a:xfrm>
            <a:off x="9513721" y="1937300"/>
            <a:ext cx="83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0070C0"/>
                </a:solidFill>
              </a:rPr>
              <a:t>Prob</a:t>
            </a:r>
          </a:p>
        </p:txBody>
      </p:sp>
    </p:spTree>
    <p:extLst>
      <p:ext uri="{BB962C8B-B14F-4D97-AF65-F5344CB8AC3E}">
        <p14:creationId xmlns:p14="http://schemas.microsoft.com/office/powerpoint/2010/main" val="1557165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7C849-99A3-298B-56BE-116F7AC9A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C1C72E-08E9-5217-5A48-C6EC9969A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>
                <a:ea typeface="新細明體"/>
                <a:cs typeface="Calibri" panose="020F0502020204030204" pitchFamily="34" charset="0"/>
              </a:rPr>
              <a:t>[Recap] RNN </a:t>
            </a:r>
            <a:r>
              <a:rPr lang="zh-TW" altLang="en-US" dirty="0">
                <a:latin typeface="+mj-ea"/>
                <a:cs typeface="Calibri" panose="020F0502020204030204" pitchFamily="34" charset="0"/>
              </a:rPr>
              <a:t>的記憶力意義</a:t>
            </a:r>
            <a:endParaRPr lang="zh-TW" altLang="en-US" dirty="0">
              <a:latin typeface="+mj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0D66F8-5DAE-FCEE-39E0-0C1722D25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5</a:t>
            </a:fld>
            <a:endParaRPr lang="zh-TW" altLang="en-US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7307D465-17E9-F1ED-BC61-CAB9793DF4CB}"/>
              </a:ext>
            </a:extLst>
          </p:cNvPr>
          <p:cNvGrpSpPr/>
          <p:nvPr/>
        </p:nvGrpSpPr>
        <p:grpSpPr>
          <a:xfrm>
            <a:off x="547970" y="4012670"/>
            <a:ext cx="11023544" cy="1782262"/>
            <a:chOff x="547970" y="4012670"/>
            <a:chExt cx="11023544" cy="1782262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E8AD376-A5C1-BCEE-A20E-1E48C4A91012}"/>
                </a:ext>
              </a:extLst>
            </p:cNvPr>
            <p:cNvSpPr/>
            <p:nvPr/>
          </p:nvSpPr>
          <p:spPr>
            <a:xfrm>
              <a:off x="2392525" y="5306660"/>
              <a:ext cx="683581" cy="488272"/>
            </a:xfrm>
            <a:prstGeom prst="rect">
              <a:avLst/>
            </a:prstGeom>
            <a:solidFill>
              <a:srgbClr val="F9ED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TW" altLang="en-US" dirty="0">
                  <a:solidFill>
                    <a:schemeClr val="tx1"/>
                  </a:solidFill>
                </a:rPr>
                <a:t>庭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F3EBA4E-3A00-2125-D9AF-F8605FEAFFE6}"/>
                </a:ext>
              </a:extLst>
            </p:cNvPr>
            <p:cNvSpPr/>
            <p:nvPr/>
          </p:nvSpPr>
          <p:spPr>
            <a:xfrm>
              <a:off x="4033257" y="5306660"/>
              <a:ext cx="683581" cy="488272"/>
            </a:xfrm>
            <a:prstGeom prst="rect">
              <a:avLst/>
            </a:prstGeom>
            <a:solidFill>
              <a:srgbClr val="F9ED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TW" altLang="en-US" dirty="0">
                  <a:solidFill>
                    <a:schemeClr val="tx1"/>
                  </a:solidFill>
                </a:rPr>
                <a:t>院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9D0CDE6-9FB0-4205-398E-636C340A773C}"/>
                </a:ext>
              </a:extLst>
            </p:cNvPr>
            <p:cNvSpPr/>
            <p:nvPr/>
          </p:nvSpPr>
          <p:spPr>
            <a:xfrm>
              <a:off x="2188705" y="4108945"/>
              <a:ext cx="1091215" cy="638420"/>
            </a:xfrm>
            <a:prstGeom prst="rect">
              <a:avLst/>
            </a:prstGeom>
            <a:solidFill>
              <a:srgbClr val="FCE7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h</a:t>
              </a:r>
              <a:r>
                <a:rPr kumimoji="1" lang="en-US" altLang="zh-TW" sz="2400" baseline="-25000" dirty="0">
                  <a:solidFill>
                    <a:schemeClr val="tx1"/>
                  </a:solidFill>
                </a:rPr>
                <a:t>1</a:t>
              </a:r>
              <a:endParaRPr kumimoji="1" lang="zh-TW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D46F4B8-76DD-B4A5-5BAC-8C9FCB3608E9}"/>
                </a:ext>
              </a:extLst>
            </p:cNvPr>
            <p:cNvSpPr/>
            <p:nvPr/>
          </p:nvSpPr>
          <p:spPr>
            <a:xfrm>
              <a:off x="3829441" y="4108945"/>
              <a:ext cx="1091215" cy="638420"/>
            </a:xfrm>
            <a:prstGeom prst="rect">
              <a:avLst/>
            </a:prstGeom>
            <a:solidFill>
              <a:srgbClr val="FCE7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h</a:t>
              </a:r>
              <a:r>
                <a:rPr kumimoji="1" lang="en-US" altLang="zh-TW" sz="2400" baseline="-25000" dirty="0">
                  <a:solidFill>
                    <a:schemeClr val="tx1"/>
                  </a:solidFill>
                </a:rPr>
                <a:t>2</a:t>
              </a:r>
              <a:endParaRPr kumimoji="1" lang="zh-TW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D2FF996-4635-36A8-C173-A858231CA9F9}"/>
                </a:ext>
              </a:extLst>
            </p:cNvPr>
            <p:cNvSpPr/>
            <p:nvPr/>
          </p:nvSpPr>
          <p:spPr>
            <a:xfrm>
              <a:off x="5673993" y="5306660"/>
              <a:ext cx="683581" cy="488272"/>
            </a:xfrm>
            <a:prstGeom prst="rect">
              <a:avLst/>
            </a:prstGeom>
            <a:solidFill>
              <a:srgbClr val="F9ED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TW" altLang="en-US" dirty="0">
                  <a:solidFill>
                    <a:schemeClr val="tx1"/>
                  </a:solidFill>
                </a:rPr>
                <a:t>深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F0364B9-3372-2696-B9BF-7FE6B48F8ABE}"/>
                </a:ext>
              </a:extLst>
            </p:cNvPr>
            <p:cNvSpPr/>
            <p:nvPr/>
          </p:nvSpPr>
          <p:spPr>
            <a:xfrm>
              <a:off x="5470177" y="4108945"/>
              <a:ext cx="1091215" cy="638420"/>
            </a:xfrm>
            <a:prstGeom prst="rect">
              <a:avLst/>
            </a:prstGeom>
            <a:solidFill>
              <a:srgbClr val="FCE7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h</a:t>
              </a:r>
              <a:r>
                <a:rPr kumimoji="1" lang="en-US" altLang="zh-TW" sz="2400" baseline="-25000" dirty="0">
                  <a:solidFill>
                    <a:schemeClr val="tx1"/>
                  </a:solidFill>
                </a:rPr>
                <a:t>3</a:t>
              </a:r>
              <a:endParaRPr kumimoji="1" lang="zh-TW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E07E1F00-22F0-2B19-3BB5-583849515D8D}"/>
                </a:ext>
              </a:extLst>
            </p:cNvPr>
            <p:cNvSpPr/>
            <p:nvPr/>
          </p:nvSpPr>
          <p:spPr>
            <a:xfrm>
              <a:off x="9047292" y="5306660"/>
              <a:ext cx="683581" cy="488272"/>
            </a:xfrm>
            <a:prstGeom prst="rect">
              <a:avLst/>
            </a:prstGeom>
            <a:solidFill>
              <a:srgbClr val="F9ED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TW" altLang="en-US" dirty="0">
                  <a:solidFill>
                    <a:schemeClr val="tx1"/>
                  </a:solidFill>
                </a:rPr>
                <a:t>幾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A299266-13B9-3FC0-4780-6364DC60E4D0}"/>
                </a:ext>
              </a:extLst>
            </p:cNvPr>
            <p:cNvSpPr/>
            <p:nvPr/>
          </p:nvSpPr>
          <p:spPr>
            <a:xfrm>
              <a:off x="8843476" y="4108945"/>
              <a:ext cx="1091215" cy="638420"/>
            </a:xfrm>
            <a:prstGeom prst="rect">
              <a:avLst/>
            </a:prstGeom>
            <a:solidFill>
              <a:srgbClr val="FCE7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h</a:t>
              </a:r>
              <a:r>
                <a:rPr kumimoji="1" lang="en-US" altLang="zh-TW" sz="2400" baseline="-25000" dirty="0">
                  <a:solidFill>
                    <a:schemeClr val="tx1"/>
                  </a:solidFill>
                </a:rPr>
                <a:t>6</a:t>
              </a:r>
              <a:endParaRPr kumimoji="1" lang="zh-TW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939ED7D-EB84-B212-99D9-551BE533707B}"/>
                </a:ext>
              </a:extLst>
            </p:cNvPr>
            <p:cNvSpPr/>
            <p:nvPr/>
          </p:nvSpPr>
          <p:spPr>
            <a:xfrm>
              <a:off x="10684115" y="5306660"/>
              <a:ext cx="683581" cy="488272"/>
            </a:xfrm>
            <a:prstGeom prst="rect">
              <a:avLst/>
            </a:prstGeom>
            <a:solidFill>
              <a:srgbClr val="F9ED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TW" altLang="en-US" dirty="0">
                  <a:solidFill>
                    <a:schemeClr val="tx1"/>
                  </a:solidFill>
                </a:rPr>
                <a:t>許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2B0583E1-A83D-31F2-B786-D989656FF794}"/>
                </a:ext>
              </a:extLst>
            </p:cNvPr>
            <p:cNvSpPr/>
            <p:nvPr/>
          </p:nvSpPr>
          <p:spPr>
            <a:xfrm>
              <a:off x="10480299" y="4108945"/>
              <a:ext cx="1091215" cy="638420"/>
            </a:xfrm>
            <a:prstGeom prst="rect">
              <a:avLst/>
            </a:prstGeom>
            <a:solidFill>
              <a:srgbClr val="FCE7D7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h</a:t>
              </a:r>
              <a:r>
                <a:rPr kumimoji="1" lang="en-US" altLang="zh-TW" sz="2400" baseline="-25000" dirty="0">
                  <a:solidFill>
                    <a:schemeClr val="tx1"/>
                  </a:solidFill>
                </a:rPr>
                <a:t>7</a:t>
              </a:r>
              <a:endParaRPr kumimoji="1" lang="zh-TW" altLang="en-US" sz="2400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直線箭頭接點 18">
              <a:extLst>
                <a:ext uri="{FF2B5EF4-FFF2-40B4-BE49-F238E27FC236}">
                  <a16:creationId xmlns:a16="http://schemas.microsoft.com/office/drawing/2014/main" id="{707408FA-1271-969E-0707-1DF05634E9F4}"/>
                </a:ext>
              </a:extLst>
            </p:cNvPr>
            <p:cNvCxnSpPr>
              <a:stCxn id="9" idx="3"/>
              <a:endCxn id="11" idx="1"/>
            </p:cNvCxnSpPr>
            <p:nvPr/>
          </p:nvCxnSpPr>
          <p:spPr>
            <a:xfrm>
              <a:off x="3279920" y="4428155"/>
              <a:ext cx="54952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箭頭接點 19">
              <a:extLst>
                <a:ext uri="{FF2B5EF4-FFF2-40B4-BE49-F238E27FC236}">
                  <a16:creationId xmlns:a16="http://schemas.microsoft.com/office/drawing/2014/main" id="{52D2F549-477F-F97E-B3F4-000FA572D702}"/>
                </a:ext>
              </a:extLst>
            </p:cNvPr>
            <p:cNvCxnSpPr>
              <a:cxnSpLocks/>
              <a:stCxn id="11" idx="3"/>
              <a:endCxn id="13" idx="1"/>
            </p:cNvCxnSpPr>
            <p:nvPr/>
          </p:nvCxnSpPr>
          <p:spPr>
            <a:xfrm>
              <a:off x="4920656" y="4428155"/>
              <a:ext cx="54952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箭頭接點 24">
              <a:extLst>
                <a:ext uri="{FF2B5EF4-FFF2-40B4-BE49-F238E27FC236}">
                  <a16:creationId xmlns:a16="http://schemas.microsoft.com/office/drawing/2014/main" id="{25079409-120F-E7F7-131B-F009222EB0B4}"/>
                </a:ext>
              </a:extLst>
            </p:cNvPr>
            <p:cNvCxnSpPr>
              <a:cxnSpLocks/>
              <a:stCxn id="15" idx="3"/>
              <a:endCxn id="17" idx="1"/>
            </p:cNvCxnSpPr>
            <p:nvPr/>
          </p:nvCxnSpPr>
          <p:spPr>
            <a:xfrm>
              <a:off x="9934691" y="4428155"/>
              <a:ext cx="54560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箭頭接點 27">
              <a:extLst>
                <a:ext uri="{FF2B5EF4-FFF2-40B4-BE49-F238E27FC236}">
                  <a16:creationId xmlns:a16="http://schemas.microsoft.com/office/drawing/2014/main" id="{35C780D0-7996-5F86-8069-EA01AF90FB20}"/>
                </a:ext>
              </a:extLst>
            </p:cNvPr>
            <p:cNvCxnSpPr>
              <a:cxnSpLocks/>
            </p:cNvCxnSpPr>
            <p:nvPr/>
          </p:nvCxnSpPr>
          <p:spPr>
            <a:xfrm>
              <a:off x="6561392" y="4428155"/>
              <a:ext cx="54952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箭頭接點 28">
              <a:extLst>
                <a:ext uri="{FF2B5EF4-FFF2-40B4-BE49-F238E27FC236}">
                  <a16:creationId xmlns:a16="http://schemas.microsoft.com/office/drawing/2014/main" id="{05DE6BAC-D3EF-5A24-7B88-655B2F585ABC}"/>
                </a:ext>
              </a:extLst>
            </p:cNvPr>
            <p:cNvCxnSpPr>
              <a:cxnSpLocks/>
            </p:cNvCxnSpPr>
            <p:nvPr/>
          </p:nvCxnSpPr>
          <p:spPr>
            <a:xfrm>
              <a:off x="8293955" y="4421143"/>
              <a:ext cx="54952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2F8951A5-49BA-68FF-521E-025C42F06150}"/>
                </a:ext>
              </a:extLst>
            </p:cNvPr>
            <p:cNvSpPr txBox="1"/>
            <p:nvPr/>
          </p:nvSpPr>
          <p:spPr>
            <a:xfrm>
              <a:off x="7500792" y="4012670"/>
              <a:ext cx="6835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3200" dirty="0"/>
                <a:t>...</a:t>
              </a:r>
              <a:endParaRPr kumimoji="1" lang="zh-TW" altLang="en-US" sz="3200" dirty="0"/>
            </a:p>
          </p:txBody>
        </p:sp>
        <p:cxnSp>
          <p:nvCxnSpPr>
            <p:cNvPr id="31" name="直線箭頭接點 30">
              <a:extLst>
                <a:ext uri="{FF2B5EF4-FFF2-40B4-BE49-F238E27FC236}">
                  <a16:creationId xmlns:a16="http://schemas.microsoft.com/office/drawing/2014/main" id="{A969CE53-E3D8-B939-64D9-72A82539CDFB}"/>
                </a:ext>
              </a:extLst>
            </p:cNvPr>
            <p:cNvCxnSpPr>
              <a:cxnSpLocks/>
              <a:stCxn id="5" idx="0"/>
              <a:endCxn id="9" idx="2"/>
            </p:cNvCxnSpPr>
            <p:nvPr/>
          </p:nvCxnSpPr>
          <p:spPr>
            <a:xfrm flipH="1" flipV="1">
              <a:off x="2734313" y="4747365"/>
              <a:ext cx="3" cy="5592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689C7E87-90B6-9E46-F431-A995A78D4751}"/>
                </a:ext>
              </a:extLst>
            </p:cNvPr>
            <p:cNvSpPr txBox="1"/>
            <p:nvPr/>
          </p:nvSpPr>
          <p:spPr>
            <a:xfrm>
              <a:off x="7500792" y="5141128"/>
              <a:ext cx="6835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3200" dirty="0"/>
                <a:t>...</a:t>
              </a:r>
              <a:endParaRPr kumimoji="1" lang="zh-TW" altLang="en-US" sz="3200" dirty="0"/>
            </a:p>
          </p:txBody>
        </p:sp>
        <p:cxnSp>
          <p:nvCxnSpPr>
            <p:cNvPr id="37" name="直線箭頭接點 36">
              <a:extLst>
                <a:ext uri="{FF2B5EF4-FFF2-40B4-BE49-F238E27FC236}">
                  <a16:creationId xmlns:a16="http://schemas.microsoft.com/office/drawing/2014/main" id="{4096EDDB-A80B-2CE9-109B-79E72E6289AB}"/>
                </a:ext>
              </a:extLst>
            </p:cNvPr>
            <p:cNvCxnSpPr>
              <a:cxnSpLocks/>
              <a:stCxn id="7" idx="0"/>
              <a:endCxn id="11" idx="2"/>
            </p:cNvCxnSpPr>
            <p:nvPr/>
          </p:nvCxnSpPr>
          <p:spPr>
            <a:xfrm flipV="1">
              <a:off x="4375048" y="4747365"/>
              <a:ext cx="1" cy="5592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箭頭接點 39">
              <a:extLst>
                <a:ext uri="{FF2B5EF4-FFF2-40B4-BE49-F238E27FC236}">
                  <a16:creationId xmlns:a16="http://schemas.microsoft.com/office/drawing/2014/main" id="{0F7B40D0-4B10-0688-0473-A5E3FA79DD54}"/>
                </a:ext>
              </a:extLst>
            </p:cNvPr>
            <p:cNvCxnSpPr>
              <a:cxnSpLocks/>
              <a:stCxn id="12" idx="0"/>
              <a:endCxn id="13" idx="2"/>
            </p:cNvCxnSpPr>
            <p:nvPr/>
          </p:nvCxnSpPr>
          <p:spPr>
            <a:xfrm flipV="1">
              <a:off x="6015784" y="4747365"/>
              <a:ext cx="1" cy="5592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箭頭接點 42">
              <a:extLst>
                <a:ext uri="{FF2B5EF4-FFF2-40B4-BE49-F238E27FC236}">
                  <a16:creationId xmlns:a16="http://schemas.microsoft.com/office/drawing/2014/main" id="{FCC67591-7155-7503-9B19-204703774C54}"/>
                </a:ext>
              </a:extLst>
            </p:cNvPr>
            <p:cNvCxnSpPr>
              <a:cxnSpLocks/>
              <a:stCxn id="14" idx="0"/>
              <a:endCxn id="15" idx="2"/>
            </p:cNvCxnSpPr>
            <p:nvPr/>
          </p:nvCxnSpPr>
          <p:spPr>
            <a:xfrm flipV="1">
              <a:off x="9389083" y="4747365"/>
              <a:ext cx="1" cy="5592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箭頭接點 45">
              <a:extLst>
                <a:ext uri="{FF2B5EF4-FFF2-40B4-BE49-F238E27FC236}">
                  <a16:creationId xmlns:a16="http://schemas.microsoft.com/office/drawing/2014/main" id="{D0688ECF-FE41-D1A7-AFCE-73157BA34EA3}"/>
                </a:ext>
              </a:extLst>
            </p:cNvPr>
            <p:cNvCxnSpPr>
              <a:cxnSpLocks/>
              <a:stCxn id="16" idx="0"/>
              <a:endCxn id="17" idx="2"/>
            </p:cNvCxnSpPr>
            <p:nvPr/>
          </p:nvCxnSpPr>
          <p:spPr>
            <a:xfrm flipV="1">
              <a:off x="11025906" y="4747365"/>
              <a:ext cx="1" cy="5592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39A4EAF7-C8F8-F0D7-DD7B-205830FD698E}"/>
                </a:ext>
              </a:extLst>
            </p:cNvPr>
            <p:cNvSpPr/>
            <p:nvPr/>
          </p:nvSpPr>
          <p:spPr>
            <a:xfrm>
              <a:off x="547970" y="4108945"/>
              <a:ext cx="1091215" cy="638420"/>
            </a:xfrm>
            <a:prstGeom prst="rect">
              <a:avLst/>
            </a:prstGeom>
            <a:solidFill>
              <a:srgbClr val="FCE7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h</a:t>
              </a:r>
              <a:r>
                <a:rPr kumimoji="1" lang="en-US" altLang="zh-TW" sz="2400" baseline="-25000" dirty="0">
                  <a:solidFill>
                    <a:schemeClr val="tx1"/>
                  </a:solidFill>
                </a:rPr>
                <a:t>0</a:t>
              </a:r>
              <a:endParaRPr kumimoji="1" lang="zh-TW" altLang="en-US" sz="2400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50" name="直線箭頭接點 49">
              <a:extLst>
                <a:ext uri="{FF2B5EF4-FFF2-40B4-BE49-F238E27FC236}">
                  <a16:creationId xmlns:a16="http://schemas.microsoft.com/office/drawing/2014/main" id="{E4E944BF-886A-D3C5-57CB-3E981E9EAC43}"/>
                </a:ext>
              </a:extLst>
            </p:cNvPr>
            <p:cNvCxnSpPr>
              <a:cxnSpLocks/>
              <a:stCxn id="49" idx="3"/>
              <a:endCxn id="9" idx="1"/>
            </p:cNvCxnSpPr>
            <p:nvPr/>
          </p:nvCxnSpPr>
          <p:spPr>
            <a:xfrm>
              <a:off x="1639185" y="4428155"/>
              <a:ext cx="54952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橢圓圖說文字 52">
            <a:extLst>
              <a:ext uri="{FF2B5EF4-FFF2-40B4-BE49-F238E27FC236}">
                <a16:creationId xmlns:a16="http://schemas.microsoft.com/office/drawing/2014/main" id="{BDBD93E0-28A2-1AB2-38AF-AFFC35864028}"/>
              </a:ext>
            </a:extLst>
          </p:cNvPr>
          <p:cNvSpPr/>
          <p:nvPr/>
        </p:nvSpPr>
        <p:spPr>
          <a:xfrm>
            <a:off x="8341650" y="2556776"/>
            <a:ext cx="3229864" cy="1096429"/>
          </a:xfrm>
          <a:prstGeom prst="wedgeEllipseCallout">
            <a:avLst>
              <a:gd name="adj1" fmla="val 28517"/>
              <a:gd name="adj2" fmla="val 7977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已經包含了「庭院深深深幾許」的資訊</a:t>
            </a:r>
          </a:p>
        </p:txBody>
      </p:sp>
      <p:sp>
        <p:nvSpPr>
          <p:cNvPr id="55" name="橢圓圖說文字 54">
            <a:extLst>
              <a:ext uri="{FF2B5EF4-FFF2-40B4-BE49-F238E27FC236}">
                <a16:creationId xmlns:a16="http://schemas.microsoft.com/office/drawing/2014/main" id="{F329370E-F317-6D2F-F92C-17AF8813E0F8}"/>
              </a:ext>
            </a:extLst>
          </p:cNvPr>
          <p:cNvSpPr/>
          <p:nvPr/>
        </p:nvSpPr>
        <p:spPr>
          <a:xfrm>
            <a:off x="979121" y="2556776"/>
            <a:ext cx="2419168" cy="1096429"/>
          </a:xfrm>
          <a:prstGeom prst="wedgeEllipseCallout">
            <a:avLst>
              <a:gd name="adj1" fmla="val 23746"/>
              <a:gd name="adj2" fmla="val 8138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得知第一個字為「庭」</a:t>
            </a:r>
          </a:p>
        </p:txBody>
      </p:sp>
      <p:sp>
        <p:nvSpPr>
          <p:cNvPr id="57" name="橢圓圖說文字 56">
            <a:extLst>
              <a:ext uri="{FF2B5EF4-FFF2-40B4-BE49-F238E27FC236}">
                <a16:creationId xmlns:a16="http://schemas.microsoft.com/office/drawing/2014/main" id="{D0EF801E-7A48-BF0D-EC47-D60F0F11D8D6}"/>
              </a:ext>
            </a:extLst>
          </p:cNvPr>
          <p:cNvSpPr/>
          <p:nvPr/>
        </p:nvSpPr>
        <p:spPr>
          <a:xfrm>
            <a:off x="3606288" y="2556776"/>
            <a:ext cx="3229864" cy="1096429"/>
          </a:xfrm>
          <a:prstGeom prst="wedgeEllipseCallout">
            <a:avLst>
              <a:gd name="adj1" fmla="val 24394"/>
              <a:gd name="adj2" fmla="val 8138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已經包含了「庭院深」的資訊</a:t>
            </a:r>
          </a:p>
        </p:txBody>
      </p:sp>
    </p:spTree>
    <p:extLst>
      <p:ext uri="{BB962C8B-B14F-4D97-AF65-F5344CB8AC3E}">
        <p14:creationId xmlns:p14="http://schemas.microsoft.com/office/powerpoint/2010/main" val="1964500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5" grpId="0" animBg="1"/>
      <p:bldP spid="5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A7C462-748B-33DD-14CF-D1FF7E789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序列模型 </a:t>
            </a:r>
            <a:r>
              <a:rPr kumimoji="1" lang="en-US" altLang="zh-TW" dirty="0"/>
              <a:t>(Sequential Model)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4E7FD3-4F36-3459-C894-7F3C254C0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05EB255-6B8C-5DF8-A3FE-DA863BACF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8375" y="1697332"/>
            <a:ext cx="5540824" cy="278758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741CA8A-8157-7EC5-8878-4A67905B33D4}"/>
              </a:ext>
            </a:extLst>
          </p:cNvPr>
          <p:cNvSpPr/>
          <p:nvPr/>
        </p:nvSpPr>
        <p:spPr>
          <a:xfrm>
            <a:off x="9535886" y="2387124"/>
            <a:ext cx="1147665" cy="289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/>
              <a:t>Conv2d</a:t>
            </a:r>
            <a:endParaRPr kumimoji="1" lang="zh-TW" altLang="en-US" sz="16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4A95FC-9D0D-8B8C-5A8F-5C18B7C565D2}"/>
              </a:ext>
            </a:extLst>
          </p:cNvPr>
          <p:cNvSpPr/>
          <p:nvPr/>
        </p:nvSpPr>
        <p:spPr>
          <a:xfrm>
            <a:off x="9535884" y="2873072"/>
            <a:ext cx="1147665" cy="289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 err="1"/>
              <a:t>ReLU</a:t>
            </a:r>
            <a:endParaRPr kumimoji="1" lang="zh-TW" altLang="en-US" sz="16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77A428E-D535-5ABB-DCAC-B048140C884F}"/>
              </a:ext>
            </a:extLst>
          </p:cNvPr>
          <p:cNvSpPr/>
          <p:nvPr/>
        </p:nvSpPr>
        <p:spPr>
          <a:xfrm>
            <a:off x="9535884" y="3359020"/>
            <a:ext cx="1147665" cy="289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 err="1"/>
              <a:t>MaxPool</a:t>
            </a:r>
            <a:endParaRPr kumimoji="1" lang="zh-TW" altLang="en-US" sz="1600" dirty="0"/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9BF4D844-E93C-7C44-6BDC-793FE4598A63}"/>
              </a:ext>
            </a:extLst>
          </p:cNvPr>
          <p:cNvCxnSpPr>
            <a:cxnSpLocks/>
          </p:cNvCxnSpPr>
          <p:nvPr/>
        </p:nvCxnSpPr>
        <p:spPr>
          <a:xfrm flipH="1">
            <a:off x="10109717" y="2676373"/>
            <a:ext cx="2" cy="1966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2B635D24-3F8A-1E67-BE76-5BE340CF94B3}"/>
              </a:ext>
            </a:extLst>
          </p:cNvPr>
          <p:cNvCxnSpPr>
            <a:cxnSpLocks/>
          </p:cNvCxnSpPr>
          <p:nvPr/>
        </p:nvCxnSpPr>
        <p:spPr>
          <a:xfrm>
            <a:off x="10109718" y="3162321"/>
            <a:ext cx="0" cy="1966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5A7ADFEC-9162-ADD0-A7D8-94A078C9789F}"/>
              </a:ext>
            </a:extLst>
          </p:cNvPr>
          <p:cNvCxnSpPr>
            <a:cxnSpLocks/>
          </p:cNvCxnSpPr>
          <p:nvPr/>
        </p:nvCxnSpPr>
        <p:spPr>
          <a:xfrm>
            <a:off x="10109718" y="3648269"/>
            <a:ext cx="0" cy="1966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FBCA333-F37E-EB25-54C6-F93C36305DAD}"/>
              </a:ext>
            </a:extLst>
          </p:cNvPr>
          <p:cNvSpPr txBox="1"/>
          <p:nvPr/>
        </p:nvSpPr>
        <p:spPr>
          <a:xfrm>
            <a:off x="9703834" y="3792511"/>
            <a:ext cx="811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...</a:t>
            </a:r>
            <a:endParaRPr kumimoji="1"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D765F99-59BD-FC26-D44B-26779DE5E102}"/>
              </a:ext>
            </a:extLst>
          </p:cNvPr>
          <p:cNvSpPr txBox="1"/>
          <p:nvPr/>
        </p:nvSpPr>
        <p:spPr>
          <a:xfrm>
            <a:off x="1129005" y="2934305"/>
            <a:ext cx="1763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一層一層執行</a:t>
            </a:r>
            <a:endParaRPr kumimoji="1" lang="en-US" altLang="zh-TW" dirty="0"/>
          </a:p>
          <a:p>
            <a:r>
              <a:rPr kumimoji="1" lang="en-US" altLang="zh-TW" dirty="0"/>
              <a:t>(Recap)</a:t>
            </a:r>
            <a:endParaRPr kumimoji="1"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C9A1BC9-0A4C-B0AA-220C-EA7D55AB335C}"/>
              </a:ext>
            </a:extLst>
          </p:cNvPr>
          <p:cNvSpPr txBox="1"/>
          <p:nvPr/>
        </p:nvSpPr>
        <p:spPr>
          <a:xfrm>
            <a:off x="1129005" y="5310104"/>
            <a:ext cx="1902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</a:rPr>
              <a:t>序列模型</a:t>
            </a:r>
            <a:r>
              <a:rPr kumimoji="1" lang="zh-TW" altLang="en-US" dirty="0">
                <a:solidFill>
                  <a:srgbClr val="FF0000"/>
                </a:solidFill>
              </a:rPr>
              <a:t>：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r>
              <a:rPr kumimoji="1" lang="zh-TW" altLang="en-US" dirty="0">
                <a:solidFill>
                  <a:srgbClr val="FF0000"/>
                </a:solidFill>
              </a:rPr>
              <a:t>一步一步執行，有時間點關係</a:t>
            </a:r>
            <a:endParaRPr kumimoji="1" lang="en-US" altLang="zh-TW" dirty="0">
              <a:solidFill>
                <a:srgbClr val="FF0000"/>
              </a:solidFill>
            </a:endParaRPr>
          </a:p>
        </p:txBody>
      </p: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74C47B85-3139-D5F9-3489-30BECC3554C0}"/>
              </a:ext>
            </a:extLst>
          </p:cNvPr>
          <p:cNvGrpSpPr/>
          <p:nvPr/>
        </p:nvGrpSpPr>
        <p:grpSpPr>
          <a:xfrm>
            <a:off x="3284371" y="5171603"/>
            <a:ext cx="8165841" cy="1061831"/>
            <a:chOff x="547970" y="3863327"/>
            <a:chExt cx="11023544" cy="2051523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0E2806CF-911B-093B-B007-19FE14E11F9B}"/>
                </a:ext>
              </a:extLst>
            </p:cNvPr>
            <p:cNvSpPr/>
            <p:nvPr/>
          </p:nvSpPr>
          <p:spPr>
            <a:xfrm>
              <a:off x="2392525" y="5306660"/>
              <a:ext cx="683581" cy="488272"/>
            </a:xfrm>
            <a:prstGeom prst="rect">
              <a:avLst/>
            </a:prstGeom>
            <a:solidFill>
              <a:srgbClr val="F9ED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TW" altLang="en-US" sz="1400" dirty="0">
                  <a:solidFill>
                    <a:schemeClr val="tx1"/>
                  </a:solidFill>
                </a:rPr>
                <a:t>庭</a:t>
              </a: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DBE0D9F1-5B6F-2979-8724-CFBB56C15B55}"/>
                </a:ext>
              </a:extLst>
            </p:cNvPr>
            <p:cNvSpPr/>
            <p:nvPr/>
          </p:nvSpPr>
          <p:spPr>
            <a:xfrm>
              <a:off x="4033257" y="5306660"/>
              <a:ext cx="683581" cy="488272"/>
            </a:xfrm>
            <a:prstGeom prst="rect">
              <a:avLst/>
            </a:prstGeom>
            <a:solidFill>
              <a:srgbClr val="F9ED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TW" altLang="en-US" sz="1400" dirty="0">
                  <a:solidFill>
                    <a:schemeClr val="tx1"/>
                  </a:solidFill>
                </a:rPr>
                <a:t>院</a:t>
              </a: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F8B0ED17-A3A9-7573-7081-E42AEB712129}"/>
                </a:ext>
              </a:extLst>
            </p:cNvPr>
            <p:cNvSpPr/>
            <p:nvPr/>
          </p:nvSpPr>
          <p:spPr>
            <a:xfrm>
              <a:off x="2188705" y="4108945"/>
              <a:ext cx="1091215" cy="638420"/>
            </a:xfrm>
            <a:prstGeom prst="rect">
              <a:avLst/>
            </a:prstGeom>
            <a:solidFill>
              <a:srgbClr val="FCE7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h</a:t>
              </a:r>
              <a:r>
                <a:rPr kumimoji="1" lang="en-US" altLang="zh-TW" baseline="-25000" dirty="0">
                  <a:solidFill>
                    <a:schemeClr val="tx1"/>
                  </a:solidFill>
                </a:rPr>
                <a:t>1</a:t>
              </a:r>
              <a:endParaRPr kumimoji="1" lang="zh-TW" alt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B95B4C78-F775-32C5-E486-522B665B50CF}"/>
                </a:ext>
              </a:extLst>
            </p:cNvPr>
            <p:cNvSpPr/>
            <p:nvPr/>
          </p:nvSpPr>
          <p:spPr>
            <a:xfrm>
              <a:off x="3829441" y="4108945"/>
              <a:ext cx="1091215" cy="638420"/>
            </a:xfrm>
            <a:prstGeom prst="rect">
              <a:avLst/>
            </a:prstGeom>
            <a:solidFill>
              <a:srgbClr val="FCE7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h</a:t>
              </a:r>
              <a:r>
                <a:rPr kumimoji="1" lang="en-US" altLang="zh-TW" baseline="-25000" dirty="0">
                  <a:solidFill>
                    <a:schemeClr val="tx1"/>
                  </a:solidFill>
                </a:rPr>
                <a:t>2</a:t>
              </a:r>
              <a:endParaRPr kumimoji="1" lang="zh-TW" alt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683E87B9-3221-463F-83D8-D2551D7F3CA8}"/>
                </a:ext>
              </a:extLst>
            </p:cNvPr>
            <p:cNvSpPr/>
            <p:nvPr/>
          </p:nvSpPr>
          <p:spPr>
            <a:xfrm>
              <a:off x="5673993" y="5306660"/>
              <a:ext cx="683581" cy="488272"/>
            </a:xfrm>
            <a:prstGeom prst="rect">
              <a:avLst/>
            </a:prstGeom>
            <a:solidFill>
              <a:srgbClr val="F9ED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TW" altLang="en-US" sz="1400" dirty="0">
                  <a:solidFill>
                    <a:schemeClr val="tx1"/>
                  </a:solidFill>
                </a:rPr>
                <a:t>深</a:t>
              </a: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C54EA726-F30F-57FC-CDEA-88960AE5A09F}"/>
                </a:ext>
              </a:extLst>
            </p:cNvPr>
            <p:cNvSpPr/>
            <p:nvPr/>
          </p:nvSpPr>
          <p:spPr>
            <a:xfrm>
              <a:off x="5470177" y="4108945"/>
              <a:ext cx="1091215" cy="638420"/>
            </a:xfrm>
            <a:prstGeom prst="rect">
              <a:avLst/>
            </a:prstGeom>
            <a:solidFill>
              <a:srgbClr val="FCE7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h</a:t>
              </a:r>
              <a:r>
                <a:rPr kumimoji="1" lang="en-US" altLang="zh-TW" baseline="-25000" dirty="0">
                  <a:solidFill>
                    <a:schemeClr val="tx1"/>
                  </a:solidFill>
                </a:rPr>
                <a:t>3</a:t>
              </a:r>
              <a:endParaRPr kumimoji="1" lang="zh-TW" alt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5B3ECA1C-2641-4CF6-7A34-E6B66100FEA6}"/>
                </a:ext>
              </a:extLst>
            </p:cNvPr>
            <p:cNvSpPr/>
            <p:nvPr/>
          </p:nvSpPr>
          <p:spPr>
            <a:xfrm>
              <a:off x="9047292" y="5306660"/>
              <a:ext cx="683581" cy="488272"/>
            </a:xfrm>
            <a:prstGeom prst="rect">
              <a:avLst/>
            </a:prstGeom>
            <a:solidFill>
              <a:srgbClr val="F9ED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TW" altLang="en-US" sz="1400" dirty="0">
                  <a:solidFill>
                    <a:schemeClr val="tx1"/>
                  </a:solidFill>
                </a:rPr>
                <a:t>幾</a:t>
              </a: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2145E30D-13A5-684D-6B03-46C4D3EA4FD0}"/>
                </a:ext>
              </a:extLst>
            </p:cNvPr>
            <p:cNvSpPr/>
            <p:nvPr/>
          </p:nvSpPr>
          <p:spPr>
            <a:xfrm>
              <a:off x="8843476" y="4108945"/>
              <a:ext cx="1091215" cy="638420"/>
            </a:xfrm>
            <a:prstGeom prst="rect">
              <a:avLst/>
            </a:prstGeom>
            <a:solidFill>
              <a:srgbClr val="FCE7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h</a:t>
              </a:r>
              <a:r>
                <a:rPr kumimoji="1" lang="en-US" altLang="zh-TW" baseline="-25000" dirty="0">
                  <a:solidFill>
                    <a:schemeClr val="tx1"/>
                  </a:solidFill>
                </a:rPr>
                <a:t>6</a:t>
              </a:r>
              <a:endParaRPr kumimoji="1" lang="zh-TW" alt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D913F775-EF4F-1DA9-C210-81BD522F3783}"/>
                </a:ext>
              </a:extLst>
            </p:cNvPr>
            <p:cNvSpPr/>
            <p:nvPr/>
          </p:nvSpPr>
          <p:spPr>
            <a:xfrm>
              <a:off x="10684115" y="5306660"/>
              <a:ext cx="683581" cy="488272"/>
            </a:xfrm>
            <a:prstGeom prst="rect">
              <a:avLst/>
            </a:prstGeom>
            <a:solidFill>
              <a:srgbClr val="F9ED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TW" altLang="en-US" sz="1400" dirty="0">
                  <a:solidFill>
                    <a:schemeClr val="tx1"/>
                  </a:solidFill>
                </a:rPr>
                <a:t>許</a:t>
              </a: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3538D150-C739-B1B8-7D92-30D36CD6353C}"/>
                </a:ext>
              </a:extLst>
            </p:cNvPr>
            <p:cNvSpPr/>
            <p:nvPr/>
          </p:nvSpPr>
          <p:spPr>
            <a:xfrm>
              <a:off x="10480299" y="4108945"/>
              <a:ext cx="1091215" cy="638420"/>
            </a:xfrm>
            <a:prstGeom prst="rect">
              <a:avLst/>
            </a:prstGeom>
            <a:solidFill>
              <a:srgbClr val="FCE7D7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h</a:t>
              </a:r>
              <a:r>
                <a:rPr kumimoji="1" lang="en-US" altLang="zh-TW" baseline="-25000" dirty="0">
                  <a:solidFill>
                    <a:schemeClr val="tx1"/>
                  </a:solidFill>
                </a:rPr>
                <a:t>7</a:t>
              </a:r>
              <a:endParaRPr kumimoji="1" lang="zh-TW" altLang="en-US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57" name="直線箭頭接點 56">
              <a:extLst>
                <a:ext uri="{FF2B5EF4-FFF2-40B4-BE49-F238E27FC236}">
                  <a16:creationId xmlns:a16="http://schemas.microsoft.com/office/drawing/2014/main" id="{23665542-D4B7-385F-2257-ACEC22E3DDAC}"/>
                </a:ext>
              </a:extLst>
            </p:cNvPr>
            <p:cNvCxnSpPr>
              <a:stCxn id="49" idx="3"/>
              <a:endCxn id="50" idx="1"/>
            </p:cNvCxnSpPr>
            <p:nvPr/>
          </p:nvCxnSpPr>
          <p:spPr>
            <a:xfrm>
              <a:off x="3279920" y="4428155"/>
              <a:ext cx="54952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箭頭接點 57">
              <a:extLst>
                <a:ext uri="{FF2B5EF4-FFF2-40B4-BE49-F238E27FC236}">
                  <a16:creationId xmlns:a16="http://schemas.microsoft.com/office/drawing/2014/main" id="{4E8DB039-2752-9BC0-754C-182D019C0AB1}"/>
                </a:ext>
              </a:extLst>
            </p:cNvPr>
            <p:cNvCxnSpPr>
              <a:cxnSpLocks/>
              <a:stCxn id="50" idx="3"/>
              <a:endCxn id="52" idx="1"/>
            </p:cNvCxnSpPr>
            <p:nvPr/>
          </p:nvCxnSpPr>
          <p:spPr>
            <a:xfrm>
              <a:off x="4920656" y="4428155"/>
              <a:ext cx="54952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箭頭接點 58">
              <a:extLst>
                <a:ext uri="{FF2B5EF4-FFF2-40B4-BE49-F238E27FC236}">
                  <a16:creationId xmlns:a16="http://schemas.microsoft.com/office/drawing/2014/main" id="{CB626237-A39F-B8E2-0AC8-4B383C76E0EA}"/>
                </a:ext>
              </a:extLst>
            </p:cNvPr>
            <p:cNvCxnSpPr>
              <a:cxnSpLocks/>
              <a:stCxn id="54" idx="3"/>
              <a:endCxn id="56" idx="1"/>
            </p:cNvCxnSpPr>
            <p:nvPr/>
          </p:nvCxnSpPr>
          <p:spPr>
            <a:xfrm>
              <a:off x="9934691" y="4428155"/>
              <a:ext cx="54560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箭頭接點 59">
              <a:extLst>
                <a:ext uri="{FF2B5EF4-FFF2-40B4-BE49-F238E27FC236}">
                  <a16:creationId xmlns:a16="http://schemas.microsoft.com/office/drawing/2014/main" id="{196D7A8B-8825-1B8B-DD0D-5F758596C587}"/>
                </a:ext>
              </a:extLst>
            </p:cNvPr>
            <p:cNvCxnSpPr>
              <a:cxnSpLocks/>
            </p:cNvCxnSpPr>
            <p:nvPr/>
          </p:nvCxnSpPr>
          <p:spPr>
            <a:xfrm>
              <a:off x="6561392" y="4428155"/>
              <a:ext cx="54952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箭頭接點 60">
              <a:extLst>
                <a:ext uri="{FF2B5EF4-FFF2-40B4-BE49-F238E27FC236}">
                  <a16:creationId xmlns:a16="http://schemas.microsoft.com/office/drawing/2014/main" id="{8DAC81AF-3DC2-F8A1-742E-57699D00F1D9}"/>
                </a:ext>
              </a:extLst>
            </p:cNvPr>
            <p:cNvCxnSpPr>
              <a:cxnSpLocks/>
            </p:cNvCxnSpPr>
            <p:nvPr/>
          </p:nvCxnSpPr>
          <p:spPr>
            <a:xfrm>
              <a:off x="8293955" y="4421143"/>
              <a:ext cx="54952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E8E1027C-341D-68DA-1D79-F3415FFDCED2}"/>
                </a:ext>
              </a:extLst>
            </p:cNvPr>
            <p:cNvSpPr txBox="1"/>
            <p:nvPr/>
          </p:nvSpPr>
          <p:spPr>
            <a:xfrm>
              <a:off x="7500792" y="3863327"/>
              <a:ext cx="683580" cy="8919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2400" dirty="0"/>
                <a:t>...</a:t>
              </a:r>
              <a:endParaRPr kumimoji="1" lang="zh-TW" altLang="en-US" sz="2400" dirty="0"/>
            </a:p>
          </p:txBody>
        </p:sp>
        <p:cxnSp>
          <p:nvCxnSpPr>
            <p:cNvPr id="63" name="直線箭頭接點 62">
              <a:extLst>
                <a:ext uri="{FF2B5EF4-FFF2-40B4-BE49-F238E27FC236}">
                  <a16:creationId xmlns:a16="http://schemas.microsoft.com/office/drawing/2014/main" id="{FD2F4CB1-EAF4-F594-1177-26DD24EC608E}"/>
                </a:ext>
              </a:extLst>
            </p:cNvPr>
            <p:cNvCxnSpPr>
              <a:cxnSpLocks/>
              <a:stCxn id="47" idx="0"/>
              <a:endCxn id="49" idx="2"/>
            </p:cNvCxnSpPr>
            <p:nvPr/>
          </p:nvCxnSpPr>
          <p:spPr>
            <a:xfrm flipH="1" flipV="1">
              <a:off x="2734313" y="4747365"/>
              <a:ext cx="3" cy="5592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527CF7D0-F6B5-1AF7-608C-CD177CAA1F4B}"/>
                </a:ext>
              </a:extLst>
            </p:cNvPr>
            <p:cNvSpPr txBox="1"/>
            <p:nvPr/>
          </p:nvSpPr>
          <p:spPr>
            <a:xfrm>
              <a:off x="7503019" y="5022885"/>
              <a:ext cx="683580" cy="8919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2400" dirty="0"/>
                <a:t>...</a:t>
              </a:r>
              <a:endParaRPr kumimoji="1" lang="zh-TW" altLang="en-US" sz="2400" dirty="0"/>
            </a:p>
          </p:txBody>
        </p:sp>
        <p:cxnSp>
          <p:nvCxnSpPr>
            <p:cNvPr id="65" name="直線箭頭接點 64">
              <a:extLst>
                <a:ext uri="{FF2B5EF4-FFF2-40B4-BE49-F238E27FC236}">
                  <a16:creationId xmlns:a16="http://schemas.microsoft.com/office/drawing/2014/main" id="{53CF1FAA-EB5F-9DAE-344C-A34D7A79C5ED}"/>
                </a:ext>
              </a:extLst>
            </p:cNvPr>
            <p:cNvCxnSpPr>
              <a:cxnSpLocks/>
              <a:stCxn id="48" idx="0"/>
              <a:endCxn id="50" idx="2"/>
            </p:cNvCxnSpPr>
            <p:nvPr/>
          </p:nvCxnSpPr>
          <p:spPr>
            <a:xfrm flipV="1">
              <a:off x="4375048" y="4747365"/>
              <a:ext cx="1" cy="5592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箭頭接點 65">
              <a:extLst>
                <a:ext uri="{FF2B5EF4-FFF2-40B4-BE49-F238E27FC236}">
                  <a16:creationId xmlns:a16="http://schemas.microsoft.com/office/drawing/2014/main" id="{750A2EFB-F806-288F-4CC9-DCC80824FD1F}"/>
                </a:ext>
              </a:extLst>
            </p:cNvPr>
            <p:cNvCxnSpPr>
              <a:cxnSpLocks/>
              <a:stCxn id="51" idx="0"/>
              <a:endCxn id="52" idx="2"/>
            </p:cNvCxnSpPr>
            <p:nvPr/>
          </p:nvCxnSpPr>
          <p:spPr>
            <a:xfrm flipV="1">
              <a:off x="6015784" y="4747365"/>
              <a:ext cx="1" cy="5592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箭頭接點 66">
              <a:extLst>
                <a:ext uri="{FF2B5EF4-FFF2-40B4-BE49-F238E27FC236}">
                  <a16:creationId xmlns:a16="http://schemas.microsoft.com/office/drawing/2014/main" id="{87E7E38B-4D47-4641-85FC-9D57DCC3EA20}"/>
                </a:ext>
              </a:extLst>
            </p:cNvPr>
            <p:cNvCxnSpPr>
              <a:cxnSpLocks/>
              <a:stCxn id="53" idx="0"/>
              <a:endCxn id="54" idx="2"/>
            </p:cNvCxnSpPr>
            <p:nvPr/>
          </p:nvCxnSpPr>
          <p:spPr>
            <a:xfrm flipV="1">
              <a:off x="9389083" y="4747365"/>
              <a:ext cx="1" cy="5592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箭頭接點 67">
              <a:extLst>
                <a:ext uri="{FF2B5EF4-FFF2-40B4-BE49-F238E27FC236}">
                  <a16:creationId xmlns:a16="http://schemas.microsoft.com/office/drawing/2014/main" id="{EDEB6A1B-4C5C-7DB2-5817-3A896ABD65BC}"/>
                </a:ext>
              </a:extLst>
            </p:cNvPr>
            <p:cNvCxnSpPr>
              <a:cxnSpLocks/>
              <a:stCxn id="55" idx="0"/>
              <a:endCxn id="56" idx="2"/>
            </p:cNvCxnSpPr>
            <p:nvPr/>
          </p:nvCxnSpPr>
          <p:spPr>
            <a:xfrm flipV="1">
              <a:off x="11025906" y="4747365"/>
              <a:ext cx="1" cy="5592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DDC9ACD6-F4E0-9288-6780-76F520682107}"/>
                </a:ext>
              </a:extLst>
            </p:cNvPr>
            <p:cNvSpPr/>
            <p:nvPr/>
          </p:nvSpPr>
          <p:spPr>
            <a:xfrm>
              <a:off x="547970" y="4108945"/>
              <a:ext cx="1091215" cy="638420"/>
            </a:xfrm>
            <a:prstGeom prst="rect">
              <a:avLst/>
            </a:prstGeom>
            <a:solidFill>
              <a:srgbClr val="FCE7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h</a:t>
              </a:r>
              <a:r>
                <a:rPr kumimoji="1" lang="en-US" altLang="zh-TW" baseline="-25000" dirty="0">
                  <a:solidFill>
                    <a:schemeClr val="tx1"/>
                  </a:solidFill>
                </a:rPr>
                <a:t>0</a:t>
              </a:r>
              <a:endParaRPr kumimoji="1" lang="zh-TW" altLang="en-US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70" name="直線箭頭接點 69">
              <a:extLst>
                <a:ext uri="{FF2B5EF4-FFF2-40B4-BE49-F238E27FC236}">
                  <a16:creationId xmlns:a16="http://schemas.microsoft.com/office/drawing/2014/main" id="{792E650A-D404-21FF-D574-5F6C6E5A69D4}"/>
                </a:ext>
              </a:extLst>
            </p:cNvPr>
            <p:cNvCxnSpPr>
              <a:cxnSpLocks/>
              <a:stCxn id="69" idx="3"/>
              <a:endCxn id="49" idx="1"/>
            </p:cNvCxnSpPr>
            <p:nvPr/>
          </p:nvCxnSpPr>
          <p:spPr>
            <a:xfrm>
              <a:off x="1639185" y="4428155"/>
              <a:ext cx="54952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B878BC7B-CF3A-DD83-C2AD-492D55618A73}"/>
              </a:ext>
            </a:extLst>
          </p:cNvPr>
          <p:cNvCxnSpPr/>
          <p:nvPr/>
        </p:nvCxnSpPr>
        <p:spPr>
          <a:xfrm>
            <a:off x="800886" y="4674637"/>
            <a:ext cx="1071154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7314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9" grpId="0"/>
      <p:bldP spid="20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47294B-057B-CF76-374A-E0E0AD930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為什麼我們需要序列模型</a:t>
            </a:r>
            <a:r>
              <a:rPr kumimoji="1" lang="en" altLang="zh-TW" dirty="0"/>
              <a:t>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66F0BEF-F086-67B5-4C45-6C3E6E926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97E0D01-DF5F-9FDA-B28B-88BD22B023D6}"/>
              </a:ext>
            </a:extLst>
          </p:cNvPr>
          <p:cNvSpPr/>
          <p:nvPr/>
        </p:nvSpPr>
        <p:spPr>
          <a:xfrm>
            <a:off x="1341364" y="3732614"/>
            <a:ext cx="694845" cy="65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RNN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430356-F0BC-3C54-0743-3EA48CCDF238}"/>
              </a:ext>
            </a:extLst>
          </p:cNvPr>
          <p:cNvSpPr/>
          <p:nvPr/>
        </p:nvSpPr>
        <p:spPr>
          <a:xfrm>
            <a:off x="2427099" y="3732614"/>
            <a:ext cx="694845" cy="65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RNN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C8CBCE-CD50-F953-51E6-44FD642733A6}"/>
              </a:ext>
            </a:extLst>
          </p:cNvPr>
          <p:cNvSpPr/>
          <p:nvPr/>
        </p:nvSpPr>
        <p:spPr>
          <a:xfrm>
            <a:off x="3512834" y="3732614"/>
            <a:ext cx="694845" cy="65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RNN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A3DBFE1C-B07C-558A-6EDA-FED0F895E1DA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036209" y="4060336"/>
            <a:ext cx="39089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3E1F0DF0-5BB6-59E2-566E-CA6DB1188439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3121944" y="4060336"/>
            <a:ext cx="39089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5D89391E-EBD1-FD77-A537-D7A4239F14CC}"/>
              </a:ext>
            </a:extLst>
          </p:cNvPr>
          <p:cNvSpPr/>
          <p:nvPr/>
        </p:nvSpPr>
        <p:spPr>
          <a:xfrm>
            <a:off x="4598570" y="3732614"/>
            <a:ext cx="694845" cy="65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RNN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89DE089D-B868-23AA-D4B4-3AFBB8D462FD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4207679" y="4060336"/>
            <a:ext cx="39089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89F7D9DB-90EC-35CF-CEC5-1DDF5A61BBBF}"/>
              </a:ext>
            </a:extLst>
          </p:cNvPr>
          <p:cNvSpPr/>
          <p:nvPr/>
        </p:nvSpPr>
        <p:spPr>
          <a:xfrm>
            <a:off x="1589693" y="4864731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532B7F-1F0B-BF23-FBBC-9214EC576DCC}"/>
              </a:ext>
            </a:extLst>
          </p:cNvPr>
          <p:cNvSpPr/>
          <p:nvPr/>
        </p:nvSpPr>
        <p:spPr>
          <a:xfrm>
            <a:off x="2675428" y="4864731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DFE3883-E20F-7FB2-E4B6-B4326F44A75B}"/>
              </a:ext>
            </a:extLst>
          </p:cNvPr>
          <p:cNvSpPr/>
          <p:nvPr/>
        </p:nvSpPr>
        <p:spPr>
          <a:xfrm>
            <a:off x="3761163" y="4864731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44277B2-B7E7-D17E-BAC4-D1FA7AADC990}"/>
              </a:ext>
            </a:extLst>
          </p:cNvPr>
          <p:cNvSpPr/>
          <p:nvPr/>
        </p:nvSpPr>
        <p:spPr>
          <a:xfrm>
            <a:off x="4846899" y="4864731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13D764-A530-053D-D983-615947CEBE1F}"/>
              </a:ext>
            </a:extLst>
          </p:cNvPr>
          <p:cNvSpPr/>
          <p:nvPr/>
        </p:nvSpPr>
        <p:spPr>
          <a:xfrm>
            <a:off x="1589693" y="2601651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A0E0F23-CC19-703B-F1B9-C6B61024E816}"/>
              </a:ext>
            </a:extLst>
          </p:cNvPr>
          <p:cNvSpPr/>
          <p:nvPr/>
        </p:nvSpPr>
        <p:spPr>
          <a:xfrm>
            <a:off x="2675428" y="2600497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72F3E36-26BB-8CD7-E1D4-B9BDC8B00688}"/>
              </a:ext>
            </a:extLst>
          </p:cNvPr>
          <p:cNvSpPr/>
          <p:nvPr/>
        </p:nvSpPr>
        <p:spPr>
          <a:xfrm>
            <a:off x="3761163" y="2600497"/>
            <a:ext cx="198186" cy="6554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54D048C-A4F0-7830-2440-E59EAFCFC14B}"/>
              </a:ext>
            </a:extLst>
          </p:cNvPr>
          <p:cNvSpPr/>
          <p:nvPr/>
        </p:nvSpPr>
        <p:spPr>
          <a:xfrm>
            <a:off x="4846897" y="2600497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452C7D96-3CA8-3A2A-DAA7-4AB4E5AFF843}"/>
              </a:ext>
            </a:extLst>
          </p:cNvPr>
          <p:cNvCxnSpPr>
            <a:cxnSpLocks/>
            <a:stCxn id="6" idx="0"/>
            <a:endCxn id="23" idx="2"/>
          </p:cNvCxnSpPr>
          <p:nvPr/>
        </p:nvCxnSpPr>
        <p:spPr>
          <a:xfrm flipH="1" flipV="1">
            <a:off x="2774521" y="3255941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C9886DD7-7EEC-F054-5DED-86E6DBF8C9EB}"/>
              </a:ext>
            </a:extLst>
          </p:cNvPr>
          <p:cNvCxnSpPr>
            <a:cxnSpLocks/>
            <a:stCxn id="5" idx="0"/>
            <a:endCxn id="22" idx="2"/>
          </p:cNvCxnSpPr>
          <p:nvPr/>
        </p:nvCxnSpPr>
        <p:spPr>
          <a:xfrm flipH="1" flipV="1">
            <a:off x="1688786" y="3257095"/>
            <a:ext cx="1" cy="4755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A3611AA6-58C5-563F-0FAE-3EE587CC5B18}"/>
              </a:ext>
            </a:extLst>
          </p:cNvPr>
          <p:cNvCxnSpPr>
            <a:cxnSpLocks/>
            <a:stCxn id="18" idx="0"/>
            <a:endCxn id="5" idx="2"/>
          </p:cNvCxnSpPr>
          <p:nvPr/>
        </p:nvCxnSpPr>
        <p:spPr>
          <a:xfrm flipV="1">
            <a:off x="1688786" y="4388058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A547A155-6986-3AD3-A3E0-F3A814415EA2}"/>
              </a:ext>
            </a:extLst>
          </p:cNvPr>
          <p:cNvCxnSpPr>
            <a:cxnSpLocks/>
            <a:stCxn id="19" idx="0"/>
            <a:endCxn id="6" idx="2"/>
          </p:cNvCxnSpPr>
          <p:nvPr/>
        </p:nvCxnSpPr>
        <p:spPr>
          <a:xfrm flipV="1">
            <a:off x="2774521" y="4388058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箭頭接點 37">
            <a:extLst>
              <a:ext uri="{FF2B5EF4-FFF2-40B4-BE49-F238E27FC236}">
                <a16:creationId xmlns:a16="http://schemas.microsoft.com/office/drawing/2014/main" id="{3F57C7D8-0091-A308-A651-53BC914EBB63}"/>
              </a:ext>
            </a:extLst>
          </p:cNvPr>
          <p:cNvCxnSpPr>
            <a:cxnSpLocks/>
            <a:stCxn id="20" idx="0"/>
            <a:endCxn id="7" idx="2"/>
          </p:cNvCxnSpPr>
          <p:nvPr/>
        </p:nvCxnSpPr>
        <p:spPr>
          <a:xfrm flipV="1">
            <a:off x="3860256" y="4388058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A287D365-41BE-6306-A2E4-C197E79F0563}"/>
              </a:ext>
            </a:extLst>
          </p:cNvPr>
          <p:cNvCxnSpPr>
            <a:cxnSpLocks/>
            <a:stCxn id="21" idx="0"/>
            <a:endCxn id="10" idx="2"/>
          </p:cNvCxnSpPr>
          <p:nvPr/>
        </p:nvCxnSpPr>
        <p:spPr>
          <a:xfrm flipV="1">
            <a:off x="4945992" y="4388058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箭頭接點 43">
            <a:extLst>
              <a:ext uri="{FF2B5EF4-FFF2-40B4-BE49-F238E27FC236}">
                <a16:creationId xmlns:a16="http://schemas.microsoft.com/office/drawing/2014/main" id="{946DF4D8-EACC-CBDA-2FDC-B276984986F0}"/>
              </a:ext>
            </a:extLst>
          </p:cNvPr>
          <p:cNvCxnSpPr>
            <a:cxnSpLocks/>
            <a:stCxn id="10" idx="0"/>
            <a:endCxn id="25" idx="2"/>
          </p:cNvCxnSpPr>
          <p:nvPr/>
        </p:nvCxnSpPr>
        <p:spPr>
          <a:xfrm flipH="1" flipV="1">
            <a:off x="4945990" y="3255941"/>
            <a:ext cx="3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箭頭接點 46">
            <a:extLst>
              <a:ext uri="{FF2B5EF4-FFF2-40B4-BE49-F238E27FC236}">
                <a16:creationId xmlns:a16="http://schemas.microsoft.com/office/drawing/2014/main" id="{D1F0AEBA-D174-B3D1-92B6-7F91085534C7}"/>
              </a:ext>
            </a:extLst>
          </p:cNvPr>
          <p:cNvCxnSpPr>
            <a:cxnSpLocks/>
            <a:stCxn id="7" idx="0"/>
            <a:endCxn id="24" idx="2"/>
          </p:cNvCxnSpPr>
          <p:nvPr/>
        </p:nvCxnSpPr>
        <p:spPr>
          <a:xfrm flipH="1" flipV="1">
            <a:off x="3860256" y="3255941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5CEBE5F1-40F4-848B-AABD-2CBD6A27ADE5}"/>
              </a:ext>
            </a:extLst>
          </p:cNvPr>
          <p:cNvSpPr txBox="1"/>
          <p:nvPr/>
        </p:nvSpPr>
        <p:spPr>
          <a:xfrm>
            <a:off x="1250261" y="5658294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open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194CC2ED-0831-C9FD-8A77-5580A6C2D7A6}"/>
              </a:ext>
            </a:extLst>
          </p:cNvPr>
          <p:cNvSpPr txBox="1"/>
          <p:nvPr/>
        </p:nvSpPr>
        <p:spPr>
          <a:xfrm>
            <a:off x="2335996" y="5658294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708BD810-B636-1101-8BC7-6094A78994B5}"/>
              </a:ext>
            </a:extLst>
          </p:cNvPr>
          <p:cNvSpPr txBox="1"/>
          <p:nvPr/>
        </p:nvSpPr>
        <p:spPr>
          <a:xfrm>
            <a:off x="3421731" y="5658294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bank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A25CBC80-B814-2761-4803-B4D45FF5E837}"/>
              </a:ext>
            </a:extLst>
          </p:cNvPr>
          <p:cNvSpPr txBox="1"/>
          <p:nvPr/>
        </p:nvSpPr>
        <p:spPr>
          <a:xfrm>
            <a:off x="4465087" y="5658294"/>
            <a:ext cx="9618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account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45C2139-9DFE-ECA5-3AFE-E70041C0953F}"/>
              </a:ext>
            </a:extLst>
          </p:cNvPr>
          <p:cNvSpPr/>
          <p:nvPr/>
        </p:nvSpPr>
        <p:spPr>
          <a:xfrm>
            <a:off x="6703391" y="3732614"/>
            <a:ext cx="694845" cy="65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RNN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5A189EF-310B-28AC-ED6B-20A0B7001859}"/>
              </a:ext>
            </a:extLst>
          </p:cNvPr>
          <p:cNvSpPr/>
          <p:nvPr/>
        </p:nvSpPr>
        <p:spPr>
          <a:xfrm>
            <a:off x="7789126" y="3732614"/>
            <a:ext cx="694845" cy="65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RNN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AC1ADC05-3091-6FDF-4FC0-F571D331F899}"/>
              </a:ext>
            </a:extLst>
          </p:cNvPr>
          <p:cNvSpPr/>
          <p:nvPr/>
        </p:nvSpPr>
        <p:spPr>
          <a:xfrm>
            <a:off x="8874861" y="3732614"/>
            <a:ext cx="694845" cy="65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RNN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61" name="直線箭頭接點 60">
            <a:extLst>
              <a:ext uri="{FF2B5EF4-FFF2-40B4-BE49-F238E27FC236}">
                <a16:creationId xmlns:a16="http://schemas.microsoft.com/office/drawing/2014/main" id="{BD877B6A-D2AA-7044-A665-3A5FAE0E9CCD}"/>
              </a:ext>
            </a:extLst>
          </p:cNvPr>
          <p:cNvCxnSpPr>
            <a:cxnSpLocks/>
            <a:stCxn id="58" idx="3"/>
            <a:endCxn id="59" idx="1"/>
          </p:cNvCxnSpPr>
          <p:nvPr/>
        </p:nvCxnSpPr>
        <p:spPr>
          <a:xfrm>
            <a:off x="7398236" y="4060336"/>
            <a:ext cx="39089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箭頭接點 61">
            <a:extLst>
              <a:ext uri="{FF2B5EF4-FFF2-40B4-BE49-F238E27FC236}">
                <a16:creationId xmlns:a16="http://schemas.microsoft.com/office/drawing/2014/main" id="{63F4DC13-AF58-C154-937C-A94FE92F367B}"/>
              </a:ext>
            </a:extLst>
          </p:cNvPr>
          <p:cNvCxnSpPr>
            <a:cxnSpLocks/>
            <a:stCxn id="59" idx="3"/>
            <a:endCxn id="60" idx="1"/>
          </p:cNvCxnSpPr>
          <p:nvPr/>
        </p:nvCxnSpPr>
        <p:spPr>
          <a:xfrm>
            <a:off x="8483971" y="4060336"/>
            <a:ext cx="39089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77959D83-A107-2258-D535-FBEB61F7D5F0}"/>
              </a:ext>
            </a:extLst>
          </p:cNvPr>
          <p:cNvSpPr/>
          <p:nvPr/>
        </p:nvSpPr>
        <p:spPr>
          <a:xfrm>
            <a:off x="9960597" y="3732614"/>
            <a:ext cx="694845" cy="65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RNN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64" name="直線箭頭接點 63">
            <a:extLst>
              <a:ext uri="{FF2B5EF4-FFF2-40B4-BE49-F238E27FC236}">
                <a16:creationId xmlns:a16="http://schemas.microsoft.com/office/drawing/2014/main" id="{C5988EBB-95AA-46BA-C7AD-026A0B08208D}"/>
              </a:ext>
            </a:extLst>
          </p:cNvPr>
          <p:cNvCxnSpPr>
            <a:cxnSpLocks/>
            <a:stCxn id="60" idx="3"/>
            <a:endCxn id="63" idx="1"/>
          </p:cNvCxnSpPr>
          <p:nvPr/>
        </p:nvCxnSpPr>
        <p:spPr>
          <a:xfrm>
            <a:off x="9569706" y="4060336"/>
            <a:ext cx="39089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>
            <a:extLst>
              <a:ext uri="{FF2B5EF4-FFF2-40B4-BE49-F238E27FC236}">
                <a16:creationId xmlns:a16="http://schemas.microsoft.com/office/drawing/2014/main" id="{21A0A42E-F02F-0B79-F346-D963AC3D21FB}"/>
              </a:ext>
            </a:extLst>
          </p:cNvPr>
          <p:cNvSpPr/>
          <p:nvPr/>
        </p:nvSpPr>
        <p:spPr>
          <a:xfrm>
            <a:off x="6951720" y="4864731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380F248-5A37-CEC6-1B9C-B513E962594A}"/>
              </a:ext>
            </a:extLst>
          </p:cNvPr>
          <p:cNvSpPr/>
          <p:nvPr/>
        </p:nvSpPr>
        <p:spPr>
          <a:xfrm>
            <a:off x="8037455" y="4864731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EA7044A1-7051-7215-01DA-8E480A5D9206}"/>
              </a:ext>
            </a:extLst>
          </p:cNvPr>
          <p:cNvSpPr/>
          <p:nvPr/>
        </p:nvSpPr>
        <p:spPr>
          <a:xfrm>
            <a:off x="9123190" y="4864731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F34AA197-828F-AA0B-5EFF-05C97191E827}"/>
              </a:ext>
            </a:extLst>
          </p:cNvPr>
          <p:cNvSpPr/>
          <p:nvPr/>
        </p:nvSpPr>
        <p:spPr>
          <a:xfrm>
            <a:off x="10208926" y="4864731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C50E6582-C8B8-9BE4-6BA9-FE9A73554388}"/>
              </a:ext>
            </a:extLst>
          </p:cNvPr>
          <p:cNvSpPr/>
          <p:nvPr/>
        </p:nvSpPr>
        <p:spPr>
          <a:xfrm>
            <a:off x="6951720" y="2601651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01DF3EBB-D516-8434-FABD-7B2B4F08B126}"/>
              </a:ext>
            </a:extLst>
          </p:cNvPr>
          <p:cNvSpPr/>
          <p:nvPr/>
        </p:nvSpPr>
        <p:spPr>
          <a:xfrm>
            <a:off x="8037455" y="2600497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463B3B80-1AB4-34C5-A696-657C9EAA4177}"/>
              </a:ext>
            </a:extLst>
          </p:cNvPr>
          <p:cNvSpPr/>
          <p:nvPr/>
        </p:nvSpPr>
        <p:spPr>
          <a:xfrm>
            <a:off x="9123190" y="2600497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A8707A40-216D-B23D-0956-98BEEC8E9A1F}"/>
              </a:ext>
            </a:extLst>
          </p:cNvPr>
          <p:cNvSpPr/>
          <p:nvPr/>
        </p:nvSpPr>
        <p:spPr>
          <a:xfrm>
            <a:off x="10208924" y="2600497"/>
            <a:ext cx="198186" cy="6554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73" name="直線箭頭接點 72">
            <a:extLst>
              <a:ext uri="{FF2B5EF4-FFF2-40B4-BE49-F238E27FC236}">
                <a16:creationId xmlns:a16="http://schemas.microsoft.com/office/drawing/2014/main" id="{0D79868B-BE47-A2BB-95AB-5C14D1906C4C}"/>
              </a:ext>
            </a:extLst>
          </p:cNvPr>
          <p:cNvCxnSpPr>
            <a:cxnSpLocks/>
            <a:stCxn id="59" idx="0"/>
            <a:endCxn id="70" idx="2"/>
          </p:cNvCxnSpPr>
          <p:nvPr/>
        </p:nvCxnSpPr>
        <p:spPr>
          <a:xfrm flipH="1" flipV="1">
            <a:off x="8136548" y="3255941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箭頭接點 73">
            <a:extLst>
              <a:ext uri="{FF2B5EF4-FFF2-40B4-BE49-F238E27FC236}">
                <a16:creationId xmlns:a16="http://schemas.microsoft.com/office/drawing/2014/main" id="{9BA9D3A9-FE11-3E8C-50A8-D1959539E455}"/>
              </a:ext>
            </a:extLst>
          </p:cNvPr>
          <p:cNvCxnSpPr>
            <a:cxnSpLocks/>
            <a:stCxn id="58" idx="0"/>
            <a:endCxn id="69" idx="2"/>
          </p:cNvCxnSpPr>
          <p:nvPr/>
        </p:nvCxnSpPr>
        <p:spPr>
          <a:xfrm flipH="1" flipV="1">
            <a:off x="7050813" y="3257095"/>
            <a:ext cx="1" cy="4755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箭頭接點 74">
            <a:extLst>
              <a:ext uri="{FF2B5EF4-FFF2-40B4-BE49-F238E27FC236}">
                <a16:creationId xmlns:a16="http://schemas.microsoft.com/office/drawing/2014/main" id="{C5B89438-0271-2911-2CEE-BDE76FAD0727}"/>
              </a:ext>
            </a:extLst>
          </p:cNvPr>
          <p:cNvCxnSpPr>
            <a:cxnSpLocks/>
            <a:stCxn id="65" idx="0"/>
            <a:endCxn id="58" idx="2"/>
          </p:cNvCxnSpPr>
          <p:nvPr/>
        </p:nvCxnSpPr>
        <p:spPr>
          <a:xfrm flipV="1">
            <a:off x="7050813" y="4388058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箭頭接點 75">
            <a:extLst>
              <a:ext uri="{FF2B5EF4-FFF2-40B4-BE49-F238E27FC236}">
                <a16:creationId xmlns:a16="http://schemas.microsoft.com/office/drawing/2014/main" id="{012C37A8-A2E6-2D56-8CCF-6470B636B786}"/>
              </a:ext>
            </a:extLst>
          </p:cNvPr>
          <p:cNvCxnSpPr>
            <a:cxnSpLocks/>
            <a:stCxn id="66" idx="0"/>
            <a:endCxn id="59" idx="2"/>
          </p:cNvCxnSpPr>
          <p:nvPr/>
        </p:nvCxnSpPr>
        <p:spPr>
          <a:xfrm flipV="1">
            <a:off x="8136548" y="4388058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箭頭接點 76">
            <a:extLst>
              <a:ext uri="{FF2B5EF4-FFF2-40B4-BE49-F238E27FC236}">
                <a16:creationId xmlns:a16="http://schemas.microsoft.com/office/drawing/2014/main" id="{9AF486D3-A361-6702-16FA-78D4ED93B8EF}"/>
              </a:ext>
            </a:extLst>
          </p:cNvPr>
          <p:cNvCxnSpPr>
            <a:cxnSpLocks/>
            <a:stCxn id="67" idx="0"/>
            <a:endCxn id="60" idx="2"/>
          </p:cNvCxnSpPr>
          <p:nvPr/>
        </p:nvCxnSpPr>
        <p:spPr>
          <a:xfrm flipV="1">
            <a:off x="9222283" y="4388058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箭頭接點 77">
            <a:extLst>
              <a:ext uri="{FF2B5EF4-FFF2-40B4-BE49-F238E27FC236}">
                <a16:creationId xmlns:a16="http://schemas.microsoft.com/office/drawing/2014/main" id="{6D65CAF5-FCD9-6488-A3DB-6A8222E4CF04}"/>
              </a:ext>
            </a:extLst>
          </p:cNvPr>
          <p:cNvCxnSpPr>
            <a:cxnSpLocks/>
            <a:stCxn id="68" idx="0"/>
            <a:endCxn id="63" idx="2"/>
          </p:cNvCxnSpPr>
          <p:nvPr/>
        </p:nvCxnSpPr>
        <p:spPr>
          <a:xfrm flipV="1">
            <a:off x="10308019" y="4388058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箭頭接點 78">
            <a:extLst>
              <a:ext uri="{FF2B5EF4-FFF2-40B4-BE49-F238E27FC236}">
                <a16:creationId xmlns:a16="http://schemas.microsoft.com/office/drawing/2014/main" id="{A6AC5094-4A3B-B872-5BBA-2B64EDB8FCF8}"/>
              </a:ext>
            </a:extLst>
          </p:cNvPr>
          <p:cNvCxnSpPr>
            <a:cxnSpLocks/>
            <a:stCxn id="63" idx="0"/>
            <a:endCxn id="72" idx="2"/>
          </p:cNvCxnSpPr>
          <p:nvPr/>
        </p:nvCxnSpPr>
        <p:spPr>
          <a:xfrm flipH="1" flipV="1">
            <a:off x="10308017" y="3255941"/>
            <a:ext cx="3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箭頭接點 79">
            <a:extLst>
              <a:ext uri="{FF2B5EF4-FFF2-40B4-BE49-F238E27FC236}">
                <a16:creationId xmlns:a16="http://schemas.microsoft.com/office/drawing/2014/main" id="{73C19F83-0E0F-76A6-E5BA-A2B98EBCC94E}"/>
              </a:ext>
            </a:extLst>
          </p:cNvPr>
          <p:cNvCxnSpPr>
            <a:cxnSpLocks/>
            <a:stCxn id="60" idx="0"/>
            <a:endCxn id="71" idx="2"/>
          </p:cNvCxnSpPr>
          <p:nvPr/>
        </p:nvCxnSpPr>
        <p:spPr>
          <a:xfrm flipH="1" flipV="1">
            <a:off x="9222283" y="3255941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E0F19CF3-2427-D1A5-EA59-44D8CC1D182E}"/>
              </a:ext>
            </a:extLst>
          </p:cNvPr>
          <p:cNvSpPr txBox="1"/>
          <p:nvPr/>
        </p:nvSpPr>
        <p:spPr>
          <a:xfrm>
            <a:off x="6612288" y="5658294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06886F13-1EAD-91CC-848B-B4365FA79919}"/>
              </a:ext>
            </a:extLst>
          </p:cNvPr>
          <p:cNvSpPr txBox="1"/>
          <p:nvPr/>
        </p:nvSpPr>
        <p:spPr>
          <a:xfrm>
            <a:off x="7698023" y="5658294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EEF83116-D66A-BEB2-6CE2-C8E040EF0D67}"/>
              </a:ext>
            </a:extLst>
          </p:cNvPr>
          <p:cNvSpPr txBox="1"/>
          <p:nvPr/>
        </p:nvSpPr>
        <p:spPr>
          <a:xfrm>
            <a:off x="8783758" y="5658294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river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4" name="文字方塊 83">
            <a:extLst>
              <a:ext uri="{FF2B5EF4-FFF2-40B4-BE49-F238E27FC236}">
                <a16:creationId xmlns:a16="http://schemas.microsoft.com/office/drawing/2014/main" id="{104DEB2F-2FA1-98F3-C82D-9438DF61D2B8}"/>
              </a:ext>
            </a:extLst>
          </p:cNvPr>
          <p:cNvSpPr txBox="1"/>
          <p:nvPr/>
        </p:nvSpPr>
        <p:spPr>
          <a:xfrm>
            <a:off x="9827114" y="5658294"/>
            <a:ext cx="9618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bank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7861B53C-401A-84F6-8501-A0D54B8BA766}"/>
              </a:ext>
            </a:extLst>
          </p:cNvPr>
          <p:cNvSpPr txBox="1"/>
          <p:nvPr/>
        </p:nvSpPr>
        <p:spPr>
          <a:xfrm>
            <a:off x="5593475" y="1583246"/>
            <a:ext cx="2914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Contextual</a:t>
            </a:r>
            <a:r>
              <a:rPr kumimoji="1" lang="en-US" altLang="zh-TW" dirty="0"/>
              <a:t> Embedding</a:t>
            </a:r>
          </a:p>
          <a:p>
            <a:pPr algn="ctr"/>
            <a:r>
              <a:rPr kumimoji="1" lang="en-US" altLang="zh-TW" dirty="0"/>
              <a:t>(</a:t>
            </a:r>
            <a:r>
              <a:rPr kumimoji="1" lang="zh-TW" altLang="en-US" dirty="0"/>
              <a:t>具備上下文知識的表達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cxnSp>
        <p:nvCxnSpPr>
          <p:cNvPr id="87" name="肘形接點 86">
            <a:extLst>
              <a:ext uri="{FF2B5EF4-FFF2-40B4-BE49-F238E27FC236}">
                <a16:creationId xmlns:a16="http://schemas.microsoft.com/office/drawing/2014/main" id="{37F23EB2-F95F-6851-B603-A3361CD85142}"/>
              </a:ext>
            </a:extLst>
          </p:cNvPr>
          <p:cNvCxnSpPr>
            <a:stCxn id="24" idx="0"/>
            <a:endCxn id="72" idx="0"/>
          </p:cNvCxnSpPr>
          <p:nvPr/>
        </p:nvCxnSpPr>
        <p:spPr>
          <a:xfrm rot="5400000" flipH="1" flipV="1">
            <a:off x="7084136" y="-623383"/>
            <a:ext cx="12700" cy="6447761"/>
          </a:xfrm>
          <a:prstGeom prst="bentConnector3">
            <a:avLst>
              <a:gd name="adj1" fmla="val 304898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曲線接點 89">
            <a:extLst>
              <a:ext uri="{FF2B5EF4-FFF2-40B4-BE49-F238E27FC236}">
                <a16:creationId xmlns:a16="http://schemas.microsoft.com/office/drawing/2014/main" id="{680F2D6E-3514-78E3-82B3-D769D21E236C}"/>
              </a:ext>
            </a:extLst>
          </p:cNvPr>
          <p:cNvCxnSpPr>
            <a:cxnSpLocks/>
            <a:stCxn id="20" idx="2"/>
            <a:endCxn id="68" idx="2"/>
          </p:cNvCxnSpPr>
          <p:nvPr/>
        </p:nvCxnSpPr>
        <p:spPr>
          <a:xfrm rot="16200000" flipH="1">
            <a:off x="7084137" y="2296293"/>
            <a:ext cx="12700" cy="6447763"/>
          </a:xfrm>
          <a:prstGeom prst="curvedConnector3">
            <a:avLst>
              <a:gd name="adj1" fmla="val 5620409"/>
            </a:avLst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39265129-9C40-FEF4-BAC1-2382F3BAD034}"/>
              </a:ext>
            </a:extLst>
          </p:cNvPr>
          <p:cNvSpPr txBox="1"/>
          <p:nvPr/>
        </p:nvSpPr>
        <p:spPr>
          <a:xfrm>
            <a:off x="5494382" y="6282959"/>
            <a:ext cx="291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Same word embedding</a:t>
            </a:r>
          </a:p>
        </p:txBody>
      </p:sp>
    </p:spTree>
    <p:extLst>
      <p:ext uri="{BB962C8B-B14F-4D97-AF65-F5344CB8AC3E}">
        <p14:creationId xmlns:p14="http://schemas.microsoft.com/office/powerpoint/2010/main" val="732323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6A4B0D-ADBF-AB68-88BC-C7280251B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深度學習常見模型架構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9BBB56-7C58-7116-360E-46E09CF1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42E9188-99F9-535E-4937-651819D2F4C8}"/>
              </a:ext>
            </a:extLst>
          </p:cNvPr>
          <p:cNvSpPr/>
          <p:nvPr/>
        </p:nvSpPr>
        <p:spPr>
          <a:xfrm>
            <a:off x="1131525" y="3941806"/>
            <a:ext cx="827903" cy="82790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655BDE-80C9-BC0F-087B-077AA3C3E281}"/>
              </a:ext>
            </a:extLst>
          </p:cNvPr>
          <p:cNvSpPr/>
          <p:nvPr/>
        </p:nvSpPr>
        <p:spPr>
          <a:xfrm>
            <a:off x="1131525" y="3941806"/>
            <a:ext cx="185351" cy="18535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34FF96C0-8C5E-FC12-FC17-12129436ED20}"/>
              </a:ext>
            </a:extLst>
          </p:cNvPr>
          <p:cNvCxnSpPr/>
          <p:nvPr/>
        </p:nvCxnSpPr>
        <p:spPr>
          <a:xfrm>
            <a:off x="1168593" y="4232193"/>
            <a:ext cx="22860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ACF9AAC7-E80D-8D7A-6E43-541F9F024DC6}"/>
              </a:ext>
            </a:extLst>
          </p:cNvPr>
          <p:cNvSpPr/>
          <p:nvPr/>
        </p:nvSpPr>
        <p:spPr>
          <a:xfrm>
            <a:off x="2237455" y="4126127"/>
            <a:ext cx="459259" cy="4592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6E7F158E-1D25-24C4-633A-A777A22970FF}"/>
              </a:ext>
            </a:extLst>
          </p:cNvPr>
          <p:cNvCxnSpPr>
            <a:cxnSpLocks/>
          </p:cNvCxnSpPr>
          <p:nvPr/>
        </p:nvCxnSpPr>
        <p:spPr>
          <a:xfrm>
            <a:off x="1316876" y="3954165"/>
            <a:ext cx="920579" cy="18006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CBAF0285-AB7B-39F9-42E8-C08004E7AED7}"/>
              </a:ext>
            </a:extLst>
          </p:cNvPr>
          <p:cNvCxnSpPr>
            <a:cxnSpLocks/>
          </p:cNvCxnSpPr>
          <p:nvPr/>
        </p:nvCxnSpPr>
        <p:spPr>
          <a:xfrm flipH="1" flipV="1">
            <a:off x="1336441" y="4134225"/>
            <a:ext cx="913371" cy="9178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D58D325B-C331-0BF8-C410-E65BF635FA6D}"/>
              </a:ext>
            </a:extLst>
          </p:cNvPr>
          <p:cNvSpPr/>
          <p:nvPr/>
        </p:nvSpPr>
        <p:spPr>
          <a:xfrm>
            <a:off x="2249813" y="4143939"/>
            <a:ext cx="113268" cy="11326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0A1B0241-5667-67A0-4760-C4AFBAA24C0D}"/>
              </a:ext>
            </a:extLst>
          </p:cNvPr>
          <p:cNvSpPr txBox="1"/>
          <p:nvPr/>
        </p:nvSpPr>
        <p:spPr>
          <a:xfrm>
            <a:off x="4225146" y="4769709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 err="1"/>
              <a:t>i</a:t>
            </a:r>
            <a:endParaRPr kumimoji="1" lang="zh-TW" altLang="en-US" sz="1400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F08A08CA-B884-E7D6-82ED-8D06577D0930}"/>
              </a:ext>
            </a:extLst>
          </p:cNvPr>
          <p:cNvSpPr txBox="1"/>
          <p:nvPr/>
        </p:nvSpPr>
        <p:spPr>
          <a:xfrm>
            <a:off x="4951926" y="4769708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love</a:t>
            </a:r>
            <a:endParaRPr kumimoji="1" lang="zh-TW" altLang="en-US" sz="14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350706D6-17A1-8F84-2888-5A7582AB79D7}"/>
              </a:ext>
            </a:extLst>
          </p:cNvPr>
          <p:cNvSpPr txBox="1"/>
          <p:nvPr/>
        </p:nvSpPr>
        <p:spPr>
          <a:xfrm>
            <a:off x="5623204" y="4769709"/>
            <a:ext cx="736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deep</a:t>
            </a:r>
            <a:endParaRPr kumimoji="1" lang="zh-TW" altLang="en-US" sz="14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DB1AE786-D22F-2101-21DB-229967DB29A7}"/>
              </a:ext>
            </a:extLst>
          </p:cNvPr>
          <p:cNvSpPr txBox="1"/>
          <p:nvPr/>
        </p:nvSpPr>
        <p:spPr>
          <a:xfrm>
            <a:off x="6272969" y="4769709"/>
            <a:ext cx="881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learning</a:t>
            </a:r>
            <a:endParaRPr kumimoji="1" lang="zh-TW" altLang="en-US" sz="1400" dirty="0"/>
          </a:p>
        </p:txBody>
      </p:sp>
      <p:sp>
        <p:nvSpPr>
          <p:cNvPr id="64" name="圓角矩形 63">
            <a:extLst>
              <a:ext uri="{FF2B5EF4-FFF2-40B4-BE49-F238E27FC236}">
                <a16:creationId xmlns:a16="http://schemas.microsoft.com/office/drawing/2014/main" id="{57222733-D9EB-7984-460E-7ABCBB7385C6}"/>
              </a:ext>
            </a:extLst>
          </p:cNvPr>
          <p:cNvSpPr/>
          <p:nvPr/>
        </p:nvSpPr>
        <p:spPr>
          <a:xfrm>
            <a:off x="4371939" y="4089251"/>
            <a:ext cx="324276" cy="32427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5" name="圓角矩形 64">
            <a:extLst>
              <a:ext uri="{FF2B5EF4-FFF2-40B4-BE49-F238E27FC236}">
                <a16:creationId xmlns:a16="http://schemas.microsoft.com/office/drawing/2014/main" id="{DCD118DC-6BE9-8EEA-7BE1-01AA713649B0}"/>
              </a:ext>
            </a:extLst>
          </p:cNvPr>
          <p:cNvSpPr/>
          <p:nvPr/>
        </p:nvSpPr>
        <p:spPr>
          <a:xfrm>
            <a:off x="5095637" y="4092251"/>
            <a:ext cx="324276" cy="32427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6" name="圓角矩形 65">
            <a:extLst>
              <a:ext uri="{FF2B5EF4-FFF2-40B4-BE49-F238E27FC236}">
                <a16:creationId xmlns:a16="http://schemas.microsoft.com/office/drawing/2014/main" id="{42F0CA90-5C5C-23E1-2CF1-D204376A27A7}"/>
              </a:ext>
            </a:extLst>
          </p:cNvPr>
          <p:cNvSpPr/>
          <p:nvPr/>
        </p:nvSpPr>
        <p:spPr>
          <a:xfrm>
            <a:off x="5819335" y="4092847"/>
            <a:ext cx="324276" cy="32427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7" name="圓角矩形 66">
            <a:extLst>
              <a:ext uri="{FF2B5EF4-FFF2-40B4-BE49-F238E27FC236}">
                <a16:creationId xmlns:a16="http://schemas.microsoft.com/office/drawing/2014/main" id="{764EF694-3B95-C672-D21C-80EBFD7841D5}"/>
              </a:ext>
            </a:extLst>
          </p:cNvPr>
          <p:cNvSpPr/>
          <p:nvPr/>
        </p:nvSpPr>
        <p:spPr>
          <a:xfrm>
            <a:off x="6543033" y="4089251"/>
            <a:ext cx="324276" cy="3242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0" name="Google Shape;193;p17">
            <a:extLst>
              <a:ext uri="{FF2B5EF4-FFF2-40B4-BE49-F238E27FC236}">
                <a16:creationId xmlns:a16="http://schemas.microsoft.com/office/drawing/2014/main" id="{5B495652-96CC-929A-39BF-7A1AAF8DE5F9}"/>
              </a:ext>
            </a:extLst>
          </p:cNvPr>
          <p:cNvCxnSpPr>
            <a:cxnSpLocks/>
          </p:cNvCxnSpPr>
          <p:nvPr/>
        </p:nvCxnSpPr>
        <p:spPr>
          <a:xfrm rot="10800000">
            <a:off x="5262072" y="45213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" name="Google Shape;194;p17">
            <a:extLst>
              <a:ext uri="{FF2B5EF4-FFF2-40B4-BE49-F238E27FC236}">
                <a16:creationId xmlns:a16="http://schemas.microsoft.com/office/drawing/2014/main" id="{D5AE85F3-A023-C627-9075-4AF080934D79}"/>
              </a:ext>
            </a:extLst>
          </p:cNvPr>
          <p:cNvCxnSpPr>
            <a:cxnSpLocks/>
          </p:cNvCxnSpPr>
          <p:nvPr/>
        </p:nvCxnSpPr>
        <p:spPr>
          <a:xfrm rot="10800000">
            <a:off x="5983622" y="45213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" name="Google Shape;195;p17">
            <a:extLst>
              <a:ext uri="{FF2B5EF4-FFF2-40B4-BE49-F238E27FC236}">
                <a16:creationId xmlns:a16="http://schemas.microsoft.com/office/drawing/2014/main" id="{7CC17379-F806-21C9-6178-06E32AB7CCB9}"/>
              </a:ext>
            </a:extLst>
          </p:cNvPr>
          <p:cNvCxnSpPr>
            <a:cxnSpLocks/>
          </p:cNvCxnSpPr>
          <p:nvPr/>
        </p:nvCxnSpPr>
        <p:spPr>
          <a:xfrm rot="10800000">
            <a:off x="6705172" y="45213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" name="Google Shape;195;p17">
            <a:extLst>
              <a:ext uri="{FF2B5EF4-FFF2-40B4-BE49-F238E27FC236}">
                <a16:creationId xmlns:a16="http://schemas.microsoft.com/office/drawing/2014/main" id="{C8031A89-C128-95D0-0770-E7F9380655E0}"/>
              </a:ext>
            </a:extLst>
          </p:cNvPr>
          <p:cNvCxnSpPr>
            <a:cxnSpLocks/>
          </p:cNvCxnSpPr>
          <p:nvPr/>
        </p:nvCxnSpPr>
        <p:spPr>
          <a:xfrm rot="10800000">
            <a:off x="4540522" y="45213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" name="Google Shape;193;p17">
            <a:extLst>
              <a:ext uri="{FF2B5EF4-FFF2-40B4-BE49-F238E27FC236}">
                <a16:creationId xmlns:a16="http://schemas.microsoft.com/office/drawing/2014/main" id="{4B4F0FEB-E883-FD23-5465-FE979C5AC073}"/>
              </a:ext>
            </a:extLst>
          </p:cNvPr>
          <p:cNvCxnSpPr>
            <a:cxnSpLocks/>
          </p:cNvCxnSpPr>
          <p:nvPr/>
        </p:nvCxnSpPr>
        <p:spPr>
          <a:xfrm rot="16200000">
            <a:off x="4903565" y="416924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" name="Google Shape;193;p17">
            <a:extLst>
              <a:ext uri="{FF2B5EF4-FFF2-40B4-BE49-F238E27FC236}">
                <a16:creationId xmlns:a16="http://schemas.microsoft.com/office/drawing/2014/main" id="{7BD1291D-6361-51E2-2205-10B8DC139E0C}"/>
              </a:ext>
            </a:extLst>
          </p:cNvPr>
          <p:cNvCxnSpPr>
            <a:cxnSpLocks/>
          </p:cNvCxnSpPr>
          <p:nvPr/>
        </p:nvCxnSpPr>
        <p:spPr>
          <a:xfrm rot="16200000">
            <a:off x="5619624" y="416924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" name="Google Shape;193;p17">
            <a:extLst>
              <a:ext uri="{FF2B5EF4-FFF2-40B4-BE49-F238E27FC236}">
                <a16:creationId xmlns:a16="http://schemas.microsoft.com/office/drawing/2014/main" id="{7084FCB7-0B38-CEAF-2E24-64352DB0AA7A}"/>
              </a:ext>
            </a:extLst>
          </p:cNvPr>
          <p:cNvCxnSpPr>
            <a:cxnSpLocks/>
          </p:cNvCxnSpPr>
          <p:nvPr/>
        </p:nvCxnSpPr>
        <p:spPr>
          <a:xfrm rot="16200000">
            <a:off x="6340437" y="416924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25DCFA54-065A-9330-DF7E-C15CD8100274}"/>
              </a:ext>
            </a:extLst>
          </p:cNvPr>
          <p:cNvSpPr txBox="1"/>
          <p:nvPr/>
        </p:nvSpPr>
        <p:spPr>
          <a:xfrm>
            <a:off x="8357179" y="4769708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 err="1"/>
              <a:t>i</a:t>
            </a:r>
            <a:endParaRPr kumimoji="1" lang="zh-TW" altLang="en-US" sz="1400" dirty="0"/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BAA1C1EA-B16D-CDA1-4329-A79D6D83CD2A}"/>
              </a:ext>
            </a:extLst>
          </p:cNvPr>
          <p:cNvSpPr txBox="1"/>
          <p:nvPr/>
        </p:nvSpPr>
        <p:spPr>
          <a:xfrm>
            <a:off x="9083959" y="4769707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love</a:t>
            </a:r>
            <a:endParaRPr kumimoji="1" lang="zh-TW" altLang="en-US" sz="1400" dirty="0"/>
          </a:p>
        </p:txBody>
      </p: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066A6BB9-24C9-E51A-99EF-5E94A4D532FB}"/>
              </a:ext>
            </a:extLst>
          </p:cNvPr>
          <p:cNvSpPr txBox="1"/>
          <p:nvPr/>
        </p:nvSpPr>
        <p:spPr>
          <a:xfrm>
            <a:off x="9755237" y="4769708"/>
            <a:ext cx="736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deep</a:t>
            </a:r>
            <a:endParaRPr kumimoji="1" lang="zh-TW" altLang="en-US" sz="1400" dirty="0"/>
          </a:p>
        </p:txBody>
      </p:sp>
      <p:sp>
        <p:nvSpPr>
          <p:cNvPr id="96" name="文字方塊 95">
            <a:extLst>
              <a:ext uri="{FF2B5EF4-FFF2-40B4-BE49-F238E27FC236}">
                <a16:creationId xmlns:a16="http://schemas.microsoft.com/office/drawing/2014/main" id="{3CF9AA4D-F329-672F-66E5-8772CCFBA6CF}"/>
              </a:ext>
            </a:extLst>
          </p:cNvPr>
          <p:cNvSpPr txBox="1"/>
          <p:nvPr/>
        </p:nvSpPr>
        <p:spPr>
          <a:xfrm>
            <a:off x="10405002" y="4769708"/>
            <a:ext cx="881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learning</a:t>
            </a:r>
            <a:endParaRPr kumimoji="1" lang="zh-TW" altLang="en-US" sz="1400" dirty="0"/>
          </a:p>
        </p:txBody>
      </p:sp>
      <p:sp>
        <p:nvSpPr>
          <p:cNvPr id="97" name="圓角矩形 96">
            <a:extLst>
              <a:ext uri="{FF2B5EF4-FFF2-40B4-BE49-F238E27FC236}">
                <a16:creationId xmlns:a16="http://schemas.microsoft.com/office/drawing/2014/main" id="{F1E97076-7658-B55C-62FF-EF3573CCFD8A}"/>
              </a:ext>
            </a:extLst>
          </p:cNvPr>
          <p:cNvSpPr/>
          <p:nvPr/>
        </p:nvSpPr>
        <p:spPr>
          <a:xfrm>
            <a:off x="8503972" y="4089250"/>
            <a:ext cx="324276" cy="32427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8" name="圓角矩形 97">
            <a:extLst>
              <a:ext uri="{FF2B5EF4-FFF2-40B4-BE49-F238E27FC236}">
                <a16:creationId xmlns:a16="http://schemas.microsoft.com/office/drawing/2014/main" id="{A5D5AAFA-167E-7D28-CBD6-4D33575C199E}"/>
              </a:ext>
            </a:extLst>
          </p:cNvPr>
          <p:cNvSpPr/>
          <p:nvPr/>
        </p:nvSpPr>
        <p:spPr>
          <a:xfrm>
            <a:off x="9227670" y="4092250"/>
            <a:ext cx="324276" cy="32427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9" name="圓角矩形 98">
            <a:extLst>
              <a:ext uri="{FF2B5EF4-FFF2-40B4-BE49-F238E27FC236}">
                <a16:creationId xmlns:a16="http://schemas.microsoft.com/office/drawing/2014/main" id="{C74F5FDB-9EF8-19C4-3758-A0F0844832BD}"/>
              </a:ext>
            </a:extLst>
          </p:cNvPr>
          <p:cNvSpPr/>
          <p:nvPr/>
        </p:nvSpPr>
        <p:spPr>
          <a:xfrm>
            <a:off x="9951368" y="4092846"/>
            <a:ext cx="324276" cy="32427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0" name="圓角矩形 99">
            <a:extLst>
              <a:ext uri="{FF2B5EF4-FFF2-40B4-BE49-F238E27FC236}">
                <a16:creationId xmlns:a16="http://schemas.microsoft.com/office/drawing/2014/main" id="{1AE583C5-B4F9-3C53-D5C0-7E19525EA0DC}"/>
              </a:ext>
            </a:extLst>
          </p:cNvPr>
          <p:cNvSpPr/>
          <p:nvPr/>
        </p:nvSpPr>
        <p:spPr>
          <a:xfrm>
            <a:off x="10675066" y="4089250"/>
            <a:ext cx="324276" cy="3242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01" name="Google Shape;193;p17">
            <a:extLst>
              <a:ext uri="{FF2B5EF4-FFF2-40B4-BE49-F238E27FC236}">
                <a16:creationId xmlns:a16="http://schemas.microsoft.com/office/drawing/2014/main" id="{7247A728-A4BF-8C3B-D6BD-7D3ADCA43A7F}"/>
              </a:ext>
            </a:extLst>
          </p:cNvPr>
          <p:cNvCxnSpPr>
            <a:cxnSpLocks/>
          </p:cNvCxnSpPr>
          <p:nvPr/>
        </p:nvCxnSpPr>
        <p:spPr>
          <a:xfrm rot="10800000">
            <a:off x="9394105" y="452132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Google Shape;194;p17">
            <a:extLst>
              <a:ext uri="{FF2B5EF4-FFF2-40B4-BE49-F238E27FC236}">
                <a16:creationId xmlns:a16="http://schemas.microsoft.com/office/drawing/2014/main" id="{7043418C-CD6E-9785-39B3-024E3D7F95A5}"/>
              </a:ext>
            </a:extLst>
          </p:cNvPr>
          <p:cNvCxnSpPr>
            <a:cxnSpLocks/>
          </p:cNvCxnSpPr>
          <p:nvPr/>
        </p:nvCxnSpPr>
        <p:spPr>
          <a:xfrm rot="10800000">
            <a:off x="10115655" y="452132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" name="Google Shape;195;p17">
            <a:extLst>
              <a:ext uri="{FF2B5EF4-FFF2-40B4-BE49-F238E27FC236}">
                <a16:creationId xmlns:a16="http://schemas.microsoft.com/office/drawing/2014/main" id="{C44E3066-5A68-7A64-3D40-9C7428C9C3D1}"/>
              </a:ext>
            </a:extLst>
          </p:cNvPr>
          <p:cNvCxnSpPr>
            <a:cxnSpLocks/>
          </p:cNvCxnSpPr>
          <p:nvPr/>
        </p:nvCxnSpPr>
        <p:spPr>
          <a:xfrm rot="10800000">
            <a:off x="10837205" y="452132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" name="Google Shape;195;p17">
            <a:extLst>
              <a:ext uri="{FF2B5EF4-FFF2-40B4-BE49-F238E27FC236}">
                <a16:creationId xmlns:a16="http://schemas.microsoft.com/office/drawing/2014/main" id="{9A0FFD74-D705-46EF-DF84-52CB48C7B516}"/>
              </a:ext>
            </a:extLst>
          </p:cNvPr>
          <p:cNvCxnSpPr>
            <a:cxnSpLocks/>
          </p:cNvCxnSpPr>
          <p:nvPr/>
        </p:nvCxnSpPr>
        <p:spPr>
          <a:xfrm rot="10800000">
            <a:off x="8672555" y="452132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" name="Google Shape;193;p17">
            <a:extLst>
              <a:ext uri="{FF2B5EF4-FFF2-40B4-BE49-F238E27FC236}">
                <a16:creationId xmlns:a16="http://schemas.microsoft.com/office/drawing/2014/main" id="{FD0E2963-5602-8F08-39E6-55B96C6CCF62}"/>
              </a:ext>
            </a:extLst>
          </p:cNvPr>
          <p:cNvCxnSpPr>
            <a:cxnSpLocks/>
          </p:cNvCxnSpPr>
          <p:nvPr/>
        </p:nvCxnSpPr>
        <p:spPr>
          <a:xfrm rot="16200000">
            <a:off x="9035598" y="416924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" name="Google Shape;193;p17">
            <a:extLst>
              <a:ext uri="{FF2B5EF4-FFF2-40B4-BE49-F238E27FC236}">
                <a16:creationId xmlns:a16="http://schemas.microsoft.com/office/drawing/2014/main" id="{4D8E11BB-9004-0A1E-66FF-75A286F739B3}"/>
              </a:ext>
            </a:extLst>
          </p:cNvPr>
          <p:cNvCxnSpPr>
            <a:cxnSpLocks/>
          </p:cNvCxnSpPr>
          <p:nvPr/>
        </p:nvCxnSpPr>
        <p:spPr>
          <a:xfrm rot="16200000">
            <a:off x="9751657" y="416924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7" name="Google Shape;193;p17">
            <a:extLst>
              <a:ext uri="{FF2B5EF4-FFF2-40B4-BE49-F238E27FC236}">
                <a16:creationId xmlns:a16="http://schemas.microsoft.com/office/drawing/2014/main" id="{99B72DB4-CEAC-0E13-6E27-91490FAD7578}"/>
              </a:ext>
            </a:extLst>
          </p:cNvPr>
          <p:cNvCxnSpPr>
            <a:cxnSpLocks/>
          </p:cNvCxnSpPr>
          <p:nvPr/>
        </p:nvCxnSpPr>
        <p:spPr>
          <a:xfrm rot="16200000">
            <a:off x="10472470" y="416924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9" name="曲線接點 108">
            <a:extLst>
              <a:ext uri="{FF2B5EF4-FFF2-40B4-BE49-F238E27FC236}">
                <a16:creationId xmlns:a16="http://schemas.microsoft.com/office/drawing/2014/main" id="{9B0DC847-52C3-76FB-2373-932B3C701608}"/>
              </a:ext>
            </a:extLst>
          </p:cNvPr>
          <p:cNvCxnSpPr>
            <a:stCxn id="97" idx="0"/>
            <a:endCxn id="98" idx="0"/>
          </p:cNvCxnSpPr>
          <p:nvPr/>
        </p:nvCxnSpPr>
        <p:spPr>
          <a:xfrm rot="16200000" flipH="1">
            <a:off x="9026459" y="3728901"/>
            <a:ext cx="3000" cy="723698"/>
          </a:xfrm>
          <a:prstGeom prst="curvedConnector3">
            <a:avLst>
              <a:gd name="adj1" fmla="val -762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曲線接點 109">
            <a:extLst>
              <a:ext uri="{FF2B5EF4-FFF2-40B4-BE49-F238E27FC236}">
                <a16:creationId xmlns:a16="http://schemas.microsoft.com/office/drawing/2014/main" id="{3ABF1D0F-B4D8-0BD3-1526-56AA941B8741}"/>
              </a:ext>
            </a:extLst>
          </p:cNvPr>
          <p:cNvCxnSpPr>
            <a:cxnSpLocks/>
            <a:stCxn id="98" idx="0"/>
            <a:endCxn id="99" idx="0"/>
          </p:cNvCxnSpPr>
          <p:nvPr/>
        </p:nvCxnSpPr>
        <p:spPr>
          <a:xfrm rot="16200000" flipH="1">
            <a:off x="9751359" y="3730699"/>
            <a:ext cx="596" cy="723698"/>
          </a:xfrm>
          <a:prstGeom prst="curvedConnector3">
            <a:avLst>
              <a:gd name="adj1" fmla="val -38355705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曲線接點 112">
            <a:extLst>
              <a:ext uri="{FF2B5EF4-FFF2-40B4-BE49-F238E27FC236}">
                <a16:creationId xmlns:a16="http://schemas.microsoft.com/office/drawing/2014/main" id="{071F9B04-E6F1-FF40-77A2-9B70F784B658}"/>
              </a:ext>
            </a:extLst>
          </p:cNvPr>
          <p:cNvCxnSpPr>
            <a:cxnSpLocks/>
            <a:stCxn id="99" idx="0"/>
            <a:endCxn id="100" idx="0"/>
          </p:cNvCxnSpPr>
          <p:nvPr/>
        </p:nvCxnSpPr>
        <p:spPr>
          <a:xfrm rot="5400000" flipH="1" flipV="1">
            <a:off x="10473557" y="3729199"/>
            <a:ext cx="3596" cy="723698"/>
          </a:xfrm>
          <a:prstGeom prst="curvedConnector3">
            <a:avLst>
              <a:gd name="adj1" fmla="val 6457063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曲線接點 116">
            <a:extLst>
              <a:ext uri="{FF2B5EF4-FFF2-40B4-BE49-F238E27FC236}">
                <a16:creationId xmlns:a16="http://schemas.microsoft.com/office/drawing/2014/main" id="{50AAA37A-AAEB-B816-D4DF-F4EBC42DC848}"/>
              </a:ext>
            </a:extLst>
          </p:cNvPr>
          <p:cNvCxnSpPr>
            <a:cxnSpLocks/>
            <a:stCxn id="97" idx="0"/>
            <a:endCxn id="99" idx="0"/>
          </p:cNvCxnSpPr>
          <p:nvPr/>
        </p:nvCxnSpPr>
        <p:spPr>
          <a:xfrm rot="16200000" flipH="1">
            <a:off x="9388010" y="3367350"/>
            <a:ext cx="3596" cy="1447396"/>
          </a:xfrm>
          <a:prstGeom prst="curvedConnector3">
            <a:avLst>
              <a:gd name="adj1" fmla="val -6357063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曲線接點 119">
            <a:extLst>
              <a:ext uri="{FF2B5EF4-FFF2-40B4-BE49-F238E27FC236}">
                <a16:creationId xmlns:a16="http://schemas.microsoft.com/office/drawing/2014/main" id="{9D51BEA6-5532-9FA5-BEB5-B22F97781C89}"/>
              </a:ext>
            </a:extLst>
          </p:cNvPr>
          <p:cNvCxnSpPr>
            <a:cxnSpLocks/>
            <a:stCxn id="97" idx="0"/>
            <a:endCxn id="100" idx="0"/>
          </p:cNvCxnSpPr>
          <p:nvPr/>
        </p:nvCxnSpPr>
        <p:spPr>
          <a:xfrm rot="5400000" flipH="1" flipV="1">
            <a:off x="9751657" y="3003703"/>
            <a:ext cx="12700" cy="2171094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曲線接點 122">
            <a:extLst>
              <a:ext uri="{FF2B5EF4-FFF2-40B4-BE49-F238E27FC236}">
                <a16:creationId xmlns:a16="http://schemas.microsoft.com/office/drawing/2014/main" id="{99D2E61B-76E9-83D6-4E33-F1BBFA6095A3}"/>
              </a:ext>
            </a:extLst>
          </p:cNvPr>
          <p:cNvCxnSpPr>
            <a:cxnSpLocks/>
            <a:stCxn id="98" idx="0"/>
            <a:endCxn id="100" idx="0"/>
          </p:cNvCxnSpPr>
          <p:nvPr/>
        </p:nvCxnSpPr>
        <p:spPr>
          <a:xfrm rot="5400000" flipH="1" flipV="1">
            <a:off x="10112006" y="3367052"/>
            <a:ext cx="3000" cy="1447396"/>
          </a:xfrm>
          <a:prstGeom prst="curvedConnector3">
            <a:avLst>
              <a:gd name="adj1" fmla="val 772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AD886D36-8D5C-CC16-CF33-9A3F0966E28D}"/>
              </a:ext>
            </a:extLst>
          </p:cNvPr>
          <p:cNvSpPr txBox="1"/>
          <p:nvPr/>
        </p:nvSpPr>
        <p:spPr>
          <a:xfrm>
            <a:off x="541757" y="2529359"/>
            <a:ext cx="28314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/>
              <a:t>CNN</a:t>
            </a:r>
          </a:p>
          <a:p>
            <a:pPr algn="ctr"/>
            <a:r>
              <a:rPr kumimoji="1" lang="en-US" altLang="zh-TW" sz="2800" b="1" dirty="0"/>
              <a:t>(</a:t>
            </a:r>
            <a:r>
              <a:rPr kumimoji="1" lang="zh-TW" altLang="en-US" sz="2800" b="1" dirty="0"/>
              <a:t>著重局部資訊</a:t>
            </a:r>
            <a:r>
              <a:rPr kumimoji="1" lang="en-US" altLang="zh-TW" sz="2800" b="1" dirty="0"/>
              <a:t>)</a:t>
            </a:r>
            <a:endParaRPr kumimoji="1" lang="zh-TW" altLang="en-US" sz="2800" b="1" dirty="0"/>
          </a:p>
        </p:txBody>
      </p:sp>
      <p:sp>
        <p:nvSpPr>
          <p:cNvPr id="129" name="文字方塊 128">
            <a:extLst>
              <a:ext uri="{FF2B5EF4-FFF2-40B4-BE49-F238E27FC236}">
                <a16:creationId xmlns:a16="http://schemas.microsoft.com/office/drawing/2014/main" id="{A760FD09-FFA9-A4A1-6C7D-4C30DE6ADB6C}"/>
              </a:ext>
            </a:extLst>
          </p:cNvPr>
          <p:cNvSpPr txBox="1"/>
          <p:nvPr/>
        </p:nvSpPr>
        <p:spPr>
          <a:xfrm>
            <a:off x="4273083" y="2529359"/>
            <a:ext cx="27826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/>
              <a:t>RNN</a:t>
            </a:r>
          </a:p>
          <a:p>
            <a:pPr algn="ctr"/>
            <a:r>
              <a:rPr kumimoji="1" lang="en-US" altLang="zh-TW" sz="2800" b="1" dirty="0"/>
              <a:t>(</a:t>
            </a:r>
            <a:r>
              <a:rPr kumimoji="1" lang="zh-TW" altLang="en-US" sz="2800" b="1" dirty="0"/>
              <a:t>著重記憶力</a:t>
            </a:r>
            <a:r>
              <a:rPr kumimoji="1" lang="en-US" altLang="zh-TW" sz="2800" b="1" dirty="0"/>
              <a:t>)</a:t>
            </a:r>
            <a:endParaRPr kumimoji="1" lang="zh-TW" altLang="en-US" sz="2800" b="1" dirty="0"/>
          </a:p>
        </p:txBody>
      </p:sp>
      <p:sp>
        <p:nvSpPr>
          <p:cNvPr id="130" name="文字方塊 129">
            <a:extLst>
              <a:ext uri="{FF2B5EF4-FFF2-40B4-BE49-F238E27FC236}">
                <a16:creationId xmlns:a16="http://schemas.microsoft.com/office/drawing/2014/main" id="{21DD5EF3-243B-2AE6-190D-F1CD8A694FCA}"/>
              </a:ext>
            </a:extLst>
          </p:cNvPr>
          <p:cNvSpPr txBox="1"/>
          <p:nvPr/>
        </p:nvSpPr>
        <p:spPr>
          <a:xfrm>
            <a:off x="7708438" y="2529359"/>
            <a:ext cx="42507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/>
              <a:t>Transformer</a:t>
            </a:r>
          </a:p>
          <a:p>
            <a:pPr algn="ctr"/>
            <a:r>
              <a:rPr kumimoji="1" lang="en-US" altLang="zh-TW" sz="2800" b="1" dirty="0"/>
              <a:t>(</a:t>
            </a:r>
            <a:r>
              <a:rPr kumimoji="1" lang="zh-TW" altLang="en-US" sz="2800" b="1" dirty="0"/>
              <a:t>著重全局資訊與記憶力</a:t>
            </a:r>
            <a:r>
              <a:rPr kumimoji="1" lang="en-US" altLang="zh-TW" sz="2800" b="1" dirty="0"/>
              <a:t>)</a:t>
            </a:r>
            <a:endParaRPr kumimoji="1" lang="zh-TW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888991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B5C561-855F-5840-B0B0-831EEC255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RNN</a:t>
            </a:r>
            <a:r>
              <a:rPr kumimoji="1" lang="zh-TW" altLang="en-US" dirty="0"/>
              <a:t> 與 </a:t>
            </a:r>
            <a:r>
              <a:rPr kumimoji="1" lang="en-US" altLang="zh-TW" dirty="0"/>
              <a:t>CNN</a:t>
            </a:r>
            <a:r>
              <a:rPr kumimoji="1" lang="zh-TW" altLang="en-US" dirty="0"/>
              <a:t> 作為序列模型的問題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1E7976-058F-51C5-AF05-241AB31D6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99A1FB7-CCCB-3A41-3FA2-3AB4638F7189}"/>
              </a:ext>
            </a:extLst>
          </p:cNvPr>
          <p:cNvSpPr/>
          <p:nvPr/>
        </p:nvSpPr>
        <p:spPr>
          <a:xfrm>
            <a:off x="1341364" y="3779269"/>
            <a:ext cx="694845" cy="65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RNN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DF8195-529D-38D2-B062-1491DCCBC74D}"/>
              </a:ext>
            </a:extLst>
          </p:cNvPr>
          <p:cNvSpPr/>
          <p:nvPr/>
        </p:nvSpPr>
        <p:spPr>
          <a:xfrm>
            <a:off x="2427099" y="3779269"/>
            <a:ext cx="694845" cy="65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RNN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C46C43F-E24F-0DAB-A9D6-DF2B8BB03BFE}"/>
              </a:ext>
            </a:extLst>
          </p:cNvPr>
          <p:cNvSpPr/>
          <p:nvPr/>
        </p:nvSpPr>
        <p:spPr>
          <a:xfrm>
            <a:off x="3512834" y="3779269"/>
            <a:ext cx="694845" cy="65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RNN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DC23FD15-BE19-8972-B6A5-F92A7AB8AA8B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036209" y="4106991"/>
            <a:ext cx="39089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61E5EEF9-DA32-5F0C-BD79-74F18BD674ED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3121944" y="4106991"/>
            <a:ext cx="39089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380C92C7-B0D0-7CA6-1A0B-1D8970D76846}"/>
              </a:ext>
            </a:extLst>
          </p:cNvPr>
          <p:cNvSpPr/>
          <p:nvPr/>
        </p:nvSpPr>
        <p:spPr>
          <a:xfrm>
            <a:off x="4598570" y="3779269"/>
            <a:ext cx="694845" cy="65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RNN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0983AF56-58ED-B9E8-5E07-8CBFF42E8EBA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4207679" y="4106991"/>
            <a:ext cx="39089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37F12AA5-FEEF-6BD6-07A3-D372FDF21393}"/>
              </a:ext>
            </a:extLst>
          </p:cNvPr>
          <p:cNvSpPr/>
          <p:nvPr/>
        </p:nvSpPr>
        <p:spPr>
          <a:xfrm>
            <a:off x="1589693" y="5023358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C61FD25-C0F9-70A3-CE25-8703CD303D44}"/>
              </a:ext>
            </a:extLst>
          </p:cNvPr>
          <p:cNvSpPr/>
          <p:nvPr/>
        </p:nvSpPr>
        <p:spPr>
          <a:xfrm>
            <a:off x="2675428" y="5023358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21621A2-6269-B8D5-3CB1-448FDC7B97CA}"/>
              </a:ext>
            </a:extLst>
          </p:cNvPr>
          <p:cNvSpPr/>
          <p:nvPr/>
        </p:nvSpPr>
        <p:spPr>
          <a:xfrm>
            <a:off x="3761163" y="5023358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ED8416C-474A-891A-1E8A-9789B30F93FD}"/>
              </a:ext>
            </a:extLst>
          </p:cNvPr>
          <p:cNvSpPr/>
          <p:nvPr/>
        </p:nvSpPr>
        <p:spPr>
          <a:xfrm>
            <a:off x="4846899" y="5023358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E64AF26-FFD8-A3FE-F160-0052FBB1D051}"/>
              </a:ext>
            </a:extLst>
          </p:cNvPr>
          <p:cNvSpPr/>
          <p:nvPr/>
        </p:nvSpPr>
        <p:spPr>
          <a:xfrm>
            <a:off x="1589693" y="2508341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96333B6-BFEE-E40B-18BE-C8B62FD53CDA}"/>
              </a:ext>
            </a:extLst>
          </p:cNvPr>
          <p:cNvSpPr/>
          <p:nvPr/>
        </p:nvSpPr>
        <p:spPr>
          <a:xfrm>
            <a:off x="2675428" y="2507187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A2FAF73-53FE-17BB-5D94-646093F2F1FC}"/>
              </a:ext>
            </a:extLst>
          </p:cNvPr>
          <p:cNvSpPr/>
          <p:nvPr/>
        </p:nvSpPr>
        <p:spPr>
          <a:xfrm>
            <a:off x="3761163" y="2507187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A70FA54-9953-191E-5867-347E42C525B0}"/>
              </a:ext>
            </a:extLst>
          </p:cNvPr>
          <p:cNvSpPr/>
          <p:nvPr/>
        </p:nvSpPr>
        <p:spPr>
          <a:xfrm>
            <a:off x="4846897" y="2507187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8A91728F-25C6-9062-A73F-C87E43C9B050}"/>
              </a:ext>
            </a:extLst>
          </p:cNvPr>
          <p:cNvCxnSpPr>
            <a:cxnSpLocks/>
          </p:cNvCxnSpPr>
          <p:nvPr/>
        </p:nvCxnSpPr>
        <p:spPr>
          <a:xfrm flipH="1" flipV="1">
            <a:off x="2774521" y="3209286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50D58B3A-6448-1538-DC06-6C69B403937B}"/>
              </a:ext>
            </a:extLst>
          </p:cNvPr>
          <p:cNvCxnSpPr>
            <a:cxnSpLocks/>
          </p:cNvCxnSpPr>
          <p:nvPr/>
        </p:nvCxnSpPr>
        <p:spPr>
          <a:xfrm flipH="1" flipV="1">
            <a:off x="1688786" y="3210440"/>
            <a:ext cx="1" cy="4755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0D04A58E-D13D-6620-DFFC-7505B81A9055}"/>
              </a:ext>
            </a:extLst>
          </p:cNvPr>
          <p:cNvCxnSpPr>
            <a:cxnSpLocks/>
          </p:cNvCxnSpPr>
          <p:nvPr/>
        </p:nvCxnSpPr>
        <p:spPr>
          <a:xfrm flipV="1">
            <a:off x="1688786" y="4500030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E25E6F09-F7CF-C2F6-E32F-4F4ABD4ACB67}"/>
              </a:ext>
            </a:extLst>
          </p:cNvPr>
          <p:cNvCxnSpPr>
            <a:cxnSpLocks/>
          </p:cNvCxnSpPr>
          <p:nvPr/>
        </p:nvCxnSpPr>
        <p:spPr>
          <a:xfrm flipV="1">
            <a:off x="2774521" y="4500030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6D237900-83F1-D889-12B5-82EE1BF908E1}"/>
              </a:ext>
            </a:extLst>
          </p:cNvPr>
          <p:cNvCxnSpPr>
            <a:cxnSpLocks/>
          </p:cNvCxnSpPr>
          <p:nvPr/>
        </p:nvCxnSpPr>
        <p:spPr>
          <a:xfrm flipV="1">
            <a:off x="3860256" y="4500030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B4A92FE8-D938-4E23-6F6C-27304A8290CE}"/>
              </a:ext>
            </a:extLst>
          </p:cNvPr>
          <p:cNvCxnSpPr>
            <a:cxnSpLocks/>
          </p:cNvCxnSpPr>
          <p:nvPr/>
        </p:nvCxnSpPr>
        <p:spPr>
          <a:xfrm flipV="1">
            <a:off x="4945992" y="4500030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2D9A0AD8-DA18-8F70-4807-E0C696BED3C4}"/>
              </a:ext>
            </a:extLst>
          </p:cNvPr>
          <p:cNvCxnSpPr>
            <a:cxnSpLocks/>
          </p:cNvCxnSpPr>
          <p:nvPr/>
        </p:nvCxnSpPr>
        <p:spPr>
          <a:xfrm flipH="1" flipV="1">
            <a:off x="4945990" y="3209286"/>
            <a:ext cx="3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1F95A78D-8A89-6C2B-D08C-F757807D6CD8}"/>
              </a:ext>
            </a:extLst>
          </p:cNvPr>
          <p:cNvCxnSpPr>
            <a:cxnSpLocks/>
          </p:cNvCxnSpPr>
          <p:nvPr/>
        </p:nvCxnSpPr>
        <p:spPr>
          <a:xfrm flipH="1" flipV="1">
            <a:off x="3860256" y="3209286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6BEB1961-0F60-7DE4-EBB5-925969788285}"/>
              </a:ext>
            </a:extLst>
          </p:cNvPr>
          <p:cNvSpPr txBox="1"/>
          <p:nvPr/>
        </p:nvSpPr>
        <p:spPr>
          <a:xfrm>
            <a:off x="1250261" y="5816921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open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5070180-548B-DB19-5BF8-01AC126481ED}"/>
              </a:ext>
            </a:extLst>
          </p:cNvPr>
          <p:cNvSpPr txBox="1"/>
          <p:nvPr/>
        </p:nvSpPr>
        <p:spPr>
          <a:xfrm>
            <a:off x="2335996" y="5816921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14D81FBB-5484-21C4-DA63-9FE2F7AC09AA}"/>
              </a:ext>
            </a:extLst>
          </p:cNvPr>
          <p:cNvSpPr txBox="1"/>
          <p:nvPr/>
        </p:nvSpPr>
        <p:spPr>
          <a:xfrm>
            <a:off x="3421731" y="5816921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bank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B621F9DB-4474-0446-FA7A-AC87BE66BA9D}"/>
              </a:ext>
            </a:extLst>
          </p:cNvPr>
          <p:cNvSpPr txBox="1"/>
          <p:nvPr/>
        </p:nvSpPr>
        <p:spPr>
          <a:xfrm>
            <a:off x="4465087" y="5816921"/>
            <a:ext cx="9618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account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B0681473-A86B-9478-A8CA-554B4256CE66}"/>
              </a:ext>
            </a:extLst>
          </p:cNvPr>
          <p:cNvSpPr txBox="1"/>
          <p:nvPr/>
        </p:nvSpPr>
        <p:spPr>
          <a:xfrm>
            <a:off x="1840997" y="1797033"/>
            <a:ext cx="29527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/>
              <a:t>問題：</a:t>
            </a:r>
            <a:r>
              <a:rPr kumimoji="1" lang="en-US" altLang="zh-TW" sz="2000" dirty="0"/>
              <a:t>RNN</a:t>
            </a:r>
            <a:r>
              <a:rPr kumimoji="1" lang="zh-TW" altLang="en-US" sz="2000" dirty="0"/>
              <a:t> 難以平行化</a:t>
            </a:r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A5CF0794-D736-07DA-F8D8-24FCBF4B8FF8}"/>
              </a:ext>
            </a:extLst>
          </p:cNvPr>
          <p:cNvCxnSpPr>
            <a:cxnSpLocks/>
          </p:cNvCxnSpPr>
          <p:nvPr/>
        </p:nvCxnSpPr>
        <p:spPr>
          <a:xfrm>
            <a:off x="6096000" y="1797033"/>
            <a:ext cx="0" cy="441715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1D2A0F45-590F-12AA-BC20-F8ECAFA58099}"/>
              </a:ext>
            </a:extLst>
          </p:cNvPr>
          <p:cNvSpPr/>
          <p:nvPr/>
        </p:nvSpPr>
        <p:spPr>
          <a:xfrm>
            <a:off x="7104540" y="5023358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580EE99-5C5A-7692-BDF5-7F559E58F9E7}"/>
              </a:ext>
            </a:extLst>
          </p:cNvPr>
          <p:cNvSpPr/>
          <p:nvPr/>
        </p:nvSpPr>
        <p:spPr>
          <a:xfrm>
            <a:off x="8190275" y="5023358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D886029-C36B-AA70-4EEA-F6588CFF9711}"/>
              </a:ext>
            </a:extLst>
          </p:cNvPr>
          <p:cNvSpPr/>
          <p:nvPr/>
        </p:nvSpPr>
        <p:spPr>
          <a:xfrm>
            <a:off x="9276010" y="5023358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FFD979D-274B-8CBA-EDD7-93AD7F3F8DBD}"/>
              </a:ext>
            </a:extLst>
          </p:cNvPr>
          <p:cNvSpPr/>
          <p:nvPr/>
        </p:nvSpPr>
        <p:spPr>
          <a:xfrm>
            <a:off x="10361746" y="5023358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66AC0775-2EE2-DBA5-8316-C0842C57BB4E}"/>
              </a:ext>
            </a:extLst>
          </p:cNvPr>
          <p:cNvSpPr txBox="1"/>
          <p:nvPr/>
        </p:nvSpPr>
        <p:spPr>
          <a:xfrm>
            <a:off x="6765108" y="5770266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open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538C42B6-CC86-6942-240B-7608E93032A3}"/>
              </a:ext>
            </a:extLst>
          </p:cNvPr>
          <p:cNvSpPr txBox="1"/>
          <p:nvPr/>
        </p:nvSpPr>
        <p:spPr>
          <a:xfrm>
            <a:off x="7850843" y="5770266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269F9B92-7B20-D778-A07D-50E09042E807}"/>
              </a:ext>
            </a:extLst>
          </p:cNvPr>
          <p:cNvSpPr txBox="1"/>
          <p:nvPr/>
        </p:nvSpPr>
        <p:spPr>
          <a:xfrm>
            <a:off x="8936578" y="5770266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bank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B89DA2F0-9FA4-7E20-75AE-DF3B973C8FB5}"/>
              </a:ext>
            </a:extLst>
          </p:cNvPr>
          <p:cNvSpPr txBox="1"/>
          <p:nvPr/>
        </p:nvSpPr>
        <p:spPr>
          <a:xfrm>
            <a:off x="9979934" y="5770266"/>
            <a:ext cx="9618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account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3BD3C57C-BFE3-DC23-6A7C-AB6E791CA0D3}"/>
              </a:ext>
            </a:extLst>
          </p:cNvPr>
          <p:cNvSpPr txBox="1"/>
          <p:nvPr/>
        </p:nvSpPr>
        <p:spPr>
          <a:xfrm>
            <a:off x="7203631" y="1796769"/>
            <a:ext cx="3327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/>
              <a:t>問題：</a:t>
            </a:r>
            <a:r>
              <a:rPr kumimoji="1" lang="en-US" altLang="zh-TW" sz="2000" dirty="0"/>
              <a:t>CNN</a:t>
            </a:r>
            <a:r>
              <a:rPr kumimoji="1" lang="zh-TW" altLang="en-US" sz="2000" dirty="0"/>
              <a:t> 著重局部資訊</a:t>
            </a:r>
          </a:p>
        </p:txBody>
      </p:sp>
      <p:sp>
        <p:nvSpPr>
          <p:cNvPr id="64" name="不規則四邊形 63">
            <a:extLst>
              <a:ext uri="{FF2B5EF4-FFF2-40B4-BE49-F238E27FC236}">
                <a16:creationId xmlns:a16="http://schemas.microsoft.com/office/drawing/2014/main" id="{784C4A3C-C687-7F3C-3369-9EDB3168593A}"/>
              </a:ext>
            </a:extLst>
          </p:cNvPr>
          <p:cNvSpPr/>
          <p:nvPr/>
        </p:nvSpPr>
        <p:spPr>
          <a:xfrm>
            <a:off x="7105837" y="4072786"/>
            <a:ext cx="1203848" cy="338555"/>
          </a:xfrm>
          <a:prstGeom prst="trapezoi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CNN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5" name="不規則四邊形 64">
            <a:extLst>
              <a:ext uri="{FF2B5EF4-FFF2-40B4-BE49-F238E27FC236}">
                <a16:creationId xmlns:a16="http://schemas.microsoft.com/office/drawing/2014/main" id="{94786ED8-9C1F-1924-AA78-912655E5D39B}"/>
              </a:ext>
            </a:extLst>
          </p:cNvPr>
          <p:cNvSpPr/>
          <p:nvPr/>
        </p:nvSpPr>
        <p:spPr>
          <a:xfrm>
            <a:off x="8232652" y="4072786"/>
            <a:ext cx="1203848" cy="338555"/>
          </a:xfrm>
          <a:prstGeom prst="trapezoi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CNN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6" name="不規則四邊形 65">
            <a:extLst>
              <a:ext uri="{FF2B5EF4-FFF2-40B4-BE49-F238E27FC236}">
                <a16:creationId xmlns:a16="http://schemas.microsoft.com/office/drawing/2014/main" id="{AA4D104A-DE8E-9DC8-5F3C-DB3A68CA4960}"/>
              </a:ext>
            </a:extLst>
          </p:cNvPr>
          <p:cNvSpPr/>
          <p:nvPr/>
        </p:nvSpPr>
        <p:spPr>
          <a:xfrm>
            <a:off x="9356082" y="4071391"/>
            <a:ext cx="1203848" cy="338555"/>
          </a:xfrm>
          <a:prstGeom prst="trapezoi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CNN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69" name="直線箭頭接點 68">
            <a:extLst>
              <a:ext uri="{FF2B5EF4-FFF2-40B4-BE49-F238E27FC236}">
                <a16:creationId xmlns:a16="http://schemas.microsoft.com/office/drawing/2014/main" id="{BED65694-1241-6AFD-2448-22F7A513EDAC}"/>
              </a:ext>
            </a:extLst>
          </p:cNvPr>
          <p:cNvCxnSpPr>
            <a:cxnSpLocks/>
          </p:cNvCxnSpPr>
          <p:nvPr/>
        </p:nvCxnSpPr>
        <p:spPr>
          <a:xfrm flipV="1">
            <a:off x="7203631" y="4455221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箭頭接點 69">
            <a:extLst>
              <a:ext uri="{FF2B5EF4-FFF2-40B4-BE49-F238E27FC236}">
                <a16:creationId xmlns:a16="http://schemas.microsoft.com/office/drawing/2014/main" id="{C9DD4CF6-D977-7951-7038-4A35180AF8EC}"/>
              </a:ext>
            </a:extLst>
          </p:cNvPr>
          <p:cNvCxnSpPr>
            <a:cxnSpLocks/>
          </p:cNvCxnSpPr>
          <p:nvPr/>
        </p:nvCxnSpPr>
        <p:spPr>
          <a:xfrm flipV="1">
            <a:off x="8289366" y="4455221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箭頭接點 70">
            <a:extLst>
              <a:ext uri="{FF2B5EF4-FFF2-40B4-BE49-F238E27FC236}">
                <a16:creationId xmlns:a16="http://schemas.microsoft.com/office/drawing/2014/main" id="{8A0D6C7A-0DD3-8D6C-9B1A-D87CEE9865ED}"/>
              </a:ext>
            </a:extLst>
          </p:cNvPr>
          <p:cNvCxnSpPr>
            <a:cxnSpLocks/>
          </p:cNvCxnSpPr>
          <p:nvPr/>
        </p:nvCxnSpPr>
        <p:spPr>
          <a:xfrm flipV="1">
            <a:off x="9375101" y="4455221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箭頭接點 71">
            <a:extLst>
              <a:ext uri="{FF2B5EF4-FFF2-40B4-BE49-F238E27FC236}">
                <a16:creationId xmlns:a16="http://schemas.microsoft.com/office/drawing/2014/main" id="{AB7C8023-A170-C4D0-B5F5-79844C7766B5}"/>
              </a:ext>
            </a:extLst>
          </p:cNvPr>
          <p:cNvCxnSpPr>
            <a:cxnSpLocks/>
          </p:cNvCxnSpPr>
          <p:nvPr/>
        </p:nvCxnSpPr>
        <p:spPr>
          <a:xfrm flipV="1">
            <a:off x="10460837" y="4455221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>
            <a:extLst>
              <a:ext uri="{FF2B5EF4-FFF2-40B4-BE49-F238E27FC236}">
                <a16:creationId xmlns:a16="http://schemas.microsoft.com/office/drawing/2014/main" id="{FA4D7496-4E61-4726-07F3-C25612DAC1B0}"/>
              </a:ext>
            </a:extLst>
          </p:cNvPr>
          <p:cNvSpPr/>
          <p:nvPr/>
        </p:nvSpPr>
        <p:spPr>
          <a:xfrm>
            <a:off x="7104538" y="2503585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353D24C8-5FAC-50A3-4D0D-57718D1188DA}"/>
              </a:ext>
            </a:extLst>
          </p:cNvPr>
          <p:cNvSpPr/>
          <p:nvPr/>
        </p:nvSpPr>
        <p:spPr>
          <a:xfrm>
            <a:off x="8190273" y="2502431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F224AF52-9C2D-5444-C647-03EA29329B93}"/>
              </a:ext>
            </a:extLst>
          </p:cNvPr>
          <p:cNvSpPr/>
          <p:nvPr/>
        </p:nvSpPr>
        <p:spPr>
          <a:xfrm>
            <a:off x="9276008" y="2502431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5C62F46C-1D7D-981B-251A-978326437238}"/>
              </a:ext>
            </a:extLst>
          </p:cNvPr>
          <p:cNvSpPr/>
          <p:nvPr/>
        </p:nvSpPr>
        <p:spPr>
          <a:xfrm>
            <a:off x="10361742" y="2502431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77" name="直線箭頭接點 76">
            <a:extLst>
              <a:ext uri="{FF2B5EF4-FFF2-40B4-BE49-F238E27FC236}">
                <a16:creationId xmlns:a16="http://schemas.microsoft.com/office/drawing/2014/main" id="{F5F3B9B5-6BF8-4252-994B-3F2C69703D71}"/>
              </a:ext>
            </a:extLst>
          </p:cNvPr>
          <p:cNvCxnSpPr>
            <a:cxnSpLocks/>
          </p:cNvCxnSpPr>
          <p:nvPr/>
        </p:nvCxnSpPr>
        <p:spPr>
          <a:xfrm flipH="1" flipV="1">
            <a:off x="8289366" y="3204530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箭頭接點 77">
            <a:extLst>
              <a:ext uri="{FF2B5EF4-FFF2-40B4-BE49-F238E27FC236}">
                <a16:creationId xmlns:a16="http://schemas.microsoft.com/office/drawing/2014/main" id="{7E1CFCB0-70D2-1191-ED3B-D99C1346DDF2}"/>
              </a:ext>
            </a:extLst>
          </p:cNvPr>
          <p:cNvCxnSpPr>
            <a:cxnSpLocks/>
          </p:cNvCxnSpPr>
          <p:nvPr/>
        </p:nvCxnSpPr>
        <p:spPr>
          <a:xfrm flipH="1" flipV="1">
            <a:off x="7203631" y="3205684"/>
            <a:ext cx="1" cy="4755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箭頭接點 78">
            <a:extLst>
              <a:ext uri="{FF2B5EF4-FFF2-40B4-BE49-F238E27FC236}">
                <a16:creationId xmlns:a16="http://schemas.microsoft.com/office/drawing/2014/main" id="{7DE5DAE9-B81D-79D6-5E54-49A69128E2D4}"/>
              </a:ext>
            </a:extLst>
          </p:cNvPr>
          <p:cNvCxnSpPr>
            <a:cxnSpLocks/>
          </p:cNvCxnSpPr>
          <p:nvPr/>
        </p:nvCxnSpPr>
        <p:spPr>
          <a:xfrm flipH="1" flipV="1">
            <a:off x="10460835" y="3204530"/>
            <a:ext cx="3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箭頭接點 79">
            <a:extLst>
              <a:ext uri="{FF2B5EF4-FFF2-40B4-BE49-F238E27FC236}">
                <a16:creationId xmlns:a16="http://schemas.microsoft.com/office/drawing/2014/main" id="{F2B41B5F-24DC-2AA2-B1C0-98B0F04B2183}"/>
              </a:ext>
            </a:extLst>
          </p:cNvPr>
          <p:cNvCxnSpPr>
            <a:cxnSpLocks/>
          </p:cNvCxnSpPr>
          <p:nvPr/>
        </p:nvCxnSpPr>
        <p:spPr>
          <a:xfrm flipH="1" flipV="1">
            <a:off x="9375101" y="3204530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51481737-33DD-7877-0684-32BC3DB938EC}"/>
              </a:ext>
            </a:extLst>
          </p:cNvPr>
          <p:cNvSpPr/>
          <p:nvPr/>
        </p:nvSpPr>
        <p:spPr>
          <a:xfrm>
            <a:off x="7146916" y="3782510"/>
            <a:ext cx="3356297" cy="2249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Pooling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2811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8" grpId="0"/>
      <p:bldP spid="29" grpId="0"/>
      <p:bldP spid="30" grpId="0"/>
      <p:bldP spid="31" grpId="0"/>
      <p:bldP spid="43" grpId="0" animBg="1"/>
      <p:bldP spid="44" grpId="0" animBg="1"/>
      <p:bldP spid="45" grpId="0" animBg="1"/>
      <p:bldP spid="46" grpId="0" animBg="1"/>
      <p:bldP spid="59" grpId="0"/>
      <p:bldP spid="60" grpId="0"/>
      <p:bldP spid="61" grpId="0"/>
      <p:bldP spid="62" grpId="0"/>
      <p:bldP spid="63" grpId="0"/>
      <p:bldP spid="64" grpId="0" animBg="1"/>
      <p:bldP spid="65" grpId="0" animBg="1"/>
      <p:bldP spid="66" grpId="0" animBg="1"/>
      <p:bldP spid="73" grpId="0" animBg="1"/>
      <p:bldP spid="74" grpId="0" animBg="1"/>
      <p:bldP spid="75" grpId="0" animBg="1"/>
      <p:bldP spid="76" grpId="0" animBg="1"/>
      <p:bldP spid="8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B8AE9C-1909-B974-E8C8-9807CE1AC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Encoder and Decoder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106C75-A795-3924-7F0C-B509934C7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BA383E56-D04D-340B-A396-C1FF6DCBC646}"/>
              </a:ext>
            </a:extLst>
          </p:cNvPr>
          <p:cNvSpPr/>
          <p:nvPr/>
        </p:nvSpPr>
        <p:spPr>
          <a:xfrm>
            <a:off x="6777738" y="4052638"/>
            <a:ext cx="4433985" cy="99135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Decoder</a:t>
            </a:r>
            <a:endParaRPr kumimoji="1"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CD4D7DE-FEA6-5EAD-BA7D-0E9B63A81999}"/>
              </a:ext>
            </a:extLst>
          </p:cNvPr>
          <p:cNvSpPr txBox="1"/>
          <p:nvPr/>
        </p:nvSpPr>
        <p:spPr>
          <a:xfrm>
            <a:off x="6848723" y="5855027"/>
            <a:ext cx="589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/>
              <a:t>(Start)</a:t>
            </a:r>
            <a:endParaRPr kumimoji="1" lang="zh-TW" altLang="en-US" sz="1200" dirty="0"/>
          </a:p>
        </p:txBody>
      </p: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21F30ECC-84F2-5D18-362E-5D5B043F7E7B}"/>
              </a:ext>
            </a:extLst>
          </p:cNvPr>
          <p:cNvCxnSpPr>
            <a:cxnSpLocks/>
          </p:cNvCxnSpPr>
          <p:nvPr/>
        </p:nvCxnSpPr>
        <p:spPr>
          <a:xfrm flipV="1">
            <a:off x="7141779" y="3739303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DFBBA531-BE7B-F9F3-E719-5242A0B9E4BD}"/>
              </a:ext>
            </a:extLst>
          </p:cNvPr>
          <p:cNvCxnSpPr>
            <a:cxnSpLocks/>
          </p:cNvCxnSpPr>
          <p:nvPr/>
        </p:nvCxnSpPr>
        <p:spPr>
          <a:xfrm flipV="1">
            <a:off x="7864194" y="3739303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5213826B-7FF7-F9EA-A9F9-445F4081DE0B}"/>
              </a:ext>
            </a:extLst>
          </p:cNvPr>
          <p:cNvCxnSpPr>
            <a:cxnSpLocks/>
          </p:cNvCxnSpPr>
          <p:nvPr/>
        </p:nvCxnSpPr>
        <p:spPr>
          <a:xfrm flipV="1">
            <a:off x="10791469" y="3739303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252A1EFC-B9A1-E9B9-C671-FC420A3A4AAD}"/>
              </a:ext>
            </a:extLst>
          </p:cNvPr>
          <p:cNvCxnSpPr>
            <a:cxnSpLocks/>
          </p:cNvCxnSpPr>
          <p:nvPr/>
        </p:nvCxnSpPr>
        <p:spPr>
          <a:xfrm flipV="1">
            <a:off x="10069054" y="3739303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A8FFAB12-7688-B996-CE29-CCFBB2E29E54}"/>
              </a:ext>
            </a:extLst>
          </p:cNvPr>
          <p:cNvCxnSpPr>
            <a:cxnSpLocks/>
          </p:cNvCxnSpPr>
          <p:nvPr/>
        </p:nvCxnSpPr>
        <p:spPr>
          <a:xfrm flipV="1">
            <a:off x="7141779" y="5095489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A3271C6B-2A38-B65E-147B-30B6DBA820E4}"/>
              </a:ext>
            </a:extLst>
          </p:cNvPr>
          <p:cNvCxnSpPr>
            <a:cxnSpLocks/>
          </p:cNvCxnSpPr>
          <p:nvPr/>
        </p:nvCxnSpPr>
        <p:spPr>
          <a:xfrm flipV="1">
            <a:off x="7864193" y="5095489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7DB29C07-EE45-FDF3-50C5-462B179F554D}"/>
              </a:ext>
            </a:extLst>
          </p:cNvPr>
          <p:cNvCxnSpPr>
            <a:cxnSpLocks/>
          </p:cNvCxnSpPr>
          <p:nvPr/>
        </p:nvCxnSpPr>
        <p:spPr>
          <a:xfrm flipV="1">
            <a:off x="10069053" y="509199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E80F3625-6DB5-7DD1-C50D-5733EC81F434}"/>
              </a:ext>
            </a:extLst>
          </p:cNvPr>
          <p:cNvCxnSpPr>
            <a:cxnSpLocks/>
          </p:cNvCxnSpPr>
          <p:nvPr/>
        </p:nvCxnSpPr>
        <p:spPr>
          <a:xfrm flipV="1">
            <a:off x="10791467" y="509199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7DBE63A-42BD-8531-2AE3-FBE67A0DD8F9}"/>
              </a:ext>
            </a:extLst>
          </p:cNvPr>
          <p:cNvSpPr txBox="1"/>
          <p:nvPr/>
        </p:nvSpPr>
        <p:spPr>
          <a:xfrm>
            <a:off x="8643134" y="5288270"/>
            <a:ext cx="846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……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CC40672F-B910-D24E-72DA-0F22F07E9DA9}"/>
                  </a:ext>
                </a:extLst>
              </p:cNvPr>
              <p:cNvSpPr/>
              <p:nvPr/>
            </p:nvSpPr>
            <p:spPr>
              <a:xfrm>
                <a:off x="9794143" y="2529790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CC40672F-B910-D24E-72DA-0F22F07E9D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4143" y="2529790"/>
                <a:ext cx="555203" cy="465105"/>
              </a:xfrm>
              <a:prstGeom prst="roundRect">
                <a:avLst/>
              </a:prstGeom>
              <a:blipFill>
                <a:blip r:embed="rId2"/>
                <a:stretch>
                  <a:fillRect l="-638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圓角矩形 18">
                <a:extLst>
                  <a:ext uri="{FF2B5EF4-FFF2-40B4-BE49-F238E27FC236}">
                    <a16:creationId xmlns:a16="http://schemas.microsoft.com/office/drawing/2014/main" id="{E1C6C418-46CC-12F4-672C-B6855778DDE5}"/>
                  </a:ext>
                </a:extLst>
              </p:cNvPr>
              <p:cNvSpPr/>
              <p:nvPr/>
            </p:nvSpPr>
            <p:spPr>
              <a:xfrm>
                <a:off x="10516557" y="2527725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圓角矩形 18">
                <a:extLst>
                  <a:ext uri="{FF2B5EF4-FFF2-40B4-BE49-F238E27FC236}">
                    <a16:creationId xmlns:a16="http://schemas.microsoft.com/office/drawing/2014/main" id="{E1C6C418-46CC-12F4-672C-B6855778DD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6557" y="2527725"/>
                <a:ext cx="555203" cy="46510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圓角矩形 19">
                <a:extLst>
                  <a:ext uri="{FF2B5EF4-FFF2-40B4-BE49-F238E27FC236}">
                    <a16:creationId xmlns:a16="http://schemas.microsoft.com/office/drawing/2014/main" id="{C0A43D43-98FF-A85D-04B6-07EBBD0002F4}"/>
                  </a:ext>
                </a:extLst>
              </p:cNvPr>
              <p:cNvSpPr/>
              <p:nvPr/>
            </p:nvSpPr>
            <p:spPr>
              <a:xfrm>
                <a:off x="6864175" y="2517133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圓角矩形 19">
                <a:extLst>
                  <a:ext uri="{FF2B5EF4-FFF2-40B4-BE49-F238E27FC236}">
                    <a16:creationId xmlns:a16="http://schemas.microsoft.com/office/drawing/2014/main" id="{C0A43D43-98FF-A85D-04B6-07EBBD0002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4175" y="2517133"/>
                <a:ext cx="555203" cy="46510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圓角矩形 20">
                <a:extLst>
                  <a:ext uri="{FF2B5EF4-FFF2-40B4-BE49-F238E27FC236}">
                    <a16:creationId xmlns:a16="http://schemas.microsoft.com/office/drawing/2014/main" id="{98DFC2C4-6948-C430-C594-C839C38C8914}"/>
                  </a:ext>
                </a:extLst>
              </p:cNvPr>
              <p:cNvSpPr/>
              <p:nvPr/>
            </p:nvSpPr>
            <p:spPr>
              <a:xfrm>
                <a:off x="7593229" y="2526949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圓角矩形 20">
                <a:extLst>
                  <a:ext uri="{FF2B5EF4-FFF2-40B4-BE49-F238E27FC236}">
                    <a16:creationId xmlns:a16="http://schemas.microsoft.com/office/drawing/2014/main" id="{98DFC2C4-6948-C430-C594-C839C38C89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3229" y="2526949"/>
                <a:ext cx="555203" cy="46510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圓角矩形 21">
                <a:extLst>
                  <a:ext uri="{FF2B5EF4-FFF2-40B4-BE49-F238E27FC236}">
                    <a16:creationId xmlns:a16="http://schemas.microsoft.com/office/drawing/2014/main" id="{42A5367A-AD7E-8CDF-135E-95FD34743972}"/>
                  </a:ext>
                </a:extLst>
              </p:cNvPr>
              <p:cNvSpPr/>
              <p:nvPr/>
            </p:nvSpPr>
            <p:spPr>
              <a:xfrm>
                <a:off x="7583370" y="5397054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圓角矩形 21">
                <a:extLst>
                  <a:ext uri="{FF2B5EF4-FFF2-40B4-BE49-F238E27FC236}">
                    <a16:creationId xmlns:a16="http://schemas.microsoft.com/office/drawing/2014/main" id="{42A5367A-AD7E-8CDF-135E-95FD347439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3370" y="5397054"/>
                <a:ext cx="555203" cy="46510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圓角矩形 22">
                <a:extLst>
                  <a:ext uri="{FF2B5EF4-FFF2-40B4-BE49-F238E27FC236}">
                    <a16:creationId xmlns:a16="http://schemas.microsoft.com/office/drawing/2014/main" id="{122C1FB2-0AE1-FE9A-2ADD-E02D1F9F24AF}"/>
                  </a:ext>
                </a:extLst>
              </p:cNvPr>
              <p:cNvSpPr/>
              <p:nvPr/>
            </p:nvSpPr>
            <p:spPr>
              <a:xfrm>
                <a:off x="9786336" y="5397054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圓角矩形 22">
                <a:extLst>
                  <a:ext uri="{FF2B5EF4-FFF2-40B4-BE49-F238E27FC236}">
                    <a16:creationId xmlns:a16="http://schemas.microsoft.com/office/drawing/2014/main" id="{122C1FB2-0AE1-FE9A-2ADD-E02D1F9F24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6336" y="5397054"/>
                <a:ext cx="555203" cy="465105"/>
              </a:xfrm>
              <a:prstGeom prst="roundRect">
                <a:avLst/>
              </a:prstGeom>
              <a:blipFill>
                <a:blip r:embed="rId7"/>
                <a:stretch>
                  <a:fillRect l="-425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圓角矩形 23">
                <a:extLst>
                  <a:ext uri="{FF2B5EF4-FFF2-40B4-BE49-F238E27FC236}">
                    <a16:creationId xmlns:a16="http://schemas.microsoft.com/office/drawing/2014/main" id="{2CFB6DE4-298A-6478-84DC-2C4D458C4382}"/>
                  </a:ext>
                </a:extLst>
              </p:cNvPr>
              <p:cNvSpPr/>
              <p:nvPr/>
            </p:nvSpPr>
            <p:spPr>
              <a:xfrm>
                <a:off x="10508748" y="5397054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圓角矩形 23">
                <a:extLst>
                  <a:ext uri="{FF2B5EF4-FFF2-40B4-BE49-F238E27FC236}">
                    <a16:creationId xmlns:a16="http://schemas.microsoft.com/office/drawing/2014/main" id="{2CFB6DE4-298A-6478-84DC-2C4D458C43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8748" y="5397054"/>
                <a:ext cx="555203" cy="465105"/>
              </a:xfrm>
              <a:prstGeom prst="roundRect">
                <a:avLst/>
              </a:prstGeom>
              <a:blipFill>
                <a:blip r:embed="rId8"/>
                <a:stretch>
                  <a:fillRect l="-869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>
            <a:extLst>
              <a:ext uri="{FF2B5EF4-FFF2-40B4-BE49-F238E27FC236}">
                <a16:creationId xmlns:a16="http://schemas.microsoft.com/office/drawing/2014/main" id="{17DF5A0E-5598-F2D7-42EB-37949F9013C8}"/>
              </a:ext>
            </a:extLst>
          </p:cNvPr>
          <p:cNvSpPr txBox="1"/>
          <p:nvPr/>
        </p:nvSpPr>
        <p:spPr>
          <a:xfrm>
            <a:off x="8640752" y="2450264"/>
            <a:ext cx="846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……</a:t>
            </a:r>
            <a:endParaRPr kumimoji="1" lang="zh-TW" altLang="en-US" sz="24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391C10AD-0D04-2B3F-B88B-1109E98C804F}"/>
              </a:ext>
            </a:extLst>
          </p:cNvPr>
          <p:cNvSpPr txBox="1"/>
          <p:nvPr/>
        </p:nvSpPr>
        <p:spPr>
          <a:xfrm>
            <a:off x="7716416" y="1835327"/>
            <a:ext cx="2632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b="1" dirty="0"/>
              <a:t>輸出是</a:t>
            </a:r>
            <a:r>
              <a:rPr kumimoji="1" lang="en-US" altLang="zh-TW" b="1" dirty="0"/>
              <a:t> sequence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(</a:t>
            </a:r>
            <a:r>
              <a:rPr kumimoji="1" lang="zh-TW" altLang="en-US" b="1" dirty="0"/>
              <a:t>文字</a:t>
            </a:r>
            <a:r>
              <a:rPr kumimoji="1" lang="en-US" altLang="zh-TW" b="1" dirty="0"/>
              <a:t>)</a:t>
            </a:r>
            <a:endParaRPr kumimoji="1" lang="zh-TW" altLang="en-US" b="1" dirty="0"/>
          </a:p>
        </p:txBody>
      </p:sp>
      <p:sp>
        <p:nvSpPr>
          <p:cNvPr id="31" name="圓角矩形 30">
            <a:extLst>
              <a:ext uri="{FF2B5EF4-FFF2-40B4-BE49-F238E27FC236}">
                <a16:creationId xmlns:a16="http://schemas.microsoft.com/office/drawing/2014/main" id="{FE795842-E8E8-E357-93AF-80C6CBCBD5A4}"/>
              </a:ext>
            </a:extLst>
          </p:cNvPr>
          <p:cNvSpPr/>
          <p:nvPr/>
        </p:nvSpPr>
        <p:spPr>
          <a:xfrm>
            <a:off x="1443211" y="4100635"/>
            <a:ext cx="4433985" cy="99135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Encoder</a:t>
            </a:r>
            <a:endParaRPr kumimoji="1"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8CD6FE4-CA94-843B-C904-8FB743CE2756}"/>
              </a:ext>
            </a:extLst>
          </p:cNvPr>
          <p:cNvSpPr txBox="1"/>
          <p:nvPr/>
        </p:nvSpPr>
        <p:spPr>
          <a:xfrm>
            <a:off x="1494740" y="5903024"/>
            <a:ext cx="589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/>
              <a:t>(Start)</a:t>
            </a:r>
            <a:endParaRPr kumimoji="1" lang="zh-TW" altLang="en-US" sz="1200" dirty="0"/>
          </a:p>
        </p:txBody>
      </p: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DDBAC394-6EE5-2FC2-0AFE-A713E61495B0}"/>
              </a:ext>
            </a:extLst>
          </p:cNvPr>
          <p:cNvCxnSpPr>
            <a:cxnSpLocks/>
          </p:cNvCxnSpPr>
          <p:nvPr/>
        </p:nvCxnSpPr>
        <p:spPr>
          <a:xfrm flipV="1">
            <a:off x="5456942" y="3787300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B349A6FB-CF9B-DA91-CB56-8692C92F97F5}"/>
              </a:ext>
            </a:extLst>
          </p:cNvPr>
          <p:cNvCxnSpPr>
            <a:cxnSpLocks/>
          </p:cNvCxnSpPr>
          <p:nvPr/>
        </p:nvCxnSpPr>
        <p:spPr>
          <a:xfrm flipV="1">
            <a:off x="4734527" y="3787300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圓角矩形 36">
            <a:extLst>
              <a:ext uri="{FF2B5EF4-FFF2-40B4-BE49-F238E27FC236}">
                <a16:creationId xmlns:a16="http://schemas.microsoft.com/office/drawing/2014/main" id="{39036F0C-DCCB-713A-C8B2-0BEBB6436E03}"/>
              </a:ext>
            </a:extLst>
          </p:cNvPr>
          <p:cNvSpPr/>
          <p:nvPr/>
        </p:nvSpPr>
        <p:spPr>
          <a:xfrm>
            <a:off x="1529648" y="5445051"/>
            <a:ext cx="555205" cy="46510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_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8" name="直線箭頭接點 37">
            <a:extLst>
              <a:ext uri="{FF2B5EF4-FFF2-40B4-BE49-F238E27FC236}">
                <a16:creationId xmlns:a16="http://schemas.microsoft.com/office/drawing/2014/main" id="{D6255ADE-8DF4-9330-0FFD-EC385724AA4E}"/>
              </a:ext>
            </a:extLst>
          </p:cNvPr>
          <p:cNvCxnSpPr>
            <a:cxnSpLocks/>
          </p:cNvCxnSpPr>
          <p:nvPr/>
        </p:nvCxnSpPr>
        <p:spPr>
          <a:xfrm flipV="1">
            <a:off x="1807252" y="5143486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A551582A-C5A2-5592-1221-7E161A40C794}"/>
              </a:ext>
            </a:extLst>
          </p:cNvPr>
          <p:cNvCxnSpPr>
            <a:cxnSpLocks/>
          </p:cNvCxnSpPr>
          <p:nvPr/>
        </p:nvCxnSpPr>
        <p:spPr>
          <a:xfrm flipV="1">
            <a:off x="2529666" y="5143486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箭頭接點 39">
            <a:extLst>
              <a:ext uri="{FF2B5EF4-FFF2-40B4-BE49-F238E27FC236}">
                <a16:creationId xmlns:a16="http://schemas.microsoft.com/office/drawing/2014/main" id="{439D5CC1-5EA9-6E67-7ED0-8CF169A9CD0E}"/>
              </a:ext>
            </a:extLst>
          </p:cNvPr>
          <p:cNvCxnSpPr>
            <a:cxnSpLocks/>
          </p:cNvCxnSpPr>
          <p:nvPr/>
        </p:nvCxnSpPr>
        <p:spPr>
          <a:xfrm flipV="1">
            <a:off x="4734526" y="5139991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0BE18513-56CA-7723-A853-A59FE538F500}"/>
              </a:ext>
            </a:extLst>
          </p:cNvPr>
          <p:cNvCxnSpPr>
            <a:cxnSpLocks/>
          </p:cNvCxnSpPr>
          <p:nvPr/>
        </p:nvCxnSpPr>
        <p:spPr>
          <a:xfrm flipV="1">
            <a:off x="5456940" y="5139991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AA108D4A-2D70-D2F4-BA03-472F6B0C8135}"/>
              </a:ext>
            </a:extLst>
          </p:cNvPr>
          <p:cNvSpPr txBox="1"/>
          <p:nvPr/>
        </p:nvSpPr>
        <p:spPr>
          <a:xfrm>
            <a:off x="3308607" y="5336267"/>
            <a:ext cx="846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……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圓角矩形 43">
                <a:extLst>
                  <a:ext uri="{FF2B5EF4-FFF2-40B4-BE49-F238E27FC236}">
                    <a16:creationId xmlns:a16="http://schemas.microsoft.com/office/drawing/2014/main" id="{6E92D372-707B-990C-5677-ABFB0EDD2AC2}"/>
                  </a:ext>
                </a:extLst>
              </p:cNvPr>
              <p:cNvSpPr/>
              <p:nvPr/>
            </p:nvSpPr>
            <p:spPr>
              <a:xfrm>
                <a:off x="5182030" y="3273307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圓角矩形 43">
                <a:extLst>
                  <a:ext uri="{FF2B5EF4-FFF2-40B4-BE49-F238E27FC236}">
                    <a16:creationId xmlns:a16="http://schemas.microsoft.com/office/drawing/2014/main" id="{6E92D372-707B-990C-5677-ABFB0EDD2A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2030" y="3273307"/>
                <a:ext cx="555203" cy="46510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圓角矩形 46">
                <a:extLst>
                  <a:ext uri="{FF2B5EF4-FFF2-40B4-BE49-F238E27FC236}">
                    <a16:creationId xmlns:a16="http://schemas.microsoft.com/office/drawing/2014/main" id="{208F923A-C07F-9336-2A8D-148DF86F32EF}"/>
                  </a:ext>
                </a:extLst>
              </p:cNvPr>
              <p:cNvSpPr/>
              <p:nvPr/>
            </p:nvSpPr>
            <p:spPr>
              <a:xfrm>
                <a:off x="2248843" y="5445051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TW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zh-TW" alt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圓角矩形 46">
                <a:extLst>
                  <a:ext uri="{FF2B5EF4-FFF2-40B4-BE49-F238E27FC236}">
                    <a16:creationId xmlns:a16="http://schemas.microsoft.com/office/drawing/2014/main" id="{208F923A-C07F-9336-2A8D-148DF86F32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8843" y="5445051"/>
                <a:ext cx="555203" cy="465105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圓角矩形 47">
                <a:extLst>
                  <a:ext uri="{FF2B5EF4-FFF2-40B4-BE49-F238E27FC236}">
                    <a16:creationId xmlns:a16="http://schemas.microsoft.com/office/drawing/2014/main" id="{3AAFEB0B-670C-44F4-929F-FF77BFF36766}"/>
                  </a:ext>
                </a:extLst>
              </p:cNvPr>
              <p:cNvSpPr/>
              <p:nvPr/>
            </p:nvSpPr>
            <p:spPr>
              <a:xfrm>
                <a:off x="4451809" y="5445051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圓角矩形 47">
                <a:extLst>
                  <a:ext uri="{FF2B5EF4-FFF2-40B4-BE49-F238E27FC236}">
                    <a16:creationId xmlns:a16="http://schemas.microsoft.com/office/drawing/2014/main" id="{3AAFEB0B-670C-44F4-929F-FF77BFF367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809" y="5445051"/>
                <a:ext cx="555203" cy="465105"/>
              </a:xfrm>
              <a:prstGeom prst="roundRect">
                <a:avLst/>
              </a:prstGeom>
              <a:blipFill>
                <a:blip r:embed="rId11"/>
                <a:stretch>
                  <a:fillRect l="-425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圓角矩形 48">
                <a:extLst>
                  <a:ext uri="{FF2B5EF4-FFF2-40B4-BE49-F238E27FC236}">
                    <a16:creationId xmlns:a16="http://schemas.microsoft.com/office/drawing/2014/main" id="{59EE0DFB-89F9-3CC1-5DC1-D108E8C73741}"/>
                  </a:ext>
                </a:extLst>
              </p:cNvPr>
              <p:cNvSpPr/>
              <p:nvPr/>
            </p:nvSpPr>
            <p:spPr>
              <a:xfrm>
                <a:off x="5174221" y="5445051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圓角矩形 48">
                <a:extLst>
                  <a:ext uri="{FF2B5EF4-FFF2-40B4-BE49-F238E27FC236}">
                    <a16:creationId xmlns:a16="http://schemas.microsoft.com/office/drawing/2014/main" id="{59EE0DFB-89F9-3CC1-5DC1-D108E8C737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221" y="5445051"/>
                <a:ext cx="555203" cy="465105"/>
              </a:xfrm>
              <a:prstGeom prst="roundRect">
                <a:avLst/>
              </a:prstGeom>
              <a:blipFill>
                <a:blip r:embed="rId12"/>
                <a:stretch>
                  <a:fillRect l="-652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9">
            <a:extLst>
              <a:ext uri="{FF2B5EF4-FFF2-40B4-BE49-F238E27FC236}">
                <a16:creationId xmlns:a16="http://schemas.microsoft.com/office/drawing/2014/main" id="{4782AF22-6890-C7C6-11B4-E49023BCC087}"/>
              </a:ext>
            </a:extLst>
          </p:cNvPr>
          <p:cNvSpPr txBox="1"/>
          <p:nvPr/>
        </p:nvSpPr>
        <p:spPr>
          <a:xfrm>
            <a:off x="3306225" y="3195846"/>
            <a:ext cx="846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……</a:t>
            </a:r>
            <a:endParaRPr kumimoji="1" lang="zh-TW" altLang="en-US" sz="2400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A85894FF-15D2-4990-41DC-3797CEBC41B5}"/>
              </a:ext>
            </a:extLst>
          </p:cNvPr>
          <p:cNvSpPr txBox="1"/>
          <p:nvPr/>
        </p:nvSpPr>
        <p:spPr>
          <a:xfrm>
            <a:off x="2778842" y="6129446"/>
            <a:ext cx="1656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/>
              <a:t>Input sequence</a:t>
            </a:r>
            <a:endParaRPr kumimoji="1" lang="zh-TW" altLang="en-US" b="1" dirty="0"/>
          </a:p>
        </p:txBody>
      </p:sp>
      <p:cxnSp>
        <p:nvCxnSpPr>
          <p:cNvPr id="52" name="直線箭頭接點 51">
            <a:extLst>
              <a:ext uri="{FF2B5EF4-FFF2-40B4-BE49-F238E27FC236}">
                <a16:creationId xmlns:a16="http://schemas.microsoft.com/office/drawing/2014/main" id="{C9EE1A76-88B2-97B8-52E6-5D10FC82A873}"/>
              </a:ext>
            </a:extLst>
          </p:cNvPr>
          <p:cNvCxnSpPr>
            <a:cxnSpLocks/>
          </p:cNvCxnSpPr>
          <p:nvPr/>
        </p:nvCxnSpPr>
        <p:spPr>
          <a:xfrm flipV="1">
            <a:off x="2526444" y="3804040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箭頭接點 52">
            <a:extLst>
              <a:ext uri="{FF2B5EF4-FFF2-40B4-BE49-F238E27FC236}">
                <a16:creationId xmlns:a16="http://schemas.microsoft.com/office/drawing/2014/main" id="{72CEF067-EC75-D88C-AA69-CCB9C35A8DBF}"/>
              </a:ext>
            </a:extLst>
          </p:cNvPr>
          <p:cNvCxnSpPr>
            <a:cxnSpLocks/>
          </p:cNvCxnSpPr>
          <p:nvPr/>
        </p:nvCxnSpPr>
        <p:spPr>
          <a:xfrm flipV="1">
            <a:off x="1828042" y="3804040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圓角矩形 53">
            <a:extLst>
              <a:ext uri="{FF2B5EF4-FFF2-40B4-BE49-F238E27FC236}">
                <a16:creationId xmlns:a16="http://schemas.microsoft.com/office/drawing/2014/main" id="{1E3ABA0E-0F56-BA7F-4F49-6550375C6564}"/>
              </a:ext>
            </a:extLst>
          </p:cNvPr>
          <p:cNvSpPr/>
          <p:nvPr/>
        </p:nvSpPr>
        <p:spPr>
          <a:xfrm>
            <a:off x="6860958" y="5397054"/>
            <a:ext cx="555203" cy="46510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_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圓角矩形 56">
            <a:extLst>
              <a:ext uri="{FF2B5EF4-FFF2-40B4-BE49-F238E27FC236}">
                <a16:creationId xmlns:a16="http://schemas.microsoft.com/office/drawing/2014/main" id="{D02ED2D0-D980-8C22-C056-B89AFB0087E6}"/>
              </a:ext>
            </a:extLst>
          </p:cNvPr>
          <p:cNvSpPr/>
          <p:nvPr/>
        </p:nvSpPr>
        <p:spPr>
          <a:xfrm>
            <a:off x="6777737" y="3345490"/>
            <a:ext cx="4433985" cy="33678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FFN</a:t>
            </a:r>
            <a:r>
              <a:rPr kumimoji="1" lang="zh-TW" altLang="en-US" sz="2000" dirty="0">
                <a:solidFill>
                  <a:schemeClr val="tx1"/>
                </a:solidFill>
              </a:rPr>
              <a:t> </a:t>
            </a:r>
            <a:r>
              <a:rPr kumimoji="1" lang="en-US" altLang="zh-TW" sz="2000" dirty="0">
                <a:solidFill>
                  <a:schemeClr val="tx1"/>
                </a:solidFill>
              </a:rPr>
              <a:t>(linear layer(s))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58" name="直線箭頭接點 57">
            <a:extLst>
              <a:ext uri="{FF2B5EF4-FFF2-40B4-BE49-F238E27FC236}">
                <a16:creationId xmlns:a16="http://schemas.microsoft.com/office/drawing/2014/main" id="{16D9C1FE-8A91-B03A-2377-8B83EC0DE09D}"/>
              </a:ext>
            </a:extLst>
          </p:cNvPr>
          <p:cNvCxnSpPr>
            <a:cxnSpLocks/>
          </p:cNvCxnSpPr>
          <p:nvPr/>
        </p:nvCxnSpPr>
        <p:spPr>
          <a:xfrm flipV="1">
            <a:off x="7135747" y="305287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箭頭接點 58">
            <a:extLst>
              <a:ext uri="{FF2B5EF4-FFF2-40B4-BE49-F238E27FC236}">
                <a16:creationId xmlns:a16="http://schemas.microsoft.com/office/drawing/2014/main" id="{62086DA5-5290-A670-AC1A-38D2A56FE1A2}"/>
              </a:ext>
            </a:extLst>
          </p:cNvPr>
          <p:cNvCxnSpPr>
            <a:cxnSpLocks/>
          </p:cNvCxnSpPr>
          <p:nvPr/>
        </p:nvCxnSpPr>
        <p:spPr>
          <a:xfrm flipV="1">
            <a:off x="7858162" y="305287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箭頭接點 59">
            <a:extLst>
              <a:ext uri="{FF2B5EF4-FFF2-40B4-BE49-F238E27FC236}">
                <a16:creationId xmlns:a16="http://schemas.microsoft.com/office/drawing/2014/main" id="{5A918736-41AC-8EE9-E232-C16FDD90E533}"/>
              </a:ext>
            </a:extLst>
          </p:cNvPr>
          <p:cNvCxnSpPr>
            <a:cxnSpLocks/>
          </p:cNvCxnSpPr>
          <p:nvPr/>
        </p:nvCxnSpPr>
        <p:spPr>
          <a:xfrm flipV="1">
            <a:off x="10785437" y="305287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箭頭接點 60">
            <a:extLst>
              <a:ext uri="{FF2B5EF4-FFF2-40B4-BE49-F238E27FC236}">
                <a16:creationId xmlns:a16="http://schemas.microsoft.com/office/drawing/2014/main" id="{CE5F32AD-EAE1-A054-DFF3-5593839A3D00}"/>
              </a:ext>
            </a:extLst>
          </p:cNvPr>
          <p:cNvCxnSpPr>
            <a:cxnSpLocks/>
          </p:cNvCxnSpPr>
          <p:nvPr/>
        </p:nvCxnSpPr>
        <p:spPr>
          <a:xfrm flipV="1">
            <a:off x="10063022" y="305287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圓角矩形 61">
                <a:extLst>
                  <a:ext uri="{FF2B5EF4-FFF2-40B4-BE49-F238E27FC236}">
                    <a16:creationId xmlns:a16="http://schemas.microsoft.com/office/drawing/2014/main" id="{71810DFC-9484-4F06-0116-C8859C9ABBF2}"/>
                  </a:ext>
                </a:extLst>
              </p:cNvPr>
              <p:cNvSpPr/>
              <p:nvPr/>
            </p:nvSpPr>
            <p:spPr>
              <a:xfrm>
                <a:off x="4459559" y="3270703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圓角矩形 61">
                <a:extLst>
                  <a:ext uri="{FF2B5EF4-FFF2-40B4-BE49-F238E27FC236}">
                    <a16:creationId xmlns:a16="http://schemas.microsoft.com/office/drawing/2014/main" id="{71810DFC-9484-4F06-0116-C8859C9ABB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9559" y="3270703"/>
                <a:ext cx="555203" cy="465105"/>
              </a:xfrm>
              <a:prstGeom prst="roundRect">
                <a:avLst/>
              </a:prstGeom>
              <a:blipFill>
                <a:blip r:embed="rId13"/>
                <a:stretch>
                  <a:fillRect l="-869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圓角矩形 62">
                <a:extLst>
                  <a:ext uri="{FF2B5EF4-FFF2-40B4-BE49-F238E27FC236}">
                    <a16:creationId xmlns:a16="http://schemas.microsoft.com/office/drawing/2014/main" id="{8C29360F-E395-BEC8-9AF5-ECF378961DA5}"/>
                  </a:ext>
                </a:extLst>
              </p:cNvPr>
              <p:cNvSpPr/>
              <p:nvPr/>
            </p:nvSpPr>
            <p:spPr>
              <a:xfrm>
                <a:off x="2248941" y="3281329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圓角矩形 62">
                <a:extLst>
                  <a:ext uri="{FF2B5EF4-FFF2-40B4-BE49-F238E27FC236}">
                    <a16:creationId xmlns:a16="http://schemas.microsoft.com/office/drawing/2014/main" id="{8C29360F-E395-BEC8-9AF5-ECF378961D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8941" y="3281329"/>
                <a:ext cx="555203" cy="46510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圓角矩形 63">
                <a:extLst>
                  <a:ext uri="{FF2B5EF4-FFF2-40B4-BE49-F238E27FC236}">
                    <a16:creationId xmlns:a16="http://schemas.microsoft.com/office/drawing/2014/main" id="{B2575567-B447-B8EC-E46E-582ED19CA356}"/>
                  </a:ext>
                </a:extLst>
              </p:cNvPr>
              <p:cNvSpPr/>
              <p:nvPr/>
            </p:nvSpPr>
            <p:spPr>
              <a:xfrm>
                <a:off x="1535835" y="3273307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圓角矩形 63">
                <a:extLst>
                  <a:ext uri="{FF2B5EF4-FFF2-40B4-BE49-F238E27FC236}">
                    <a16:creationId xmlns:a16="http://schemas.microsoft.com/office/drawing/2014/main" id="{B2575567-B447-B8EC-E46E-582ED19CA3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5835" y="3273307"/>
                <a:ext cx="555203" cy="465105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圓角矩形 64">
                <a:extLst>
                  <a:ext uri="{FF2B5EF4-FFF2-40B4-BE49-F238E27FC236}">
                    <a16:creationId xmlns:a16="http://schemas.microsoft.com/office/drawing/2014/main" id="{4C90679A-B23D-0A3F-2D94-6DDF798DBDCA}"/>
                  </a:ext>
                </a:extLst>
              </p:cNvPr>
              <p:cNvSpPr/>
              <p:nvPr/>
            </p:nvSpPr>
            <p:spPr>
              <a:xfrm>
                <a:off x="433242" y="4335480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TW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init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圓角矩形 64">
                <a:extLst>
                  <a:ext uri="{FF2B5EF4-FFF2-40B4-BE49-F238E27FC236}">
                    <a16:creationId xmlns:a16="http://schemas.microsoft.com/office/drawing/2014/main" id="{4C90679A-B23D-0A3F-2D94-6DDF798DBD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242" y="4335480"/>
                <a:ext cx="555203" cy="465105"/>
              </a:xfrm>
              <a:prstGeom prst="roundRect">
                <a:avLst/>
              </a:prstGeom>
              <a:blipFill>
                <a:blip r:embed="rId16"/>
                <a:stretch>
                  <a:fillRect l="-652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直線箭頭接點 65">
            <a:extLst>
              <a:ext uri="{FF2B5EF4-FFF2-40B4-BE49-F238E27FC236}">
                <a16:creationId xmlns:a16="http://schemas.microsoft.com/office/drawing/2014/main" id="{F9645189-5848-7448-BF59-C9E3DAD0EA6A}"/>
              </a:ext>
            </a:extLst>
          </p:cNvPr>
          <p:cNvCxnSpPr>
            <a:cxnSpLocks/>
          </p:cNvCxnSpPr>
          <p:nvPr/>
        </p:nvCxnSpPr>
        <p:spPr>
          <a:xfrm>
            <a:off x="1045007" y="4590483"/>
            <a:ext cx="338153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4CF5AD8-03CD-B0B9-652B-DF4DB8FE9238}"/>
              </a:ext>
            </a:extLst>
          </p:cNvPr>
          <p:cNvSpPr txBox="1"/>
          <p:nvPr/>
        </p:nvSpPr>
        <p:spPr>
          <a:xfrm>
            <a:off x="2526444" y="1835327"/>
            <a:ext cx="2529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b="1" dirty="0"/>
              <a:t>輸出是</a:t>
            </a:r>
            <a:r>
              <a:rPr kumimoji="1" lang="en-US" altLang="zh-TW" b="1" dirty="0"/>
              <a:t> hidden states</a:t>
            </a:r>
            <a:endParaRPr kumimoji="1" lang="zh-TW" altLang="en-US" b="1" dirty="0"/>
          </a:p>
        </p:txBody>
      </p:sp>
      <p:cxnSp>
        <p:nvCxnSpPr>
          <p:cNvPr id="12" name="肘形接點 11">
            <a:extLst>
              <a:ext uri="{FF2B5EF4-FFF2-40B4-BE49-F238E27FC236}">
                <a16:creationId xmlns:a16="http://schemas.microsoft.com/office/drawing/2014/main" id="{F7BCD1C7-82B8-FFA2-09EC-A4BC0337536B}"/>
              </a:ext>
            </a:extLst>
          </p:cNvPr>
          <p:cNvCxnSpPr>
            <a:cxnSpLocks/>
            <a:stCxn id="44" idx="3"/>
            <a:endCxn id="6" idx="1"/>
          </p:cNvCxnSpPr>
          <p:nvPr/>
        </p:nvCxnSpPr>
        <p:spPr>
          <a:xfrm>
            <a:off x="5737233" y="3505860"/>
            <a:ext cx="1040505" cy="1042458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519C8A55-A2F5-4A64-598E-FCB4A79275C2}"/>
              </a:ext>
            </a:extLst>
          </p:cNvPr>
          <p:cNvSpPr txBox="1"/>
          <p:nvPr/>
        </p:nvSpPr>
        <p:spPr>
          <a:xfrm>
            <a:off x="5368375" y="6195910"/>
            <a:ext cx="2502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>
                <a:solidFill>
                  <a:srgbClr val="FF0000"/>
                </a:solidFill>
              </a:rPr>
              <a:t>(Encoder </a:t>
            </a:r>
            <a:r>
              <a:rPr kumimoji="1" lang="zh-TW" altLang="en-US" sz="1600" dirty="0">
                <a:solidFill>
                  <a:srgbClr val="FF0000"/>
                </a:solidFill>
              </a:rPr>
              <a:t>的輸出有很多種被</a:t>
            </a:r>
            <a:r>
              <a:rPr kumimoji="1" lang="en-US" altLang="zh-TW" sz="1600" dirty="0">
                <a:solidFill>
                  <a:srgbClr val="FF0000"/>
                </a:solidFill>
              </a:rPr>
              <a:t>Decoder</a:t>
            </a:r>
            <a:r>
              <a:rPr kumimoji="1" lang="zh-TW" altLang="en-US" sz="1600" dirty="0">
                <a:solidFill>
                  <a:srgbClr val="FF0000"/>
                </a:solidFill>
              </a:rPr>
              <a:t>運用的方式</a:t>
            </a:r>
            <a:r>
              <a:rPr kumimoji="1" lang="en-US" altLang="zh-TW" sz="1600" dirty="0">
                <a:solidFill>
                  <a:srgbClr val="FF0000"/>
                </a:solidFill>
              </a:rPr>
              <a:t>)</a:t>
            </a:r>
            <a:endParaRPr kumimoji="1" lang="zh-TW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9241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 animBg="1"/>
      <p:bldP spid="32" grpId="0"/>
      <p:bldP spid="37" grpId="0" animBg="1"/>
      <p:bldP spid="42" grpId="0"/>
      <p:bldP spid="44" grpId="0" animBg="1"/>
      <p:bldP spid="47" grpId="0" animBg="1"/>
      <p:bldP spid="48" grpId="0" animBg="1"/>
      <p:bldP spid="49" grpId="0" animBg="1"/>
      <p:bldP spid="50" grpId="0"/>
      <p:bldP spid="51" grpId="0"/>
      <p:bldP spid="62" grpId="0" animBg="1"/>
      <p:bldP spid="63" grpId="0" animBg="1"/>
      <p:bldP spid="64" grpId="0" animBg="1"/>
      <p:bldP spid="65" grpId="0" animBg="1"/>
      <p:bldP spid="3" grpId="0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988A61A-7679-5029-E481-E972BCDA8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07297"/>
            <a:ext cx="3200400" cy="1315617"/>
          </a:xfrm>
        </p:spPr>
        <p:txBody>
          <a:bodyPr/>
          <a:lstStyle/>
          <a:p>
            <a:r>
              <a:rPr lang="en-US" altLang="zh-TW" dirty="0"/>
              <a:t>Transformer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42B01E6-53DD-CC83-28F9-073680E1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3" name="圖片 2" descr="一張含有 卡通, 虛構角色, 動畫卡通, 虛構小說 的圖片&#10;&#10;自動產生的描述">
            <a:extLst>
              <a:ext uri="{FF2B5EF4-FFF2-40B4-BE49-F238E27FC236}">
                <a16:creationId xmlns:a16="http://schemas.microsoft.com/office/drawing/2014/main" id="{E132445E-8368-87E9-4AD3-2FD1156641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66487"/>
            <a:ext cx="3928866" cy="589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818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2B0647-C2D5-4AE6-D86D-5ABAE971E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Overview of Transformer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9F88109-2AFA-7FDE-AC59-65FFDB1FB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173BA5E-8200-87D9-8789-960358423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142" y="1530220"/>
            <a:ext cx="3619047" cy="515982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4F8BB7E-A3D0-2FE9-0D69-343DBC7ACBB2}"/>
              </a:ext>
            </a:extLst>
          </p:cNvPr>
          <p:cNvSpPr txBox="1"/>
          <p:nvPr/>
        </p:nvSpPr>
        <p:spPr>
          <a:xfrm>
            <a:off x="9165836" y="1440227"/>
            <a:ext cx="23963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Vaswani, Ashish, et al. "Attention is all you need." </a:t>
            </a:r>
            <a:r>
              <a:rPr lang="en-US" altLang="zh-TW" sz="100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NeurIPS</a:t>
            </a:r>
            <a:r>
              <a:rPr lang="en-US" altLang="zh-TW" sz="10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(2017).</a:t>
            </a:r>
            <a:endParaRPr lang="zh-TW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8E70EB-5C39-EE6C-A7A4-B1B5A2DF6295}"/>
              </a:ext>
            </a:extLst>
          </p:cNvPr>
          <p:cNvSpPr/>
          <p:nvPr/>
        </p:nvSpPr>
        <p:spPr>
          <a:xfrm>
            <a:off x="4284142" y="3219064"/>
            <a:ext cx="1793196" cy="333102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2F74B1C-D857-5A91-CF2E-CFAEC7CBECFA}"/>
              </a:ext>
            </a:extLst>
          </p:cNvPr>
          <p:cNvSpPr txBox="1"/>
          <p:nvPr/>
        </p:nvSpPr>
        <p:spPr>
          <a:xfrm>
            <a:off x="3012803" y="4699910"/>
            <a:ext cx="953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solidFill>
                  <a:srgbClr val="FF9300"/>
                </a:solidFill>
              </a:rPr>
              <a:t>Encoder</a:t>
            </a:r>
            <a:endParaRPr kumimoji="1" lang="zh-TW" altLang="en-US" b="1" dirty="0">
              <a:solidFill>
                <a:srgbClr val="FF930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1CA4C49-5A67-F2AD-DE32-3094E2806229}"/>
              </a:ext>
            </a:extLst>
          </p:cNvPr>
          <p:cNvSpPr txBox="1"/>
          <p:nvPr/>
        </p:nvSpPr>
        <p:spPr>
          <a:xfrm>
            <a:off x="8006652" y="3925468"/>
            <a:ext cx="1103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>
                <a:solidFill>
                  <a:schemeClr val="bg2">
                    <a:lumMod val="25000"/>
                  </a:schemeClr>
                </a:solidFill>
              </a:rPr>
              <a:t>Decoder</a:t>
            </a:r>
            <a:endParaRPr kumimoji="1" lang="zh-TW" altLang="en-US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793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D32678-E3F3-1AC0-177F-95FBBE4D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Outline of Transformer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7DDE1C-CF0A-79E7-FBE5-7EF521BF2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1C71EC8-1B57-4201-3E94-FC9DC6C10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142" y="1530220"/>
            <a:ext cx="3619047" cy="5159829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5312BF7-A272-740A-C7A1-E7AF231CC6D5}"/>
              </a:ext>
            </a:extLst>
          </p:cNvPr>
          <p:cNvSpPr txBox="1"/>
          <p:nvPr/>
        </p:nvSpPr>
        <p:spPr>
          <a:xfrm>
            <a:off x="9165836" y="1440227"/>
            <a:ext cx="23963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Vaswani, Ashish, et al. "Attention is all you need." </a:t>
            </a:r>
            <a:r>
              <a:rPr lang="en-US" altLang="zh-TW" sz="100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NeurIPS</a:t>
            </a:r>
            <a:r>
              <a:rPr lang="en-US" altLang="zh-TW" sz="10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(2017).</a:t>
            </a:r>
            <a:endParaRPr lang="zh-TW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121FA8-BF6C-08DC-D82D-F6A4055B5A7C}"/>
              </a:ext>
            </a:extLst>
          </p:cNvPr>
          <p:cNvSpPr/>
          <p:nvPr/>
        </p:nvSpPr>
        <p:spPr>
          <a:xfrm>
            <a:off x="5019869" y="4581331"/>
            <a:ext cx="951722" cy="5131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93598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278DEF-6E89-E355-EA39-783FBA72A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Transformer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922932-B69B-701E-CDFA-192BFB5BA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B0E5907-2812-4288-312F-44F6E8A0D411}"/>
              </a:ext>
            </a:extLst>
          </p:cNvPr>
          <p:cNvSpPr txBox="1"/>
          <p:nvPr/>
        </p:nvSpPr>
        <p:spPr>
          <a:xfrm>
            <a:off x="653143" y="1782378"/>
            <a:ext cx="10918370" cy="958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Transformer</a:t>
            </a:r>
            <a:r>
              <a:rPr kumimoji="1" lang="zh-TW" altLang="en-US" sz="2000" dirty="0"/>
              <a:t> 來自論文：</a:t>
            </a:r>
            <a:r>
              <a:rPr kumimoji="1" lang="en-US" altLang="zh-TW" sz="2000" dirty="0"/>
              <a:t>Attention Is All You Need (Vaswani et al., 2017)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Transformer</a:t>
            </a:r>
            <a:r>
              <a:rPr kumimoji="1" lang="zh-TW" altLang="en-US" sz="2000" dirty="0"/>
              <a:t> 內部的主要機制為 </a:t>
            </a:r>
            <a:r>
              <a:rPr kumimoji="1" lang="en-US" altLang="zh-TW" sz="2000" dirty="0"/>
              <a:t>Self-attention</a:t>
            </a:r>
          </a:p>
        </p:txBody>
      </p:sp>
      <p:pic>
        <p:nvPicPr>
          <p:cNvPr id="11" name="Picture 2" descr="An example of the self-attention mechanism following long-distance... |  Download Scientific Diagram">
            <a:extLst>
              <a:ext uri="{FF2B5EF4-FFF2-40B4-BE49-F238E27FC236}">
                <a16:creationId xmlns:a16="http://schemas.microsoft.com/office/drawing/2014/main" id="{D27BF699-1C9D-83B3-05F1-467BFC464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166" y="4063123"/>
            <a:ext cx="2574277" cy="243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F1D241A5-B782-7E7D-94EF-C4CB6B319D2C}"/>
              </a:ext>
            </a:extLst>
          </p:cNvPr>
          <p:cNvSpPr txBox="1"/>
          <p:nvPr/>
        </p:nvSpPr>
        <p:spPr>
          <a:xfrm>
            <a:off x="8235189" y="657179"/>
            <a:ext cx="3336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TW" sz="1000" dirty="0"/>
              <a:t>Source:  </a:t>
            </a:r>
            <a:r>
              <a:rPr lang="en-US" altLang="zh-TW" sz="1000" dirty="0">
                <a:hlinkClick r:id="rId4"/>
              </a:rPr>
              <a:t>An example of the self-attention mechanism following long-distance... | Download Scientific Diagram (researchgate.net)</a:t>
            </a:r>
            <a:endParaRPr kumimoji="1" lang="zh-TW" altLang="en-US" sz="10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596E24C-8837-E4CB-668B-111077149FF6}"/>
              </a:ext>
            </a:extLst>
          </p:cNvPr>
          <p:cNvSpPr txBox="1"/>
          <p:nvPr/>
        </p:nvSpPr>
        <p:spPr>
          <a:xfrm>
            <a:off x="1016648" y="3013501"/>
            <a:ext cx="57135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rgbClr val="FF0000"/>
                </a:solidFill>
              </a:rPr>
              <a:t>Self-attention: </a:t>
            </a:r>
            <a:r>
              <a:rPr kumimoji="1" lang="zh-TW" altLang="en-US" sz="2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句子內的每個</a:t>
            </a:r>
            <a:r>
              <a:rPr kumimoji="1" lang="en-US" altLang="zh-TW" sz="2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token </a:t>
            </a:r>
            <a:r>
              <a:rPr kumimoji="1" lang="zh-TW" altLang="en-US" sz="2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自己跟自己做 </a:t>
            </a:r>
            <a:r>
              <a:rPr kumimoji="1" lang="en-US" altLang="zh-TW" sz="2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attention</a:t>
            </a:r>
            <a:endParaRPr kumimoji="1" lang="zh-TW" altLang="en-US" sz="28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99D4D8-8FEF-8896-ABBF-169C70A5ED46}"/>
              </a:ext>
            </a:extLst>
          </p:cNvPr>
          <p:cNvSpPr/>
          <p:nvPr/>
        </p:nvSpPr>
        <p:spPr>
          <a:xfrm>
            <a:off x="6991352" y="4229935"/>
            <a:ext cx="3969026" cy="65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Self-attention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C264D1-8CB3-30E8-7DF9-70BA946628FA}"/>
              </a:ext>
            </a:extLst>
          </p:cNvPr>
          <p:cNvSpPr/>
          <p:nvPr/>
        </p:nvSpPr>
        <p:spPr>
          <a:xfrm>
            <a:off x="7256655" y="5474024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E9430DF-4168-3C2A-E619-D15C74A36129}"/>
              </a:ext>
            </a:extLst>
          </p:cNvPr>
          <p:cNvSpPr/>
          <p:nvPr/>
        </p:nvSpPr>
        <p:spPr>
          <a:xfrm>
            <a:off x="8342390" y="5474024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DE3523-782F-A9AC-5694-5D5444917831}"/>
              </a:ext>
            </a:extLst>
          </p:cNvPr>
          <p:cNvSpPr/>
          <p:nvPr/>
        </p:nvSpPr>
        <p:spPr>
          <a:xfrm>
            <a:off x="9428125" y="5474024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6BF96CC-5120-AE99-5F01-BD0E54A29D80}"/>
              </a:ext>
            </a:extLst>
          </p:cNvPr>
          <p:cNvSpPr/>
          <p:nvPr/>
        </p:nvSpPr>
        <p:spPr>
          <a:xfrm>
            <a:off x="10513861" y="5474024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747FA16-B95E-51FD-ED76-0AB83511CF71}"/>
              </a:ext>
            </a:extLst>
          </p:cNvPr>
          <p:cNvSpPr/>
          <p:nvPr/>
        </p:nvSpPr>
        <p:spPr>
          <a:xfrm>
            <a:off x="7256655" y="2959007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FF75E8D-A223-5D3B-BACB-586258BDC78D}"/>
              </a:ext>
            </a:extLst>
          </p:cNvPr>
          <p:cNvSpPr/>
          <p:nvPr/>
        </p:nvSpPr>
        <p:spPr>
          <a:xfrm>
            <a:off x="8342390" y="2957853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97CFC3B-300D-0935-8C2C-57D4825575FE}"/>
              </a:ext>
            </a:extLst>
          </p:cNvPr>
          <p:cNvSpPr/>
          <p:nvPr/>
        </p:nvSpPr>
        <p:spPr>
          <a:xfrm>
            <a:off x="9428125" y="2957853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1C258EC-B73B-4830-72E7-458868D34801}"/>
              </a:ext>
            </a:extLst>
          </p:cNvPr>
          <p:cNvSpPr/>
          <p:nvPr/>
        </p:nvSpPr>
        <p:spPr>
          <a:xfrm>
            <a:off x="10513859" y="2957853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B4F18413-6B49-AC47-A147-6B5A5EA35449}"/>
              </a:ext>
            </a:extLst>
          </p:cNvPr>
          <p:cNvCxnSpPr>
            <a:cxnSpLocks/>
          </p:cNvCxnSpPr>
          <p:nvPr/>
        </p:nvCxnSpPr>
        <p:spPr>
          <a:xfrm flipH="1" flipV="1">
            <a:off x="8441483" y="3659952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19964024-F7F9-13B6-6673-A26A1FD7E37C}"/>
              </a:ext>
            </a:extLst>
          </p:cNvPr>
          <p:cNvCxnSpPr>
            <a:cxnSpLocks/>
          </p:cNvCxnSpPr>
          <p:nvPr/>
        </p:nvCxnSpPr>
        <p:spPr>
          <a:xfrm flipH="1" flipV="1">
            <a:off x="7355748" y="3661106"/>
            <a:ext cx="1" cy="4755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E6A0404C-133F-6390-3EFA-BAFB44078F77}"/>
              </a:ext>
            </a:extLst>
          </p:cNvPr>
          <p:cNvCxnSpPr>
            <a:cxnSpLocks/>
          </p:cNvCxnSpPr>
          <p:nvPr/>
        </p:nvCxnSpPr>
        <p:spPr>
          <a:xfrm flipV="1">
            <a:off x="7355748" y="4950696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F669D6FD-9956-7FAB-875F-C6BC4EEA5B9B}"/>
              </a:ext>
            </a:extLst>
          </p:cNvPr>
          <p:cNvCxnSpPr>
            <a:cxnSpLocks/>
          </p:cNvCxnSpPr>
          <p:nvPr/>
        </p:nvCxnSpPr>
        <p:spPr>
          <a:xfrm flipV="1">
            <a:off x="8441483" y="4950696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397A92AC-3E97-378C-6C92-D2466D92170D}"/>
              </a:ext>
            </a:extLst>
          </p:cNvPr>
          <p:cNvCxnSpPr>
            <a:cxnSpLocks/>
          </p:cNvCxnSpPr>
          <p:nvPr/>
        </p:nvCxnSpPr>
        <p:spPr>
          <a:xfrm flipV="1">
            <a:off x="9527218" y="4950696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4F0AB2AA-F447-AE6F-EDCA-CD8DF4897E59}"/>
              </a:ext>
            </a:extLst>
          </p:cNvPr>
          <p:cNvCxnSpPr>
            <a:cxnSpLocks/>
          </p:cNvCxnSpPr>
          <p:nvPr/>
        </p:nvCxnSpPr>
        <p:spPr>
          <a:xfrm flipV="1">
            <a:off x="10612954" y="4950696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9C9F9F19-887F-E917-195B-3222016C0F08}"/>
              </a:ext>
            </a:extLst>
          </p:cNvPr>
          <p:cNvCxnSpPr>
            <a:cxnSpLocks/>
          </p:cNvCxnSpPr>
          <p:nvPr/>
        </p:nvCxnSpPr>
        <p:spPr>
          <a:xfrm flipH="1" flipV="1">
            <a:off x="10612952" y="3659952"/>
            <a:ext cx="3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08793E43-9FBA-ECE1-932A-DD41FEB4A43D}"/>
              </a:ext>
            </a:extLst>
          </p:cNvPr>
          <p:cNvCxnSpPr>
            <a:cxnSpLocks/>
          </p:cNvCxnSpPr>
          <p:nvPr/>
        </p:nvCxnSpPr>
        <p:spPr>
          <a:xfrm flipH="1" flipV="1">
            <a:off x="9527218" y="3659952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D6A45F95-DF4C-51C6-EC27-950AD8293693}"/>
              </a:ext>
            </a:extLst>
          </p:cNvPr>
          <p:cNvSpPr txBox="1"/>
          <p:nvPr/>
        </p:nvSpPr>
        <p:spPr>
          <a:xfrm>
            <a:off x="6917223" y="6267587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open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587944A4-BEF4-300A-91D9-6FDCEE491AA9}"/>
              </a:ext>
            </a:extLst>
          </p:cNvPr>
          <p:cNvSpPr txBox="1"/>
          <p:nvPr/>
        </p:nvSpPr>
        <p:spPr>
          <a:xfrm>
            <a:off x="8002958" y="6267587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F4528C0B-3E7A-BB2D-1CE1-C6732C8F70E4}"/>
              </a:ext>
            </a:extLst>
          </p:cNvPr>
          <p:cNvSpPr txBox="1"/>
          <p:nvPr/>
        </p:nvSpPr>
        <p:spPr>
          <a:xfrm>
            <a:off x="9088693" y="6267587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bank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F53CC24D-541E-A23B-34A8-6D67A553DB19}"/>
              </a:ext>
            </a:extLst>
          </p:cNvPr>
          <p:cNvSpPr txBox="1"/>
          <p:nvPr/>
        </p:nvSpPr>
        <p:spPr>
          <a:xfrm>
            <a:off x="10132049" y="6267587"/>
            <a:ext cx="9618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account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1" name="曲線接點 40">
            <a:extLst>
              <a:ext uri="{FF2B5EF4-FFF2-40B4-BE49-F238E27FC236}">
                <a16:creationId xmlns:a16="http://schemas.microsoft.com/office/drawing/2014/main" id="{FEC63B3A-DEE4-8F0C-1A59-5B89414DD97D}"/>
              </a:ext>
            </a:extLst>
          </p:cNvPr>
          <p:cNvCxnSpPr>
            <a:stCxn id="15" idx="0"/>
            <a:endCxn id="16" idx="0"/>
          </p:cNvCxnSpPr>
          <p:nvPr/>
        </p:nvCxnSpPr>
        <p:spPr>
          <a:xfrm rot="5400000" flipH="1" flipV="1">
            <a:off x="7898615" y="4931157"/>
            <a:ext cx="12700" cy="1085735"/>
          </a:xfrm>
          <a:prstGeom prst="curvedConnector3">
            <a:avLst>
              <a:gd name="adj1" fmla="val 7875008"/>
            </a:avLst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曲線接點 41">
            <a:extLst>
              <a:ext uri="{FF2B5EF4-FFF2-40B4-BE49-F238E27FC236}">
                <a16:creationId xmlns:a16="http://schemas.microsoft.com/office/drawing/2014/main" id="{667965F5-AD4E-38D5-38F9-208B34806463}"/>
              </a:ext>
            </a:extLst>
          </p:cNvPr>
          <p:cNvCxnSpPr>
            <a:cxnSpLocks/>
            <a:stCxn id="15" idx="0"/>
            <a:endCxn id="17" idx="0"/>
          </p:cNvCxnSpPr>
          <p:nvPr/>
        </p:nvCxnSpPr>
        <p:spPr>
          <a:xfrm rot="5400000" flipH="1" flipV="1">
            <a:off x="8441483" y="4388289"/>
            <a:ext cx="12700" cy="2171470"/>
          </a:xfrm>
          <a:prstGeom prst="curvedConnector3">
            <a:avLst>
              <a:gd name="adj1" fmla="val 8775000"/>
            </a:avLst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曲線接點 44">
            <a:extLst>
              <a:ext uri="{FF2B5EF4-FFF2-40B4-BE49-F238E27FC236}">
                <a16:creationId xmlns:a16="http://schemas.microsoft.com/office/drawing/2014/main" id="{659D7D06-A3D4-F085-E644-D198900D7E25}"/>
              </a:ext>
            </a:extLst>
          </p:cNvPr>
          <p:cNvCxnSpPr>
            <a:cxnSpLocks/>
            <a:stCxn id="15" idx="0"/>
            <a:endCxn id="18" idx="0"/>
          </p:cNvCxnSpPr>
          <p:nvPr/>
        </p:nvCxnSpPr>
        <p:spPr>
          <a:xfrm rot="5400000" flipH="1" flipV="1">
            <a:off x="8984351" y="3845421"/>
            <a:ext cx="12700" cy="3257206"/>
          </a:xfrm>
          <a:prstGeom prst="curvedConnector3">
            <a:avLst>
              <a:gd name="adj1" fmla="val 7650000"/>
            </a:avLst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曲線接點 48">
            <a:extLst>
              <a:ext uri="{FF2B5EF4-FFF2-40B4-BE49-F238E27FC236}">
                <a16:creationId xmlns:a16="http://schemas.microsoft.com/office/drawing/2014/main" id="{93C236FF-30A9-1C21-E6AE-E5AF57C82284}"/>
              </a:ext>
            </a:extLst>
          </p:cNvPr>
          <p:cNvCxnSpPr>
            <a:cxnSpLocks/>
            <a:stCxn id="16" idx="0"/>
            <a:endCxn id="17" idx="0"/>
          </p:cNvCxnSpPr>
          <p:nvPr/>
        </p:nvCxnSpPr>
        <p:spPr>
          <a:xfrm rot="5400000" flipH="1" flipV="1">
            <a:off x="8984350" y="4931157"/>
            <a:ext cx="12700" cy="1085735"/>
          </a:xfrm>
          <a:prstGeom prst="curvedConnector3">
            <a:avLst>
              <a:gd name="adj1" fmla="val 8775000"/>
            </a:avLst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曲線接點 51">
            <a:extLst>
              <a:ext uri="{FF2B5EF4-FFF2-40B4-BE49-F238E27FC236}">
                <a16:creationId xmlns:a16="http://schemas.microsoft.com/office/drawing/2014/main" id="{4510A638-09BF-5419-C0EB-2248E10A4C47}"/>
              </a:ext>
            </a:extLst>
          </p:cNvPr>
          <p:cNvCxnSpPr>
            <a:cxnSpLocks/>
            <a:stCxn id="16" idx="0"/>
            <a:endCxn id="18" idx="0"/>
          </p:cNvCxnSpPr>
          <p:nvPr/>
        </p:nvCxnSpPr>
        <p:spPr>
          <a:xfrm rot="5400000" flipH="1" flipV="1">
            <a:off x="9527218" y="4388289"/>
            <a:ext cx="12700" cy="2171471"/>
          </a:xfrm>
          <a:prstGeom prst="curvedConnector3">
            <a:avLst>
              <a:gd name="adj1" fmla="val 8400000"/>
            </a:avLst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曲線接點 54">
            <a:extLst>
              <a:ext uri="{FF2B5EF4-FFF2-40B4-BE49-F238E27FC236}">
                <a16:creationId xmlns:a16="http://schemas.microsoft.com/office/drawing/2014/main" id="{A6969B6B-26AB-272F-FA5A-9C7D2A17AF02}"/>
              </a:ext>
            </a:extLst>
          </p:cNvPr>
          <p:cNvCxnSpPr>
            <a:cxnSpLocks/>
            <a:stCxn id="17" idx="0"/>
            <a:endCxn id="18" idx="0"/>
          </p:cNvCxnSpPr>
          <p:nvPr/>
        </p:nvCxnSpPr>
        <p:spPr>
          <a:xfrm rot="5400000" flipH="1" flipV="1">
            <a:off x="10070086" y="4931156"/>
            <a:ext cx="12700" cy="1085736"/>
          </a:xfrm>
          <a:prstGeom prst="curvedConnector3">
            <a:avLst>
              <a:gd name="adj1" fmla="val 8250000"/>
            </a:avLst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01784E2C-2271-BC85-C99B-5D4E1B9DA093}"/>
              </a:ext>
            </a:extLst>
          </p:cNvPr>
          <p:cNvSpPr txBox="1"/>
          <p:nvPr/>
        </p:nvSpPr>
        <p:spPr>
          <a:xfrm>
            <a:off x="4327460" y="4203714"/>
            <a:ext cx="25742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attention </a:t>
            </a:r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進行的過程需要主動與被動</a:t>
            </a:r>
          </a:p>
        </p:txBody>
      </p:sp>
    </p:spTree>
    <p:extLst>
      <p:ext uri="{BB962C8B-B14F-4D97-AF65-F5344CB8AC3E}">
        <p14:creationId xmlns:p14="http://schemas.microsoft.com/office/powerpoint/2010/main" val="2959166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C7C744-4D6E-A486-0C23-1201579C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Query (Q), Key (K), and Value (V)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9207B4-7A63-4047-96AA-B65EEDFAA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71E07550-B1F4-F3A3-60C6-02A78EE367C2}"/>
              </a:ext>
            </a:extLst>
          </p:cNvPr>
          <p:cNvSpPr/>
          <p:nvPr/>
        </p:nvSpPr>
        <p:spPr>
          <a:xfrm>
            <a:off x="2114661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958E9F76-24EA-EB9B-8EE4-61ADA15A3925}"/>
              </a:ext>
            </a:extLst>
          </p:cNvPr>
          <p:cNvSpPr/>
          <p:nvPr/>
        </p:nvSpPr>
        <p:spPr>
          <a:xfrm>
            <a:off x="1435441" y="4541496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6FADA9CA-5DE9-26C4-D855-0AED0A46A53A}"/>
              </a:ext>
            </a:extLst>
          </p:cNvPr>
          <p:cNvSpPr/>
          <p:nvPr/>
        </p:nvSpPr>
        <p:spPr>
          <a:xfrm>
            <a:off x="2107255" y="4541495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B9D2B63A-3EA1-04FE-E87D-84D6E4169992}"/>
              </a:ext>
            </a:extLst>
          </p:cNvPr>
          <p:cNvSpPr/>
          <p:nvPr/>
        </p:nvSpPr>
        <p:spPr>
          <a:xfrm>
            <a:off x="2779069" y="4541494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33038FDF-A8CB-65DB-B2AE-374EDAC276CB}"/>
              </a:ext>
            </a:extLst>
          </p:cNvPr>
          <p:cNvSpPr/>
          <p:nvPr/>
        </p:nvSpPr>
        <p:spPr>
          <a:xfrm>
            <a:off x="3911941" y="4541496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2B6A4EB6-343C-670B-45B7-C93A6F414213}"/>
              </a:ext>
            </a:extLst>
          </p:cNvPr>
          <p:cNvSpPr/>
          <p:nvPr/>
        </p:nvSpPr>
        <p:spPr>
          <a:xfrm>
            <a:off x="4583755" y="4541495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5EA15339-C78F-8309-2C6C-75B90A6E8C32}"/>
              </a:ext>
            </a:extLst>
          </p:cNvPr>
          <p:cNvSpPr/>
          <p:nvPr/>
        </p:nvSpPr>
        <p:spPr>
          <a:xfrm>
            <a:off x="5255569" y="4541494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39F589A7-4EF9-1A8F-A904-C0D64280F0CB}"/>
              </a:ext>
            </a:extLst>
          </p:cNvPr>
          <p:cNvSpPr/>
          <p:nvPr/>
        </p:nvSpPr>
        <p:spPr>
          <a:xfrm>
            <a:off x="6388441" y="4541495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61B502CB-659A-2795-155B-F2F23C5E4500}"/>
              </a:ext>
            </a:extLst>
          </p:cNvPr>
          <p:cNvSpPr/>
          <p:nvPr/>
        </p:nvSpPr>
        <p:spPr>
          <a:xfrm>
            <a:off x="7060255" y="4541494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15DB972C-5D18-3A55-15DE-D2C1647AF5D6}"/>
              </a:ext>
            </a:extLst>
          </p:cNvPr>
          <p:cNvSpPr/>
          <p:nvPr/>
        </p:nvSpPr>
        <p:spPr>
          <a:xfrm>
            <a:off x="7732069" y="4541493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D4D9EDEF-A9EE-002E-CA82-EF618B88EF7D}"/>
              </a:ext>
            </a:extLst>
          </p:cNvPr>
          <p:cNvSpPr/>
          <p:nvPr/>
        </p:nvSpPr>
        <p:spPr>
          <a:xfrm>
            <a:off x="8757207" y="4545350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21408F9D-316F-26B5-3AA6-F42B4089F99E}"/>
              </a:ext>
            </a:extLst>
          </p:cNvPr>
          <p:cNvSpPr/>
          <p:nvPr/>
        </p:nvSpPr>
        <p:spPr>
          <a:xfrm>
            <a:off x="9429021" y="4545349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A3277445-F103-6185-5D76-1714ACFE0590}"/>
              </a:ext>
            </a:extLst>
          </p:cNvPr>
          <p:cNvSpPr/>
          <p:nvPr/>
        </p:nvSpPr>
        <p:spPr>
          <a:xfrm>
            <a:off x="10100835" y="4545348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1F84A656-CA83-526C-B6FE-D93DD219E455}"/>
              </a:ext>
            </a:extLst>
          </p:cNvPr>
          <p:cNvSpPr txBox="1"/>
          <p:nvPr/>
        </p:nvSpPr>
        <p:spPr>
          <a:xfrm>
            <a:off x="1485912" y="5657211"/>
            <a:ext cx="965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dirty="0"/>
              <a:t>🎯</a:t>
            </a:r>
            <a:endParaRPr kumimoji="1" lang="zh-TW" altLang="en-US" sz="36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7DDB966-8DC7-C5CF-35B1-AEB9264CA4C6}"/>
              </a:ext>
            </a:extLst>
          </p:cNvPr>
          <p:cNvSpPr/>
          <p:nvPr/>
        </p:nvSpPr>
        <p:spPr>
          <a:xfrm>
            <a:off x="1383355" y="4293846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6DE0177-E8AE-105A-E9F0-EE21F0096888}"/>
              </a:ext>
            </a:extLst>
          </p:cNvPr>
          <p:cNvSpPr/>
          <p:nvPr/>
        </p:nvSpPr>
        <p:spPr>
          <a:xfrm>
            <a:off x="454731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9FC1B44-5C41-9BD9-4299-AE348F3DB43A}"/>
              </a:ext>
            </a:extLst>
          </p:cNvPr>
          <p:cNvSpPr/>
          <p:nvPr/>
        </p:nvSpPr>
        <p:spPr>
          <a:xfrm>
            <a:off x="7016039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AC756C1-DBDE-0F5B-FEBE-415CABCF9BBC}"/>
              </a:ext>
            </a:extLst>
          </p:cNvPr>
          <p:cNvSpPr/>
          <p:nvPr/>
        </p:nvSpPr>
        <p:spPr>
          <a:xfrm>
            <a:off x="938869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6" name="圓角矩形 35">
            <a:extLst>
              <a:ext uri="{FF2B5EF4-FFF2-40B4-BE49-F238E27FC236}">
                <a16:creationId xmlns:a16="http://schemas.microsoft.com/office/drawing/2014/main" id="{A42083A9-2C49-EA47-ADF8-6E81062DC093}"/>
              </a:ext>
            </a:extLst>
          </p:cNvPr>
          <p:cNvSpPr/>
          <p:nvPr/>
        </p:nvSpPr>
        <p:spPr>
          <a:xfrm>
            <a:off x="2085975" y="3105150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1</a:t>
            </a:r>
            <a:endParaRPr kumimoji="1" lang="zh-TW" altLang="en-US" sz="2200" baseline="-25000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5DE2814-C819-FE76-F772-36199E14317A}"/>
              </a:ext>
            </a:extLst>
          </p:cNvPr>
          <p:cNvSpPr/>
          <p:nvPr/>
        </p:nvSpPr>
        <p:spPr>
          <a:xfrm>
            <a:off x="2059786" y="4293846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71EE1F06-3802-D9A6-95FE-7BCCFFB10230}"/>
              </a:ext>
            </a:extLst>
          </p:cNvPr>
          <p:cNvSpPr/>
          <p:nvPr/>
        </p:nvSpPr>
        <p:spPr>
          <a:xfrm>
            <a:off x="4562475" y="3105149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2</a:t>
            </a:r>
            <a:endParaRPr kumimoji="1" lang="zh-TW" altLang="en-US" sz="2200" baseline="-25000" dirty="0"/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4231810D-4672-CF67-DCEA-01729C32AC98}"/>
              </a:ext>
            </a:extLst>
          </p:cNvPr>
          <p:cNvSpPr/>
          <p:nvPr/>
        </p:nvSpPr>
        <p:spPr>
          <a:xfrm>
            <a:off x="7035089" y="3105149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3</a:t>
            </a:r>
            <a:endParaRPr kumimoji="1" lang="zh-TW" altLang="en-US" sz="2200" baseline="-25000" dirty="0"/>
          </a:p>
        </p:txBody>
      </p: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2C36422D-8D63-CA3B-5137-8C605787F43A}"/>
              </a:ext>
            </a:extLst>
          </p:cNvPr>
          <p:cNvSpPr/>
          <p:nvPr/>
        </p:nvSpPr>
        <p:spPr>
          <a:xfrm>
            <a:off x="9407741" y="3104574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4</a:t>
            </a:r>
            <a:endParaRPr kumimoji="1" lang="zh-TW" altLang="en-US" sz="2200" baseline="-25000" dirty="0"/>
          </a:p>
        </p:txBody>
      </p:sp>
      <p:sp>
        <p:nvSpPr>
          <p:cNvPr id="42" name="圓角矩形 41">
            <a:extLst>
              <a:ext uri="{FF2B5EF4-FFF2-40B4-BE49-F238E27FC236}">
                <a16:creationId xmlns:a16="http://schemas.microsoft.com/office/drawing/2014/main" id="{0D34AF9D-E022-1513-BACF-34016A7B9AE1}"/>
              </a:ext>
            </a:extLst>
          </p:cNvPr>
          <p:cNvSpPr/>
          <p:nvPr/>
        </p:nvSpPr>
        <p:spPr>
          <a:xfrm>
            <a:off x="2090592" y="1707483"/>
            <a:ext cx="533400" cy="5619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h</a:t>
            </a:r>
            <a:r>
              <a:rPr kumimoji="1" lang="en-US" altLang="zh-TW" sz="2200" baseline="-25000" dirty="0"/>
              <a:t>1</a:t>
            </a:r>
            <a:endParaRPr kumimoji="1" lang="zh-TW" altLang="en-US" sz="2200" baseline="-250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A5A6D88-705C-DD66-EDD4-04A912D645B2}"/>
              </a:ext>
            </a:extLst>
          </p:cNvPr>
          <p:cNvSpPr txBox="1"/>
          <p:nvPr/>
        </p:nvSpPr>
        <p:spPr>
          <a:xfrm>
            <a:off x="2689804" y="6132580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33802C79-6812-95D7-38EF-B4431E130C7D}"/>
              </a:ext>
            </a:extLst>
          </p:cNvPr>
          <p:cNvSpPr/>
          <p:nvPr/>
        </p:nvSpPr>
        <p:spPr>
          <a:xfrm>
            <a:off x="4591161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B20F8536-403E-3A6C-CDE9-9D49C6308AB0}"/>
              </a:ext>
            </a:extLst>
          </p:cNvPr>
          <p:cNvSpPr txBox="1"/>
          <p:nvPr/>
        </p:nvSpPr>
        <p:spPr>
          <a:xfrm>
            <a:off x="5157393" y="613258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print</a:t>
            </a:r>
            <a:endParaRPr kumimoji="1" lang="zh-TW" altLang="en-US" dirty="0"/>
          </a:p>
        </p:txBody>
      </p:sp>
      <p:sp>
        <p:nvSpPr>
          <p:cNvPr id="47" name="圓角矩形 46">
            <a:extLst>
              <a:ext uri="{FF2B5EF4-FFF2-40B4-BE49-F238E27FC236}">
                <a16:creationId xmlns:a16="http://schemas.microsoft.com/office/drawing/2014/main" id="{261722A8-17DC-2F5B-0EBE-3023F950D3D6}"/>
              </a:ext>
            </a:extLst>
          </p:cNvPr>
          <p:cNvSpPr/>
          <p:nvPr/>
        </p:nvSpPr>
        <p:spPr>
          <a:xfrm>
            <a:off x="7067661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7481DC0A-0EBC-D763-FC9D-F88CF071CEA7}"/>
              </a:ext>
            </a:extLst>
          </p:cNvPr>
          <p:cNvSpPr txBox="1"/>
          <p:nvPr/>
        </p:nvSpPr>
        <p:spPr>
          <a:xfrm>
            <a:off x="7630100" y="609845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Hello</a:t>
            </a:r>
            <a:endParaRPr kumimoji="1" lang="zh-TW" altLang="en-US" dirty="0"/>
          </a:p>
        </p:txBody>
      </p:sp>
      <p:sp>
        <p:nvSpPr>
          <p:cNvPr id="49" name="圓角矩形 48">
            <a:extLst>
              <a:ext uri="{FF2B5EF4-FFF2-40B4-BE49-F238E27FC236}">
                <a16:creationId xmlns:a16="http://schemas.microsoft.com/office/drawing/2014/main" id="{5E711CF6-4C5A-CF4B-018E-A38D0D359FDE}"/>
              </a:ext>
            </a:extLst>
          </p:cNvPr>
          <p:cNvSpPr/>
          <p:nvPr/>
        </p:nvSpPr>
        <p:spPr>
          <a:xfrm>
            <a:off x="9443833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4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BEB40D07-0A3B-583E-AF4D-2AAC53FC4885}"/>
              </a:ext>
            </a:extLst>
          </p:cNvPr>
          <p:cNvSpPr txBox="1"/>
          <p:nvPr/>
        </p:nvSpPr>
        <p:spPr>
          <a:xfrm>
            <a:off x="10006272" y="6098455"/>
            <a:ext cx="724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world</a:t>
            </a:r>
            <a:endParaRPr kumimoji="1" lang="zh-TW" altLang="en-US" dirty="0"/>
          </a:p>
        </p:txBody>
      </p:sp>
      <p:cxnSp>
        <p:nvCxnSpPr>
          <p:cNvPr id="54" name="肘形接點 53">
            <a:extLst>
              <a:ext uri="{FF2B5EF4-FFF2-40B4-BE49-F238E27FC236}">
                <a16:creationId xmlns:a16="http://schemas.microsoft.com/office/drawing/2014/main" id="{A44E4929-4C03-96E6-BCF3-938ED87DFA21}"/>
              </a:ext>
            </a:extLst>
          </p:cNvPr>
          <p:cNvCxnSpPr>
            <a:stCxn id="36" idx="3"/>
            <a:endCxn id="19" idx="0"/>
          </p:cNvCxnSpPr>
          <p:nvPr/>
        </p:nvCxnSpPr>
        <p:spPr>
          <a:xfrm>
            <a:off x="2619375" y="3386138"/>
            <a:ext cx="426394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肘形接點 54">
            <a:extLst>
              <a:ext uri="{FF2B5EF4-FFF2-40B4-BE49-F238E27FC236}">
                <a16:creationId xmlns:a16="http://schemas.microsoft.com/office/drawing/2014/main" id="{D2A4A1CE-1C12-0FB2-B308-6F8B08378831}"/>
              </a:ext>
            </a:extLst>
          </p:cNvPr>
          <p:cNvCxnSpPr>
            <a:cxnSpLocks/>
            <a:stCxn id="39" idx="3"/>
            <a:endCxn id="22" idx="0"/>
          </p:cNvCxnSpPr>
          <p:nvPr/>
        </p:nvCxnSpPr>
        <p:spPr>
          <a:xfrm>
            <a:off x="5095875" y="3386137"/>
            <a:ext cx="426394" cy="1155357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肘形接點 57">
            <a:extLst>
              <a:ext uri="{FF2B5EF4-FFF2-40B4-BE49-F238E27FC236}">
                <a16:creationId xmlns:a16="http://schemas.microsoft.com/office/drawing/2014/main" id="{11D20EF7-F704-C358-059D-057CF8B79830}"/>
              </a:ext>
            </a:extLst>
          </p:cNvPr>
          <p:cNvCxnSpPr>
            <a:cxnSpLocks/>
            <a:stCxn id="40" idx="3"/>
            <a:endCxn id="25" idx="0"/>
          </p:cNvCxnSpPr>
          <p:nvPr/>
        </p:nvCxnSpPr>
        <p:spPr>
          <a:xfrm>
            <a:off x="7568489" y="3386137"/>
            <a:ext cx="430280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肘形接點 60">
            <a:extLst>
              <a:ext uri="{FF2B5EF4-FFF2-40B4-BE49-F238E27FC236}">
                <a16:creationId xmlns:a16="http://schemas.microsoft.com/office/drawing/2014/main" id="{4040174D-2F57-CDE1-E3F7-3B7FE58C5903}"/>
              </a:ext>
            </a:extLst>
          </p:cNvPr>
          <p:cNvCxnSpPr>
            <a:cxnSpLocks/>
            <a:stCxn id="41" idx="3"/>
            <a:endCxn id="28" idx="0"/>
          </p:cNvCxnSpPr>
          <p:nvPr/>
        </p:nvCxnSpPr>
        <p:spPr>
          <a:xfrm>
            <a:off x="9941141" y="3385562"/>
            <a:ext cx="426394" cy="115978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肘形接點 63">
            <a:extLst>
              <a:ext uri="{FF2B5EF4-FFF2-40B4-BE49-F238E27FC236}">
                <a16:creationId xmlns:a16="http://schemas.microsoft.com/office/drawing/2014/main" id="{D9A4B7CD-1490-8A33-2233-E61A89161405}"/>
              </a:ext>
            </a:extLst>
          </p:cNvPr>
          <p:cNvCxnSpPr>
            <a:cxnSpLocks/>
            <a:stCxn id="36" idx="0"/>
            <a:endCxn id="39" idx="0"/>
          </p:cNvCxnSpPr>
          <p:nvPr/>
        </p:nvCxnSpPr>
        <p:spPr>
          <a:xfrm rot="5400000" flipH="1" flipV="1">
            <a:off x="3590925" y="1866900"/>
            <a:ext cx="1" cy="2476500"/>
          </a:xfrm>
          <a:prstGeom prst="bentConnector3">
            <a:avLst>
              <a:gd name="adj1" fmla="val 228601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肘形接點 73">
            <a:extLst>
              <a:ext uri="{FF2B5EF4-FFF2-40B4-BE49-F238E27FC236}">
                <a16:creationId xmlns:a16="http://schemas.microsoft.com/office/drawing/2014/main" id="{7EB525AD-E0E1-A4FF-F376-EA45F8E7501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65482" y="1866326"/>
            <a:ext cx="1" cy="2476500"/>
          </a:xfrm>
          <a:prstGeom prst="bentConnector3">
            <a:avLst>
              <a:gd name="adj1" fmla="val 228601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肘形接點 74">
            <a:extLst>
              <a:ext uri="{FF2B5EF4-FFF2-40B4-BE49-F238E27FC236}">
                <a16:creationId xmlns:a16="http://schemas.microsoft.com/office/drawing/2014/main" id="{9CCAD307-5598-6E11-0B84-0E590E6F8050}"/>
              </a:ext>
            </a:extLst>
          </p:cNvPr>
          <p:cNvCxnSpPr>
            <a:cxnSpLocks/>
            <a:stCxn id="40" idx="0"/>
            <a:endCxn id="41" idx="0"/>
          </p:cNvCxnSpPr>
          <p:nvPr/>
        </p:nvCxnSpPr>
        <p:spPr>
          <a:xfrm rot="5400000" flipH="1" flipV="1">
            <a:off x="8487828" y="1918536"/>
            <a:ext cx="575" cy="2372652"/>
          </a:xfrm>
          <a:prstGeom prst="bentConnector3">
            <a:avLst>
              <a:gd name="adj1" fmla="val 39856522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肘形接點 78">
            <a:extLst>
              <a:ext uri="{FF2B5EF4-FFF2-40B4-BE49-F238E27FC236}">
                <a16:creationId xmlns:a16="http://schemas.microsoft.com/office/drawing/2014/main" id="{4327E1C5-B662-6BB4-6B62-40A5A99FBE6D}"/>
              </a:ext>
            </a:extLst>
          </p:cNvPr>
          <p:cNvCxnSpPr>
            <a:cxnSpLocks/>
            <a:stCxn id="42" idx="2"/>
          </p:cNvCxnSpPr>
          <p:nvPr/>
        </p:nvCxnSpPr>
        <p:spPr>
          <a:xfrm rot="16200000" flipH="1">
            <a:off x="3873029" y="753721"/>
            <a:ext cx="608827" cy="3640300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5DC2FBD7-A1EE-AA47-3C6B-FAE67A12BD47}"/>
              </a:ext>
            </a:extLst>
          </p:cNvPr>
          <p:cNvSpPr txBox="1"/>
          <p:nvPr/>
        </p:nvSpPr>
        <p:spPr>
          <a:xfrm>
            <a:off x="3439714" y="2229593"/>
            <a:ext cx="175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Weighted sum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3CEEF3A-096B-368A-D6CC-5F0A6A8D6DE8}"/>
              </a:ext>
            </a:extLst>
          </p:cNvPr>
          <p:cNvSpPr txBox="1"/>
          <p:nvPr/>
        </p:nvSpPr>
        <p:spPr>
          <a:xfrm>
            <a:off x="373627" y="1422809"/>
            <a:ext cx="111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t = 1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2410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7" grpId="0" animBg="1"/>
      <p:bldP spid="37" grpId="1" animBg="1"/>
      <p:bldP spid="39" grpId="0" animBg="1"/>
      <p:bldP spid="40" grpId="0" animBg="1"/>
      <p:bldP spid="41" grpId="0" animBg="1"/>
      <p:bldP spid="42" grpId="0" animBg="1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C7C744-4D6E-A486-0C23-1201579C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Query (Q), Key (K), and Value (V)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9207B4-7A63-4047-96AA-B65EEDFAA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71E07550-B1F4-F3A3-60C6-02A78EE367C2}"/>
              </a:ext>
            </a:extLst>
          </p:cNvPr>
          <p:cNvSpPr/>
          <p:nvPr/>
        </p:nvSpPr>
        <p:spPr>
          <a:xfrm>
            <a:off x="2114661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1F84A656-CA83-526C-B6FE-D93DD219E455}"/>
              </a:ext>
            </a:extLst>
          </p:cNvPr>
          <p:cNvSpPr txBox="1"/>
          <p:nvPr/>
        </p:nvSpPr>
        <p:spPr>
          <a:xfrm>
            <a:off x="3963050" y="5624190"/>
            <a:ext cx="965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dirty="0"/>
              <a:t>🎯</a:t>
            </a:r>
            <a:endParaRPr kumimoji="1" lang="zh-TW" altLang="en-US" sz="36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7DDB966-8DC7-C5CF-35B1-AEB9264CA4C6}"/>
              </a:ext>
            </a:extLst>
          </p:cNvPr>
          <p:cNvSpPr/>
          <p:nvPr/>
        </p:nvSpPr>
        <p:spPr>
          <a:xfrm>
            <a:off x="3875048" y="4321363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6DE0177-E8AE-105A-E9F0-EE21F0096888}"/>
              </a:ext>
            </a:extLst>
          </p:cNvPr>
          <p:cNvSpPr/>
          <p:nvPr/>
        </p:nvSpPr>
        <p:spPr>
          <a:xfrm>
            <a:off x="454731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9FC1B44-5C41-9BD9-4299-AE348F3DB43A}"/>
              </a:ext>
            </a:extLst>
          </p:cNvPr>
          <p:cNvSpPr/>
          <p:nvPr/>
        </p:nvSpPr>
        <p:spPr>
          <a:xfrm>
            <a:off x="7016039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AC756C1-DBDE-0F5B-FEBE-415CABCF9BBC}"/>
              </a:ext>
            </a:extLst>
          </p:cNvPr>
          <p:cNvSpPr/>
          <p:nvPr/>
        </p:nvSpPr>
        <p:spPr>
          <a:xfrm>
            <a:off x="938869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6" name="圓角矩形 35">
            <a:extLst>
              <a:ext uri="{FF2B5EF4-FFF2-40B4-BE49-F238E27FC236}">
                <a16:creationId xmlns:a16="http://schemas.microsoft.com/office/drawing/2014/main" id="{A42083A9-2C49-EA47-ADF8-6E81062DC093}"/>
              </a:ext>
            </a:extLst>
          </p:cNvPr>
          <p:cNvSpPr/>
          <p:nvPr/>
        </p:nvSpPr>
        <p:spPr>
          <a:xfrm>
            <a:off x="2085975" y="3105150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1</a:t>
            </a:r>
            <a:endParaRPr kumimoji="1" lang="zh-TW" altLang="en-US" sz="2200" baseline="-25000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5DE2814-C819-FE76-F772-36199E14317A}"/>
              </a:ext>
            </a:extLst>
          </p:cNvPr>
          <p:cNvSpPr/>
          <p:nvPr/>
        </p:nvSpPr>
        <p:spPr>
          <a:xfrm>
            <a:off x="2059786" y="4293846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71EE1F06-3802-D9A6-95FE-7BCCFFB10230}"/>
              </a:ext>
            </a:extLst>
          </p:cNvPr>
          <p:cNvSpPr/>
          <p:nvPr/>
        </p:nvSpPr>
        <p:spPr>
          <a:xfrm>
            <a:off x="4562475" y="3105149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2</a:t>
            </a:r>
            <a:endParaRPr kumimoji="1" lang="zh-TW" altLang="en-US" sz="2200" baseline="-25000" dirty="0"/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4231810D-4672-CF67-DCEA-01729C32AC98}"/>
              </a:ext>
            </a:extLst>
          </p:cNvPr>
          <p:cNvSpPr/>
          <p:nvPr/>
        </p:nvSpPr>
        <p:spPr>
          <a:xfrm>
            <a:off x="7035089" y="3105149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3</a:t>
            </a:r>
            <a:endParaRPr kumimoji="1" lang="zh-TW" altLang="en-US" sz="2200" baseline="-25000" dirty="0"/>
          </a:p>
        </p:txBody>
      </p: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2C36422D-8D63-CA3B-5137-8C605787F43A}"/>
              </a:ext>
            </a:extLst>
          </p:cNvPr>
          <p:cNvSpPr/>
          <p:nvPr/>
        </p:nvSpPr>
        <p:spPr>
          <a:xfrm>
            <a:off x="9407741" y="3104574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4</a:t>
            </a:r>
            <a:endParaRPr kumimoji="1" lang="zh-TW" altLang="en-US" sz="2200" baseline="-25000" dirty="0"/>
          </a:p>
        </p:txBody>
      </p:sp>
      <p:sp>
        <p:nvSpPr>
          <p:cNvPr id="42" name="圓角矩形 41">
            <a:extLst>
              <a:ext uri="{FF2B5EF4-FFF2-40B4-BE49-F238E27FC236}">
                <a16:creationId xmlns:a16="http://schemas.microsoft.com/office/drawing/2014/main" id="{0D34AF9D-E022-1513-BACF-34016A7B9AE1}"/>
              </a:ext>
            </a:extLst>
          </p:cNvPr>
          <p:cNvSpPr/>
          <p:nvPr/>
        </p:nvSpPr>
        <p:spPr>
          <a:xfrm>
            <a:off x="2090592" y="1707483"/>
            <a:ext cx="533400" cy="5619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h</a:t>
            </a:r>
            <a:r>
              <a:rPr kumimoji="1" lang="en-US" altLang="zh-TW" sz="2200" baseline="-25000" dirty="0"/>
              <a:t>1</a:t>
            </a:r>
            <a:endParaRPr kumimoji="1" lang="zh-TW" altLang="en-US" sz="2200" baseline="-250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A5A6D88-705C-DD66-EDD4-04A912D645B2}"/>
              </a:ext>
            </a:extLst>
          </p:cNvPr>
          <p:cNvSpPr txBox="1"/>
          <p:nvPr/>
        </p:nvSpPr>
        <p:spPr>
          <a:xfrm>
            <a:off x="2689804" y="6132580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33802C79-6812-95D7-38EF-B4431E130C7D}"/>
              </a:ext>
            </a:extLst>
          </p:cNvPr>
          <p:cNvSpPr/>
          <p:nvPr/>
        </p:nvSpPr>
        <p:spPr>
          <a:xfrm>
            <a:off x="4591161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B20F8536-403E-3A6C-CDE9-9D49C6308AB0}"/>
              </a:ext>
            </a:extLst>
          </p:cNvPr>
          <p:cNvSpPr txBox="1"/>
          <p:nvPr/>
        </p:nvSpPr>
        <p:spPr>
          <a:xfrm>
            <a:off x="5157393" y="613258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print</a:t>
            </a:r>
            <a:endParaRPr kumimoji="1" lang="zh-TW" altLang="en-US" dirty="0"/>
          </a:p>
        </p:txBody>
      </p:sp>
      <p:sp>
        <p:nvSpPr>
          <p:cNvPr id="47" name="圓角矩形 46">
            <a:extLst>
              <a:ext uri="{FF2B5EF4-FFF2-40B4-BE49-F238E27FC236}">
                <a16:creationId xmlns:a16="http://schemas.microsoft.com/office/drawing/2014/main" id="{261722A8-17DC-2F5B-0EBE-3023F950D3D6}"/>
              </a:ext>
            </a:extLst>
          </p:cNvPr>
          <p:cNvSpPr/>
          <p:nvPr/>
        </p:nvSpPr>
        <p:spPr>
          <a:xfrm>
            <a:off x="7067661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7481DC0A-0EBC-D763-FC9D-F88CF071CEA7}"/>
              </a:ext>
            </a:extLst>
          </p:cNvPr>
          <p:cNvSpPr txBox="1"/>
          <p:nvPr/>
        </p:nvSpPr>
        <p:spPr>
          <a:xfrm>
            <a:off x="7630100" y="609845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Hello</a:t>
            </a:r>
            <a:endParaRPr kumimoji="1" lang="zh-TW" altLang="en-US" dirty="0"/>
          </a:p>
        </p:txBody>
      </p:sp>
      <p:sp>
        <p:nvSpPr>
          <p:cNvPr id="49" name="圓角矩形 48">
            <a:extLst>
              <a:ext uri="{FF2B5EF4-FFF2-40B4-BE49-F238E27FC236}">
                <a16:creationId xmlns:a16="http://schemas.microsoft.com/office/drawing/2014/main" id="{5E711CF6-4C5A-CF4B-018E-A38D0D359FDE}"/>
              </a:ext>
            </a:extLst>
          </p:cNvPr>
          <p:cNvSpPr/>
          <p:nvPr/>
        </p:nvSpPr>
        <p:spPr>
          <a:xfrm>
            <a:off x="9443833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4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BEB40D07-0A3B-583E-AF4D-2AAC53FC4885}"/>
              </a:ext>
            </a:extLst>
          </p:cNvPr>
          <p:cNvSpPr txBox="1"/>
          <p:nvPr/>
        </p:nvSpPr>
        <p:spPr>
          <a:xfrm>
            <a:off x="10006272" y="6098455"/>
            <a:ext cx="724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world</a:t>
            </a:r>
            <a:endParaRPr kumimoji="1" lang="zh-TW" altLang="en-US" dirty="0"/>
          </a:p>
        </p:txBody>
      </p:sp>
      <p:cxnSp>
        <p:nvCxnSpPr>
          <p:cNvPr id="54" name="肘形接點 53">
            <a:extLst>
              <a:ext uri="{FF2B5EF4-FFF2-40B4-BE49-F238E27FC236}">
                <a16:creationId xmlns:a16="http://schemas.microsoft.com/office/drawing/2014/main" id="{A44E4929-4C03-96E6-BCF3-938ED87DFA21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2619375" y="3386138"/>
            <a:ext cx="426394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肘形接點 54">
            <a:extLst>
              <a:ext uri="{FF2B5EF4-FFF2-40B4-BE49-F238E27FC236}">
                <a16:creationId xmlns:a16="http://schemas.microsoft.com/office/drawing/2014/main" id="{D2A4A1CE-1C12-0FB2-B308-6F8B08378831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5095875" y="3386137"/>
            <a:ext cx="426394" cy="1155357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肘形接點 57">
            <a:extLst>
              <a:ext uri="{FF2B5EF4-FFF2-40B4-BE49-F238E27FC236}">
                <a16:creationId xmlns:a16="http://schemas.microsoft.com/office/drawing/2014/main" id="{11D20EF7-F704-C358-059D-057CF8B79830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7568489" y="3386137"/>
            <a:ext cx="430280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肘形接點 60">
            <a:extLst>
              <a:ext uri="{FF2B5EF4-FFF2-40B4-BE49-F238E27FC236}">
                <a16:creationId xmlns:a16="http://schemas.microsoft.com/office/drawing/2014/main" id="{4040174D-2F57-CDE1-E3F7-3B7FE58C5903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9941141" y="3385562"/>
            <a:ext cx="426394" cy="115978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肘形接點 63">
            <a:extLst>
              <a:ext uri="{FF2B5EF4-FFF2-40B4-BE49-F238E27FC236}">
                <a16:creationId xmlns:a16="http://schemas.microsoft.com/office/drawing/2014/main" id="{D9A4B7CD-1490-8A33-2233-E61A89161405}"/>
              </a:ext>
            </a:extLst>
          </p:cNvPr>
          <p:cNvCxnSpPr>
            <a:cxnSpLocks/>
            <a:stCxn id="36" idx="0"/>
            <a:endCxn id="39" idx="0"/>
          </p:cNvCxnSpPr>
          <p:nvPr/>
        </p:nvCxnSpPr>
        <p:spPr>
          <a:xfrm rot="5400000" flipH="1" flipV="1">
            <a:off x="3590925" y="1866900"/>
            <a:ext cx="1" cy="2476500"/>
          </a:xfrm>
          <a:prstGeom prst="bentConnector3">
            <a:avLst>
              <a:gd name="adj1" fmla="val 228601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肘形接點 73">
            <a:extLst>
              <a:ext uri="{FF2B5EF4-FFF2-40B4-BE49-F238E27FC236}">
                <a16:creationId xmlns:a16="http://schemas.microsoft.com/office/drawing/2014/main" id="{7EB525AD-E0E1-A4FF-F376-EA45F8E7501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65482" y="1866326"/>
            <a:ext cx="1" cy="2476500"/>
          </a:xfrm>
          <a:prstGeom prst="bentConnector3">
            <a:avLst>
              <a:gd name="adj1" fmla="val 228601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肘形接點 74">
            <a:extLst>
              <a:ext uri="{FF2B5EF4-FFF2-40B4-BE49-F238E27FC236}">
                <a16:creationId xmlns:a16="http://schemas.microsoft.com/office/drawing/2014/main" id="{9CCAD307-5598-6E11-0B84-0E590E6F8050}"/>
              </a:ext>
            </a:extLst>
          </p:cNvPr>
          <p:cNvCxnSpPr>
            <a:cxnSpLocks/>
            <a:stCxn id="40" idx="0"/>
            <a:endCxn id="41" idx="0"/>
          </p:cNvCxnSpPr>
          <p:nvPr/>
        </p:nvCxnSpPr>
        <p:spPr>
          <a:xfrm rot="5400000" flipH="1" flipV="1">
            <a:off x="8487828" y="1918536"/>
            <a:ext cx="575" cy="2372652"/>
          </a:xfrm>
          <a:prstGeom prst="bentConnector3">
            <a:avLst>
              <a:gd name="adj1" fmla="val 39856522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肘形接點 78">
            <a:extLst>
              <a:ext uri="{FF2B5EF4-FFF2-40B4-BE49-F238E27FC236}">
                <a16:creationId xmlns:a16="http://schemas.microsoft.com/office/drawing/2014/main" id="{4327E1C5-B662-6BB4-6B62-40A5A99FBE6D}"/>
              </a:ext>
            </a:extLst>
          </p:cNvPr>
          <p:cNvCxnSpPr>
            <a:cxnSpLocks/>
            <a:stCxn id="3" idx="2"/>
            <a:endCxn id="29" idx="0"/>
          </p:cNvCxnSpPr>
          <p:nvPr/>
        </p:nvCxnSpPr>
        <p:spPr>
          <a:xfrm rot="16200000" flipH="1">
            <a:off x="5203409" y="1899671"/>
            <a:ext cx="606442" cy="1352622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5DC2FBD7-A1EE-AA47-3C6B-FAE67A12BD47}"/>
              </a:ext>
            </a:extLst>
          </p:cNvPr>
          <p:cNvSpPr txBox="1"/>
          <p:nvPr/>
        </p:nvSpPr>
        <p:spPr>
          <a:xfrm>
            <a:off x="5363719" y="2194779"/>
            <a:ext cx="175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Weighted sum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798C23A6-D724-6810-F30D-DBB666BE34E6}"/>
              </a:ext>
            </a:extLst>
          </p:cNvPr>
          <p:cNvSpPr/>
          <p:nvPr/>
        </p:nvSpPr>
        <p:spPr>
          <a:xfrm>
            <a:off x="4563619" y="1710786"/>
            <a:ext cx="533400" cy="5619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h</a:t>
            </a:r>
            <a:r>
              <a:rPr kumimoji="1" lang="en-US" altLang="zh-TW" sz="2200" baseline="-25000" dirty="0"/>
              <a:t>2</a:t>
            </a:r>
            <a:endParaRPr kumimoji="1" lang="zh-TW" altLang="en-US" sz="2200" baseline="-250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0170A659-6516-E18F-F9E6-BB63DF97EE16}"/>
              </a:ext>
            </a:extLst>
          </p:cNvPr>
          <p:cNvSpPr txBox="1"/>
          <p:nvPr/>
        </p:nvSpPr>
        <p:spPr>
          <a:xfrm>
            <a:off x="5861035" y="2879203"/>
            <a:ext cx="643812" cy="394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533FC077-B966-4BC5-CB81-CD8E7A4A66A7}"/>
              </a:ext>
            </a:extLst>
          </p:cNvPr>
          <p:cNvSpPr txBox="1"/>
          <p:nvPr/>
        </p:nvSpPr>
        <p:spPr>
          <a:xfrm>
            <a:off x="373627" y="1422809"/>
            <a:ext cx="111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t = 2</a:t>
            </a:r>
            <a:endParaRPr kumimoji="1" lang="zh-TW" alt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0D71A4C7-DB37-C230-E3E6-9FD92EBFDBC4}"/>
              </a:ext>
            </a:extLst>
          </p:cNvPr>
          <p:cNvSpPr/>
          <p:nvPr/>
        </p:nvSpPr>
        <p:spPr>
          <a:xfrm>
            <a:off x="1435441" y="4541496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72657CA6-0056-9CD7-AE53-953CF39118F9}"/>
              </a:ext>
            </a:extLst>
          </p:cNvPr>
          <p:cNvSpPr/>
          <p:nvPr/>
        </p:nvSpPr>
        <p:spPr>
          <a:xfrm>
            <a:off x="2107255" y="4541495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960ADA8F-E51E-C65E-4341-9077F64AB199}"/>
              </a:ext>
            </a:extLst>
          </p:cNvPr>
          <p:cNvSpPr/>
          <p:nvPr/>
        </p:nvSpPr>
        <p:spPr>
          <a:xfrm>
            <a:off x="2779069" y="4541494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4EC8B848-14B5-BC04-E72E-A96A59A07E9B}"/>
              </a:ext>
            </a:extLst>
          </p:cNvPr>
          <p:cNvSpPr/>
          <p:nvPr/>
        </p:nvSpPr>
        <p:spPr>
          <a:xfrm>
            <a:off x="3911941" y="4541496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C13CD066-0257-5209-D728-F8A2954482C1}"/>
              </a:ext>
            </a:extLst>
          </p:cNvPr>
          <p:cNvSpPr/>
          <p:nvPr/>
        </p:nvSpPr>
        <p:spPr>
          <a:xfrm>
            <a:off x="4583755" y="4541495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16ABEA6E-A73B-7E0C-BD8F-E2381AC0FF12}"/>
              </a:ext>
            </a:extLst>
          </p:cNvPr>
          <p:cNvSpPr/>
          <p:nvPr/>
        </p:nvSpPr>
        <p:spPr>
          <a:xfrm>
            <a:off x="5255569" y="4541494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23277D2B-62DC-44A9-7EDD-D0114E5102A8}"/>
              </a:ext>
            </a:extLst>
          </p:cNvPr>
          <p:cNvSpPr/>
          <p:nvPr/>
        </p:nvSpPr>
        <p:spPr>
          <a:xfrm>
            <a:off x="6388441" y="4541495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5BF5FB52-3BEF-26A2-E5F6-8B14A2787A80}"/>
              </a:ext>
            </a:extLst>
          </p:cNvPr>
          <p:cNvSpPr/>
          <p:nvPr/>
        </p:nvSpPr>
        <p:spPr>
          <a:xfrm>
            <a:off x="7060255" y="4541494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7C9B5056-6D20-D90B-300A-DB3217152E3F}"/>
              </a:ext>
            </a:extLst>
          </p:cNvPr>
          <p:cNvSpPr/>
          <p:nvPr/>
        </p:nvSpPr>
        <p:spPr>
          <a:xfrm>
            <a:off x="7732069" y="4541493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7DDE3720-988C-94D9-372C-46097B32F582}"/>
              </a:ext>
            </a:extLst>
          </p:cNvPr>
          <p:cNvSpPr/>
          <p:nvPr/>
        </p:nvSpPr>
        <p:spPr>
          <a:xfrm>
            <a:off x="8757207" y="4545350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  <p:sp>
        <p:nvSpPr>
          <p:cNvPr id="31" name="圓角矩形 30">
            <a:extLst>
              <a:ext uri="{FF2B5EF4-FFF2-40B4-BE49-F238E27FC236}">
                <a16:creationId xmlns:a16="http://schemas.microsoft.com/office/drawing/2014/main" id="{9DCD9CB0-7A63-B413-969A-A07B829E2CDE}"/>
              </a:ext>
            </a:extLst>
          </p:cNvPr>
          <p:cNvSpPr/>
          <p:nvPr/>
        </p:nvSpPr>
        <p:spPr>
          <a:xfrm>
            <a:off x="9429021" y="4545349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  <p:sp>
        <p:nvSpPr>
          <p:cNvPr id="38" name="圓角矩形 37">
            <a:extLst>
              <a:ext uri="{FF2B5EF4-FFF2-40B4-BE49-F238E27FC236}">
                <a16:creationId xmlns:a16="http://schemas.microsoft.com/office/drawing/2014/main" id="{E9777522-CEAA-4579-F276-6F26411CF274}"/>
              </a:ext>
            </a:extLst>
          </p:cNvPr>
          <p:cNvSpPr/>
          <p:nvPr/>
        </p:nvSpPr>
        <p:spPr>
          <a:xfrm>
            <a:off x="10100835" y="4545348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</p:spTree>
    <p:extLst>
      <p:ext uri="{BB962C8B-B14F-4D97-AF65-F5344CB8AC3E}">
        <p14:creationId xmlns:p14="http://schemas.microsoft.com/office/powerpoint/2010/main" val="292427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7" grpId="0" animBg="1"/>
      <p:bldP spid="37" grpId="1" animBg="1"/>
      <p:bldP spid="39" grpId="0" animBg="1"/>
      <p:bldP spid="40" grpId="0" animBg="1"/>
      <p:bldP spid="41" grpId="0" animBg="1"/>
      <p:bldP spid="9" grpId="0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65022A-1D3A-208E-38FC-16EA5B4E1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a typeface="+mn-ea"/>
                <a:cs typeface="Calibri" panose="020F0502020204030204" pitchFamily="34" charset="0"/>
              </a:rPr>
              <a:t>QKV</a:t>
            </a:r>
            <a:r>
              <a:rPr lang="zh-TW" altLang="en-US" dirty="0">
                <a:ea typeface="+mn-ea"/>
                <a:cs typeface="Calibri" panose="020F0502020204030204" pitchFamily="34" charset="0"/>
              </a:rPr>
              <a:t> 的比喻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E927CE-170B-572C-ABAF-1538491E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17</a:t>
            </a:fld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CD54E07-2670-BF3A-C99F-3C71977B7189}"/>
              </a:ext>
            </a:extLst>
          </p:cNvPr>
          <p:cNvSpPr txBox="1"/>
          <p:nvPr/>
        </p:nvSpPr>
        <p:spPr>
          <a:xfrm>
            <a:off x="7959844" y="1081133"/>
            <a:ext cx="37500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Vaswani, Ashish, et al. "Attention is all you need." </a:t>
            </a:r>
            <a:r>
              <a:rPr lang="en-US" altLang="zh-TW" sz="100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NeurIPS</a:t>
            </a:r>
            <a:r>
              <a:rPr lang="en-US" altLang="zh-TW" sz="10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(2017).</a:t>
            </a:r>
            <a:endParaRPr lang="zh-TW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4F69B63-AF80-53D1-7655-66B0AECD4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855" y="1963711"/>
            <a:ext cx="9160669" cy="3259083"/>
          </a:xfrm>
          <a:prstGeom prst="rect">
            <a:avLst/>
          </a:prstGeom>
        </p:spPr>
      </p:pic>
      <p:sp>
        <p:nvSpPr>
          <p:cNvPr id="5" name="圓角矩形 4">
            <a:extLst>
              <a:ext uri="{FF2B5EF4-FFF2-40B4-BE49-F238E27FC236}">
                <a16:creationId xmlns:a16="http://schemas.microsoft.com/office/drawing/2014/main" id="{50CCDC48-5F34-4009-8BCA-BC2EBF35C1B9}"/>
              </a:ext>
            </a:extLst>
          </p:cNvPr>
          <p:cNvSpPr/>
          <p:nvPr/>
        </p:nvSpPr>
        <p:spPr>
          <a:xfrm>
            <a:off x="3229204" y="1963711"/>
            <a:ext cx="2024743" cy="34022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A492400-AA7A-B145-F4AC-B93F1B806608}"/>
              </a:ext>
            </a:extLst>
          </p:cNvPr>
          <p:cNvSpPr txBox="1"/>
          <p:nvPr/>
        </p:nvSpPr>
        <p:spPr>
          <a:xfrm>
            <a:off x="3756383" y="1594379"/>
            <a:ext cx="970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Query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DE8B4F4E-F656-8E47-1E8D-474AC5236D16}"/>
              </a:ext>
            </a:extLst>
          </p:cNvPr>
          <p:cNvSpPr/>
          <p:nvPr/>
        </p:nvSpPr>
        <p:spPr>
          <a:xfrm>
            <a:off x="5701814" y="2929089"/>
            <a:ext cx="2593910" cy="251927"/>
          </a:xfrm>
          <a:prstGeom prst="roundRect">
            <a:avLst/>
          </a:prstGeom>
          <a:noFill/>
          <a:ln w="28575">
            <a:solidFill>
              <a:srgbClr val="9EF5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60E8B354-9A6A-95B2-477A-9FE56CE5990E}"/>
              </a:ext>
            </a:extLst>
          </p:cNvPr>
          <p:cNvSpPr/>
          <p:nvPr/>
        </p:nvSpPr>
        <p:spPr>
          <a:xfrm>
            <a:off x="5776457" y="3665459"/>
            <a:ext cx="4676750" cy="251927"/>
          </a:xfrm>
          <a:prstGeom prst="roundRect">
            <a:avLst/>
          </a:prstGeom>
          <a:noFill/>
          <a:ln w="28575">
            <a:solidFill>
              <a:srgbClr val="9EF5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/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5254C35C-671F-A13C-E37E-19AE6F99BD38}"/>
              </a:ext>
            </a:extLst>
          </p:cNvPr>
          <p:cNvSpPr/>
          <p:nvPr/>
        </p:nvSpPr>
        <p:spPr>
          <a:xfrm>
            <a:off x="6849480" y="4062460"/>
            <a:ext cx="3566404" cy="251927"/>
          </a:xfrm>
          <a:prstGeom prst="roundRect">
            <a:avLst/>
          </a:prstGeom>
          <a:noFill/>
          <a:ln w="28575">
            <a:solidFill>
              <a:srgbClr val="9EF5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65DB248-9E91-CBD6-4300-834D995268A4}"/>
              </a:ext>
            </a:extLst>
          </p:cNvPr>
          <p:cNvSpPr txBox="1"/>
          <p:nvPr/>
        </p:nvSpPr>
        <p:spPr>
          <a:xfrm>
            <a:off x="8295724" y="2873905"/>
            <a:ext cx="783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9EF5EA"/>
                </a:solidFill>
              </a:rPr>
              <a:t>Key</a:t>
            </a:r>
            <a:endParaRPr kumimoji="1" lang="zh-TW" altLang="en-US" dirty="0">
              <a:solidFill>
                <a:srgbClr val="9EF5EA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AD08AC4E-EA6F-EA9A-AFD0-93BFDD79F121}"/>
              </a:ext>
            </a:extLst>
          </p:cNvPr>
          <p:cNvSpPr/>
          <p:nvPr/>
        </p:nvSpPr>
        <p:spPr>
          <a:xfrm>
            <a:off x="1526361" y="2776980"/>
            <a:ext cx="8982832" cy="2372795"/>
          </a:xfrm>
          <a:prstGeom prst="roundRect">
            <a:avLst/>
          </a:prstGeom>
          <a:noFill/>
          <a:ln w="28575">
            <a:solidFill>
              <a:srgbClr val="FF4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A7EC74E-D55D-F019-1794-B331C5EA1680}"/>
              </a:ext>
            </a:extLst>
          </p:cNvPr>
          <p:cNvSpPr txBox="1"/>
          <p:nvPr/>
        </p:nvSpPr>
        <p:spPr>
          <a:xfrm>
            <a:off x="10453207" y="3808191"/>
            <a:ext cx="970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40FF"/>
                </a:solidFill>
              </a:rPr>
              <a:t>Value</a:t>
            </a:r>
            <a:endParaRPr kumimoji="1" lang="zh-TW" altLang="en-US" dirty="0">
              <a:solidFill>
                <a:srgbClr val="FF40FF"/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0620BE0-AC8F-E101-0BD8-7BBB9F8B3A97}"/>
              </a:ext>
            </a:extLst>
          </p:cNvPr>
          <p:cNvSpPr txBox="1"/>
          <p:nvPr/>
        </p:nvSpPr>
        <p:spPr>
          <a:xfrm>
            <a:off x="1357855" y="5565860"/>
            <a:ext cx="9857541" cy="958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Query: (</a:t>
            </a:r>
            <a:r>
              <a:rPr kumimoji="1" lang="zh-TW" altLang="en-US" sz="2000" dirty="0"/>
              <a:t>主動</a:t>
            </a:r>
            <a:r>
              <a:rPr kumimoji="1" lang="en-US" altLang="zh-TW" sz="2000" dirty="0"/>
              <a:t>) </a:t>
            </a:r>
            <a:r>
              <a:rPr kumimoji="1" lang="zh-TW" altLang="en-US" sz="2000" dirty="0"/>
              <a:t>查詢的關鍵字；</a:t>
            </a:r>
            <a:r>
              <a:rPr kumimoji="1" lang="en-US" altLang="zh-TW" sz="2000" dirty="0"/>
              <a:t>Key: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(</a:t>
            </a:r>
            <a:r>
              <a:rPr kumimoji="1" lang="zh-TW" altLang="en-US" sz="2000" dirty="0"/>
              <a:t>被動</a:t>
            </a:r>
            <a:r>
              <a:rPr kumimoji="1" lang="en-US" altLang="zh-TW" sz="2000" dirty="0"/>
              <a:t>) </a:t>
            </a:r>
            <a:r>
              <a:rPr kumimoji="1" lang="zh-TW" altLang="en-US" sz="2000" dirty="0"/>
              <a:t>查詢的對象</a:t>
            </a:r>
            <a:endParaRPr kumimoji="1" lang="en-US" altLang="zh-TW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Value: </a:t>
            </a:r>
            <a:r>
              <a:rPr kumimoji="1" lang="zh-TW" altLang="en-US" sz="2000" dirty="0"/>
              <a:t>值，關鍵字與對象的匹配程度</a:t>
            </a:r>
            <a:endParaRPr kumimoji="1"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1704322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/>
      <p:bldP spid="10" grpId="0" animBg="1"/>
      <p:bldP spid="11" grpId="0" animBg="1"/>
      <p:bldP spid="12" grpId="0"/>
      <p:bldP spid="13" grpId="0" animBg="1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134632-1925-DED6-ABF9-99E9101D4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為什麼 </a:t>
            </a:r>
            <a:r>
              <a:rPr kumimoji="1" lang="en-US" altLang="zh-TW" dirty="0">
                <a:ea typeface="Microsoft JhengHei" panose="020B0604030504040204" pitchFamily="34" charset="-120"/>
              </a:rPr>
              <a:t>Transformers </a:t>
            </a:r>
            <a:r>
              <a:rPr kumimoji="1" lang="zh-TW" altLang="en-US" dirty="0">
                <a:ea typeface="Microsoft JhengHei" panose="020B0604030504040204" pitchFamily="34" charset="-120"/>
              </a:rPr>
              <a:t>可以平行化？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37672B-4E61-A146-0784-0A62D7E24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98250A1-BEB4-61A1-6F07-5433DEFD6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49" y="1991488"/>
            <a:ext cx="2765086" cy="3450957"/>
          </a:xfrm>
          <a:prstGeom prst="rect">
            <a:avLst/>
          </a:prstGeom>
        </p:spPr>
      </p:pic>
      <p:sp>
        <p:nvSpPr>
          <p:cNvPr id="6" name="圓角矩形 5">
            <a:extLst>
              <a:ext uri="{FF2B5EF4-FFF2-40B4-BE49-F238E27FC236}">
                <a16:creationId xmlns:a16="http://schemas.microsoft.com/office/drawing/2014/main" id="{50745F76-BCA4-CF78-F4BE-CC059C9C5E66}"/>
              </a:ext>
            </a:extLst>
          </p:cNvPr>
          <p:cNvSpPr/>
          <p:nvPr/>
        </p:nvSpPr>
        <p:spPr>
          <a:xfrm>
            <a:off x="5286399" y="614972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9C815E1-E390-94FE-3B0C-2541453CF7E5}"/>
              </a:ext>
            </a:extLst>
          </p:cNvPr>
          <p:cNvSpPr txBox="1"/>
          <p:nvPr/>
        </p:nvSpPr>
        <p:spPr>
          <a:xfrm>
            <a:off x="5861542" y="6178818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07179721-A00D-70F9-E0B9-B7D199E2B83F}"/>
              </a:ext>
            </a:extLst>
          </p:cNvPr>
          <p:cNvSpPr/>
          <p:nvPr/>
        </p:nvSpPr>
        <p:spPr>
          <a:xfrm>
            <a:off x="7734909" y="614972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23C4D787-EFD9-A8BE-C118-31679759D4A0}"/>
              </a:ext>
            </a:extLst>
          </p:cNvPr>
          <p:cNvSpPr txBox="1"/>
          <p:nvPr/>
        </p:nvSpPr>
        <p:spPr>
          <a:xfrm>
            <a:off x="8294219" y="6171570"/>
            <a:ext cx="870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printed</a:t>
            </a:r>
            <a:endParaRPr kumimoji="1" lang="zh-TW" altLang="en-US" dirty="0"/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9114E970-6D06-8883-69F2-AC2FFA14557A}"/>
              </a:ext>
            </a:extLst>
          </p:cNvPr>
          <p:cNvSpPr/>
          <p:nvPr/>
        </p:nvSpPr>
        <p:spPr>
          <a:xfrm>
            <a:off x="10155423" y="6144693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D70E040-DB77-5805-20E8-637906B04D89}"/>
              </a:ext>
            </a:extLst>
          </p:cNvPr>
          <p:cNvSpPr txBox="1"/>
          <p:nvPr/>
        </p:nvSpPr>
        <p:spPr>
          <a:xfrm>
            <a:off x="10731099" y="617948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Hello</a:t>
            </a:r>
            <a:endParaRPr kumimoji="1" lang="zh-TW" altLang="en-US" dirty="0"/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15C3A9E0-5231-9712-211B-F2543263D056}"/>
              </a:ext>
            </a:extLst>
          </p:cNvPr>
          <p:cNvSpPr/>
          <p:nvPr/>
        </p:nvSpPr>
        <p:spPr>
          <a:xfrm>
            <a:off x="9554464" y="4692351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q</a:t>
            </a:r>
            <a:r>
              <a:rPr kumimoji="1" lang="en-US" altLang="zh-TW" baseline="-25000" dirty="0"/>
              <a:t>3</a:t>
            </a:r>
            <a:endParaRPr kumimoji="1" lang="zh-TW" altLang="en-US" baseline="-25000" dirty="0"/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A5B26178-0D41-620D-92E0-C21F1A858AB7}"/>
              </a:ext>
            </a:extLst>
          </p:cNvPr>
          <p:cNvSpPr/>
          <p:nvPr/>
        </p:nvSpPr>
        <p:spPr>
          <a:xfrm>
            <a:off x="10130090" y="4692351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k</a:t>
            </a:r>
            <a:r>
              <a:rPr kumimoji="1" lang="en-US" altLang="zh-TW" baseline="-25000" dirty="0"/>
              <a:t>3</a:t>
            </a:r>
            <a:endParaRPr kumimoji="1" lang="zh-TW" altLang="en-US" baseline="-25000" dirty="0"/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179815C8-E81D-DC79-5550-8E3356121A36}"/>
              </a:ext>
            </a:extLst>
          </p:cNvPr>
          <p:cNvSpPr/>
          <p:nvPr/>
        </p:nvSpPr>
        <p:spPr>
          <a:xfrm>
            <a:off x="10711761" y="4688736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v</a:t>
            </a:r>
            <a:r>
              <a:rPr kumimoji="1" lang="en-US" altLang="zh-TW" baseline="-25000" dirty="0"/>
              <a:t>3</a:t>
            </a:r>
            <a:endParaRPr kumimoji="1" lang="zh-TW" altLang="en-US" baseline="-25000" dirty="0"/>
          </a:p>
        </p:txBody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ADD29C84-8D9E-E259-1D7D-EC0C2203643F}"/>
              </a:ext>
            </a:extLst>
          </p:cNvPr>
          <p:cNvSpPr/>
          <p:nvPr/>
        </p:nvSpPr>
        <p:spPr>
          <a:xfrm>
            <a:off x="7153938" y="4692351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q</a:t>
            </a:r>
            <a:r>
              <a:rPr kumimoji="1" lang="en-US" altLang="zh-TW" baseline="-25000" dirty="0"/>
              <a:t>2</a:t>
            </a:r>
            <a:endParaRPr kumimoji="1" lang="zh-TW" altLang="en-US" baseline="-25000" dirty="0"/>
          </a:p>
        </p:txBody>
      </p:sp>
      <p:sp>
        <p:nvSpPr>
          <p:cNvPr id="31" name="圓角矩形 30">
            <a:extLst>
              <a:ext uri="{FF2B5EF4-FFF2-40B4-BE49-F238E27FC236}">
                <a16:creationId xmlns:a16="http://schemas.microsoft.com/office/drawing/2014/main" id="{2CB7E018-5210-57E9-0114-3AB680FE07B3}"/>
              </a:ext>
            </a:extLst>
          </p:cNvPr>
          <p:cNvSpPr/>
          <p:nvPr/>
        </p:nvSpPr>
        <p:spPr>
          <a:xfrm>
            <a:off x="7729564" y="4692351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k</a:t>
            </a:r>
            <a:r>
              <a:rPr kumimoji="1" lang="en-US" altLang="zh-TW" baseline="-25000" dirty="0"/>
              <a:t>2</a:t>
            </a:r>
            <a:endParaRPr kumimoji="1" lang="zh-TW" altLang="en-US" baseline="-25000" dirty="0"/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AB014BF2-81E8-25AD-3BA9-D63775853E00}"/>
              </a:ext>
            </a:extLst>
          </p:cNvPr>
          <p:cNvSpPr/>
          <p:nvPr/>
        </p:nvSpPr>
        <p:spPr>
          <a:xfrm>
            <a:off x="8311235" y="4688736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v</a:t>
            </a:r>
            <a:r>
              <a:rPr kumimoji="1" lang="en-US" altLang="zh-TW" baseline="-25000" dirty="0"/>
              <a:t>2</a:t>
            </a:r>
            <a:endParaRPr kumimoji="1" lang="zh-TW" altLang="en-US" baseline="-25000" dirty="0"/>
          </a:p>
        </p:txBody>
      </p:sp>
      <p:sp>
        <p:nvSpPr>
          <p:cNvPr id="33" name="圓角矩形 32">
            <a:extLst>
              <a:ext uri="{FF2B5EF4-FFF2-40B4-BE49-F238E27FC236}">
                <a16:creationId xmlns:a16="http://schemas.microsoft.com/office/drawing/2014/main" id="{07F6C340-CAF8-D2E3-1412-CEFFB7AA4162}"/>
              </a:ext>
            </a:extLst>
          </p:cNvPr>
          <p:cNvSpPr/>
          <p:nvPr/>
        </p:nvSpPr>
        <p:spPr>
          <a:xfrm>
            <a:off x="4704315" y="4692351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q</a:t>
            </a:r>
            <a:r>
              <a:rPr kumimoji="1" lang="en-US" altLang="zh-TW" baseline="-25000" dirty="0"/>
              <a:t>1</a:t>
            </a:r>
            <a:endParaRPr kumimoji="1" lang="zh-TW" altLang="en-US" baseline="-25000" dirty="0"/>
          </a:p>
        </p:txBody>
      </p:sp>
      <p:sp>
        <p:nvSpPr>
          <p:cNvPr id="34" name="圓角矩形 33">
            <a:extLst>
              <a:ext uri="{FF2B5EF4-FFF2-40B4-BE49-F238E27FC236}">
                <a16:creationId xmlns:a16="http://schemas.microsoft.com/office/drawing/2014/main" id="{A2587DFD-21BD-CDE2-5D60-FAD3BA577A0A}"/>
              </a:ext>
            </a:extLst>
          </p:cNvPr>
          <p:cNvSpPr/>
          <p:nvPr/>
        </p:nvSpPr>
        <p:spPr>
          <a:xfrm>
            <a:off x="5279941" y="4692351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k</a:t>
            </a:r>
            <a:r>
              <a:rPr kumimoji="1" lang="en-US" altLang="zh-TW" baseline="-25000" dirty="0"/>
              <a:t>1</a:t>
            </a:r>
            <a:endParaRPr kumimoji="1" lang="zh-TW" altLang="en-US" baseline="-25000" dirty="0"/>
          </a:p>
        </p:txBody>
      </p:sp>
      <p:sp>
        <p:nvSpPr>
          <p:cNvPr id="35" name="圓角矩形 34">
            <a:extLst>
              <a:ext uri="{FF2B5EF4-FFF2-40B4-BE49-F238E27FC236}">
                <a16:creationId xmlns:a16="http://schemas.microsoft.com/office/drawing/2014/main" id="{1979137F-8769-9695-7637-80134D5BA169}"/>
              </a:ext>
            </a:extLst>
          </p:cNvPr>
          <p:cNvSpPr/>
          <p:nvPr/>
        </p:nvSpPr>
        <p:spPr>
          <a:xfrm>
            <a:off x="5861612" y="4688736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v</a:t>
            </a:r>
            <a:r>
              <a:rPr kumimoji="1" lang="en-US" altLang="zh-TW" baseline="-25000" dirty="0"/>
              <a:t>1</a:t>
            </a:r>
            <a:endParaRPr kumimoji="1" lang="zh-TW" altLang="en-US" baseline="-25000" dirty="0"/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8BD889CF-9484-0C82-70C0-6340D918B3E9}"/>
              </a:ext>
            </a:extLst>
          </p:cNvPr>
          <p:cNvSpPr/>
          <p:nvPr/>
        </p:nvSpPr>
        <p:spPr>
          <a:xfrm>
            <a:off x="7135071" y="2734171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69BDE403-6F2B-2A4A-A376-248D173FC50A}"/>
              </a:ext>
            </a:extLst>
          </p:cNvPr>
          <p:cNvSpPr/>
          <p:nvPr/>
        </p:nvSpPr>
        <p:spPr>
          <a:xfrm>
            <a:off x="7712548" y="2734171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71E6B737-A27E-9B79-CD6B-948592E1FA13}"/>
              </a:ext>
            </a:extLst>
          </p:cNvPr>
          <p:cNvSpPr/>
          <p:nvPr/>
        </p:nvSpPr>
        <p:spPr>
          <a:xfrm>
            <a:off x="8294219" y="2734171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42" name="圓角矩形 41">
            <a:extLst>
              <a:ext uri="{FF2B5EF4-FFF2-40B4-BE49-F238E27FC236}">
                <a16:creationId xmlns:a16="http://schemas.microsoft.com/office/drawing/2014/main" id="{0B71A2F6-89FA-437E-911F-6ECCE0DE0856}"/>
              </a:ext>
            </a:extLst>
          </p:cNvPr>
          <p:cNvSpPr/>
          <p:nvPr/>
        </p:nvSpPr>
        <p:spPr>
          <a:xfrm rot="16200000">
            <a:off x="5266864" y="2670685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475455F1-1A19-97DA-1A63-86C922D54717}"/>
              </a:ext>
            </a:extLst>
          </p:cNvPr>
          <p:cNvSpPr txBox="1"/>
          <p:nvPr/>
        </p:nvSpPr>
        <p:spPr>
          <a:xfrm>
            <a:off x="5338224" y="3029628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q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2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sp>
        <p:nvSpPr>
          <p:cNvPr id="46" name="圓角矩形 45">
            <a:extLst>
              <a:ext uri="{FF2B5EF4-FFF2-40B4-BE49-F238E27FC236}">
                <a16:creationId xmlns:a16="http://schemas.microsoft.com/office/drawing/2014/main" id="{86E813EF-10BA-8164-EA0E-7646D39428B3}"/>
              </a:ext>
            </a:extLst>
          </p:cNvPr>
          <p:cNvSpPr/>
          <p:nvPr/>
        </p:nvSpPr>
        <p:spPr>
          <a:xfrm rot="16200000">
            <a:off x="5265078" y="3260459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D09BE094-8006-8567-2B01-7E1A261C401B}"/>
              </a:ext>
            </a:extLst>
          </p:cNvPr>
          <p:cNvSpPr txBox="1"/>
          <p:nvPr/>
        </p:nvSpPr>
        <p:spPr>
          <a:xfrm>
            <a:off x="5336438" y="3619402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q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3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sp>
        <p:nvSpPr>
          <p:cNvPr id="49" name="圓角矩形 48">
            <a:extLst>
              <a:ext uri="{FF2B5EF4-FFF2-40B4-BE49-F238E27FC236}">
                <a16:creationId xmlns:a16="http://schemas.microsoft.com/office/drawing/2014/main" id="{5497FDF6-6E6B-CACA-AD68-09882C9FB31F}"/>
              </a:ext>
            </a:extLst>
          </p:cNvPr>
          <p:cNvSpPr/>
          <p:nvPr/>
        </p:nvSpPr>
        <p:spPr>
          <a:xfrm rot="16200000">
            <a:off x="5259842" y="2080910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34B6D927-ED3F-30DF-7A82-B1BEB8F9C1F9}"/>
              </a:ext>
            </a:extLst>
          </p:cNvPr>
          <p:cNvSpPr txBox="1"/>
          <p:nvPr/>
        </p:nvSpPr>
        <p:spPr>
          <a:xfrm>
            <a:off x="5331202" y="2439853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q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1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sp>
        <p:nvSpPr>
          <p:cNvPr id="53" name="圓角矩形 52">
            <a:extLst>
              <a:ext uri="{FF2B5EF4-FFF2-40B4-BE49-F238E27FC236}">
                <a16:creationId xmlns:a16="http://schemas.microsoft.com/office/drawing/2014/main" id="{DBE572CA-6E7D-04A6-5ED2-C9A5276AABCF}"/>
              </a:ext>
            </a:extLst>
          </p:cNvPr>
          <p:cNvSpPr/>
          <p:nvPr/>
        </p:nvSpPr>
        <p:spPr>
          <a:xfrm rot="16200000">
            <a:off x="10069103" y="2670686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B6D73BE6-9C95-6F38-F654-FBC3629F1DE7}"/>
              </a:ext>
            </a:extLst>
          </p:cNvPr>
          <p:cNvSpPr txBox="1"/>
          <p:nvPr/>
        </p:nvSpPr>
        <p:spPr>
          <a:xfrm>
            <a:off x="10140463" y="3029629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v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2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sp>
        <p:nvSpPr>
          <p:cNvPr id="55" name="圓角矩形 54">
            <a:extLst>
              <a:ext uri="{FF2B5EF4-FFF2-40B4-BE49-F238E27FC236}">
                <a16:creationId xmlns:a16="http://schemas.microsoft.com/office/drawing/2014/main" id="{3D84D303-7B5B-C0CB-60A6-6ACAC5096849}"/>
              </a:ext>
            </a:extLst>
          </p:cNvPr>
          <p:cNvSpPr/>
          <p:nvPr/>
        </p:nvSpPr>
        <p:spPr>
          <a:xfrm rot="16200000">
            <a:off x="10067317" y="3260460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FD09C80F-9497-4E1F-EF28-F577821AE9AA}"/>
              </a:ext>
            </a:extLst>
          </p:cNvPr>
          <p:cNvSpPr txBox="1"/>
          <p:nvPr/>
        </p:nvSpPr>
        <p:spPr>
          <a:xfrm>
            <a:off x="10138677" y="3619403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v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3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sp>
        <p:nvSpPr>
          <p:cNvPr id="57" name="圓角矩形 56">
            <a:extLst>
              <a:ext uri="{FF2B5EF4-FFF2-40B4-BE49-F238E27FC236}">
                <a16:creationId xmlns:a16="http://schemas.microsoft.com/office/drawing/2014/main" id="{76BA6002-F22B-2534-E7EB-97C846B2E2BE}"/>
              </a:ext>
            </a:extLst>
          </p:cNvPr>
          <p:cNvSpPr/>
          <p:nvPr/>
        </p:nvSpPr>
        <p:spPr>
          <a:xfrm rot="16200000">
            <a:off x="10062081" y="2080911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BDAD992D-C285-0814-141D-78D30180B5F4}"/>
              </a:ext>
            </a:extLst>
          </p:cNvPr>
          <p:cNvSpPr txBox="1"/>
          <p:nvPr/>
        </p:nvSpPr>
        <p:spPr>
          <a:xfrm>
            <a:off x="10133441" y="2439854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v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1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pic>
        <p:nvPicPr>
          <p:cNvPr id="59" name="圖片 58">
            <a:extLst>
              <a:ext uri="{FF2B5EF4-FFF2-40B4-BE49-F238E27FC236}">
                <a16:creationId xmlns:a16="http://schemas.microsoft.com/office/drawing/2014/main" id="{6A02C634-C3E5-CA5F-30E9-2F145997B9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832" y="5725369"/>
            <a:ext cx="2972804" cy="543179"/>
          </a:xfrm>
          <a:prstGeom prst="rect">
            <a:avLst/>
          </a:prstGeom>
        </p:spPr>
      </p:pic>
      <p:sp>
        <p:nvSpPr>
          <p:cNvPr id="61" name="文字方塊 60">
            <a:extLst>
              <a:ext uri="{FF2B5EF4-FFF2-40B4-BE49-F238E27FC236}">
                <a16:creationId xmlns:a16="http://schemas.microsoft.com/office/drawing/2014/main" id="{C520CD93-873C-463D-AF8C-A1DDD87CCA79}"/>
              </a:ext>
            </a:extLst>
          </p:cNvPr>
          <p:cNvSpPr txBox="1"/>
          <p:nvPr/>
        </p:nvSpPr>
        <p:spPr>
          <a:xfrm>
            <a:off x="5069918" y="1504369"/>
            <a:ext cx="5567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自注意力機制可以利用矩陣乘積來進行平行化計算</a:t>
            </a:r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C9D9FE6-4146-C56B-E668-E84FB1F3BDE9}"/>
              </a:ext>
            </a:extLst>
          </p:cNvPr>
          <p:cNvSpPr/>
          <p:nvPr/>
        </p:nvSpPr>
        <p:spPr>
          <a:xfrm>
            <a:off x="4704315" y="1912366"/>
            <a:ext cx="6362773" cy="252517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3ADCB5F9-BA0B-0BF2-5398-5CFFBFF82156}"/>
                  </a:ext>
                </a:extLst>
              </p:cNvPr>
              <p:cNvSpPr txBox="1"/>
              <p:nvPr/>
            </p:nvSpPr>
            <p:spPr>
              <a:xfrm>
                <a:off x="5170106" y="1897689"/>
                <a:ext cx="68690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3ADCB5F9-BA0B-0BF2-5398-5CFFBFF82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06" y="1897689"/>
                <a:ext cx="686909" cy="461665"/>
              </a:xfrm>
              <a:prstGeom prst="rect">
                <a:avLst/>
              </a:prstGeom>
              <a:blipFill>
                <a:blip r:embed="rId5"/>
                <a:stretch>
                  <a:fillRect b="-135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4338EB73-7A7A-1E1C-F380-BE0988980C28}"/>
                  </a:ext>
                </a:extLst>
              </p:cNvPr>
              <p:cNvSpPr txBox="1"/>
              <p:nvPr/>
            </p:nvSpPr>
            <p:spPr>
              <a:xfrm>
                <a:off x="7639828" y="1897689"/>
                <a:ext cx="68690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400" b="0" i="1" baseline="3000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TW" altLang="en-US" sz="2400" baseline="30000" dirty="0"/>
              </a:p>
            </p:txBody>
          </p:sp>
        </mc:Choice>
        <mc:Fallback xmlns="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4338EB73-7A7A-1E1C-F380-BE0988980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828" y="1897689"/>
                <a:ext cx="686909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69649E02-9C83-7F4F-C360-3872FF98D2F6}"/>
                  </a:ext>
                </a:extLst>
              </p:cNvPr>
              <p:cNvSpPr txBox="1"/>
              <p:nvPr/>
            </p:nvSpPr>
            <p:spPr>
              <a:xfrm>
                <a:off x="9994521" y="1894352"/>
                <a:ext cx="68690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69649E02-9C83-7F4F-C360-3872FF98D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4521" y="1894352"/>
                <a:ext cx="686909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6A23F0C9-C20A-2C50-004E-F213D1CB681A}"/>
              </a:ext>
            </a:extLst>
          </p:cNvPr>
          <p:cNvSpPr txBox="1"/>
          <p:nvPr/>
        </p:nvSpPr>
        <p:spPr>
          <a:xfrm>
            <a:off x="9981159" y="4068205"/>
            <a:ext cx="8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d</a:t>
            </a:r>
            <a:r>
              <a:rPr kumimoji="1" lang="en-US" altLang="zh-TW" baseline="-25000" dirty="0"/>
              <a:t>k</a:t>
            </a:r>
            <a:endParaRPr kumimoji="1" lang="zh-TW" altLang="en-US" baseline="-250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6DFDC0E-0195-B0B8-3023-708C64EC10D0}"/>
              </a:ext>
            </a:extLst>
          </p:cNvPr>
          <p:cNvSpPr txBox="1"/>
          <p:nvPr/>
        </p:nvSpPr>
        <p:spPr>
          <a:xfrm>
            <a:off x="5143043" y="4074554"/>
            <a:ext cx="8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d</a:t>
            </a:r>
            <a:r>
              <a:rPr kumimoji="1" lang="en-US" altLang="zh-TW" baseline="-25000" dirty="0"/>
              <a:t>k</a:t>
            </a:r>
            <a:endParaRPr kumimoji="1" lang="zh-TW" altLang="en-US" baseline="-250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C51F3D3-FCD0-B930-B86E-B1048D8098B7}"/>
              </a:ext>
            </a:extLst>
          </p:cNvPr>
          <p:cNvSpPr txBox="1"/>
          <p:nvPr/>
        </p:nvSpPr>
        <p:spPr>
          <a:xfrm>
            <a:off x="7625979" y="4070697"/>
            <a:ext cx="8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d</a:t>
            </a:r>
            <a:r>
              <a:rPr kumimoji="1" lang="en-US" altLang="zh-TW" baseline="-25000" dirty="0"/>
              <a:t>k </a:t>
            </a:r>
            <a:r>
              <a:rPr kumimoji="1" lang="en-US" altLang="zh-TW" dirty="0"/>
              <a:t>x N</a:t>
            </a:r>
            <a:endParaRPr kumimoji="1" lang="zh-TW" altLang="en-US" baseline="-250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87E2A89-6805-53F1-922F-5A0A7785DDBF}"/>
              </a:ext>
            </a:extLst>
          </p:cNvPr>
          <p:cNvSpPr txBox="1"/>
          <p:nvPr/>
        </p:nvSpPr>
        <p:spPr>
          <a:xfrm>
            <a:off x="806832" y="1389504"/>
            <a:ext cx="1398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q</a:t>
            </a:r>
            <a:r>
              <a:rPr kumimoji="1" lang="en-US" altLang="zh-TW" baseline="-25000" dirty="0"/>
              <a:t>  </a:t>
            </a:r>
            <a:r>
              <a:rPr kumimoji="1" lang="en-US" altLang="zh-TW" dirty="0"/>
              <a:t>= d</a:t>
            </a:r>
            <a:r>
              <a:rPr kumimoji="1" lang="en-US" altLang="zh-TW" baseline="-25000" dirty="0"/>
              <a:t>k</a:t>
            </a:r>
            <a:r>
              <a:rPr kumimoji="1" lang="en-US" altLang="zh-TW" dirty="0"/>
              <a:t> = d</a:t>
            </a:r>
            <a:r>
              <a:rPr kumimoji="1" lang="en-US" altLang="zh-TW" baseline="-25000" dirty="0"/>
              <a:t>v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9821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  <p:bldP spid="42" grpId="0" animBg="1"/>
      <p:bldP spid="45" grpId="0"/>
      <p:bldP spid="46" grpId="0" animBg="1"/>
      <p:bldP spid="47" grpId="0"/>
      <p:bldP spid="49" grpId="0" animBg="1"/>
      <p:bldP spid="50" grpId="0"/>
      <p:bldP spid="53" grpId="0" animBg="1"/>
      <p:bldP spid="54" grpId="0"/>
      <p:bldP spid="55" grpId="0" animBg="1"/>
      <p:bldP spid="56" grpId="0"/>
      <p:bldP spid="57" grpId="0" animBg="1"/>
      <p:bldP spid="58" grpId="0"/>
      <p:bldP spid="61" grpId="0"/>
      <p:bldP spid="62" grpId="0" animBg="1"/>
      <p:bldP spid="64" grpId="0"/>
      <p:bldP spid="65" grpId="0"/>
      <p:bldP spid="66" grpId="0"/>
      <p:bldP spid="3" grpId="0"/>
      <p:bldP spid="7" grpId="0"/>
      <p:bldP spid="8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E6A68A-301E-B63D-162A-5B3335DF4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Transformers </a:t>
            </a:r>
            <a:r>
              <a:rPr kumimoji="1" lang="zh-TW" altLang="en-US" dirty="0">
                <a:ea typeface="Microsoft JhengHei" panose="020B0604030504040204" pitchFamily="34" charset="-120"/>
              </a:rPr>
              <a:t>的權重值</a:t>
            </a:r>
            <a:r>
              <a:rPr kumimoji="1" lang="en-US" altLang="zh-TW" dirty="0">
                <a:ea typeface="Microsoft JhengHei" panose="020B0604030504040204" pitchFamily="34" charset="-120"/>
              </a:rPr>
              <a:t> (1/2)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9AF7FA8-74D3-90D4-E217-2B573E676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938BF0D-40C4-8AE8-DA83-56C66988DDE3}"/>
              </a:ext>
            </a:extLst>
          </p:cNvPr>
          <p:cNvSpPr txBox="1"/>
          <p:nvPr/>
        </p:nvSpPr>
        <p:spPr>
          <a:xfrm flipH="1">
            <a:off x="3294318" y="6380722"/>
            <a:ext cx="307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A71FF92-2DD4-2188-4923-BA97A6F2420C}"/>
              </a:ext>
            </a:extLst>
          </p:cNvPr>
          <p:cNvSpPr txBox="1"/>
          <p:nvPr/>
        </p:nvSpPr>
        <p:spPr>
          <a:xfrm>
            <a:off x="5751426" y="6370226"/>
            <a:ext cx="870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dirty="0"/>
              <a:t>printed</a:t>
            </a:r>
            <a:endParaRPr kumimoji="1"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98D692E-18CA-45DC-0ADE-751EC2AF257B}"/>
              </a:ext>
            </a:extLst>
          </p:cNvPr>
          <p:cNvSpPr txBox="1"/>
          <p:nvPr/>
        </p:nvSpPr>
        <p:spPr>
          <a:xfrm>
            <a:off x="8683120" y="6358810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dirty="0"/>
              <a:t>Hello</a:t>
            </a:r>
            <a:endParaRPr kumimoji="1" lang="zh-TW" altLang="en-US" dirty="0"/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473031F7-19CE-0B6C-0A73-1EDD56C383BE}"/>
              </a:ext>
            </a:extLst>
          </p:cNvPr>
          <p:cNvSpPr/>
          <p:nvPr/>
        </p:nvSpPr>
        <p:spPr>
          <a:xfrm>
            <a:off x="8175681" y="5018277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1FC4D4EB-5E06-0111-4343-8171CF9623B9}"/>
              </a:ext>
            </a:extLst>
          </p:cNvPr>
          <p:cNvSpPr/>
          <p:nvPr/>
        </p:nvSpPr>
        <p:spPr>
          <a:xfrm>
            <a:off x="8751307" y="5018277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611F69F7-65E0-4490-C5C6-5778B7BF6D8D}"/>
              </a:ext>
            </a:extLst>
          </p:cNvPr>
          <p:cNvSpPr/>
          <p:nvPr/>
        </p:nvSpPr>
        <p:spPr>
          <a:xfrm>
            <a:off x="9332978" y="5014662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E9A81773-6398-0FD8-CFD4-FD0C35E6F8EE}"/>
              </a:ext>
            </a:extLst>
          </p:cNvPr>
          <p:cNvSpPr/>
          <p:nvPr/>
        </p:nvSpPr>
        <p:spPr>
          <a:xfrm>
            <a:off x="5380297" y="5018277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4756521D-145C-8D15-AB0F-07969BA0CEFC}"/>
              </a:ext>
            </a:extLst>
          </p:cNvPr>
          <p:cNvSpPr/>
          <p:nvPr/>
        </p:nvSpPr>
        <p:spPr>
          <a:xfrm>
            <a:off x="5955923" y="5018277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AFE491CB-F796-F616-11B0-221FD736E911}"/>
              </a:ext>
            </a:extLst>
          </p:cNvPr>
          <p:cNvSpPr/>
          <p:nvPr/>
        </p:nvSpPr>
        <p:spPr>
          <a:xfrm>
            <a:off x="6537594" y="5014662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4F638086-0B95-9BE7-E2C1-7CC74B40F307}"/>
              </a:ext>
            </a:extLst>
          </p:cNvPr>
          <p:cNvSpPr/>
          <p:nvPr/>
        </p:nvSpPr>
        <p:spPr>
          <a:xfrm>
            <a:off x="2618944" y="5018277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32D7B499-4C3E-2874-182E-6417E0B5D7EE}"/>
              </a:ext>
            </a:extLst>
          </p:cNvPr>
          <p:cNvSpPr/>
          <p:nvPr/>
        </p:nvSpPr>
        <p:spPr>
          <a:xfrm>
            <a:off x="3194570" y="5018277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024C8A30-DC99-4DAB-5978-2BB988269EAA}"/>
              </a:ext>
            </a:extLst>
          </p:cNvPr>
          <p:cNvSpPr/>
          <p:nvPr/>
        </p:nvSpPr>
        <p:spPr>
          <a:xfrm>
            <a:off x="3776241" y="5014662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A4B00D99-E63E-51F8-8E80-DAC3303E99E0}"/>
              </a:ext>
            </a:extLst>
          </p:cNvPr>
          <p:cNvSpPr/>
          <p:nvPr/>
        </p:nvSpPr>
        <p:spPr>
          <a:xfrm rot="16200000">
            <a:off x="1023025" y="2516499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0B2790E8-356B-E31F-C1D2-BDF92C1401A3}"/>
              </a:ext>
            </a:extLst>
          </p:cNvPr>
          <p:cNvSpPr txBox="1"/>
          <p:nvPr/>
        </p:nvSpPr>
        <p:spPr>
          <a:xfrm>
            <a:off x="1094385" y="2875442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2</a:t>
            </a:r>
            <a:endParaRPr kumimoji="1" lang="zh-TW" altLang="en-US" sz="1800" baseline="-25000" dirty="0"/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4C40CFEC-7F97-D4C5-B2BF-D29C8371C62D}"/>
              </a:ext>
            </a:extLst>
          </p:cNvPr>
          <p:cNvSpPr/>
          <p:nvPr/>
        </p:nvSpPr>
        <p:spPr>
          <a:xfrm rot="16200000">
            <a:off x="1021239" y="3106273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0E524CB2-73CC-21F9-B3B5-BEEF2C249011}"/>
              </a:ext>
            </a:extLst>
          </p:cNvPr>
          <p:cNvSpPr txBox="1"/>
          <p:nvPr/>
        </p:nvSpPr>
        <p:spPr>
          <a:xfrm>
            <a:off x="1092599" y="3465216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3</a:t>
            </a:r>
            <a:endParaRPr kumimoji="1" lang="zh-TW" altLang="en-US" sz="1800" baseline="-25000" dirty="0"/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8EAAB3D0-CD13-31DA-3835-DC7199C9D374}"/>
              </a:ext>
            </a:extLst>
          </p:cNvPr>
          <p:cNvSpPr/>
          <p:nvPr/>
        </p:nvSpPr>
        <p:spPr>
          <a:xfrm rot="16200000">
            <a:off x="1016003" y="1926724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68FB1D95-DE5F-3026-238D-0B20A60B05F8}"/>
              </a:ext>
            </a:extLst>
          </p:cNvPr>
          <p:cNvSpPr txBox="1"/>
          <p:nvPr/>
        </p:nvSpPr>
        <p:spPr>
          <a:xfrm>
            <a:off x="1087363" y="2285667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1</a:t>
            </a:r>
            <a:endParaRPr kumimoji="1" lang="zh-TW" altLang="en-US" sz="1800" baseline="-250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BB002EE1-BED1-51AD-9687-997241B7A987}"/>
              </a:ext>
            </a:extLst>
          </p:cNvPr>
          <p:cNvSpPr txBox="1"/>
          <p:nvPr/>
        </p:nvSpPr>
        <p:spPr>
          <a:xfrm>
            <a:off x="744356" y="3937219"/>
            <a:ext cx="115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</a:t>
            </a:r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endParaRPr kumimoji="1" lang="zh-TW" altLang="en-US" baseline="-25000" dirty="0"/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BA39ED8B-77EF-49D8-DE0B-9FAF0F1AE540}"/>
              </a:ext>
            </a:extLst>
          </p:cNvPr>
          <p:cNvSpPr/>
          <p:nvPr/>
        </p:nvSpPr>
        <p:spPr>
          <a:xfrm rot="16200000">
            <a:off x="8945632" y="2493095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529D977C-7DE0-FF3E-EB00-04982A3BF2E8}"/>
              </a:ext>
            </a:extLst>
          </p:cNvPr>
          <p:cNvSpPr txBox="1"/>
          <p:nvPr/>
        </p:nvSpPr>
        <p:spPr>
          <a:xfrm>
            <a:off x="9016992" y="2852038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e</a:t>
            </a:r>
            <a:r>
              <a:rPr kumimoji="1" lang="en-US" altLang="zh-TW" sz="1800" baseline="-25000" dirty="0"/>
              <a:t>2</a:t>
            </a:r>
            <a:endParaRPr kumimoji="1" lang="zh-TW" altLang="en-US" sz="1800" baseline="-25000" dirty="0"/>
          </a:p>
        </p:txBody>
      </p:sp>
      <p:sp>
        <p:nvSpPr>
          <p:cNvPr id="34" name="圓角矩形 33">
            <a:extLst>
              <a:ext uri="{FF2B5EF4-FFF2-40B4-BE49-F238E27FC236}">
                <a16:creationId xmlns:a16="http://schemas.microsoft.com/office/drawing/2014/main" id="{DA8CBA8B-7F66-2F2B-C7C8-9716AB1CBF22}"/>
              </a:ext>
            </a:extLst>
          </p:cNvPr>
          <p:cNvSpPr/>
          <p:nvPr/>
        </p:nvSpPr>
        <p:spPr>
          <a:xfrm rot="16200000">
            <a:off x="8943846" y="3082869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C1FBA7A4-A711-C6F6-1FA2-EDD2E590B2D5}"/>
              </a:ext>
            </a:extLst>
          </p:cNvPr>
          <p:cNvSpPr txBox="1"/>
          <p:nvPr/>
        </p:nvSpPr>
        <p:spPr>
          <a:xfrm>
            <a:off x="9015206" y="3441812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3</a:t>
            </a:r>
            <a:endParaRPr kumimoji="1" lang="zh-TW" altLang="en-US" sz="1800" baseline="-25000" dirty="0"/>
          </a:p>
        </p:txBody>
      </p:sp>
      <p:sp>
        <p:nvSpPr>
          <p:cNvPr id="36" name="圓角矩形 35">
            <a:extLst>
              <a:ext uri="{FF2B5EF4-FFF2-40B4-BE49-F238E27FC236}">
                <a16:creationId xmlns:a16="http://schemas.microsoft.com/office/drawing/2014/main" id="{5D93D995-CA86-B16E-D5DD-495D8E9D2688}"/>
              </a:ext>
            </a:extLst>
          </p:cNvPr>
          <p:cNvSpPr/>
          <p:nvPr/>
        </p:nvSpPr>
        <p:spPr>
          <a:xfrm rot="16200000">
            <a:off x="8938610" y="1903320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F94F8A34-11C1-C5F0-5E5F-0BD107D8AFAC}"/>
              </a:ext>
            </a:extLst>
          </p:cNvPr>
          <p:cNvSpPr txBox="1"/>
          <p:nvPr/>
        </p:nvSpPr>
        <p:spPr>
          <a:xfrm>
            <a:off x="9009970" y="2262263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1</a:t>
            </a:r>
            <a:endParaRPr kumimoji="1" lang="zh-TW" altLang="en-US" sz="1800" baseline="-25000" dirty="0"/>
          </a:p>
        </p:txBody>
      </p:sp>
      <p:pic>
        <p:nvPicPr>
          <p:cNvPr id="38" name="圖片 37">
            <a:extLst>
              <a:ext uri="{FF2B5EF4-FFF2-40B4-BE49-F238E27FC236}">
                <a16:creationId xmlns:a16="http://schemas.microsoft.com/office/drawing/2014/main" id="{DD28048C-E9C3-2AEE-E956-6F6A334CA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6645" y="764395"/>
            <a:ext cx="2972804" cy="543179"/>
          </a:xfrm>
          <a:prstGeom prst="rect">
            <a:avLst/>
          </a:prstGeom>
        </p:spPr>
      </p:pic>
      <p:sp>
        <p:nvSpPr>
          <p:cNvPr id="46" name="圓角矩形 45">
            <a:extLst>
              <a:ext uri="{FF2B5EF4-FFF2-40B4-BE49-F238E27FC236}">
                <a16:creationId xmlns:a16="http://schemas.microsoft.com/office/drawing/2014/main" id="{B025E6CD-3BD7-AA5E-7E5C-87E608ABC292}"/>
              </a:ext>
            </a:extLst>
          </p:cNvPr>
          <p:cNvSpPr/>
          <p:nvPr/>
        </p:nvSpPr>
        <p:spPr>
          <a:xfrm rot="16200000">
            <a:off x="1905552" y="2210291"/>
            <a:ext cx="1732052" cy="1721804"/>
          </a:xfrm>
          <a:prstGeom prst="round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AB4D5B1F-BB78-9B23-FB73-452C2273ECF0}"/>
              </a:ext>
            </a:extLst>
          </p:cNvPr>
          <p:cNvSpPr txBox="1"/>
          <p:nvPr/>
        </p:nvSpPr>
        <p:spPr>
          <a:xfrm>
            <a:off x="2142647" y="3937219"/>
            <a:ext cx="1256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r>
              <a:rPr kumimoji="1" lang="en-US" altLang="zh-TW" dirty="0"/>
              <a:t> x d</a:t>
            </a:r>
            <a:r>
              <a:rPr kumimoji="1" lang="en-US" altLang="zh-TW" baseline="-25000" dirty="0"/>
              <a:t>k</a:t>
            </a:r>
            <a:endParaRPr kumimoji="1" lang="zh-TW" altLang="en-US" baseline="-25000" dirty="0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6C1DA17E-5B4C-917A-45A6-842F460AFF80}"/>
              </a:ext>
            </a:extLst>
          </p:cNvPr>
          <p:cNvSpPr txBox="1"/>
          <p:nvPr/>
        </p:nvSpPr>
        <p:spPr>
          <a:xfrm>
            <a:off x="2447913" y="2866312"/>
            <a:ext cx="671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chemeClr val="bg1"/>
                </a:solidFill>
              </a:rPr>
              <a:t>W</a:t>
            </a:r>
            <a:r>
              <a:rPr kumimoji="1" lang="en-US" altLang="zh-TW" sz="2400" baseline="30000" dirty="0">
                <a:solidFill>
                  <a:schemeClr val="bg1"/>
                </a:solidFill>
              </a:rPr>
              <a:t>Q</a:t>
            </a:r>
            <a:endParaRPr kumimoji="1" lang="zh-TW" altLang="en-US" sz="2400" baseline="-25000" dirty="0">
              <a:solidFill>
                <a:schemeClr val="bg1"/>
              </a:solidFill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A044B2FF-92A0-C400-6A7A-C12E669DA6D0}"/>
              </a:ext>
            </a:extLst>
          </p:cNvPr>
          <p:cNvSpPr txBox="1"/>
          <p:nvPr/>
        </p:nvSpPr>
        <p:spPr>
          <a:xfrm>
            <a:off x="6069050" y="3937219"/>
            <a:ext cx="1305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r>
              <a:rPr kumimoji="1" lang="en-US" altLang="zh-TW" dirty="0"/>
              <a:t> x d</a:t>
            </a:r>
            <a:r>
              <a:rPr kumimoji="1" lang="en-US" altLang="zh-TW" baseline="-25000" dirty="0"/>
              <a:t>k</a:t>
            </a:r>
            <a:endParaRPr kumimoji="1" lang="zh-TW" altLang="en-US" baseline="-25000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F2929EA0-4FE9-E667-1E2D-D666ECE0919E}"/>
              </a:ext>
            </a:extLst>
          </p:cNvPr>
          <p:cNvSpPr txBox="1"/>
          <p:nvPr/>
        </p:nvSpPr>
        <p:spPr>
          <a:xfrm>
            <a:off x="4670759" y="3937219"/>
            <a:ext cx="115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</a:t>
            </a:r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endParaRPr kumimoji="1" lang="zh-TW" altLang="en-US" baseline="-25000" dirty="0"/>
          </a:p>
        </p:txBody>
      </p:sp>
      <p:sp>
        <p:nvSpPr>
          <p:cNvPr id="53" name="圓角矩形 52">
            <a:extLst>
              <a:ext uri="{FF2B5EF4-FFF2-40B4-BE49-F238E27FC236}">
                <a16:creationId xmlns:a16="http://schemas.microsoft.com/office/drawing/2014/main" id="{2AB4D049-063C-DCB9-36E0-55CD1463C524}"/>
              </a:ext>
            </a:extLst>
          </p:cNvPr>
          <p:cNvSpPr/>
          <p:nvPr/>
        </p:nvSpPr>
        <p:spPr>
          <a:xfrm rot="16200000">
            <a:off x="4948574" y="2512692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E33F03E8-FC3B-1D67-892A-56E27AF2768B}"/>
              </a:ext>
            </a:extLst>
          </p:cNvPr>
          <p:cNvSpPr txBox="1"/>
          <p:nvPr/>
        </p:nvSpPr>
        <p:spPr>
          <a:xfrm>
            <a:off x="5019934" y="2871635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2</a:t>
            </a:r>
            <a:endParaRPr kumimoji="1" lang="zh-TW" altLang="en-US" sz="1800" baseline="-25000" dirty="0"/>
          </a:p>
        </p:txBody>
      </p:sp>
      <p:sp>
        <p:nvSpPr>
          <p:cNvPr id="55" name="圓角矩形 54">
            <a:extLst>
              <a:ext uri="{FF2B5EF4-FFF2-40B4-BE49-F238E27FC236}">
                <a16:creationId xmlns:a16="http://schemas.microsoft.com/office/drawing/2014/main" id="{699435B4-693F-948F-A463-A0BDDB495A6A}"/>
              </a:ext>
            </a:extLst>
          </p:cNvPr>
          <p:cNvSpPr/>
          <p:nvPr/>
        </p:nvSpPr>
        <p:spPr>
          <a:xfrm rot="16200000">
            <a:off x="4946788" y="3102466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6DD67790-73F3-EB03-8995-410285E8DFB0}"/>
              </a:ext>
            </a:extLst>
          </p:cNvPr>
          <p:cNvSpPr txBox="1"/>
          <p:nvPr/>
        </p:nvSpPr>
        <p:spPr>
          <a:xfrm>
            <a:off x="5018148" y="3461409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3</a:t>
            </a:r>
            <a:endParaRPr kumimoji="1" lang="zh-TW" altLang="en-US" sz="1800" baseline="-25000" dirty="0"/>
          </a:p>
        </p:txBody>
      </p:sp>
      <p:sp>
        <p:nvSpPr>
          <p:cNvPr id="57" name="圓角矩形 56">
            <a:extLst>
              <a:ext uri="{FF2B5EF4-FFF2-40B4-BE49-F238E27FC236}">
                <a16:creationId xmlns:a16="http://schemas.microsoft.com/office/drawing/2014/main" id="{CAC3D342-125F-5370-D0D8-7247DE6439E8}"/>
              </a:ext>
            </a:extLst>
          </p:cNvPr>
          <p:cNvSpPr/>
          <p:nvPr/>
        </p:nvSpPr>
        <p:spPr>
          <a:xfrm rot="16200000">
            <a:off x="4941552" y="1922917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720B2D1D-225A-0B29-9AB5-54C276FAF02A}"/>
              </a:ext>
            </a:extLst>
          </p:cNvPr>
          <p:cNvSpPr txBox="1"/>
          <p:nvPr/>
        </p:nvSpPr>
        <p:spPr>
          <a:xfrm>
            <a:off x="5012912" y="2281860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1</a:t>
            </a:r>
            <a:endParaRPr kumimoji="1" lang="zh-TW" altLang="en-US" sz="1800" baseline="-25000" dirty="0"/>
          </a:p>
        </p:txBody>
      </p:sp>
      <p:sp>
        <p:nvSpPr>
          <p:cNvPr id="60" name="圓角矩形 59">
            <a:extLst>
              <a:ext uri="{FF2B5EF4-FFF2-40B4-BE49-F238E27FC236}">
                <a16:creationId xmlns:a16="http://schemas.microsoft.com/office/drawing/2014/main" id="{733D17FB-6D3A-89DD-07AB-D1203B0DCE53}"/>
              </a:ext>
            </a:extLst>
          </p:cNvPr>
          <p:cNvSpPr/>
          <p:nvPr/>
        </p:nvSpPr>
        <p:spPr>
          <a:xfrm rot="16200000">
            <a:off x="5831101" y="2206484"/>
            <a:ext cx="1732052" cy="1721804"/>
          </a:xfrm>
          <a:prstGeom prst="round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14DA6F2C-49DB-DE80-404D-39260F2F86C2}"/>
              </a:ext>
            </a:extLst>
          </p:cNvPr>
          <p:cNvSpPr txBox="1"/>
          <p:nvPr/>
        </p:nvSpPr>
        <p:spPr>
          <a:xfrm>
            <a:off x="6373462" y="2862505"/>
            <a:ext cx="671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chemeClr val="bg1"/>
                </a:solidFill>
              </a:rPr>
              <a:t>W</a:t>
            </a:r>
            <a:r>
              <a:rPr kumimoji="1" lang="en-US" altLang="zh-TW" sz="2400" baseline="30000" dirty="0">
                <a:solidFill>
                  <a:schemeClr val="bg1"/>
                </a:solidFill>
              </a:rPr>
              <a:t>K</a:t>
            </a:r>
            <a:endParaRPr kumimoji="1" lang="zh-TW" altLang="en-US" sz="2400" baseline="-25000" dirty="0">
              <a:solidFill>
                <a:schemeClr val="bg1"/>
              </a:solidFill>
            </a:endParaRPr>
          </a:p>
        </p:txBody>
      </p:sp>
      <p:sp>
        <p:nvSpPr>
          <p:cNvPr id="63" name="圓角矩形 62">
            <a:extLst>
              <a:ext uri="{FF2B5EF4-FFF2-40B4-BE49-F238E27FC236}">
                <a16:creationId xmlns:a16="http://schemas.microsoft.com/office/drawing/2014/main" id="{0CD71591-DAC3-C8CA-B896-544CCC0141FB}"/>
              </a:ext>
            </a:extLst>
          </p:cNvPr>
          <p:cNvSpPr/>
          <p:nvPr/>
        </p:nvSpPr>
        <p:spPr>
          <a:xfrm rot="16200000">
            <a:off x="9811233" y="2182507"/>
            <a:ext cx="1732052" cy="1721804"/>
          </a:xfrm>
          <a:prstGeom prst="roundRect">
            <a:avLst/>
          </a:prstGeom>
          <a:ln w="19050"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FDB5CA85-2498-28A0-CB4C-961B784CFFA7}"/>
              </a:ext>
            </a:extLst>
          </p:cNvPr>
          <p:cNvSpPr txBox="1"/>
          <p:nvPr/>
        </p:nvSpPr>
        <p:spPr>
          <a:xfrm>
            <a:off x="10353594" y="2838528"/>
            <a:ext cx="671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chemeClr val="bg1"/>
                </a:solidFill>
              </a:rPr>
              <a:t>W</a:t>
            </a:r>
            <a:r>
              <a:rPr kumimoji="1" lang="en-US" altLang="zh-TW" sz="2400" baseline="30000" dirty="0">
                <a:solidFill>
                  <a:schemeClr val="bg1"/>
                </a:solidFill>
              </a:rPr>
              <a:t>V</a:t>
            </a:r>
            <a:endParaRPr kumimoji="1" lang="zh-TW" altLang="en-US" sz="2400" baseline="-25000" dirty="0">
              <a:solidFill>
                <a:schemeClr val="bg1"/>
              </a:solidFill>
            </a:endParaRP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17EAF1D3-C74C-B3BC-F58E-91B383B7C5BD}"/>
              </a:ext>
            </a:extLst>
          </p:cNvPr>
          <p:cNvSpPr txBox="1"/>
          <p:nvPr/>
        </p:nvSpPr>
        <p:spPr>
          <a:xfrm>
            <a:off x="3998498" y="1788431"/>
            <a:ext cx="42043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3800" dirty="0"/>
              <a:t>(</a:t>
            </a:r>
            <a:endParaRPr kumimoji="1" lang="zh-TW" altLang="en-US" sz="13800" dirty="0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80E0D3FB-9B92-1E45-E773-FDEDBEBF618C}"/>
              </a:ext>
            </a:extLst>
          </p:cNvPr>
          <p:cNvSpPr txBox="1"/>
          <p:nvPr/>
        </p:nvSpPr>
        <p:spPr>
          <a:xfrm>
            <a:off x="7383698" y="1788430"/>
            <a:ext cx="42043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3800" dirty="0"/>
              <a:t>)</a:t>
            </a:r>
            <a:endParaRPr kumimoji="1" lang="zh-TW" altLang="en-US" sz="13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BCDE0234-544F-C827-3B52-AB9EE84C0BEF}"/>
                  </a:ext>
                </a:extLst>
              </p:cNvPr>
              <p:cNvSpPr txBox="1"/>
              <p:nvPr/>
            </p:nvSpPr>
            <p:spPr>
              <a:xfrm>
                <a:off x="7607879" y="2118826"/>
                <a:ext cx="686909" cy="513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TW" altLang="en-US" sz="2800" baseline="30000" dirty="0"/>
              </a:p>
            </p:txBody>
          </p:sp>
        </mc:Choice>
        <mc:Fallback xmlns="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BCDE0234-544F-C827-3B52-AB9EE84C0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7879" y="2118826"/>
                <a:ext cx="686909" cy="5132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文字方塊 68">
            <a:extLst>
              <a:ext uri="{FF2B5EF4-FFF2-40B4-BE49-F238E27FC236}">
                <a16:creationId xmlns:a16="http://schemas.microsoft.com/office/drawing/2014/main" id="{477173E1-8D52-B8B2-85DB-C383766057D1}"/>
              </a:ext>
            </a:extLst>
          </p:cNvPr>
          <p:cNvSpPr txBox="1"/>
          <p:nvPr/>
        </p:nvSpPr>
        <p:spPr>
          <a:xfrm>
            <a:off x="9484492" y="1508781"/>
            <a:ext cx="13110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V: N x d</a:t>
            </a:r>
            <a:r>
              <a:rPr kumimoji="1" lang="en-US" altLang="zh-TW" sz="2000" baseline="-25000" dirty="0"/>
              <a:t>k</a:t>
            </a:r>
            <a:endParaRPr kumimoji="1" lang="zh-TW" altLang="en-US" sz="2000" baseline="-25000" dirty="0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D5691509-CB79-A458-424D-4F6FCE6B7F61}"/>
              </a:ext>
            </a:extLst>
          </p:cNvPr>
          <p:cNvSpPr txBox="1"/>
          <p:nvPr/>
        </p:nvSpPr>
        <p:spPr>
          <a:xfrm>
            <a:off x="1499610" y="1509459"/>
            <a:ext cx="1203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Q: N x d</a:t>
            </a:r>
            <a:r>
              <a:rPr kumimoji="1" lang="en-US" altLang="zh-TW" sz="2000" baseline="-25000" dirty="0"/>
              <a:t>k</a:t>
            </a:r>
            <a:endParaRPr kumimoji="1" lang="zh-TW" altLang="en-US" sz="2000" baseline="-25000" dirty="0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0CD38873-9614-04BC-8841-4997C4942A56}"/>
              </a:ext>
            </a:extLst>
          </p:cNvPr>
          <p:cNvSpPr txBox="1"/>
          <p:nvPr/>
        </p:nvSpPr>
        <p:spPr>
          <a:xfrm>
            <a:off x="5552041" y="1507282"/>
            <a:ext cx="1203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K: N x d</a:t>
            </a:r>
            <a:r>
              <a:rPr kumimoji="1" lang="en-US" altLang="zh-TW" sz="2000" baseline="-25000" dirty="0"/>
              <a:t>k</a:t>
            </a:r>
            <a:endParaRPr kumimoji="1" lang="zh-TW" altLang="en-US" sz="2000" baseline="-25000" dirty="0"/>
          </a:p>
        </p:txBody>
      </p:sp>
      <p:sp>
        <p:nvSpPr>
          <p:cNvPr id="72" name="向右箭號 71">
            <a:extLst>
              <a:ext uri="{FF2B5EF4-FFF2-40B4-BE49-F238E27FC236}">
                <a16:creationId xmlns:a16="http://schemas.microsoft.com/office/drawing/2014/main" id="{491FA22E-7F0F-35A9-B538-130C61C31608}"/>
              </a:ext>
            </a:extLst>
          </p:cNvPr>
          <p:cNvSpPr/>
          <p:nvPr/>
        </p:nvSpPr>
        <p:spPr>
          <a:xfrm rot="16200000">
            <a:off x="6053778" y="4410624"/>
            <a:ext cx="311727" cy="426027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BBFB79C2-988B-C075-3686-C3AD7C02E9AC}"/>
              </a:ext>
            </a:extLst>
          </p:cNvPr>
          <p:cNvSpPr txBox="1"/>
          <p:nvPr/>
        </p:nvSpPr>
        <p:spPr>
          <a:xfrm>
            <a:off x="10070049" y="3933412"/>
            <a:ext cx="1393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r>
              <a:rPr kumimoji="1" lang="en-US" altLang="zh-TW" dirty="0"/>
              <a:t> x d</a:t>
            </a:r>
            <a:r>
              <a:rPr kumimoji="1" lang="en-US" altLang="zh-TW" baseline="-25000" dirty="0"/>
              <a:t>k</a:t>
            </a:r>
            <a:endParaRPr kumimoji="1" lang="zh-TW" altLang="en-US" baseline="-25000" dirty="0"/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06018B9F-ECAC-B785-4568-BAB5992AA405}"/>
              </a:ext>
            </a:extLst>
          </p:cNvPr>
          <p:cNvSpPr txBox="1"/>
          <p:nvPr/>
        </p:nvSpPr>
        <p:spPr>
          <a:xfrm>
            <a:off x="8758872" y="3933412"/>
            <a:ext cx="115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</a:t>
            </a:r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endParaRPr kumimoji="1" lang="zh-TW" altLang="en-US" baseline="-25000" dirty="0"/>
          </a:p>
        </p:txBody>
      </p:sp>
      <p:sp>
        <p:nvSpPr>
          <p:cNvPr id="76" name="左中括弧 75">
            <a:extLst>
              <a:ext uri="{FF2B5EF4-FFF2-40B4-BE49-F238E27FC236}">
                <a16:creationId xmlns:a16="http://schemas.microsoft.com/office/drawing/2014/main" id="{8A91D5AB-DB0E-B888-8835-D6D4412887CA}"/>
              </a:ext>
            </a:extLst>
          </p:cNvPr>
          <p:cNvSpPr/>
          <p:nvPr/>
        </p:nvSpPr>
        <p:spPr>
          <a:xfrm rot="5400000">
            <a:off x="2066899" y="605993"/>
            <a:ext cx="123206" cy="2788033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7" name="左中括弧 76">
            <a:extLst>
              <a:ext uri="{FF2B5EF4-FFF2-40B4-BE49-F238E27FC236}">
                <a16:creationId xmlns:a16="http://schemas.microsoft.com/office/drawing/2014/main" id="{83AF3BB9-4537-5E77-7100-63B578AFFE54}"/>
              </a:ext>
            </a:extLst>
          </p:cNvPr>
          <p:cNvSpPr/>
          <p:nvPr/>
        </p:nvSpPr>
        <p:spPr>
          <a:xfrm rot="5400000">
            <a:off x="6021057" y="592753"/>
            <a:ext cx="123206" cy="2788033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8" name="左中括弧 77">
            <a:extLst>
              <a:ext uri="{FF2B5EF4-FFF2-40B4-BE49-F238E27FC236}">
                <a16:creationId xmlns:a16="http://schemas.microsoft.com/office/drawing/2014/main" id="{6CE4AB56-1E8E-E12B-D41D-63F79A7104BF}"/>
              </a:ext>
            </a:extLst>
          </p:cNvPr>
          <p:cNvSpPr/>
          <p:nvPr/>
        </p:nvSpPr>
        <p:spPr>
          <a:xfrm rot="5400000">
            <a:off x="10028472" y="598450"/>
            <a:ext cx="123206" cy="2788033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18FBFF0-C1A2-F290-DF9D-49EAE72C0BAE}"/>
              </a:ext>
            </a:extLst>
          </p:cNvPr>
          <p:cNvSpPr txBox="1"/>
          <p:nvPr/>
        </p:nvSpPr>
        <p:spPr>
          <a:xfrm>
            <a:off x="663371" y="5287181"/>
            <a:ext cx="12473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 err="1">
                <a:ea typeface="Microsoft JhengHei" panose="020B0604030504040204" pitchFamily="34" charset="-120"/>
              </a:rPr>
              <a:t>d</a:t>
            </a:r>
            <a:r>
              <a:rPr kumimoji="1" lang="en-US" altLang="zh-TW" sz="1600" baseline="-25000" dirty="0" err="1">
                <a:ea typeface="Microsoft JhengHei" panose="020B0604030504040204" pitchFamily="34" charset="-120"/>
              </a:rPr>
              <a:t>model</a:t>
            </a:r>
            <a:r>
              <a:rPr kumimoji="1" lang="en-US" altLang="zh-TW" sz="1600" baseline="-25000" dirty="0">
                <a:ea typeface="Microsoft JhengHei" panose="020B0604030504040204" pitchFamily="34" charset="-120"/>
              </a:rPr>
              <a:t> </a:t>
            </a:r>
            <a:r>
              <a:rPr kumimoji="1" lang="en-US" altLang="zh-TW" sz="1600" dirty="0">
                <a:ea typeface="Microsoft JhengHei" panose="020B0604030504040204" pitchFamily="34" charset="-120"/>
              </a:rPr>
              <a:t>: Embedding </a:t>
            </a:r>
            <a:r>
              <a:rPr kumimoji="1" lang="zh-TW" altLang="en-US" sz="1600" dirty="0">
                <a:ea typeface="Microsoft JhengHei" panose="020B0604030504040204" pitchFamily="34" charset="-120"/>
              </a:rPr>
              <a:t>的維度大小</a:t>
            </a:r>
          </a:p>
        </p:txBody>
      </p:sp>
    </p:spTree>
    <p:extLst>
      <p:ext uri="{BB962C8B-B14F-4D97-AF65-F5344CB8AC3E}">
        <p14:creationId xmlns:p14="http://schemas.microsoft.com/office/powerpoint/2010/main" val="3407459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  <p:bldP spid="26" grpId="0" animBg="1"/>
      <p:bldP spid="27" grpId="0"/>
      <p:bldP spid="28" grpId="0" animBg="1"/>
      <p:bldP spid="29" grpId="0"/>
      <p:bldP spid="30" grpId="0"/>
      <p:bldP spid="32" grpId="0" animBg="1"/>
      <p:bldP spid="33" grpId="0"/>
      <p:bldP spid="34" grpId="0" animBg="1"/>
      <p:bldP spid="35" grpId="0"/>
      <p:bldP spid="36" grpId="0" animBg="1"/>
      <p:bldP spid="37" grpId="0"/>
      <p:bldP spid="46" grpId="0" animBg="1"/>
      <p:bldP spid="47" grpId="0"/>
      <p:bldP spid="48" grpId="0"/>
      <p:bldP spid="50" grpId="0"/>
      <p:bldP spid="52" grpId="0"/>
      <p:bldP spid="53" grpId="0" animBg="1"/>
      <p:bldP spid="54" grpId="0"/>
      <p:bldP spid="55" grpId="0" animBg="1"/>
      <p:bldP spid="56" grpId="0"/>
      <p:bldP spid="57" grpId="0" animBg="1"/>
      <p:bldP spid="58" grpId="0"/>
      <p:bldP spid="60" grpId="0" animBg="1"/>
      <p:bldP spid="61" grpId="0"/>
      <p:bldP spid="63" grpId="0" animBg="1"/>
      <p:bldP spid="64" grpId="0"/>
      <p:bldP spid="65" grpId="0"/>
      <p:bldP spid="67" grpId="0"/>
      <p:bldP spid="68" grpId="0"/>
      <p:bldP spid="69" grpId="0"/>
      <p:bldP spid="70" grpId="0"/>
      <p:bldP spid="71" grpId="0"/>
      <p:bldP spid="72" grpId="0" animBg="1"/>
      <p:bldP spid="74" grpId="0"/>
      <p:bldP spid="75" grpId="0"/>
      <p:bldP spid="76" grpId="0" animBg="1"/>
      <p:bldP spid="77" grpId="0" animBg="1"/>
      <p:bldP spid="78" grpId="0" animBg="1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AA3C13-B653-04FC-25AC-39AA3DEFA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Transformers </a:t>
            </a:r>
            <a:r>
              <a:rPr kumimoji="1" lang="zh-TW" altLang="en-US" dirty="0">
                <a:ea typeface="Microsoft JhengHei" panose="020B0604030504040204" pitchFamily="34" charset="-120"/>
              </a:rPr>
              <a:t>的權重值</a:t>
            </a:r>
            <a:r>
              <a:rPr kumimoji="1" lang="en-US" altLang="zh-TW" dirty="0">
                <a:ea typeface="Microsoft JhengHei" panose="020B0604030504040204" pitchFamily="34" charset="-120"/>
              </a:rPr>
              <a:t> (2/2)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5C7B03-2F89-183E-7768-69826AC77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BA7233D7-8027-5530-4D81-0B7985EBB2A2}"/>
              </a:ext>
            </a:extLst>
          </p:cNvPr>
          <p:cNvSpPr/>
          <p:nvPr/>
        </p:nvSpPr>
        <p:spPr>
          <a:xfrm>
            <a:off x="5816621" y="2282859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1DE79E5E-ADF9-CC6D-1AFD-3B1CEB17E57C}"/>
              </a:ext>
            </a:extLst>
          </p:cNvPr>
          <p:cNvSpPr/>
          <p:nvPr/>
        </p:nvSpPr>
        <p:spPr>
          <a:xfrm>
            <a:off x="6394098" y="2282859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BF7C6F2F-C7CE-DA0A-404C-C3837FDBE455}"/>
              </a:ext>
            </a:extLst>
          </p:cNvPr>
          <p:cNvSpPr/>
          <p:nvPr/>
        </p:nvSpPr>
        <p:spPr>
          <a:xfrm>
            <a:off x="6975769" y="2282859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F3C5D05F-8248-D78B-E139-80232082DBA9}"/>
              </a:ext>
            </a:extLst>
          </p:cNvPr>
          <p:cNvSpPr/>
          <p:nvPr/>
        </p:nvSpPr>
        <p:spPr>
          <a:xfrm rot="16200000">
            <a:off x="1025544" y="2263033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50439BA-F9EA-7A2A-A0DB-07808A6AF1D1}"/>
              </a:ext>
            </a:extLst>
          </p:cNvPr>
          <p:cNvSpPr txBox="1"/>
          <p:nvPr/>
        </p:nvSpPr>
        <p:spPr>
          <a:xfrm>
            <a:off x="1096904" y="2621976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q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2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5211135A-FE15-2460-3B7A-8CFE643B1384}"/>
              </a:ext>
            </a:extLst>
          </p:cNvPr>
          <p:cNvSpPr/>
          <p:nvPr/>
        </p:nvSpPr>
        <p:spPr>
          <a:xfrm rot="16200000">
            <a:off x="1023758" y="2852807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09F2B71-040D-AF13-0B02-1457D308C460}"/>
              </a:ext>
            </a:extLst>
          </p:cNvPr>
          <p:cNvSpPr txBox="1"/>
          <p:nvPr/>
        </p:nvSpPr>
        <p:spPr>
          <a:xfrm>
            <a:off x="1095118" y="3211750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q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3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29A8AB3F-E18D-7C06-592B-874FD6E2DF37}"/>
              </a:ext>
            </a:extLst>
          </p:cNvPr>
          <p:cNvSpPr/>
          <p:nvPr/>
        </p:nvSpPr>
        <p:spPr>
          <a:xfrm rot="16200000">
            <a:off x="1018522" y="1673258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87AD23E-311D-D665-741D-93EE60473046}"/>
              </a:ext>
            </a:extLst>
          </p:cNvPr>
          <p:cNvSpPr txBox="1"/>
          <p:nvPr/>
        </p:nvSpPr>
        <p:spPr>
          <a:xfrm>
            <a:off x="1089882" y="2032201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q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1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56415A89-E2C3-F2DE-517A-B1021B3747C4}"/>
              </a:ext>
            </a:extLst>
          </p:cNvPr>
          <p:cNvSpPr/>
          <p:nvPr/>
        </p:nvSpPr>
        <p:spPr>
          <a:xfrm rot="16200000">
            <a:off x="4201182" y="4962486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F38FA28-D565-1F12-C2EB-EF38B63F321F}"/>
              </a:ext>
            </a:extLst>
          </p:cNvPr>
          <p:cNvSpPr txBox="1"/>
          <p:nvPr/>
        </p:nvSpPr>
        <p:spPr>
          <a:xfrm>
            <a:off x="4272542" y="5321429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v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2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EC60A673-B450-4070-819C-03D8995F15EB}"/>
              </a:ext>
            </a:extLst>
          </p:cNvPr>
          <p:cNvSpPr/>
          <p:nvPr/>
        </p:nvSpPr>
        <p:spPr>
          <a:xfrm rot="16200000">
            <a:off x="4199396" y="5552260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6A319F4-C02C-5FB0-D104-DF36FBD7842E}"/>
              </a:ext>
            </a:extLst>
          </p:cNvPr>
          <p:cNvSpPr txBox="1"/>
          <p:nvPr/>
        </p:nvSpPr>
        <p:spPr>
          <a:xfrm>
            <a:off x="4270756" y="5911203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v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3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26D063D6-F87E-FE78-35A0-4D34497AEF6B}"/>
              </a:ext>
            </a:extLst>
          </p:cNvPr>
          <p:cNvSpPr/>
          <p:nvPr/>
        </p:nvSpPr>
        <p:spPr>
          <a:xfrm rot="16200000">
            <a:off x="4194160" y="4372711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4193FE4-07C0-DD2B-8452-FB6BFAC1173F}"/>
              </a:ext>
            </a:extLst>
          </p:cNvPr>
          <p:cNvSpPr txBox="1"/>
          <p:nvPr/>
        </p:nvSpPr>
        <p:spPr>
          <a:xfrm>
            <a:off x="4265520" y="4731654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v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1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B92B1429-2168-C6A4-E1AE-AE7E7248FD43}"/>
                  </a:ext>
                </a:extLst>
              </p:cNvPr>
              <p:cNvSpPr txBox="1"/>
              <p:nvPr/>
            </p:nvSpPr>
            <p:spPr>
              <a:xfrm>
                <a:off x="928786" y="1490037"/>
                <a:ext cx="68690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B92B1429-2168-C6A4-E1AE-AE7E7248F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786" y="1490037"/>
                <a:ext cx="686909" cy="461665"/>
              </a:xfrm>
              <a:prstGeom prst="rect">
                <a:avLst/>
              </a:prstGeom>
              <a:blipFill>
                <a:blip r:embed="rId3"/>
                <a:stretch>
                  <a:fillRect b="-135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762943A1-16DC-34F1-E1D7-6C9A45C161DE}"/>
                  </a:ext>
                </a:extLst>
              </p:cNvPr>
              <p:cNvSpPr txBox="1"/>
              <p:nvPr/>
            </p:nvSpPr>
            <p:spPr>
              <a:xfrm>
                <a:off x="6348815" y="1496262"/>
                <a:ext cx="68690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400" b="0" i="1" baseline="3000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TW" altLang="en-US" sz="2400" baseline="300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762943A1-16DC-34F1-E1D7-6C9A45C16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8815" y="1496262"/>
                <a:ext cx="68690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2720FCA0-05B6-52D3-CD1A-09B315C78B70}"/>
                  </a:ext>
                </a:extLst>
              </p:cNvPr>
              <p:cNvSpPr txBox="1"/>
              <p:nvPr/>
            </p:nvSpPr>
            <p:spPr>
              <a:xfrm>
                <a:off x="4126600" y="4186152"/>
                <a:ext cx="68690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2720FCA0-05B6-52D3-CD1A-09B315C78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600" y="4186152"/>
                <a:ext cx="68690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>
            <a:extLst>
              <a:ext uri="{FF2B5EF4-FFF2-40B4-BE49-F238E27FC236}">
                <a16:creationId xmlns:a16="http://schemas.microsoft.com/office/drawing/2014/main" id="{051B7684-70C7-182C-2CAC-28F6F0C5E7E8}"/>
              </a:ext>
            </a:extLst>
          </p:cNvPr>
          <p:cNvSpPr txBox="1"/>
          <p:nvPr/>
        </p:nvSpPr>
        <p:spPr>
          <a:xfrm>
            <a:off x="4113238" y="6360005"/>
            <a:ext cx="8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d</a:t>
            </a:r>
            <a:r>
              <a:rPr kumimoji="1" lang="en-US" altLang="zh-TW" baseline="-25000" dirty="0"/>
              <a:t>k</a:t>
            </a:r>
            <a:endParaRPr kumimoji="1" lang="zh-TW" altLang="en-US" baseline="-250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68FA7D-E8DC-BAB9-D3C8-0C5C2842C13F}"/>
              </a:ext>
            </a:extLst>
          </p:cNvPr>
          <p:cNvSpPr txBox="1"/>
          <p:nvPr/>
        </p:nvSpPr>
        <p:spPr>
          <a:xfrm>
            <a:off x="901723" y="3684702"/>
            <a:ext cx="8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d</a:t>
            </a:r>
            <a:r>
              <a:rPr kumimoji="1" lang="en-US" altLang="zh-TW" baseline="-25000" dirty="0"/>
              <a:t>k</a:t>
            </a:r>
            <a:endParaRPr kumimoji="1" lang="zh-TW" altLang="en-US" baseline="-250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0EF29E84-A2E9-6D78-5426-C84E276AD8CE}"/>
              </a:ext>
            </a:extLst>
          </p:cNvPr>
          <p:cNvSpPr txBox="1"/>
          <p:nvPr/>
        </p:nvSpPr>
        <p:spPr>
          <a:xfrm>
            <a:off x="6307529" y="3684702"/>
            <a:ext cx="8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d</a:t>
            </a:r>
            <a:r>
              <a:rPr kumimoji="1" lang="en-US" altLang="zh-TW" baseline="-25000" dirty="0"/>
              <a:t>k </a:t>
            </a:r>
            <a:r>
              <a:rPr kumimoji="1" lang="en-US" altLang="zh-TW" dirty="0"/>
              <a:t>x N</a:t>
            </a:r>
            <a:endParaRPr kumimoji="1" lang="zh-TW" altLang="en-US" baseline="-25000" dirty="0"/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A691098B-E24E-2838-7B69-363BDBEC591B}"/>
              </a:ext>
            </a:extLst>
          </p:cNvPr>
          <p:cNvSpPr/>
          <p:nvPr/>
        </p:nvSpPr>
        <p:spPr>
          <a:xfrm rot="16200000">
            <a:off x="2508566" y="2263034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EFC31714-82BC-0BA3-C0EA-9E44F142CE54}"/>
              </a:ext>
            </a:extLst>
          </p:cNvPr>
          <p:cNvSpPr txBox="1"/>
          <p:nvPr/>
        </p:nvSpPr>
        <p:spPr>
          <a:xfrm>
            <a:off x="2579926" y="2621977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2</a:t>
            </a:r>
            <a:endParaRPr kumimoji="1" lang="zh-TW" altLang="en-US" sz="1800" baseline="-25000" dirty="0"/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5F2415F1-C5A5-29CD-5B6B-4924B0DF6285}"/>
              </a:ext>
            </a:extLst>
          </p:cNvPr>
          <p:cNvSpPr/>
          <p:nvPr/>
        </p:nvSpPr>
        <p:spPr>
          <a:xfrm rot="16200000">
            <a:off x="2506780" y="2852808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9522759D-9144-D96A-7B98-1171A439F1AA}"/>
              </a:ext>
            </a:extLst>
          </p:cNvPr>
          <p:cNvSpPr txBox="1"/>
          <p:nvPr/>
        </p:nvSpPr>
        <p:spPr>
          <a:xfrm>
            <a:off x="2578140" y="3211751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3</a:t>
            </a:r>
            <a:endParaRPr kumimoji="1" lang="zh-TW" altLang="en-US" sz="1800" baseline="-25000" dirty="0"/>
          </a:p>
        </p:txBody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40AABE49-99C0-23D9-7D71-CFD96B73AC05}"/>
              </a:ext>
            </a:extLst>
          </p:cNvPr>
          <p:cNvSpPr/>
          <p:nvPr/>
        </p:nvSpPr>
        <p:spPr>
          <a:xfrm rot="16200000">
            <a:off x="2501544" y="1673259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088760E6-0B08-3959-8A3E-2B1BAE98726E}"/>
              </a:ext>
            </a:extLst>
          </p:cNvPr>
          <p:cNvSpPr txBox="1"/>
          <p:nvPr/>
        </p:nvSpPr>
        <p:spPr>
          <a:xfrm>
            <a:off x="2572904" y="2032202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1</a:t>
            </a:r>
            <a:endParaRPr kumimoji="1" lang="zh-TW" altLang="en-US" sz="1800" baseline="-250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C2A2D9B1-CA6D-6F44-D0C3-54123B988D5F}"/>
              </a:ext>
            </a:extLst>
          </p:cNvPr>
          <p:cNvSpPr txBox="1"/>
          <p:nvPr/>
        </p:nvSpPr>
        <p:spPr>
          <a:xfrm>
            <a:off x="2229897" y="3684702"/>
            <a:ext cx="115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</a:t>
            </a:r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endParaRPr kumimoji="1" lang="zh-TW" altLang="en-US" baseline="-25000" dirty="0"/>
          </a:p>
        </p:txBody>
      </p:sp>
      <p:sp>
        <p:nvSpPr>
          <p:cNvPr id="33" name="圓角矩形 32">
            <a:extLst>
              <a:ext uri="{FF2B5EF4-FFF2-40B4-BE49-F238E27FC236}">
                <a16:creationId xmlns:a16="http://schemas.microsoft.com/office/drawing/2014/main" id="{571D26EE-D335-D656-06E9-2DBDCCDE63FA}"/>
              </a:ext>
            </a:extLst>
          </p:cNvPr>
          <p:cNvSpPr/>
          <p:nvPr/>
        </p:nvSpPr>
        <p:spPr>
          <a:xfrm rot="16200000">
            <a:off x="3391093" y="1956826"/>
            <a:ext cx="1732052" cy="1721804"/>
          </a:xfrm>
          <a:prstGeom prst="round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15C0AD2F-197E-788C-77B9-F4243EE4A6B3}"/>
              </a:ext>
            </a:extLst>
          </p:cNvPr>
          <p:cNvSpPr txBox="1"/>
          <p:nvPr/>
        </p:nvSpPr>
        <p:spPr>
          <a:xfrm>
            <a:off x="3564301" y="3684702"/>
            <a:ext cx="1385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r>
              <a:rPr kumimoji="1" lang="en-US" altLang="zh-TW" dirty="0"/>
              <a:t> x d</a:t>
            </a:r>
            <a:r>
              <a:rPr kumimoji="1" lang="en-US" altLang="zh-TW" baseline="-25000" dirty="0"/>
              <a:t>k</a:t>
            </a:r>
            <a:endParaRPr kumimoji="1" lang="zh-TW" altLang="en-US" baseline="-25000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A1495D93-286A-63BB-892E-A0CB050E7C02}"/>
              </a:ext>
            </a:extLst>
          </p:cNvPr>
          <p:cNvSpPr txBox="1"/>
          <p:nvPr/>
        </p:nvSpPr>
        <p:spPr>
          <a:xfrm>
            <a:off x="3933454" y="2612847"/>
            <a:ext cx="671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chemeClr val="bg1"/>
                </a:solidFill>
              </a:rPr>
              <a:t>W</a:t>
            </a:r>
            <a:r>
              <a:rPr kumimoji="1" lang="en-US" altLang="zh-TW" sz="2400" baseline="30000" dirty="0">
                <a:solidFill>
                  <a:schemeClr val="bg1"/>
                </a:solidFill>
              </a:rPr>
              <a:t>Q</a:t>
            </a:r>
            <a:endParaRPr kumimoji="1" lang="zh-TW" altLang="en-US" sz="2400" baseline="-25000" dirty="0">
              <a:solidFill>
                <a:schemeClr val="bg1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C580728A-CCC7-9510-699E-4BCADB4DE44A}"/>
              </a:ext>
            </a:extLst>
          </p:cNvPr>
          <p:cNvSpPr txBox="1"/>
          <p:nvPr/>
        </p:nvSpPr>
        <p:spPr>
          <a:xfrm>
            <a:off x="1772982" y="2478736"/>
            <a:ext cx="509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b="1" dirty="0"/>
              <a:t>=</a:t>
            </a:r>
            <a:endParaRPr kumimoji="1" lang="zh-TW" altLang="en-US" sz="3600" b="1" dirty="0"/>
          </a:p>
        </p:txBody>
      </p:sp>
      <p:sp>
        <p:nvSpPr>
          <p:cNvPr id="37" name="圓角矩形 36">
            <a:extLst>
              <a:ext uri="{FF2B5EF4-FFF2-40B4-BE49-F238E27FC236}">
                <a16:creationId xmlns:a16="http://schemas.microsoft.com/office/drawing/2014/main" id="{E90D4509-3FDA-3935-C4F9-459D9F32A524}"/>
              </a:ext>
            </a:extLst>
          </p:cNvPr>
          <p:cNvSpPr/>
          <p:nvPr/>
        </p:nvSpPr>
        <p:spPr>
          <a:xfrm rot="16200000">
            <a:off x="5817951" y="4967253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942D479B-3BD9-F0E7-92AA-77DE33C5CAD9}"/>
              </a:ext>
            </a:extLst>
          </p:cNvPr>
          <p:cNvSpPr txBox="1"/>
          <p:nvPr/>
        </p:nvSpPr>
        <p:spPr>
          <a:xfrm>
            <a:off x="5889311" y="5326196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e</a:t>
            </a:r>
            <a:r>
              <a:rPr kumimoji="1" lang="en-US" altLang="zh-TW" sz="1800" baseline="-25000" dirty="0"/>
              <a:t>2</a:t>
            </a:r>
            <a:endParaRPr kumimoji="1" lang="zh-TW" altLang="en-US" sz="1800" baseline="-25000" dirty="0"/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EC4EFC26-6800-51E4-8108-7BC79E6F0D94}"/>
              </a:ext>
            </a:extLst>
          </p:cNvPr>
          <p:cNvSpPr/>
          <p:nvPr/>
        </p:nvSpPr>
        <p:spPr>
          <a:xfrm rot="16200000">
            <a:off x="5816165" y="5557027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8141522C-08A2-4981-B050-DC821CEC64BF}"/>
              </a:ext>
            </a:extLst>
          </p:cNvPr>
          <p:cNvSpPr txBox="1"/>
          <p:nvPr/>
        </p:nvSpPr>
        <p:spPr>
          <a:xfrm>
            <a:off x="5887525" y="5915970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3</a:t>
            </a:r>
            <a:endParaRPr kumimoji="1" lang="zh-TW" altLang="en-US" sz="1800" baseline="-25000" dirty="0"/>
          </a:p>
        </p:txBody>
      </p: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C78ED41E-C2D2-A47C-7AA0-2FC66B070E0F}"/>
              </a:ext>
            </a:extLst>
          </p:cNvPr>
          <p:cNvSpPr/>
          <p:nvPr/>
        </p:nvSpPr>
        <p:spPr>
          <a:xfrm rot="16200000">
            <a:off x="5810929" y="4377478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ABDCB82A-E8C6-44F9-30D7-C1F01EC66F1D}"/>
              </a:ext>
            </a:extLst>
          </p:cNvPr>
          <p:cNvSpPr txBox="1"/>
          <p:nvPr/>
        </p:nvSpPr>
        <p:spPr>
          <a:xfrm>
            <a:off x="5882289" y="4736421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1</a:t>
            </a:r>
            <a:endParaRPr kumimoji="1" lang="zh-TW" altLang="en-US" sz="1800" baseline="-25000" dirty="0"/>
          </a:p>
        </p:txBody>
      </p:sp>
      <p:sp>
        <p:nvSpPr>
          <p:cNvPr id="43" name="圓角矩形 42">
            <a:extLst>
              <a:ext uri="{FF2B5EF4-FFF2-40B4-BE49-F238E27FC236}">
                <a16:creationId xmlns:a16="http://schemas.microsoft.com/office/drawing/2014/main" id="{7874C4A8-6274-5C53-883E-25AD87003978}"/>
              </a:ext>
            </a:extLst>
          </p:cNvPr>
          <p:cNvSpPr/>
          <p:nvPr/>
        </p:nvSpPr>
        <p:spPr>
          <a:xfrm rot="16200000">
            <a:off x="6683552" y="4656665"/>
            <a:ext cx="1732052" cy="1721804"/>
          </a:xfrm>
          <a:prstGeom prst="roundRect">
            <a:avLst/>
          </a:prstGeom>
          <a:ln w="19050"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8DDCBB80-632C-092F-3C60-95A79EB10447}"/>
              </a:ext>
            </a:extLst>
          </p:cNvPr>
          <p:cNvSpPr txBox="1"/>
          <p:nvPr/>
        </p:nvSpPr>
        <p:spPr>
          <a:xfrm>
            <a:off x="7225913" y="5312686"/>
            <a:ext cx="671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chemeClr val="bg1"/>
                </a:solidFill>
              </a:rPr>
              <a:t>W</a:t>
            </a:r>
            <a:r>
              <a:rPr kumimoji="1" lang="en-US" altLang="zh-TW" sz="2400" baseline="30000" dirty="0">
                <a:solidFill>
                  <a:schemeClr val="bg1"/>
                </a:solidFill>
              </a:rPr>
              <a:t>V</a:t>
            </a:r>
            <a:endParaRPr kumimoji="1" lang="zh-TW" altLang="en-US" sz="2400" baseline="-25000" dirty="0">
              <a:solidFill>
                <a:schemeClr val="bg1"/>
              </a:solidFill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92CB29ED-F72E-131D-99F0-9C1F3619669A}"/>
              </a:ext>
            </a:extLst>
          </p:cNvPr>
          <p:cNvSpPr txBox="1"/>
          <p:nvPr/>
        </p:nvSpPr>
        <p:spPr>
          <a:xfrm>
            <a:off x="6975770" y="6407570"/>
            <a:ext cx="1359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r>
              <a:rPr kumimoji="1" lang="en-US" altLang="zh-TW" dirty="0"/>
              <a:t> x d</a:t>
            </a:r>
            <a:r>
              <a:rPr kumimoji="1" lang="en-US" altLang="zh-TW" baseline="-25000" dirty="0"/>
              <a:t>k</a:t>
            </a:r>
            <a:endParaRPr kumimoji="1" lang="zh-TW" altLang="en-US" baseline="-25000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16BB1430-DDA7-74F3-01A4-EE772C975878}"/>
              </a:ext>
            </a:extLst>
          </p:cNvPr>
          <p:cNvSpPr txBox="1"/>
          <p:nvPr/>
        </p:nvSpPr>
        <p:spPr>
          <a:xfrm>
            <a:off x="5548063" y="6407570"/>
            <a:ext cx="115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</a:t>
            </a:r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endParaRPr kumimoji="1" lang="zh-TW" altLang="en-US" baseline="-250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282DFA2D-DE0D-0321-47F4-997D2F4B9596}"/>
              </a:ext>
            </a:extLst>
          </p:cNvPr>
          <p:cNvSpPr txBox="1"/>
          <p:nvPr/>
        </p:nvSpPr>
        <p:spPr>
          <a:xfrm>
            <a:off x="4987360" y="5220352"/>
            <a:ext cx="509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b="1" dirty="0"/>
              <a:t>=</a:t>
            </a:r>
            <a:endParaRPr kumimoji="1" lang="zh-TW" altLang="en-US" sz="3600" b="1" dirty="0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BDECEF77-DEDF-1937-F350-F924B0117FA1}"/>
              </a:ext>
            </a:extLst>
          </p:cNvPr>
          <p:cNvSpPr txBox="1"/>
          <p:nvPr/>
        </p:nvSpPr>
        <p:spPr>
          <a:xfrm>
            <a:off x="9874086" y="3684702"/>
            <a:ext cx="1237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r>
              <a:rPr kumimoji="1" lang="en-US" altLang="zh-TW" dirty="0"/>
              <a:t> x d</a:t>
            </a:r>
            <a:r>
              <a:rPr kumimoji="1" lang="en-US" altLang="zh-TW" baseline="-25000" dirty="0"/>
              <a:t>k</a:t>
            </a:r>
            <a:endParaRPr kumimoji="1" lang="zh-TW" altLang="en-US" baseline="-25000" dirty="0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9F4BA553-160F-0794-9506-C4029FE6AEBB}"/>
              </a:ext>
            </a:extLst>
          </p:cNvPr>
          <p:cNvSpPr txBox="1"/>
          <p:nvPr/>
        </p:nvSpPr>
        <p:spPr>
          <a:xfrm>
            <a:off x="8469310" y="3684702"/>
            <a:ext cx="115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</a:t>
            </a:r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endParaRPr kumimoji="1" lang="zh-TW" altLang="en-US" baseline="-25000" dirty="0"/>
          </a:p>
        </p:txBody>
      </p:sp>
      <p:sp>
        <p:nvSpPr>
          <p:cNvPr id="50" name="圓角矩形 49">
            <a:extLst>
              <a:ext uri="{FF2B5EF4-FFF2-40B4-BE49-F238E27FC236}">
                <a16:creationId xmlns:a16="http://schemas.microsoft.com/office/drawing/2014/main" id="{9AF9B271-4680-0343-57D0-1D7869B15FE2}"/>
              </a:ext>
            </a:extLst>
          </p:cNvPr>
          <p:cNvSpPr/>
          <p:nvPr/>
        </p:nvSpPr>
        <p:spPr>
          <a:xfrm rot="16200000">
            <a:off x="8715952" y="2283371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E3C0466D-73A7-5734-6A24-D74002DF8F7E}"/>
              </a:ext>
            </a:extLst>
          </p:cNvPr>
          <p:cNvSpPr txBox="1"/>
          <p:nvPr/>
        </p:nvSpPr>
        <p:spPr>
          <a:xfrm>
            <a:off x="8787312" y="2642314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2</a:t>
            </a:r>
            <a:endParaRPr kumimoji="1" lang="zh-TW" altLang="en-US" sz="1800" baseline="-25000" dirty="0"/>
          </a:p>
        </p:txBody>
      </p:sp>
      <p:sp>
        <p:nvSpPr>
          <p:cNvPr id="52" name="圓角矩形 51">
            <a:extLst>
              <a:ext uri="{FF2B5EF4-FFF2-40B4-BE49-F238E27FC236}">
                <a16:creationId xmlns:a16="http://schemas.microsoft.com/office/drawing/2014/main" id="{6DAAA412-8054-B36F-2765-2C509F010F82}"/>
              </a:ext>
            </a:extLst>
          </p:cNvPr>
          <p:cNvSpPr/>
          <p:nvPr/>
        </p:nvSpPr>
        <p:spPr>
          <a:xfrm rot="16200000">
            <a:off x="8714166" y="2873145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15BC683B-06F7-89D1-4B90-369095EF00D3}"/>
              </a:ext>
            </a:extLst>
          </p:cNvPr>
          <p:cNvSpPr txBox="1"/>
          <p:nvPr/>
        </p:nvSpPr>
        <p:spPr>
          <a:xfrm>
            <a:off x="8785526" y="3232088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3</a:t>
            </a:r>
            <a:endParaRPr kumimoji="1" lang="zh-TW" altLang="en-US" sz="1800" baseline="-25000" dirty="0"/>
          </a:p>
        </p:txBody>
      </p:sp>
      <p:sp>
        <p:nvSpPr>
          <p:cNvPr id="54" name="圓角矩形 53">
            <a:extLst>
              <a:ext uri="{FF2B5EF4-FFF2-40B4-BE49-F238E27FC236}">
                <a16:creationId xmlns:a16="http://schemas.microsoft.com/office/drawing/2014/main" id="{77E2D64E-3B9A-0C90-7B1B-E55EFDB735B3}"/>
              </a:ext>
            </a:extLst>
          </p:cNvPr>
          <p:cNvSpPr/>
          <p:nvPr/>
        </p:nvSpPr>
        <p:spPr>
          <a:xfrm rot="16200000">
            <a:off x="8708930" y="1693596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2E8A2073-7114-12D0-9A45-C318D4D42075}"/>
              </a:ext>
            </a:extLst>
          </p:cNvPr>
          <p:cNvSpPr txBox="1"/>
          <p:nvPr/>
        </p:nvSpPr>
        <p:spPr>
          <a:xfrm>
            <a:off x="8780290" y="2052539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1</a:t>
            </a:r>
            <a:endParaRPr kumimoji="1" lang="zh-TW" altLang="en-US" sz="1800" baseline="-25000" dirty="0"/>
          </a:p>
        </p:txBody>
      </p:sp>
      <p:sp>
        <p:nvSpPr>
          <p:cNvPr id="56" name="圓角矩形 55">
            <a:extLst>
              <a:ext uri="{FF2B5EF4-FFF2-40B4-BE49-F238E27FC236}">
                <a16:creationId xmlns:a16="http://schemas.microsoft.com/office/drawing/2014/main" id="{EB3B477A-9F38-FACD-87CF-7CE34A5E7222}"/>
              </a:ext>
            </a:extLst>
          </p:cNvPr>
          <p:cNvSpPr/>
          <p:nvPr/>
        </p:nvSpPr>
        <p:spPr>
          <a:xfrm rot="16200000">
            <a:off x="9598479" y="1977163"/>
            <a:ext cx="1732052" cy="1721804"/>
          </a:xfrm>
          <a:prstGeom prst="round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17376D16-2168-85B9-9751-887E7245AC78}"/>
              </a:ext>
            </a:extLst>
          </p:cNvPr>
          <p:cNvSpPr txBox="1"/>
          <p:nvPr/>
        </p:nvSpPr>
        <p:spPr>
          <a:xfrm>
            <a:off x="10140840" y="2633184"/>
            <a:ext cx="671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chemeClr val="bg1"/>
                </a:solidFill>
              </a:rPr>
              <a:t>W</a:t>
            </a:r>
            <a:r>
              <a:rPr kumimoji="1" lang="en-US" altLang="zh-TW" sz="2400" baseline="30000" dirty="0">
                <a:solidFill>
                  <a:schemeClr val="bg1"/>
                </a:solidFill>
              </a:rPr>
              <a:t>K</a:t>
            </a:r>
            <a:endParaRPr kumimoji="1" lang="zh-TW" altLang="en-US" sz="2400" baseline="-25000" dirty="0">
              <a:solidFill>
                <a:schemeClr val="bg1"/>
              </a:solidFill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49391E5E-DDDC-8167-1642-FFDB05F83676}"/>
              </a:ext>
            </a:extLst>
          </p:cNvPr>
          <p:cNvSpPr txBox="1"/>
          <p:nvPr/>
        </p:nvSpPr>
        <p:spPr>
          <a:xfrm>
            <a:off x="7756544" y="1600675"/>
            <a:ext cx="42043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3800" dirty="0"/>
              <a:t>(</a:t>
            </a:r>
            <a:endParaRPr kumimoji="1" lang="zh-TW" altLang="en-US" sz="13800" dirty="0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3F5ED974-471F-FB06-B615-0498742C2234}"/>
              </a:ext>
            </a:extLst>
          </p:cNvPr>
          <p:cNvSpPr txBox="1"/>
          <p:nvPr/>
        </p:nvSpPr>
        <p:spPr>
          <a:xfrm>
            <a:off x="11151076" y="1600674"/>
            <a:ext cx="42043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3800" dirty="0"/>
              <a:t>)</a:t>
            </a:r>
            <a:endParaRPr kumimoji="1" lang="zh-TW" altLang="en-US" sz="13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D0031901-CC8B-414C-C2F7-F6C600283772}"/>
                  </a:ext>
                </a:extLst>
              </p:cNvPr>
              <p:cNvSpPr txBox="1"/>
              <p:nvPr/>
            </p:nvSpPr>
            <p:spPr>
              <a:xfrm>
                <a:off x="11375257" y="1889505"/>
                <a:ext cx="686909" cy="513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TW" altLang="en-US" sz="2800" baseline="30000" dirty="0"/>
              </a:p>
            </p:txBody>
          </p:sp>
        </mc:Choice>
        <mc:Fallback xmlns="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D0031901-CC8B-414C-C2F7-F6C600283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5257" y="1889505"/>
                <a:ext cx="686909" cy="5132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文字方塊 60">
            <a:extLst>
              <a:ext uri="{FF2B5EF4-FFF2-40B4-BE49-F238E27FC236}">
                <a16:creationId xmlns:a16="http://schemas.microsoft.com/office/drawing/2014/main" id="{FEE59A29-ED88-1DA6-BEC5-BD762B3177BB}"/>
              </a:ext>
            </a:extLst>
          </p:cNvPr>
          <p:cNvSpPr txBox="1"/>
          <p:nvPr/>
        </p:nvSpPr>
        <p:spPr>
          <a:xfrm>
            <a:off x="7487841" y="2511451"/>
            <a:ext cx="509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b="1" dirty="0"/>
              <a:t>=</a:t>
            </a:r>
            <a:endParaRPr kumimoji="1" lang="zh-TW" altLang="en-US" sz="3600" b="1" dirty="0"/>
          </a:p>
        </p:txBody>
      </p:sp>
      <p:pic>
        <p:nvPicPr>
          <p:cNvPr id="62" name="圖片 61">
            <a:extLst>
              <a:ext uri="{FF2B5EF4-FFF2-40B4-BE49-F238E27FC236}">
                <a16:creationId xmlns:a16="http://schemas.microsoft.com/office/drawing/2014/main" id="{AB6A7DA7-2EB3-7C56-60E2-9B80CAE03A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6645" y="764395"/>
            <a:ext cx="2972804" cy="54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997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8C6C47-A75A-67B1-8BA1-67AA41504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Self-attention </a:t>
            </a:r>
            <a:r>
              <a:rPr kumimoji="1" lang="zh-TW" altLang="en-US" dirty="0"/>
              <a:t>的公式與縮放項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325A49-BA11-4ECC-4198-978BEF30D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885DF9D-C6F6-0AE9-9D6D-776DBE805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322" y="1776364"/>
            <a:ext cx="3585013" cy="447426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D94DDF0-F45F-C7B1-C063-387CF957D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335" y="3429000"/>
            <a:ext cx="4685336" cy="85608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3E20DBB-A5A1-5852-FC59-B7B0FB9BA199}"/>
              </a:ext>
            </a:extLst>
          </p:cNvPr>
          <p:cNvSpPr/>
          <p:nvPr/>
        </p:nvSpPr>
        <p:spPr>
          <a:xfrm>
            <a:off x="3209731" y="4544008"/>
            <a:ext cx="1343608" cy="52251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F93F75E-48C4-DF0C-629D-48881BC04322}"/>
              </a:ext>
            </a:extLst>
          </p:cNvPr>
          <p:cNvSpPr/>
          <p:nvPr/>
        </p:nvSpPr>
        <p:spPr>
          <a:xfrm>
            <a:off x="9660294" y="3894367"/>
            <a:ext cx="538065" cy="3230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6021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C7C744-4D6E-A486-0C23-1201579C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Query (Q), Key (K), and Value (V)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9207B4-7A63-4047-96AA-B65EEDFAA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71E07550-B1F4-F3A3-60C6-02A78EE367C2}"/>
              </a:ext>
            </a:extLst>
          </p:cNvPr>
          <p:cNvSpPr/>
          <p:nvPr/>
        </p:nvSpPr>
        <p:spPr>
          <a:xfrm>
            <a:off x="2114661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1F84A656-CA83-526C-B6FE-D93DD219E455}"/>
              </a:ext>
            </a:extLst>
          </p:cNvPr>
          <p:cNvSpPr txBox="1"/>
          <p:nvPr/>
        </p:nvSpPr>
        <p:spPr>
          <a:xfrm>
            <a:off x="1485912" y="5657211"/>
            <a:ext cx="965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dirty="0"/>
              <a:t>🎯</a:t>
            </a:r>
            <a:endParaRPr kumimoji="1" lang="zh-TW" altLang="en-US" sz="36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7DDB966-8DC7-C5CF-35B1-AEB9264CA4C6}"/>
              </a:ext>
            </a:extLst>
          </p:cNvPr>
          <p:cNvSpPr/>
          <p:nvPr/>
        </p:nvSpPr>
        <p:spPr>
          <a:xfrm>
            <a:off x="1383355" y="4293846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6DE0177-E8AE-105A-E9F0-EE21F0096888}"/>
              </a:ext>
            </a:extLst>
          </p:cNvPr>
          <p:cNvSpPr/>
          <p:nvPr/>
        </p:nvSpPr>
        <p:spPr>
          <a:xfrm>
            <a:off x="454731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9FC1B44-5C41-9BD9-4299-AE348F3DB43A}"/>
              </a:ext>
            </a:extLst>
          </p:cNvPr>
          <p:cNvSpPr/>
          <p:nvPr/>
        </p:nvSpPr>
        <p:spPr>
          <a:xfrm>
            <a:off x="7016039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AC756C1-DBDE-0F5B-FEBE-415CABCF9BBC}"/>
              </a:ext>
            </a:extLst>
          </p:cNvPr>
          <p:cNvSpPr/>
          <p:nvPr/>
        </p:nvSpPr>
        <p:spPr>
          <a:xfrm>
            <a:off x="938869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6" name="圓角矩形 35">
            <a:extLst>
              <a:ext uri="{FF2B5EF4-FFF2-40B4-BE49-F238E27FC236}">
                <a16:creationId xmlns:a16="http://schemas.microsoft.com/office/drawing/2014/main" id="{A42083A9-2C49-EA47-ADF8-6E81062DC093}"/>
              </a:ext>
            </a:extLst>
          </p:cNvPr>
          <p:cNvSpPr/>
          <p:nvPr/>
        </p:nvSpPr>
        <p:spPr>
          <a:xfrm>
            <a:off x="2085975" y="3105150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1</a:t>
            </a:r>
            <a:endParaRPr kumimoji="1" lang="zh-TW" altLang="en-US" sz="2200" baseline="-25000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5DE2814-C819-FE76-F772-36199E14317A}"/>
              </a:ext>
            </a:extLst>
          </p:cNvPr>
          <p:cNvSpPr/>
          <p:nvPr/>
        </p:nvSpPr>
        <p:spPr>
          <a:xfrm>
            <a:off x="2059786" y="4293846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71EE1F06-3802-D9A6-95FE-7BCCFFB10230}"/>
              </a:ext>
            </a:extLst>
          </p:cNvPr>
          <p:cNvSpPr/>
          <p:nvPr/>
        </p:nvSpPr>
        <p:spPr>
          <a:xfrm>
            <a:off x="4562475" y="3105149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2</a:t>
            </a:r>
            <a:endParaRPr kumimoji="1" lang="zh-TW" altLang="en-US" sz="2200" baseline="-25000" dirty="0"/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4231810D-4672-CF67-DCEA-01729C32AC98}"/>
              </a:ext>
            </a:extLst>
          </p:cNvPr>
          <p:cNvSpPr/>
          <p:nvPr/>
        </p:nvSpPr>
        <p:spPr>
          <a:xfrm>
            <a:off x="7035089" y="3105149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3</a:t>
            </a:r>
            <a:endParaRPr kumimoji="1" lang="zh-TW" altLang="en-US" sz="2200" baseline="-25000" dirty="0"/>
          </a:p>
        </p:txBody>
      </p: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2C36422D-8D63-CA3B-5137-8C605787F43A}"/>
              </a:ext>
            </a:extLst>
          </p:cNvPr>
          <p:cNvSpPr/>
          <p:nvPr/>
        </p:nvSpPr>
        <p:spPr>
          <a:xfrm>
            <a:off x="9407741" y="3104574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4</a:t>
            </a:r>
            <a:endParaRPr kumimoji="1" lang="zh-TW" altLang="en-US" sz="2200" baseline="-25000" dirty="0"/>
          </a:p>
        </p:txBody>
      </p:sp>
      <p:sp>
        <p:nvSpPr>
          <p:cNvPr id="42" name="圓角矩形 41">
            <a:extLst>
              <a:ext uri="{FF2B5EF4-FFF2-40B4-BE49-F238E27FC236}">
                <a16:creationId xmlns:a16="http://schemas.microsoft.com/office/drawing/2014/main" id="{0D34AF9D-E022-1513-BACF-34016A7B9AE1}"/>
              </a:ext>
            </a:extLst>
          </p:cNvPr>
          <p:cNvSpPr/>
          <p:nvPr/>
        </p:nvSpPr>
        <p:spPr>
          <a:xfrm>
            <a:off x="2090592" y="1707483"/>
            <a:ext cx="533400" cy="5619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h</a:t>
            </a:r>
            <a:r>
              <a:rPr kumimoji="1" lang="en-US" altLang="zh-TW" sz="2200" baseline="-25000" dirty="0"/>
              <a:t>1</a:t>
            </a:r>
            <a:endParaRPr kumimoji="1" lang="zh-TW" altLang="en-US" sz="2200" baseline="-250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A5A6D88-705C-DD66-EDD4-04A912D645B2}"/>
              </a:ext>
            </a:extLst>
          </p:cNvPr>
          <p:cNvSpPr txBox="1"/>
          <p:nvPr/>
        </p:nvSpPr>
        <p:spPr>
          <a:xfrm>
            <a:off x="2689804" y="6132580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33802C79-6812-95D7-38EF-B4431E130C7D}"/>
              </a:ext>
            </a:extLst>
          </p:cNvPr>
          <p:cNvSpPr/>
          <p:nvPr/>
        </p:nvSpPr>
        <p:spPr>
          <a:xfrm>
            <a:off x="4591161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B20F8536-403E-3A6C-CDE9-9D49C6308AB0}"/>
              </a:ext>
            </a:extLst>
          </p:cNvPr>
          <p:cNvSpPr txBox="1"/>
          <p:nvPr/>
        </p:nvSpPr>
        <p:spPr>
          <a:xfrm>
            <a:off x="5157393" y="613258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print</a:t>
            </a:r>
            <a:endParaRPr kumimoji="1" lang="zh-TW" altLang="en-US" dirty="0"/>
          </a:p>
        </p:txBody>
      </p:sp>
      <p:sp>
        <p:nvSpPr>
          <p:cNvPr id="47" name="圓角矩形 46">
            <a:extLst>
              <a:ext uri="{FF2B5EF4-FFF2-40B4-BE49-F238E27FC236}">
                <a16:creationId xmlns:a16="http://schemas.microsoft.com/office/drawing/2014/main" id="{261722A8-17DC-2F5B-0EBE-3023F950D3D6}"/>
              </a:ext>
            </a:extLst>
          </p:cNvPr>
          <p:cNvSpPr/>
          <p:nvPr/>
        </p:nvSpPr>
        <p:spPr>
          <a:xfrm>
            <a:off x="7067661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7481DC0A-0EBC-D763-FC9D-F88CF071CEA7}"/>
              </a:ext>
            </a:extLst>
          </p:cNvPr>
          <p:cNvSpPr txBox="1"/>
          <p:nvPr/>
        </p:nvSpPr>
        <p:spPr>
          <a:xfrm>
            <a:off x="7630100" y="609845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Hello</a:t>
            </a:r>
            <a:endParaRPr kumimoji="1" lang="zh-TW" altLang="en-US" dirty="0"/>
          </a:p>
        </p:txBody>
      </p:sp>
      <p:sp>
        <p:nvSpPr>
          <p:cNvPr id="49" name="圓角矩形 48">
            <a:extLst>
              <a:ext uri="{FF2B5EF4-FFF2-40B4-BE49-F238E27FC236}">
                <a16:creationId xmlns:a16="http://schemas.microsoft.com/office/drawing/2014/main" id="{5E711CF6-4C5A-CF4B-018E-A38D0D359FDE}"/>
              </a:ext>
            </a:extLst>
          </p:cNvPr>
          <p:cNvSpPr/>
          <p:nvPr/>
        </p:nvSpPr>
        <p:spPr>
          <a:xfrm>
            <a:off x="9443833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4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BEB40D07-0A3B-583E-AF4D-2AAC53FC4885}"/>
              </a:ext>
            </a:extLst>
          </p:cNvPr>
          <p:cNvSpPr txBox="1"/>
          <p:nvPr/>
        </p:nvSpPr>
        <p:spPr>
          <a:xfrm>
            <a:off x="10006272" y="6098455"/>
            <a:ext cx="724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world</a:t>
            </a:r>
            <a:endParaRPr kumimoji="1" lang="zh-TW" altLang="en-US" dirty="0"/>
          </a:p>
        </p:txBody>
      </p:sp>
      <p:cxnSp>
        <p:nvCxnSpPr>
          <p:cNvPr id="54" name="肘形接點 53">
            <a:extLst>
              <a:ext uri="{FF2B5EF4-FFF2-40B4-BE49-F238E27FC236}">
                <a16:creationId xmlns:a16="http://schemas.microsoft.com/office/drawing/2014/main" id="{A44E4929-4C03-96E6-BCF3-938ED87DFA21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2619375" y="3386138"/>
            <a:ext cx="426394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肘形接點 54">
            <a:extLst>
              <a:ext uri="{FF2B5EF4-FFF2-40B4-BE49-F238E27FC236}">
                <a16:creationId xmlns:a16="http://schemas.microsoft.com/office/drawing/2014/main" id="{D2A4A1CE-1C12-0FB2-B308-6F8B08378831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5095875" y="3386137"/>
            <a:ext cx="426394" cy="1155357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肘形接點 57">
            <a:extLst>
              <a:ext uri="{FF2B5EF4-FFF2-40B4-BE49-F238E27FC236}">
                <a16:creationId xmlns:a16="http://schemas.microsoft.com/office/drawing/2014/main" id="{11D20EF7-F704-C358-059D-057CF8B79830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7568489" y="3386137"/>
            <a:ext cx="430280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肘形接點 60">
            <a:extLst>
              <a:ext uri="{FF2B5EF4-FFF2-40B4-BE49-F238E27FC236}">
                <a16:creationId xmlns:a16="http://schemas.microsoft.com/office/drawing/2014/main" id="{4040174D-2F57-CDE1-E3F7-3B7FE58C5903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9941141" y="3385562"/>
            <a:ext cx="426394" cy="115978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肘形接點 63">
            <a:extLst>
              <a:ext uri="{FF2B5EF4-FFF2-40B4-BE49-F238E27FC236}">
                <a16:creationId xmlns:a16="http://schemas.microsoft.com/office/drawing/2014/main" id="{D9A4B7CD-1490-8A33-2233-E61A89161405}"/>
              </a:ext>
            </a:extLst>
          </p:cNvPr>
          <p:cNvCxnSpPr>
            <a:cxnSpLocks/>
            <a:stCxn id="36" idx="0"/>
            <a:endCxn id="39" idx="0"/>
          </p:cNvCxnSpPr>
          <p:nvPr/>
        </p:nvCxnSpPr>
        <p:spPr>
          <a:xfrm rot="5400000" flipH="1" flipV="1">
            <a:off x="3590925" y="1866900"/>
            <a:ext cx="1" cy="2476500"/>
          </a:xfrm>
          <a:prstGeom prst="bentConnector3">
            <a:avLst>
              <a:gd name="adj1" fmla="val 228601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肘形接點 73">
            <a:extLst>
              <a:ext uri="{FF2B5EF4-FFF2-40B4-BE49-F238E27FC236}">
                <a16:creationId xmlns:a16="http://schemas.microsoft.com/office/drawing/2014/main" id="{7EB525AD-E0E1-A4FF-F376-EA45F8E7501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65482" y="1866326"/>
            <a:ext cx="1" cy="2476500"/>
          </a:xfrm>
          <a:prstGeom prst="bentConnector3">
            <a:avLst>
              <a:gd name="adj1" fmla="val 228601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肘形接點 74">
            <a:extLst>
              <a:ext uri="{FF2B5EF4-FFF2-40B4-BE49-F238E27FC236}">
                <a16:creationId xmlns:a16="http://schemas.microsoft.com/office/drawing/2014/main" id="{9CCAD307-5598-6E11-0B84-0E590E6F8050}"/>
              </a:ext>
            </a:extLst>
          </p:cNvPr>
          <p:cNvCxnSpPr>
            <a:cxnSpLocks/>
            <a:stCxn id="40" idx="0"/>
            <a:endCxn id="41" idx="0"/>
          </p:cNvCxnSpPr>
          <p:nvPr/>
        </p:nvCxnSpPr>
        <p:spPr>
          <a:xfrm rot="5400000" flipH="1" flipV="1">
            <a:off x="8487828" y="1918536"/>
            <a:ext cx="575" cy="2372652"/>
          </a:xfrm>
          <a:prstGeom prst="bentConnector3">
            <a:avLst>
              <a:gd name="adj1" fmla="val 39856522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肘形接點 78">
            <a:extLst>
              <a:ext uri="{FF2B5EF4-FFF2-40B4-BE49-F238E27FC236}">
                <a16:creationId xmlns:a16="http://schemas.microsoft.com/office/drawing/2014/main" id="{4327E1C5-B662-6BB4-6B62-40A5A99FBE6D}"/>
              </a:ext>
            </a:extLst>
          </p:cNvPr>
          <p:cNvCxnSpPr>
            <a:cxnSpLocks/>
            <a:stCxn id="42" idx="2"/>
          </p:cNvCxnSpPr>
          <p:nvPr/>
        </p:nvCxnSpPr>
        <p:spPr>
          <a:xfrm rot="16200000" flipH="1">
            <a:off x="3873029" y="753721"/>
            <a:ext cx="608827" cy="3640300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5DC2FBD7-A1EE-AA47-3C6B-FAE67A12BD47}"/>
              </a:ext>
            </a:extLst>
          </p:cNvPr>
          <p:cNvSpPr txBox="1"/>
          <p:nvPr/>
        </p:nvSpPr>
        <p:spPr>
          <a:xfrm>
            <a:off x="3439714" y="2229593"/>
            <a:ext cx="175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Weighted sum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3CEEF3A-096B-368A-D6CC-5F0A6A8D6DE8}"/>
              </a:ext>
            </a:extLst>
          </p:cNvPr>
          <p:cNvSpPr txBox="1"/>
          <p:nvPr/>
        </p:nvSpPr>
        <p:spPr>
          <a:xfrm>
            <a:off x="373627" y="1422809"/>
            <a:ext cx="111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t = 1</a:t>
            </a:r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F61E927-F1BF-1314-8AC2-702FA4015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478" y="1426473"/>
            <a:ext cx="4222424" cy="77150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33C50B8-9BD1-D00A-2EF3-781F6A2F057C}"/>
              </a:ext>
            </a:extLst>
          </p:cNvPr>
          <p:cNvSpPr/>
          <p:nvPr/>
        </p:nvSpPr>
        <p:spPr>
          <a:xfrm>
            <a:off x="9619862" y="1454871"/>
            <a:ext cx="1558211" cy="7337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86DEAD-FA87-C1F0-E50E-BE3487F6451D}"/>
              </a:ext>
            </a:extLst>
          </p:cNvPr>
          <p:cNvSpPr/>
          <p:nvPr/>
        </p:nvSpPr>
        <p:spPr>
          <a:xfrm>
            <a:off x="11273006" y="1604865"/>
            <a:ext cx="217565" cy="37322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80E6BF5C-B62E-25F3-AB39-7B27780D4D11}"/>
              </a:ext>
            </a:extLst>
          </p:cNvPr>
          <p:cNvSpPr/>
          <p:nvPr/>
        </p:nvSpPr>
        <p:spPr>
          <a:xfrm>
            <a:off x="1435441" y="4541496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7FED66AA-9E1A-5D23-1889-0AABB774924A}"/>
              </a:ext>
            </a:extLst>
          </p:cNvPr>
          <p:cNvSpPr/>
          <p:nvPr/>
        </p:nvSpPr>
        <p:spPr>
          <a:xfrm>
            <a:off x="2107255" y="4541495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C8ECCC90-BA61-4BA8-3547-B5D4BE8FC30A}"/>
              </a:ext>
            </a:extLst>
          </p:cNvPr>
          <p:cNvSpPr/>
          <p:nvPr/>
        </p:nvSpPr>
        <p:spPr>
          <a:xfrm>
            <a:off x="2779069" y="4541494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8DD4E539-4901-EC90-FBAA-AC3C72481221}"/>
              </a:ext>
            </a:extLst>
          </p:cNvPr>
          <p:cNvSpPr/>
          <p:nvPr/>
        </p:nvSpPr>
        <p:spPr>
          <a:xfrm>
            <a:off x="3911941" y="4541496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CF62877C-3A81-4C56-66B9-B9C645F717A6}"/>
              </a:ext>
            </a:extLst>
          </p:cNvPr>
          <p:cNvSpPr/>
          <p:nvPr/>
        </p:nvSpPr>
        <p:spPr>
          <a:xfrm>
            <a:off x="4583755" y="4541495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AFB9D7F8-F31B-8108-B8D8-59415B5D946F}"/>
              </a:ext>
            </a:extLst>
          </p:cNvPr>
          <p:cNvSpPr/>
          <p:nvPr/>
        </p:nvSpPr>
        <p:spPr>
          <a:xfrm>
            <a:off x="5255569" y="4541494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A514D6E9-DAA7-FF13-C883-4D95D366E449}"/>
              </a:ext>
            </a:extLst>
          </p:cNvPr>
          <p:cNvSpPr/>
          <p:nvPr/>
        </p:nvSpPr>
        <p:spPr>
          <a:xfrm>
            <a:off x="6388441" y="4541495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E2B232B3-E2A0-7183-74D1-AA769D5C8245}"/>
              </a:ext>
            </a:extLst>
          </p:cNvPr>
          <p:cNvSpPr/>
          <p:nvPr/>
        </p:nvSpPr>
        <p:spPr>
          <a:xfrm>
            <a:off x="7060255" y="4541494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31" name="圓角矩形 30">
            <a:extLst>
              <a:ext uri="{FF2B5EF4-FFF2-40B4-BE49-F238E27FC236}">
                <a16:creationId xmlns:a16="http://schemas.microsoft.com/office/drawing/2014/main" id="{B01B2022-D8B2-B48A-9B75-1101E912AEFC}"/>
              </a:ext>
            </a:extLst>
          </p:cNvPr>
          <p:cNvSpPr/>
          <p:nvPr/>
        </p:nvSpPr>
        <p:spPr>
          <a:xfrm>
            <a:off x="7732069" y="4541493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38" name="圓角矩形 37">
            <a:extLst>
              <a:ext uri="{FF2B5EF4-FFF2-40B4-BE49-F238E27FC236}">
                <a16:creationId xmlns:a16="http://schemas.microsoft.com/office/drawing/2014/main" id="{B6605E7B-90DB-890F-71DB-78A04F50D04E}"/>
              </a:ext>
            </a:extLst>
          </p:cNvPr>
          <p:cNvSpPr/>
          <p:nvPr/>
        </p:nvSpPr>
        <p:spPr>
          <a:xfrm>
            <a:off x="8757207" y="4545350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  <p:sp>
        <p:nvSpPr>
          <p:cNvPr id="43" name="圓角矩形 42">
            <a:extLst>
              <a:ext uri="{FF2B5EF4-FFF2-40B4-BE49-F238E27FC236}">
                <a16:creationId xmlns:a16="http://schemas.microsoft.com/office/drawing/2014/main" id="{2AC6C5AC-D588-467F-3F4F-C4B9DB6CF877}"/>
              </a:ext>
            </a:extLst>
          </p:cNvPr>
          <p:cNvSpPr/>
          <p:nvPr/>
        </p:nvSpPr>
        <p:spPr>
          <a:xfrm>
            <a:off x="9429021" y="4545349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  <p:sp>
        <p:nvSpPr>
          <p:cNvPr id="51" name="圓角矩形 50">
            <a:extLst>
              <a:ext uri="{FF2B5EF4-FFF2-40B4-BE49-F238E27FC236}">
                <a16:creationId xmlns:a16="http://schemas.microsoft.com/office/drawing/2014/main" id="{2AEE2374-BE02-1A8E-12AC-AF679BD85950}"/>
              </a:ext>
            </a:extLst>
          </p:cNvPr>
          <p:cNvSpPr/>
          <p:nvPr/>
        </p:nvSpPr>
        <p:spPr>
          <a:xfrm>
            <a:off x="10100835" y="4545348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</p:spTree>
    <p:extLst>
      <p:ext uri="{BB962C8B-B14F-4D97-AF65-F5344CB8AC3E}">
        <p14:creationId xmlns:p14="http://schemas.microsoft.com/office/powerpoint/2010/main" val="151401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7" grpId="0" animBg="1"/>
      <p:bldP spid="37" grpId="1" animBg="1"/>
      <p:bldP spid="39" grpId="0" animBg="1"/>
      <p:bldP spid="40" grpId="0" animBg="1"/>
      <p:bldP spid="41" grpId="0" animBg="1"/>
      <p:bldP spid="42" grpId="0" animBg="1"/>
      <p:bldP spid="9" grpId="0"/>
      <p:bldP spid="8" grpId="0" animBg="1"/>
      <p:bldP spid="8" grpId="1" animBg="1"/>
      <p:bldP spid="10" grpId="0" animBg="1"/>
      <p:bldP spid="10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C7C744-4D6E-A486-0C23-1201579C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Query (Q), Key (K), and Value (V)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9207B4-7A63-4047-96AA-B65EEDFAA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71E07550-B1F4-F3A3-60C6-02A78EE367C2}"/>
              </a:ext>
            </a:extLst>
          </p:cNvPr>
          <p:cNvSpPr/>
          <p:nvPr/>
        </p:nvSpPr>
        <p:spPr>
          <a:xfrm>
            <a:off x="2114661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1F84A656-CA83-526C-B6FE-D93DD219E455}"/>
              </a:ext>
            </a:extLst>
          </p:cNvPr>
          <p:cNvSpPr txBox="1"/>
          <p:nvPr/>
        </p:nvSpPr>
        <p:spPr>
          <a:xfrm>
            <a:off x="3963050" y="5624190"/>
            <a:ext cx="965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dirty="0"/>
              <a:t>🎯</a:t>
            </a:r>
            <a:endParaRPr kumimoji="1" lang="zh-TW" altLang="en-US" sz="36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7DDB966-8DC7-C5CF-35B1-AEB9264CA4C6}"/>
              </a:ext>
            </a:extLst>
          </p:cNvPr>
          <p:cNvSpPr/>
          <p:nvPr/>
        </p:nvSpPr>
        <p:spPr>
          <a:xfrm>
            <a:off x="3875048" y="4321363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6DE0177-E8AE-105A-E9F0-EE21F0096888}"/>
              </a:ext>
            </a:extLst>
          </p:cNvPr>
          <p:cNvSpPr/>
          <p:nvPr/>
        </p:nvSpPr>
        <p:spPr>
          <a:xfrm>
            <a:off x="454731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9FC1B44-5C41-9BD9-4299-AE348F3DB43A}"/>
              </a:ext>
            </a:extLst>
          </p:cNvPr>
          <p:cNvSpPr/>
          <p:nvPr/>
        </p:nvSpPr>
        <p:spPr>
          <a:xfrm>
            <a:off x="7016039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AC756C1-DBDE-0F5B-FEBE-415CABCF9BBC}"/>
              </a:ext>
            </a:extLst>
          </p:cNvPr>
          <p:cNvSpPr/>
          <p:nvPr/>
        </p:nvSpPr>
        <p:spPr>
          <a:xfrm>
            <a:off x="938869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6" name="圓角矩形 35">
            <a:extLst>
              <a:ext uri="{FF2B5EF4-FFF2-40B4-BE49-F238E27FC236}">
                <a16:creationId xmlns:a16="http://schemas.microsoft.com/office/drawing/2014/main" id="{A42083A9-2C49-EA47-ADF8-6E81062DC093}"/>
              </a:ext>
            </a:extLst>
          </p:cNvPr>
          <p:cNvSpPr/>
          <p:nvPr/>
        </p:nvSpPr>
        <p:spPr>
          <a:xfrm>
            <a:off x="2085975" y="3105150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1</a:t>
            </a:r>
            <a:endParaRPr kumimoji="1" lang="zh-TW" altLang="en-US" sz="2200" baseline="-25000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5DE2814-C819-FE76-F772-36199E14317A}"/>
              </a:ext>
            </a:extLst>
          </p:cNvPr>
          <p:cNvSpPr/>
          <p:nvPr/>
        </p:nvSpPr>
        <p:spPr>
          <a:xfrm>
            <a:off x="2059786" y="4293846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71EE1F06-3802-D9A6-95FE-7BCCFFB10230}"/>
              </a:ext>
            </a:extLst>
          </p:cNvPr>
          <p:cNvSpPr/>
          <p:nvPr/>
        </p:nvSpPr>
        <p:spPr>
          <a:xfrm>
            <a:off x="4562475" y="3105149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2</a:t>
            </a:r>
            <a:endParaRPr kumimoji="1" lang="zh-TW" altLang="en-US" sz="2200" baseline="-25000" dirty="0"/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4231810D-4672-CF67-DCEA-01729C32AC98}"/>
              </a:ext>
            </a:extLst>
          </p:cNvPr>
          <p:cNvSpPr/>
          <p:nvPr/>
        </p:nvSpPr>
        <p:spPr>
          <a:xfrm>
            <a:off x="7035089" y="3105149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3</a:t>
            </a:r>
            <a:endParaRPr kumimoji="1" lang="zh-TW" altLang="en-US" sz="2200" baseline="-25000" dirty="0"/>
          </a:p>
        </p:txBody>
      </p: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2C36422D-8D63-CA3B-5137-8C605787F43A}"/>
              </a:ext>
            </a:extLst>
          </p:cNvPr>
          <p:cNvSpPr/>
          <p:nvPr/>
        </p:nvSpPr>
        <p:spPr>
          <a:xfrm>
            <a:off x="9407741" y="3104574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4</a:t>
            </a:r>
            <a:endParaRPr kumimoji="1" lang="zh-TW" altLang="en-US" sz="2200" baseline="-25000" dirty="0"/>
          </a:p>
        </p:txBody>
      </p:sp>
      <p:sp>
        <p:nvSpPr>
          <p:cNvPr id="42" name="圓角矩形 41">
            <a:extLst>
              <a:ext uri="{FF2B5EF4-FFF2-40B4-BE49-F238E27FC236}">
                <a16:creationId xmlns:a16="http://schemas.microsoft.com/office/drawing/2014/main" id="{0D34AF9D-E022-1513-BACF-34016A7B9AE1}"/>
              </a:ext>
            </a:extLst>
          </p:cNvPr>
          <p:cNvSpPr/>
          <p:nvPr/>
        </p:nvSpPr>
        <p:spPr>
          <a:xfrm>
            <a:off x="2090592" y="1707483"/>
            <a:ext cx="533400" cy="5619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h</a:t>
            </a:r>
            <a:r>
              <a:rPr kumimoji="1" lang="en-US" altLang="zh-TW" sz="2200" baseline="-25000" dirty="0"/>
              <a:t>1</a:t>
            </a:r>
            <a:endParaRPr kumimoji="1" lang="zh-TW" altLang="en-US" sz="2200" baseline="-250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A5A6D88-705C-DD66-EDD4-04A912D645B2}"/>
              </a:ext>
            </a:extLst>
          </p:cNvPr>
          <p:cNvSpPr txBox="1"/>
          <p:nvPr/>
        </p:nvSpPr>
        <p:spPr>
          <a:xfrm>
            <a:off x="2689804" y="6132580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33802C79-6812-95D7-38EF-B4431E130C7D}"/>
              </a:ext>
            </a:extLst>
          </p:cNvPr>
          <p:cNvSpPr/>
          <p:nvPr/>
        </p:nvSpPr>
        <p:spPr>
          <a:xfrm>
            <a:off x="4591161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B20F8536-403E-3A6C-CDE9-9D49C6308AB0}"/>
              </a:ext>
            </a:extLst>
          </p:cNvPr>
          <p:cNvSpPr txBox="1"/>
          <p:nvPr/>
        </p:nvSpPr>
        <p:spPr>
          <a:xfrm>
            <a:off x="5157393" y="613258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print</a:t>
            </a:r>
            <a:endParaRPr kumimoji="1" lang="zh-TW" altLang="en-US" dirty="0"/>
          </a:p>
        </p:txBody>
      </p:sp>
      <p:sp>
        <p:nvSpPr>
          <p:cNvPr id="47" name="圓角矩形 46">
            <a:extLst>
              <a:ext uri="{FF2B5EF4-FFF2-40B4-BE49-F238E27FC236}">
                <a16:creationId xmlns:a16="http://schemas.microsoft.com/office/drawing/2014/main" id="{261722A8-17DC-2F5B-0EBE-3023F950D3D6}"/>
              </a:ext>
            </a:extLst>
          </p:cNvPr>
          <p:cNvSpPr/>
          <p:nvPr/>
        </p:nvSpPr>
        <p:spPr>
          <a:xfrm>
            <a:off x="7067661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7481DC0A-0EBC-D763-FC9D-F88CF071CEA7}"/>
              </a:ext>
            </a:extLst>
          </p:cNvPr>
          <p:cNvSpPr txBox="1"/>
          <p:nvPr/>
        </p:nvSpPr>
        <p:spPr>
          <a:xfrm>
            <a:off x="7630100" y="609845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Hello</a:t>
            </a:r>
            <a:endParaRPr kumimoji="1" lang="zh-TW" altLang="en-US" dirty="0"/>
          </a:p>
        </p:txBody>
      </p:sp>
      <p:sp>
        <p:nvSpPr>
          <p:cNvPr id="49" name="圓角矩形 48">
            <a:extLst>
              <a:ext uri="{FF2B5EF4-FFF2-40B4-BE49-F238E27FC236}">
                <a16:creationId xmlns:a16="http://schemas.microsoft.com/office/drawing/2014/main" id="{5E711CF6-4C5A-CF4B-018E-A38D0D359FDE}"/>
              </a:ext>
            </a:extLst>
          </p:cNvPr>
          <p:cNvSpPr/>
          <p:nvPr/>
        </p:nvSpPr>
        <p:spPr>
          <a:xfrm>
            <a:off x="9443833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4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BEB40D07-0A3B-583E-AF4D-2AAC53FC4885}"/>
              </a:ext>
            </a:extLst>
          </p:cNvPr>
          <p:cNvSpPr txBox="1"/>
          <p:nvPr/>
        </p:nvSpPr>
        <p:spPr>
          <a:xfrm>
            <a:off x="10006272" y="6098455"/>
            <a:ext cx="724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world</a:t>
            </a:r>
            <a:endParaRPr kumimoji="1" lang="zh-TW" altLang="en-US" dirty="0"/>
          </a:p>
        </p:txBody>
      </p:sp>
      <p:cxnSp>
        <p:nvCxnSpPr>
          <p:cNvPr id="54" name="肘形接點 53">
            <a:extLst>
              <a:ext uri="{FF2B5EF4-FFF2-40B4-BE49-F238E27FC236}">
                <a16:creationId xmlns:a16="http://schemas.microsoft.com/office/drawing/2014/main" id="{A44E4929-4C03-96E6-BCF3-938ED87DFA21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2619375" y="3386138"/>
            <a:ext cx="426394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肘形接點 54">
            <a:extLst>
              <a:ext uri="{FF2B5EF4-FFF2-40B4-BE49-F238E27FC236}">
                <a16:creationId xmlns:a16="http://schemas.microsoft.com/office/drawing/2014/main" id="{D2A4A1CE-1C12-0FB2-B308-6F8B08378831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5095875" y="3386137"/>
            <a:ext cx="426394" cy="1155357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肘形接點 57">
            <a:extLst>
              <a:ext uri="{FF2B5EF4-FFF2-40B4-BE49-F238E27FC236}">
                <a16:creationId xmlns:a16="http://schemas.microsoft.com/office/drawing/2014/main" id="{11D20EF7-F704-C358-059D-057CF8B79830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7568489" y="3386137"/>
            <a:ext cx="430280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肘形接點 60">
            <a:extLst>
              <a:ext uri="{FF2B5EF4-FFF2-40B4-BE49-F238E27FC236}">
                <a16:creationId xmlns:a16="http://schemas.microsoft.com/office/drawing/2014/main" id="{4040174D-2F57-CDE1-E3F7-3B7FE58C5903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9941141" y="3385562"/>
            <a:ext cx="426394" cy="115978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肘形接點 63">
            <a:extLst>
              <a:ext uri="{FF2B5EF4-FFF2-40B4-BE49-F238E27FC236}">
                <a16:creationId xmlns:a16="http://schemas.microsoft.com/office/drawing/2014/main" id="{D9A4B7CD-1490-8A33-2233-E61A89161405}"/>
              </a:ext>
            </a:extLst>
          </p:cNvPr>
          <p:cNvCxnSpPr>
            <a:cxnSpLocks/>
            <a:stCxn id="36" idx="0"/>
            <a:endCxn id="39" idx="0"/>
          </p:cNvCxnSpPr>
          <p:nvPr/>
        </p:nvCxnSpPr>
        <p:spPr>
          <a:xfrm rot="5400000" flipH="1" flipV="1">
            <a:off x="3590925" y="1866900"/>
            <a:ext cx="1" cy="2476500"/>
          </a:xfrm>
          <a:prstGeom prst="bentConnector3">
            <a:avLst>
              <a:gd name="adj1" fmla="val 228601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肘形接點 73">
            <a:extLst>
              <a:ext uri="{FF2B5EF4-FFF2-40B4-BE49-F238E27FC236}">
                <a16:creationId xmlns:a16="http://schemas.microsoft.com/office/drawing/2014/main" id="{7EB525AD-E0E1-A4FF-F376-EA45F8E7501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65482" y="1866326"/>
            <a:ext cx="1" cy="2476500"/>
          </a:xfrm>
          <a:prstGeom prst="bentConnector3">
            <a:avLst>
              <a:gd name="adj1" fmla="val 228601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肘形接點 74">
            <a:extLst>
              <a:ext uri="{FF2B5EF4-FFF2-40B4-BE49-F238E27FC236}">
                <a16:creationId xmlns:a16="http://schemas.microsoft.com/office/drawing/2014/main" id="{9CCAD307-5598-6E11-0B84-0E590E6F8050}"/>
              </a:ext>
            </a:extLst>
          </p:cNvPr>
          <p:cNvCxnSpPr>
            <a:cxnSpLocks/>
            <a:stCxn id="40" idx="0"/>
            <a:endCxn id="41" idx="0"/>
          </p:cNvCxnSpPr>
          <p:nvPr/>
        </p:nvCxnSpPr>
        <p:spPr>
          <a:xfrm rot="5400000" flipH="1" flipV="1">
            <a:off x="8487828" y="1918536"/>
            <a:ext cx="575" cy="2372652"/>
          </a:xfrm>
          <a:prstGeom prst="bentConnector3">
            <a:avLst>
              <a:gd name="adj1" fmla="val 39856522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肘形接點 78">
            <a:extLst>
              <a:ext uri="{FF2B5EF4-FFF2-40B4-BE49-F238E27FC236}">
                <a16:creationId xmlns:a16="http://schemas.microsoft.com/office/drawing/2014/main" id="{4327E1C5-B662-6BB4-6B62-40A5A99FBE6D}"/>
              </a:ext>
            </a:extLst>
          </p:cNvPr>
          <p:cNvCxnSpPr>
            <a:cxnSpLocks/>
            <a:stCxn id="3" idx="2"/>
            <a:endCxn id="29" idx="0"/>
          </p:cNvCxnSpPr>
          <p:nvPr/>
        </p:nvCxnSpPr>
        <p:spPr>
          <a:xfrm rot="16200000" flipH="1">
            <a:off x="5203409" y="1899671"/>
            <a:ext cx="606442" cy="1352622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5DC2FBD7-A1EE-AA47-3C6B-FAE67A12BD47}"/>
              </a:ext>
            </a:extLst>
          </p:cNvPr>
          <p:cNvSpPr txBox="1"/>
          <p:nvPr/>
        </p:nvSpPr>
        <p:spPr>
          <a:xfrm>
            <a:off x="5363719" y="2194779"/>
            <a:ext cx="175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Weighted sum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798C23A6-D724-6810-F30D-DBB666BE34E6}"/>
              </a:ext>
            </a:extLst>
          </p:cNvPr>
          <p:cNvSpPr/>
          <p:nvPr/>
        </p:nvSpPr>
        <p:spPr>
          <a:xfrm>
            <a:off x="4563619" y="1710786"/>
            <a:ext cx="533400" cy="5619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h</a:t>
            </a:r>
            <a:r>
              <a:rPr kumimoji="1" lang="en-US" altLang="zh-TW" sz="2200" baseline="-25000" dirty="0"/>
              <a:t>2</a:t>
            </a:r>
            <a:endParaRPr kumimoji="1" lang="zh-TW" altLang="en-US" sz="2200" baseline="-250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0170A659-6516-E18F-F9E6-BB63DF97EE16}"/>
              </a:ext>
            </a:extLst>
          </p:cNvPr>
          <p:cNvSpPr txBox="1"/>
          <p:nvPr/>
        </p:nvSpPr>
        <p:spPr>
          <a:xfrm>
            <a:off x="5861035" y="2879203"/>
            <a:ext cx="643812" cy="394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533FC077-B966-4BC5-CB81-CD8E7A4A66A7}"/>
              </a:ext>
            </a:extLst>
          </p:cNvPr>
          <p:cNvSpPr txBox="1"/>
          <p:nvPr/>
        </p:nvSpPr>
        <p:spPr>
          <a:xfrm>
            <a:off x="373627" y="1422809"/>
            <a:ext cx="111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t = 2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E9CD860-E77A-D841-66FD-09B16626B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478" y="1426473"/>
            <a:ext cx="4222424" cy="77150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2F17A5E-0CD0-8FD1-B7FD-8538C3C71ED6}"/>
              </a:ext>
            </a:extLst>
          </p:cNvPr>
          <p:cNvSpPr/>
          <p:nvPr/>
        </p:nvSpPr>
        <p:spPr>
          <a:xfrm>
            <a:off x="9619862" y="1454871"/>
            <a:ext cx="1558211" cy="7337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BB4326-1B2F-F5E7-4915-49A065F1AF76}"/>
              </a:ext>
            </a:extLst>
          </p:cNvPr>
          <p:cNvSpPr/>
          <p:nvPr/>
        </p:nvSpPr>
        <p:spPr>
          <a:xfrm>
            <a:off x="11273006" y="1604865"/>
            <a:ext cx="217565" cy="37322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3C3B79E8-AD22-2830-EAC0-5E39C4997D9A}"/>
              </a:ext>
            </a:extLst>
          </p:cNvPr>
          <p:cNvSpPr/>
          <p:nvPr/>
        </p:nvSpPr>
        <p:spPr>
          <a:xfrm>
            <a:off x="1435441" y="4541496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DAE3B48B-8398-C53D-7BAE-1B954653479F}"/>
              </a:ext>
            </a:extLst>
          </p:cNvPr>
          <p:cNvSpPr/>
          <p:nvPr/>
        </p:nvSpPr>
        <p:spPr>
          <a:xfrm>
            <a:off x="2107255" y="4541495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48E271F4-B940-BD15-D999-84605C86BBFF}"/>
              </a:ext>
            </a:extLst>
          </p:cNvPr>
          <p:cNvSpPr/>
          <p:nvPr/>
        </p:nvSpPr>
        <p:spPr>
          <a:xfrm>
            <a:off x="2779069" y="4541494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06AAD4D1-A6F3-8042-3B6F-D715C8169663}"/>
              </a:ext>
            </a:extLst>
          </p:cNvPr>
          <p:cNvSpPr/>
          <p:nvPr/>
        </p:nvSpPr>
        <p:spPr>
          <a:xfrm>
            <a:off x="3911941" y="4541496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6A78D0EA-F64D-9934-FE5A-F2D83668B41B}"/>
              </a:ext>
            </a:extLst>
          </p:cNvPr>
          <p:cNvSpPr/>
          <p:nvPr/>
        </p:nvSpPr>
        <p:spPr>
          <a:xfrm>
            <a:off x="4583755" y="4541495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B5AC6563-DF15-4088-9B82-7E18AB7B6CAB}"/>
              </a:ext>
            </a:extLst>
          </p:cNvPr>
          <p:cNvSpPr/>
          <p:nvPr/>
        </p:nvSpPr>
        <p:spPr>
          <a:xfrm>
            <a:off x="5255569" y="4541494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19C3F8AE-1CA9-9400-1081-D721DEB4EDFE}"/>
              </a:ext>
            </a:extLst>
          </p:cNvPr>
          <p:cNvSpPr/>
          <p:nvPr/>
        </p:nvSpPr>
        <p:spPr>
          <a:xfrm>
            <a:off x="6388441" y="4541495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31" name="圓角矩形 30">
            <a:extLst>
              <a:ext uri="{FF2B5EF4-FFF2-40B4-BE49-F238E27FC236}">
                <a16:creationId xmlns:a16="http://schemas.microsoft.com/office/drawing/2014/main" id="{7D99A817-A28C-F147-C840-9955158F4853}"/>
              </a:ext>
            </a:extLst>
          </p:cNvPr>
          <p:cNvSpPr/>
          <p:nvPr/>
        </p:nvSpPr>
        <p:spPr>
          <a:xfrm>
            <a:off x="7060255" y="4541494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38" name="圓角矩形 37">
            <a:extLst>
              <a:ext uri="{FF2B5EF4-FFF2-40B4-BE49-F238E27FC236}">
                <a16:creationId xmlns:a16="http://schemas.microsoft.com/office/drawing/2014/main" id="{D17695EF-B8F3-9CAB-DD1F-95CE77063A64}"/>
              </a:ext>
            </a:extLst>
          </p:cNvPr>
          <p:cNvSpPr/>
          <p:nvPr/>
        </p:nvSpPr>
        <p:spPr>
          <a:xfrm>
            <a:off x="7732069" y="4541493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51" name="圓角矩形 50">
            <a:extLst>
              <a:ext uri="{FF2B5EF4-FFF2-40B4-BE49-F238E27FC236}">
                <a16:creationId xmlns:a16="http://schemas.microsoft.com/office/drawing/2014/main" id="{49F15B57-9EC3-E20D-E251-239221BED53D}"/>
              </a:ext>
            </a:extLst>
          </p:cNvPr>
          <p:cNvSpPr/>
          <p:nvPr/>
        </p:nvSpPr>
        <p:spPr>
          <a:xfrm>
            <a:off x="8757207" y="4545350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  <p:sp>
        <p:nvSpPr>
          <p:cNvPr id="52" name="圓角矩形 51">
            <a:extLst>
              <a:ext uri="{FF2B5EF4-FFF2-40B4-BE49-F238E27FC236}">
                <a16:creationId xmlns:a16="http://schemas.microsoft.com/office/drawing/2014/main" id="{F01B82BA-B1B5-C597-6033-B59AAE058B92}"/>
              </a:ext>
            </a:extLst>
          </p:cNvPr>
          <p:cNvSpPr/>
          <p:nvPr/>
        </p:nvSpPr>
        <p:spPr>
          <a:xfrm>
            <a:off x="9429021" y="4545349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  <p:sp>
        <p:nvSpPr>
          <p:cNvPr id="53" name="圓角矩形 52">
            <a:extLst>
              <a:ext uri="{FF2B5EF4-FFF2-40B4-BE49-F238E27FC236}">
                <a16:creationId xmlns:a16="http://schemas.microsoft.com/office/drawing/2014/main" id="{6D7A1D69-CDC1-B514-2B00-4F9167D4FF96}"/>
              </a:ext>
            </a:extLst>
          </p:cNvPr>
          <p:cNvSpPr/>
          <p:nvPr/>
        </p:nvSpPr>
        <p:spPr>
          <a:xfrm>
            <a:off x="10100835" y="4545348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</p:spTree>
    <p:extLst>
      <p:ext uri="{BB962C8B-B14F-4D97-AF65-F5344CB8AC3E}">
        <p14:creationId xmlns:p14="http://schemas.microsoft.com/office/powerpoint/2010/main" val="1133571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7" grpId="0" animBg="1"/>
      <p:bldP spid="37" grpId="1" animBg="1"/>
      <p:bldP spid="39" grpId="0" animBg="1"/>
      <p:bldP spid="40" grpId="0" animBg="1"/>
      <p:bldP spid="41" grpId="0" animBg="1"/>
      <p:bldP spid="9" grpId="0"/>
      <p:bldP spid="3" grpId="0" animBg="1"/>
      <p:bldP spid="6" grpId="0" animBg="1"/>
      <p:bldP spid="6" grpId="1" animBg="1"/>
      <p:bldP spid="7" grpId="0" animBg="1"/>
      <p:bldP spid="7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43973B-891B-BADF-F9F1-501CAC8A4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Self-attention </a:t>
            </a:r>
            <a:r>
              <a:rPr kumimoji="1" lang="zh-TW" altLang="en-US" dirty="0"/>
              <a:t>動畫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5686C8-8BF9-08B0-E400-DDDA8D21E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6" name="圖片 5" descr="一張含有 白色, 設計 的圖片&#10;&#10;自動產生的描述">
            <a:extLst>
              <a:ext uri="{FF2B5EF4-FFF2-40B4-BE49-F238E27FC236}">
                <a16:creationId xmlns:a16="http://schemas.microsoft.com/office/drawing/2014/main" id="{651379A5-8D19-AE8E-759F-03DE6AC62B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709" y="1614196"/>
            <a:ext cx="5760582" cy="5094514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B53A6D3-7ACC-7D2E-8C82-F722CAEE0BE3}"/>
              </a:ext>
            </a:extLst>
          </p:cNvPr>
          <p:cNvSpPr txBox="1"/>
          <p:nvPr/>
        </p:nvSpPr>
        <p:spPr>
          <a:xfrm>
            <a:off x="7507116" y="395742"/>
            <a:ext cx="40643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Figure source: https://</a:t>
            </a:r>
            <a:r>
              <a:rPr kumimoji="1" lang="en" altLang="zh-TW" sz="1400" dirty="0" err="1"/>
              <a:t>research.google</a:t>
            </a:r>
            <a:r>
              <a:rPr kumimoji="1" lang="en" altLang="zh-TW" sz="1400" dirty="0"/>
              <a:t>/blog/transformer-a-novel-neural-network-architecture-for-language-understanding/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69850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45C4EA-0221-F241-375A-6D3155DD0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3658902-D0CD-CCD2-3F00-43B62E3BB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112" y="698830"/>
            <a:ext cx="9151776" cy="5264823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8B69D55-0AF8-5594-8199-B6201BAE0577}"/>
              </a:ext>
            </a:extLst>
          </p:cNvPr>
          <p:cNvSpPr txBox="1"/>
          <p:nvPr/>
        </p:nvSpPr>
        <p:spPr>
          <a:xfrm>
            <a:off x="9814686" y="4208107"/>
            <a:ext cx="1312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 err="1">
                <a:solidFill>
                  <a:srgbClr val="0070C0"/>
                </a:solidFill>
              </a:rPr>
              <a:t>OpenAI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34E68DC-BD30-8156-D5D7-E93EBA19C2F7}"/>
              </a:ext>
            </a:extLst>
          </p:cNvPr>
          <p:cNvSpPr txBox="1"/>
          <p:nvPr/>
        </p:nvSpPr>
        <p:spPr>
          <a:xfrm>
            <a:off x="765111" y="4206352"/>
            <a:ext cx="1411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Sakana AI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80D19FC-6EB0-4E19-AE25-DB765FD97692}"/>
              </a:ext>
            </a:extLst>
          </p:cNvPr>
          <p:cNvSpPr txBox="1"/>
          <p:nvPr/>
        </p:nvSpPr>
        <p:spPr>
          <a:xfrm>
            <a:off x="5011387" y="3888756"/>
            <a:ext cx="1312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Cohere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9C39924-8466-9C65-0F2C-B67FB074C2B4}"/>
              </a:ext>
            </a:extLst>
          </p:cNvPr>
          <p:cNvSpPr txBox="1"/>
          <p:nvPr/>
        </p:nvSpPr>
        <p:spPr>
          <a:xfrm>
            <a:off x="5439987" y="5004319"/>
            <a:ext cx="1312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NEAR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708CDF4-F66D-AA4A-0BBB-78B6404978FC}"/>
              </a:ext>
            </a:extLst>
          </p:cNvPr>
          <p:cNvSpPr txBox="1"/>
          <p:nvPr/>
        </p:nvSpPr>
        <p:spPr>
          <a:xfrm>
            <a:off x="2082819" y="2679883"/>
            <a:ext cx="1770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Essential AI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960FB2E-F740-FFF1-25A6-D1B3C112C612}"/>
              </a:ext>
            </a:extLst>
          </p:cNvPr>
          <p:cNvSpPr txBox="1"/>
          <p:nvPr/>
        </p:nvSpPr>
        <p:spPr>
          <a:xfrm>
            <a:off x="6595727" y="2679883"/>
            <a:ext cx="1770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Anthropic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DE5F3D4-5658-5E7D-AEA8-A32B6B92DA8E}"/>
              </a:ext>
            </a:extLst>
          </p:cNvPr>
          <p:cNvSpPr txBox="1"/>
          <p:nvPr/>
        </p:nvSpPr>
        <p:spPr>
          <a:xfrm>
            <a:off x="8699974" y="2670632"/>
            <a:ext cx="1770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 Inceptive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6D4BAF7-A3A9-B0B8-64BF-5E67A6D78254}"/>
              </a:ext>
            </a:extLst>
          </p:cNvPr>
          <p:cNvSpPr txBox="1"/>
          <p:nvPr/>
        </p:nvSpPr>
        <p:spPr>
          <a:xfrm>
            <a:off x="7574973" y="5963653"/>
            <a:ext cx="4147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https://</a:t>
            </a:r>
            <a:r>
              <a:rPr kumimoji="1" lang="en" altLang="zh-TW" dirty="0" err="1"/>
              <a:t>arxiv.org</a:t>
            </a:r>
            <a:r>
              <a:rPr kumimoji="1" lang="en" altLang="zh-TW" dirty="0"/>
              <a:t>/abs/1706.03762v6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9027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27E861-8C80-70F2-482E-E81AD2BA0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Multi-Head Attention (MHA)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E2CC3B3-4C85-15B8-847D-0C07EB914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B065EBD-F6CE-A648-78BE-F215B2C3B775}"/>
              </a:ext>
            </a:extLst>
          </p:cNvPr>
          <p:cNvSpPr txBox="1"/>
          <p:nvPr/>
        </p:nvSpPr>
        <p:spPr>
          <a:xfrm>
            <a:off x="636815" y="1669003"/>
            <a:ext cx="10918370" cy="4640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到目前為止，我們已經介紹了</a:t>
            </a:r>
            <a:r>
              <a:rPr kumimoji="1" lang="en-US" altLang="zh-TW" sz="2400" dirty="0"/>
              <a:t> self-attention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We </a:t>
            </a:r>
            <a:r>
              <a:rPr kumimoji="1" lang="en-US" altLang="zh-TW" sz="2000" dirty="0">
                <a:solidFill>
                  <a:srgbClr val="FF0000"/>
                </a:solidFill>
              </a:rPr>
              <a:t>query</a:t>
            </a:r>
            <a:r>
              <a:rPr kumimoji="1" lang="en-US" altLang="zh-TW" sz="2000" dirty="0"/>
              <a:t> the search engine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We search engine tries to map our query to the </a:t>
            </a:r>
            <a:r>
              <a:rPr kumimoji="1" lang="en-US" altLang="zh-TW" sz="2000" dirty="0">
                <a:solidFill>
                  <a:srgbClr val="FF0000"/>
                </a:solidFill>
              </a:rPr>
              <a:t>keys</a:t>
            </a:r>
            <a:r>
              <a:rPr kumimoji="1" lang="en-US" altLang="zh-TW" sz="2000" dirty="0"/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The outputs are the attended </a:t>
            </a:r>
            <a:r>
              <a:rPr kumimoji="1" lang="en-US" altLang="zh-TW" sz="2000" dirty="0">
                <a:solidFill>
                  <a:srgbClr val="FF0000"/>
                </a:solidFill>
              </a:rPr>
              <a:t>values</a:t>
            </a:r>
            <a:r>
              <a:rPr kumimoji="1" lang="en-US" altLang="zh-TW" sz="2000" dirty="0"/>
              <a:t> (e.g., the best matched videos).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 What if we want to have queries focusing on different aspects? 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 For example, one set of queries focusing on semantic similarity, another set focusing on passive/active voice.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b="1" dirty="0"/>
              <a:t> We need multiple attention mechanisms, i.e. multiple (attention) heads!</a:t>
            </a:r>
          </a:p>
        </p:txBody>
      </p:sp>
    </p:spTree>
    <p:extLst>
      <p:ext uri="{BB962C8B-B14F-4D97-AF65-F5344CB8AC3E}">
        <p14:creationId xmlns:p14="http://schemas.microsoft.com/office/powerpoint/2010/main" val="34555053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5AAD79-4C70-332D-A42F-D4192094A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Multi-Head Attention (MHA)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7CE2508-05B1-4A95-78EF-DFF8DF213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751F7E57-821E-4072-0243-C90040F629C8}"/>
              </a:ext>
            </a:extLst>
          </p:cNvPr>
          <p:cNvSpPr/>
          <p:nvPr/>
        </p:nvSpPr>
        <p:spPr>
          <a:xfrm>
            <a:off x="2304191" y="3711896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571C703-2960-6C2D-E7A0-7D9BB8B04574}"/>
              </a:ext>
            </a:extLst>
          </p:cNvPr>
          <p:cNvSpPr txBox="1"/>
          <p:nvPr/>
        </p:nvSpPr>
        <p:spPr>
          <a:xfrm>
            <a:off x="2879334" y="3740989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53A9A648-7962-0A75-75FB-E8046A83D399}"/>
              </a:ext>
            </a:extLst>
          </p:cNvPr>
          <p:cNvSpPr/>
          <p:nvPr/>
        </p:nvSpPr>
        <p:spPr>
          <a:xfrm>
            <a:off x="5852088" y="3708281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6359020-C9CE-B6EE-2946-1EA882D68E77}"/>
              </a:ext>
            </a:extLst>
          </p:cNvPr>
          <p:cNvSpPr txBox="1"/>
          <p:nvPr/>
        </p:nvSpPr>
        <p:spPr>
          <a:xfrm>
            <a:off x="6411398" y="3730126"/>
            <a:ext cx="870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printed</a:t>
            </a:r>
            <a:endParaRPr kumimoji="1" lang="zh-TW" altLang="en-US" dirty="0"/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FC8BC6EA-CB74-9691-54A4-4FB174721209}"/>
              </a:ext>
            </a:extLst>
          </p:cNvPr>
          <p:cNvSpPr/>
          <p:nvPr/>
        </p:nvSpPr>
        <p:spPr>
          <a:xfrm>
            <a:off x="9469078" y="371539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2F81370-0020-55FF-BBB0-6BF887CD52E8}"/>
              </a:ext>
            </a:extLst>
          </p:cNvPr>
          <p:cNvSpPr txBox="1"/>
          <p:nvPr/>
        </p:nvSpPr>
        <p:spPr>
          <a:xfrm>
            <a:off x="10044754" y="3750190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Hello</a:t>
            </a:r>
            <a:endParaRPr kumimoji="1" lang="zh-TW" altLang="en-US" dirty="0"/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A4A4C3DE-8BBA-8C10-33F8-BAF21743B5E7}"/>
              </a:ext>
            </a:extLst>
          </p:cNvPr>
          <p:cNvSpPr/>
          <p:nvPr/>
        </p:nvSpPr>
        <p:spPr>
          <a:xfrm>
            <a:off x="8868119" y="2263053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q</a:t>
            </a:r>
            <a:r>
              <a:rPr kumimoji="1" lang="en-US" altLang="zh-TW" baseline="-25000" dirty="0"/>
              <a:t>3</a:t>
            </a:r>
            <a:endParaRPr kumimoji="1" lang="zh-TW" altLang="en-US" baseline="-25000" dirty="0"/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AD83EC29-DF50-FF58-A107-F95C0BDB71E9}"/>
              </a:ext>
            </a:extLst>
          </p:cNvPr>
          <p:cNvSpPr/>
          <p:nvPr/>
        </p:nvSpPr>
        <p:spPr>
          <a:xfrm>
            <a:off x="9443745" y="2263053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k</a:t>
            </a:r>
            <a:r>
              <a:rPr kumimoji="1" lang="en-US" altLang="zh-TW" baseline="-25000" dirty="0"/>
              <a:t>3</a:t>
            </a:r>
            <a:endParaRPr kumimoji="1" lang="zh-TW" altLang="en-US" baseline="-25000" dirty="0"/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61865791-D02B-DA94-2665-87334703FFAF}"/>
              </a:ext>
            </a:extLst>
          </p:cNvPr>
          <p:cNvSpPr/>
          <p:nvPr/>
        </p:nvSpPr>
        <p:spPr>
          <a:xfrm>
            <a:off x="10025416" y="2259438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v</a:t>
            </a:r>
            <a:r>
              <a:rPr kumimoji="1" lang="en-US" altLang="zh-TW" baseline="-25000" dirty="0"/>
              <a:t>3</a:t>
            </a:r>
            <a:endParaRPr kumimoji="1" lang="zh-TW" altLang="en-US" baseline="-25000" dirty="0"/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8763B29D-6A4E-F9A1-C72A-6C6451EE133F}"/>
              </a:ext>
            </a:extLst>
          </p:cNvPr>
          <p:cNvSpPr/>
          <p:nvPr/>
        </p:nvSpPr>
        <p:spPr>
          <a:xfrm>
            <a:off x="5271117" y="2250907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q</a:t>
            </a:r>
            <a:r>
              <a:rPr kumimoji="1" lang="en-US" altLang="zh-TW" baseline="-25000" dirty="0"/>
              <a:t>2</a:t>
            </a:r>
            <a:endParaRPr kumimoji="1" lang="zh-TW" altLang="en-US" baseline="-25000" dirty="0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6D13634D-3ABB-E7A0-B3FE-4541E5526456}"/>
              </a:ext>
            </a:extLst>
          </p:cNvPr>
          <p:cNvSpPr/>
          <p:nvPr/>
        </p:nvSpPr>
        <p:spPr>
          <a:xfrm>
            <a:off x="5846743" y="2250907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k</a:t>
            </a:r>
            <a:r>
              <a:rPr kumimoji="1" lang="en-US" altLang="zh-TW" baseline="-25000" dirty="0"/>
              <a:t>2</a:t>
            </a:r>
            <a:endParaRPr kumimoji="1" lang="zh-TW" altLang="en-US" baseline="-25000" dirty="0"/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DE724D48-8FB4-7CFF-DEC9-6709287B5A48}"/>
              </a:ext>
            </a:extLst>
          </p:cNvPr>
          <p:cNvSpPr/>
          <p:nvPr/>
        </p:nvSpPr>
        <p:spPr>
          <a:xfrm>
            <a:off x="6428414" y="2247292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v</a:t>
            </a:r>
            <a:r>
              <a:rPr kumimoji="1" lang="en-US" altLang="zh-TW" baseline="-25000" dirty="0"/>
              <a:t>2</a:t>
            </a:r>
            <a:endParaRPr kumimoji="1" lang="zh-TW" altLang="en-US" baseline="-25000" dirty="0"/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892D7E3D-1E8A-A022-4135-3EB7F9BA4A59}"/>
              </a:ext>
            </a:extLst>
          </p:cNvPr>
          <p:cNvSpPr/>
          <p:nvPr/>
        </p:nvSpPr>
        <p:spPr>
          <a:xfrm>
            <a:off x="1722107" y="2254522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q</a:t>
            </a:r>
            <a:r>
              <a:rPr kumimoji="1" lang="en-US" altLang="zh-TW" baseline="-25000" dirty="0"/>
              <a:t>1</a:t>
            </a:r>
            <a:endParaRPr kumimoji="1" lang="zh-TW" altLang="en-US" baseline="-25000" dirty="0"/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B63B24D0-458F-AF9D-A219-9759A8F8B6DA}"/>
              </a:ext>
            </a:extLst>
          </p:cNvPr>
          <p:cNvSpPr/>
          <p:nvPr/>
        </p:nvSpPr>
        <p:spPr>
          <a:xfrm>
            <a:off x="2297733" y="2254522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k</a:t>
            </a:r>
            <a:r>
              <a:rPr kumimoji="1" lang="en-US" altLang="zh-TW" baseline="-25000" dirty="0"/>
              <a:t>1</a:t>
            </a:r>
            <a:endParaRPr kumimoji="1" lang="zh-TW" altLang="en-US" baseline="-25000" dirty="0"/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17A3F346-6F8B-29EC-C76E-50E3C07827CA}"/>
              </a:ext>
            </a:extLst>
          </p:cNvPr>
          <p:cNvSpPr/>
          <p:nvPr/>
        </p:nvSpPr>
        <p:spPr>
          <a:xfrm>
            <a:off x="2879404" y="2250907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v</a:t>
            </a:r>
            <a:r>
              <a:rPr kumimoji="1" lang="en-US" altLang="zh-TW" baseline="-25000" dirty="0"/>
              <a:t>1</a:t>
            </a:r>
            <a:endParaRPr kumimoji="1" lang="zh-TW" altLang="en-US" baseline="-250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A120B82-3D5D-4DA1-300E-27DF6A0A25D4}"/>
              </a:ext>
            </a:extLst>
          </p:cNvPr>
          <p:cNvSpPr txBox="1"/>
          <p:nvPr/>
        </p:nvSpPr>
        <p:spPr>
          <a:xfrm>
            <a:off x="664196" y="1619912"/>
            <a:ext cx="3954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Head = 1 (without MHA)</a:t>
            </a:r>
            <a:endParaRPr kumimoji="1" lang="zh-TW" altLang="en-US" sz="2400" b="1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9174078F-9ABB-A1BC-EF04-8A5F32823479}"/>
              </a:ext>
            </a:extLst>
          </p:cNvPr>
          <p:cNvSpPr/>
          <p:nvPr/>
        </p:nvSpPr>
        <p:spPr>
          <a:xfrm>
            <a:off x="2304191" y="6098090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66F4DB1-7313-0479-4C42-D86949A72FC3}"/>
              </a:ext>
            </a:extLst>
          </p:cNvPr>
          <p:cNvSpPr txBox="1"/>
          <p:nvPr/>
        </p:nvSpPr>
        <p:spPr>
          <a:xfrm>
            <a:off x="2879334" y="6127183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0A170DCF-3F0C-0B26-5800-55CE7AC29713}"/>
              </a:ext>
            </a:extLst>
          </p:cNvPr>
          <p:cNvSpPr/>
          <p:nvPr/>
        </p:nvSpPr>
        <p:spPr>
          <a:xfrm>
            <a:off x="5852088" y="6096940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3B41D52-A1EC-DBE7-4991-6EF147AE61DC}"/>
              </a:ext>
            </a:extLst>
          </p:cNvPr>
          <p:cNvSpPr txBox="1"/>
          <p:nvPr/>
        </p:nvSpPr>
        <p:spPr>
          <a:xfrm>
            <a:off x="6411398" y="6118785"/>
            <a:ext cx="870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printed</a:t>
            </a:r>
            <a:endParaRPr kumimoji="1" lang="zh-TW" altLang="en-US" dirty="0"/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1AC585CF-4AB9-7166-0D6D-B264AF924080}"/>
              </a:ext>
            </a:extLst>
          </p:cNvPr>
          <p:cNvSpPr/>
          <p:nvPr/>
        </p:nvSpPr>
        <p:spPr>
          <a:xfrm>
            <a:off x="9469078" y="609913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5425430-A898-2040-270A-CCC326328EE2}"/>
              </a:ext>
            </a:extLst>
          </p:cNvPr>
          <p:cNvSpPr txBox="1"/>
          <p:nvPr/>
        </p:nvSpPr>
        <p:spPr>
          <a:xfrm>
            <a:off x="10044754" y="6133932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Hello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圓角矩形 34">
                <a:extLst>
                  <a:ext uri="{FF2B5EF4-FFF2-40B4-BE49-F238E27FC236}">
                    <a16:creationId xmlns:a16="http://schemas.microsoft.com/office/drawing/2014/main" id="{40183B00-0514-7243-0FCA-779E298DA814}"/>
                  </a:ext>
                </a:extLst>
              </p:cNvPr>
              <p:cNvSpPr/>
              <p:nvPr/>
            </p:nvSpPr>
            <p:spPr>
              <a:xfrm>
                <a:off x="921925" y="5186872"/>
                <a:ext cx="507439" cy="55916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1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1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TW" altLang="zh-TW" sz="18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圓角矩形 34">
                <a:extLst>
                  <a:ext uri="{FF2B5EF4-FFF2-40B4-BE49-F238E27FC236}">
                    <a16:creationId xmlns:a16="http://schemas.microsoft.com/office/drawing/2014/main" id="{40183B00-0514-7243-0FCA-779E298DA8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925" y="5186872"/>
                <a:ext cx="507439" cy="55916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圓角矩形 35">
                <a:extLst>
                  <a:ext uri="{FF2B5EF4-FFF2-40B4-BE49-F238E27FC236}">
                    <a16:creationId xmlns:a16="http://schemas.microsoft.com/office/drawing/2014/main" id="{D0E58C9A-425B-D8AD-5B7C-912EE8350228}"/>
                  </a:ext>
                </a:extLst>
              </p:cNvPr>
              <p:cNvSpPr/>
              <p:nvPr/>
            </p:nvSpPr>
            <p:spPr>
              <a:xfrm>
                <a:off x="2008049" y="5185063"/>
                <a:ext cx="507439" cy="559167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36" name="圓角矩形 35">
                <a:extLst>
                  <a:ext uri="{FF2B5EF4-FFF2-40B4-BE49-F238E27FC236}">
                    <a16:creationId xmlns:a16="http://schemas.microsoft.com/office/drawing/2014/main" id="{D0E58C9A-425B-D8AD-5B7C-912EE83502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8049" y="5185063"/>
                <a:ext cx="507439" cy="55916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圓角矩形 36">
                <a:extLst>
                  <a:ext uri="{FF2B5EF4-FFF2-40B4-BE49-F238E27FC236}">
                    <a16:creationId xmlns:a16="http://schemas.microsoft.com/office/drawing/2014/main" id="{29726D24-CFD0-8BFB-B5DF-EC5BCF358DBA}"/>
                  </a:ext>
                </a:extLst>
              </p:cNvPr>
              <p:cNvSpPr/>
              <p:nvPr/>
            </p:nvSpPr>
            <p:spPr>
              <a:xfrm>
                <a:off x="3094173" y="5170225"/>
                <a:ext cx="507439" cy="559167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37" name="圓角矩形 36">
                <a:extLst>
                  <a:ext uri="{FF2B5EF4-FFF2-40B4-BE49-F238E27FC236}">
                    <a16:creationId xmlns:a16="http://schemas.microsoft.com/office/drawing/2014/main" id="{29726D24-CFD0-8BFB-B5DF-EC5BCF358D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4173" y="5170225"/>
                <a:ext cx="507439" cy="55916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字方塊 37">
            <a:extLst>
              <a:ext uri="{FF2B5EF4-FFF2-40B4-BE49-F238E27FC236}">
                <a16:creationId xmlns:a16="http://schemas.microsoft.com/office/drawing/2014/main" id="{0DC487A1-5BFF-EB47-508A-23B0DDE31284}"/>
              </a:ext>
            </a:extLst>
          </p:cNvPr>
          <p:cNvSpPr txBox="1"/>
          <p:nvPr/>
        </p:nvSpPr>
        <p:spPr>
          <a:xfrm>
            <a:off x="664196" y="4379685"/>
            <a:ext cx="3857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Head = 2 (with MHA)</a:t>
            </a:r>
            <a:endParaRPr kumimoji="1" lang="zh-TW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圓角矩形 38">
                <a:extLst>
                  <a:ext uri="{FF2B5EF4-FFF2-40B4-BE49-F238E27FC236}">
                    <a16:creationId xmlns:a16="http://schemas.microsoft.com/office/drawing/2014/main" id="{4D3867A4-172E-0CE8-FCD5-8A118A2D18E8}"/>
                  </a:ext>
                </a:extLst>
              </p:cNvPr>
              <p:cNvSpPr/>
              <p:nvPr/>
            </p:nvSpPr>
            <p:spPr>
              <a:xfrm>
                <a:off x="1464987" y="5185063"/>
                <a:ext cx="507439" cy="55916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39" name="圓角矩形 38">
                <a:extLst>
                  <a:ext uri="{FF2B5EF4-FFF2-40B4-BE49-F238E27FC236}">
                    <a16:creationId xmlns:a16="http://schemas.microsoft.com/office/drawing/2014/main" id="{4D3867A4-172E-0CE8-FCD5-8A118A2D18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4987" y="5185063"/>
                <a:ext cx="507439" cy="559166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68D728B8-08A7-B03A-EB00-490C707EF5D1}"/>
                  </a:ext>
                </a:extLst>
              </p:cNvPr>
              <p:cNvSpPr/>
              <p:nvPr/>
            </p:nvSpPr>
            <p:spPr>
              <a:xfrm>
                <a:off x="2551111" y="5181449"/>
                <a:ext cx="507439" cy="559167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68D728B8-08A7-B03A-EB00-490C707EF5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111" y="5181449"/>
                <a:ext cx="507439" cy="559167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圓角矩形 40">
                <a:extLst>
                  <a:ext uri="{FF2B5EF4-FFF2-40B4-BE49-F238E27FC236}">
                    <a16:creationId xmlns:a16="http://schemas.microsoft.com/office/drawing/2014/main" id="{C16204A2-B81C-EB52-E852-CF11855397D8}"/>
                  </a:ext>
                </a:extLst>
              </p:cNvPr>
              <p:cNvSpPr/>
              <p:nvPr/>
            </p:nvSpPr>
            <p:spPr>
              <a:xfrm>
                <a:off x="3637233" y="5170224"/>
                <a:ext cx="507439" cy="559167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41" name="圓角矩形 40">
                <a:extLst>
                  <a:ext uri="{FF2B5EF4-FFF2-40B4-BE49-F238E27FC236}">
                    <a16:creationId xmlns:a16="http://schemas.microsoft.com/office/drawing/2014/main" id="{C16204A2-B81C-EB52-E852-CF11855397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7233" y="5170224"/>
                <a:ext cx="507439" cy="559167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圓角矩形 41">
                <a:extLst>
                  <a:ext uri="{FF2B5EF4-FFF2-40B4-BE49-F238E27FC236}">
                    <a16:creationId xmlns:a16="http://schemas.microsoft.com/office/drawing/2014/main" id="{F6AC4575-AE73-7906-CA9E-41F353C27126}"/>
                  </a:ext>
                </a:extLst>
              </p:cNvPr>
              <p:cNvSpPr/>
              <p:nvPr/>
            </p:nvSpPr>
            <p:spPr>
              <a:xfrm>
                <a:off x="4521598" y="5172049"/>
                <a:ext cx="507439" cy="55916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TW" altLang="zh-TW" sz="18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圓角矩形 41">
                <a:extLst>
                  <a:ext uri="{FF2B5EF4-FFF2-40B4-BE49-F238E27FC236}">
                    <a16:creationId xmlns:a16="http://schemas.microsoft.com/office/drawing/2014/main" id="{F6AC4575-AE73-7906-CA9E-41F353C271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1598" y="5172049"/>
                <a:ext cx="507439" cy="559166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圓角矩形 42">
                <a:extLst>
                  <a:ext uri="{FF2B5EF4-FFF2-40B4-BE49-F238E27FC236}">
                    <a16:creationId xmlns:a16="http://schemas.microsoft.com/office/drawing/2014/main" id="{3119BCC2-0B45-5D62-BF62-B9D1CC4A03F3}"/>
                  </a:ext>
                </a:extLst>
              </p:cNvPr>
              <p:cNvSpPr/>
              <p:nvPr/>
            </p:nvSpPr>
            <p:spPr>
              <a:xfrm>
                <a:off x="5607722" y="5170240"/>
                <a:ext cx="507439" cy="559167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43" name="圓角矩形 42">
                <a:extLst>
                  <a:ext uri="{FF2B5EF4-FFF2-40B4-BE49-F238E27FC236}">
                    <a16:creationId xmlns:a16="http://schemas.microsoft.com/office/drawing/2014/main" id="{3119BCC2-0B45-5D62-BF62-B9D1CC4A03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722" y="5170240"/>
                <a:ext cx="507439" cy="559167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圓角矩形 43">
                <a:extLst>
                  <a:ext uri="{FF2B5EF4-FFF2-40B4-BE49-F238E27FC236}">
                    <a16:creationId xmlns:a16="http://schemas.microsoft.com/office/drawing/2014/main" id="{835275C3-BDD0-3F7C-0C48-C8FE2BBF635E}"/>
                  </a:ext>
                </a:extLst>
              </p:cNvPr>
              <p:cNvSpPr/>
              <p:nvPr/>
            </p:nvSpPr>
            <p:spPr>
              <a:xfrm>
                <a:off x="6693846" y="5155402"/>
                <a:ext cx="507439" cy="559167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44" name="圓角矩形 43">
                <a:extLst>
                  <a:ext uri="{FF2B5EF4-FFF2-40B4-BE49-F238E27FC236}">
                    <a16:creationId xmlns:a16="http://schemas.microsoft.com/office/drawing/2014/main" id="{835275C3-BDD0-3F7C-0C48-C8FE2BBF63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3846" y="5155402"/>
                <a:ext cx="507439" cy="559167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圓角矩形 44">
                <a:extLst>
                  <a:ext uri="{FF2B5EF4-FFF2-40B4-BE49-F238E27FC236}">
                    <a16:creationId xmlns:a16="http://schemas.microsoft.com/office/drawing/2014/main" id="{DB25BF8D-C2C3-A62E-CB02-86E7B5D0B210}"/>
                  </a:ext>
                </a:extLst>
              </p:cNvPr>
              <p:cNvSpPr/>
              <p:nvPr/>
            </p:nvSpPr>
            <p:spPr>
              <a:xfrm>
                <a:off x="5064660" y="5170240"/>
                <a:ext cx="507439" cy="55916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45" name="圓角矩形 44">
                <a:extLst>
                  <a:ext uri="{FF2B5EF4-FFF2-40B4-BE49-F238E27FC236}">
                    <a16:creationId xmlns:a16="http://schemas.microsoft.com/office/drawing/2014/main" id="{DB25BF8D-C2C3-A62E-CB02-86E7B5D0B2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4660" y="5170240"/>
                <a:ext cx="507439" cy="559166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圓角矩形 45">
                <a:extLst>
                  <a:ext uri="{FF2B5EF4-FFF2-40B4-BE49-F238E27FC236}">
                    <a16:creationId xmlns:a16="http://schemas.microsoft.com/office/drawing/2014/main" id="{FA31B0FD-5717-3204-7917-015E91F237A2}"/>
                  </a:ext>
                </a:extLst>
              </p:cNvPr>
              <p:cNvSpPr/>
              <p:nvPr/>
            </p:nvSpPr>
            <p:spPr>
              <a:xfrm>
                <a:off x="6150784" y="5166626"/>
                <a:ext cx="507439" cy="559167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46" name="圓角矩形 45">
                <a:extLst>
                  <a:ext uri="{FF2B5EF4-FFF2-40B4-BE49-F238E27FC236}">
                    <a16:creationId xmlns:a16="http://schemas.microsoft.com/office/drawing/2014/main" id="{FA31B0FD-5717-3204-7917-015E91F237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784" y="5166626"/>
                <a:ext cx="507439" cy="559167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圓角矩形 46">
                <a:extLst>
                  <a:ext uri="{FF2B5EF4-FFF2-40B4-BE49-F238E27FC236}">
                    <a16:creationId xmlns:a16="http://schemas.microsoft.com/office/drawing/2014/main" id="{AE93121E-E446-803A-FFC5-8D26534E22C8}"/>
                  </a:ext>
                </a:extLst>
              </p:cNvPr>
              <p:cNvSpPr/>
              <p:nvPr/>
            </p:nvSpPr>
            <p:spPr>
              <a:xfrm>
                <a:off x="7236906" y="5155401"/>
                <a:ext cx="507439" cy="559167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47" name="圓角矩形 46">
                <a:extLst>
                  <a:ext uri="{FF2B5EF4-FFF2-40B4-BE49-F238E27FC236}">
                    <a16:creationId xmlns:a16="http://schemas.microsoft.com/office/drawing/2014/main" id="{AE93121E-E446-803A-FFC5-8D26534E22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906" y="5155401"/>
                <a:ext cx="507439" cy="559167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圓角矩形 47">
                <a:extLst>
                  <a:ext uri="{FF2B5EF4-FFF2-40B4-BE49-F238E27FC236}">
                    <a16:creationId xmlns:a16="http://schemas.microsoft.com/office/drawing/2014/main" id="{F398DAE8-CC26-4D2F-4CF7-84F03F111DCC}"/>
                  </a:ext>
                </a:extLst>
              </p:cNvPr>
              <p:cNvSpPr/>
              <p:nvPr/>
            </p:nvSpPr>
            <p:spPr>
              <a:xfrm>
                <a:off x="8103607" y="5155402"/>
                <a:ext cx="507439" cy="55916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TW" altLang="zh-TW" sz="18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圓角矩形 47">
                <a:extLst>
                  <a:ext uri="{FF2B5EF4-FFF2-40B4-BE49-F238E27FC236}">
                    <a16:creationId xmlns:a16="http://schemas.microsoft.com/office/drawing/2014/main" id="{F398DAE8-CC26-4D2F-4CF7-84F03F111D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3607" y="5155402"/>
                <a:ext cx="507439" cy="559166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圓角矩形 48">
                <a:extLst>
                  <a:ext uri="{FF2B5EF4-FFF2-40B4-BE49-F238E27FC236}">
                    <a16:creationId xmlns:a16="http://schemas.microsoft.com/office/drawing/2014/main" id="{F855A972-90E9-F1D7-01EB-D1EA7CB728CC}"/>
                  </a:ext>
                </a:extLst>
              </p:cNvPr>
              <p:cNvSpPr/>
              <p:nvPr/>
            </p:nvSpPr>
            <p:spPr>
              <a:xfrm>
                <a:off x="9189731" y="5153593"/>
                <a:ext cx="507439" cy="559167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49" name="圓角矩形 48">
                <a:extLst>
                  <a:ext uri="{FF2B5EF4-FFF2-40B4-BE49-F238E27FC236}">
                    <a16:creationId xmlns:a16="http://schemas.microsoft.com/office/drawing/2014/main" id="{F855A972-90E9-F1D7-01EB-D1EA7CB728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9731" y="5153593"/>
                <a:ext cx="507439" cy="559167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圓角矩形 49">
                <a:extLst>
                  <a:ext uri="{FF2B5EF4-FFF2-40B4-BE49-F238E27FC236}">
                    <a16:creationId xmlns:a16="http://schemas.microsoft.com/office/drawing/2014/main" id="{E35D63B3-2E0C-B09E-643E-44A7A8BDD32E}"/>
                  </a:ext>
                </a:extLst>
              </p:cNvPr>
              <p:cNvSpPr/>
              <p:nvPr/>
            </p:nvSpPr>
            <p:spPr>
              <a:xfrm>
                <a:off x="10275855" y="5138755"/>
                <a:ext cx="507439" cy="559167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50" name="圓角矩形 49">
                <a:extLst>
                  <a:ext uri="{FF2B5EF4-FFF2-40B4-BE49-F238E27FC236}">
                    <a16:creationId xmlns:a16="http://schemas.microsoft.com/office/drawing/2014/main" id="{E35D63B3-2E0C-B09E-643E-44A7A8BDD3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5855" y="5138755"/>
                <a:ext cx="507439" cy="559167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圓角矩形 50">
                <a:extLst>
                  <a:ext uri="{FF2B5EF4-FFF2-40B4-BE49-F238E27FC236}">
                    <a16:creationId xmlns:a16="http://schemas.microsoft.com/office/drawing/2014/main" id="{1A2EB07D-C038-1A80-4416-48058B3BAD5E}"/>
                  </a:ext>
                </a:extLst>
              </p:cNvPr>
              <p:cNvSpPr/>
              <p:nvPr/>
            </p:nvSpPr>
            <p:spPr>
              <a:xfrm>
                <a:off x="8646669" y="5153593"/>
                <a:ext cx="507439" cy="55916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51" name="圓角矩形 50">
                <a:extLst>
                  <a:ext uri="{FF2B5EF4-FFF2-40B4-BE49-F238E27FC236}">
                    <a16:creationId xmlns:a16="http://schemas.microsoft.com/office/drawing/2014/main" id="{1A2EB07D-C038-1A80-4416-48058B3BAD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669" y="5153593"/>
                <a:ext cx="507439" cy="559166"/>
              </a:xfrm>
              <a:prstGeom prst="round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圓角矩形 51">
                <a:extLst>
                  <a:ext uri="{FF2B5EF4-FFF2-40B4-BE49-F238E27FC236}">
                    <a16:creationId xmlns:a16="http://schemas.microsoft.com/office/drawing/2014/main" id="{9292C8EC-D90E-6300-FAD5-9FE6C34814BD}"/>
                  </a:ext>
                </a:extLst>
              </p:cNvPr>
              <p:cNvSpPr/>
              <p:nvPr/>
            </p:nvSpPr>
            <p:spPr>
              <a:xfrm>
                <a:off x="9732793" y="5149979"/>
                <a:ext cx="507439" cy="559167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52" name="圓角矩形 51">
                <a:extLst>
                  <a:ext uri="{FF2B5EF4-FFF2-40B4-BE49-F238E27FC236}">
                    <a16:creationId xmlns:a16="http://schemas.microsoft.com/office/drawing/2014/main" id="{9292C8EC-D90E-6300-FAD5-9FE6C34814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2793" y="5149979"/>
                <a:ext cx="507439" cy="559167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圓角矩形 52">
                <a:extLst>
                  <a:ext uri="{FF2B5EF4-FFF2-40B4-BE49-F238E27FC236}">
                    <a16:creationId xmlns:a16="http://schemas.microsoft.com/office/drawing/2014/main" id="{664E4E38-4F68-F1B4-71ED-001B4D27701A}"/>
                  </a:ext>
                </a:extLst>
              </p:cNvPr>
              <p:cNvSpPr/>
              <p:nvPr/>
            </p:nvSpPr>
            <p:spPr>
              <a:xfrm>
                <a:off x="10818915" y="5138754"/>
                <a:ext cx="507439" cy="559167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53" name="圓角矩形 52">
                <a:extLst>
                  <a:ext uri="{FF2B5EF4-FFF2-40B4-BE49-F238E27FC236}">
                    <a16:creationId xmlns:a16="http://schemas.microsoft.com/office/drawing/2014/main" id="{664E4E38-4F68-F1B4-71ED-001B4D2770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8915" y="5138754"/>
                <a:ext cx="507439" cy="559167"/>
              </a:xfrm>
              <a:prstGeom prst="round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字方塊 53">
            <a:extLst>
              <a:ext uri="{FF2B5EF4-FFF2-40B4-BE49-F238E27FC236}">
                <a16:creationId xmlns:a16="http://schemas.microsoft.com/office/drawing/2014/main" id="{6A51591A-9722-1565-B40E-6778D3D92B48}"/>
              </a:ext>
            </a:extLst>
          </p:cNvPr>
          <p:cNvSpPr txBox="1"/>
          <p:nvPr/>
        </p:nvSpPr>
        <p:spPr>
          <a:xfrm>
            <a:off x="9469077" y="719594"/>
            <a:ext cx="20821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上標</a:t>
            </a:r>
            <a:r>
              <a:rPr kumimoji="1" lang="en-US" altLang="zh-TW" dirty="0">
                <a:ea typeface="Microsoft JhengHei" panose="020B0604030504040204" pitchFamily="34" charset="-120"/>
              </a:rPr>
              <a:t>: head</a:t>
            </a:r>
          </a:p>
          <a:p>
            <a:r>
              <a:rPr kumimoji="1" lang="zh-TW" altLang="en-US" dirty="0">
                <a:ea typeface="Microsoft JhengHei" panose="020B0604030504040204" pitchFamily="34" charset="-120"/>
              </a:rPr>
              <a:t>下標</a:t>
            </a:r>
            <a:r>
              <a:rPr kumimoji="1" lang="en-US" altLang="zh-TW" dirty="0">
                <a:ea typeface="Microsoft JhengHei" panose="020B0604030504040204" pitchFamily="34" charset="-120"/>
              </a:rPr>
              <a:t>: token index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220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  <p:bldP spid="38" grpId="0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C7C744-4D6E-A486-0C23-1201579C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Query (Q), Key (K), and Value (V) with MHA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9207B4-7A63-4047-96AA-B65EEDFAA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71E07550-B1F4-F3A3-60C6-02A78EE367C2}"/>
              </a:ext>
            </a:extLst>
          </p:cNvPr>
          <p:cNvSpPr/>
          <p:nvPr/>
        </p:nvSpPr>
        <p:spPr>
          <a:xfrm>
            <a:off x="2114661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圓角矩形 16">
                <a:extLst>
                  <a:ext uri="{FF2B5EF4-FFF2-40B4-BE49-F238E27FC236}">
                    <a16:creationId xmlns:a16="http://schemas.microsoft.com/office/drawing/2014/main" id="{958E9F76-24EA-EB9B-8EE4-61ADA15A3925}"/>
                  </a:ext>
                </a:extLst>
              </p:cNvPr>
              <p:cNvSpPr/>
              <p:nvPr/>
            </p:nvSpPr>
            <p:spPr>
              <a:xfrm>
                <a:off x="1435441" y="4541496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17" name="圓角矩形 16">
                <a:extLst>
                  <a:ext uri="{FF2B5EF4-FFF2-40B4-BE49-F238E27FC236}">
                    <a16:creationId xmlns:a16="http://schemas.microsoft.com/office/drawing/2014/main" id="{958E9F76-24EA-EB9B-8EE4-61ADA15A39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441" y="4541496"/>
                <a:ext cx="533400" cy="561975"/>
              </a:xfrm>
              <a:prstGeom prst="roundRect">
                <a:avLst/>
              </a:prstGeom>
              <a:blipFill>
                <a:blip r:embed="rId3"/>
                <a:stretch>
                  <a:fillRect l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6FADA9CA-5DE9-26C4-D855-0AED0A46A53A}"/>
                  </a:ext>
                </a:extLst>
              </p:cNvPr>
              <p:cNvSpPr/>
              <p:nvPr/>
            </p:nvSpPr>
            <p:spPr>
              <a:xfrm>
                <a:off x="2107255" y="4541495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6FADA9CA-5DE9-26C4-D855-0AED0A46A5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255" y="4541495"/>
                <a:ext cx="533400" cy="561975"/>
              </a:xfrm>
              <a:prstGeom prst="roundRect">
                <a:avLst/>
              </a:prstGeom>
              <a:blipFill>
                <a:blip r:embed="rId4"/>
                <a:stretch>
                  <a:fillRect l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圓角矩形 18">
                <a:extLst>
                  <a:ext uri="{FF2B5EF4-FFF2-40B4-BE49-F238E27FC236}">
                    <a16:creationId xmlns:a16="http://schemas.microsoft.com/office/drawing/2014/main" id="{B9D2B63A-3EA1-04FE-E87D-84D6E4169992}"/>
                  </a:ext>
                </a:extLst>
              </p:cNvPr>
              <p:cNvSpPr/>
              <p:nvPr/>
            </p:nvSpPr>
            <p:spPr>
              <a:xfrm>
                <a:off x="2779069" y="4541494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19" name="圓角矩形 18">
                <a:extLst>
                  <a:ext uri="{FF2B5EF4-FFF2-40B4-BE49-F238E27FC236}">
                    <a16:creationId xmlns:a16="http://schemas.microsoft.com/office/drawing/2014/main" id="{B9D2B63A-3EA1-04FE-E87D-84D6E41699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9069" y="4541494"/>
                <a:ext cx="533400" cy="56197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圓角矩形 19">
                <a:extLst>
                  <a:ext uri="{FF2B5EF4-FFF2-40B4-BE49-F238E27FC236}">
                    <a16:creationId xmlns:a16="http://schemas.microsoft.com/office/drawing/2014/main" id="{33038FDF-A8CB-65DB-B2AE-374EDAC276CB}"/>
                  </a:ext>
                </a:extLst>
              </p:cNvPr>
              <p:cNvSpPr/>
              <p:nvPr/>
            </p:nvSpPr>
            <p:spPr>
              <a:xfrm>
                <a:off x="3911941" y="4541496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altLang="zh-TW" sz="2400" b="0" i="1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𝑧</m:t>
                      </m:r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0" name="圓角矩形 19">
                <a:extLst>
                  <a:ext uri="{FF2B5EF4-FFF2-40B4-BE49-F238E27FC236}">
                    <a16:creationId xmlns:a16="http://schemas.microsoft.com/office/drawing/2014/main" id="{33038FDF-A8CB-65DB-B2AE-374EDAC276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1941" y="4541496"/>
                <a:ext cx="533400" cy="561975"/>
              </a:xfrm>
              <a:prstGeom prst="roundRect">
                <a:avLst/>
              </a:prstGeom>
              <a:blipFill>
                <a:blip r:embed="rId6"/>
                <a:stretch>
                  <a:fillRect l="-15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圓角矩形 20">
                <a:extLst>
                  <a:ext uri="{FF2B5EF4-FFF2-40B4-BE49-F238E27FC236}">
                    <a16:creationId xmlns:a16="http://schemas.microsoft.com/office/drawing/2014/main" id="{2B6A4EB6-343C-670B-45B7-C93A6F414213}"/>
                  </a:ext>
                </a:extLst>
              </p:cNvPr>
              <p:cNvSpPr/>
              <p:nvPr/>
            </p:nvSpPr>
            <p:spPr>
              <a:xfrm>
                <a:off x="4583755" y="4541495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1" name="圓角矩形 20">
                <a:extLst>
                  <a:ext uri="{FF2B5EF4-FFF2-40B4-BE49-F238E27FC236}">
                    <a16:creationId xmlns:a16="http://schemas.microsoft.com/office/drawing/2014/main" id="{2B6A4EB6-343C-670B-45B7-C93A6F4142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755" y="4541495"/>
                <a:ext cx="533400" cy="561975"/>
              </a:xfrm>
              <a:prstGeom prst="roundRect">
                <a:avLst/>
              </a:prstGeom>
              <a:blipFill>
                <a:blip r:embed="rId7"/>
                <a:stretch>
                  <a:fillRect l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圓角矩形 21">
                <a:extLst>
                  <a:ext uri="{FF2B5EF4-FFF2-40B4-BE49-F238E27FC236}">
                    <a16:creationId xmlns:a16="http://schemas.microsoft.com/office/drawing/2014/main" id="{5EA15339-C78F-8309-2C6C-75B90A6E8C32}"/>
                  </a:ext>
                </a:extLst>
              </p:cNvPr>
              <p:cNvSpPr/>
              <p:nvPr/>
            </p:nvSpPr>
            <p:spPr>
              <a:xfrm>
                <a:off x="5255569" y="4541494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2" name="圓角矩形 21">
                <a:extLst>
                  <a:ext uri="{FF2B5EF4-FFF2-40B4-BE49-F238E27FC236}">
                    <a16:creationId xmlns:a16="http://schemas.microsoft.com/office/drawing/2014/main" id="{5EA15339-C78F-8309-2C6C-75B90A6E8C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569" y="4541494"/>
                <a:ext cx="533400" cy="561975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圓角矩形 22">
                <a:extLst>
                  <a:ext uri="{FF2B5EF4-FFF2-40B4-BE49-F238E27FC236}">
                    <a16:creationId xmlns:a16="http://schemas.microsoft.com/office/drawing/2014/main" id="{39F589A7-4EF9-1A8F-A904-C0D64280F0CB}"/>
                  </a:ext>
                </a:extLst>
              </p:cNvPr>
              <p:cNvSpPr/>
              <p:nvPr/>
            </p:nvSpPr>
            <p:spPr>
              <a:xfrm>
                <a:off x="6388441" y="4541495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3" name="圓角矩形 22">
                <a:extLst>
                  <a:ext uri="{FF2B5EF4-FFF2-40B4-BE49-F238E27FC236}">
                    <a16:creationId xmlns:a16="http://schemas.microsoft.com/office/drawing/2014/main" id="{39F589A7-4EF9-1A8F-A904-C0D64280F0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441" y="4541495"/>
                <a:ext cx="533400" cy="561975"/>
              </a:xfrm>
              <a:prstGeom prst="roundRect">
                <a:avLst/>
              </a:prstGeom>
              <a:blipFill>
                <a:blip r:embed="rId9"/>
                <a:stretch>
                  <a:fillRect l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圓角矩形 23">
                <a:extLst>
                  <a:ext uri="{FF2B5EF4-FFF2-40B4-BE49-F238E27FC236}">
                    <a16:creationId xmlns:a16="http://schemas.microsoft.com/office/drawing/2014/main" id="{61B502CB-659A-2795-155B-F2F23C5E4500}"/>
                  </a:ext>
                </a:extLst>
              </p:cNvPr>
              <p:cNvSpPr/>
              <p:nvPr/>
            </p:nvSpPr>
            <p:spPr>
              <a:xfrm>
                <a:off x="7060255" y="4541494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4" name="圓角矩形 23">
                <a:extLst>
                  <a:ext uri="{FF2B5EF4-FFF2-40B4-BE49-F238E27FC236}">
                    <a16:creationId xmlns:a16="http://schemas.microsoft.com/office/drawing/2014/main" id="{61B502CB-659A-2795-155B-F2F23C5E45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0255" y="4541494"/>
                <a:ext cx="533400" cy="561975"/>
              </a:xfrm>
              <a:prstGeom prst="roundRect">
                <a:avLst/>
              </a:prstGeom>
              <a:blipFill>
                <a:blip r:embed="rId10"/>
                <a:stretch>
                  <a:fillRect l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圓角矩形 24">
                <a:extLst>
                  <a:ext uri="{FF2B5EF4-FFF2-40B4-BE49-F238E27FC236}">
                    <a16:creationId xmlns:a16="http://schemas.microsoft.com/office/drawing/2014/main" id="{15DB972C-5D18-3A55-15DE-D2C1647AF5D6}"/>
                  </a:ext>
                </a:extLst>
              </p:cNvPr>
              <p:cNvSpPr/>
              <p:nvPr/>
            </p:nvSpPr>
            <p:spPr>
              <a:xfrm>
                <a:off x="7732069" y="4541493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5" name="圓角矩形 24">
                <a:extLst>
                  <a:ext uri="{FF2B5EF4-FFF2-40B4-BE49-F238E27FC236}">
                    <a16:creationId xmlns:a16="http://schemas.microsoft.com/office/drawing/2014/main" id="{15DB972C-5D18-3A55-15DE-D2C1647AF5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2069" y="4541493"/>
                <a:ext cx="533400" cy="561975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圓角矩形 25">
                <a:extLst>
                  <a:ext uri="{FF2B5EF4-FFF2-40B4-BE49-F238E27FC236}">
                    <a16:creationId xmlns:a16="http://schemas.microsoft.com/office/drawing/2014/main" id="{D4D9EDEF-A9EE-002E-CA82-EF618B88EF7D}"/>
                  </a:ext>
                </a:extLst>
              </p:cNvPr>
              <p:cNvSpPr/>
              <p:nvPr/>
            </p:nvSpPr>
            <p:spPr>
              <a:xfrm>
                <a:off x="8757207" y="4545350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6" name="圓角矩形 25">
                <a:extLst>
                  <a:ext uri="{FF2B5EF4-FFF2-40B4-BE49-F238E27FC236}">
                    <a16:creationId xmlns:a16="http://schemas.microsoft.com/office/drawing/2014/main" id="{D4D9EDEF-A9EE-002E-CA82-EF618B88EF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7207" y="4545350"/>
                <a:ext cx="533400" cy="561975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圓角矩形 26">
                <a:extLst>
                  <a:ext uri="{FF2B5EF4-FFF2-40B4-BE49-F238E27FC236}">
                    <a16:creationId xmlns:a16="http://schemas.microsoft.com/office/drawing/2014/main" id="{21408F9D-316F-26B5-3AA6-F42B4089F99E}"/>
                  </a:ext>
                </a:extLst>
              </p:cNvPr>
              <p:cNvSpPr/>
              <p:nvPr/>
            </p:nvSpPr>
            <p:spPr>
              <a:xfrm>
                <a:off x="9429021" y="4545349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7" name="圓角矩形 26">
                <a:extLst>
                  <a:ext uri="{FF2B5EF4-FFF2-40B4-BE49-F238E27FC236}">
                    <a16:creationId xmlns:a16="http://schemas.microsoft.com/office/drawing/2014/main" id="{21408F9D-316F-26B5-3AA6-F42B4089F9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9021" y="4545349"/>
                <a:ext cx="533400" cy="561975"/>
              </a:xfrm>
              <a:prstGeom prst="roundRect">
                <a:avLst/>
              </a:prstGeom>
              <a:blipFill>
                <a:blip r:embed="rId13"/>
                <a:stretch>
                  <a:fillRect l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圓角矩形 27">
                <a:extLst>
                  <a:ext uri="{FF2B5EF4-FFF2-40B4-BE49-F238E27FC236}">
                    <a16:creationId xmlns:a16="http://schemas.microsoft.com/office/drawing/2014/main" id="{A3277445-F103-6185-5D76-1714ACFE0590}"/>
                  </a:ext>
                </a:extLst>
              </p:cNvPr>
              <p:cNvSpPr/>
              <p:nvPr/>
            </p:nvSpPr>
            <p:spPr>
              <a:xfrm>
                <a:off x="10100835" y="4545348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8" name="圓角矩形 27">
                <a:extLst>
                  <a:ext uri="{FF2B5EF4-FFF2-40B4-BE49-F238E27FC236}">
                    <a16:creationId xmlns:a16="http://schemas.microsoft.com/office/drawing/2014/main" id="{A3277445-F103-6185-5D76-1714ACFE05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0835" y="4545348"/>
                <a:ext cx="533400" cy="56197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29">
            <a:extLst>
              <a:ext uri="{FF2B5EF4-FFF2-40B4-BE49-F238E27FC236}">
                <a16:creationId xmlns:a16="http://schemas.microsoft.com/office/drawing/2014/main" id="{1F84A656-CA83-526C-B6FE-D93DD219E455}"/>
              </a:ext>
            </a:extLst>
          </p:cNvPr>
          <p:cNvSpPr txBox="1"/>
          <p:nvPr/>
        </p:nvSpPr>
        <p:spPr>
          <a:xfrm>
            <a:off x="1485912" y="5657211"/>
            <a:ext cx="965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dirty="0"/>
              <a:t>🎯</a:t>
            </a:r>
            <a:endParaRPr kumimoji="1" lang="zh-TW" altLang="en-US" sz="36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7DDB966-8DC7-C5CF-35B1-AEB9264CA4C6}"/>
              </a:ext>
            </a:extLst>
          </p:cNvPr>
          <p:cNvSpPr/>
          <p:nvPr/>
        </p:nvSpPr>
        <p:spPr>
          <a:xfrm>
            <a:off x="1383355" y="4293846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6DE0177-E8AE-105A-E9F0-EE21F0096888}"/>
              </a:ext>
            </a:extLst>
          </p:cNvPr>
          <p:cNvSpPr/>
          <p:nvPr/>
        </p:nvSpPr>
        <p:spPr>
          <a:xfrm>
            <a:off x="454731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9FC1B44-5C41-9BD9-4299-AE348F3DB43A}"/>
              </a:ext>
            </a:extLst>
          </p:cNvPr>
          <p:cNvSpPr/>
          <p:nvPr/>
        </p:nvSpPr>
        <p:spPr>
          <a:xfrm>
            <a:off x="7016039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AC756C1-DBDE-0F5B-FEBE-415CABCF9BBC}"/>
              </a:ext>
            </a:extLst>
          </p:cNvPr>
          <p:cNvSpPr/>
          <p:nvPr/>
        </p:nvSpPr>
        <p:spPr>
          <a:xfrm>
            <a:off x="938869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圓角矩形 35">
                <a:extLst>
                  <a:ext uri="{FF2B5EF4-FFF2-40B4-BE49-F238E27FC236}">
                    <a16:creationId xmlns:a16="http://schemas.microsoft.com/office/drawing/2014/main" id="{A42083A9-2C49-EA47-ADF8-6E81062DC093}"/>
                  </a:ext>
                </a:extLst>
              </p:cNvPr>
              <p:cNvSpPr/>
              <p:nvPr/>
            </p:nvSpPr>
            <p:spPr>
              <a:xfrm>
                <a:off x="2085975" y="3105150"/>
                <a:ext cx="533400" cy="561975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36" name="圓角矩形 35">
                <a:extLst>
                  <a:ext uri="{FF2B5EF4-FFF2-40B4-BE49-F238E27FC236}">
                    <a16:creationId xmlns:a16="http://schemas.microsoft.com/office/drawing/2014/main" id="{A42083A9-2C49-EA47-ADF8-6E81062DC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5975" y="3105150"/>
                <a:ext cx="533400" cy="561975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矩形 36">
            <a:extLst>
              <a:ext uri="{FF2B5EF4-FFF2-40B4-BE49-F238E27FC236}">
                <a16:creationId xmlns:a16="http://schemas.microsoft.com/office/drawing/2014/main" id="{B5DE2814-C819-FE76-F772-36199E14317A}"/>
              </a:ext>
            </a:extLst>
          </p:cNvPr>
          <p:cNvSpPr/>
          <p:nvPr/>
        </p:nvSpPr>
        <p:spPr>
          <a:xfrm>
            <a:off x="2059786" y="4293846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圓角矩形 38">
                <a:extLst>
                  <a:ext uri="{FF2B5EF4-FFF2-40B4-BE49-F238E27FC236}">
                    <a16:creationId xmlns:a16="http://schemas.microsoft.com/office/drawing/2014/main" id="{71EE1F06-3802-D9A6-95FE-7BCCFFB10230}"/>
                  </a:ext>
                </a:extLst>
              </p:cNvPr>
              <p:cNvSpPr/>
              <p:nvPr/>
            </p:nvSpPr>
            <p:spPr>
              <a:xfrm>
                <a:off x="4562475" y="3105149"/>
                <a:ext cx="533400" cy="561975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39" name="圓角矩形 38">
                <a:extLst>
                  <a:ext uri="{FF2B5EF4-FFF2-40B4-BE49-F238E27FC236}">
                    <a16:creationId xmlns:a16="http://schemas.microsoft.com/office/drawing/2014/main" id="{71EE1F06-3802-D9A6-95FE-7BCCFFB102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475" y="3105149"/>
                <a:ext cx="533400" cy="56197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4231810D-4672-CF67-DCEA-01729C32AC98}"/>
                  </a:ext>
                </a:extLst>
              </p:cNvPr>
              <p:cNvSpPr/>
              <p:nvPr/>
            </p:nvSpPr>
            <p:spPr>
              <a:xfrm>
                <a:off x="7035089" y="3105149"/>
                <a:ext cx="533400" cy="561975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4231810D-4672-CF67-DCEA-01729C32AC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089" y="3105149"/>
                <a:ext cx="533400" cy="561975"/>
              </a:xfrm>
              <a:prstGeom prst="round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圓角矩形 40">
                <a:extLst>
                  <a:ext uri="{FF2B5EF4-FFF2-40B4-BE49-F238E27FC236}">
                    <a16:creationId xmlns:a16="http://schemas.microsoft.com/office/drawing/2014/main" id="{2C36422D-8D63-CA3B-5137-8C605787F43A}"/>
                  </a:ext>
                </a:extLst>
              </p:cNvPr>
              <p:cNvSpPr/>
              <p:nvPr/>
            </p:nvSpPr>
            <p:spPr>
              <a:xfrm>
                <a:off x="9407741" y="3104574"/>
                <a:ext cx="533400" cy="561975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41" name="圓角矩形 40">
                <a:extLst>
                  <a:ext uri="{FF2B5EF4-FFF2-40B4-BE49-F238E27FC236}">
                    <a16:creationId xmlns:a16="http://schemas.microsoft.com/office/drawing/2014/main" id="{2C36422D-8D63-CA3B-5137-8C605787F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7741" y="3104574"/>
                <a:ext cx="533400" cy="561975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圓角矩形 41">
                <a:extLst>
                  <a:ext uri="{FF2B5EF4-FFF2-40B4-BE49-F238E27FC236}">
                    <a16:creationId xmlns:a16="http://schemas.microsoft.com/office/drawing/2014/main" id="{0D34AF9D-E022-1513-BACF-34016A7B9AE1}"/>
                  </a:ext>
                </a:extLst>
              </p:cNvPr>
              <p:cNvSpPr/>
              <p:nvPr/>
            </p:nvSpPr>
            <p:spPr>
              <a:xfrm>
                <a:off x="2090592" y="1707483"/>
                <a:ext cx="533400" cy="561975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42" name="圓角矩形 41">
                <a:extLst>
                  <a:ext uri="{FF2B5EF4-FFF2-40B4-BE49-F238E27FC236}">
                    <a16:creationId xmlns:a16="http://schemas.microsoft.com/office/drawing/2014/main" id="{0D34AF9D-E022-1513-BACF-34016A7B9A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592" y="1707483"/>
                <a:ext cx="533400" cy="561975"/>
              </a:xfrm>
              <a:prstGeom prst="round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字方塊 43">
            <a:extLst>
              <a:ext uri="{FF2B5EF4-FFF2-40B4-BE49-F238E27FC236}">
                <a16:creationId xmlns:a16="http://schemas.microsoft.com/office/drawing/2014/main" id="{6A5A6D88-705C-DD66-EDD4-04A912D645B2}"/>
              </a:ext>
            </a:extLst>
          </p:cNvPr>
          <p:cNvSpPr txBox="1"/>
          <p:nvPr/>
        </p:nvSpPr>
        <p:spPr>
          <a:xfrm>
            <a:off x="2689804" y="6132580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33802C79-6812-95D7-38EF-B4431E130C7D}"/>
              </a:ext>
            </a:extLst>
          </p:cNvPr>
          <p:cNvSpPr/>
          <p:nvPr/>
        </p:nvSpPr>
        <p:spPr>
          <a:xfrm>
            <a:off x="4591161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B20F8536-403E-3A6C-CDE9-9D49C6308AB0}"/>
              </a:ext>
            </a:extLst>
          </p:cNvPr>
          <p:cNvSpPr txBox="1"/>
          <p:nvPr/>
        </p:nvSpPr>
        <p:spPr>
          <a:xfrm>
            <a:off x="5157393" y="6132580"/>
            <a:ext cx="870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printed</a:t>
            </a:r>
            <a:endParaRPr kumimoji="1" lang="zh-TW" altLang="en-US" dirty="0"/>
          </a:p>
        </p:txBody>
      </p:sp>
      <p:sp>
        <p:nvSpPr>
          <p:cNvPr id="47" name="圓角矩形 46">
            <a:extLst>
              <a:ext uri="{FF2B5EF4-FFF2-40B4-BE49-F238E27FC236}">
                <a16:creationId xmlns:a16="http://schemas.microsoft.com/office/drawing/2014/main" id="{261722A8-17DC-2F5B-0EBE-3023F950D3D6}"/>
              </a:ext>
            </a:extLst>
          </p:cNvPr>
          <p:cNvSpPr/>
          <p:nvPr/>
        </p:nvSpPr>
        <p:spPr>
          <a:xfrm>
            <a:off x="7067661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7481DC0A-0EBC-D763-FC9D-F88CF071CEA7}"/>
              </a:ext>
            </a:extLst>
          </p:cNvPr>
          <p:cNvSpPr txBox="1"/>
          <p:nvPr/>
        </p:nvSpPr>
        <p:spPr>
          <a:xfrm>
            <a:off x="7630100" y="609845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Hello</a:t>
            </a:r>
            <a:endParaRPr kumimoji="1" lang="zh-TW" altLang="en-US" dirty="0"/>
          </a:p>
        </p:txBody>
      </p:sp>
      <p:sp>
        <p:nvSpPr>
          <p:cNvPr id="49" name="圓角矩形 48">
            <a:extLst>
              <a:ext uri="{FF2B5EF4-FFF2-40B4-BE49-F238E27FC236}">
                <a16:creationId xmlns:a16="http://schemas.microsoft.com/office/drawing/2014/main" id="{5E711CF6-4C5A-CF4B-018E-A38D0D359FDE}"/>
              </a:ext>
            </a:extLst>
          </p:cNvPr>
          <p:cNvSpPr/>
          <p:nvPr/>
        </p:nvSpPr>
        <p:spPr>
          <a:xfrm>
            <a:off x="9443833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4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BEB40D07-0A3B-583E-AF4D-2AAC53FC4885}"/>
              </a:ext>
            </a:extLst>
          </p:cNvPr>
          <p:cNvSpPr txBox="1"/>
          <p:nvPr/>
        </p:nvSpPr>
        <p:spPr>
          <a:xfrm>
            <a:off x="10006272" y="6098455"/>
            <a:ext cx="724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world</a:t>
            </a:r>
            <a:endParaRPr kumimoji="1" lang="zh-TW" altLang="en-US" dirty="0"/>
          </a:p>
        </p:txBody>
      </p:sp>
      <p:cxnSp>
        <p:nvCxnSpPr>
          <p:cNvPr id="54" name="肘形接點 53">
            <a:extLst>
              <a:ext uri="{FF2B5EF4-FFF2-40B4-BE49-F238E27FC236}">
                <a16:creationId xmlns:a16="http://schemas.microsoft.com/office/drawing/2014/main" id="{A44E4929-4C03-96E6-BCF3-938ED87DFA21}"/>
              </a:ext>
            </a:extLst>
          </p:cNvPr>
          <p:cNvCxnSpPr>
            <a:stCxn id="36" idx="3"/>
            <a:endCxn id="19" idx="0"/>
          </p:cNvCxnSpPr>
          <p:nvPr/>
        </p:nvCxnSpPr>
        <p:spPr>
          <a:xfrm>
            <a:off x="2619375" y="3386138"/>
            <a:ext cx="426394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肘形接點 54">
            <a:extLst>
              <a:ext uri="{FF2B5EF4-FFF2-40B4-BE49-F238E27FC236}">
                <a16:creationId xmlns:a16="http://schemas.microsoft.com/office/drawing/2014/main" id="{D2A4A1CE-1C12-0FB2-B308-6F8B08378831}"/>
              </a:ext>
            </a:extLst>
          </p:cNvPr>
          <p:cNvCxnSpPr>
            <a:cxnSpLocks/>
            <a:stCxn id="39" idx="3"/>
            <a:endCxn id="22" idx="0"/>
          </p:cNvCxnSpPr>
          <p:nvPr/>
        </p:nvCxnSpPr>
        <p:spPr>
          <a:xfrm>
            <a:off x="5095875" y="3386137"/>
            <a:ext cx="426394" cy="1155357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肘形接點 57">
            <a:extLst>
              <a:ext uri="{FF2B5EF4-FFF2-40B4-BE49-F238E27FC236}">
                <a16:creationId xmlns:a16="http://schemas.microsoft.com/office/drawing/2014/main" id="{11D20EF7-F704-C358-059D-057CF8B79830}"/>
              </a:ext>
            </a:extLst>
          </p:cNvPr>
          <p:cNvCxnSpPr>
            <a:cxnSpLocks/>
            <a:stCxn id="40" idx="3"/>
            <a:endCxn id="25" idx="0"/>
          </p:cNvCxnSpPr>
          <p:nvPr/>
        </p:nvCxnSpPr>
        <p:spPr>
          <a:xfrm>
            <a:off x="7568489" y="3386137"/>
            <a:ext cx="430280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肘形接點 60">
            <a:extLst>
              <a:ext uri="{FF2B5EF4-FFF2-40B4-BE49-F238E27FC236}">
                <a16:creationId xmlns:a16="http://schemas.microsoft.com/office/drawing/2014/main" id="{4040174D-2F57-CDE1-E3F7-3B7FE58C5903}"/>
              </a:ext>
            </a:extLst>
          </p:cNvPr>
          <p:cNvCxnSpPr>
            <a:cxnSpLocks/>
            <a:stCxn id="41" idx="3"/>
            <a:endCxn id="28" idx="0"/>
          </p:cNvCxnSpPr>
          <p:nvPr/>
        </p:nvCxnSpPr>
        <p:spPr>
          <a:xfrm>
            <a:off x="9941141" y="3385562"/>
            <a:ext cx="426394" cy="115978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肘形接點 63">
            <a:extLst>
              <a:ext uri="{FF2B5EF4-FFF2-40B4-BE49-F238E27FC236}">
                <a16:creationId xmlns:a16="http://schemas.microsoft.com/office/drawing/2014/main" id="{D9A4B7CD-1490-8A33-2233-E61A89161405}"/>
              </a:ext>
            </a:extLst>
          </p:cNvPr>
          <p:cNvCxnSpPr>
            <a:cxnSpLocks/>
            <a:stCxn id="36" idx="0"/>
            <a:endCxn id="39" idx="0"/>
          </p:cNvCxnSpPr>
          <p:nvPr/>
        </p:nvCxnSpPr>
        <p:spPr>
          <a:xfrm rot="5400000" flipH="1" flipV="1">
            <a:off x="3590925" y="1866900"/>
            <a:ext cx="1" cy="2476500"/>
          </a:xfrm>
          <a:prstGeom prst="bentConnector3">
            <a:avLst>
              <a:gd name="adj1" fmla="val 228601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肘形接點 73">
            <a:extLst>
              <a:ext uri="{FF2B5EF4-FFF2-40B4-BE49-F238E27FC236}">
                <a16:creationId xmlns:a16="http://schemas.microsoft.com/office/drawing/2014/main" id="{7EB525AD-E0E1-A4FF-F376-EA45F8E7501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65482" y="1866326"/>
            <a:ext cx="1" cy="2476500"/>
          </a:xfrm>
          <a:prstGeom prst="bentConnector3">
            <a:avLst>
              <a:gd name="adj1" fmla="val 228601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肘形接點 74">
            <a:extLst>
              <a:ext uri="{FF2B5EF4-FFF2-40B4-BE49-F238E27FC236}">
                <a16:creationId xmlns:a16="http://schemas.microsoft.com/office/drawing/2014/main" id="{9CCAD307-5598-6E11-0B84-0E590E6F8050}"/>
              </a:ext>
            </a:extLst>
          </p:cNvPr>
          <p:cNvCxnSpPr>
            <a:cxnSpLocks/>
            <a:stCxn id="40" idx="0"/>
            <a:endCxn id="41" idx="0"/>
          </p:cNvCxnSpPr>
          <p:nvPr/>
        </p:nvCxnSpPr>
        <p:spPr>
          <a:xfrm rot="5400000" flipH="1" flipV="1">
            <a:off x="8487828" y="1918536"/>
            <a:ext cx="575" cy="2372652"/>
          </a:xfrm>
          <a:prstGeom prst="bentConnector3">
            <a:avLst>
              <a:gd name="adj1" fmla="val 39856522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42BE57CF-8AC2-2CE1-29BE-1B24F7F56CD4}"/>
              </a:ext>
            </a:extLst>
          </p:cNvPr>
          <p:cNvSpPr txBox="1"/>
          <p:nvPr/>
        </p:nvSpPr>
        <p:spPr>
          <a:xfrm>
            <a:off x="8757207" y="1515738"/>
            <a:ext cx="2961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Head = 2, </a:t>
            </a:r>
            <a:r>
              <a:rPr kumimoji="1" lang="zh-TW" altLang="en-US" dirty="0">
                <a:ea typeface="Microsoft JhengHei" panose="020B0604030504040204" pitchFamily="34" charset="-120"/>
              </a:rPr>
              <a:t>使用</a:t>
            </a:r>
            <a:r>
              <a:rPr kumimoji="1"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第一個</a:t>
            </a:r>
            <a:r>
              <a:rPr kumimoji="1" lang="zh-TW" altLang="en-US" dirty="0"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ea typeface="Microsoft JhengHei" panose="020B0604030504040204" pitchFamily="34" charset="-120"/>
              </a:rPr>
              <a:t>head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cxnSp>
        <p:nvCxnSpPr>
          <p:cNvPr id="5" name="肘形接點 4">
            <a:extLst>
              <a:ext uri="{FF2B5EF4-FFF2-40B4-BE49-F238E27FC236}">
                <a16:creationId xmlns:a16="http://schemas.microsoft.com/office/drawing/2014/main" id="{9476D76B-087E-D55B-57B9-B75A57029A57}"/>
              </a:ext>
            </a:extLst>
          </p:cNvPr>
          <p:cNvCxnSpPr>
            <a:cxnSpLocks/>
          </p:cNvCxnSpPr>
          <p:nvPr/>
        </p:nvCxnSpPr>
        <p:spPr>
          <a:xfrm rot="16200000" flipH="1">
            <a:off x="3873029" y="753721"/>
            <a:ext cx="608827" cy="3640300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43279D34-12EE-C627-87E2-FA0248390F1E}"/>
              </a:ext>
            </a:extLst>
          </p:cNvPr>
          <p:cNvSpPr txBox="1"/>
          <p:nvPr/>
        </p:nvSpPr>
        <p:spPr>
          <a:xfrm>
            <a:off x="3505029" y="2229593"/>
            <a:ext cx="2093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Weighted sum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893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7" grpId="0" animBg="1"/>
      <p:bldP spid="37" grpId="1" animBg="1"/>
      <p:bldP spid="39" grpId="0" animBg="1"/>
      <p:bldP spid="40" grpId="0" animBg="1"/>
      <p:bldP spid="41" grpId="0" animBg="1"/>
      <p:bldP spid="42" grpId="0" animBg="1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C7C744-4D6E-A486-0C23-1201579C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Query (Q), Key (K), and Value (V) with MHA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9207B4-7A63-4047-96AA-B65EEDFAA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71E07550-B1F4-F3A3-60C6-02A78EE367C2}"/>
              </a:ext>
            </a:extLst>
          </p:cNvPr>
          <p:cNvSpPr/>
          <p:nvPr/>
        </p:nvSpPr>
        <p:spPr>
          <a:xfrm>
            <a:off x="2114661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圓角矩形 16">
                <a:extLst>
                  <a:ext uri="{FF2B5EF4-FFF2-40B4-BE49-F238E27FC236}">
                    <a16:creationId xmlns:a16="http://schemas.microsoft.com/office/drawing/2014/main" id="{958E9F76-24EA-EB9B-8EE4-61ADA15A3925}"/>
                  </a:ext>
                </a:extLst>
              </p:cNvPr>
              <p:cNvSpPr/>
              <p:nvPr/>
            </p:nvSpPr>
            <p:spPr>
              <a:xfrm>
                <a:off x="1435441" y="4541496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17" name="圓角矩形 16">
                <a:extLst>
                  <a:ext uri="{FF2B5EF4-FFF2-40B4-BE49-F238E27FC236}">
                    <a16:creationId xmlns:a16="http://schemas.microsoft.com/office/drawing/2014/main" id="{958E9F76-24EA-EB9B-8EE4-61ADA15A39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441" y="4541496"/>
                <a:ext cx="533400" cy="561975"/>
              </a:xfrm>
              <a:prstGeom prst="roundRect">
                <a:avLst/>
              </a:prstGeom>
              <a:blipFill>
                <a:blip r:embed="rId3"/>
                <a:stretch>
                  <a:fillRect l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6FADA9CA-5DE9-26C4-D855-0AED0A46A53A}"/>
                  </a:ext>
                </a:extLst>
              </p:cNvPr>
              <p:cNvSpPr/>
              <p:nvPr/>
            </p:nvSpPr>
            <p:spPr>
              <a:xfrm>
                <a:off x="2107255" y="4541495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6FADA9CA-5DE9-26C4-D855-0AED0A46A5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255" y="4541495"/>
                <a:ext cx="533400" cy="561975"/>
              </a:xfrm>
              <a:prstGeom prst="roundRect">
                <a:avLst/>
              </a:prstGeom>
              <a:blipFill>
                <a:blip r:embed="rId4"/>
                <a:stretch>
                  <a:fillRect l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圓角矩形 18">
                <a:extLst>
                  <a:ext uri="{FF2B5EF4-FFF2-40B4-BE49-F238E27FC236}">
                    <a16:creationId xmlns:a16="http://schemas.microsoft.com/office/drawing/2014/main" id="{B9D2B63A-3EA1-04FE-E87D-84D6E4169992}"/>
                  </a:ext>
                </a:extLst>
              </p:cNvPr>
              <p:cNvSpPr/>
              <p:nvPr/>
            </p:nvSpPr>
            <p:spPr>
              <a:xfrm>
                <a:off x="2779069" y="4541494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19" name="圓角矩形 18">
                <a:extLst>
                  <a:ext uri="{FF2B5EF4-FFF2-40B4-BE49-F238E27FC236}">
                    <a16:creationId xmlns:a16="http://schemas.microsoft.com/office/drawing/2014/main" id="{B9D2B63A-3EA1-04FE-E87D-84D6E41699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9069" y="4541494"/>
                <a:ext cx="533400" cy="56197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圓角矩形 19">
                <a:extLst>
                  <a:ext uri="{FF2B5EF4-FFF2-40B4-BE49-F238E27FC236}">
                    <a16:creationId xmlns:a16="http://schemas.microsoft.com/office/drawing/2014/main" id="{33038FDF-A8CB-65DB-B2AE-374EDAC276CB}"/>
                  </a:ext>
                </a:extLst>
              </p:cNvPr>
              <p:cNvSpPr/>
              <p:nvPr/>
            </p:nvSpPr>
            <p:spPr>
              <a:xfrm>
                <a:off x="3911941" y="4541496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0" name="圓角矩形 19">
                <a:extLst>
                  <a:ext uri="{FF2B5EF4-FFF2-40B4-BE49-F238E27FC236}">
                    <a16:creationId xmlns:a16="http://schemas.microsoft.com/office/drawing/2014/main" id="{33038FDF-A8CB-65DB-B2AE-374EDAC276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1941" y="4541496"/>
                <a:ext cx="533400" cy="561975"/>
              </a:xfrm>
              <a:prstGeom prst="roundRect">
                <a:avLst/>
              </a:prstGeom>
              <a:blipFill>
                <a:blip r:embed="rId6"/>
                <a:stretch>
                  <a:fillRect l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圓角矩形 20">
                <a:extLst>
                  <a:ext uri="{FF2B5EF4-FFF2-40B4-BE49-F238E27FC236}">
                    <a16:creationId xmlns:a16="http://schemas.microsoft.com/office/drawing/2014/main" id="{2B6A4EB6-343C-670B-45B7-C93A6F414213}"/>
                  </a:ext>
                </a:extLst>
              </p:cNvPr>
              <p:cNvSpPr/>
              <p:nvPr/>
            </p:nvSpPr>
            <p:spPr>
              <a:xfrm>
                <a:off x="4583755" y="4541495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1" name="圓角矩形 20">
                <a:extLst>
                  <a:ext uri="{FF2B5EF4-FFF2-40B4-BE49-F238E27FC236}">
                    <a16:creationId xmlns:a16="http://schemas.microsoft.com/office/drawing/2014/main" id="{2B6A4EB6-343C-670B-45B7-C93A6F4142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755" y="4541495"/>
                <a:ext cx="533400" cy="561975"/>
              </a:xfrm>
              <a:prstGeom prst="roundRect">
                <a:avLst/>
              </a:prstGeom>
              <a:blipFill>
                <a:blip r:embed="rId7"/>
                <a:stretch>
                  <a:fillRect l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圓角矩形 21">
                <a:extLst>
                  <a:ext uri="{FF2B5EF4-FFF2-40B4-BE49-F238E27FC236}">
                    <a16:creationId xmlns:a16="http://schemas.microsoft.com/office/drawing/2014/main" id="{5EA15339-C78F-8309-2C6C-75B90A6E8C32}"/>
                  </a:ext>
                </a:extLst>
              </p:cNvPr>
              <p:cNvSpPr/>
              <p:nvPr/>
            </p:nvSpPr>
            <p:spPr>
              <a:xfrm>
                <a:off x="5255569" y="4541494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2" name="圓角矩形 21">
                <a:extLst>
                  <a:ext uri="{FF2B5EF4-FFF2-40B4-BE49-F238E27FC236}">
                    <a16:creationId xmlns:a16="http://schemas.microsoft.com/office/drawing/2014/main" id="{5EA15339-C78F-8309-2C6C-75B90A6E8C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569" y="4541494"/>
                <a:ext cx="533400" cy="561975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圓角矩形 22">
                <a:extLst>
                  <a:ext uri="{FF2B5EF4-FFF2-40B4-BE49-F238E27FC236}">
                    <a16:creationId xmlns:a16="http://schemas.microsoft.com/office/drawing/2014/main" id="{39F589A7-4EF9-1A8F-A904-C0D64280F0CB}"/>
                  </a:ext>
                </a:extLst>
              </p:cNvPr>
              <p:cNvSpPr/>
              <p:nvPr/>
            </p:nvSpPr>
            <p:spPr>
              <a:xfrm>
                <a:off x="6388441" y="4541495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3" name="圓角矩形 22">
                <a:extLst>
                  <a:ext uri="{FF2B5EF4-FFF2-40B4-BE49-F238E27FC236}">
                    <a16:creationId xmlns:a16="http://schemas.microsoft.com/office/drawing/2014/main" id="{39F589A7-4EF9-1A8F-A904-C0D64280F0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441" y="4541495"/>
                <a:ext cx="533400" cy="561975"/>
              </a:xfrm>
              <a:prstGeom prst="roundRect">
                <a:avLst/>
              </a:prstGeom>
              <a:blipFill>
                <a:blip r:embed="rId9"/>
                <a:stretch>
                  <a:fillRect l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圓角矩形 23">
                <a:extLst>
                  <a:ext uri="{FF2B5EF4-FFF2-40B4-BE49-F238E27FC236}">
                    <a16:creationId xmlns:a16="http://schemas.microsoft.com/office/drawing/2014/main" id="{61B502CB-659A-2795-155B-F2F23C5E4500}"/>
                  </a:ext>
                </a:extLst>
              </p:cNvPr>
              <p:cNvSpPr/>
              <p:nvPr/>
            </p:nvSpPr>
            <p:spPr>
              <a:xfrm>
                <a:off x="7060255" y="4541494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4" name="圓角矩形 23">
                <a:extLst>
                  <a:ext uri="{FF2B5EF4-FFF2-40B4-BE49-F238E27FC236}">
                    <a16:creationId xmlns:a16="http://schemas.microsoft.com/office/drawing/2014/main" id="{61B502CB-659A-2795-155B-F2F23C5E45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0255" y="4541494"/>
                <a:ext cx="533400" cy="561975"/>
              </a:xfrm>
              <a:prstGeom prst="roundRect">
                <a:avLst/>
              </a:prstGeom>
              <a:blipFill>
                <a:blip r:embed="rId10"/>
                <a:stretch>
                  <a:fillRect l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圓角矩形 24">
                <a:extLst>
                  <a:ext uri="{FF2B5EF4-FFF2-40B4-BE49-F238E27FC236}">
                    <a16:creationId xmlns:a16="http://schemas.microsoft.com/office/drawing/2014/main" id="{15DB972C-5D18-3A55-15DE-D2C1647AF5D6}"/>
                  </a:ext>
                </a:extLst>
              </p:cNvPr>
              <p:cNvSpPr/>
              <p:nvPr/>
            </p:nvSpPr>
            <p:spPr>
              <a:xfrm>
                <a:off x="7732069" y="4541493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5" name="圓角矩形 24">
                <a:extLst>
                  <a:ext uri="{FF2B5EF4-FFF2-40B4-BE49-F238E27FC236}">
                    <a16:creationId xmlns:a16="http://schemas.microsoft.com/office/drawing/2014/main" id="{15DB972C-5D18-3A55-15DE-D2C1647AF5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2069" y="4541493"/>
                <a:ext cx="533400" cy="561975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圓角矩形 25">
                <a:extLst>
                  <a:ext uri="{FF2B5EF4-FFF2-40B4-BE49-F238E27FC236}">
                    <a16:creationId xmlns:a16="http://schemas.microsoft.com/office/drawing/2014/main" id="{D4D9EDEF-A9EE-002E-CA82-EF618B88EF7D}"/>
                  </a:ext>
                </a:extLst>
              </p:cNvPr>
              <p:cNvSpPr/>
              <p:nvPr/>
            </p:nvSpPr>
            <p:spPr>
              <a:xfrm>
                <a:off x="8757207" y="4545350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6" name="圓角矩形 25">
                <a:extLst>
                  <a:ext uri="{FF2B5EF4-FFF2-40B4-BE49-F238E27FC236}">
                    <a16:creationId xmlns:a16="http://schemas.microsoft.com/office/drawing/2014/main" id="{D4D9EDEF-A9EE-002E-CA82-EF618B88EF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7207" y="4545350"/>
                <a:ext cx="533400" cy="561975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圓角矩形 26">
                <a:extLst>
                  <a:ext uri="{FF2B5EF4-FFF2-40B4-BE49-F238E27FC236}">
                    <a16:creationId xmlns:a16="http://schemas.microsoft.com/office/drawing/2014/main" id="{21408F9D-316F-26B5-3AA6-F42B4089F99E}"/>
                  </a:ext>
                </a:extLst>
              </p:cNvPr>
              <p:cNvSpPr/>
              <p:nvPr/>
            </p:nvSpPr>
            <p:spPr>
              <a:xfrm>
                <a:off x="9429021" y="4545349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7" name="圓角矩形 26">
                <a:extLst>
                  <a:ext uri="{FF2B5EF4-FFF2-40B4-BE49-F238E27FC236}">
                    <a16:creationId xmlns:a16="http://schemas.microsoft.com/office/drawing/2014/main" id="{21408F9D-316F-26B5-3AA6-F42B4089F9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9021" y="4545349"/>
                <a:ext cx="533400" cy="561975"/>
              </a:xfrm>
              <a:prstGeom prst="roundRect">
                <a:avLst/>
              </a:prstGeom>
              <a:blipFill>
                <a:blip r:embed="rId13"/>
                <a:stretch>
                  <a:fillRect l="-68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圓角矩形 27">
                <a:extLst>
                  <a:ext uri="{FF2B5EF4-FFF2-40B4-BE49-F238E27FC236}">
                    <a16:creationId xmlns:a16="http://schemas.microsoft.com/office/drawing/2014/main" id="{A3277445-F103-6185-5D76-1714ACFE0590}"/>
                  </a:ext>
                </a:extLst>
              </p:cNvPr>
              <p:cNvSpPr/>
              <p:nvPr/>
            </p:nvSpPr>
            <p:spPr>
              <a:xfrm>
                <a:off x="10100835" y="4545348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8" name="圓角矩形 27">
                <a:extLst>
                  <a:ext uri="{FF2B5EF4-FFF2-40B4-BE49-F238E27FC236}">
                    <a16:creationId xmlns:a16="http://schemas.microsoft.com/office/drawing/2014/main" id="{A3277445-F103-6185-5D76-1714ACFE05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0835" y="4545348"/>
                <a:ext cx="533400" cy="56197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29">
            <a:extLst>
              <a:ext uri="{FF2B5EF4-FFF2-40B4-BE49-F238E27FC236}">
                <a16:creationId xmlns:a16="http://schemas.microsoft.com/office/drawing/2014/main" id="{1F84A656-CA83-526C-B6FE-D93DD219E455}"/>
              </a:ext>
            </a:extLst>
          </p:cNvPr>
          <p:cNvSpPr txBox="1"/>
          <p:nvPr/>
        </p:nvSpPr>
        <p:spPr>
          <a:xfrm>
            <a:off x="1485912" y="5657211"/>
            <a:ext cx="965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dirty="0"/>
              <a:t>🎯</a:t>
            </a:r>
            <a:endParaRPr kumimoji="1" lang="zh-TW" altLang="en-US" sz="36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7DDB966-8DC7-C5CF-35B1-AEB9264CA4C6}"/>
              </a:ext>
            </a:extLst>
          </p:cNvPr>
          <p:cNvSpPr/>
          <p:nvPr/>
        </p:nvSpPr>
        <p:spPr>
          <a:xfrm>
            <a:off x="1383355" y="4293846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6DE0177-E8AE-105A-E9F0-EE21F0096888}"/>
              </a:ext>
            </a:extLst>
          </p:cNvPr>
          <p:cNvSpPr/>
          <p:nvPr/>
        </p:nvSpPr>
        <p:spPr>
          <a:xfrm>
            <a:off x="454731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9FC1B44-5C41-9BD9-4299-AE348F3DB43A}"/>
              </a:ext>
            </a:extLst>
          </p:cNvPr>
          <p:cNvSpPr/>
          <p:nvPr/>
        </p:nvSpPr>
        <p:spPr>
          <a:xfrm>
            <a:off x="7016039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AC756C1-DBDE-0F5B-FEBE-415CABCF9BBC}"/>
              </a:ext>
            </a:extLst>
          </p:cNvPr>
          <p:cNvSpPr/>
          <p:nvPr/>
        </p:nvSpPr>
        <p:spPr>
          <a:xfrm>
            <a:off x="938869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圓角矩形 35">
                <a:extLst>
                  <a:ext uri="{FF2B5EF4-FFF2-40B4-BE49-F238E27FC236}">
                    <a16:creationId xmlns:a16="http://schemas.microsoft.com/office/drawing/2014/main" id="{A42083A9-2C49-EA47-ADF8-6E81062DC093}"/>
                  </a:ext>
                </a:extLst>
              </p:cNvPr>
              <p:cNvSpPr/>
              <p:nvPr/>
            </p:nvSpPr>
            <p:spPr>
              <a:xfrm>
                <a:off x="2085975" y="3105150"/>
                <a:ext cx="533400" cy="561975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36" name="圓角矩形 35">
                <a:extLst>
                  <a:ext uri="{FF2B5EF4-FFF2-40B4-BE49-F238E27FC236}">
                    <a16:creationId xmlns:a16="http://schemas.microsoft.com/office/drawing/2014/main" id="{A42083A9-2C49-EA47-ADF8-6E81062DC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5975" y="3105150"/>
                <a:ext cx="533400" cy="561975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矩形 36">
            <a:extLst>
              <a:ext uri="{FF2B5EF4-FFF2-40B4-BE49-F238E27FC236}">
                <a16:creationId xmlns:a16="http://schemas.microsoft.com/office/drawing/2014/main" id="{B5DE2814-C819-FE76-F772-36199E14317A}"/>
              </a:ext>
            </a:extLst>
          </p:cNvPr>
          <p:cNvSpPr/>
          <p:nvPr/>
        </p:nvSpPr>
        <p:spPr>
          <a:xfrm>
            <a:off x="2059786" y="4293846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圓角矩形 38">
                <a:extLst>
                  <a:ext uri="{FF2B5EF4-FFF2-40B4-BE49-F238E27FC236}">
                    <a16:creationId xmlns:a16="http://schemas.microsoft.com/office/drawing/2014/main" id="{71EE1F06-3802-D9A6-95FE-7BCCFFB10230}"/>
                  </a:ext>
                </a:extLst>
              </p:cNvPr>
              <p:cNvSpPr/>
              <p:nvPr/>
            </p:nvSpPr>
            <p:spPr>
              <a:xfrm>
                <a:off x="4562475" y="3105149"/>
                <a:ext cx="533400" cy="561975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39" name="圓角矩形 38">
                <a:extLst>
                  <a:ext uri="{FF2B5EF4-FFF2-40B4-BE49-F238E27FC236}">
                    <a16:creationId xmlns:a16="http://schemas.microsoft.com/office/drawing/2014/main" id="{71EE1F06-3802-D9A6-95FE-7BCCFFB102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475" y="3105149"/>
                <a:ext cx="533400" cy="56197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4231810D-4672-CF67-DCEA-01729C32AC98}"/>
                  </a:ext>
                </a:extLst>
              </p:cNvPr>
              <p:cNvSpPr/>
              <p:nvPr/>
            </p:nvSpPr>
            <p:spPr>
              <a:xfrm>
                <a:off x="7035089" y="3105149"/>
                <a:ext cx="533400" cy="561975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4231810D-4672-CF67-DCEA-01729C32AC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089" y="3105149"/>
                <a:ext cx="533400" cy="561975"/>
              </a:xfrm>
              <a:prstGeom prst="round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圓角矩形 40">
                <a:extLst>
                  <a:ext uri="{FF2B5EF4-FFF2-40B4-BE49-F238E27FC236}">
                    <a16:creationId xmlns:a16="http://schemas.microsoft.com/office/drawing/2014/main" id="{2C36422D-8D63-CA3B-5137-8C605787F43A}"/>
                  </a:ext>
                </a:extLst>
              </p:cNvPr>
              <p:cNvSpPr/>
              <p:nvPr/>
            </p:nvSpPr>
            <p:spPr>
              <a:xfrm>
                <a:off x="9407741" y="3104574"/>
                <a:ext cx="533400" cy="561975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41" name="圓角矩形 40">
                <a:extLst>
                  <a:ext uri="{FF2B5EF4-FFF2-40B4-BE49-F238E27FC236}">
                    <a16:creationId xmlns:a16="http://schemas.microsoft.com/office/drawing/2014/main" id="{2C36422D-8D63-CA3B-5137-8C605787F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7741" y="3104574"/>
                <a:ext cx="533400" cy="561975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圓角矩形 41">
                <a:extLst>
                  <a:ext uri="{FF2B5EF4-FFF2-40B4-BE49-F238E27FC236}">
                    <a16:creationId xmlns:a16="http://schemas.microsoft.com/office/drawing/2014/main" id="{0D34AF9D-E022-1513-BACF-34016A7B9AE1}"/>
                  </a:ext>
                </a:extLst>
              </p:cNvPr>
              <p:cNvSpPr/>
              <p:nvPr/>
            </p:nvSpPr>
            <p:spPr>
              <a:xfrm>
                <a:off x="2090592" y="1707483"/>
                <a:ext cx="533400" cy="561975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42" name="圓角矩形 41">
                <a:extLst>
                  <a:ext uri="{FF2B5EF4-FFF2-40B4-BE49-F238E27FC236}">
                    <a16:creationId xmlns:a16="http://schemas.microsoft.com/office/drawing/2014/main" id="{0D34AF9D-E022-1513-BACF-34016A7B9A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592" y="1707483"/>
                <a:ext cx="533400" cy="561975"/>
              </a:xfrm>
              <a:prstGeom prst="round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字方塊 43">
            <a:extLst>
              <a:ext uri="{FF2B5EF4-FFF2-40B4-BE49-F238E27FC236}">
                <a16:creationId xmlns:a16="http://schemas.microsoft.com/office/drawing/2014/main" id="{6A5A6D88-705C-DD66-EDD4-04A912D645B2}"/>
              </a:ext>
            </a:extLst>
          </p:cNvPr>
          <p:cNvSpPr txBox="1"/>
          <p:nvPr/>
        </p:nvSpPr>
        <p:spPr>
          <a:xfrm>
            <a:off x="2689804" y="6132580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33802C79-6812-95D7-38EF-B4431E130C7D}"/>
              </a:ext>
            </a:extLst>
          </p:cNvPr>
          <p:cNvSpPr/>
          <p:nvPr/>
        </p:nvSpPr>
        <p:spPr>
          <a:xfrm>
            <a:off x="4591161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B20F8536-403E-3A6C-CDE9-9D49C6308AB0}"/>
              </a:ext>
            </a:extLst>
          </p:cNvPr>
          <p:cNvSpPr txBox="1"/>
          <p:nvPr/>
        </p:nvSpPr>
        <p:spPr>
          <a:xfrm>
            <a:off x="5157393" y="6132580"/>
            <a:ext cx="870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printed</a:t>
            </a:r>
            <a:endParaRPr kumimoji="1" lang="zh-TW" altLang="en-US" dirty="0"/>
          </a:p>
        </p:txBody>
      </p:sp>
      <p:sp>
        <p:nvSpPr>
          <p:cNvPr id="47" name="圓角矩形 46">
            <a:extLst>
              <a:ext uri="{FF2B5EF4-FFF2-40B4-BE49-F238E27FC236}">
                <a16:creationId xmlns:a16="http://schemas.microsoft.com/office/drawing/2014/main" id="{261722A8-17DC-2F5B-0EBE-3023F950D3D6}"/>
              </a:ext>
            </a:extLst>
          </p:cNvPr>
          <p:cNvSpPr/>
          <p:nvPr/>
        </p:nvSpPr>
        <p:spPr>
          <a:xfrm>
            <a:off x="7067661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7481DC0A-0EBC-D763-FC9D-F88CF071CEA7}"/>
              </a:ext>
            </a:extLst>
          </p:cNvPr>
          <p:cNvSpPr txBox="1"/>
          <p:nvPr/>
        </p:nvSpPr>
        <p:spPr>
          <a:xfrm>
            <a:off x="7630100" y="609845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Hello</a:t>
            </a:r>
            <a:endParaRPr kumimoji="1" lang="zh-TW" altLang="en-US" dirty="0"/>
          </a:p>
        </p:txBody>
      </p:sp>
      <p:sp>
        <p:nvSpPr>
          <p:cNvPr id="49" name="圓角矩形 48">
            <a:extLst>
              <a:ext uri="{FF2B5EF4-FFF2-40B4-BE49-F238E27FC236}">
                <a16:creationId xmlns:a16="http://schemas.microsoft.com/office/drawing/2014/main" id="{5E711CF6-4C5A-CF4B-018E-A38D0D359FDE}"/>
              </a:ext>
            </a:extLst>
          </p:cNvPr>
          <p:cNvSpPr/>
          <p:nvPr/>
        </p:nvSpPr>
        <p:spPr>
          <a:xfrm>
            <a:off x="9443833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4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BEB40D07-0A3B-583E-AF4D-2AAC53FC4885}"/>
              </a:ext>
            </a:extLst>
          </p:cNvPr>
          <p:cNvSpPr txBox="1"/>
          <p:nvPr/>
        </p:nvSpPr>
        <p:spPr>
          <a:xfrm>
            <a:off x="10006272" y="6098455"/>
            <a:ext cx="724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world</a:t>
            </a:r>
            <a:endParaRPr kumimoji="1" lang="zh-TW" altLang="en-US" dirty="0"/>
          </a:p>
        </p:txBody>
      </p:sp>
      <p:cxnSp>
        <p:nvCxnSpPr>
          <p:cNvPr id="54" name="肘形接點 53">
            <a:extLst>
              <a:ext uri="{FF2B5EF4-FFF2-40B4-BE49-F238E27FC236}">
                <a16:creationId xmlns:a16="http://schemas.microsoft.com/office/drawing/2014/main" id="{A44E4929-4C03-96E6-BCF3-938ED87DFA21}"/>
              </a:ext>
            </a:extLst>
          </p:cNvPr>
          <p:cNvCxnSpPr>
            <a:stCxn id="36" idx="3"/>
            <a:endCxn id="19" idx="0"/>
          </p:cNvCxnSpPr>
          <p:nvPr/>
        </p:nvCxnSpPr>
        <p:spPr>
          <a:xfrm>
            <a:off x="2619375" y="3386138"/>
            <a:ext cx="426394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肘形接點 54">
            <a:extLst>
              <a:ext uri="{FF2B5EF4-FFF2-40B4-BE49-F238E27FC236}">
                <a16:creationId xmlns:a16="http://schemas.microsoft.com/office/drawing/2014/main" id="{D2A4A1CE-1C12-0FB2-B308-6F8B08378831}"/>
              </a:ext>
            </a:extLst>
          </p:cNvPr>
          <p:cNvCxnSpPr>
            <a:cxnSpLocks/>
            <a:stCxn id="39" idx="3"/>
            <a:endCxn id="22" idx="0"/>
          </p:cNvCxnSpPr>
          <p:nvPr/>
        </p:nvCxnSpPr>
        <p:spPr>
          <a:xfrm>
            <a:off x="5095875" y="3386137"/>
            <a:ext cx="426394" cy="1155357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肘形接點 57">
            <a:extLst>
              <a:ext uri="{FF2B5EF4-FFF2-40B4-BE49-F238E27FC236}">
                <a16:creationId xmlns:a16="http://schemas.microsoft.com/office/drawing/2014/main" id="{11D20EF7-F704-C358-059D-057CF8B79830}"/>
              </a:ext>
            </a:extLst>
          </p:cNvPr>
          <p:cNvCxnSpPr>
            <a:cxnSpLocks/>
            <a:stCxn id="40" idx="3"/>
            <a:endCxn id="25" idx="0"/>
          </p:cNvCxnSpPr>
          <p:nvPr/>
        </p:nvCxnSpPr>
        <p:spPr>
          <a:xfrm>
            <a:off x="7568489" y="3386137"/>
            <a:ext cx="430280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肘形接點 60">
            <a:extLst>
              <a:ext uri="{FF2B5EF4-FFF2-40B4-BE49-F238E27FC236}">
                <a16:creationId xmlns:a16="http://schemas.microsoft.com/office/drawing/2014/main" id="{4040174D-2F57-CDE1-E3F7-3B7FE58C5903}"/>
              </a:ext>
            </a:extLst>
          </p:cNvPr>
          <p:cNvCxnSpPr>
            <a:cxnSpLocks/>
            <a:stCxn id="41" idx="3"/>
            <a:endCxn id="28" idx="0"/>
          </p:cNvCxnSpPr>
          <p:nvPr/>
        </p:nvCxnSpPr>
        <p:spPr>
          <a:xfrm>
            <a:off x="9941141" y="3385562"/>
            <a:ext cx="426394" cy="115978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肘形接點 63">
            <a:extLst>
              <a:ext uri="{FF2B5EF4-FFF2-40B4-BE49-F238E27FC236}">
                <a16:creationId xmlns:a16="http://schemas.microsoft.com/office/drawing/2014/main" id="{D9A4B7CD-1490-8A33-2233-E61A89161405}"/>
              </a:ext>
            </a:extLst>
          </p:cNvPr>
          <p:cNvCxnSpPr>
            <a:cxnSpLocks/>
            <a:stCxn id="36" idx="0"/>
            <a:endCxn id="39" idx="0"/>
          </p:cNvCxnSpPr>
          <p:nvPr/>
        </p:nvCxnSpPr>
        <p:spPr>
          <a:xfrm rot="5400000" flipH="1" flipV="1">
            <a:off x="3590925" y="1866900"/>
            <a:ext cx="1" cy="2476500"/>
          </a:xfrm>
          <a:prstGeom prst="bentConnector3">
            <a:avLst>
              <a:gd name="adj1" fmla="val 228601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肘形接點 73">
            <a:extLst>
              <a:ext uri="{FF2B5EF4-FFF2-40B4-BE49-F238E27FC236}">
                <a16:creationId xmlns:a16="http://schemas.microsoft.com/office/drawing/2014/main" id="{7EB525AD-E0E1-A4FF-F376-EA45F8E7501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65482" y="1866326"/>
            <a:ext cx="1" cy="2476500"/>
          </a:xfrm>
          <a:prstGeom prst="bentConnector3">
            <a:avLst>
              <a:gd name="adj1" fmla="val 228601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肘形接點 74">
            <a:extLst>
              <a:ext uri="{FF2B5EF4-FFF2-40B4-BE49-F238E27FC236}">
                <a16:creationId xmlns:a16="http://schemas.microsoft.com/office/drawing/2014/main" id="{9CCAD307-5598-6E11-0B84-0E590E6F8050}"/>
              </a:ext>
            </a:extLst>
          </p:cNvPr>
          <p:cNvCxnSpPr>
            <a:cxnSpLocks/>
            <a:stCxn id="40" idx="0"/>
            <a:endCxn id="41" idx="0"/>
          </p:cNvCxnSpPr>
          <p:nvPr/>
        </p:nvCxnSpPr>
        <p:spPr>
          <a:xfrm rot="5400000" flipH="1" flipV="1">
            <a:off x="8487828" y="1918536"/>
            <a:ext cx="575" cy="2372652"/>
          </a:xfrm>
          <a:prstGeom prst="bentConnector3">
            <a:avLst>
              <a:gd name="adj1" fmla="val 39856522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807A6717-2133-18BA-D7FD-1FA059FB6472}"/>
              </a:ext>
            </a:extLst>
          </p:cNvPr>
          <p:cNvSpPr txBox="1"/>
          <p:nvPr/>
        </p:nvSpPr>
        <p:spPr>
          <a:xfrm>
            <a:off x="8757207" y="1515738"/>
            <a:ext cx="2961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Head = 2, </a:t>
            </a:r>
            <a:r>
              <a:rPr kumimoji="1" lang="zh-TW" altLang="en-US" dirty="0">
                <a:ea typeface="Microsoft JhengHei" panose="020B0604030504040204" pitchFamily="34" charset="-120"/>
              </a:rPr>
              <a:t>使用</a:t>
            </a:r>
            <a:r>
              <a:rPr kumimoji="1"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第二個</a:t>
            </a:r>
            <a:r>
              <a:rPr kumimoji="1" lang="zh-TW" altLang="en-US" dirty="0"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ea typeface="Microsoft JhengHei" panose="020B0604030504040204" pitchFamily="34" charset="-120"/>
              </a:rPr>
              <a:t>head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cxnSp>
        <p:nvCxnSpPr>
          <p:cNvPr id="5" name="肘形接點 4">
            <a:extLst>
              <a:ext uri="{FF2B5EF4-FFF2-40B4-BE49-F238E27FC236}">
                <a16:creationId xmlns:a16="http://schemas.microsoft.com/office/drawing/2014/main" id="{1226F75D-FE2E-7777-912B-F936432BCE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3873029" y="753721"/>
            <a:ext cx="608827" cy="3640300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E55CB29E-2796-52C3-149A-078206D3AE0F}"/>
              </a:ext>
            </a:extLst>
          </p:cNvPr>
          <p:cNvSpPr txBox="1"/>
          <p:nvPr/>
        </p:nvSpPr>
        <p:spPr>
          <a:xfrm>
            <a:off x="3505029" y="2229593"/>
            <a:ext cx="2523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Weighted sum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455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7" grpId="0" animBg="1"/>
      <p:bldP spid="37" grpId="1" animBg="1"/>
      <p:bldP spid="39" grpId="0" animBg="1"/>
      <p:bldP spid="40" grpId="0" animBg="1"/>
      <p:bldP spid="41" grpId="0" animBg="1"/>
      <p:bldP spid="42" grpId="0" animBg="1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66E170-CFBE-86C6-2A74-5D3775D6B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Input Dimensions of MHA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C772CC-1841-6F48-81A7-ECE753609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A07CCAFD-4F22-A3D2-FA6F-2EB554DAF992}"/>
              </a:ext>
            </a:extLst>
          </p:cNvPr>
          <p:cNvSpPr txBox="1"/>
          <p:nvPr/>
        </p:nvSpPr>
        <p:spPr>
          <a:xfrm>
            <a:off x="651298" y="1492711"/>
            <a:ext cx="3631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Head = 1 (without MHA)</a:t>
            </a:r>
            <a:endParaRPr kumimoji="1" lang="zh-TW" altLang="en-US" sz="2400" b="1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D05A1A75-6E45-9343-C71D-93A7A1D72F48}"/>
              </a:ext>
            </a:extLst>
          </p:cNvPr>
          <p:cNvSpPr txBox="1"/>
          <p:nvPr/>
        </p:nvSpPr>
        <p:spPr>
          <a:xfrm>
            <a:off x="664196" y="4265384"/>
            <a:ext cx="3359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Head = 2 (with MHA)</a:t>
            </a:r>
            <a:endParaRPr kumimoji="1" lang="zh-TW" altLang="en-US" sz="2400" b="1" dirty="0"/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939058B4-8174-A1E6-C718-4D7FD6D4CC79}"/>
              </a:ext>
            </a:extLst>
          </p:cNvPr>
          <p:cNvSpPr/>
          <p:nvPr/>
        </p:nvSpPr>
        <p:spPr>
          <a:xfrm rot="16200000">
            <a:off x="4967274" y="2216261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E19A208-239C-5B7E-7C76-AEFD5D225DB1}"/>
              </a:ext>
            </a:extLst>
          </p:cNvPr>
          <p:cNvSpPr txBox="1"/>
          <p:nvPr/>
        </p:nvSpPr>
        <p:spPr>
          <a:xfrm>
            <a:off x="5038634" y="2575204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q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2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FA8C3C5C-DBF6-D3E3-3C2E-F7D2FC933C14}"/>
              </a:ext>
            </a:extLst>
          </p:cNvPr>
          <p:cNvSpPr/>
          <p:nvPr/>
        </p:nvSpPr>
        <p:spPr>
          <a:xfrm rot="16200000">
            <a:off x="4965488" y="2806035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6238289C-30AE-21E2-15A8-DC241AF3E043}"/>
              </a:ext>
            </a:extLst>
          </p:cNvPr>
          <p:cNvSpPr txBox="1"/>
          <p:nvPr/>
        </p:nvSpPr>
        <p:spPr>
          <a:xfrm>
            <a:off x="5036848" y="3164978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q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3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601B2F9F-ADA5-C27E-2280-65F9B17CC050}"/>
              </a:ext>
            </a:extLst>
          </p:cNvPr>
          <p:cNvSpPr/>
          <p:nvPr/>
        </p:nvSpPr>
        <p:spPr>
          <a:xfrm rot="16200000">
            <a:off x="4960252" y="1626486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E2AF980F-493B-B6A6-E936-6B794352F150}"/>
              </a:ext>
            </a:extLst>
          </p:cNvPr>
          <p:cNvSpPr txBox="1"/>
          <p:nvPr/>
        </p:nvSpPr>
        <p:spPr>
          <a:xfrm>
            <a:off x="5031612" y="1985429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q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1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267C0D30-D1F9-6F99-B9D3-1B038516BFE5}"/>
                  </a:ext>
                </a:extLst>
              </p:cNvPr>
              <p:cNvSpPr txBox="1"/>
              <p:nvPr/>
            </p:nvSpPr>
            <p:spPr>
              <a:xfrm>
                <a:off x="4870516" y="1443265"/>
                <a:ext cx="68690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267C0D30-D1F9-6F99-B9D3-1B038516B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0516" y="1443265"/>
                <a:ext cx="686909" cy="461665"/>
              </a:xfrm>
              <a:prstGeom prst="rect">
                <a:avLst/>
              </a:prstGeom>
              <a:blipFill>
                <a:blip r:embed="rId2"/>
                <a:stretch>
                  <a:fillRect b="-135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字方塊 32">
            <a:extLst>
              <a:ext uri="{FF2B5EF4-FFF2-40B4-BE49-F238E27FC236}">
                <a16:creationId xmlns:a16="http://schemas.microsoft.com/office/drawing/2014/main" id="{5810BCB9-CAA9-8185-A1DA-5092A533BF43}"/>
              </a:ext>
            </a:extLst>
          </p:cNvPr>
          <p:cNvSpPr txBox="1"/>
          <p:nvPr/>
        </p:nvSpPr>
        <p:spPr>
          <a:xfrm>
            <a:off x="4843453" y="3620130"/>
            <a:ext cx="8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d</a:t>
            </a:r>
            <a:r>
              <a:rPr kumimoji="1" lang="en-US" altLang="zh-TW" baseline="-25000" dirty="0"/>
              <a:t>k</a:t>
            </a:r>
            <a:endParaRPr kumimoji="1" lang="zh-TW" altLang="en-US" baseline="-25000" dirty="0"/>
          </a:p>
        </p:txBody>
      </p:sp>
      <p:sp>
        <p:nvSpPr>
          <p:cNvPr id="34" name="圓角矩形 33">
            <a:extLst>
              <a:ext uri="{FF2B5EF4-FFF2-40B4-BE49-F238E27FC236}">
                <a16:creationId xmlns:a16="http://schemas.microsoft.com/office/drawing/2014/main" id="{57676BC5-F379-BE56-2171-03C038E854BF}"/>
              </a:ext>
            </a:extLst>
          </p:cNvPr>
          <p:cNvSpPr/>
          <p:nvPr/>
        </p:nvSpPr>
        <p:spPr>
          <a:xfrm rot="16200000">
            <a:off x="6450296" y="2216262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6D202BF0-C308-6A06-3132-50ADF944D4D4}"/>
              </a:ext>
            </a:extLst>
          </p:cNvPr>
          <p:cNvSpPr txBox="1"/>
          <p:nvPr/>
        </p:nvSpPr>
        <p:spPr>
          <a:xfrm>
            <a:off x="6521656" y="2575205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2</a:t>
            </a:r>
            <a:endParaRPr kumimoji="1" lang="zh-TW" altLang="en-US" sz="1800" baseline="-25000" dirty="0"/>
          </a:p>
        </p:txBody>
      </p:sp>
      <p:sp>
        <p:nvSpPr>
          <p:cNvPr id="36" name="圓角矩形 35">
            <a:extLst>
              <a:ext uri="{FF2B5EF4-FFF2-40B4-BE49-F238E27FC236}">
                <a16:creationId xmlns:a16="http://schemas.microsoft.com/office/drawing/2014/main" id="{79A473B7-A5C7-B1B8-4960-0990E9292C09}"/>
              </a:ext>
            </a:extLst>
          </p:cNvPr>
          <p:cNvSpPr/>
          <p:nvPr/>
        </p:nvSpPr>
        <p:spPr>
          <a:xfrm rot="16200000">
            <a:off x="6448510" y="2806036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1CF5476A-A3D1-D640-5268-EFC5313ABF43}"/>
              </a:ext>
            </a:extLst>
          </p:cNvPr>
          <p:cNvSpPr txBox="1"/>
          <p:nvPr/>
        </p:nvSpPr>
        <p:spPr>
          <a:xfrm>
            <a:off x="6519870" y="3164979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3</a:t>
            </a:r>
            <a:endParaRPr kumimoji="1" lang="zh-TW" altLang="en-US" sz="1800" baseline="-25000" dirty="0"/>
          </a:p>
        </p:txBody>
      </p:sp>
      <p:sp>
        <p:nvSpPr>
          <p:cNvPr id="38" name="圓角矩形 37">
            <a:extLst>
              <a:ext uri="{FF2B5EF4-FFF2-40B4-BE49-F238E27FC236}">
                <a16:creationId xmlns:a16="http://schemas.microsoft.com/office/drawing/2014/main" id="{09E3B535-A438-AB3E-03FE-B4E36D2877DA}"/>
              </a:ext>
            </a:extLst>
          </p:cNvPr>
          <p:cNvSpPr/>
          <p:nvPr/>
        </p:nvSpPr>
        <p:spPr>
          <a:xfrm rot="16200000">
            <a:off x="6443274" y="1626487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27F8EC44-0C63-FA2F-E868-15190580447C}"/>
              </a:ext>
            </a:extLst>
          </p:cNvPr>
          <p:cNvSpPr txBox="1"/>
          <p:nvPr/>
        </p:nvSpPr>
        <p:spPr>
          <a:xfrm>
            <a:off x="6514634" y="1985430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1</a:t>
            </a:r>
            <a:endParaRPr kumimoji="1" lang="zh-TW" altLang="en-US" sz="1800" baseline="-25000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106C05B1-308B-C59A-BF88-A019FC498CB0}"/>
              </a:ext>
            </a:extLst>
          </p:cNvPr>
          <p:cNvSpPr txBox="1"/>
          <p:nvPr/>
        </p:nvSpPr>
        <p:spPr>
          <a:xfrm>
            <a:off x="6171627" y="3636982"/>
            <a:ext cx="115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</a:t>
            </a:r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endParaRPr kumimoji="1" lang="zh-TW" altLang="en-US" baseline="-25000" dirty="0"/>
          </a:p>
        </p:txBody>
      </p: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75BEA534-53B4-FCE3-C6AC-1CDDEBBA4D07}"/>
              </a:ext>
            </a:extLst>
          </p:cNvPr>
          <p:cNvSpPr/>
          <p:nvPr/>
        </p:nvSpPr>
        <p:spPr>
          <a:xfrm rot="16200000">
            <a:off x="7332823" y="1910054"/>
            <a:ext cx="1732052" cy="1721804"/>
          </a:xfrm>
          <a:prstGeom prst="round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CB316610-C31C-CF70-2AE0-4C89450749DE}"/>
              </a:ext>
            </a:extLst>
          </p:cNvPr>
          <p:cNvSpPr txBox="1"/>
          <p:nvPr/>
        </p:nvSpPr>
        <p:spPr>
          <a:xfrm>
            <a:off x="7674116" y="3636982"/>
            <a:ext cx="14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r>
              <a:rPr kumimoji="1" lang="en-US" altLang="zh-TW" dirty="0"/>
              <a:t> x d</a:t>
            </a:r>
            <a:r>
              <a:rPr kumimoji="1" lang="en-US" altLang="zh-TW" baseline="-25000" dirty="0"/>
              <a:t>k</a:t>
            </a:r>
            <a:endParaRPr kumimoji="1" lang="zh-TW" altLang="en-US" baseline="-25000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A3A7ED15-A1B2-4FA7-EAD1-120991913376}"/>
              </a:ext>
            </a:extLst>
          </p:cNvPr>
          <p:cNvSpPr txBox="1"/>
          <p:nvPr/>
        </p:nvSpPr>
        <p:spPr>
          <a:xfrm>
            <a:off x="7875184" y="2566075"/>
            <a:ext cx="671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chemeClr val="bg1"/>
                </a:solidFill>
              </a:rPr>
              <a:t>W</a:t>
            </a:r>
            <a:r>
              <a:rPr kumimoji="1" lang="en-US" altLang="zh-TW" sz="2400" baseline="30000" dirty="0">
                <a:solidFill>
                  <a:schemeClr val="bg1"/>
                </a:solidFill>
              </a:rPr>
              <a:t>Q</a:t>
            </a:r>
            <a:endParaRPr kumimoji="1" lang="zh-TW" altLang="en-US" sz="2400" baseline="-25000" dirty="0">
              <a:solidFill>
                <a:schemeClr val="bg1"/>
              </a:solidFill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D7EF3AEC-855E-F415-F3D7-CAA8E8822C51}"/>
              </a:ext>
            </a:extLst>
          </p:cNvPr>
          <p:cNvSpPr txBox="1"/>
          <p:nvPr/>
        </p:nvSpPr>
        <p:spPr>
          <a:xfrm>
            <a:off x="5714712" y="2431964"/>
            <a:ext cx="509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b="1" dirty="0"/>
              <a:t>=</a:t>
            </a:r>
            <a:endParaRPr kumimoji="1" lang="zh-TW" altLang="en-US" sz="3600" b="1" dirty="0"/>
          </a:p>
        </p:txBody>
      </p:sp>
      <p:sp>
        <p:nvSpPr>
          <p:cNvPr id="53" name="圓角矩形 52">
            <a:extLst>
              <a:ext uri="{FF2B5EF4-FFF2-40B4-BE49-F238E27FC236}">
                <a16:creationId xmlns:a16="http://schemas.microsoft.com/office/drawing/2014/main" id="{B2D2D164-5472-4E71-AB2E-FC47BD94AE6A}"/>
              </a:ext>
            </a:extLst>
          </p:cNvPr>
          <p:cNvSpPr/>
          <p:nvPr/>
        </p:nvSpPr>
        <p:spPr>
          <a:xfrm rot="16200000">
            <a:off x="6450792" y="4907670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A4371DCE-81CF-991E-EEA8-D1B2E9214B30}"/>
              </a:ext>
            </a:extLst>
          </p:cNvPr>
          <p:cNvSpPr txBox="1"/>
          <p:nvPr/>
        </p:nvSpPr>
        <p:spPr>
          <a:xfrm>
            <a:off x="6522152" y="5266613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2</a:t>
            </a:r>
            <a:endParaRPr kumimoji="1" lang="zh-TW" altLang="en-US" sz="1800" baseline="-25000" dirty="0"/>
          </a:p>
        </p:txBody>
      </p:sp>
      <p:sp>
        <p:nvSpPr>
          <p:cNvPr id="55" name="圓角矩形 54">
            <a:extLst>
              <a:ext uri="{FF2B5EF4-FFF2-40B4-BE49-F238E27FC236}">
                <a16:creationId xmlns:a16="http://schemas.microsoft.com/office/drawing/2014/main" id="{A3F18122-AC6C-295E-7A95-D5D6BE733938}"/>
              </a:ext>
            </a:extLst>
          </p:cNvPr>
          <p:cNvSpPr/>
          <p:nvPr/>
        </p:nvSpPr>
        <p:spPr>
          <a:xfrm rot="16200000">
            <a:off x="6449006" y="5497444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2DE0410B-8CDD-A372-1DCB-B6EFB5B53FBC}"/>
              </a:ext>
            </a:extLst>
          </p:cNvPr>
          <p:cNvSpPr txBox="1"/>
          <p:nvPr/>
        </p:nvSpPr>
        <p:spPr>
          <a:xfrm>
            <a:off x="6520366" y="5856387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3</a:t>
            </a:r>
            <a:endParaRPr kumimoji="1" lang="zh-TW" altLang="en-US" sz="1800" baseline="-25000" dirty="0"/>
          </a:p>
        </p:txBody>
      </p:sp>
      <p:sp>
        <p:nvSpPr>
          <p:cNvPr id="57" name="圓角矩形 56">
            <a:extLst>
              <a:ext uri="{FF2B5EF4-FFF2-40B4-BE49-F238E27FC236}">
                <a16:creationId xmlns:a16="http://schemas.microsoft.com/office/drawing/2014/main" id="{4F749F0D-7646-C905-6302-EB06B4760FBC}"/>
              </a:ext>
            </a:extLst>
          </p:cNvPr>
          <p:cNvSpPr/>
          <p:nvPr/>
        </p:nvSpPr>
        <p:spPr>
          <a:xfrm rot="16200000">
            <a:off x="6443770" y="4317895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491F5992-8735-84ED-FC31-840E1434531D}"/>
              </a:ext>
            </a:extLst>
          </p:cNvPr>
          <p:cNvSpPr txBox="1"/>
          <p:nvPr/>
        </p:nvSpPr>
        <p:spPr>
          <a:xfrm>
            <a:off x="6515130" y="4676838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1</a:t>
            </a:r>
            <a:endParaRPr kumimoji="1" lang="zh-TW" altLang="en-US" sz="1800" baseline="-25000" dirty="0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6335B9D0-169F-5DB1-6789-F3B0912478CF}"/>
              </a:ext>
            </a:extLst>
          </p:cNvPr>
          <p:cNvSpPr txBox="1"/>
          <p:nvPr/>
        </p:nvSpPr>
        <p:spPr>
          <a:xfrm>
            <a:off x="6172123" y="6328390"/>
            <a:ext cx="115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</a:t>
            </a:r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endParaRPr kumimoji="1" lang="zh-TW" altLang="en-US" baseline="-25000" dirty="0"/>
          </a:p>
        </p:txBody>
      </p:sp>
      <p:sp>
        <p:nvSpPr>
          <p:cNvPr id="60" name="圓角矩形 59">
            <a:extLst>
              <a:ext uri="{FF2B5EF4-FFF2-40B4-BE49-F238E27FC236}">
                <a16:creationId xmlns:a16="http://schemas.microsoft.com/office/drawing/2014/main" id="{B11D4280-D6CA-B53C-198E-7E7DCACA3146}"/>
              </a:ext>
            </a:extLst>
          </p:cNvPr>
          <p:cNvSpPr/>
          <p:nvPr/>
        </p:nvSpPr>
        <p:spPr>
          <a:xfrm rot="16200000">
            <a:off x="6902621" y="5032162"/>
            <a:ext cx="1732052" cy="860404"/>
          </a:xfrm>
          <a:prstGeom prst="round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6805346E-EFD8-049F-68BC-FFD482A6DB8E}"/>
              </a:ext>
            </a:extLst>
          </p:cNvPr>
          <p:cNvSpPr txBox="1"/>
          <p:nvPr/>
        </p:nvSpPr>
        <p:spPr>
          <a:xfrm>
            <a:off x="8172526" y="4246224"/>
            <a:ext cx="79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d</a:t>
            </a:r>
            <a:r>
              <a:rPr kumimoji="1" lang="en-US" altLang="zh-TW" baseline="-25000" dirty="0"/>
              <a:t>k</a:t>
            </a:r>
            <a:r>
              <a:rPr kumimoji="1" lang="en-US" altLang="zh-TW" dirty="0"/>
              <a:t> / 2</a:t>
            </a:r>
            <a:endParaRPr kumimoji="1" lang="zh-TW" altLang="en-US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C9534DBF-69ED-70AB-28CF-11C6CF3BB85F}"/>
                  </a:ext>
                </a:extLst>
              </p:cNvPr>
              <p:cNvSpPr txBox="1"/>
              <p:nvPr/>
            </p:nvSpPr>
            <p:spPr>
              <a:xfrm>
                <a:off x="7432861" y="5287138"/>
                <a:ext cx="671571" cy="508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400" b="0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𝑄</m:t>
                          </m:r>
                        </m:sub>
                        <m:sup>
                          <m:r>
                            <a:rPr lang="en-US" altLang="zh-TW" sz="24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400" baseline="-2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C9534DBF-69ED-70AB-28CF-11C6CF3BB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2861" y="5287138"/>
                <a:ext cx="671571" cy="508344"/>
              </a:xfrm>
              <a:prstGeom prst="rect">
                <a:avLst/>
              </a:prstGeom>
              <a:blipFill>
                <a:blip r:embed="rId3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文字方塊 62">
            <a:extLst>
              <a:ext uri="{FF2B5EF4-FFF2-40B4-BE49-F238E27FC236}">
                <a16:creationId xmlns:a16="http://schemas.microsoft.com/office/drawing/2014/main" id="{B54D322E-4AF3-3422-76C3-7961DA42A069}"/>
              </a:ext>
            </a:extLst>
          </p:cNvPr>
          <p:cNvSpPr txBox="1"/>
          <p:nvPr/>
        </p:nvSpPr>
        <p:spPr>
          <a:xfrm>
            <a:off x="5715208" y="5123372"/>
            <a:ext cx="509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b="1" dirty="0"/>
              <a:t>=</a:t>
            </a:r>
            <a:endParaRPr kumimoji="1" lang="zh-TW" alt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圓角矩形 63">
                <a:extLst>
                  <a:ext uri="{FF2B5EF4-FFF2-40B4-BE49-F238E27FC236}">
                    <a16:creationId xmlns:a16="http://schemas.microsoft.com/office/drawing/2014/main" id="{3FDF9A60-6DE8-EF84-6AC3-F48812DB6E9C}"/>
                  </a:ext>
                </a:extLst>
              </p:cNvPr>
              <p:cNvSpPr/>
              <p:nvPr/>
            </p:nvSpPr>
            <p:spPr>
              <a:xfrm>
                <a:off x="4662213" y="4594884"/>
                <a:ext cx="507439" cy="55916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1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1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TW" altLang="zh-TW" sz="18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圓角矩形 63">
                <a:extLst>
                  <a:ext uri="{FF2B5EF4-FFF2-40B4-BE49-F238E27FC236}">
                    <a16:creationId xmlns:a16="http://schemas.microsoft.com/office/drawing/2014/main" id="{3FDF9A60-6DE8-EF84-6AC3-F48812DB6E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2213" y="4594884"/>
                <a:ext cx="507439" cy="55916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圓角矩形 64">
                <a:extLst>
                  <a:ext uri="{FF2B5EF4-FFF2-40B4-BE49-F238E27FC236}">
                    <a16:creationId xmlns:a16="http://schemas.microsoft.com/office/drawing/2014/main" id="{21BC9C8A-C3D3-8EBF-99C5-CA6342476DF8}"/>
                  </a:ext>
                </a:extLst>
              </p:cNvPr>
              <p:cNvSpPr/>
              <p:nvPr/>
            </p:nvSpPr>
            <p:spPr>
              <a:xfrm>
                <a:off x="4669234" y="5185556"/>
                <a:ext cx="507439" cy="55916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TW" altLang="zh-TW" sz="18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圓角矩形 64">
                <a:extLst>
                  <a:ext uri="{FF2B5EF4-FFF2-40B4-BE49-F238E27FC236}">
                    <a16:creationId xmlns:a16="http://schemas.microsoft.com/office/drawing/2014/main" id="{21BC9C8A-C3D3-8EBF-99C5-CA6342476D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234" y="5185556"/>
                <a:ext cx="507439" cy="559166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圓角矩形 65">
                <a:extLst>
                  <a:ext uri="{FF2B5EF4-FFF2-40B4-BE49-F238E27FC236}">
                    <a16:creationId xmlns:a16="http://schemas.microsoft.com/office/drawing/2014/main" id="{4D55FA13-7A7B-13FA-5DBE-FCD76E001DF5}"/>
                  </a:ext>
                </a:extLst>
              </p:cNvPr>
              <p:cNvSpPr/>
              <p:nvPr/>
            </p:nvSpPr>
            <p:spPr>
              <a:xfrm>
                <a:off x="4669235" y="5778925"/>
                <a:ext cx="507439" cy="55916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TW" altLang="zh-TW" sz="18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6" name="圓角矩形 65">
                <a:extLst>
                  <a:ext uri="{FF2B5EF4-FFF2-40B4-BE49-F238E27FC236}">
                    <a16:creationId xmlns:a16="http://schemas.microsoft.com/office/drawing/2014/main" id="{4D55FA13-7A7B-13FA-5DBE-FCD76E001D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235" y="5778925"/>
                <a:ext cx="507439" cy="559166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圓角矩形 67">
                <a:extLst>
                  <a:ext uri="{FF2B5EF4-FFF2-40B4-BE49-F238E27FC236}">
                    <a16:creationId xmlns:a16="http://schemas.microsoft.com/office/drawing/2014/main" id="{10B79AB3-B595-5CC8-07F1-0C6921696A68}"/>
                  </a:ext>
                </a:extLst>
              </p:cNvPr>
              <p:cNvSpPr/>
              <p:nvPr/>
            </p:nvSpPr>
            <p:spPr>
              <a:xfrm>
                <a:off x="5220742" y="4592552"/>
                <a:ext cx="507439" cy="55916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1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zh-TW" sz="18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圓角矩形 67">
                <a:extLst>
                  <a:ext uri="{FF2B5EF4-FFF2-40B4-BE49-F238E27FC236}">
                    <a16:creationId xmlns:a16="http://schemas.microsoft.com/office/drawing/2014/main" id="{10B79AB3-B595-5CC8-07F1-0C6921696A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742" y="4592552"/>
                <a:ext cx="507439" cy="55916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圓角矩形 68">
                <a:extLst>
                  <a:ext uri="{FF2B5EF4-FFF2-40B4-BE49-F238E27FC236}">
                    <a16:creationId xmlns:a16="http://schemas.microsoft.com/office/drawing/2014/main" id="{9EF4322D-D6E5-1750-B485-AF57048037B1}"/>
                  </a:ext>
                </a:extLst>
              </p:cNvPr>
              <p:cNvSpPr/>
              <p:nvPr/>
            </p:nvSpPr>
            <p:spPr>
              <a:xfrm>
                <a:off x="5227763" y="5183224"/>
                <a:ext cx="507439" cy="55916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zh-TW" sz="18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9" name="圓角矩形 68">
                <a:extLst>
                  <a:ext uri="{FF2B5EF4-FFF2-40B4-BE49-F238E27FC236}">
                    <a16:creationId xmlns:a16="http://schemas.microsoft.com/office/drawing/2014/main" id="{9EF4322D-D6E5-1750-B485-AF57048037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763" y="5183224"/>
                <a:ext cx="507439" cy="559166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圓角矩形 69">
                <a:extLst>
                  <a:ext uri="{FF2B5EF4-FFF2-40B4-BE49-F238E27FC236}">
                    <a16:creationId xmlns:a16="http://schemas.microsoft.com/office/drawing/2014/main" id="{670DA9A2-2EE3-935B-3980-2F6784DB4013}"/>
                  </a:ext>
                </a:extLst>
              </p:cNvPr>
              <p:cNvSpPr/>
              <p:nvPr/>
            </p:nvSpPr>
            <p:spPr>
              <a:xfrm>
                <a:off x="5227764" y="5776593"/>
                <a:ext cx="507439" cy="55916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zh-TW" sz="18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0" name="圓角矩形 69">
                <a:extLst>
                  <a:ext uri="{FF2B5EF4-FFF2-40B4-BE49-F238E27FC236}">
                    <a16:creationId xmlns:a16="http://schemas.microsoft.com/office/drawing/2014/main" id="{670DA9A2-2EE3-935B-3980-2F6784DB40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764" y="5776593"/>
                <a:ext cx="507439" cy="559166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圓角矩形 70">
            <a:extLst>
              <a:ext uri="{FF2B5EF4-FFF2-40B4-BE49-F238E27FC236}">
                <a16:creationId xmlns:a16="http://schemas.microsoft.com/office/drawing/2014/main" id="{A975B5CA-1F72-1CAE-A766-A9E51284AE11}"/>
              </a:ext>
            </a:extLst>
          </p:cNvPr>
          <p:cNvSpPr/>
          <p:nvPr/>
        </p:nvSpPr>
        <p:spPr>
          <a:xfrm rot="16200000">
            <a:off x="7736702" y="5028376"/>
            <a:ext cx="1732052" cy="860403"/>
          </a:xfrm>
          <a:prstGeom prst="round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820FC983-E9EB-986E-8320-730C60F3B904}"/>
                  </a:ext>
                </a:extLst>
              </p:cNvPr>
              <p:cNvSpPr txBox="1"/>
              <p:nvPr/>
            </p:nvSpPr>
            <p:spPr>
              <a:xfrm>
                <a:off x="8244135" y="5287138"/>
                <a:ext cx="671571" cy="508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400" b="0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𝑄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400" baseline="-2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820FC983-E9EB-986E-8320-730C60F3B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4135" y="5287138"/>
                <a:ext cx="671571" cy="508344"/>
              </a:xfrm>
              <a:prstGeom prst="rect">
                <a:avLst/>
              </a:prstGeom>
              <a:blipFill>
                <a:blip r:embed="rId10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文字方塊 72">
            <a:extLst>
              <a:ext uri="{FF2B5EF4-FFF2-40B4-BE49-F238E27FC236}">
                <a16:creationId xmlns:a16="http://schemas.microsoft.com/office/drawing/2014/main" id="{58FCE292-5C36-01D3-4887-32FC11865AE0}"/>
              </a:ext>
            </a:extLst>
          </p:cNvPr>
          <p:cNvSpPr txBox="1"/>
          <p:nvPr/>
        </p:nvSpPr>
        <p:spPr>
          <a:xfrm>
            <a:off x="7692738" y="6333426"/>
            <a:ext cx="14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r>
              <a:rPr kumimoji="1" lang="en-US" altLang="zh-TW" dirty="0"/>
              <a:t> x d</a:t>
            </a:r>
            <a:r>
              <a:rPr kumimoji="1" lang="en-US" altLang="zh-TW" baseline="-25000" dirty="0"/>
              <a:t>k</a:t>
            </a:r>
            <a:endParaRPr kumimoji="1" lang="zh-TW" altLang="en-US" baseline="-25000" dirty="0"/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CAC24D79-8DD2-68B4-C1D6-030CDED0A8B0}"/>
              </a:ext>
            </a:extLst>
          </p:cNvPr>
          <p:cNvSpPr txBox="1"/>
          <p:nvPr/>
        </p:nvSpPr>
        <p:spPr>
          <a:xfrm>
            <a:off x="7357076" y="4245986"/>
            <a:ext cx="79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d</a:t>
            </a:r>
            <a:r>
              <a:rPr kumimoji="1" lang="en-US" altLang="zh-TW" baseline="-25000" dirty="0"/>
              <a:t>k</a:t>
            </a:r>
            <a:r>
              <a:rPr kumimoji="1" lang="en-US" altLang="zh-TW" dirty="0"/>
              <a:t> / 2</a:t>
            </a:r>
            <a:endParaRPr kumimoji="1" lang="zh-TW" altLang="en-US" baseline="-25000" dirty="0"/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5288BE81-A502-6358-3873-457506E7FC2D}"/>
              </a:ext>
            </a:extLst>
          </p:cNvPr>
          <p:cNvSpPr txBox="1"/>
          <p:nvPr/>
        </p:nvSpPr>
        <p:spPr>
          <a:xfrm>
            <a:off x="4840300" y="6339230"/>
            <a:ext cx="8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d</a:t>
            </a:r>
            <a:r>
              <a:rPr kumimoji="1" lang="en-US" altLang="zh-TW" baseline="-25000" dirty="0"/>
              <a:t>k</a:t>
            </a:r>
            <a:endParaRPr kumimoji="1" lang="zh-TW" altLang="en-US" baseline="-25000" dirty="0"/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A8DABB75-D93B-5672-FA6E-55B8D406D9EE}"/>
              </a:ext>
            </a:extLst>
          </p:cNvPr>
          <p:cNvSpPr txBox="1"/>
          <p:nvPr/>
        </p:nvSpPr>
        <p:spPr>
          <a:xfrm>
            <a:off x="4542266" y="4242728"/>
            <a:ext cx="7968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d</a:t>
            </a:r>
            <a:r>
              <a:rPr kumimoji="1" lang="en-US" altLang="zh-TW" sz="1600" baseline="-25000" dirty="0"/>
              <a:t>k</a:t>
            </a:r>
            <a:r>
              <a:rPr kumimoji="1" lang="en-US" altLang="zh-TW" sz="1600" dirty="0"/>
              <a:t> / 2</a:t>
            </a:r>
            <a:endParaRPr kumimoji="1" lang="zh-TW" altLang="en-US" sz="1600" baseline="-25000" dirty="0"/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A3C230CA-AB1B-9DAF-A698-851BFA61D0AF}"/>
              </a:ext>
            </a:extLst>
          </p:cNvPr>
          <p:cNvSpPr txBox="1"/>
          <p:nvPr/>
        </p:nvSpPr>
        <p:spPr>
          <a:xfrm>
            <a:off x="5060971" y="4249440"/>
            <a:ext cx="7968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d</a:t>
            </a:r>
            <a:r>
              <a:rPr kumimoji="1" lang="en-US" altLang="zh-TW" sz="1600" baseline="-25000" dirty="0"/>
              <a:t>k</a:t>
            </a:r>
            <a:r>
              <a:rPr kumimoji="1" lang="en-US" altLang="zh-TW" sz="1600" dirty="0"/>
              <a:t> / 2</a:t>
            </a:r>
            <a:endParaRPr kumimoji="1" lang="zh-TW" altLang="en-US" sz="1600" baseline="-25000" dirty="0"/>
          </a:p>
        </p:txBody>
      </p:sp>
    </p:spTree>
    <p:extLst>
      <p:ext uri="{BB962C8B-B14F-4D97-AF65-F5344CB8AC3E}">
        <p14:creationId xmlns:p14="http://schemas.microsoft.com/office/powerpoint/2010/main" val="3884493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/>
      <p:bldP spid="62" grpId="0"/>
      <p:bldP spid="63" grpId="0"/>
      <p:bldP spid="64" grpId="0" animBg="1"/>
      <p:bldP spid="65" grpId="0" animBg="1"/>
      <p:bldP spid="66" grpId="0" animBg="1"/>
      <p:bldP spid="68" grpId="0" animBg="1"/>
      <p:bldP spid="69" grpId="0" animBg="1"/>
      <p:bldP spid="70" grpId="0" animBg="1"/>
      <p:bldP spid="71" grpId="0" animBg="1"/>
      <p:bldP spid="72" grpId="0"/>
      <p:bldP spid="73" grpId="0"/>
      <p:bldP spid="74" grpId="0"/>
      <p:bldP spid="75" grpId="0"/>
      <p:bldP spid="76" grpId="0"/>
      <p:bldP spid="7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66E170-CFBE-86C6-2A74-5D3775D6B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Output Dimensions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C772CC-1841-6F48-81A7-ECE753609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9E8A022-B941-5199-848E-6444585207C1}"/>
              </a:ext>
            </a:extLst>
          </p:cNvPr>
          <p:cNvSpPr txBox="1"/>
          <p:nvPr/>
        </p:nvSpPr>
        <p:spPr>
          <a:xfrm>
            <a:off x="651298" y="1492711"/>
            <a:ext cx="4303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Head = 1 (without MHA)</a:t>
            </a:r>
            <a:endParaRPr kumimoji="1" lang="zh-TW" altLang="en-US" sz="2400" b="1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AE98EFC-9765-E89A-B0EF-CF82BFF27239}"/>
              </a:ext>
            </a:extLst>
          </p:cNvPr>
          <p:cNvSpPr txBox="1"/>
          <p:nvPr/>
        </p:nvSpPr>
        <p:spPr>
          <a:xfrm>
            <a:off x="664196" y="4265384"/>
            <a:ext cx="3590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Head = 2 (with MHA)</a:t>
            </a:r>
            <a:endParaRPr kumimoji="1" lang="zh-TW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圓角矩形 7">
                <a:extLst>
                  <a:ext uri="{FF2B5EF4-FFF2-40B4-BE49-F238E27FC236}">
                    <a16:creationId xmlns:a16="http://schemas.microsoft.com/office/drawing/2014/main" id="{A055C0AB-60D4-1636-4C3D-68244E7A2736}"/>
                  </a:ext>
                </a:extLst>
              </p:cNvPr>
              <p:cNvSpPr/>
              <p:nvPr/>
            </p:nvSpPr>
            <p:spPr>
              <a:xfrm>
                <a:off x="1976293" y="5646276"/>
                <a:ext cx="533400" cy="561975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8" name="圓角矩形 7">
                <a:extLst>
                  <a:ext uri="{FF2B5EF4-FFF2-40B4-BE49-F238E27FC236}">
                    <a16:creationId xmlns:a16="http://schemas.microsoft.com/office/drawing/2014/main" id="{A055C0AB-60D4-1636-4C3D-68244E7A27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6293" y="5646276"/>
                <a:ext cx="533400" cy="56197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圓角矩形 8">
                <a:extLst>
                  <a:ext uri="{FF2B5EF4-FFF2-40B4-BE49-F238E27FC236}">
                    <a16:creationId xmlns:a16="http://schemas.microsoft.com/office/drawing/2014/main" id="{EA15B147-BC5B-A6A6-211A-BD5827EBABF5}"/>
                  </a:ext>
                </a:extLst>
              </p:cNvPr>
              <p:cNvSpPr/>
              <p:nvPr/>
            </p:nvSpPr>
            <p:spPr>
              <a:xfrm>
                <a:off x="1976293" y="5084301"/>
                <a:ext cx="533400" cy="561975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9" name="圓角矩形 8">
                <a:extLst>
                  <a:ext uri="{FF2B5EF4-FFF2-40B4-BE49-F238E27FC236}">
                    <a16:creationId xmlns:a16="http://schemas.microsoft.com/office/drawing/2014/main" id="{EA15B147-BC5B-A6A6-211A-BD5827EBAB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6293" y="5084301"/>
                <a:ext cx="533400" cy="56197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圓角矩形 23">
            <a:extLst>
              <a:ext uri="{FF2B5EF4-FFF2-40B4-BE49-F238E27FC236}">
                <a16:creationId xmlns:a16="http://schemas.microsoft.com/office/drawing/2014/main" id="{43D6FDF4-32C4-8668-30C3-51F76856F56F}"/>
              </a:ext>
            </a:extLst>
          </p:cNvPr>
          <p:cNvSpPr/>
          <p:nvPr/>
        </p:nvSpPr>
        <p:spPr>
          <a:xfrm>
            <a:off x="1940213" y="2311628"/>
            <a:ext cx="533400" cy="11173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h</a:t>
            </a:r>
            <a:r>
              <a:rPr kumimoji="1" lang="en-US" altLang="zh-TW" sz="2200" baseline="-25000" dirty="0"/>
              <a:t>1</a:t>
            </a:r>
            <a:endParaRPr kumimoji="1" lang="zh-TW" altLang="en-US" sz="2200" baseline="-25000" dirty="0"/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1453DD7E-9694-FDEC-0E5F-7DA33AC27E9B}"/>
              </a:ext>
            </a:extLst>
          </p:cNvPr>
          <p:cNvSpPr/>
          <p:nvPr/>
        </p:nvSpPr>
        <p:spPr>
          <a:xfrm rot="16200000">
            <a:off x="3219958" y="2314933"/>
            <a:ext cx="1117372" cy="1110761"/>
          </a:xfrm>
          <a:prstGeom prst="round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9B947F8A-DF8B-1BBD-5A1A-C9AAB3EB2BFD}"/>
              </a:ext>
            </a:extLst>
          </p:cNvPr>
          <p:cNvSpPr txBox="1"/>
          <p:nvPr/>
        </p:nvSpPr>
        <p:spPr>
          <a:xfrm>
            <a:off x="3514128" y="2648214"/>
            <a:ext cx="671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chemeClr val="bg1"/>
                </a:solidFill>
              </a:rPr>
              <a:t>W</a:t>
            </a:r>
            <a:r>
              <a:rPr kumimoji="1" lang="en-US" altLang="zh-TW" sz="2400" baseline="30000" dirty="0">
                <a:solidFill>
                  <a:schemeClr val="bg1"/>
                </a:solidFill>
              </a:rPr>
              <a:t>O</a:t>
            </a:r>
            <a:endParaRPr kumimoji="1" lang="zh-TW" altLang="en-US" sz="2400" baseline="-25000" dirty="0">
              <a:solidFill>
                <a:schemeClr val="bg1"/>
              </a:solidFill>
            </a:endParaRPr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92DB9608-2D01-D3C8-372F-60AB4D9C7430}"/>
              </a:ext>
            </a:extLst>
          </p:cNvPr>
          <p:cNvSpPr/>
          <p:nvPr/>
        </p:nvSpPr>
        <p:spPr>
          <a:xfrm rot="16200000">
            <a:off x="3219957" y="5087607"/>
            <a:ext cx="1117372" cy="1110761"/>
          </a:xfrm>
          <a:prstGeom prst="round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D3157949-CFDA-0920-72FC-6161C7D6617B}"/>
              </a:ext>
            </a:extLst>
          </p:cNvPr>
          <p:cNvSpPr txBox="1"/>
          <p:nvPr/>
        </p:nvSpPr>
        <p:spPr>
          <a:xfrm>
            <a:off x="3514127" y="5420888"/>
            <a:ext cx="671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chemeClr val="bg1"/>
                </a:solidFill>
              </a:rPr>
              <a:t>W</a:t>
            </a:r>
            <a:r>
              <a:rPr kumimoji="1" lang="en-US" altLang="zh-TW" sz="2400" baseline="30000" dirty="0">
                <a:solidFill>
                  <a:schemeClr val="bg1"/>
                </a:solidFill>
              </a:rPr>
              <a:t>O</a:t>
            </a:r>
            <a:endParaRPr kumimoji="1" lang="zh-TW" altLang="en-US" sz="2400" baseline="-25000" dirty="0">
              <a:solidFill>
                <a:schemeClr val="bg1"/>
              </a:solidFill>
            </a:endParaRPr>
          </a:p>
        </p:txBody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0C0AB7C3-752C-EB7D-544B-0EB683CEFAE7}"/>
              </a:ext>
            </a:extLst>
          </p:cNvPr>
          <p:cNvSpPr/>
          <p:nvPr/>
        </p:nvSpPr>
        <p:spPr>
          <a:xfrm>
            <a:off x="5261840" y="5084301"/>
            <a:ext cx="533400" cy="11173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h</a:t>
            </a:r>
            <a:r>
              <a:rPr kumimoji="1" lang="en-US" altLang="zh-TW" sz="2200" baseline="-25000" dirty="0"/>
              <a:t>1</a:t>
            </a:r>
            <a:endParaRPr kumimoji="1" lang="zh-TW" altLang="en-US" sz="2200" baseline="-25000" dirty="0"/>
          </a:p>
        </p:txBody>
      </p:sp>
      <p:sp>
        <p:nvSpPr>
          <p:cNvPr id="31" name="圓角矩形 30">
            <a:extLst>
              <a:ext uri="{FF2B5EF4-FFF2-40B4-BE49-F238E27FC236}">
                <a16:creationId xmlns:a16="http://schemas.microsoft.com/office/drawing/2014/main" id="{806A0C68-2B8F-79B4-2661-9465ABBA2010}"/>
              </a:ext>
            </a:extLst>
          </p:cNvPr>
          <p:cNvSpPr/>
          <p:nvPr/>
        </p:nvSpPr>
        <p:spPr>
          <a:xfrm>
            <a:off x="5261840" y="2320360"/>
            <a:ext cx="533400" cy="11173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h</a:t>
            </a:r>
            <a:r>
              <a:rPr kumimoji="1" lang="en-US" altLang="zh-TW" sz="2200" baseline="-25000" dirty="0"/>
              <a:t>1</a:t>
            </a:r>
            <a:endParaRPr kumimoji="1" lang="zh-TW" altLang="en-US" sz="2200" baseline="-250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69E164E-F6CD-A6B4-D09F-E7D260707004}"/>
              </a:ext>
            </a:extLst>
          </p:cNvPr>
          <p:cNvSpPr txBox="1"/>
          <p:nvPr/>
        </p:nvSpPr>
        <p:spPr>
          <a:xfrm>
            <a:off x="2703919" y="2648214"/>
            <a:ext cx="283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X</a:t>
            </a:r>
            <a:endParaRPr kumimoji="1" lang="zh-TW" altLang="en-US" sz="2400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24AE01C6-7D31-3429-6EA3-72AA1B146E4F}"/>
              </a:ext>
            </a:extLst>
          </p:cNvPr>
          <p:cNvSpPr txBox="1"/>
          <p:nvPr/>
        </p:nvSpPr>
        <p:spPr>
          <a:xfrm>
            <a:off x="4557724" y="2648214"/>
            <a:ext cx="283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=</a:t>
            </a:r>
            <a:endParaRPr kumimoji="1" lang="zh-TW" altLang="en-US" sz="2400" b="1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480FC514-61AA-6A3E-3BE3-F6DB3F113ACB}"/>
              </a:ext>
            </a:extLst>
          </p:cNvPr>
          <p:cNvSpPr txBox="1"/>
          <p:nvPr/>
        </p:nvSpPr>
        <p:spPr>
          <a:xfrm>
            <a:off x="2703919" y="5448171"/>
            <a:ext cx="283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X</a:t>
            </a:r>
            <a:endParaRPr kumimoji="1" lang="zh-TW" altLang="en-US" sz="2400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F4E15EA7-5783-1839-7B50-8F612FFEC354}"/>
              </a:ext>
            </a:extLst>
          </p:cNvPr>
          <p:cNvSpPr txBox="1"/>
          <p:nvPr/>
        </p:nvSpPr>
        <p:spPr>
          <a:xfrm>
            <a:off x="4557724" y="5448171"/>
            <a:ext cx="283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=</a:t>
            </a:r>
            <a:endParaRPr kumimoji="1" lang="zh-TW" altLang="en-US" sz="2400" b="1" dirty="0"/>
          </a:p>
        </p:txBody>
      </p:sp>
      <p:sp>
        <p:nvSpPr>
          <p:cNvPr id="36" name="AutoShape 2" descr="d7fb8885690247c9a26854846b52276f">
            <a:extLst>
              <a:ext uri="{FF2B5EF4-FFF2-40B4-BE49-F238E27FC236}">
                <a16:creationId xmlns:a16="http://schemas.microsoft.com/office/drawing/2014/main" id="{C45400A9-B020-DF3B-5CC5-365CB6BEB9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85064" y="354923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37" name="AutoShape 4" descr="d7fb8885690247c9a26854846b52276f">
            <a:extLst>
              <a:ext uri="{FF2B5EF4-FFF2-40B4-BE49-F238E27FC236}">
                <a16:creationId xmlns:a16="http://schemas.microsoft.com/office/drawing/2014/main" id="{CABA0668-9CBC-CFE7-28ED-2C9402C44F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89633" y="2353802"/>
            <a:ext cx="1652631" cy="1652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38" name="圖片 37">
            <a:extLst>
              <a:ext uri="{FF2B5EF4-FFF2-40B4-BE49-F238E27FC236}">
                <a16:creationId xmlns:a16="http://schemas.microsoft.com/office/drawing/2014/main" id="{1F458F9F-6DF1-E55D-CFA3-7BAD8405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9001" y="2389041"/>
            <a:ext cx="2982591" cy="3752686"/>
          </a:xfrm>
          <a:prstGeom prst="rect">
            <a:avLst/>
          </a:prstGeom>
        </p:spPr>
      </p:pic>
      <p:pic>
        <p:nvPicPr>
          <p:cNvPr id="39" name="內容版面配置區 12">
            <a:extLst>
              <a:ext uri="{FF2B5EF4-FFF2-40B4-BE49-F238E27FC236}">
                <a16:creationId xmlns:a16="http://schemas.microsoft.com/office/drawing/2014/main" id="{B6453C47-A2C4-E380-5C64-D12AED88AB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5"/>
          <a:srcRect b="50000"/>
          <a:stretch/>
        </p:blipFill>
        <p:spPr>
          <a:xfrm>
            <a:off x="5990837" y="478009"/>
            <a:ext cx="5815012" cy="4551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9ED5424F-F1BD-C336-BC95-5AB8845522EB}"/>
                  </a:ext>
                </a:extLst>
              </p:cNvPr>
              <p:cNvSpPr txBox="1"/>
              <p:nvPr/>
            </p:nvSpPr>
            <p:spPr>
              <a:xfrm>
                <a:off x="9556176" y="4425603"/>
                <a:ext cx="1489643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9ED5424F-F1BD-C336-BC95-5AB884552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6176" y="4425603"/>
                <a:ext cx="1489643" cy="374270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5437046D-A1E6-41FB-BF8F-92ECD8F49F92}"/>
                  </a:ext>
                </a:extLst>
              </p:cNvPr>
              <p:cNvSpPr txBox="1"/>
              <p:nvPr/>
            </p:nvSpPr>
            <p:spPr>
              <a:xfrm>
                <a:off x="9709125" y="4130258"/>
                <a:ext cx="1489643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5437046D-A1E6-41FB-BF8F-92ECD8F49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9125" y="4130258"/>
                <a:ext cx="1489643" cy="374270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42585FA2-B896-B911-F3CF-7F2256F1520B}"/>
                  </a:ext>
                </a:extLst>
              </p:cNvPr>
              <p:cNvSpPr txBox="1"/>
              <p:nvPr/>
            </p:nvSpPr>
            <p:spPr>
              <a:xfrm>
                <a:off x="9891592" y="3725634"/>
                <a:ext cx="1489643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42585FA2-B896-B911-F3CF-7F2256F15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1592" y="3725634"/>
                <a:ext cx="1489643" cy="374270"/>
              </a:xfrm>
              <a:prstGeom prst="rect">
                <a:avLst/>
              </a:prstGeom>
              <a:blipFill>
                <a:blip r:embed="rId8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字方塊 42">
            <a:extLst>
              <a:ext uri="{FF2B5EF4-FFF2-40B4-BE49-F238E27FC236}">
                <a16:creationId xmlns:a16="http://schemas.microsoft.com/office/drawing/2014/main" id="{DC807219-1A4A-E8F1-8769-9756C391D4FB}"/>
              </a:ext>
            </a:extLst>
          </p:cNvPr>
          <p:cNvSpPr txBox="1"/>
          <p:nvPr/>
        </p:nvSpPr>
        <p:spPr>
          <a:xfrm>
            <a:off x="10148051" y="3891114"/>
            <a:ext cx="305895" cy="374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...</a:t>
            </a:r>
            <a:endParaRPr kumimoji="1" lang="zh-TW" altLang="en-US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E13FBD4-2A24-CB1C-A77B-97D0A707C1A9}"/>
              </a:ext>
            </a:extLst>
          </p:cNvPr>
          <p:cNvSpPr/>
          <p:nvPr/>
        </p:nvSpPr>
        <p:spPr>
          <a:xfrm flipV="1">
            <a:off x="8387540" y="369061"/>
            <a:ext cx="2549216" cy="56408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x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8598CBA4-5794-ECD7-BD95-83E8E5354DE8}"/>
                  </a:ext>
                </a:extLst>
              </p:cNvPr>
              <p:cNvSpPr txBox="1"/>
              <p:nvPr/>
            </p:nvSpPr>
            <p:spPr>
              <a:xfrm>
                <a:off x="8506671" y="971572"/>
                <a:ext cx="1450077" cy="3808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TW" altLang="en-US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kumimoji="1" lang="en-US" altLang="zh-TW" b="0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 (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⋅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kumimoji="1" lang="zh-TW" altLang="en-US" dirty="0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8598CBA4-5794-ECD7-BD95-83E8E5354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6671" y="971572"/>
                <a:ext cx="1450077" cy="380810"/>
              </a:xfrm>
              <a:prstGeom prst="rect">
                <a:avLst/>
              </a:prstGeom>
              <a:blipFill>
                <a:blip r:embed="rId9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矩形 45">
            <a:extLst>
              <a:ext uri="{FF2B5EF4-FFF2-40B4-BE49-F238E27FC236}">
                <a16:creationId xmlns:a16="http://schemas.microsoft.com/office/drawing/2014/main" id="{8723F714-7EB9-75FF-A17D-BAF9FF4F2AEA}"/>
              </a:ext>
            </a:extLst>
          </p:cNvPr>
          <p:cNvSpPr/>
          <p:nvPr/>
        </p:nvSpPr>
        <p:spPr>
          <a:xfrm flipV="1">
            <a:off x="10899383" y="369061"/>
            <a:ext cx="507484" cy="564082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x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E5BA9FDF-BB2C-9479-4F17-6B59FBD0ABCD}"/>
                  </a:ext>
                </a:extLst>
              </p:cNvPr>
              <p:cNvSpPr txBox="1"/>
              <p:nvPr/>
            </p:nvSpPr>
            <p:spPr>
              <a:xfrm>
                <a:off x="10357352" y="960158"/>
                <a:ext cx="1682832" cy="387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TW" alt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kumimoji="1"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kumimoji="1"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d>
                            <m:dPr>
                              <m:ctrlPr>
                                <a:rPr kumimoji="1"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kumimoji="1"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⋅</m:t>
                              </m:r>
                              <m:r>
                                <a:rPr kumimoji="1"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kumimoji="1"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 </m:t>
                          </m:r>
                          <m:sSub>
                            <m:sSubPr>
                              <m:ctrlPr>
                                <a:rPr kumimoji="1"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kumimoji="1"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kumimoji="1" lang="zh-TW" alt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E5BA9FDF-BB2C-9479-4F17-6B59FBD0A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7352" y="960158"/>
                <a:ext cx="1682832" cy="387927"/>
              </a:xfrm>
              <a:prstGeom prst="rect">
                <a:avLst/>
              </a:prstGeom>
              <a:blipFill>
                <a:blip r:embed="rId10"/>
                <a:stretch>
                  <a:fillRect b="-156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E7B14EFA-5676-1928-C7D3-3F6CD37C0A27}"/>
                  </a:ext>
                </a:extLst>
              </p:cNvPr>
              <p:cNvSpPr txBox="1"/>
              <p:nvPr/>
            </p:nvSpPr>
            <p:spPr>
              <a:xfrm>
                <a:off x="8676006" y="3377776"/>
                <a:ext cx="1419720" cy="380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TW" altLang="en-US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kumimoji="1" lang="en-US" altLang="zh-TW" b="0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 (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⋅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E7B14EFA-5676-1928-C7D3-3F6CD37C0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6006" y="3377776"/>
                <a:ext cx="1419720" cy="380810"/>
              </a:xfrm>
              <a:prstGeom prst="rect">
                <a:avLst/>
              </a:prstGeom>
              <a:blipFill>
                <a:blip r:embed="rId11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C19427F2-A02A-7369-C570-C3CD6FF6FA69}"/>
                  </a:ext>
                </a:extLst>
              </p:cNvPr>
              <p:cNvSpPr txBox="1"/>
              <p:nvPr/>
            </p:nvSpPr>
            <p:spPr>
              <a:xfrm>
                <a:off x="9412076" y="2302012"/>
                <a:ext cx="964035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∈</m:t>
                          </m:r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 </m:t>
                          </m:r>
                          <m:sSub>
                            <m:sSubPr>
                              <m:ctrlPr>
                                <a:rPr kumimoji="1"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kumimoji="1"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C19427F2-A02A-7369-C570-C3CD6FF6F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2076" y="2302012"/>
                <a:ext cx="964035" cy="468205"/>
              </a:xfrm>
              <a:prstGeom prst="rect">
                <a:avLst/>
              </a:prstGeom>
              <a:blipFill>
                <a:blip r:embed="rId12"/>
                <a:stretch>
                  <a:fillRect l="-7895" t="-2703" r="-68421" b="-216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148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24" grpId="0" animBg="1"/>
      <p:bldP spid="30" grpId="0" animBg="1"/>
      <p:bldP spid="31" grpId="0" animBg="1"/>
      <p:bldP spid="40" grpId="0"/>
      <p:bldP spid="41" grpId="0"/>
      <p:bldP spid="42" grpId="0"/>
      <p:bldP spid="43" grpId="0"/>
      <p:bldP spid="48" grpId="0"/>
      <p:bldP spid="4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CE250D-F59B-9F2A-18CF-2B4C6C449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MHA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比較好嗎</a:t>
            </a:r>
            <a:r>
              <a:rPr kumimoji="1" lang="zh-TW" altLang="en-US" dirty="0"/>
              <a:t>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14A42DA-7060-6472-AB52-36BB8FFD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7724350-515B-3F0D-35A5-2E0A6C13D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471" y="2272315"/>
            <a:ext cx="9329057" cy="4229597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50A31FA-F874-23E0-4B6E-E55C8B4D201F}"/>
              </a:ext>
            </a:extLst>
          </p:cNvPr>
          <p:cNvSpPr txBox="1"/>
          <p:nvPr/>
        </p:nvSpPr>
        <p:spPr>
          <a:xfrm>
            <a:off x="653143" y="1564720"/>
            <a:ext cx="5944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ea typeface="Microsoft JhengHei" panose="020B0604030504040204" pitchFamily="34" charset="-120"/>
              </a:rPr>
              <a:t>實驗證明：不同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head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關注的地方不太一樣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C6191D7-66F3-067C-56C0-E40B28FF3B2B}"/>
              </a:ext>
            </a:extLst>
          </p:cNvPr>
          <p:cNvSpPr txBox="1"/>
          <p:nvPr/>
        </p:nvSpPr>
        <p:spPr>
          <a:xfrm>
            <a:off x="5607996" y="522460"/>
            <a:ext cx="59308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400" dirty="0"/>
              <a:t>Clark, Kevin, et al. "What Does BERT Look at? An Analysis of BERT’s Attention." Proceedings of the 2019 ACL Workshop </a:t>
            </a:r>
            <a:r>
              <a:rPr lang="en" altLang="zh-TW" sz="1400" dirty="0" err="1"/>
              <a:t>BlackboxNLP</a:t>
            </a:r>
            <a:r>
              <a:rPr lang="en" altLang="zh-TW" sz="1400" dirty="0"/>
              <a:t>: Analyzing and Interpreting Neural Networks for NLP. 2019.</a:t>
            </a:r>
            <a:endParaRPr lang="zh-TW" altLang="en-US" sz="14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DD94B6A-34A6-9E82-17AB-E50561CD32B7}"/>
              </a:ext>
            </a:extLst>
          </p:cNvPr>
          <p:cNvSpPr txBox="1"/>
          <p:nvPr/>
        </p:nvSpPr>
        <p:spPr>
          <a:xfrm>
            <a:off x="4531351" y="2201601"/>
            <a:ext cx="1564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關注受詞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1CF96CB-EA9D-A0C0-294D-495BCB572DF5}"/>
              </a:ext>
            </a:extLst>
          </p:cNvPr>
          <p:cNvSpPr txBox="1"/>
          <p:nvPr/>
        </p:nvSpPr>
        <p:spPr>
          <a:xfrm>
            <a:off x="9518398" y="2201601"/>
            <a:ext cx="1564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關注限定詞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D42C909-6AA2-F91C-9AFF-F431C71279E2}"/>
              </a:ext>
            </a:extLst>
          </p:cNvPr>
          <p:cNvSpPr txBox="1"/>
          <p:nvPr/>
        </p:nvSpPr>
        <p:spPr>
          <a:xfrm>
            <a:off x="8510155" y="1450768"/>
            <a:ext cx="3093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dirty="0"/>
              <a:t>&lt;layer&gt;-&lt;head number&gt;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535051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CB7354-9D15-409E-0B29-090B1BB3F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33</a:t>
            </a:fld>
            <a:endParaRPr lang="en-US"/>
          </a:p>
        </p:txBody>
      </p:sp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4BB10F39-A03E-AB6C-0F91-A122ED2FAD5B}"/>
              </a:ext>
            </a:extLst>
          </p:cNvPr>
          <p:cNvSpPr txBox="1">
            <a:spLocks/>
          </p:cNvSpPr>
          <p:nvPr/>
        </p:nvSpPr>
        <p:spPr>
          <a:xfrm>
            <a:off x="1216574" y="3429000"/>
            <a:ext cx="5523673" cy="188866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kumimoji="1" lang="en-US" altLang="zh-TW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C8C9033-E6DF-71DC-B4B5-F1ABD93D46B7}"/>
                  </a:ext>
                </a:extLst>
              </p:cNvPr>
              <p:cNvSpPr txBox="1"/>
              <p:nvPr/>
            </p:nvSpPr>
            <p:spPr>
              <a:xfrm>
                <a:off x="740032" y="2225419"/>
                <a:ext cx="5006141" cy="2621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kumimoji="1" lang="en-US" altLang="zh-TW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en-US" altLang="zh-TW" sz="24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p>
                        <m:r>
                          <a:rPr kumimoji="1" lang="en-US" altLang="zh-TW" sz="24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</m:sup>
                    </m:sSup>
                  </m:oMath>
                </a14:m>
                <a:r>
                  <a:rPr kumimoji="1" lang="en-US" altLang="zh-TW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the concatenated head outputs can be projected to a preferred dimension (hyperparameter: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kumimoji="1" lang="en-US" altLang="zh-TW" sz="24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kumimoji="1" lang="en-US" altLang="zh-TW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). 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TW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No worries on how #head changes dimension of outputs!</a:t>
                </a: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C8C9033-E6DF-71DC-B4B5-F1ABD93D4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032" y="2225419"/>
                <a:ext cx="5006141" cy="2621615"/>
              </a:xfrm>
              <a:prstGeom prst="rect">
                <a:avLst/>
              </a:prstGeom>
              <a:blipFill>
                <a:blip r:embed="rId2"/>
                <a:stretch>
                  <a:fillRect l="-1772" t="-1449"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標題 1">
            <a:extLst>
              <a:ext uri="{FF2B5EF4-FFF2-40B4-BE49-F238E27FC236}">
                <a16:creationId xmlns:a16="http://schemas.microsoft.com/office/drawing/2014/main" id="{3229EFE1-940A-38A8-F323-9BBC83722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/>
          <a:p>
            <a:r>
              <a:rPr kumimoji="1" lang="en-US" altLang="zh-TW" dirty="0"/>
              <a:t>Summary of MHA</a:t>
            </a:r>
            <a:endParaRPr kumimoji="1" lang="zh-TW" altLang="en-US" dirty="0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703B8906-F6F5-296C-3459-27DD3AFB1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9001" y="2389041"/>
            <a:ext cx="2982591" cy="37526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EED09D0F-9D4C-8149-8F1C-18FE73714CF5}"/>
                  </a:ext>
                </a:extLst>
              </p:cNvPr>
              <p:cNvSpPr txBox="1"/>
              <p:nvPr/>
            </p:nvSpPr>
            <p:spPr>
              <a:xfrm>
                <a:off x="9556176" y="4425603"/>
                <a:ext cx="1489643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EED09D0F-9D4C-8149-8F1C-18FE73714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6176" y="4425603"/>
                <a:ext cx="1489643" cy="374270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DB118555-0960-864B-0B45-ACCC2E87DB56}"/>
                  </a:ext>
                </a:extLst>
              </p:cNvPr>
              <p:cNvSpPr txBox="1"/>
              <p:nvPr/>
            </p:nvSpPr>
            <p:spPr>
              <a:xfrm>
                <a:off x="9709125" y="4130258"/>
                <a:ext cx="1489643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DB118555-0960-864B-0B45-ACCC2E87D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9125" y="4130258"/>
                <a:ext cx="1489643" cy="374270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97D11B8-EE06-47D7-8754-A23DABADBC41}"/>
                  </a:ext>
                </a:extLst>
              </p:cNvPr>
              <p:cNvSpPr txBox="1"/>
              <p:nvPr/>
            </p:nvSpPr>
            <p:spPr>
              <a:xfrm>
                <a:off x="9891592" y="3725634"/>
                <a:ext cx="1489643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97D11B8-EE06-47D7-8754-A23DABADB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1592" y="3725634"/>
                <a:ext cx="1489643" cy="374270"/>
              </a:xfrm>
              <a:prstGeom prst="rect">
                <a:avLst/>
              </a:prstGeom>
              <a:blipFill>
                <a:blip r:embed="rId6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>
            <a:extLst>
              <a:ext uri="{FF2B5EF4-FFF2-40B4-BE49-F238E27FC236}">
                <a16:creationId xmlns:a16="http://schemas.microsoft.com/office/drawing/2014/main" id="{FD53E5D7-826B-E51E-AD97-A5C84C5910C0}"/>
              </a:ext>
            </a:extLst>
          </p:cNvPr>
          <p:cNvSpPr txBox="1"/>
          <p:nvPr/>
        </p:nvSpPr>
        <p:spPr>
          <a:xfrm>
            <a:off x="10148051" y="3891114"/>
            <a:ext cx="464904" cy="374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...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6F68B3FD-CBD7-CDC4-FEF1-EA674C76B0FC}"/>
                  </a:ext>
                </a:extLst>
              </p:cNvPr>
              <p:cNvSpPr txBox="1"/>
              <p:nvPr/>
            </p:nvSpPr>
            <p:spPr>
              <a:xfrm>
                <a:off x="8676006" y="3377776"/>
                <a:ext cx="1419720" cy="380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TW" altLang="en-US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kumimoji="1" lang="en-US" altLang="zh-TW" b="0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 (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⋅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6F68B3FD-CBD7-CDC4-FEF1-EA674C76B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6006" y="3377776"/>
                <a:ext cx="1419720" cy="380810"/>
              </a:xfrm>
              <a:prstGeom prst="rect">
                <a:avLst/>
              </a:prstGeom>
              <a:blipFill>
                <a:blip r:embed="rId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C2053F4F-FB31-E153-3CD5-D7C759A33ACC}"/>
                  </a:ext>
                </a:extLst>
              </p:cNvPr>
              <p:cNvSpPr txBox="1"/>
              <p:nvPr/>
            </p:nvSpPr>
            <p:spPr>
              <a:xfrm>
                <a:off x="9412076" y="2302012"/>
                <a:ext cx="964035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∈</m:t>
                          </m:r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 </m:t>
                          </m:r>
                          <m:sSub>
                            <m:sSubPr>
                              <m:ctrlPr>
                                <a:rPr kumimoji="1"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kumimoji="1"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C2053F4F-FB31-E153-3CD5-D7C759A33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2076" y="2302012"/>
                <a:ext cx="964035" cy="468205"/>
              </a:xfrm>
              <a:prstGeom prst="rect">
                <a:avLst/>
              </a:prstGeom>
              <a:blipFill>
                <a:blip r:embed="rId8"/>
                <a:stretch>
                  <a:fillRect l="-7895" t="-2703" r="-68421" b="-216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8197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D32678-E3F3-1AC0-177F-95FBBE4D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Outline of Transformer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7DDE1C-CF0A-79E7-FBE5-7EF521BF2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1C71EC8-1B57-4201-3E94-FC9DC6C10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804" y="1530220"/>
            <a:ext cx="3619047" cy="5159829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5312BF7-A272-740A-C7A1-E7AF231CC6D5}"/>
              </a:ext>
            </a:extLst>
          </p:cNvPr>
          <p:cNvSpPr txBox="1"/>
          <p:nvPr/>
        </p:nvSpPr>
        <p:spPr>
          <a:xfrm>
            <a:off x="9165836" y="1440227"/>
            <a:ext cx="23963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Vaswani, Ashish, et al. "Attention is all you need." </a:t>
            </a:r>
            <a:r>
              <a:rPr lang="en-US" altLang="zh-TW" sz="100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NeurIPS</a:t>
            </a:r>
            <a:r>
              <a:rPr lang="en-US" altLang="zh-TW" sz="10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(2017).</a:t>
            </a:r>
            <a:endParaRPr lang="zh-TW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121FA8-BF6C-08DC-D82D-F6A4055B5A7C}"/>
              </a:ext>
            </a:extLst>
          </p:cNvPr>
          <p:cNvSpPr/>
          <p:nvPr/>
        </p:nvSpPr>
        <p:spPr>
          <a:xfrm>
            <a:off x="4963885" y="4329405"/>
            <a:ext cx="1026368" cy="2425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45AD95-2235-FAA3-E90C-45FE8920B0AA}"/>
              </a:ext>
            </a:extLst>
          </p:cNvPr>
          <p:cNvSpPr/>
          <p:nvPr/>
        </p:nvSpPr>
        <p:spPr>
          <a:xfrm>
            <a:off x="6281444" y="4198776"/>
            <a:ext cx="1026368" cy="2425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47FF5F-8BF6-425E-157A-5FDEB514FDA7}"/>
              </a:ext>
            </a:extLst>
          </p:cNvPr>
          <p:cNvSpPr/>
          <p:nvPr/>
        </p:nvSpPr>
        <p:spPr>
          <a:xfrm>
            <a:off x="4963885" y="3502072"/>
            <a:ext cx="1026368" cy="2425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78F7EAE-D5B1-34D5-3FFC-C765122CEDBE}"/>
              </a:ext>
            </a:extLst>
          </p:cNvPr>
          <p:cNvSpPr/>
          <p:nvPr/>
        </p:nvSpPr>
        <p:spPr>
          <a:xfrm>
            <a:off x="6281444" y="2621903"/>
            <a:ext cx="1026368" cy="2425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43C22E-6ED1-3EC0-BFEC-780941DD26EC}"/>
              </a:ext>
            </a:extLst>
          </p:cNvPr>
          <p:cNvSpPr/>
          <p:nvPr/>
        </p:nvSpPr>
        <p:spPr>
          <a:xfrm>
            <a:off x="6281444" y="3374554"/>
            <a:ext cx="1026368" cy="2425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1" name="內容版面配置區 11">
            <a:extLst>
              <a:ext uri="{FF2B5EF4-FFF2-40B4-BE49-F238E27FC236}">
                <a16:creationId xmlns:a16="http://schemas.microsoft.com/office/drawing/2014/main" id="{AD0221C5-C4D4-07B3-187D-01D027F9B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0" y="2180165"/>
            <a:ext cx="3331029" cy="2631372"/>
          </a:xfrm>
        </p:spPr>
        <p:txBody>
          <a:bodyPr/>
          <a:lstStyle/>
          <a:p>
            <a:pPr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Add: Residual Connection </a:t>
            </a:r>
          </a:p>
          <a:p>
            <a:pPr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Norm: Layer Normalization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1822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2E3F19-3AC3-4AA8-44E2-6FFF5DD32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內容版面配置區 11">
                <a:extLst>
                  <a:ext uri="{FF2B5EF4-FFF2-40B4-BE49-F238E27FC236}">
                    <a16:creationId xmlns:a16="http://schemas.microsoft.com/office/drawing/2014/main" id="{9372C1F0-CF52-6A42-B166-128A4D26DB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79" y="1845734"/>
                <a:ext cx="4439455" cy="1527522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200"/>
                  </a:spcBef>
                  <a:buFont typeface="Wingdings" pitchFamily="2" charset="2"/>
                  <a:buChar char="n"/>
                </a:pPr>
                <a:r>
                  <a:rPr kumimoji="1" lang="en-US" altLang="zh-TW" dirty="0">
                    <a:latin typeface="Calibri" panose="020F0502020204030204" pitchFamily="34" charset="0"/>
                    <a:cs typeface="Calibri" panose="020F0502020204030204" pitchFamily="34" charset="0"/>
                  </a:rPr>
                  <a:t> Research shows that Residual Connection (He, </a:t>
                </a:r>
                <a:r>
                  <a:rPr kumimoji="1" lang="en-US" altLang="zh-TW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Kaiming</a:t>
                </a:r>
                <a:r>
                  <a:rPr kumimoji="1" lang="en-US" altLang="zh-TW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et al., 2016) stabilizes training. </a:t>
                </a:r>
              </a:p>
              <a:p>
                <a:pPr>
                  <a:spcBef>
                    <a:spcPts val="200"/>
                  </a:spcBef>
                  <a:buFont typeface="Wingdings" pitchFamily="2" charset="2"/>
                  <a:buChar char="n"/>
                </a:pPr>
                <a:r>
                  <a:rPr kumimoji="1" lang="en-US" altLang="zh-TW" dirty="0">
                    <a:latin typeface="Calibri" panose="020F0502020204030204" pitchFamily="34" charset="0"/>
                    <a:cs typeface="Calibri" panose="020F0502020204030204" pitchFamily="34" charset="0"/>
                  </a:rPr>
                  <a:t> Let the layers in between learn the residual relationship (i.e. </a:t>
                </a:r>
                <a14:m>
                  <m:oMath xmlns:m="http://schemas.openxmlformats.org/officeDocument/2006/math">
                    <m:r>
                      <a:rPr kumimoji="1" lang="en-US" altLang="zh-TW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kumimoji="1" lang="en-US" altLang="zh-TW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kumimoji="1" lang="en-US" altLang="zh-TW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kumimoji="1" lang="en-US" altLang="zh-TW" dirty="0">
                    <a:latin typeface="Calibri" panose="020F0502020204030204" pitchFamily="34" charset="0"/>
                    <a:cs typeface="Calibri" panose="020F0502020204030204" pitchFamily="34" charset="0"/>
                  </a:rPr>
                  <a:t>).  </a:t>
                </a:r>
                <a:endParaRPr kumimoji="1" lang="zh-TW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" name="內容版面配置區 11">
                <a:extLst>
                  <a:ext uri="{FF2B5EF4-FFF2-40B4-BE49-F238E27FC236}">
                    <a16:creationId xmlns:a16="http://schemas.microsoft.com/office/drawing/2014/main" id="{9372C1F0-CF52-6A42-B166-128A4D26DB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79" y="1845734"/>
                <a:ext cx="4439455" cy="1527522"/>
              </a:xfrm>
              <a:blipFill>
                <a:blip r:embed="rId3"/>
                <a:stretch>
                  <a:fillRect l="-3143" t="-4959" b="-66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群組 2">
            <a:extLst>
              <a:ext uri="{FF2B5EF4-FFF2-40B4-BE49-F238E27FC236}">
                <a16:creationId xmlns:a16="http://schemas.microsoft.com/office/drawing/2014/main" id="{66AF3E9B-8073-0A06-0E26-A442F783E922}"/>
              </a:ext>
            </a:extLst>
          </p:cNvPr>
          <p:cNvGrpSpPr/>
          <p:nvPr/>
        </p:nvGrpSpPr>
        <p:grpSpPr>
          <a:xfrm>
            <a:off x="5536734" y="1845734"/>
            <a:ext cx="5729077" cy="3279676"/>
            <a:chOff x="1487244" y="3429000"/>
            <a:chExt cx="4341001" cy="2438400"/>
          </a:xfrm>
        </p:grpSpPr>
        <p:pic>
          <p:nvPicPr>
            <p:cNvPr id="11266" name="Picture 2">
              <a:extLst>
                <a:ext uri="{FF2B5EF4-FFF2-40B4-BE49-F238E27FC236}">
                  <a16:creationId xmlns:a16="http://schemas.microsoft.com/office/drawing/2014/main" id="{AC779B95-3AD3-DF11-CE41-9BD368CA87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6545" y="3429000"/>
              <a:ext cx="3441700" cy="2438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E788C8FC-5EEE-1E2E-A51C-621CFEAF185F}"/>
                </a:ext>
              </a:extLst>
            </p:cNvPr>
            <p:cNvSpPr txBox="1"/>
            <p:nvPr/>
          </p:nvSpPr>
          <p:spPr>
            <a:xfrm>
              <a:off x="1487245" y="5120641"/>
              <a:ext cx="1279199" cy="2974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Residual</a:t>
              </a:r>
              <a:endParaRPr lang="zh-TW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10222FB4-48A5-B892-ED54-49A505228E45}"/>
                </a:ext>
              </a:extLst>
            </p:cNvPr>
            <p:cNvSpPr txBox="1"/>
            <p:nvPr/>
          </p:nvSpPr>
          <p:spPr>
            <a:xfrm>
              <a:off x="1487244" y="3719905"/>
              <a:ext cx="1279199" cy="2974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Standard</a:t>
              </a:r>
              <a:endParaRPr lang="zh-TW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" name="文字方塊 4">
            <a:extLst>
              <a:ext uri="{FF2B5EF4-FFF2-40B4-BE49-F238E27FC236}">
                <a16:creationId xmlns:a16="http://schemas.microsoft.com/office/drawing/2014/main" id="{8F91BD39-6D1A-4467-01AB-173375ED05C5}"/>
              </a:ext>
            </a:extLst>
          </p:cNvPr>
          <p:cNvSpPr txBox="1"/>
          <p:nvPr/>
        </p:nvSpPr>
        <p:spPr>
          <a:xfrm>
            <a:off x="1386071" y="6459622"/>
            <a:ext cx="9989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Calibri" panose="020F0502020204030204" pitchFamily="34" charset="0"/>
                <a:cs typeface="Calibri" panose="020F0502020204030204" pitchFamily="34" charset="0"/>
              </a:rPr>
              <a:t>He, </a:t>
            </a:r>
            <a:r>
              <a:rPr lang="en-US" altLang="zh-TW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Kaiming</a:t>
            </a:r>
            <a:r>
              <a:rPr lang="en-US" altLang="zh-TW" sz="1200" dirty="0">
                <a:latin typeface="Calibri" panose="020F0502020204030204" pitchFamily="34" charset="0"/>
                <a:cs typeface="Calibri" panose="020F0502020204030204" pitchFamily="34" charset="0"/>
              </a:rPr>
              <a:t>, et al. "Deep residual learning for image recognition." Proceedings of the IEEE conference on computer vision and pattern recognition (2016).</a:t>
            </a:r>
            <a:endParaRPr lang="zh-TW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098383AD-DEBB-9374-ABB1-2768F534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>
            <a:normAutofit/>
          </a:bodyPr>
          <a:lstStyle/>
          <a:p>
            <a:r>
              <a:rPr kumimoji="1" lang="en-US" altLang="zh-TW" u="sng" dirty="0">
                <a:cs typeface="Calibri" panose="020F0502020204030204" pitchFamily="34" charset="0"/>
              </a:rPr>
              <a:t>Add</a:t>
            </a:r>
            <a:r>
              <a:rPr kumimoji="1" lang="en-US" altLang="zh-TW" dirty="0">
                <a:cs typeface="Calibri" panose="020F0502020204030204" pitchFamily="34" charset="0"/>
              </a:rPr>
              <a:t> &amp; Norm</a:t>
            </a:r>
            <a:endParaRPr lang="zh-TW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14896667-01DC-384D-5D83-367F7FA363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189" y="3829486"/>
            <a:ext cx="3992852" cy="214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5548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C4281DB4-CD8B-BC23-22DE-5A9CFB8EE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468" y="2613298"/>
            <a:ext cx="4938540" cy="3802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2E3F19-3AC3-4AA8-44E2-6FFF5DD32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36</a:t>
            </a:fld>
            <a:endParaRPr 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C3013DB-845C-D2CC-87BE-1E67024EAA4F}"/>
              </a:ext>
            </a:extLst>
          </p:cNvPr>
          <p:cNvSpPr txBox="1"/>
          <p:nvPr/>
        </p:nvSpPr>
        <p:spPr>
          <a:xfrm>
            <a:off x="7159323" y="1468998"/>
            <a:ext cx="43647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B: Batch Size</a:t>
            </a:r>
          </a:p>
          <a:p>
            <a:r>
              <a:rPr kumimoji="1" lang="en-US" altLang="zh-TW" dirty="0"/>
              <a:t>C: Channels / Embedding Feature Dimension</a:t>
            </a:r>
          </a:p>
          <a:p>
            <a:r>
              <a:rPr kumimoji="1" lang="en-US" altLang="zh-TW" dirty="0"/>
              <a:t>N: Sequence length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內容版面配置區 11">
                <a:extLst>
                  <a:ext uri="{FF2B5EF4-FFF2-40B4-BE49-F238E27FC236}">
                    <a16:creationId xmlns:a16="http://schemas.microsoft.com/office/drawing/2014/main" id="{9372C1F0-CF52-6A42-B166-128A4D26DB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7892" y="1654717"/>
                <a:ext cx="5428108" cy="2528177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200"/>
                  </a:spcBef>
                  <a:buFont typeface="Wingdings" pitchFamily="2" charset="2"/>
                  <a:buChar char="n"/>
                </a:pPr>
                <a:r>
                  <a:rPr kumimoji="1" lang="en-US" altLang="zh-TW" dirty="0">
                    <a:highlight>
                      <a:srgbClr val="FFFF00"/>
                    </a:highlight>
                    <a:latin typeface="Calibri" panose="020F0502020204030204" pitchFamily="34" charset="0"/>
                    <a:cs typeface="Calibri" panose="020F0502020204030204" pitchFamily="34" charset="0"/>
                  </a:rPr>
                  <a:t>Layer Norm: For an input vector, calculate its mean and std across embedding dimension</a:t>
                </a:r>
                <a:r>
                  <a:rPr kumimoji="1" lang="zh-TW" altLang="en-US" dirty="0">
                    <a:highlight>
                      <a:srgbClr val="FFFF00"/>
                    </a:highlight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TW" dirty="0">
                    <a:highlight>
                      <a:srgbClr val="FFFF00"/>
                    </a:highlight>
                    <a:latin typeface="Calibri" panose="020F0502020204030204" pitchFamily="34" charset="0"/>
                    <a:cs typeface="Calibri" panose="020F0502020204030204" pitchFamily="34" charset="0"/>
                  </a:rPr>
                  <a:t>(within an example). </a:t>
                </a:r>
              </a:p>
              <a:p>
                <a:pPr lvl="1">
                  <a:buFont typeface="Wingdings" pitchFamily="2" charset="2"/>
                  <a:buChar char="n"/>
                </a:pPr>
                <a:r>
                  <a:rPr kumimoji="1" lang="en-US" altLang="zh-TW" dirty="0"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TW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𝐧𝐨𝐫𝐦</m:t>
                    </m:r>
                    <m:d>
                      <m:dPr>
                        <m:ctrlPr>
                          <a:rPr kumimoji="1"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</m:d>
                    <m:r>
                      <a:rPr kumimoji="1" lang="en-US" altLang="zh-TW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kumimoji="1" lang="en-US" altLang="zh-TW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𝑿</m:t>
                        </m:r>
                        <m:r>
                          <a:rPr kumimoji="1" lang="en-US" altLang="zh-TW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kumimoji="1" lang="en-US" altLang="zh-TW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</m:num>
                      <m:den>
                        <m:r>
                          <a:rPr kumimoji="1" lang="en-US" altLang="zh-TW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𝝈</m:t>
                        </m:r>
                      </m:den>
                    </m:f>
                  </m:oMath>
                </a14:m>
                <a:r>
                  <a:rPr kumimoji="1" lang="en-US" altLang="zh-TW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內容版面配置區 11">
                <a:extLst>
                  <a:ext uri="{FF2B5EF4-FFF2-40B4-BE49-F238E27FC236}">
                    <a16:creationId xmlns:a16="http://schemas.microsoft.com/office/drawing/2014/main" id="{9372C1F0-CF52-6A42-B166-128A4D26DB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7892" y="1654717"/>
                <a:ext cx="5428108" cy="2528177"/>
              </a:xfrm>
              <a:blipFill>
                <a:blip r:embed="rId4"/>
                <a:stretch>
                  <a:fillRect l="-2564" t="-3000" r="-23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EC66F5E8-925C-9D58-7580-BFF2846FCD83}"/>
              </a:ext>
            </a:extLst>
          </p:cNvPr>
          <p:cNvSpPr txBox="1"/>
          <p:nvPr/>
        </p:nvSpPr>
        <p:spPr>
          <a:xfrm>
            <a:off x="2445532" y="6445901"/>
            <a:ext cx="76576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Ba, Jimmy Lei, Jamie Ryan </a:t>
            </a:r>
            <a:r>
              <a:rPr lang="en-US" altLang="zh-TW" sz="120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Kiros</a:t>
            </a:r>
            <a:r>
              <a:rPr lang="en-US" altLang="zh-TW" sz="12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and Geoffrey E. Hinton. "Layer normalization." </a:t>
            </a:r>
            <a:r>
              <a:rPr lang="en-US" altLang="zh-TW" sz="120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arXiv</a:t>
            </a:r>
            <a:r>
              <a:rPr lang="en-US" altLang="zh-TW" sz="12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preprint arXiv:1607.06450 (2016).</a:t>
            </a:r>
            <a:endParaRPr lang="zh-TW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DDAEE2A0-1F04-B1F5-58E5-EAD20D6E0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>
            <a:normAutofit/>
          </a:bodyPr>
          <a:lstStyle/>
          <a:p>
            <a:r>
              <a:rPr kumimoji="1" lang="en-US" altLang="zh-TW" dirty="0">
                <a:cs typeface="Calibri" panose="020F0502020204030204" pitchFamily="34" charset="0"/>
              </a:rPr>
              <a:t>Add &amp; </a:t>
            </a:r>
            <a:r>
              <a:rPr kumimoji="1" lang="en-US" altLang="zh-TW" u="sng" dirty="0">
                <a:cs typeface="Calibri" panose="020F0502020204030204" pitchFamily="34" charset="0"/>
              </a:rPr>
              <a:t>Norm</a:t>
            </a:r>
            <a:endParaRPr lang="zh-TW" altLang="en-US" u="sng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0C74D646-DA8A-23B9-AAFE-B6692FA2A543}"/>
              </a:ext>
            </a:extLst>
          </p:cNvPr>
          <p:cNvSpPr/>
          <p:nvPr/>
        </p:nvSpPr>
        <p:spPr>
          <a:xfrm>
            <a:off x="5994017" y="371018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3B37AA9C-30E3-FC27-4469-33A6860658A5}"/>
              </a:ext>
            </a:extLst>
          </p:cNvPr>
          <p:cNvSpPr/>
          <p:nvPr/>
        </p:nvSpPr>
        <p:spPr>
          <a:xfrm>
            <a:off x="5994017" y="489838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B496D91D-FEC6-71A0-3C44-6ED9AFDD409A}"/>
              </a:ext>
            </a:extLst>
          </p:cNvPr>
          <p:cNvCxnSpPr>
            <a:cxnSpLocks/>
            <a:stCxn id="2" idx="6"/>
            <a:endCxn id="11" idx="2"/>
          </p:cNvCxnSpPr>
          <p:nvPr/>
        </p:nvCxnSpPr>
        <p:spPr>
          <a:xfrm>
            <a:off x="6565517" y="3995933"/>
            <a:ext cx="1177290" cy="11882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D8DD46C8-1545-B11D-880A-AD1EB6D16D11}"/>
              </a:ext>
            </a:extLst>
          </p:cNvPr>
          <p:cNvCxnSpPr>
            <a:cxnSpLocks/>
            <a:stCxn id="3" idx="6"/>
            <a:endCxn id="10" idx="2"/>
          </p:cNvCxnSpPr>
          <p:nvPr/>
        </p:nvCxnSpPr>
        <p:spPr>
          <a:xfrm flipV="1">
            <a:off x="6565517" y="3995933"/>
            <a:ext cx="1177290" cy="11882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>
            <a:extLst>
              <a:ext uri="{FF2B5EF4-FFF2-40B4-BE49-F238E27FC236}">
                <a16:creationId xmlns:a16="http://schemas.microsoft.com/office/drawing/2014/main" id="{FCFBDEB3-364D-612D-F642-0262B1FE7B78}"/>
              </a:ext>
            </a:extLst>
          </p:cNvPr>
          <p:cNvSpPr/>
          <p:nvPr/>
        </p:nvSpPr>
        <p:spPr>
          <a:xfrm>
            <a:off x="7742807" y="371018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8A4F4FEE-CF98-CDA8-5059-4075DEC3C4ED}"/>
              </a:ext>
            </a:extLst>
          </p:cNvPr>
          <p:cNvSpPr/>
          <p:nvPr/>
        </p:nvSpPr>
        <p:spPr>
          <a:xfrm>
            <a:off x="7742807" y="489838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91C3D44D-0569-5E22-A32D-6A0323433EEC}"/>
              </a:ext>
            </a:extLst>
          </p:cNvPr>
          <p:cNvCxnSpPr>
            <a:cxnSpLocks/>
          </p:cNvCxnSpPr>
          <p:nvPr/>
        </p:nvCxnSpPr>
        <p:spPr>
          <a:xfrm>
            <a:off x="6565517" y="3995933"/>
            <a:ext cx="117729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1742519E-6833-60C2-3EF7-A01F9DC7286F}"/>
              </a:ext>
            </a:extLst>
          </p:cNvPr>
          <p:cNvCxnSpPr>
            <a:cxnSpLocks/>
            <a:stCxn id="3" idx="6"/>
            <a:endCxn id="11" idx="2"/>
          </p:cNvCxnSpPr>
          <p:nvPr/>
        </p:nvCxnSpPr>
        <p:spPr>
          <a:xfrm>
            <a:off x="6565517" y="5184139"/>
            <a:ext cx="117729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BCFEE8F7-D460-2A94-9691-411E6FC49902}"/>
                  </a:ext>
                </a:extLst>
              </p:cNvPr>
              <p:cNvSpPr txBox="1"/>
              <p:nvPr/>
            </p:nvSpPr>
            <p:spPr>
              <a:xfrm>
                <a:off x="6099732" y="3795878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BCFEE8F7-D460-2A94-9691-411E6FC49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732" y="3795878"/>
                <a:ext cx="322139" cy="400110"/>
              </a:xfrm>
              <a:prstGeom prst="rect">
                <a:avLst/>
              </a:prstGeom>
              <a:blipFill>
                <a:blip r:embed="rId5"/>
                <a:stretch>
                  <a:fillRect r="-1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D590755F-5E28-78D6-373D-21D3FEF8DDE9}"/>
                  </a:ext>
                </a:extLst>
              </p:cNvPr>
              <p:cNvSpPr txBox="1"/>
              <p:nvPr/>
            </p:nvSpPr>
            <p:spPr>
              <a:xfrm>
                <a:off x="6075949" y="4964874"/>
                <a:ext cx="4448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D590755F-5E28-78D6-373D-21D3FEF8D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5949" y="4964874"/>
                <a:ext cx="44485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2F6D31A5-184A-D948-E4F4-6F66E7257E2A}"/>
                  </a:ext>
                </a:extLst>
              </p:cNvPr>
              <p:cNvSpPr txBox="1"/>
              <p:nvPr/>
            </p:nvSpPr>
            <p:spPr>
              <a:xfrm>
                <a:off x="7799824" y="3795878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2F6D31A5-184A-D948-E4F4-6F66E7257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824" y="3795878"/>
                <a:ext cx="515874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8AB7316-E624-D455-AF64-921B968B21A7}"/>
                  </a:ext>
                </a:extLst>
              </p:cNvPr>
              <p:cNvSpPr txBox="1"/>
              <p:nvPr/>
            </p:nvSpPr>
            <p:spPr>
              <a:xfrm>
                <a:off x="7776335" y="4984084"/>
                <a:ext cx="504444" cy="424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8AB7316-E624-D455-AF64-921B968B2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6335" y="4984084"/>
                <a:ext cx="504444" cy="424796"/>
              </a:xfrm>
              <a:prstGeom prst="rect">
                <a:avLst/>
              </a:prstGeom>
              <a:blipFill>
                <a:blip r:embed="rId8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18">
            <a:extLst>
              <a:ext uri="{FF2B5EF4-FFF2-40B4-BE49-F238E27FC236}">
                <a16:creationId xmlns:a16="http://schemas.microsoft.com/office/drawing/2014/main" id="{97D766D3-C4D0-7F1D-6CB4-15B7CA436DDF}"/>
              </a:ext>
            </a:extLst>
          </p:cNvPr>
          <p:cNvSpPr txBox="1"/>
          <p:nvPr/>
        </p:nvSpPr>
        <p:spPr>
          <a:xfrm rot="5400000">
            <a:off x="5997283" y="4528281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B416EB0C-7560-2BF9-6E7F-02E8AAFF0922}"/>
              </a:ext>
            </a:extLst>
          </p:cNvPr>
          <p:cNvSpPr txBox="1"/>
          <p:nvPr/>
        </p:nvSpPr>
        <p:spPr>
          <a:xfrm rot="5400000">
            <a:off x="7741793" y="4528281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FE1E5C7-9033-DFA9-F504-143C01EF6ED8}"/>
              </a:ext>
            </a:extLst>
          </p:cNvPr>
          <p:cNvSpPr/>
          <p:nvPr/>
        </p:nvSpPr>
        <p:spPr>
          <a:xfrm>
            <a:off x="7652543" y="3468993"/>
            <a:ext cx="792480" cy="227583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95C827BF-E405-F9E4-F980-7BBB4B76E1F5}"/>
                  </a:ext>
                </a:extLst>
              </p:cNvPr>
              <p:cNvSpPr txBox="1"/>
              <p:nvPr/>
            </p:nvSpPr>
            <p:spPr>
              <a:xfrm>
                <a:off x="8617743" y="3050520"/>
                <a:ext cx="34137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dirty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計算：</a:t>
                </a:r>
                <a14:m>
                  <m:oMath xmlns:m="http://schemas.openxmlformats.org/officeDocument/2006/math">
                    <m:r>
                      <a:rPr lang="en-US" altLang="zh-TW" sz="18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zh-TW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(</a:t>
                </a:r>
                <a:r>
                  <a:rPr lang="zh-TW" altLang="en-US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平均數</a:t>
                </a:r>
                <a:r>
                  <a:rPr lang="en-US" altLang="zh-TW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&amp;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zh-TW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(</a:t>
                </a:r>
                <a:r>
                  <a:rPr lang="zh-TW" altLang="en-US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標準差</a:t>
                </a:r>
                <a:r>
                  <a:rPr lang="en-US" altLang="zh-TW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</a:t>
                </a:r>
                <a:endParaRPr lang="zh-TW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95C827BF-E405-F9E4-F980-7BBB4B76E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7743" y="3050520"/>
                <a:ext cx="3413760" cy="369332"/>
              </a:xfrm>
              <a:prstGeom prst="rect">
                <a:avLst/>
              </a:prstGeom>
              <a:blipFill>
                <a:blip r:embed="rId9"/>
                <a:stretch>
                  <a:fillRect l="-1481" t="-6667"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肘形接點 22">
            <a:extLst>
              <a:ext uri="{FF2B5EF4-FFF2-40B4-BE49-F238E27FC236}">
                <a16:creationId xmlns:a16="http://schemas.microsoft.com/office/drawing/2014/main" id="{F26838D2-583C-C750-9591-250996FAD27B}"/>
              </a:ext>
            </a:extLst>
          </p:cNvPr>
          <p:cNvCxnSpPr>
            <a:stCxn id="21" idx="0"/>
            <a:endCxn id="22" idx="1"/>
          </p:cNvCxnSpPr>
          <p:nvPr/>
        </p:nvCxnSpPr>
        <p:spPr>
          <a:xfrm rot="5400000" flipH="1" flipV="1">
            <a:off x="8216360" y="3067610"/>
            <a:ext cx="233807" cy="568960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0198E803-A99E-19C2-9809-A786F3F1CABF}"/>
              </a:ext>
            </a:extLst>
          </p:cNvPr>
          <p:cNvSpPr/>
          <p:nvPr/>
        </p:nvSpPr>
        <p:spPr>
          <a:xfrm>
            <a:off x="9510258" y="371018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5CFB37E9-551B-0C91-FD6B-0C1905058B64}"/>
              </a:ext>
            </a:extLst>
          </p:cNvPr>
          <p:cNvSpPr/>
          <p:nvPr/>
        </p:nvSpPr>
        <p:spPr>
          <a:xfrm>
            <a:off x="9510258" y="489838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E68C9451-AEEF-8D4F-9426-7FCCA3E0541B}"/>
                  </a:ext>
                </a:extLst>
              </p:cNvPr>
              <p:cNvSpPr txBox="1"/>
              <p:nvPr/>
            </p:nvSpPr>
            <p:spPr>
              <a:xfrm>
                <a:off x="9567275" y="3795878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E68C9451-AEEF-8D4F-9426-7FCCA3E05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7275" y="3795878"/>
                <a:ext cx="515874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41D959C4-7D55-8CB8-10D4-050706149BB6}"/>
                  </a:ext>
                </a:extLst>
              </p:cNvPr>
              <p:cNvSpPr txBox="1"/>
              <p:nvPr/>
            </p:nvSpPr>
            <p:spPr>
              <a:xfrm>
                <a:off x="9543786" y="4984084"/>
                <a:ext cx="504444" cy="424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41D959C4-7D55-8CB8-10D4-050706149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3786" y="4984084"/>
                <a:ext cx="504444" cy="424796"/>
              </a:xfrm>
              <a:prstGeom prst="rect">
                <a:avLst/>
              </a:prstGeom>
              <a:blipFill>
                <a:blip r:embed="rId11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27">
            <a:extLst>
              <a:ext uri="{FF2B5EF4-FFF2-40B4-BE49-F238E27FC236}">
                <a16:creationId xmlns:a16="http://schemas.microsoft.com/office/drawing/2014/main" id="{63EFE47F-4839-4886-8DF6-1DB320B9A316}"/>
              </a:ext>
            </a:extLst>
          </p:cNvPr>
          <p:cNvSpPr txBox="1"/>
          <p:nvPr/>
        </p:nvSpPr>
        <p:spPr>
          <a:xfrm rot="5400000">
            <a:off x="9509244" y="4528281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62895C43-DC03-C392-7552-89EA811C6A5B}"/>
              </a:ext>
            </a:extLst>
          </p:cNvPr>
          <p:cNvCxnSpPr>
            <a:cxnSpLocks/>
            <a:stCxn id="17" idx="3"/>
            <a:endCxn id="24" idx="2"/>
          </p:cNvCxnSpPr>
          <p:nvPr/>
        </p:nvCxnSpPr>
        <p:spPr>
          <a:xfrm>
            <a:off x="8315698" y="3995933"/>
            <a:ext cx="1194560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DCB84E8-F73A-120B-18E8-D595188F2917}"/>
              </a:ext>
            </a:extLst>
          </p:cNvPr>
          <p:cNvCxnSpPr>
            <a:cxnSpLocks/>
            <a:stCxn id="11" idx="6"/>
            <a:endCxn id="25" idx="2"/>
          </p:cNvCxnSpPr>
          <p:nvPr/>
        </p:nvCxnSpPr>
        <p:spPr>
          <a:xfrm>
            <a:off x="8314307" y="5184139"/>
            <a:ext cx="1195951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19E94672-4701-CA1A-0EE2-254A445FA577}"/>
              </a:ext>
            </a:extLst>
          </p:cNvPr>
          <p:cNvSpPr txBox="1"/>
          <p:nvPr/>
        </p:nvSpPr>
        <p:spPr>
          <a:xfrm>
            <a:off x="6891354" y="5901929"/>
            <a:ext cx="2274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/>
              <a:t>(Batch Normalization)</a:t>
            </a:r>
          </a:p>
        </p:txBody>
      </p:sp>
      <p:sp>
        <p:nvSpPr>
          <p:cNvPr id="32" name="手繪多邊形 31">
            <a:extLst>
              <a:ext uri="{FF2B5EF4-FFF2-40B4-BE49-F238E27FC236}">
                <a16:creationId xmlns:a16="http://schemas.microsoft.com/office/drawing/2014/main" id="{510354D1-6AB6-4B17-8C94-B2CA77AF5A07}"/>
              </a:ext>
            </a:extLst>
          </p:cNvPr>
          <p:cNvSpPr/>
          <p:nvPr/>
        </p:nvSpPr>
        <p:spPr>
          <a:xfrm>
            <a:off x="3356009" y="5066952"/>
            <a:ext cx="987391" cy="648048"/>
          </a:xfrm>
          <a:custGeom>
            <a:avLst/>
            <a:gdLst>
              <a:gd name="connsiteX0" fmla="*/ 31427 w 987391"/>
              <a:gd name="connsiteY0" fmla="*/ 3812 h 648048"/>
              <a:gd name="connsiteX1" fmla="*/ 104164 w 987391"/>
              <a:gd name="connsiteY1" fmla="*/ 14203 h 648048"/>
              <a:gd name="connsiteX2" fmla="*/ 280809 w 987391"/>
              <a:gd name="connsiteY2" fmla="*/ 24593 h 648048"/>
              <a:gd name="connsiteX3" fmla="*/ 311982 w 987391"/>
              <a:gd name="connsiteY3" fmla="*/ 34984 h 648048"/>
              <a:gd name="connsiteX4" fmla="*/ 363936 w 987391"/>
              <a:gd name="connsiteY4" fmla="*/ 45375 h 648048"/>
              <a:gd name="connsiteX5" fmla="*/ 426282 w 987391"/>
              <a:gd name="connsiteY5" fmla="*/ 66157 h 648048"/>
              <a:gd name="connsiteX6" fmla="*/ 457455 w 987391"/>
              <a:gd name="connsiteY6" fmla="*/ 76548 h 648048"/>
              <a:gd name="connsiteX7" fmla="*/ 499018 w 987391"/>
              <a:gd name="connsiteY7" fmla="*/ 86939 h 648048"/>
              <a:gd name="connsiteX8" fmla="*/ 561364 w 987391"/>
              <a:gd name="connsiteY8" fmla="*/ 107721 h 648048"/>
              <a:gd name="connsiteX9" fmla="*/ 644491 w 987391"/>
              <a:gd name="connsiteY9" fmla="*/ 128503 h 648048"/>
              <a:gd name="connsiteX10" fmla="*/ 706836 w 987391"/>
              <a:gd name="connsiteY10" fmla="*/ 170066 h 648048"/>
              <a:gd name="connsiteX11" fmla="*/ 738009 w 987391"/>
              <a:gd name="connsiteY11" fmla="*/ 190848 h 648048"/>
              <a:gd name="connsiteX12" fmla="*/ 758791 w 987391"/>
              <a:gd name="connsiteY12" fmla="*/ 222021 h 648048"/>
              <a:gd name="connsiteX13" fmla="*/ 821136 w 987391"/>
              <a:gd name="connsiteY13" fmla="*/ 263584 h 648048"/>
              <a:gd name="connsiteX14" fmla="*/ 873091 w 987391"/>
              <a:gd name="connsiteY14" fmla="*/ 315539 h 648048"/>
              <a:gd name="connsiteX15" fmla="*/ 893873 w 987391"/>
              <a:gd name="connsiteY15" fmla="*/ 346712 h 648048"/>
              <a:gd name="connsiteX16" fmla="*/ 925046 w 987391"/>
              <a:gd name="connsiteY16" fmla="*/ 377884 h 648048"/>
              <a:gd name="connsiteX17" fmla="*/ 935436 w 987391"/>
              <a:gd name="connsiteY17" fmla="*/ 409057 h 648048"/>
              <a:gd name="connsiteX18" fmla="*/ 956218 w 987391"/>
              <a:gd name="connsiteY18" fmla="*/ 440230 h 648048"/>
              <a:gd name="connsiteX19" fmla="*/ 977000 w 987391"/>
              <a:gd name="connsiteY19" fmla="*/ 502575 h 648048"/>
              <a:gd name="connsiteX20" fmla="*/ 987391 w 987391"/>
              <a:gd name="connsiteY20" fmla="*/ 533748 h 648048"/>
              <a:gd name="connsiteX21" fmla="*/ 977000 w 987391"/>
              <a:gd name="connsiteY21" fmla="*/ 627266 h 648048"/>
              <a:gd name="connsiteX22" fmla="*/ 945827 w 987391"/>
              <a:gd name="connsiteY22" fmla="*/ 648048 h 648048"/>
              <a:gd name="connsiteX23" fmla="*/ 748400 w 987391"/>
              <a:gd name="connsiteY23" fmla="*/ 637657 h 648048"/>
              <a:gd name="connsiteX24" fmla="*/ 686055 w 987391"/>
              <a:gd name="connsiteY24" fmla="*/ 606484 h 648048"/>
              <a:gd name="connsiteX25" fmla="*/ 654882 w 987391"/>
              <a:gd name="connsiteY25" fmla="*/ 596093 h 648048"/>
              <a:gd name="connsiteX26" fmla="*/ 592536 w 987391"/>
              <a:gd name="connsiteY26" fmla="*/ 564921 h 648048"/>
              <a:gd name="connsiteX27" fmla="*/ 499018 w 987391"/>
              <a:gd name="connsiteY27" fmla="*/ 512966 h 648048"/>
              <a:gd name="connsiteX28" fmla="*/ 436673 w 987391"/>
              <a:gd name="connsiteY28" fmla="*/ 481793 h 648048"/>
              <a:gd name="connsiteX29" fmla="*/ 405500 w 987391"/>
              <a:gd name="connsiteY29" fmla="*/ 461012 h 648048"/>
              <a:gd name="connsiteX30" fmla="*/ 363936 w 987391"/>
              <a:gd name="connsiteY30" fmla="*/ 440230 h 648048"/>
              <a:gd name="connsiteX31" fmla="*/ 332764 w 987391"/>
              <a:gd name="connsiteY31" fmla="*/ 419448 h 648048"/>
              <a:gd name="connsiteX32" fmla="*/ 301591 w 987391"/>
              <a:gd name="connsiteY32" fmla="*/ 409057 h 648048"/>
              <a:gd name="connsiteX33" fmla="*/ 239246 w 987391"/>
              <a:gd name="connsiteY33" fmla="*/ 367493 h 648048"/>
              <a:gd name="connsiteX34" fmla="*/ 176900 w 987391"/>
              <a:gd name="connsiteY34" fmla="*/ 315539 h 648048"/>
              <a:gd name="connsiteX35" fmla="*/ 114555 w 987391"/>
              <a:gd name="connsiteY35" fmla="*/ 273975 h 648048"/>
              <a:gd name="connsiteX36" fmla="*/ 93773 w 987391"/>
              <a:gd name="connsiteY36" fmla="*/ 242803 h 648048"/>
              <a:gd name="connsiteX37" fmla="*/ 62600 w 987391"/>
              <a:gd name="connsiteY37" fmla="*/ 211630 h 648048"/>
              <a:gd name="connsiteX38" fmla="*/ 52209 w 987391"/>
              <a:gd name="connsiteY38" fmla="*/ 180457 h 648048"/>
              <a:gd name="connsiteX39" fmla="*/ 255 w 987391"/>
              <a:gd name="connsiteY39" fmla="*/ 86939 h 648048"/>
              <a:gd name="connsiteX40" fmla="*/ 31427 w 987391"/>
              <a:gd name="connsiteY40" fmla="*/ 3812 h 64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987391" h="648048">
                <a:moveTo>
                  <a:pt x="31427" y="3812"/>
                </a:moveTo>
                <a:cubicBezTo>
                  <a:pt x="48745" y="-8311"/>
                  <a:pt x="79757" y="12169"/>
                  <a:pt x="104164" y="14203"/>
                </a:cubicBezTo>
                <a:cubicBezTo>
                  <a:pt x="162944" y="19101"/>
                  <a:pt x="222118" y="18724"/>
                  <a:pt x="280809" y="24593"/>
                </a:cubicBezTo>
                <a:cubicBezTo>
                  <a:pt x="291708" y="25683"/>
                  <a:pt x="301356" y="32327"/>
                  <a:pt x="311982" y="34984"/>
                </a:cubicBezTo>
                <a:cubicBezTo>
                  <a:pt x="329116" y="39267"/>
                  <a:pt x="346897" y="40728"/>
                  <a:pt x="363936" y="45375"/>
                </a:cubicBezTo>
                <a:cubicBezTo>
                  <a:pt x="385070" y="51139"/>
                  <a:pt x="405500" y="59230"/>
                  <a:pt x="426282" y="66157"/>
                </a:cubicBezTo>
                <a:cubicBezTo>
                  <a:pt x="436673" y="69621"/>
                  <a:pt x="446829" y="73891"/>
                  <a:pt x="457455" y="76548"/>
                </a:cubicBezTo>
                <a:cubicBezTo>
                  <a:pt x="471309" y="80012"/>
                  <a:pt x="485340" y="82835"/>
                  <a:pt x="499018" y="86939"/>
                </a:cubicBezTo>
                <a:cubicBezTo>
                  <a:pt x="520000" y="93234"/>
                  <a:pt x="539883" y="103425"/>
                  <a:pt x="561364" y="107721"/>
                </a:cubicBezTo>
                <a:cubicBezTo>
                  <a:pt x="575758" y="110600"/>
                  <a:pt x="626518" y="118518"/>
                  <a:pt x="644491" y="128503"/>
                </a:cubicBezTo>
                <a:cubicBezTo>
                  <a:pt x="666324" y="140633"/>
                  <a:pt x="686054" y="156212"/>
                  <a:pt x="706836" y="170066"/>
                </a:cubicBezTo>
                <a:lnTo>
                  <a:pt x="738009" y="190848"/>
                </a:lnTo>
                <a:cubicBezTo>
                  <a:pt x="744936" y="201239"/>
                  <a:pt x="749392" y="213797"/>
                  <a:pt x="758791" y="222021"/>
                </a:cubicBezTo>
                <a:cubicBezTo>
                  <a:pt x="777588" y="238468"/>
                  <a:pt x="821136" y="263584"/>
                  <a:pt x="821136" y="263584"/>
                </a:cubicBezTo>
                <a:cubicBezTo>
                  <a:pt x="876555" y="346712"/>
                  <a:pt x="803818" y="246266"/>
                  <a:pt x="873091" y="315539"/>
                </a:cubicBezTo>
                <a:cubicBezTo>
                  <a:pt x="881922" y="324370"/>
                  <a:pt x="885878" y="337118"/>
                  <a:pt x="893873" y="346712"/>
                </a:cubicBezTo>
                <a:cubicBezTo>
                  <a:pt x="903281" y="358001"/>
                  <a:pt x="914655" y="367493"/>
                  <a:pt x="925046" y="377884"/>
                </a:cubicBezTo>
                <a:cubicBezTo>
                  <a:pt x="928509" y="388275"/>
                  <a:pt x="930538" y="399260"/>
                  <a:pt x="935436" y="409057"/>
                </a:cubicBezTo>
                <a:cubicBezTo>
                  <a:pt x="941021" y="420227"/>
                  <a:pt x="951146" y="428818"/>
                  <a:pt x="956218" y="440230"/>
                </a:cubicBezTo>
                <a:cubicBezTo>
                  <a:pt x="965115" y="460248"/>
                  <a:pt x="970073" y="481793"/>
                  <a:pt x="977000" y="502575"/>
                </a:cubicBezTo>
                <a:lnTo>
                  <a:pt x="987391" y="533748"/>
                </a:lnTo>
                <a:cubicBezTo>
                  <a:pt x="983927" y="564921"/>
                  <a:pt x="987719" y="597790"/>
                  <a:pt x="977000" y="627266"/>
                </a:cubicBezTo>
                <a:cubicBezTo>
                  <a:pt x="972732" y="639003"/>
                  <a:pt x="958303" y="647481"/>
                  <a:pt x="945827" y="648048"/>
                </a:cubicBezTo>
                <a:lnTo>
                  <a:pt x="748400" y="637657"/>
                </a:lnTo>
                <a:cubicBezTo>
                  <a:pt x="670045" y="611539"/>
                  <a:pt x="766627" y="646771"/>
                  <a:pt x="686055" y="606484"/>
                </a:cubicBezTo>
                <a:cubicBezTo>
                  <a:pt x="676258" y="601586"/>
                  <a:pt x="664679" y="600991"/>
                  <a:pt x="654882" y="596093"/>
                </a:cubicBezTo>
                <a:cubicBezTo>
                  <a:pt x="574309" y="555808"/>
                  <a:pt x="670891" y="591039"/>
                  <a:pt x="592536" y="564921"/>
                </a:cubicBezTo>
                <a:cubicBezTo>
                  <a:pt x="521078" y="517281"/>
                  <a:pt x="553886" y="531255"/>
                  <a:pt x="499018" y="512966"/>
                </a:cubicBezTo>
                <a:cubicBezTo>
                  <a:pt x="409699" y="453418"/>
                  <a:pt x="522700" y="524805"/>
                  <a:pt x="436673" y="481793"/>
                </a:cubicBezTo>
                <a:cubicBezTo>
                  <a:pt x="425503" y="476208"/>
                  <a:pt x="416343" y="467208"/>
                  <a:pt x="405500" y="461012"/>
                </a:cubicBezTo>
                <a:cubicBezTo>
                  <a:pt x="392051" y="453327"/>
                  <a:pt x="377385" y="447915"/>
                  <a:pt x="363936" y="440230"/>
                </a:cubicBezTo>
                <a:cubicBezTo>
                  <a:pt x="353093" y="434034"/>
                  <a:pt x="343934" y="425033"/>
                  <a:pt x="332764" y="419448"/>
                </a:cubicBezTo>
                <a:cubicBezTo>
                  <a:pt x="322967" y="414550"/>
                  <a:pt x="311166" y="414376"/>
                  <a:pt x="301591" y="409057"/>
                </a:cubicBezTo>
                <a:cubicBezTo>
                  <a:pt x="279758" y="396927"/>
                  <a:pt x="260028" y="381347"/>
                  <a:pt x="239246" y="367493"/>
                </a:cubicBezTo>
                <a:cubicBezTo>
                  <a:pt x="127853" y="293231"/>
                  <a:pt x="296912" y="408883"/>
                  <a:pt x="176900" y="315539"/>
                </a:cubicBezTo>
                <a:cubicBezTo>
                  <a:pt x="157185" y="300205"/>
                  <a:pt x="114555" y="273975"/>
                  <a:pt x="114555" y="273975"/>
                </a:cubicBezTo>
                <a:cubicBezTo>
                  <a:pt x="107628" y="263584"/>
                  <a:pt x="101768" y="252397"/>
                  <a:pt x="93773" y="242803"/>
                </a:cubicBezTo>
                <a:cubicBezTo>
                  <a:pt x="84365" y="231514"/>
                  <a:pt x="70751" y="223857"/>
                  <a:pt x="62600" y="211630"/>
                </a:cubicBezTo>
                <a:cubicBezTo>
                  <a:pt x="56524" y="202516"/>
                  <a:pt x="57528" y="190032"/>
                  <a:pt x="52209" y="180457"/>
                </a:cubicBezTo>
                <a:cubicBezTo>
                  <a:pt x="39282" y="157189"/>
                  <a:pt x="3322" y="120674"/>
                  <a:pt x="255" y="86939"/>
                </a:cubicBezTo>
                <a:cubicBezTo>
                  <a:pt x="-2254" y="59344"/>
                  <a:pt x="14109" y="15935"/>
                  <a:pt x="31427" y="3812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49667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7337F5-BBE0-702D-062C-F6B9FA10B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u="sng" dirty="0">
                <a:cs typeface="Calibri" panose="020F0502020204030204" pitchFamily="34" charset="0"/>
              </a:rPr>
              <a:t>Add</a:t>
            </a:r>
            <a:r>
              <a:rPr kumimoji="1" lang="en-US" altLang="zh-TW" dirty="0">
                <a:cs typeface="Calibri" panose="020F0502020204030204" pitchFamily="34" charset="0"/>
              </a:rPr>
              <a:t> &amp; </a:t>
            </a:r>
            <a:r>
              <a:rPr kumimoji="1" lang="en-US" altLang="zh-TW" u="sng" dirty="0">
                <a:cs typeface="Calibri" panose="020F0502020204030204" pitchFamily="34" charset="0"/>
              </a:rPr>
              <a:t>Norm</a:t>
            </a:r>
            <a:endParaRPr kumimoji="1" lang="zh-TW" altLang="en-US" u="sng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835697-ACC9-5D37-3519-4A99AF9D6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D5DBDDD-49EF-F891-7BBD-3BA9FD385313}"/>
              </a:ext>
            </a:extLst>
          </p:cNvPr>
          <p:cNvSpPr txBox="1"/>
          <p:nvPr/>
        </p:nvSpPr>
        <p:spPr>
          <a:xfrm>
            <a:off x="2119398" y="6459622"/>
            <a:ext cx="7786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Ba, Jimmy Lei, Jamie Ryan </a:t>
            </a:r>
            <a:r>
              <a:rPr lang="en-US" altLang="zh-TW" sz="120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Kiros</a:t>
            </a:r>
            <a:r>
              <a:rPr lang="en-US" altLang="zh-TW" sz="12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and Geoffrey E. Hinton. "Layer normalization." </a:t>
            </a:r>
            <a:r>
              <a:rPr lang="en-US" altLang="zh-TW" sz="120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arXiv</a:t>
            </a:r>
            <a:r>
              <a:rPr lang="en-US" altLang="zh-TW" sz="12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preprint arXiv:1607.06450 (2016).</a:t>
            </a:r>
            <a:endParaRPr lang="zh-TW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6" name="圓角矩形 125">
            <a:extLst>
              <a:ext uri="{FF2B5EF4-FFF2-40B4-BE49-F238E27FC236}">
                <a16:creationId xmlns:a16="http://schemas.microsoft.com/office/drawing/2014/main" id="{21188D0E-E04B-1B16-56FA-9AE6DC9449B9}"/>
              </a:ext>
            </a:extLst>
          </p:cNvPr>
          <p:cNvSpPr/>
          <p:nvPr/>
        </p:nvSpPr>
        <p:spPr>
          <a:xfrm>
            <a:off x="2114661" y="5968404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27" name="圓角矩形 126">
            <a:extLst>
              <a:ext uri="{FF2B5EF4-FFF2-40B4-BE49-F238E27FC236}">
                <a16:creationId xmlns:a16="http://schemas.microsoft.com/office/drawing/2014/main" id="{64CEB917-2800-F297-4975-38124C36292E}"/>
              </a:ext>
            </a:extLst>
          </p:cNvPr>
          <p:cNvSpPr/>
          <p:nvPr/>
        </p:nvSpPr>
        <p:spPr>
          <a:xfrm>
            <a:off x="1435441" y="4988309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128" name="圓角矩形 127">
            <a:extLst>
              <a:ext uri="{FF2B5EF4-FFF2-40B4-BE49-F238E27FC236}">
                <a16:creationId xmlns:a16="http://schemas.microsoft.com/office/drawing/2014/main" id="{02D4DE40-18FA-320C-9927-C33C583C1302}"/>
              </a:ext>
            </a:extLst>
          </p:cNvPr>
          <p:cNvSpPr/>
          <p:nvPr/>
        </p:nvSpPr>
        <p:spPr>
          <a:xfrm>
            <a:off x="2107255" y="4988308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129" name="圓角矩形 128">
            <a:extLst>
              <a:ext uri="{FF2B5EF4-FFF2-40B4-BE49-F238E27FC236}">
                <a16:creationId xmlns:a16="http://schemas.microsoft.com/office/drawing/2014/main" id="{4CCB9AB1-7FB6-18DE-2E5A-695EC6CAD0B7}"/>
              </a:ext>
            </a:extLst>
          </p:cNvPr>
          <p:cNvSpPr/>
          <p:nvPr/>
        </p:nvSpPr>
        <p:spPr>
          <a:xfrm>
            <a:off x="2779069" y="4988307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130" name="圓角矩形 129">
            <a:extLst>
              <a:ext uri="{FF2B5EF4-FFF2-40B4-BE49-F238E27FC236}">
                <a16:creationId xmlns:a16="http://schemas.microsoft.com/office/drawing/2014/main" id="{8231FF23-CC5E-C53A-0505-5E6854214D06}"/>
              </a:ext>
            </a:extLst>
          </p:cNvPr>
          <p:cNvSpPr/>
          <p:nvPr/>
        </p:nvSpPr>
        <p:spPr>
          <a:xfrm>
            <a:off x="3911941" y="4988309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131" name="圓角矩形 130">
            <a:extLst>
              <a:ext uri="{FF2B5EF4-FFF2-40B4-BE49-F238E27FC236}">
                <a16:creationId xmlns:a16="http://schemas.microsoft.com/office/drawing/2014/main" id="{5DA5171A-B2F2-DA41-08AE-98771C03A81E}"/>
              </a:ext>
            </a:extLst>
          </p:cNvPr>
          <p:cNvSpPr/>
          <p:nvPr/>
        </p:nvSpPr>
        <p:spPr>
          <a:xfrm>
            <a:off x="4583755" y="4988308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132" name="圓角矩形 131">
            <a:extLst>
              <a:ext uri="{FF2B5EF4-FFF2-40B4-BE49-F238E27FC236}">
                <a16:creationId xmlns:a16="http://schemas.microsoft.com/office/drawing/2014/main" id="{8FB6E389-8359-C101-318C-6867C0314958}"/>
              </a:ext>
            </a:extLst>
          </p:cNvPr>
          <p:cNvSpPr/>
          <p:nvPr/>
        </p:nvSpPr>
        <p:spPr>
          <a:xfrm>
            <a:off x="5255569" y="4988307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133" name="圓角矩形 132">
            <a:extLst>
              <a:ext uri="{FF2B5EF4-FFF2-40B4-BE49-F238E27FC236}">
                <a16:creationId xmlns:a16="http://schemas.microsoft.com/office/drawing/2014/main" id="{D01861E1-93A8-BE9B-5640-BE9FC27BC6C5}"/>
              </a:ext>
            </a:extLst>
          </p:cNvPr>
          <p:cNvSpPr/>
          <p:nvPr/>
        </p:nvSpPr>
        <p:spPr>
          <a:xfrm>
            <a:off x="6388441" y="4988308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134" name="圓角矩形 133">
            <a:extLst>
              <a:ext uri="{FF2B5EF4-FFF2-40B4-BE49-F238E27FC236}">
                <a16:creationId xmlns:a16="http://schemas.microsoft.com/office/drawing/2014/main" id="{DE5E85D5-30BB-CFC0-DAFD-5513817C9B61}"/>
              </a:ext>
            </a:extLst>
          </p:cNvPr>
          <p:cNvSpPr/>
          <p:nvPr/>
        </p:nvSpPr>
        <p:spPr>
          <a:xfrm>
            <a:off x="7060255" y="4988307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135" name="圓角矩形 134">
            <a:extLst>
              <a:ext uri="{FF2B5EF4-FFF2-40B4-BE49-F238E27FC236}">
                <a16:creationId xmlns:a16="http://schemas.microsoft.com/office/drawing/2014/main" id="{85C472BA-2F9F-4579-519B-646396AE6701}"/>
              </a:ext>
            </a:extLst>
          </p:cNvPr>
          <p:cNvSpPr/>
          <p:nvPr/>
        </p:nvSpPr>
        <p:spPr>
          <a:xfrm>
            <a:off x="7732069" y="4988306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136" name="圓角矩形 135">
            <a:extLst>
              <a:ext uri="{FF2B5EF4-FFF2-40B4-BE49-F238E27FC236}">
                <a16:creationId xmlns:a16="http://schemas.microsoft.com/office/drawing/2014/main" id="{4B57EC57-E0BA-7E81-9A22-06CB74D7B7D9}"/>
              </a:ext>
            </a:extLst>
          </p:cNvPr>
          <p:cNvSpPr/>
          <p:nvPr/>
        </p:nvSpPr>
        <p:spPr>
          <a:xfrm>
            <a:off x="8757207" y="4992163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  <p:sp>
        <p:nvSpPr>
          <p:cNvPr id="137" name="圓角矩形 136">
            <a:extLst>
              <a:ext uri="{FF2B5EF4-FFF2-40B4-BE49-F238E27FC236}">
                <a16:creationId xmlns:a16="http://schemas.microsoft.com/office/drawing/2014/main" id="{E8925126-DA3C-0C50-5CBB-9AD9EFF26D6C}"/>
              </a:ext>
            </a:extLst>
          </p:cNvPr>
          <p:cNvSpPr/>
          <p:nvPr/>
        </p:nvSpPr>
        <p:spPr>
          <a:xfrm>
            <a:off x="9429021" y="4992162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  <p:sp>
        <p:nvSpPr>
          <p:cNvPr id="138" name="圓角矩形 137">
            <a:extLst>
              <a:ext uri="{FF2B5EF4-FFF2-40B4-BE49-F238E27FC236}">
                <a16:creationId xmlns:a16="http://schemas.microsoft.com/office/drawing/2014/main" id="{147ACDAA-F805-3B3E-2340-B2E8DD407637}"/>
              </a:ext>
            </a:extLst>
          </p:cNvPr>
          <p:cNvSpPr/>
          <p:nvPr/>
        </p:nvSpPr>
        <p:spPr>
          <a:xfrm>
            <a:off x="10100835" y="4992161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  <p:sp>
        <p:nvSpPr>
          <p:cNvPr id="144" name="圓角矩形 143">
            <a:extLst>
              <a:ext uri="{FF2B5EF4-FFF2-40B4-BE49-F238E27FC236}">
                <a16:creationId xmlns:a16="http://schemas.microsoft.com/office/drawing/2014/main" id="{9FDF8431-6CBC-6B13-74B3-D3C1BB61699A}"/>
              </a:ext>
            </a:extLst>
          </p:cNvPr>
          <p:cNvSpPr/>
          <p:nvPr/>
        </p:nvSpPr>
        <p:spPr>
          <a:xfrm>
            <a:off x="2085975" y="3977994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a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146" name="圓角矩形 145">
            <a:extLst>
              <a:ext uri="{FF2B5EF4-FFF2-40B4-BE49-F238E27FC236}">
                <a16:creationId xmlns:a16="http://schemas.microsoft.com/office/drawing/2014/main" id="{2BBF2825-D932-A0F0-9FC6-1E04DD1AF3B3}"/>
              </a:ext>
            </a:extLst>
          </p:cNvPr>
          <p:cNvSpPr/>
          <p:nvPr/>
        </p:nvSpPr>
        <p:spPr>
          <a:xfrm>
            <a:off x="4562475" y="3977993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a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147" name="圓角矩形 146">
            <a:extLst>
              <a:ext uri="{FF2B5EF4-FFF2-40B4-BE49-F238E27FC236}">
                <a16:creationId xmlns:a16="http://schemas.microsoft.com/office/drawing/2014/main" id="{A7770556-B5FB-4D38-8664-A02295C60BBB}"/>
              </a:ext>
            </a:extLst>
          </p:cNvPr>
          <p:cNvSpPr/>
          <p:nvPr/>
        </p:nvSpPr>
        <p:spPr>
          <a:xfrm>
            <a:off x="7035089" y="3977993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a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148" name="圓角矩形 147">
            <a:extLst>
              <a:ext uri="{FF2B5EF4-FFF2-40B4-BE49-F238E27FC236}">
                <a16:creationId xmlns:a16="http://schemas.microsoft.com/office/drawing/2014/main" id="{AA9C4A52-020D-2D95-9825-AAD484823A73}"/>
              </a:ext>
            </a:extLst>
          </p:cNvPr>
          <p:cNvSpPr/>
          <p:nvPr/>
        </p:nvSpPr>
        <p:spPr>
          <a:xfrm>
            <a:off x="9407741" y="3977418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a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  <p:sp>
        <p:nvSpPr>
          <p:cNvPr id="149" name="圓角矩形 148">
            <a:extLst>
              <a:ext uri="{FF2B5EF4-FFF2-40B4-BE49-F238E27FC236}">
                <a16:creationId xmlns:a16="http://schemas.microsoft.com/office/drawing/2014/main" id="{929C3387-115D-2918-FCEE-8E1A66CCCFD2}"/>
              </a:ext>
            </a:extLst>
          </p:cNvPr>
          <p:cNvSpPr/>
          <p:nvPr/>
        </p:nvSpPr>
        <p:spPr>
          <a:xfrm>
            <a:off x="2090592" y="2601109"/>
            <a:ext cx="533400" cy="5619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h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150" name="文字方塊 149">
            <a:extLst>
              <a:ext uri="{FF2B5EF4-FFF2-40B4-BE49-F238E27FC236}">
                <a16:creationId xmlns:a16="http://schemas.microsoft.com/office/drawing/2014/main" id="{E80CE28C-D04B-30D6-6255-EFB5319659BA}"/>
              </a:ext>
            </a:extLst>
          </p:cNvPr>
          <p:cNvSpPr txBox="1"/>
          <p:nvPr/>
        </p:nvSpPr>
        <p:spPr>
          <a:xfrm>
            <a:off x="2689804" y="5997497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151" name="圓角矩形 150">
            <a:extLst>
              <a:ext uri="{FF2B5EF4-FFF2-40B4-BE49-F238E27FC236}">
                <a16:creationId xmlns:a16="http://schemas.microsoft.com/office/drawing/2014/main" id="{5149D184-A143-5763-5DA6-CD710DABD83E}"/>
              </a:ext>
            </a:extLst>
          </p:cNvPr>
          <p:cNvSpPr/>
          <p:nvPr/>
        </p:nvSpPr>
        <p:spPr>
          <a:xfrm>
            <a:off x="4591161" y="5968404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52" name="文字方塊 151">
            <a:extLst>
              <a:ext uri="{FF2B5EF4-FFF2-40B4-BE49-F238E27FC236}">
                <a16:creationId xmlns:a16="http://schemas.microsoft.com/office/drawing/2014/main" id="{F76E1056-220B-B17F-216D-6C3AB5D82CE7}"/>
              </a:ext>
            </a:extLst>
          </p:cNvPr>
          <p:cNvSpPr txBox="1"/>
          <p:nvPr/>
        </p:nvSpPr>
        <p:spPr>
          <a:xfrm>
            <a:off x="5157393" y="5997497"/>
            <a:ext cx="870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printed</a:t>
            </a:r>
            <a:endParaRPr kumimoji="1" lang="zh-TW" altLang="en-US" dirty="0"/>
          </a:p>
        </p:txBody>
      </p:sp>
      <p:sp>
        <p:nvSpPr>
          <p:cNvPr id="153" name="圓角矩形 152">
            <a:extLst>
              <a:ext uri="{FF2B5EF4-FFF2-40B4-BE49-F238E27FC236}">
                <a16:creationId xmlns:a16="http://schemas.microsoft.com/office/drawing/2014/main" id="{6B774203-DA4F-4855-A256-CD70A80066D7}"/>
              </a:ext>
            </a:extLst>
          </p:cNvPr>
          <p:cNvSpPr/>
          <p:nvPr/>
        </p:nvSpPr>
        <p:spPr>
          <a:xfrm>
            <a:off x="7067661" y="5963372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54" name="文字方塊 153">
            <a:extLst>
              <a:ext uri="{FF2B5EF4-FFF2-40B4-BE49-F238E27FC236}">
                <a16:creationId xmlns:a16="http://schemas.microsoft.com/office/drawing/2014/main" id="{BEE6EC71-2F1B-03C8-6F1F-A4B5B374C56F}"/>
              </a:ext>
            </a:extLst>
          </p:cNvPr>
          <p:cNvSpPr txBox="1"/>
          <p:nvPr/>
        </p:nvSpPr>
        <p:spPr>
          <a:xfrm>
            <a:off x="7630100" y="5963372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Hello</a:t>
            </a:r>
            <a:endParaRPr kumimoji="1" lang="zh-TW" altLang="en-US" dirty="0"/>
          </a:p>
        </p:txBody>
      </p:sp>
      <p:sp>
        <p:nvSpPr>
          <p:cNvPr id="155" name="圓角矩形 154">
            <a:extLst>
              <a:ext uri="{FF2B5EF4-FFF2-40B4-BE49-F238E27FC236}">
                <a16:creationId xmlns:a16="http://schemas.microsoft.com/office/drawing/2014/main" id="{45CB5C92-C3F9-F11A-9C54-1C9600834DD9}"/>
              </a:ext>
            </a:extLst>
          </p:cNvPr>
          <p:cNvSpPr/>
          <p:nvPr/>
        </p:nvSpPr>
        <p:spPr>
          <a:xfrm>
            <a:off x="9443833" y="5963372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4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56" name="文字方塊 155">
            <a:extLst>
              <a:ext uri="{FF2B5EF4-FFF2-40B4-BE49-F238E27FC236}">
                <a16:creationId xmlns:a16="http://schemas.microsoft.com/office/drawing/2014/main" id="{43ED9DC6-1240-C47C-F450-62D265723BF4}"/>
              </a:ext>
            </a:extLst>
          </p:cNvPr>
          <p:cNvSpPr txBox="1"/>
          <p:nvPr/>
        </p:nvSpPr>
        <p:spPr>
          <a:xfrm>
            <a:off x="10006272" y="5963372"/>
            <a:ext cx="724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world</a:t>
            </a:r>
            <a:endParaRPr kumimoji="1" lang="zh-TW" altLang="en-US" dirty="0"/>
          </a:p>
        </p:txBody>
      </p:sp>
      <p:cxnSp>
        <p:nvCxnSpPr>
          <p:cNvPr id="157" name="肘形接點 156">
            <a:extLst>
              <a:ext uri="{FF2B5EF4-FFF2-40B4-BE49-F238E27FC236}">
                <a16:creationId xmlns:a16="http://schemas.microsoft.com/office/drawing/2014/main" id="{AB118C3E-5DA4-C42D-899E-06FD3EBAFF5F}"/>
              </a:ext>
            </a:extLst>
          </p:cNvPr>
          <p:cNvCxnSpPr>
            <a:stCxn id="144" idx="3"/>
            <a:endCxn id="129" idx="0"/>
          </p:cNvCxnSpPr>
          <p:nvPr/>
        </p:nvCxnSpPr>
        <p:spPr>
          <a:xfrm>
            <a:off x="2619375" y="4258982"/>
            <a:ext cx="426394" cy="729325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肘形接點 157">
            <a:extLst>
              <a:ext uri="{FF2B5EF4-FFF2-40B4-BE49-F238E27FC236}">
                <a16:creationId xmlns:a16="http://schemas.microsoft.com/office/drawing/2014/main" id="{960D324B-3993-5876-6734-050A67BFCCEE}"/>
              </a:ext>
            </a:extLst>
          </p:cNvPr>
          <p:cNvCxnSpPr>
            <a:cxnSpLocks/>
            <a:stCxn id="146" idx="3"/>
            <a:endCxn id="132" idx="0"/>
          </p:cNvCxnSpPr>
          <p:nvPr/>
        </p:nvCxnSpPr>
        <p:spPr>
          <a:xfrm>
            <a:off x="5095875" y="4258981"/>
            <a:ext cx="426394" cy="729326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肘形接點 158">
            <a:extLst>
              <a:ext uri="{FF2B5EF4-FFF2-40B4-BE49-F238E27FC236}">
                <a16:creationId xmlns:a16="http://schemas.microsoft.com/office/drawing/2014/main" id="{CAC97027-AE63-BF67-FEAB-4C1DA7F60771}"/>
              </a:ext>
            </a:extLst>
          </p:cNvPr>
          <p:cNvCxnSpPr>
            <a:cxnSpLocks/>
            <a:stCxn id="147" idx="3"/>
            <a:endCxn id="135" idx="0"/>
          </p:cNvCxnSpPr>
          <p:nvPr/>
        </p:nvCxnSpPr>
        <p:spPr>
          <a:xfrm>
            <a:off x="7568489" y="4258981"/>
            <a:ext cx="430280" cy="729325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肘形接點 159">
            <a:extLst>
              <a:ext uri="{FF2B5EF4-FFF2-40B4-BE49-F238E27FC236}">
                <a16:creationId xmlns:a16="http://schemas.microsoft.com/office/drawing/2014/main" id="{F83B067D-1635-9879-587C-BC555EFA2E91}"/>
              </a:ext>
            </a:extLst>
          </p:cNvPr>
          <p:cNvCxnSpPr>
            <a:cxnSpLocks/>
            <a:stCxn id="148" idx="3"/>
            <a:endCxn id="138" idx="0"/>
          </p:cNvCxnSpPr>
          <p:nvPr/>
        </p:nvCxnSpPr>
        <p:spPr>
          <a:xfrm>
            <a:off x="9941141" y="4258406"/>
            <a:ext cx="426394" cy="733755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肘形接點 160">
            <a:extLst>
              <a:ext uri="{FF2B5EF4-FFF2-40B4-BE49-F238E27FC236}">
                <a16:creationId xmlns:a16="http://schemas.microsoft.com/office/drawing/2014/main" id="{9FB69C77-3405-43F6-F02A-9354D4962483}"/>
              </a:ext>
            </a:extLst>
          </p:cNvPr>
          <p:cNvCxnSpPr>
            <a:cxnSpLocks/>
            <a:stCxn id="144" idx="0"/>
            <a:endCxn id="146" idx="0"/>
          </p:cNvCxnSpPr>
          <p:nvPr/>
        </p:nvCxnSpPr>
        <p:spPr>
          <a:xfrm rot="5400000" flipH="1" flipV="1">
            <a:off x="3590925" y="2739744"/>
            <a:ext cx="1" cy="2476500"/>
          </a:xfrm>
          <a:prstGeom prst="bentConnector3">
            <a:avLst>
              <a:gd name="adj1" fmla="val 228601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肘形接點 161">
            <a:extLst>
              <a:ext uri="{FF2B5EF4-FFF2-40B4-BE49-F238E27FC236}">
                <a16:creationId xmlns:a16="http://schemas.microsoft.com/office/drawing/2014/main" id="{838A811A-6599-5C36-357C-ABB414CB767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65482" y="2739170"/>
            <a:ext cx="1" cy="2476500"/>
          </a:xfrm>
          <a:prstGeom prst="bentConnector3">
            <a:avLst>
              <a:gd name="adj1" fmla="val 228601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肘形接點 162">
            <a:extLst>
              <a:ext uri="{FF2B5EF4-FFF2-40B4-BE49-F238E27FC236}">
                <a16:creationId xmlns:a16="http://schemas.microsoft.com/office/drawing/2014/main" id="{CA05571F-1FC6-A6B3-EE42-CD6420B49510}"/>
              </a:ext>
            </a:extLst>
          </p:cNvPr>
          <p:cNvCxnSpPr>
            <a:cxnSpLocks/>
            <a:stCxn id="147" idx="0"/>
            <a:endCxn id="148" idx="0"/>
          </p:cNvCxnSpPr>
          <p:nvPr/>
        </p:nvCxnSpPr>
        <p:spPr>
          <a:xfrm rot="5400000" flipH="1" flipV="1">
            <a:off x="8487828" y="2791380"/>
            <a:ext cx="575" cy="2372652"/>
          </a:xfrm>
          <a:prstGeom prst="bentConnector3">
            <a:avLst>
              <a:gd name="adj1" fmla="val 3985652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圓角矩形 165">
            <a:extLst>
              <a:ext uri="{FF2B5EF4-FFF2-40B4-BE49-F238E27FC236}">
                <a16:creationId xmlns:a16="http://schemas.microsoft.com/office/drawing/2014/main" id="{F562B737-86BE-30AA-68C5-FEC2960842B5}"/>
              </a:ext>
            </a:extLst>
          </p:cNvPr>
          <p:cNvSpPr/>
          <p:nvPr/>
        </p:nvSpPr>
        <p:spPr>
          <a:xfrm>
            <a:off x="4560532" y="2603499"/>
            <a:ext cx="533400" cy="5619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h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167" name="圓角矩形 166">
            <a:extLst>
              <a:ext uri="{FF2B5EF4-FFF2-40B4-BE49-F238E27FC236}">
                <a16:creationId xmlns:a16="http://schemas.microsoft.com/office/drawing/2014/main" id="{30CDB28F-641D-E35E-DB8E-2EA97669A4B3}"/>
              </a:ext>
            </a:extLst>
          </p:cNvPr>
          <p:cNvSpPr/>
          <p:nvPr/>
        </p:nvSpPr>
        <p:spPr>
          <a:xfrm>
            <a:off x="7030472" y="2601108"/>
            <a:ext cx="533400" cy="5619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h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168" name="圓角矩形 167">
            <a:extLst>
              <a:ext uri="{FF2B5EF4-FFF2-40B4-BE49-F238E27FC236}">
                <a16:creationId xmlns:a16="http://schemas.microsoft.com/office/drawing/2014/main" id="{891C1292-8496-D841-CC78-8102C2FCECDA}"/>
              </a:ext>
            </a:extLst>
          </p:cNvPr>
          <p:cNvSpPr/>
          <p:nvPr/>
        </p:nvSpPr>
        <p:spPr>
          <a:xfrm>
            <a:off x="9407741" y="2604912"/>
            <a:ext cx="533400" cy="5619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h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  <p:cxnSp>
        <p:nvCxnSpPr>
          <p:cNvPr id="169" name="肘形接點 168">
            <a:extLst>
              <a:ext uri="{FF2B5EF4-FFF2-40B4-BE49-F238E27FC236}">
                <a16:creationId xmlns:a16="http://schemas.microsoft.com/office/drawing/2014/main" id="{C8624727-5DE9-1AB9-FC29-B4D5F253CC02}"/>
              </a:ext>
            </a:extLst>
          </p:cNvPr>
          <p:cNvCxnSpPr>
            <a:cxnSpLocks/>
            <a:stCxn id="144" idx="2"/>
            <a:endCxn id="127" idx="0"/>
          </p:cNvCxnSpPr>
          <p:nvPr/>
        </p:nvCxnSpPr>
        <p:spPr>
          <a:xfrm rot="5400000">
            <a:off x="1803238" y="4438872"/>
            <a:ext cx="448340" cy="65053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肘形接點 171">
            <a:extLst>
              <a:ext uri="{FF2B5EF4-FFF2-40B4-BE49-F238E27FC236}">
                <a16:creationId xmlns:a16="http://schemas.microsoft.com/office/drawing/2014/main" id="{805DB1A5-AE9E-820F-02E2-849702615140}"/>
              </a:ext>
            </a:extLst>
          </p:cNvPr>
          <p:cNvCxnSpPr>
            <a:cxnSpLocks/>
            <a:stCxn id="146" idx="2"/>
            <a:endCxn id="130" idx="0"/>
          </p:cNvCxnSpPr>
          <p:nvPr/>
        </p:nvCxnSpPr>
        <p:spPr>
          <a:xfrm rot="5400000">
            <a:off x="4279738" y="4438871"/>
            <a:ext cx="448341" cy="65053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肘形接點 174">
            <a:extLst>
              <a:ext uri="{FF2B5EF4-FFF2-40B4-BE49-F238E27FC236}">
                <a16:creationId xmlns:a16="http://schemas.microsoft.com/office/drawing/2014/main" id="{BD64C11C-B4E1-6465-D40C-A38744A17F69}"/>
              </a:ext>
            </a:extLst>
          </p:cNvPr>
          <p:cNvCxnSpPr>
            <a:cxnSpLocks/>
            <a:stCxn id="147" idx="2"/>
            <a:endCxn id="133" idx="0"/>
          </p:cNvCxnSpPr>
          <p:nvPr/>
        </p:nvCxnSpPr>
        <p:spPr>
          <a:xfrm rot="5400000">
            <a:off x="6754295" y="4440814"/>
            <a:ext cx="448340" cy="64664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肘形接點 177">
            <a:extLst>
              <a:ext uri="{FF2B5EF4-FFF2-40B4-BE49-F238E27FC236}">
                <a16:creationId xmlns:a16="http://schemas.microsoft.com/office/drawing/2014/main" id="{95D3D4F7-C90D-BE33-AC40-BA0D54177803}"/>
              </a:ext>
            </a:extLst>
          </p:cNvPr>
          <p:cNvCxnSpPr>
            <a:cxnSpLocks/>
            <a:stCxn id="148" idx="2"/>
            <a:endCxn id="136" idx="0"/>
          </p:cNvCxnSpPr>
          <p:nvPr/>
        </p:nvCxnSpPr>
        <p:spPr>
          <a:xfrm rot="5400000">
            <a:off x="9122789" y="4440511"/>
            <a:ext cx="452770" cy="65053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線箭頭接點 181">
            <a:extLst>
              <a:ext uri="{FF2B5EF4-FFF2-40B4-BE49-F238E27FC236}">
                <a16:creationId xmlns:a16="http://schemas.microsoft.com/office/drawing/2014/main" id="{E8C2832B-018B-87CD-185B-ED44E42EAA35}"/>
              </a:ext>
            </a:extLst>
          </p:cNvPr>
          <p:cNvCxnSpPr>
            <a:cxnSpLocks/>
          </p:cNvCxnSpPr>
          <p:nvPr/>
        </p:nvCxnSpPr>
        <p:spPr>
          <a:xfrm flipV="1">
            <a:off x="2357292" y="3204648"/>
            <a:ext cx="0" cy="5204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線箭頭接點 183">
            <a:extLst>
              <a:ext uri="{FF2B5EF4-FFF2-40B4-BE49-F238E27FC236}">
                <a16:creationId xmlns:a16="http://schemas.microsoft.com/office/drawing/2014/main" id="{B58655A5-2AD5-C1FF-F6DB-4FD4F5B1BA27}"/>
              </a:ext>
            </a:extLst>
          </p:cNvPr>
          <p:cNvCxnSpPr>
            <a:cxnSpLocks/>
          </p:cNvCxnSpPr>
          <p:nvPr/>
        </p:nvCxnSpPr>
        <p:spPr>
          <a:xfrm flipV="1">
            <a:off x="4827232" y="3204648"/>
            <a:ext cx="0" cy="5204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線箭頭接點 184">
            <a:extLst>
              <a:ext uri="{FF2B5EF4-FFF2-40B4-BE49-F238E27FC236}">
                <a16:creationId xmlns:a16="http://schemas.microsoft.com/office/drawing/2014/main" id="{243FABC1-0262-9E5F-1EBA-8F5206179AB0}"/>
              </a:ext>
            </a:extLst>
          </p:cNvPr>
          <p:cNvCxnSpPr>
            <a:cxnSpLocks/>
          </p:cNvCxnSpPr>
          <p:nvPr/>
        </p:nvCxnSpPr>
        <p:spPr>
          <a:xfrm flipV="1">
            <a:off x="7298169" y="3204648"/>
            <a:ext cx="0" cy="5204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線箭頭接點 185">
            <a:extLst>
              <a:ext uri="{FF2B5EF4-FFF2-40B4-BE49-F238E27FC236}">
                <a16:creationId xmlns:a16="http://schemas.microsoft.com/office/drawing/2014/main" id="{5522B9B3-0117-8A41-329A-39135A07FBD9}"/>
              </a:ext>
            </a:extLst>
          </p:cNvPr>
          <p:cNvCxnSpPr>
            <a:cxnSpLocks/>
          </p:cNvCxnSpPr>
          <p:nvPr/>
        </p:nvCxnSpPr>
        <p:spPr>
          <a:xfrm flipV="1">
            <a:off x="9674441" y="3204648"/>
            <a:ext cx="0" cy="5204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肘形接點 187">
            <a:extLst>
              <a:ext uri="{FF2B5EF4-FFF2-40B4-BE49-F238E27FC236}">
                <a16:creationId xmlns:a16="http://schemas.microsoft.com/office/drawing/2014/main" id="{E7C71E86-6469-6E64-8153-CE81BF7F38F0}"/>
              </a:ext>
            </a:extLst>
          </p:cNvPr>
          <p:cNvCxnSpPr>
            <a:stCxn id="126" idx="1"/>
            <a:endCxn id="149" idx="1"/>
          </p:cNvCxnSpPr>
          <p:nvPr/>
        </p:nvCxnSpPr>
        <p:spPr>
          <a:xfrm rot="10800000">
            <a:off x="2090593" y="2882097"/>
            <a:ext cx="24069" cy="3286362"/>
          </a:xfrm>
          <a:prstGeom prst="bentConnector3">
            <a:avLst>
              <a:gd name="adj1" fmla="val 3985417"/>
            </a:avLst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肘形接點 189">
            <a:extLst>
              <a:ext uri="{FF2B5EF4-FFF2-40B4-BE49-F238E27FC236}">
                <a16:creationId xmlns:a16="http://schemas.microsoft.com/office/drawing/2014/main" id="{02EE5454-DA56-B30F-66F1-B0FDE85C0A15}"/>
              </a:ext>
            </a:extLst>
          </p:cNvPr>
          <p:cNvCxnSpPr/>
          <p:nvPr/>
        </p:nvCxnSpPr>
        <p:spPr>
          <a:xfrm rot="10800000">
            <a:off x="4560831" y="2895801"/>
            <a:ext cx="24069" cy="3286362"/>
          </a:xfrm>
          <a:prstGeom prst="bentConnector3">
            <a:avLst>
              <a:gd name="adj1" fmla="val 3985417"/>
            </a:avLst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肘形接點 190">
            <a:extLst>
              <a:ext uri="{FF2B5EF4-FFF2-40B4-BE49-F238E27FC236}">
                <a16:creationId xmlns:a16="http://schemas.microsoft.com/office/drawing/2014/main" id="{5B217B7A-650A-7D34-0839-21EBEA373035}"/>
              </a:ext>
            </a:extLst>
          </p:cNvPr>
          <p:cNvCxnSpPr/>
          <p:nvPr/>
        </p:nvCxnSpPr>
        <p:spPr>
          <a:xfrm rot="10800000">
            <a:off x="7030472" y="2882097"/>
            <a:ext cx="24069" cy="3286362"/>
          </a:xfrm>
          <a:prstGeom prst="bentConnector3">
            <a:avLst>
              <a:gd name="adj1" fmla="val 3985417"/>
            </a:avLst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肘形接點 191">
            <a:extLst>
              <a:ext uri="{FF2B5EF4-FFF2-40B4-BE49-F238E27FC236}">
                <a16:creationId xmlns:a16="http://schemas.microsoft.com/office/drawing/2014/main" id="{29F9CFEF-21E2-60DD-53E3-BA7E5D373258}"/>
              </a:ext>
            </a:extLst>
          </p:cNvPr>
          <p:cNvCxnSpPr/>
          <p:nvPr/>
        </p:nvCxnSpPr>
        <p:spPr>
          <a:xfrm rot="10800000">
            <a:off x="9416986" y="2897118"/>
            <a:ext cx="24069" cy="3286362"/>
          </a:xfrm>
          <a:prstGeom prst="bentConnector3">
            <a:avLst>
              <a:gd name="adj1" fmla="val 3985417"/>
            </a:avLst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矩形 192">
            <a:extLst>
              <a:ext uri="{FF2B5EF4-FFF2-40B4-BE49-F238E27FC236}">
                <a16:creationId xmlns:a16="http://schemas.microsoft.com/office/drawing/2014/main" id="{E01F2C50-9E43-DA7E-565C-C768C863CC75}"/>
              </a:ext>
            </a:extLst>
          </p:cNvPr>
          <p:cNvSpPr/>
          <p:nvPr/>
        </p:nvSpPr>
        <p:spPr>
          <a:xfrm>
            <a:off x="1891147" y="2570480"/>
            <a:ext cx="942649" cy="6286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文字方塊 193">
                <a:extLst>
                  <a:ext uri="{FF2B5EF4-FFF2-40B4-BE49-F238E27FC236}">
                    <a16:creationId xmlns:a16="http://schemas.microsoft.com/office/drawing/2014/main" id="{CCB2FD08-0E0E-E750-4A81-8A228FD0DB82}"/>
                  </a:ext>
                </a:extLst>
              </p:cNvPr>
              <p:cNvSpPr txBox="1"/>
              <p:nvPr/>
            </p:nvSpPr>
            <p:spPr>
              <a:xfrm>
                <a:off x="10033070" y="2572635"/>
                <a:ext cx="194385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dirty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計算：</a:t>
                </a:r>
                <a14:m>
                  <m:oMath xmlns:m="http://schemas.openxmlformats.org/officeDocument/2006/math">
                    <m:r>
                      <a:rPr lang="en-US" altLang="zh-TW" sz="18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zh-TW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(</a:t>
                </a:r>
                <a:r>
                  <a:rPr lang="zh-TW" altLang="en-US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平均數</a:t>
                </a:r>
                <a:r>
                  <a:rPr lang="en-US" altLang="zh-TW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&amp;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zh-TW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(</a:t>
                </a:r>
                <a:r>
                  <a:rPr lang="zh-TW" altLang="en-US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標準差</a:t>
                </a:r>
                <a:r>
                  <a:rPr lang="en-US" altLang="zh-TW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</a:t>
                </a:r>
                <a:endParaRPr lang="zh-TW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194" name="文字方塊 193">
                <a:extLst>
                  <a:ext uri="{FF2B5EF4-FFF2-40B4-BE49-F238E27FC236}">
                    <a16:creationId xmlns:a16="http://schemas.microsoft.com/office/drawing/2014/main" id="{CCB2FD08-0E0E-E750-4A81-8A228FD0D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3070" y="2572635"/>
                <a:ext cx="1943857" cy="646331"/>
              </a:xfrm>
              <a:prstGeom prst="rect">
                <a:avLst/>
              </a:prstGeom>
              <a:blipFill>
                <a:blip r:embed="rId3"/>
                <a:stretch>
                  <a:fillRect l="-3247" t="-3846" b="-134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文字方塊 195">
                <a:extLst>
                  <a:ext uri="{FF2B5EF4-FFF2-40B4-BE49-F238E27FC236}">
                    <a16:creationId xmlns:a16="http://schemas.microsoft.com/office/drawing/2014/main" id="{D858D1B8-C8D7-80E6-476A-B7F3E2EA775B}"/>
                  </a:ext>
                </a:extLst>
              </p:cNvPr>
              <p:cNvSpPr txBox="1"/>
              <p:nvPr/>
            </p:nvSpPr>
            <p:spPr>
              <a:xfrm>
                <a:off x="1700700" y="1654728"/>
                <a:ext cx="1300947" cy="8142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zh-TW" altLang="en-US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altLang="zh-TW" sz="2400" b="0" i="1" kern="100" baseline="-250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2400" i="1" kern="100" baseline="-250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6" name="文字方塊 195">
                <a:extLst>
                  <a:ext uri="{FF2B5EF4-FFF2-40B4-BE49-F238E27FC236}">
                    <a16:creationId xmlns:a16="http://schemas.microsoft.com/office/drawing/2014/main" id="{D858D1B8-C8D7-80E6-476A-B7F3E2EA7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0700" y="1654728"/>
                <a:ext cx="1300947" cy="814262"/>
              </a:xfrm>
              <a:prstGeom prst="rect">
                <a:avLst/>
              </a:prstGeom>
              <a:blipFill>
                <a:blip r:embed="rId4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文字方塊 196">
                <a:extLst>
                  <a:ext uri="{FF2B5EF4-FFF2-40B4-BE49-F238E27FC236}">
                    <a16:creationId xmlns:a16="http://schemas.microsoft.com/office/drawing/2014/main" id="{ACB11949-8CA0-98D1-CD4A-54726C6FE707}"/>
                  </a:ext>
                </a:extLst>
              </p:cNvPr>
              <p:cNvSpPr txBox="1"/>
              <p:nvPr/>
            </p:nvSpPr>
            <p:spPr>
              <a:xfrm>
                <a:off x="4176758" y="1650508"/>
                <a:ext cx="1300947" cy="8142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altLang="zh-TW" sz="2400" b="0" i="1" kern="100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2400" b="0" i="1" kern="100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7" name="文字方塊 196">
                <a:extLst>
                  <a:ext uri="{FF2B5EF4-FFF2-40B4-BE49-F238E27FC236}">
                    <a16:creationId xmlns:a16="http://schemas.microsoft.com/office/drawing/2014/main" id="{ACB11949-8CA0-98D1-CD4A-54726C6FE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6758" y="1650508"/>
                <a:ext cx="1300947" cy="814262"/>
              </a:xfrm>
              <a:prstGeom prst="rect">
                <a:avLst/>
              </a:prstGeom>
              <a:blipFill>
                <a:blip r:embed="rId5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文字方塊 197">
                <a:extLst>
                  <a:ext uri="{FF2B5EF4-FFF2-40B4-BE49-F238E27FC236}">
                    <a16:creationId xmlns:a16="http://schemas.microsoft.com/office/drawing/2014/main" id="{D7B635A0-A233-3BBE-5567-21A0DE11E3C0}"/>
                  </a:ext>
                </a:extLst>
              </p:cNvPr>
              <p:cNvSpPr txBox="1"/>
              <p:nvPr/>
            </p:nvSpPr>
            <p:spPr>
              <a:xfrm>
                <a:off x="6665142" y="1657906"/>
                <a:ext cx="1300947" cy="8142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altLang="zh-TW" sz="2400" b="0" i="1" kern="100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2400" b="0" i="1" kern="100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8" name="文字方塊 197">
                <a:extLst>
                  <a:ext uri="{FF2B5EF4-FFF2-40B4-BE49-F238E27FC236}">
                    <a16:creationId xmlns:a16="http://schemas.microsoft.com/office/drawing/2014/main" id="{D7B635A0-A233-3BBE-5567-21A0DE11E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5142" y="1657906"/>
                <a:ext cx="1300947" cy="814262"/>
              </a:xfrm>
              <a:prstGeom prst="rect">
                <a:avLst/>
              </a:prstGeom>
              <a:blipFill>
                <a:blip r:embed="rId6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文字方塊 198">
                <a:extLst>
                  <a:ext uri="{FF2B5EF4-FFF2-40B4-BE49-F238E27FC236}">
                    <a16:creationId xmlns:a16="http://schemas.microsoft.com/office/drawing/2014/main" id="{48D4481E-50BD-A530-7239-E37121AB1695}"/>
                  </a:ext>
                </a:extLst>
              </p:cNvPr>
              <p:cNvSpPr txBox="1"/>
              <p:nvPr/>
            </p:nvSpPr>
            <p:spPr>
              <a:xfrm>
                <a:off x="9023907" y="1652633"/>
                <a:ext cx="1300947" cy="8142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altLang="zh-TW" sz="2400" b="0" i="1" kern="100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2400" b="0" i="1" kern="100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9" name="文字方塊 198">
                <a:extLst>
                  <a:ext uri="{FF2B5EF4-FFF2-40B4-BE49-F238E27FC236}">
                    <a16:creationId xmlns:a16="http://schemas.microsoft.com/office/drawing/2014/main" id="{48D4481E-50BD-A530-7239-E37121AB1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3907" y="1652633"/>
                <a:ext cx="1300947" cy="814262"/>
              </a:xfrm>
              <a:prstGeom prst="rect">
                <a:avLst/>
              </a:prstGeom>
              <a:blipFill>
                <a:blip r:embed="rId7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E926EAE7-7EBC-106D-ADB2-46BA5926BAB6}"/>
              </a:ext>
            </a:extLst>
          </p:cNvPr>
          <p:cNvSpPr/>
          <p:nvPr/>
        </p:nvSpPr>
        <p:spPr>
          <a:xfrm>
            <a:off x="4341998" y="2568010"/>
            <a:ext cx="942649" cy="6286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019CF8-718B-DF6E-1087-DFD3F62E01B9}"/>
              </a:ext>
            </a:extLst>
          </p:cNvPr>
          <p:cNvSpPr/>
          <p:nvPr/>
        </p:nvSpPr>
        <p:spPr>
          <a:xfrm>
            <a:off x="6821790" y="2575439"/>
            <a:ext cx="942649" cy="6286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96097D-F9D1-805F-EC75-8C9A943A2046}"/>
              </a:ext>
            </a:extLst>
          </p:cNvPr>
          <p:cNvSpPr/>
          <p:nvPr/>
        </p:nvSpPr>
        <p:spPr>
          <a:xfrm>
            <a:off x="9255836" y="2582799"/>
            <a:ext cx="777898" cy="6286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20163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" grpId="0" animBg="1"/>
      <p:bldP spid="194" grpId="0"/>
      <p:bldP spid="196" grpId="0"/>
      <p:bldP spid="197" grpId="0"/>
      <p:bldP spid="198" grpId="0"/>
      <p:bldP spid="199" grpId="0"/>
      <p:bldP spid="3" grpId="0" animBg="1"/>
      <p:bldP spid="6" grpId="0" animBg="1"/>
      <p:bldP spid="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E47196-ECCE-00F8-584A-FAB19891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Why LN not BN? 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777FB0B-9A84-544C-34FA-77B4002A5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EB4FED7-7F4F-C291-97B1-81DE903B35DD}"/>
              </a:ext>
            </a:extLst>
          </p:cNvPr>
          <p:cNvSpPr txBox="1"/>
          <p:nvPr/>
        </p:nvSpPr>
        <p:spPr>
          <a:xfrm>
            <a:off x="653144" y="1953959"/>
            <a:ext cx="10918370" cy="1140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資料長度差距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模型實作表現差異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2495E54-EC25-32E9-93AD-DA42A7E6E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456" y="2073283"/>
            <a:ext cx="7772400" cy="381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1068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D32678-E3F3-1AC0-177F-95FBBE4D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Outline of Transformer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7DDE1C-CF0A-79E7-FBE5-7EF521BF2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1C71EC8-1B57-4201-3E94-FC9DC6C10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142" y="1530220"/>
            <a:ext cx="3619047" cy="5159829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5312BF7-A272-740A-C7A1-E7AF231CC6D5}"/>
              </a:ext>
            </a:extLst>
          </p:cNvPr>
          <p:cNvSpPr txBox="1"/>
          <p:nvPr/>
        </p:nvSpPr>
        <p:spPr>
          <a:xfrm>
            <a:off x="9165836" y="1440227"/>
            <a:ext cx="23963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Vaswani, Ashish, et al. "Attention is all you need." </a:t>
            </a:r>
            <a:r>
              <a:rPr lang="en-US" altLang="zh-TW" sz="100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NeurIPS</a:t>
            </a:r>
            <a:r>
              <a:rPr lang="en-US" altLang="zh-TW" sz="10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(2017).</a:t>
            </a:r>
            <a:endParaRPr lang="zh-TW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121FA8-BF6C-08DC-D82D-F6A4055B5A7C}"/>
              </a:ext>
            </a:extLst>
          </p:cNvPr>
          <p:cNvSpPr/>
          <p:nvPr/>
        </p:nvSpPr>
        <p:spPr>
          <a:xfrm>
            <a:off x="4320069" y="5299787"/>
            <a:ext cx="1268965" cy="3732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07B5C01-EAB6-E0F6-1949-444BAF6391DB}"/>
              </a:ext>
            </a:extLst>
          </p:cNvPr>
          <p:cNvSpPr/>
          <p:nvPr/>
        </p:nvSpPr>
        <p:spPr>
          <a:xfrm>
            <a:off x="6634141" y="5299786"/>
            <a:ext cx="1268965" cy="3732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062369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A96EC5-5532-DA44-297E-A58EA4C98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cs typeface="Calibri" panose="020F0502020204030204" pitchFamily="34" charset="0"/>
              </a:rPr>
              <a:t>Lack of Position Modeling</a:t>
            </a:r>
            <a:endParaRPr kumimoji="1" lang="zh-TW" altLang="en-US" dirty="0"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2E3F19-3AC3-4AA8-44E2-6FFF5DD32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DF78245-9BF7-042E-A528-8DF142F96F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8757" y="1711920"/>
                <a:ext cx="4319081" cy="4023360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buFont typeface="Wingdings" pitchFamily="2" charset="2"/>
                  <a:buChar char="n"/>
                </a:pPr>
                <a:r>
                  <a:rPr kumimoji="1" lang="en-US" altLang="zh-TW" dirty="0">
                    <a:latin typeface="Calibri" panose="020F0502020204030204" pitchFamily="34" charset="0"/>
                    <a:cs typeface="Calibri" panose="020F0502020204030204" pitchFamily="34" charset="0"/>
                  </a:rPr>
                  <a:t> RNN processes sequences step-by-step.</a:t>
                </a:r>
                <a:endParaRPr kumimoji="1" lang="en-US" altLang="zh-TW" sz="16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n"/>
                </a:pPr>
                <a:r>
                  <a:rPr kumimoji="1" lang="en-US" altLang="zh-TW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However, in Transformers, we have no way to know the relative distance of one word to another! </a:t>
                </a: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n"/>
                </a:pPr>
                <a:r>
                  <a:rPr kumimoji="1" lang="en-US" altLang="zh-TW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The same word, eg. “Amy”, in the 2 sentences are encoded to the same </a:t>
                </a:r>
                <a14:m>
                  <m:oMath xmlns:m="http://schemas.openxmlformats.org/officeDocument/2006/math">
                    <m:r>
                      <a:rPr kumimoji="1" lang="en-US" altLang="zh-TW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kumimoji="1" lang="en-US" altLang="zh-TW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(</m:t>
                    </m:r>
                  </m:oMath>
                </a14:m>
                <a:r>
                  <a:rPr kumimoji="1" lang="en-US" altLang="zh-TW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with the same weight matrices).  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DF78245-9BF7-042E-A528-8DF142F96F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8757" y="1711920"/>
                <a:ext cx="4319081" cy="4023360"/>
              </a:xfrm>
              <a:blipFill>
                <a:blip r:embed="rId3"/>
                <a:stretch>
                  <a:fillRect l="-3226" r="-38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314" name="Picture 2">
            <a:extLst>
              <a:ext uri="{FF2B5EF4-FFF2-40B4-BE49-F238E27FC236}">
                <a16:creationId xmlns:a16="http://schemas.microsoft.com/office/drawing/2014/main" id="{EF54391A-3D74-0DE4-B1EC-95EEE4317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11920"/>
            <a:ext cx="4923579" cy="4944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CC822CA-CED2-6066-6A28-15BD538DDAB2}"/>
              </a:ext>
            </a:extLst>
          </p:cNvPr>
          <p:cNvSpPr/>
          <p:nvPr/>
        </p:nvSpPr>
        <p:spPr>
          <a:xfrm flipV="1">
            <a:off x="7600893" y="1826790"/>
            <a:ext cx="1467853" cy="51951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259E51B-3C6B-0416-2A87-F581F36C0282}"/>
              </a:ext>
            </a:extLst>
          </p:cNvPr>
          <p:cNvSpPr txBox="1"/>
          <p:nvPr/>
        </p:nvSpPr>
        <p:spPr>
          <a:xfrm>
            <a:off x="1089255" y="5529112"/>
            <a:ext cx="39885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Problematic because these 2 sentences convey different meanings, but same words are encoded identically!</a:t>
            </a:r>
            <a:endParaRPr kumimoji="1" lang="zh-TW" altLang="en-US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3597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D967D5-7D80-994F-6A47-90B01BE66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Positional </a:t>
            </a:r>
            <a:r>
              <a:rPr kumimoji="1" lang="en-US" altLang="zh-TW" dirty="0">
                <a:cs typeface="Calibri" panose="020F0502020204030204" pitchFamily="34" charset="0"/>
              </a:rPr>
              <a:t>Encoding</a:t>
            </a:r>
            <a:r>
              <a:rPr kumimoji="1" lang="zh-TW" altLang="en-US" dirty="0">
                <a:cs typeface="Calibri" panose="020F0502020204030204" pitchFamily="34" charset="0"/>
              </a:rPr>
              <a:t> </a:t>
            </a:r>
            <a:r>
              <a:rPr kumimoji="1" lang="en-US" altLang="zh-TW" dirty="0">
                <a:cs typeface="Calibri" panose="020F0502020204030204" pitchFamily="34" charset="0"/>
              </a:rPr>
              <a:t>Equations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957192-476E-F18C-A6CD-DB3BE3091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C87C506-C2E4-D3D6-BA0E-DB41C309DC45}"/>
              </a:ext>
            </a:extLst>
          </p:cNvPr>
          <p:cNvSpPr txBox="1"/>
          <p:nvPr/>
        </p:nvSpPr>
        <p:spPr>
          <a:xfrm>
            <a:off x="2703367" y="6379403"/>
            <a:ext cx="73083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Figure source: https://</a:t>
            </a:r>
            <a:r>
              <a:rPr kumimoji="1" lang="en-US" altLang="zh-TW" sz="1400" dirty="0" err="1"/>
              <a:t>nlp.seas.harvard.edu</a:t>
            </a:r>
            <a:r>
              <a:rPr kumimoji="1" lang="en-US" altLang="zh-TW" sz="1400" dirty="0"/>
              <a:t>/annotated-transformer/#positional-encoding</a:t>
            </a:r>
            <a:endParaRPr kumimoji="1" lang="zh-TW" altLang="en-US" sz="1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4E3DBAF-360E-36AD-FDC8-9459181D1B50}"/>
              </a:ext>
            </a:extLst>
          </p:cNvPr>
          <p:cNvSpPr txBox="1"/>
          <p:nvPr/>
        </p:nvSpPr>
        <p:spPr>
          <a:xfrm>
            <a:off x="653142" y="1756063"/>
            <a:ext cx="9155876" cy="1889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創造出</a:t>
            </a:r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相對位置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的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embeddings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核心精神：利用三角函數的週期性來建構序列資訊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偶數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的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embedding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單元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(</a:t>
            </a:r>
            <a:r>
              <a:rPr kumimoji="1" lang="en-US" altLang="zh-TW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2i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, </a:t>
            </a:r>
            <a:r>
              <a:rPr kumimoji="1" lang="en-US" altLang="zh-TW" sz="2000" dirty="0" err="1">
                <a:ea typeface="Microsoft JhengHei" panose="020B0604030504040204" pitchFamily="34" charset="-120"/>
              </a:rPr>
              <a:t>i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= 0, 1, …, </a:t>
            </a:r>
            <a:r>
              <a:rPr kumimoji="1" lang="en-US" altLang="zh-TW" sz="2000" dirty="0" err="1"/>
              <a:t>d</a:t>
            </a:r>
            <a:r>
              <a:rPr kumimoji="1" lang="en-US" altLang="zh-TW" sz="2000" baseline="-25000" dirty="0" err="1"/>
              <a:t>model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：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Sin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函數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solidFill>
                  <a:schemeClr val="accent6"/>
                </a:solidFill>
                <a:ea typeface="Microsoft JhengHei" panose="020B0604030504040204" pitchFamily="34" charset="-120"/>
              </a:rPr>
              <a:t>奇數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的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embedding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單元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(</a:t>
            </a:r>
            <a:r>
              <a:rPr kumimoji="1" lang="en-US" altLang="zh-TW" sz="2000" dirty="0">
                <a:solidFill>
                  <a:schemeClr val="accent6"/>
                </a:solidFill>
                <a:ea typeface="Microsoft JhengHei" panose="020B0604030504040204" pitchFamily="34" charset="-120"/>
              </a:rPr>
              <a:t>2i+1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, </a:t>
            </a:r>
            <a:r>
              <a:rPr kumimoji="1" lang="en-US" altLang="zh-TW" sz="2000" dirty="0" err="1">
                <a:ea typeface="Microsoft JhengHei" panose="020B0604030504040204" pitchFamily="34" charset="-120"/>
              </a:rPr>
              <a:t>i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= 0, 1, …, </a:t>
            </a:r>
            <a:r>
              <a:rPr kumimoji="1" lang="en-US" altLang="zh-TW" sz="2000" dirty="0" err="1"/>
              <a:t>d</a:t>
            </a:r>
            <a:r>
              <a:rPr kumimoji="1" lang="en-US" altLang="zh-TW" sz="2000" baseline="-25000" dirty="0" err="1"/>
              <a:t>model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：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Cosine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函數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EB5A69B-2C19-BD24-9448-291950201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012" y="4052850"/>
            <a:ext cx="4658591" cy="890444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E6F196F-C8B3-4018-5426-0BC154649F04}"/>
              </a:ext>
            </a:extLst>
          </p:cNvPr>
          <p:cNvSpPr txBox="1"/>
          <p:nvPr/>
        </p:nvSpPr>
        <p:spPr>
          <a:xfrm>
            <a:off x="2419400" y="5111714"/>
            <a:ext cx="3550203" cy="497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輸入序列中任一</a:t>
            </a:r>
            <a:r>
              <a:rPr kumimoji="1" lang="en-US" altLang="zh-TW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token</a:t>
            </a:r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的位置</a:t>
            </a: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522B4799-4167-55A8-686C-6141ADD08D3E}"/>
              </a:ext>
            </a:extLst>
          </p:cNvPr>
          <p:cNvCxnSpPr/>
          <p:nvPr/>
        </p:nvCxnSpPr>
        <p:spPr>
          <a:xfrm>
            <a:off x="3671480" y="4405748"/>
            <a:ext cx="59918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5CFD3839-658F-69D1-BF56-56504049DF0B}"/>
              </a:ext>
            </a:extLst>
          </p:cNvPr>
          <p:cNvCxnSpPr/>
          <p:nvPr/>
        </p:nvCxnSpPr>
        <p:spPr>
          <a:xfrm>
            <a:off x="3700934" y="4919049"/>
            <a:ext cx="59918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512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D967D5-7D80-994F-6A47-90B01BE66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Positional </a:t>
            </a:r>
            <a:r>
              <a:rPr kumimoji="1" lang="en-US" altLang="zh-TW" dirty="0">
                <a:cs typeface="Calibri" panose="020F0502020204030204" pitchFamily="34" charset="0"/>
              </a:rPr>
              <a:t>Encoding</a:t>
            </a:r>
            <a:r>
              <a:rPr kumimoji="1" lang="zh-TW" altLang="en-US" dirty="0">
                <a:cs typeface="Calibri" panose="020F0502020204030204" pitchFamily="34" charset="0"/>
              </a:rPr>
              <a:t> </a:t>
            </a:r>
            <a:r>
              <a:rPr kumimoji="1" lang="en-US" altLang="zh-TW" dirty="0">
                <a:cs typeface="Calibri" panose="020F0502020204030204" pitchFamily="34" charset="0"/>
              </a:rPr>
              <a:t>Visualization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957192-476E-F18C-A6CD-DB3BE3091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6" name="圖片 5" descr="一張含有 行, 繪圖, 圖表 的圖片&#10;&#10;自動產生的描述">
            <a:extLst>
              <a:ext uri="{FF2B5EF4-FFF2-40B4-BE49-F238E27FC236}">
                <a16:creationId xmlns:a16="http://schemas.microsoft.com/office/drawing/2014/main" id="{F4FFE725-9F04-0ACC-857D-AC5A2D64E8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865" y="1740085"/>
            <a:ext cx="9040090" cy="337783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C87C506-C2E4-D3D6-BA0E-DB41C309DC45}"/>
              </a:ext>
            </a:extLst>
          </p:cNvPr>
          <p:cNvSpPr txBox="1"/>
          <p:nvPr/>
        </p:nvSpPr>
        <p:spPr>
          <a:xfrm>
            <a:off x="2703367" y="6379403"/>
            <a:ext cx="7293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Figure source: https://</a:t>
            </a:r>
            <a:r>
              <a:rPr kumimoji="1" lang="en-US" altLang="zh-TW" sz="1400" dirty="0" err="1"/>
              <a:t>nlp.seas.harvard.edu</a:t>
            </a:r>
            <a:r>
              <a:rPr kumimoji="1" lang="en-US" altLang="zh-TW" sz="1400" dirty="0"/>
              <a:t>/annotated-transformer/#positional-encoding</a:t>
            </a:r>
            <a:endParaRPr kumimoji="1" lang="zh-TW" altLang="en-US" sz="1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4E3DBAF-360E-36AD-FDC8-9459181D1B50}"/>
              </a:ext>
            </a:extLst>
          </p:cNvPr>
          <p:cNvSpPr txBox="1"/>
          <p:nvPr/>
        </p:nvSpPr>
        <p:spPr>
          <a:xfrm>
            <a:off x="1797627" y="5468496"/>
            <a:ext cx="7293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>
                <a:ea typeface="Microsoft JhengHei" panose="020B0604030504040204" pitchFamily="34" charset="-120"/>
              </a:rPr>
              <a:t>Question: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為什麼需要同時有 </a:t>
            </a:r>
            <a:r>
              <a:rPr kumimoji="1" lang="en-US" altLang="zh-TW" dirty="0">
                <a:ea typeface="Microsoft JhengHei" panose="020B0604030504040204" pitchFamily="34" charset="-120"/>
              </a:rPr>
              <a:t>Sin</a:t>
            </a:r>
            <a:r>
              <a:rPr kumimoji="1" lang="zh-TW" altLang="en-US" dirty="0">
                <a:ea typeface="Microsoft JhengHei" panose="020B0604030504040204" pitchFamily="34" charset="-120"/>
              </a:rPr>
              <a:t> 和 </a:t>
            </a:r>
            <a:r>
              <a:rPr kumimoji="1" lang="en-US" altLang="zh-TW" dirty="0">
                <a:ea typeface="Microsoft JhengHei" panose="020B0604030504040204" pitchFamily="34" charset="-120"/>
              </a:rPr>
              <a:t>Cosine</a:t>
            </a:r>
            <a:r>
              <a:rPr kumimoji="1" lang="zh-TW" altLang="en-US" dirty="0">
                <a:ea typeface="Microsoft JhengHei" panose="020B0604030504040204" pitchFamily="34" charset="-120"/>
              </a:rPr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的函數？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69A7344-3D29-8D6A-3F09-515FA8897D59}"/>
              </a:ext>
            </a:extLst>
          </p:cNvPr>
          <p:cNvSpPr txBox="1"/>
          <p:nvPr/>
        </p:nvSpPr>
        <p:spPr>
          <a:xfrm>
            <a:off x="1797627" y="5856443"/>
            <a:ext cx="7293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>
                <a:ea typeface="Microsoft JhengHei" panose="020B0604030504040204" pitchFamily="34" charset="-120"/>
              </a:rPr>
              <a:t>Ans: </a:t>
            </a:r>
            <a:r>
              <a:rPr kumimoji="1" lang="zh-TW" altLang="en-US" dirty="0">
                <a:ea typeface="Microsoft JhengHei" panose="020B0604030504040204" pitchFamily="34" charset="-120"/>
              </a:rPr>
              <a:t>藉由不同週期性來捕捉序列中各個位置的關係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50011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A96EC5-5532-DA44-297E-A58EA4C98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cs typeface="Calibri" panose="020F0502020204030204" pitchFamily="34" charset="0"/>
              </a:rPr>
              <a:t>Encoder-Decoder</a:t>
            </a:r>
            <a:r>
              <a:rPr kumimoji="1" lang="zh-TW" altLang="en-US" dirty="0">
                <a:cs typeface="Calibri" panose="020F0502020204030204" pitchFamily="34" charset="0"/>
              </a:rPr>
              <a:t> 橋樑</a:t>
            </a:r>
            <a:r>
              <a:rPr kumimoji="1" lang="en-US" altLang="zh-TW" dirty="0">
                <a:cs typeface="Calibri" panose="020F0502020204030204" pitchFamily="34" charset="0"/>
              </a:rPr>
              <a:t>: Cross-Attention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2E3F19-3AC3-4AA8-44E2-6FFF5DD32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43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868F626-3EFA-CCD9-2F9E-28233A46C231}"/>
              </a:ext>
            </a:extLst>
          </p:cNvPr>
          <p:cNvSpPr txBox="1"/>
          <p:nvPr/>
        </p:nvSpPr>
        <p:spPr>
          <a:xfrm>
            <a:off x="2520778" y="3797346"/>
            <a:ext cx="6098058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200"/>
              </a:spcBef>
              <a:buNone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K, V uses the output from encoder as their X; </a:t>
            </a:r>
          </a:p>
          <a:p>
            <a:pPr marL="0" indent="0">
              <a:spcBef>
                <a:spcPts val="200"/>
              </a:spcBef>
              <a:buNone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Q uses the decoder’s information as X. </a:t>
            </a:r>
          </a:p>
          <a:p>
            <a:pPr marL="0" indent="0">
              <a:spcBef>
                <a:spcPts val="200"/>
              </a:spcBef>
              <a:buNone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This is 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BE7C3D80-D57C-1557-2C48-EE4EE6EDA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778" y="1011981"/>
            <a:ext cx="8810326" cy="790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C7C21DC-31DB-E831-86F3-CD4FF1E94951}"/>
              </a:ext>
            </a:extLst>
          </p:cNvPr>
          <p:cNvSpPr/>
          <p:nvPr/>
        </p:nvSpPr>
        <p:spPr>
          <a:xfrm>
            <a:off x="2520778" y="4500563"/>
            <a:ext cx="951085" cy="27140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125DD7B-D812-7B41-1ED3-2B76B17E4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8155" y="5872381"/>
            <a:ext cx="2972804" cy="54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8863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E6448A1-8B39-1A28-B6AC-06E8DB0CBE24}"/>
              </a:ext>
            </a:extLst>
          </p:cNvPr>
          <p:cNvSpPr/>
          <p:nvPr/>
        </p:nvSpPr>
        <p:spPr>
          <a:xfrm>
            <a:off x="1231641" y="1810139"/>
            <a:ext cx="6792686" cy="48985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4C7C744-4D6E-A486-0C23-1201579C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Cross-attention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9207B4-7A63-4047-96AA-B65EEDFAA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71E07550-B1F4-F3A3-60C6-02A78EE367C2}"/>
              </a:ext>
            </a:extLst>
          </p:cNvPr>
          <p:cNvSpPr/>
          <p:nvPr/>
        </p:nvSpPr>
        <p:spPr>
          <a:xfrm>
            <a:off x="1732106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6FADA9CA-5DE9-26C4-D855-0AED0A46A53A}"/>
              </a:ext>
            </a:extLst>
          </p:cNvPr>
          <p:cNvSpPr/>
          <p:nvPr/>
        </p:nvSpPr>
        <p:spPr>
          <a:xfrm>
            <a:off x="1724700" y="4541495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B9D2B63A-3EA1-04FE-E87D-84D6E4169992}"/>
              </a:ext>
            </a:extLst>
          </p:cNvPr>
          <p:cNvSpPr/>
          <p:nvPr/>
        </p:nvSpPr>
        <p:spPr>
          <a:xfrm>
            <a:off x="2396514" y="4541494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2B6A4EB6-343C-670B-45B7-C93A6F414213}"/>
              </a:ext>
            </a:extLst>
          </p:cNvPr>
          <p:cNvSpPr/>
          <p:nvPr/>
        </p:nvSpPr>
        <p:spPr>
          <a:xfrm>
            <a:off x="4061235" y="4541495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5EA15339-C78F-8309-2C6C-75B90A6E8C32}"/>
              </a:ext>
            </a:extLst>
          </p:cNvPr>
          <p:cNvSpPr/>
          <p:nvPr/>
        </p:nvSpPr>
        <p:spPr>
          <a:xfrm>
            <a:off x="4733049" y="4541494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61B502CB-659A-2795-155B-F2F23C5E4500}"/>
              </a:ext>
            </a:extLst>
          </p:cNvPr>
          <p:cNvSpPr/>
          <p:nvPr/>
        </p:nvSpPr>
        <p:spPr>
          <a:xfrm>
            <a:off x="6537735" y="4541494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15DB972C-5D18-3A55-15DE-D2C1647AF5D6}"/>
              </a:ext>
            </a:extLst>
          </p:cNvPr>
          <p:cNvSpPr/>
          <p:nvPr/>
        </p:nvSpPr>
        <p:spPr>
          <a:xfrm>
            <a:off x="7209549" y="4541493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D4D9EDEF-A9EE-002E-CA82-EF618B88EF7D}"/>
              </a:ext>
            </a:extLst>
          </p:cNvPr>
          <p:cNvSpPr/>
          <p:nvPr/>
        </p:nvSpPr>
        <p:spPr>
          <a:xfrm>
            <a:off x="9233080" y="4545350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/>
              <a:t>q</a:t>
            </a:r>
            <a:r>
              <a:rPr kumimoji="1" lang="en-US" altLang="zh-TW" sz="2000" baseline="-25000"/>
              <a:t>1</a:t>
            </a:r>
            <a:endParaRPr kumimoji="1" lang="zh-TW" altLang="en-US" sz="2000" baseline="-250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1F84A656-CA83-526C-B6FE-D93DD219E455}"/>
              </a:ext>
            </a:extLst>
          </p:cNvPr>
          <p:cNvSpPr txBox="1"/>
          <p:nvPr/>
        </p:nvSpPr>
        <p:spPr>
          <a:xfrm>
            <a:off x="8597358" y="5652179"/>
            <a:ext cx="965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dirty="0"/>
              <a:t>🎯</a:t>
            </a:r>
            <a:endParaRPr kumimoji="1" lang="zh-TW" altLang="en-US" sz="360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6DE0177-E8AE-105A-E9F0-EE21F0096888}"/>
              </a:ext>
            </a:extLst>
          </p:cNvPr>
          <p:cNvSpPr/>
          <p:nvPr/>
        </p:nvSpPr>
        <p:spPr>
          <a:xfrm>
            <a:off x="402479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9FC1B44-5C41-9BD9-4299-AE348F3DB43A}"/>
              </a:ext>
            </a:extLst>
          </p:cNvPr>
          <p:cNvSpPr/>
          <p:nvPr/>
        </p:nvSpPr>
        <p:spPr>
          <a:xfrm>
            <a:off x="6493519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AC756C1-DBDE-0F5B-FEBE-415CABCF9BBC}"/>
              </a:ext>
            </a:extLst>
          </p:cNvPr>
          <p:cNvSpPr/>
          <p:nvPr/>
        </p:nvSpPr>
        <p:spPr>
          <a:xfrm>
            <a:off x="919274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6" name="圓角矩形 35">
            <a:extLst>
              <a:ext uri="{FF2B5EF4-FFF2-40B4-BE49-F238E27FC236}">
                <a16:creationId xmlns:a16="http://schemas.microsoft.com/office/drawing/2014/main" id="{A42083A9-2C49-EA47-ADF8-6E81062DC093}"/>
              </a:ext>
            </a:extLst>
          </p:cNvPr>
          <p:cNvSpPr/>
          <p:nvPr/>
        </p:nvSpPr>
        <p:spPr>
          <a:xfrm>
            <a:off x="1703420" y="3105150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a'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5DE2814-C819-FE76-F772-36199E14317A}"/>
              </a:ext>
            </a:extLst>
          </p:cNvPr>
          <p:cNvSpPr/>
          <p:nvPr/>
        </p:nvSpPr>
        <p:spPr>
          <a:xfrm>
            <a:off x="1678924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71EE1F06-3802-D9A6-95FE-7BCCFFB10230}"/>
              </a:ext>
            </a:extLst>
          </p:cNvPr>
          <p:cNvSpPr/>
          <p:nvPr/>
        </p:nvSpPr>
        <p:spPr>
          <a:xfrm>
            <a:off x="4039955" y="3105149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a'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4231810D-4672-CF67-DCEA-01729C32AC98}"/>
              </a:ext>
            </a:extLst>
          </p:cNvPr>
          <p:cNvSpPr/>
          <p:nvPr/>
        </p:nvSpPr>
        <p:spPr>
          <a:xfrm>
            <a:off x="6512569" y="3105149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a'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A5A6D88-705C-DD66-EDD4-04A912D645B2}"/>
              </a:ext>
            </a:extLst>
          </p:cNvPr>
          <p:cNvSpPr txBox="1"/>
          <p:nvPr/>
        </p:nvSpPr>
        <p:spPr>
          <a:xfrm>
            <a:off x="2307249" y="6132580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33802C79-6812-95D7-38EF-B4431E130C7D}"/>
              </a:ext>
            </a:extLst>
          </p:cNvPr>
          <p:cNvSpPr/>
          <p:nvPr/>
        </p:nvSpPr>
        <p:spPr>
          <a:xfrm>
            <a:off x="4068641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B20F8536-403E-3A6C-CDE9-9D49C6308AB0}"/>
              </a:ext>
            </a:extLst>
          </p:cNvPr>
          <p:cNvSpPr txBox="1"/>
          <p:nvPr/>
        </p:nvSpPr>
        <p:spPr>
          <a:xfrm>
            <a:off x="4594635" y="6113844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print</a:t>
            </a:r>
            <a:endParaRPr kumimoji="1" lang="zh-TW" altLang="en-US" dirty="0"/>
          </a:p>
        </p:txBody>
      </p:sp>
      <p:sp>
        <p:nvSpPr>
          <p:cNvPr id="47" name="圓角矩形 46">
            <a:extLst>
              <a:ext uri="{FF2B5EF4-FFF2-40B4-BE49-F238E27FC236}">
                <a16:creationId xmlns:a16="http://schemas.microsoft.com/office/drawing/2014/main" id="{261722A8-17DC-2F5B-0EBE-3023F950D3D6}"/>
              </a:ext>
            </a:extLst>
          </p:cNvPr>
          <p:cNvSpPr/>
          <p:nvPr/>
        </p:nvSpPr>
        <p:spPr>
          <a:xfrm>
            <a:off x="6545141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7481DC0A-0EBC-D763-FC9D-F88CF071CEA7}"/>
              </a:ext>
            </a:extLst>
          </p:cNvPr>
          <p:cNvSpPr txBox="1"/>
          <p:nvPr/>
        </p:nvSpPr>
        <p:spPr>
          <a:xfrm>
            <a:off x="7107580" y="6113329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Hello</a:t>
            </a:r>
            <a:endParaRPr kumimoji="1" lang="zh-TW" altLang="en-US" dirty="0"/>
          </a:p>
        </p:txBody>
      </p:sp>
      <p:sp>
        <p:nvSpPr>
          <p:cNvPr id="49" name="圓角矩形 48">
            <a:extLst>
              <a:ext uri="{FF2B5EF4-FFF2-40B4-BE49-F238E27FC236}">
                <a16:creationId xmlns:a16="http://schemas.microsoft.com/office/drawing/2014/main" id="{5E711CF6-4C5A-CF4B-018E-A38D0D359FDE}"/>
              </a:ext>
            </a:extLst>
          </p:cNvPr>
          <p:cNvSpPr/>
          <p:nvPr/>
        </p:nvSpPr>
        <p:spPr>
          <a:xfrm>
            <a:off x="9247892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BEB40D07-0A3B-583E-AF4D-2AAC53FC4885}"/>
              </a:ext>
            </a:extLst>
          </p:cNvPr>
          <p:cNvSpPr txBox="1"/>
          <p:nvPr/>
        </p:nvSpPr>
        <p:spPr>
          <a:xfrm>
            <a:off x="9806801" y="612054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BOS</a:t>
            </a:r>
            <a:endParaRPr kumimoji="1" lang="zh-TW" altLang="en-US" dirty="0"/>
          </a:p>
        </p:txBody>
      </p:sp>
      <p:cxnSp>
        <p:nvCxnSpPr>
          <p:cNvPr id="54" name="肘形接點 53">
            <a:extLst>
              <a:ext uri="{FF2B5EF4-FFF2-40B4-BE49-F238E27FC236}">
                <a16:creationId xmlns:a16="http://schemas.microsoft.com/office/drawing/2014/main" id="{A44E4929-4C03-96E6-BCF3-938ED87DFA21}"/>
              </a:ext>
            </a:extLst>
          </p:cNvPr>
          <p:cNvCxnSpPr>
            <a:stCxn id="36" idx="3"/>
            <a:endCxn id="19" idx="0"/>
          </p:cNvCxnSpPr>
          <p:nvPr/>
        </p:nvCxnSpPr>
        <p:spPr>
          <a:xfrm>
            <a:off x="2236820" y="3386138"/>
            <a:ext cx="426394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肘形接點 54">
            <a:extLst>
              <a:ext uri="{FF2B5EF4-FFF2-40B4-BE49-F238E27FC236}">
                <a16:creationId xmlns:a16="http://schemas.microsoft.com/office/drawing/2014/main" id="{D2A4A1CE-1C12-0FB2-B308-6F8B08378831}"/>
              </a:ext>
            </a:extLst>
          </p:cNvPr>
          <p:cNvCxnSpPr>
            <a:cxnSpLocks/>
            <a:stCxn id="39" idx="3"/>
            <a:endCxn id="22" idx="0"/>
          </p:cNvCxnSpPr>
          <p:nvPr/>
        </p:nvCxnSpPr>
        <p:spPr>
          <a:xfrm>
            <a:off x="4573355" y="3386137"/>
            <a:ext cx="426394" cy="1155357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肘形接點 57">
            <a:extLst>
              <a:ext uri="{FF2B5EF4-FFF2-40B4-BE49-F238E27FC236}">
                <a16:creationId xmlns:a16="http://schemas.microsoft.com/office/drawing/2014/main" id="{11D20EF7-F704-C358-059D-057CF8B79830}"/>
              </a:ext>
            </a:extLst>
          </p:cNvPr>
          <p:cNvCxnSpPr>
            <a:cxnSpLocks/>
            <a:stCxn id="40" idx="3"/>
            <a:endCxn id="25" idx="0"/>
          </p:cNvCxnSpPr>
          <p:nvPr/>
        </p:nvCxnSpPr>
        <p:spPr>
          <a:xfrm>
            <a:off x="7045969" y="3386137"/>
            <a:ext cx="430280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7E6D7-06F2-F9E2-2962-8A4B5F94371F}"/>
              </a:ext>
            </a:extLst>
          </p:cNvPr>
          <p:cNvSpPr txBox="1"/>
          <p:nvPr/>
        </p:nvSpPr>
        <p:spPr>
          <a:xfrm>
            <a:off x="3729721" y="1413289"/>
            <a:ext cx="1796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Encoder</a:t>
            </a:r>
            <a:endParaRPr kumimoji="1" lang="zh-TW" altLang="en-US" sz="2000" b="1"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D0B05900-430A-61A5-54B3-10167885F80D}"/>
              </a:ext>
            </a:extLst>
          </p:cNvPr>
          <p:cNvSpPr/>
          <p:nvPr/>
        </p:nvSpPr>
        <p:spPr>
          <a:xfrm>
            <a:off x="9233080" y="1983370"/>
            <a:ext cx="533400" cy="5619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h'</a:t>
            </a:r>
            <a:r>
              <a:rPr kumimoji="1" lang="en-US" altLang="zh-TW" baseline="-25000" dirty="0"/>
              <a:t>1</a:t>
            </a:r>
            <a:endParaRPr kumimoji="1" lang="zh-TW" altLang="en-US" baseline="-25000" dirty="0"/>
          </a:p>
        </p:txBody>
      </p:sp>
      <p:cxnSp>
        <p:nvCxnSpPr>
          <p:cNvPr id="10" name="肘形接點 9">
            <a:extLst>
              <a:ext uri="{FF2B5EF4-FFF2-40B4-BE49-F238E27FC236}">
                <a16:creationId xmlns:a16="http://schemas.microsoft.com/office/drawing/2014/main" id="{BE6C3D03-4055-4556-6F8C-9498C1DA9B0C}"/>
              </a:ext>
            </a:extLst>
          </p:cNvPr>
          <p:cNvCxnSpPr>
            <a:stCxn id="36" idx="0"/>
            <a:endCxn id="39" idx="0"/>
          </p:cNvCxnSpPr>
          <p:nvPr/>
        </p:nvCxnSpPr>
        <p:spPr>
          <a:xfrm rot="5400000" flipH="1" flipV="1">
            <a:off x="3138387" y="1936883"/>
            <a:ext cx="1" cy="2336535"/>
          </a:xfrm>
          <a:prstGeom prst="bentConnector3">
            <a:avLst>
              <a:gd name="adj1" fmla="val 228601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肘形接點 10">
            <a:extLst>
              <a:ext uri="{FF2B5EF4-FFF2-40B4-BE49-F238E27FC236}">
                <a16:creationId xmlns:a16="http://schemas.microsoft.com/office/drawing/2014/main" id="{7CE2DE16-F127-88EE-FF5B-3599AC4D7B61}"/>
              </a:ext>
            </a:extLst>
          </p:cNvPr>
          <p:cNvCxnSpPr>
            <a:cxnSpLocks/>
            <a:stCxn id="39" idx="0"/>
            <a:endCxn id="40" idx="0"/>
          </p:cNvCxnSpPr>
          <p:nvPr/>
        </p:nvCxnSpPr>
        <p:spPr>
          <a:xfrm rot="5400000" flipH="1" flipV="1">
            <a:off x="5542962" y="1868842"/>
            <a:ext cx="12700" cy="2472614"/>
          </a:xfrm>
          <a:prstGeom prst="bentConnector3">
            <a:avLst>
              <a:gd name="adj1" fmla="val 1873472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接點 37">
            <a:extLst>
              <a:ext uri="{FF2B5EF4-FFF2-40B4-BE49-F238E27FC236}">
                <a16:creationId xmlns:a16="http://schemas.microsoft.com/office/drawing/2014/main" id="{66EC57B1-65AC-6393-1C96-63746C3C0F6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041576" y="423933"/>
            <a:ext cx="346122" cy="4570285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AD1873D6-DB42-69CC-9FB4-00D36A05E0B0}"/>
              </a:ext>
            </a:extLst>
          </p:cNvPr>
          <p:cNvSpPr txBox="1"/>
          <p:nvPr/>
        </p:nvSpPr>
        <p:spPr>
          <a:xfrm>
            <a:off x="6940334" y="2380753"/>
            <a:ext cx="2093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Weighted sum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5174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7" grpId="0" animBg="1"/>
      <p:bldP spid="37" grpId="1" animBg="1"/>
      <p:bldP spid="39" grpId="0" animBg="1"/>
      <p:bldP spid="40" grpId="0" animBg="1"/>
      <p:bldP spid="6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2E3F19-3AC3-4AA8-44E2-6FFF5DD32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45</a:t>
            </a:fld>
            <a:endParaRPr lang="en-US"/>
          </a:p>
        </p:txBody>
      </p:sp>
      <p:pic>
        <p:nvPicPr>
          <p:cNvPr id="5" name="Picture 2" descr="Original transformer model architecture.">
            <a:extLst>
              <a:ext uri="{FF2B5EF4-FFF2-40B4-BE49-F238E27FC236}">
                <a16:creationId xmlns:a16="http://schemas.microsoft.com/office/drawing/2014/main" id="{5FEA1F66-CAD3-705C-D8C2-5EE8DF0DD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853" y="462437"/>
            <a:ext cx="4196208" cy="561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AB15857-0DB9-8CEA-0EAC-40E5E5AEFCD4}"/>
              </a:ext>
            </a:extLst>
          </p:cNvPr>
          <p:cNvSpPr txBox="1"/>
          <p:nvPr/>
        </p:nvSpPr>
        <p:spPr>
          <a:xfrm>
            <a:off x="8448272" y="1744762"/>
            <a:ext cx="21926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Vaswani, Ashish, et al. "Attention is all you need." Advances in neural information processing systems 30 (2017).</a:t>
            </a:r>
            <a:endParaRPr lang="zh-TW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60E25F-5259-576F-9BDF-7019CC4A4FA0}"/>
              </a:ext>
            </a:extLst>
          </p:cNvPr>
          <p:cNvSpPr/>
          <p:nvPr/>
        </p:nvSpPr>
        <p:spPr>
          <a:xfrm>
            <a:off x="4827853" y="2452648"/>
            <a:ext cx="2003580" cy="221435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C0C33F9F-256F-1C9D-4227-994819C2B865}"/>
                  </a:ext>
                </a:extLst>
              </p:cNvPr>
              <p:cNvSpPr txBox="1"/>
              <p:nvPr/>
            </p:nvSpPr>
            <p:spPr>
              <a:xfrm>
                <a:off x="3229023" y="4468567"/>
                <a:ext cx="1646156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b="0" dirty="0">
                    <a:solidFill>
                      <a:srgbClr val="FF9300"/>
                    </a:solidFill>
                  </a:rPr>
                  <a:t>input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solidFill>
                          <a:srgbClr val="FF93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zh-TW" altLang="en-US" i="1" smtClean="0">
                        <a:solidFill>
                          <a:srgbClr val="FF93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kumimoji="1" lang="en-US" altLang="zh-TW" b="0" i="1" smtClean="0">
                        <a:solidFill>
                          <a:srgbClr val="FF93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kumimoji="1" lang="en-US" altLang="zh-TW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TW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zh-TW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kumimoji="1" lang="en-US" altLang="zh-TW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kumimoji="1" lang="en-US" altLang="zh-TW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kumimoji="1" lang="en-US" altLang="zh-TW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kumimoji="1" lang="zh-TW" altLang="en-US" dirty="0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C0C33F9F-256F-1C9D-4227-994819C2B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023" y="4468567"/>
                <a:ext cx="1646156" cy="374270"/>
              </a:xfrm>
              <a:prstGeom prst="rect">
                <a:avLst/>
              </a:prstGeom>
              <a:blipFill>
                <a:blip r:embed="rId4"/>
                <a:stretch>
                  <a:fillRect l="-3077" t="-6452" b="-225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5C14CD1-53C0-CEDD-B1D8-789025189659}"/>
                  </a:ext>
                </a:extLst>
              </p:cNvPr>
              <p:cNvSpPr txBox="1"/>
              <p:nvPr/>
            </p:nvSpPr>
            <p:spPr>
              <a:xfrm>
                <a:off x="3112805" y="2202298"/>
                <a:ext cx="1878591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b="0" dirty="0">
                    <a:solidFill>
                      <a:srgbClr val="FF9300"/>
                    </a:solidFill>
                  </a:rPr>
                  <a:t>o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TW" b="0" i="0" smtClean="0">
                        <a:solidFill>
                          <a:srgbClr val="FF9300"/>
                        </a:solidFill>
                        <a:latin typeface="Cambria Math" panose="02040503050406030204" pitchFamily="18" charset="0"/>
                      </a:rPr>
                      <m:t>utput</m:t>
                    </m:r>
                    <m:r>
                      <a:rPr kumimoji="1" lang="en-US" altLang="zh-TW" b="0" i="1" smtClean="0">
                        <a:solidFill>
                          <a:srgbClr val="FF93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zh-TW" altLang="en-US" i="1" smtClean="0">
                        <a:solidFill>
                          <a:srgbClr val="FF93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kumimoji="1" lang="en-US" altLang="zh-TW" b="0" i="1" smtClean="0">
                        <a:solidFill>
                          <a:srgbClr val="FF93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kumimoji="1" lang="en-US" altLang="zh-TW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TW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zh-TW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kumimoji="1" lang="en-US" altLang="zh-TW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kumimoji="1" lang="en-US" altLang="zh-TW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kumimoji="1" lang="en-US" altLang="zh-TW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kumimoji="1" lang="zh-TW" altLang="en-US" dirty="0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5C14CD1-53C0-CEDD-B1D8-789025189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2805" y="2202298"/>
                <a:ext cx="1878591" cy="374270"/>
              </a:xfrm>
              <a:prstGeom prst="rect">
                <a:avLst/>
              </a:prstGeom>
              <a:blipFill>
                <a:blip r:embed="rId5"/>
                <a:stretch>
                  <a:fillRect l="-3356" t="-6452" b="-225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CC8B8A0D-B071-0312-F4A1-FA1EB69D24BE}"/>
              </a:ext>
            </a:extLst>
          </p:cNvPr>
          <p:cNvSpPr txBox="1"/>
          <p:nvPr/>
        </p:nvSpPr>
        <p:spPr>
          <a:xfrm>
            <a:off x="1474122" y="2682662"/>
            <a:ext cx="237435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Input, output dimension match! </a:t>
            </a:r>
          </a:p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We can have multiple encoders stacked up, to increase the number of trainable parameters. 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D8D7EF1-351B-7E6A-959F-805DFB1C6F46}"/>
              </a:ext>
            </a:extLst>
          </p:cNvPr>
          <p:cNvSpPr txBox="1"/>
          <p:nvPr/>
        </p:nvSpPr>
        <p:spPr>
          <a:xfrm>
            <a:off x="4052100" y="3199402"/>
            <a:ext cx="8162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600" dirty="0">
                <a:solidFill>
                  <a:srgbClr val="FF9300"/>
                </a:solidFill>
              </a:rPr>
              <a:t>N *</a:t>
            </a:r>
            <a:endParaRPr kumimoji="1" lang="zh-TW" altLang="en-US" sz="3600" dirty="0">
              <a:solidFill>
                <a:srgbClr val="FF9300"/>
              </a:solidFill>
            </a:endParaRPr>
          </a:p>
        </p:txBody>
      </p:sp>
      <p:sp>
        <p:nvSpPr>
          <p:cNvPr id="13" name="標題 8">
            <a:extLst>
              <a:ext uri="{FF2B5EF4-FFF2-40B4-BE49-F238E27FC236}">
                <a16:creationId xmlns:a16="http://schemas.microsoft.com/office/drawing/2014/main" id="{96E5584D-C873-0246-547C-D21307915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/>
          <a:p>
            <a:r>
              <a:rPr kumimoji="1" lang="en-US" altLang="zh-TW" dirty="0">
                <a:cs typeface="Calibri" panose="020F0502020204030204" pitchFamily="34" charset="0"/>
              </a:rPr>
              <a:t>Number of Layers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0640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D32678-E3F3-1AC0-177F-95FBBE4D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Outline of Transformer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7DDE1C-CF0A-79E7-FBE5-7EF521BF2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1C71EC8-1B57-4201-3E94-FC9DC6C10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780" y="1530220"/>
            <a:ext cx="3619047" cy="5159829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5312BF7-A272-740A-C7A1-E7AF231CC6D5}"/>
              </a:ext>
            </a:extLst>
          </p:cNvPr>
          <p:cNvSpPr txBox="1"/>
          <p:nvPr/>
        </p:nvSpPr>
        <p:spPr>
          <a:xfrm>
            <a:off x="9165836" y="1440227"/>
            <a:ext cx="23963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Vaswani, Ashish, et al. "Attention is all you need." </a:t>
            </a:r>
            <a:r>
              <a:rPr lang="en-US" altLang="zh-TW" sz="100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NeurIPS</a:t>
            </a:r>
            <a:r>
              <a:rPr lang="en-US" altLang="zh-TW" sz="10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(2017).</a:t>
            </a:r>
            <a:endParaRPr lang="zh-TW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47FF5F-8BF6-425E-157A-5FDEB514FDA7}"/>
              </a:ext>
            </a:extLst>
          </p:cNvPr>
          <p:cNvSpPr/>
          <p:nvPr/>
        </p:nvSpPr>
        <p:spPr>
          <a:xfrm>
            <a:off x="5169161" y="3741576"/>
            <a:ext cx="858417" cy="3452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AF1798C-4899-A3A5-9634-D1AB6AC6C4CE}"/>
              </a:ext>
            </a:extLst>
          </p:cNvPr>
          <p:cNvSpPr/>
          <p:nvPr/>
        </p:nvSpPr>
        <p:spPr>
          <a:xfrm>
            <a:off x="6403912" y="2904931"/>
            <a:ext cx="858417" cy="3452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5A15AA51-89E7-A906-92F6-D0501CDE4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260" y="2030887"/>
            <a:ext cx="3489649" cy="2438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Feed Forward Networks:</a:t>
            </a:r>
          </a:p>
          <a:p>
            <a:pPr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Simply multiply by a weight matrix (MLP). </a:t>
            </a:r>
          </a:p>
          <a:p>
            <a:pPr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Used to project to a specific dimension. 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0792B1-FEC6-F57C-965C-7B83786DFF15}"/>
              </a:ext>
            </a:extLst>
          </p:cNvPr>
          <p:cNvSpPr/>
          <p:nvPr/>
        </p:nvSpPr>
        <p:spPr>
          <a:xfrm>
            <a:off x="6403911" y="2295330"/>
            <a:ext cx="858417" cy="2546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851945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ECFD3-9F9E-D486-2DC7-84073400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C0D99D-1E40-8E98-9837-A229A457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a typeface="新細明體"/>
                <a:cs typeface="Calibri Light"/>
              </a:rPr>
              <a:t>[Recap] Text Generation with RNN</a:t>
            </a:r>
            <a:endParaRPr lang="zh-TW" altLang="en-US" dirty="0">
              <a:ea typeface="新細明體"/>
              <a:cs typeface="Calibri Light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44121A3-4B88-E98F-8D6C-0396D775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47</a:t>
            </a:fld>
            <a:endParaRPr lang="zh-TW" altLang="en-US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C8F4C0A3-FA3F-2E2B-F8BE-653E57712662}"/>
              </a:ext>
            </a:extLst>
          </p:cNvPr>
          <p:cNvSpPr/>
          <p:nvPr/>
        </p:nvSpPr>
        <p:spPr>
          <a:xfrm>
            <a:off x="2455649" y="5222793"/>
            <a:ext cx="673768" cy="571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love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74BF1484-9D99-02A5-AAAF-EE9BBEFB506F}"/>
              </a:ext>
            </a:extLst>
          </p:cNvPr>
          <p:cNvSpPr/>
          <p:nvPr/>
        </p:nvSpPr>
        <p:spPr>
          <a:xfrm>
            <a:off x="1091281" y="5222792"/>
            <a:ext cx="673768" cy="571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22B29D0B-5991-2E5E-3F83-667A16EA833A}"/>
              </a:ext>
            </a:extLst>
          </p:cNvPr>
          <p:cNvSpPr/>
          <p:nvPr/>
        </p:nvSpPr>
        <p:spPr>
          <a:xfrm>
            <a:off x="3802954" y="5222792"/>
            <a:ext cx="673768" cy="571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an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" name="直線箭頭接點 2">
            <a:extLst>
              <a:ext uri="{FF2B5EF4-FFF2-40B4-BE49-F238E27FC236}">
                <a16:creationId xmlns:a16="http://schemas.microsoft.com/office/drawing/2014/main" id="{B6F1BF5D-E0DF-596A-0806-DB62092410DE}"/>
              </a:ext>
            </a:extLst>
          </p:cNvPr>
          <p:cNvCxnSpPr>
            <a:cxnSpLocks/>
          </p:cNvCxnSpPr>
          <p:nvPr/>
        </p:nvCxnSpPr>
        <p:spPr>
          <a:xfrm flipV="1">
            <a:off x="1417435" y="4635584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A74271B2-06A7-502A-FC23-4C6E28205970}"/>
              </a:ext>
            </a:extLst>
          </p:cNvPr>
          <p:cNvSpPr/>
          <p:nvPr/>
        </p:nvSpPr>
        <p:spPr>
          <a:xfrm>
            <a:off x="996132" y="3813918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B9775F-52E9-275E-3013-33A5AE9299C9}"/>
              </a:ext>
            </a:extLst>
          </p:cNvPr>
          <p:cNvSpPr/>
          <p:nvPr/>
        </p:nvSpPr>
        <p:spPr>
          <a:xfrm>
            <a:off x="2365865" y="3813918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A8E273-92C8-B725-9D20-B5D11A1BACFB}"/>
              </a:ext>
            </a:extLst>
          </p:cNvPr>
          <p:cNvSpPr/>
          <p:nvPr/>
        </p:nvSpPr>
        <p:spPr>
          <a:xfrm>
            <a:off x="3718535" y="3813917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71962B3F-9FA6-0220-1AF1-6586D948FF0E}"/>
              </a:ext>
            </a:extLst>
          </p:cNvPr>
          <p:cNvCxnSpPr>
            <a:cxnSpLocks/>
          </p:cNvCxnSpPr>
          <p:nvPr/>
        </p:nvCxnSpPr>
        <p:spPr>
          <a:xfrm flipV="1">
            <a:off x="2787168" y="4635585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CB4E6377-CCC8-2632-4A20-88A949727A04}"/>
              </a:ext>
            </a:extLst>
          </p:cNvPr>
          <p:cNvCxnSpPr>
            <a:cxnSpLocks/>
          </p:cNvCxnSpPr>
          <p:nvPr/>
        </p:nvCxnSpPr>
        <p:spPr>
          <a:xfrm flipV="1">
            <a:off x="4141007" y="4635584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F1FF3DF9-C6C8-FDCE-E3CE-61925F28344B}"/>
              </a:ext>
            </a:extLst>
          </p:cNvPr>
          <p:cNvCxnSpPr>
            <a:cxnSpLocks/>
          </p:cNvCxnSpPr>
          <p:nvPr/>
        </p:nvCxnSpPr>
        <p:spPr>
          <a:xfrm>
            <a:off x="1880704" y="4197320"/>
            <a:ext cx="454165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1D44DBB5-ED82-02A3-9302-A42011057600}"/>
              </a:ext>
            </a:extLst>
          </p:cNvPr>
          <p:cNvCxnSpPr>
            <a:cxnSpLocks/>
          </p:cNvCxnSpPr>
          <p:nvPr/>
        </p:nvCxnSpPr>
        <p:spPr>
          <a:xfrm>
            <a:off x="3264370" y="4197320"/>
            <a:ext cx="454165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箭頭接點 32">
            <a:extLst>
              <a:ext uri="{FF2B5EF4-FFF2-40B4-BE49-F238E27FC236}">
                <a16:creationId xmlns:a16="http://schemas.microsoft.com/office/drawing/2014/main" id="{257328A5-5F55-A752-538F-ABF645111174}"/>
              </a:ext>
            </a:extLst>
          </p:cNvPr>
          <p:cNvCxnSpPr>
            <a:cxnSpLocks/>
          </p:cNvCxnSpPr>
          <p:nvPr/>
        </p:nvCxnSpPr>
        <p:spPr>
          <a:xfrm flipV="1">
            <a:off x="4132163" y="3226711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圓角矩形 33">
                <a:extLst>
                  <a:ext uri="{FF2B5EF4-FFF2-40B4-BE49-F238E27FC236}">
                    <a16:creationId xmlns:a16="http://schemas.microsoft.com/office/drawing/2014/main" id="{42772646-7307-A288-7C9B-A7DFA1BD87C6}"/>
                  </a:ext>
                </a:extLst>
              </p:cNvPr>
              <p:cNvSpPr/>
              <p:nvPr/>
            </p:nvSpPr>
            <p:spPr>
              <a:xfrm>
                <a:off x="3795279" y="2538249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</m:oMath>
                  </m:oMathPara>
                </a14:m>
                <a:endParaRPr kumimoji="1" lang="zh-TW" alt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圓角矩形 33">
                <a:extLst>
                  <a:ext uri="{FF2B5EF4-FFF2-40B4-BE49-F238E27FC236}">
                    <a16:creationId xmlns:a16="http://schemas.microsoft.com/office/drawing/2014/main" id="{42772646-7307-A288-7C9B-A7DFA1BD87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279" y="2538249"/>
                <a:ext cx="673768" cy="5715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矩形 35">
            <a:extLst>
              <a:ext uri="{FF2B5EF4-FFF2-40B4-BE49-F238E27FC236}">
                <a16:creationId xmlns:a16="http://schemas.microsoft.com/office/drawing/2014/main" id="{6C09E09E-1B5A-6B4B-0B4C-ABDBCCADEF4B}"/>
              </a:ext>
            </a:extLst>
          </p:cNvPr>
          <p:cNvSpPr/>
          <p:nvPr/>
        </p:nvSpPr>
        <p:spPr>
          <a:xfrm>
            <a:off x="5340637" y="2479771"/>
            <a:ext cx="1968284" cy="6884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Classification Layer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F504C4C2-7B73-596C-F469-CE40F29F2DF4}"/>
              </a:ext>
            </a:extLst>
          </p:cNvPr>
          <p:cNvCxnSpPr>
            <a:cxnSpLocks/>
          </p:cNvCxnSpPr>
          <p:nvPr/>
        </p:nvCxnSpPr>
        <p:spPr>
          <a:xfrm>
            <a:off x="4592137" y="2823999"/>
            <a:ext cx="6376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D522AE8D-1F2D-4249-2548-0DF2ADBD9008}"/>
              </a:ext>
            </a:extLst>
          </p:cNvPr>
          <p:cNvSpPr txBox="1"/>
          <p:nvPr/>
        </p:nvSpPr>
        <p:spPr>
          <a:xfrm>
            <a:off x="3148029" y="2048470"/>
            <a:ext cx="1968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Hidden size: 100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37B4C94E-E666-2B84-016F-D31C7068B918}"/>
                  </a:ext>
                </a:extLst>
              </p:cNvPr>
              <p:cNvSpPr/>
              <p:nvPr/>
            </p:nvSpPr>
            <p:spPr>
              <a:xfrm>
                <a:off x="5987895" y="4064084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kumimoji="1" lang="en-US" altLang="zh-TW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kumimoji="1" lang="zh-TW" alt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37B4C94E-E666-2B84-016F-D31C7068B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7895" y="4064084"/>
                <a:ext cx="673768" cy="5715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0">
            <a:extLst>
              <a:ext uri="{FF2B5EF4-FFF2-40B4-BE49-F238E27FC236}">
                <a16:creationId xmlns:a16="http://schemas.microsoft.com/office/drawing/2014/main" id="{82598EF1-AAEA-BC2D-6367-51A87950FCBF}"/>
              </a:ext>
            </a:extLst>
          </p:cNvPr>
          <p:cNvSpPr txBox="1"/>
          <p:nvPr/>
        </p:nvSpPr>
        <p:spPr>
          <a:xfrm>
            <a:off x="4992490" y="3667054"/>
            <a:ext cx="27270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(Hidden size </a:t>
            </a:r>
            <a:r>
              <a:rPr kumimoji="1" lang="en-US" altLang="zh-TW" sz="1600" dirty="0" err="1">
                <a:solidFill>
                  <a:srgbClr val="FF0000"/>
                </a:solidFill>
              </a:rPr>
              <a:t>Vocab_size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AD626588-EC2D-EEE2-4116-B55D7C483E57}"/>
              </a:ext>
            </a:extLst>
          </p:cNvPr>
          <p:cNvCxnSpPr>
            <a:cxnSpLocks/>
          </p:cNvCxnSpPr>
          <p:nvPr/>
        </p:nvCxnSpPr>
        <p:spPr>
          <a:xfrm>
            <a:off x="6348132" y="3247790"/>
            <a:ext cx="0" cy="3781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F2099F3C-F78E-6A2B-2947-F9C8737CFA85}"/>
              </a:ext>
            </a:extLst>
          </p:cNvPr>
          <p:cNvSpPr txBox="1"/>
          <p:nvPr/>
        </p:nvSpPr>
        <p:spPr>
          <a:xfrm>
            <a:off x="8430482" y="2323987"/>
            <a:ext cx="12467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a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apple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b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banana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elephant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eraser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zoo</a:t>
            </a:r>
            <a:endParaRPr kumimoji="1" lang="zh-TW" altLang="en-US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EB660368-A093-E449-96B6-37BABFD81213}"/>
              </a:ext>
            </a:extLst>
          </p:cNvPr>
          <p:cNvSpPr txBox="1"/>
          <p:nvPr/>
        </p:nvSpPr>
        <p:spPr>
          <a:xfrm>
            <a:off x="9528585" y="2323987"/>
            <a:ext cx="12467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0.0001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0.600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0.0001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0.0003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0.300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0.05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0.0001</a:t>
            </a:r>
            <a:endParaRPr kumimoji="1" lang="zh-TW" altLang="en-US" dirty="0"/>
          </a:p>
        </p:txBody>
      </p: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66956FDE-BE9A-324F-F66F-A8C197B137C2}"/>
              </a:ext>
            </a:extLst>
          </p:cNvPr>
          <p:cNvCxnSpPr/>
          <p:nvPr/>
        </p:nvCxnSpPr>
        <p:spPr>
          <a:xfrm flipV="1">
            <a:off x="7572381" y="2479771"/>
            <a:ext cx="728432" cy="1826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E9E6F8AF-77C6-BAD2-7887-E81A757F7645}"/>
              </a:ext>
            </a:extLst>
          </p:cNvPr>
          <p:cNvCxnSpPr>
            <a:cxnSpLocks/>
          </p:cNvCxnSpPr>
          <p:nvPr/>
        </p:nvCxnSpPr>
        <p:spPr>
          <a:xfrm flipH="1" flipV="1">
            <a:off x="7572381" y="4403283"/>
            <a:ext cx="728432" cy="1826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EEE00C0D-5F7E-C3ED-CA9C-8112CF99132E}"/>
              </a:ext>
            </a:extLst>
          </p:cNvPr>
          <p:cNvCxnSpPr/>
          <p:nvPr/>
        </p:nvCxnSpPr>
        <p:spPr>
          <a:xfrm>
            <a:off x="6843972" y="4349834"/>
            <a:ext cx="630978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右大括弧 52">
            <a:extLst>
              <a:ext uri="{FF2B5EF4-FFF2-40B4-BE49-F238E27FC236}">
                <a16:creationId xmlns:a16="http://schemas.microsoft.com/office/drawing/2014/main" id="{E09434B5-6FEC-D973-FCC9-0E540FD23417}"/>
              </a:ext>
            </a:extLst>
          </p:cNvPr>
          <p:cNvSpPr/>
          <p:nvPr/>
        </p:nvSpPr>
        <p:spPr>
          <a:xfrm>
            <a:off x="10501384" y="2417802"/>
            <a:ext cx="373278" cy="378268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2D8C42DF-7E9A-C921-36DB-8E5134655A89}"/>
              </a:ext>
            </a:extLst>
          </p:cNvPr>
          <p:cNvSpPr txBox="1"/>
          <p:nvPr/>
        </p:nvSpPr>
        <p:spPr>
          <a:xfrm>
            <a:off x="10859150" y="3982823"/>
            <a:ext cx="839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Vocab</a:t>
            </a:r>
          </a:p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size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A151BD34-8F4C-0447-E9B3-FEF499EC3283}"/>
              </a:ext>
            </a:extLst>
          </p:cNvPr>
          <p:cNvSpPr txBox="1"/>
          <p:nvPr/>
        </p:nvSpPr>
        <p:spPr>
          <a:xfrm>
            <a:off x="8416651" y="1937300"/>
            <a:ext cx="83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0070C0"/>
                </a:solidFill>
              </a:rPr>
              <a:t>Vocab</a:t>
            </a: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5EEBE339-6BDB-4693-61B8-51C7547502C9}"/>
              </a:ext>
            </a:extLst>
          </p:cNvPr>
          <p:cNvSpPr txBox="1"/>
          <p:nvPr/>
        </p:nvSpPr>
        <p:spPr>
          <a:xfrm>
            <a:off x="9513721" y="1937300"/>
            <a:ext cx="83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0070C0"/>
                </a:solidFill>
              </a:rPr>
              <a:t>Prob</a:t>
            </a:r>
          </a:p>
        </p:txBody>
      </p:sp>
    </p:spTree>
    <p:extLst>
      <p:ext uri="{BB962C8B-B14F-4D97-AF65-F5344CB8AC3E}">
        <p14:creationId xmlns:p14="http://schemas.microsoft.com/office/powerpoint/2010/main" val="31865735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A3F028-993D-F301-8C72-D86DFC095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cs typeface="Calibri" panose="020F0502020204030204" pitchFamily="34" charset="0"/>
              </a:rPr>
              <a:t>Transformers’ Achievements</a:t>
            </a:r>
            <a:endParaRPr kumimoji="1" lang="zh-TW" altLang="en-US" dirty="0"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EBF71A-B981-E505-92D2-44EEB882F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115203" cy="4023360"/>
          </a:xfrm>
        </p:spPr>
        <p:txBody>
          <a:bodyPr/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1. In original paper, State-of-The-Art (</a:t>
            </a:r>
            <a:r>
              <a:rPr kumimoji="1" lang="en-US" altLang="zh-TW" dirty="0" err="1">
                <a:latin typeface="Calibri" panose="020F0502020204030204" pitchFamily="34" charset="0"/>
                <a:cs typeface="Calibri" panose="020F0502020204030204" pitchFamily="34" charset="0"/>
              </a:rPr>
              <a:t>SoTA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) of machine translation. </a:t>
            </a:r>
          </a:p>
          <a:p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11D3E9-934D-9932-2A91-F9E4C2AA2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48</a:t>
            </a:fld>
            <a:endParaRPr 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4A17411-B717-645A-8507-E025B5B84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453980"/>
            <a:ext cx="7772400" cy="352348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42F3EFA5-FF43-F60E-C8CB-8C8F06602276}"/>
              </a:ext>
            </a:extLst>
          </p:cNvPr>
          <p:cNvSpPr txBox="1"/>
          <p:nvPr/>
        </p:nvSpPr>
        <p:spPr>
          <a:xfrm>
            <a:off x="2644685" y="5849295"/>
            <a:ext cx="79117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Vaswani, Ashish, et al. "Attention is all you need." Advances in neural information processing systems 30 (2017).</a:t>
            </a:r>
            <a:endParaRPr lang="zh-TW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4BD2B3E-ECBF-1D19-A7BD-E65A9B1A98FD}"/>
              </a:ext>
            </a:extLst>
          </p:cNvPr>
          <p:cNvSpPr txBox="1"/>
          <p:nvPr/>
        </p:nvSpPr>
        <p:spPr>
          <a:xfrm>
            <a:off x="2644685" y="6021103"/>
            <a:ext cx="60979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b="0" i="0" dirty="0">
                <a:solidFill>
                  <a:srgbClr val="000000"/>
                </a:solidFill>
                <a:effectLst/>
                <a:latin typeface="PingFang TC" panose="020B0400000000000000" pitchFamily="34" charset="-120"/>
                <a:ea typeface="PingFang TC" panose="020B0400000000000000" pitchFamily="34" charset="-120"/>
              </a:rPr>
              <a:t>https://</a:t>
            </a:r>
            <a:r>
              <a:rPr lang="en-US" altLang="zh-TW" sz="1200" b="0" i="0" dirty="0" err="1">
                <a:solidFill>
                  <a:srgbClr val="000000"/>
                </a:solidFill>
                <a:effectLst/>
                <a:latin typeface="PingFang TC" panose="020B0400000000000000" pitchFamily="34" charset="-120"/>
                <a:ea typeface="PingFang TC" panose="020B0400000000000000" pitchFamily="34" charset="-120"/>
              </a:rPr>
              <a:t>arxiv.org</a:t>
            </a:r>
            <a:r>
              <a:rPr lang="en-US" altLang="zh-TW" sz="1200" b="0" i="0" dirty="0">
                <a:solidFill>
                  <a:srgbClr val="000000"/>
                </a:solidFill>
                <a:effectLst/>
                <a:latin typeface="PingFang TC" panose="020B0400000000000000" pitchFamily="34" charset="-120"/>
                <a:ea typeface="PingFang TC" panose="020B0400000000000000" pitchFamily="34" charset="-120"/>
              </a:rPr>
              <a:t>/abs/1706.03762</a:t>
            </a:r>
            <a:endParaRPr lang="zh-TW" altLang="en-US" sz="12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ADC889A-8EAE-1581-53D1-1AA1EE7FD6AF}"/>
              </a:ext>
            </a:extLst>
          </p:cNvPr>
          <p:cNvSpPr txBox="1"/>
          <p:nvPr/>
        </p:nvSpPr>
        <p:spPr>
          <a:xfrm>
            <a:off x="830878" y="5210332"/>
            <a:ext cx="1721922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TW" sz="1400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 encoders, </a:t>
            </a:r>
          </a:p>
          <a:p>
            <a:r>
              <a:rPr kumimoji="1" lang="en-US" altLang="zh-TW" sz="1400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 decoders, </a:t>
            </a:r>
          </a:p>
          <a:p>
            <a:r>
              <a:rPr kumimoji="1" lang="en-US" altLang="zh-TW" sz="1400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 = 1024, 300K train steps.</a:t>
            </a:r>
            <a:endParaRPr kumimoji="1" lang="zh-TW" altLang="en-US" sz="1400" dirty="0">
              <a:ln w="0"/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B8D4DD5A-E706-B6F0-57ED-174E30069FCA}"/>
              </a:ext>
            </a:extLst>
          </p:cNvPr>
          <p:cNvCxnSpPr>
            <a:stCxn id="12" idx="3"/>
          </p:cNvCxnSpPr>
          <p:nvPr/>
        </p:nvCxnSpPr>
        <p:spPr>
          <a:xfrm>
            <a:off x="2552800" y="5687386"/>
            <a:ext cx="2379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C871A64-8FAB-C83E-4517-3E3017EF0ABA}"/>
              </a:ext>
            </a:extLst>
          </p:cNvPr>
          <p:cNvSpPr txBox="1"/>
          <p:nvPr/>
        </p:nvSpPr>
        <p:spPr>
          <a:xfrm>
            <a:off x="830878" y="4094317"/>
            <a:ext cx="1721922" cy="95410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TW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 encoders, </a:t>
            </a:r>
          </a:p>
          <a:p>
            <a:r>
              <a:rPr kumimoji="1" lang="en-US" altLang="zh-TW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 decoders, </a:t>
            </a:r>
          </a:p>
          <a:p>
            <a:r>
              <a:rPr kumimoji="1" lang="en-US" altLang="zh-TW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 = 512, 100K train steps.</a:t>
            </a:r>
            <a:endParaRPr kumimoji="1" lang="zh-TW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BF4CF4AA-1081-43CF-B15C-05EF6938393B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2552800" y="4571371"/>
            <a:ext cx="237901" cy="911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40600898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7C726B-1C00-4F26-0746-371876643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cs typeface="Calibri" panose="020F0502020204030204" pitchFamily="34" charset="0"/>
              </a:rPr>
              <a:t>Transformer Variants </a:t>
            </a:r>
            <a:r>
              <a:rPr kumimoji="1" lang="en-US" altLang="zh-TW" sz="2800" dirty="0">
                <a:latin typeface="Calibri" panose="020F0502020204030204" pitchFamily="34" charset="0"/>
                <a:cs typeface="Calibri" panose="020F0502020204030204" pitchFamily="34" charset="0"/>
              </a:rPr>
              <a:t>(there are many more)</a:t>
            </a:r>
            <a:endParaRPr kumimoji="1" lang="zh-TW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502E08-6439-3441-5CA6-525857B6C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Universal Transformer</a:t>
            </a:r>
          </a:p>
          <a:p>
            <a:pPr lvl="1"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Adds Adaptive Computation Time</a:t>
            </a:r>
          </a:p>
          <a:p>
            <a:pPr lvl="1"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TW" dirty="0" err="1">
                <a:latin typeface="Calibri" panose="020F0502020204030204" pitchFamily="34" charset="0"/>
                <a:cs typeface="Calibri" panose="020F0502020204030204" pitchFamily="34" charset="0"/>
              </a:rPr>
              <a:t>Dehghani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, Mostafa, et al. "Universal transformers." </a:t>
            </a:r>
            <a:r>
              <a:rPr kumimoji="1" lang="en-US" altLang="zh-TW" dirty="0" err="1">
                <a:latin typeface="Calibri" panose="020F0502020204030204" pitchFamily="34" charset="0"/>
                <a:cs typeface="Calibri" panose="020F0502020204030204" pitchFamily="34" charset="0"/>
              </a:rPr>
              <a:t>arXiv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preprint arXiv:1807.03819 (2018). </a:t>
            </a:r>
          </a:p>
          <a:p>
            <a:pPr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TW" dirty="0" err="1">
                <a:latin typeface="Calibri" panose="020F0502020204030204" pitchFamily="34" charset="0"/>
                <a:cs typeface="Calibri" panose="020F0502020204030204" pitchFamily="34" charset="0"/>
              </a:rPr>
              <a:t>Longformer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Tackles long documents</a:t>
            </a:r>
          </a:p>
          <a:p>
            <a:pPr lvl="1"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TW" dirty="0" err="1">
                <a:latin typeface="Calibri" panose="020F0502020204030204" pitchFamily="34" charset="0"/>
                <a:cs typeface="Calibri" panose="020F0502020204030204" pitchFamily="34" charset="0"/>
              </a:rPr>
              <a:t>Iz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TW" dirty="0" err="1">
                <a:latin typeface="Calibri" panose="020F0502020204030204" pitchFamily="34" charset="0"/>
                <a:cs typeface="Calibri" panose="020F0502020204030204" pitchFamily="34" charset="0"/>
              </a:rPr>
              <a:t>Beltagy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, et al. (2020). </a:t>
            </a:r>
            <a:r>
              <a:rPr kumimoji="1" lang="en-US" altLang="zh-TW" dirty="0" err="1">
                <a:latin typeface="Calibri" panose="020F0502020204030204" pitchFamily="34" charset="0"/>
                <a:cs typeface="Calibri" panose="020F0502020204030204" pitchFamily="34" charset="0"/>
              </a:rPr>
              <a:t>Longformer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: The Long-Document Transformer. arXiv:2004.05150.</a:t>
            </a:r>
          </a:p>
          <a:p>
            <a:pPr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TW" dirty="0" err="1">
                <a:latin typeface="Calibri" panose="020F0502020204030204" pitchFamily="34" charset="0"/>
                <a:cs typeface="Calibri" panose="020F0502020204030204" pitchFamily="34" charset="0"/>
              </a:rPr>
              <a:t>Roformer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Changes the design of positional encoding</a:t>
            </a:r>
          </a:p>
          <a:p>
            <a:pPr lvl="1"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TW" dirty="0" err="1">
                <a:latin typeface="Calibri" panose="020F0502020204030204" pitchFamily="34" charset="0"/>
                <a:cs typeface="Calibri" panose="020F0502020204030204" pitchFamily="34" charset="0"/>
              </a:rPr>
              <a:t>Su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1" lang="en-US" altLang="zh-TW" dirty="0" err="1">
                <a:latin typeface="Calibri" panose="020F0502020204030204" pitchFamily="34" charset="0"/>
                <a:cs typeface="Calibri" panose="020F0502020204030204" pitchFamily="34" charset="0"/>
              </a:rPr>
              <a:t>Jianlin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, et al. "</a:t>
            </a:r>
            <a:r>
              <a:rPr kumimoji="1" lang="en-US" altLang="zh-TW" dirty="0" err="1">
                <a:latin typeface="Calibri" panose="020F0502020204030204" pitchFamily="34" charset="0"/>
                <a:cs typeface="Calibri" panose="020F0502020204030204" pitchFamily="34" charset="0"/>
              </a:rPr>
              <a:t>RoFormer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: Enhanced Transformer with Rotary Position Embedding. </a:t>
            </a:r>
            <a:r>
              <a:rPr kumimoji="1" lang="en-US" altLang="zh-TW" dirty="0" err="1">
                <a:latin typeface="Calibri" panose="020F0502020204030204" pitchFamily="34" charset="0"/>
                <a:cs typeface="Calibri" panose="020F0502020204030204" pitchFamily="34" charset="0"/>
              </a:rPr>
              <a:t>CoRR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abs/2104.09864 (2021)." </a:t>
            </a:r>
            <a:r>
              <a:rPr kumimoji="1" lang="en-US" altLang="zh-TW" dirty="0" err="1">
                <a:latin typeface="Calibri" panose="020F0502020204030204" pitchFamily="34" charset="0"/>
                <a:cs typeface="Calibri" panose="020F0502020204030204" pitchFamily="34" charset="0"/>
              </a:rPr>
              <a:t>arXiv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preprint arXiv:2104.09864 (2021).</a:t>
            </a:r>
          </a:p>
          <a:p>
            <a:pPr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Vision Transformer </a:t>
            </a:r>
          </a:p>
          <a:p>
            <a:pPr lvl="1"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Tackles vision tasks</a:t>
            </a:r>
          </a:p>
          <a:p>
            <a:pPr lvl="1">
              <a:buFont typeface="Wingdings" pitchFamily="2" charset="2"/>
              <a:buChar char="n"/>
            </a:pPr>
            <a:r>
              <a:rPr kumimoji="1" lang="en-US" altLang="zh-TW" dirty="0">
                <a:solidFill>
                  <a:srgbClr val="2125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>
                <a:solidFill>
                  <a:srgbClr val="2125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Alexey </a:t>
            </a:r>
            <a:r>
              <a:rPr lang="en-US" altLang="zh-TW" dirty="0" err="1">
                <a:solidFill>
                  <a:srgbClr val="2125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Dosovitskiy</a:t>
            </a:r>
            <a:r>
              <a:rPr lang="en-US" altLang="zh-TW" dirty="0">
                <a:solidFill>
                  <a:srgbClr val="2125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et al. “An Image is Worth 16x16 Words: Transformers for Image Recognition at Scale.” International Conference on Learning Representations. 2021.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itchFamily="2" charset="2"/>
              <a:buChar char="n"/>
            </a:pP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2F75FD5-AF41-3278-FC08-A0E2F4C06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23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15B755-B59E-78F1-C229-3D5EFC27A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Tokens vs. words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515392-0725-C712-355C-3FAE0FA40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57E3D11-EF8F-B3E9-3530-C5B1CBFAB6A1}"/>
              </a:ext>
            </a:extLst>
          </p:cNvPr>
          <p:cNvSpPr txBox="1"/>
          <p:nvPr/>
        </p:nvSpPr>
        <p:spPr>
          <a:xfrm>
            <a:off x="653143" y="1586847"/>
            <a:ext cx="1091837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token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語言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模型在每個時間點處理的單位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word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是語言本身的單位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token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可以是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word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，也可以是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sub-word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一個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word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可以是一個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token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，但單純講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token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不一定指的是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word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TW" sz="2400" dirty="0">
              <a:ea typeface="Microsoft JhengHei" panose="020B0604030504040204" pitchFamily="34" charset="-120"/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4F6DF830-9CDD-8C5F-45AB-545D9E97A30F}"/>
              </a:ext>
            </a:extLst>
          </p:cNvPr>
          <p:cNvSpPr/>
          <p:nvPr/>
        </p:nvSpPr>
        <p:spPr>
          <a:xfrm>
            <a:off x="4172216" y="5387236"/>
            <a:ext cx="884809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world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8C399350-9E98-3C71-6579-A9282FDBCF35}"/>
              </a:ext>
            </a:extLst>
          </p:cNvPr>
          <p:cNvSpPr/>
          <p:nvPr/>
        </p:nvSpPr>
        <p:spPr>
          <a:xfrm>
            <a:off x="3106416" y="5387236"/>
            <a:ext cx="985301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Hello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51F3B38E-2962-C25B-1533-E0C05B928326}"/>
              </a:ext>
            </a:extLst>
          </p:cNvPr>
          <p:cNvSpPr/>
          <p:nvPr/>
        </p:nvSpPr>
        <p:spPr>
          <a:xfrm>
            <a:off x="2040618" y="5387236"/>
            <a:ext cx="985301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print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62DCC137-6940-EAB5-275A-5ED12D2AAE70}"/>
              </a:ext>
            </a:extLst>
          </p:cNvPr>
          <p:cNvSpPr/>
          <p:nvPr/>
        </p:nvSpPr>
        <p:spPr>
          <a:xfrm>
            <a:off x="9878400" y="5380881"/>
            <a:ext cx="861974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world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DFF3ACD9-FB05-147F-476F-3029E94C9C8E}"/>
              </a:ext>
            </a:extLst>
          </p:cNvPr>
          <p:cNvSpPr/>
          <p:nvPr/>
        </p:nvSpPr>
        <p:spPr>
          <a:xfrm>
            <a:off x="8679092" y="5380881"/>
            <a:ext cx="662185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Hell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B5EBCC73-E148-0868-C72C-3953BCDB6701}"/>
              </a:ext>
            </a:extLst>
          </p:cNvPr>
          <p:cNvSpPr/>
          <p:nvPr/>
        </p:nvSpPr>
        <p:spPr>
          <a:xfrm>
            <a:off x="7973198" y="5385118"/>
            <a:ext cx="62452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t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7A9E4AFB-C680-BFD6-72FB-E3E8199DBE54}"/>
              </a:ext>
            </a:extLst>
          </p:cNvPr>
          <p:cNvSpPr/>
          <p:nvPr/>
        </p:nvSpPr>
        <p:spPr>
          <a:xfrm>
            <a:off x="6749166" y="5385118"/>
            <a:ext cx="399292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I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7E48A54A-A1AA-CA19-190E-CDAD65D44FD5}"/>
              </a:ext>
            </a:extLst>
          </p:cNvPr>
          <p:cNvSpPr/>
          <p:nvPr/>
        </p:nvSpPr>
        <p:spPr>
          <a:xfrm>
            <a:off x="9422466" y="5380881"/>
            <a:ext cx="374745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o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6E229539-8745-33ED-9FB1-D1781B059636}"/>
              </a:ext>
            </a:extLst>
          </p:cNvPr>
          <p:cNvSpPr/>
          <p:nvPr/>
        </p:nvSpPr>
        <p:spPr>
          <a:xfrm>
            <a:off x="7260210" y="5386398"/>
            <a:ext cx="64682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 err="1">
                <a:solidFill>
                  <a:schemeClr val="tx1"/>
                </a:solidFill>
              </a:rPr>
              <a:t>prin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482C3455-2051-ABB5-428F-CC2222CA7A7A}"/>
              </a:ext>
            </a:extLst>
          </p:cNvPr>
          <p:cNvSpPr/>
          <p:nvPr/>
        </p:nvSpPr>
        <p:spPr>
          <a:xfrm>
            <a:off x="1529574" y="5382999"/>
            <a:ext cx="399292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I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176BEA7-D296-7561-C83D-7A2725B15E24}"/>
              </a:ext>
            </a:extLst>
          </p:cNvPr>
          <p:cNvSpPr txBox="1"/>
          <p:nvPr/>
        </p:nvSpPr>
        <p:spPr>
          <a:xfrm>
            <a:off x="1600012" y="4703550"/>
            <a:ext cx="3317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2000" b="1" dirty="0">
                <a:ea typeface="Microsoft JhengHei" panose="020B0604030504040204" pitchFamily="34" charset="-120"/>
              </a:rPr>
              <a:t>Traditional word tokenization</a:t>
            </a:r>
            <a:endParaRPr kumimoji="1" lang="zh-TW" altLang="en-US" sz="2000" dirty="0">
              <a:ea typeface="Microsoft JhengHei" panose="020B0604030504040204" pitchFamily="34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6F0BE53B-65E6-B251-E39D-9B5D2B8F7AEC}"/>
              </a:ext>
            </a:extLst>
          </p:cNvPr>
          <p:cNvSpPr txBox="1"/>
          <p:nvPr/>
        </p:nvSpPr>
        <p:spPr>
          <a:xfrm>
            <a:off x="7345238" y="4703550"/>
            <a:ext cx="26677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2000" b="1" dirty="0">
                <a:ea typeface="Microsoft JhengHei" panose="020B0604030504040204" pitchFamily="34" charset="-120"/>
              </a:rPr>
              <a:t>Sub-word Tokenization</a:t>
            </a:r>
            <a:endParaRPr kumimoji="1" lang="zh-TW" altLang="en-US" sz="20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FD811F4-CF95-0F0A-998B-13F3617D02FD}"/>
              </a:ext>
            </a:extLst>
          </p:cNvPr>
          <p:cNvSpPr txBox="1"/>
          <p:nvPr/>
        </p:nvSpPr>
        <p:spPr>
          <a:xfrm>
            <a:off x="7372386" y="6156668"/>
            <a:ext cx="2651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Transformer</a:t>
            </a:r>
            <a:r>
              <a:rPr kumimoji="1" lang="zh-TW" altLang="en-US" dirty="0">
                <a:solidFill>
                  <a:srgbClr val="FF0000"/>
                </a:solidFill>
              </a:rPr>
              <a:t> 採用此方式</a:t>
            </a:r>
          </a:p>
        </p:txBody>
      </p:sp>
    </p:spTree>
    <p:extLst>
      <p:ext uri="{BB962C8B-B14F-4D97-AF65-F5344CB8AC3E}">
        <p14:creationId xmlns:p14="http://schemas.microsoft.com/office/powerpoint/2010/main" val="5269531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2EEEA3-0BCC-9E2B-66DF-C3F22B193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Transformer</a:t>
            </a:r>
            <a:r>
              <a:rPr kumimoji="1" lang="zh-TW" altLang="en-US" dirty="0"/>
              <a:t> 架構常用於現代</a:t>
            </a:r>
            <a:r>
              <a:rPr kumimoji="1" lang="en-US" altLang="zh-TW" dirty="0"/>
              <a:t> AI </a:t>
            </a:r>
            <a:r>
              <a:rPr kumimoji="1" lang="zh-TW" altLang="en-US" dirty="0"/>
              <a:t>模型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38ECEB-E461-F405-08AF-BBD30D6FF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51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E5F2EB2-6F05-E173-ADF7-F273D8A8C9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243" y="2612572"/>
            <a:ext cx="1822278" cy="303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9DCC39C4-31D1-7D67-F204-9A314EF294B9}"/>
              </a:ext>
            </a:extLst>
          </p:cNvPr>
          <p:cNvSpPr txBox="1"/>
          <p:nvPr/>
        </p:nvSpPr>
        <p:spPr>
          <a:xfrm>
            <a:off x="653143" y="2257205"/>
            <a:ext cx="4627984" cy="234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" altLang="zh-TW" sz="2000" dirty="0"/>
              <a:t>For example: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dirty="0"/>
              <a:t>BERT (Bidirectional encoder representations from transformers)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hlinkClick r:id="rId3"/>
              </a:rPr>
              <a:t>Devlin et al., 2018</a:t>
            </a:r>
            <a:endParaRPr kumimoji="1" lang="en-US" altLang="zh-TW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GPT series</a:t>
            </a:r>
            <a:endParaRPr kumimoji="1" lang="zh-TW" altLang="en-US" sz="20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0A49A49-DDFB-27EB-4B47-7324B570C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6703" y="1548882"/>
            <a:ext cx="3619047" cy="515982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2D3EF54-78A3-9F8F-16DB-7E94E0724720}"/>
              </a:ext>
            </a:extLst>
          </p:cNvPr>
          <p:cNvSpPr/>
          <p:nvPr/>
        </p:nvSpPr>
        <p:spPr>
          <a:xfrm>
            <a:off x="7756703" y="3237726"/>
            <a:ext cx="1793196" cy="333102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08EEEA7-230D-3111-16CC-0F5AE58AFFE6}"/>
              </a:ext>
            </a:extLst>
          </p:cNvPr>
          <p:cNvSpPr txBox="1"/>
          <p:nvPr/>
        </p:nvSpPr>
        <p:spPr>
          <a:xfrm>
            <a:off x="6586864" y="4662588"/>
            <a:ext cx="953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solidFill>
                  <a:srgbClr val="FF9300"/>
                </a:solidFill>
              </a:rPr>
              <a:t>Encoder</a:t>
            </a:r>
            <a:endParaRPr kumimoji="1" lang="zh-TW" altLang="en-US" b="1" dirty="0">
              <a:solidFill>
                <a:srgbClr val="FF93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D20F2A0-3E29-A390-9125-9D6796EB4891}"/>
              </a:ext>
            </a:extLst>
          </p:cNvPr>
          <p:cNvSpPr txBox="1"/>
          <p:nvPr/>
        </p:nvSpPr>
        <p:spPr>
          <a:xfrm>
            <a:off x="6806722" y="4251992"/>
            <a:ext cx="1026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N=12</a:t>
            </a:r>
            <a:endParaRPr kumimoji="1"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6BD3EBD-5F95-B31A-8A6B-4624EC80C199}"/>
              </a:ext>
            </a:extLst>
          </p:cNvPr>
          <p:cNvSpPr txBox="1"/>
          <p:nvPr/>
        </p:nvSpPr>
        <p:spPr>
          <a:xfrm>
            <a:off x="5401514" y="5691673"/>
            <a:ext cx="9703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(</a:t>
            </a:r>
            <a:r>
              <a:rPr kumimoji="1" lang="en" altLang="zh-TW" sz="1600" dirty="0"/>
              <a:t>BERT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7369921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3494F-1C3B-3D6B-A72E-E48366CA9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Additional Links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0565246-5560-F81C-59D7-7A88C4F93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8A1C55F-1531-41D1-3ADF-3B915E461B49}"/>
              </a:ext>
            </a:extLst>
          </p:cNvPr>
          <p:cNvSpPr txBox="1"/>
          <p:nvPr/>
        </p:nvSpPr>
        <p:spPr>
          <a:xfrm>
            <a:off x="653144" y="1806093"/>
            <a:ext cx="10918370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https://</a:t>
            </a:r>
            <a:r>
              <a:rPr kumimoji="1" lang="en-US" altLang="zh-TW" sz="2400" dirty="0" err="1"/>
              <a:t>nlp.seas.harvard.edu</a:t>
            </a:r>
            <a:r>
              <a:rPr kumimoji="1" lang="en-US" altLang="zh-TW" sz="2400" dirty="0"/>
              <a:t>/annotated-transformer/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https://</a:t>
            </a:r>
            <a:r>
              <a:rPr kumimoji="1" lang="en-US" altLang="zh-TW" sz="2400" dirty="0" err="1"/>
              <a:t>datascience.stackexchange.com</a:t>
            </a:r>
            <a:r>
              <a:rPr kumimoji="1" lang="en-US" altLang="zh-TW" sz="2400" dirty="0"/>
              <a:t>/questions/82451/why-is-10000-used-as-the-denominator-in-positional-encodings-in-the-transformer</a:t>
            </a:r>
          </a:p>
        </p:txBody>
      </p:sp>
    </p:spTree>
    <p:extLst>
      <p:ext uri="{BB962C8B-B14F-4D97-AF65-F5344CB8AC3E}">
        <p14:creationId xmlns:p14="http://schemas.microsoft.com/office/powerpoint/2010/main" val="27739329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47A50A0-BE83-714F-87D1-D56B21A39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Announcements</a:t>
            </a:r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5F8333C8-CA8D-E1F0-F37D-D27318425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663329-3583-EC83-64B0-F93DA6FF5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247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B4BB2F-EC1F-1942-C5BA-BF2D8C862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Project checkpoints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C906AD-7CDC-C0A3-BEBF-A34A414C5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466A18D-6FA5-9047-5902-5DC0B4DDE78C}"/>
              </a:ext>
            </a:extLst>
          </p:cNvPr>
          <p:cNvSpPr txBox="1"/>
          <p:nvPr/>
        </p:nvSpPr>
        <p:spPr>
          <a:xfrm>
            <a:off x="653144" y="1806093"/>
            <a:ext cx="1091837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strike="sngStrike" dirty="0">
                <a:ea typeface="Microsoft JhengHei" panose="020B0604030504040204" pitchFamily="34" charset="-120"/>
              </a:rPr>
              <a:t>Week 9: </a:t>
            </a:r>
            <a:r>
              <a:rPr kumimoji="1" lang="zh-TW" altLang="en-US" sz="2400" strike="sngStrike" dirty="0">
                <a:ea typeface="Microsoft JhengHei" panose="020B0604030504040204" pitchFamily="34" charset="-120"/>
              </a:rPr>
              <a:t>確定各組的題目</a:t>
            </a:r>
            <a:endParaRPr kumimoji="1" lang="en-US" altLang="zh-TW" sz="2400" strike="sngStrike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Week 12: </a:t>
            </a: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進度報告 </a:t>
            </a: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PPT (5 pages)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Week 14: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進度報告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PPT (5+5 pages), Presentations (selected teams)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Week 16: Final presentations for all teams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Week 16-17: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繳交書面報告以及程式碼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91607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72F72D-E5D1-0DDE-C1FF-D18DAF732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800" dirty="0">
                <a:ea typeface="Microsoft JhengHei" panose="020B0604030504040204" pitchFamily="34" charset="-120"/>
              </a:rPr>
              <a:t>Project</a:t>
            </a:r>
            <a:r>
              <a:rPr kumimoji="1" lang="en-US" altLang="zh-TW" dirty="0"/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各個階段分數佔比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30D8D9-00A2-AA7E-846E-861333C5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55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740BB514-B3C0-2706-E040-F93E69839E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281933"/>
              </p:ext>
            </p:extLst>
          </p:nvPr>
        </p:nvGraphicFramePr>
        <p:xfrm>
          <a:off x="653142" y="2304626"/>
          <a:ext cx="10700657" cy="3255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6818">
                  <a:extLst>
                    <a:ext uri="{9D8B030D-6E8A-4147-A177-3AD203B41FA5}">
                      <a16:colId xmlns:a16="http://schemas.microsoft.com/office/drawing/2014/main" val="3021830611"/>
                    </a:ext>
                  </a:extLst>
                </a:gridCol>
                <a:gridCol w="6156960">
                  <a:extLst>
                    <a:ext uri="{9D8B030D-6E8A-4147-A177-3AD203B41FA5}">
                      <a16:colId xmlns:a16="http://schemas.microsoft.com/office/drawing/2014/main" val="3683024315"/>
                    </a:ext>
                  </a:extLst>
                </a:gridCol>
                <a:gridCol w="1706879">
                  <a:extLst>
                    <a:ext uri="{9D8B030D-6E8A-4147-A177-3AD203B41FA5}">
                      <a16:colId xmlns:a16="http://schemas.microsoft.com/office/drawing/2014/main" val="2892346200"/>
                    </a:ext>
                  </a:extLst>
                </a:gridCol>
              </a:tblGrid>
              <a:tr h="585333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查核點 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週次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)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對象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: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繳交內容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分數佔比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6931947"/>
                  </a:ext>
                </a:extLst>
              </a:tr>
              <a:tr h="585333">
                <a:tc>
                  <a:txBody>
                    <a:bodyPr/>
                    <a:lstStyle/>
                    <a:p>
                      <a:r>
                        <a:rPr lang="en" altLang="zh-TW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Checkpoint1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(Week 12)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All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teams: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進度報告 </a:t>
                      </a:r>
                      <a:r>
                        <a:rPr lang="en" altLang="zh-TW" dirty="0">
                          <a:latin typeface="+mn-lt"/>
                          <a:ea typeface="Microsoft JhengHei" panose="020B0604030504040204" pitchFamily="34" charset="-120"/>
                        </a:rPr>
                        <a:t>PPT (5 pages)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檔案</a:t>
                      </a:r>
                      <a:endParaRPr lang="en" altLang="zh-TW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5%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7866771"/>
                  </a:ext>
                </a:extLst>
              </a:tr>
              <a:tr h="7261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Checkpoint2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(Week 14)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All teams: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 進度報告 </a:t>
                      </a:r>
                      <a:r>
                        <a:rPr lang="en" altLang="zh-TW" dirty="0">
                          <a:latin typeface="+mn-lt"/>
                          <a:ea typeface="Microsoft JhengHei" panose="020B0604030504040204" pitchFamily="34" charset="-120"/>
                        </a:rPr>
                        <a:t>PPT (5+5 pages*)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檔案</a:t>
                      </a:r>
                      <a:endParaRPr lang="en" altLang="zh-TW" dirty="0">
                        <a:latin typeface="+mn-lt"/>
                        <a:ea typeface="Microsoft JhengHei" panose="020B0604030504040204" pitchFamily="34" charset="-120"/>
                      </a:endParaRPr>
                    </a:p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Selected teams: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取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6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組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 (1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題目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2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組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)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於課堂中報告，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1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組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10min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5%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3711125"/>
                  </a:ext>
                </a:extLst>
              </a:tr>
              <a:tr h="585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Checkpoint3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(Week 16)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All teams: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最終口頭報告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15%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2299533"/>
                  </a:ext>
                </a:extLst>
              </a:tr>
              <a:tr h="585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Checkpoint4</a:t>
                      </a:r>
                      <a:r>
                        <a:rPr lang="zh-TW" altLang="en-US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en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Week 16-17)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All teams: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書面報告檔案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 (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含程式碼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)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、小平台 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(optional)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15%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1173830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380A544A-B20C-DC01-EA74-C3212CC709C5}"/>
              </a:ext>
            </a:extLst>
          </p:cNvPr>
          <p:cNvSpPr txBox="1"/>
          <p:nvPr/>
        </p:nvSpPr>
        <p:spPr>
          <a:xfrm>
            <a:off x="653142" y="568857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*</a:t>
            </a:r>
            <a:r>
              <a:rPr lang="zh-TW" altLang="en-US" dirty="0">
                <a:ea typeface="Microsoft JhengHei" panose="020B0604030504040204" pitchFamily="34" charset="-120"/>
              </a:rPr>
              <a:t>繼承</a:t>
            </a:r>
            <a:r>
              <a:rPr lang="en" altLang="zh-TW" dirty="0">
                <a:ea typeface="Microsoft JhengHei" panose="020B0604030504040204" pitchFamily="34" charset="-120"/>
              </a:rPr>
              <a:t>Checkpoint1</a:t>
            </a:r>
            <a:r>
              <a:rPr lang="zh-TW" altLang="en-US" dirty="0">
                <a:ea typeface="Microsoft JhengHei" panose="020B0604030504040204" pitchFamily="34" charset="-120"/>
              </a:rPr>
              <a:t>內容</a:t>
            </a:r>
            <a:r>
              <a:rPr lang="en-US" altLang="zh-TW" dirty="0">
                <a:ea typeface="Microsoft JhengHei" panose="020B0604030504040204" pitchFamily="34" charset="-120"/>
              </a:rPr>
              <a:t>+</a:t>
            </a:r>
            <a:r>
              <a:rPr lang="zh-TW" altLang="en-US" dirty="0">
                <a:ea typeface="Microsoft JhengHei" panose="020B0604030504040204" pitchFamily="34" charset="-120"/>
              </a:rPr>
              <a:t>實作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B64E78C-24D0-6BB5-B7BD-9324B370A080}"/>
              </a:ext>
            </a:extLst>
          </p:cNvPr>
          <p:cNvSpPr txBox="1"/>
          <p:nvPr/>
        </p:nvSpPr>
        <p:spPr>
          <a:xfrm>
            <a:off x="653142" y="180348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>
                <a:ea typeface="Microsoft JhengHei" panose="020B0604030504040204" pitchFamily="34" charset="-120"/>
              </a:rPr>
              <a:t>Final Project </a:t>
            </a:r>
            <a:r>
              <a:rPr lang="zh-TW" altLang="en-US" sz="2000" dirty="0">
                <a:ea typeface="Microsoft JhengHei" panose="020B0604030504040204" pitchFamily="34" charset="-120"/>
              </a:rPr>
              <a:t>佔學期總成績</a:t>
            </a:r>
            <a:r>
              <a:rPr lang="en-US" altLang="zh-TW" sz="2000" dirty="0">
                <a:ea typeface="Microsoft JhengHei" panose="020B0604030504040204" pitchFamily="34" charset="-120"/>
              </a:rPr>
              <a:t> 40%</a:t>
            </a:r>
            <a:endParaRPr lang="zh-TW" altLang="en-US" sz="20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601509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CD83C5C-EA61-C255-DF28-E9CFF9EE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065145"/>
            <a:ext cx="3200400" cy="727709"/>
          </a:xfrm>
        </p:spPr>
        <p:txBody>
          <a:bodyPr anchor="ctr">
            <a:normAutofit/>
          </a:bodyPr>
          <a:lstStyle/>
          <a:p>
            <a:r>
              <a:rPr lang="en-US" altLang="zh-TW" sz="4800" dirty="0"/>
              <a:t>Thank you!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0AC63-905C-E7E8-4AEA-D711150C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5CC2DB8D-FB34-E3BD-0CDD-276E352FE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802" y="2769461"/>
            <a:ext cx="4071257" cy="2046786"/>
          </a:xfrm>
        </p:spPr>
        <p:txBody>
          <a:bodyPr>
            <a:normAutofit fontScale="85000" lnSpcReduction="10000"/>
          </a:bodyPr>
          <a:lstStyle/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✉️ </a:t>
            </a:r>
            <a:r>
              <a:rPr kumimoji="1" lang="en-US" altLang="zh-TW" sz="3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TA: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劉美辰</a:t>
            </a:r>
          </a:p>
          <a:p>
            <a:pPr marL="0" indent="0">
              <a:buNone/>
            </a:pP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✉️ </a:t>
            </a: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m1461014@cgu.edu.tw</a:t>
            </a:r>
          </a:p>
          <a:p>
            <a:pPr marL="0" indent="0">
              <a:buNone/>
            </a:pP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365187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_template_DL" id="{E71C07C9-5718-B34F-9EA9-A4FDE47A262C}" vid="{F05AA8C9-6C58-904C-AE8A-42257BEE94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回顧</Template>
  <TotalTime>8695</TotalTime>
  <Words>3026</Words>
  <Application>Microsoft Macintosh PowerPoint</Application>
  <PresentationFormat>寬螢幕</PresentationFormat>
  <Paragraphs>970</Paragraphs>
  <Slides>56</Slides>
  <Notes>28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56</vt:i4>
      </vt:variant>
    </vt:vector>
  </HeadingPairs>
  <TitlesOfParts>
    <vt:vector size="65" baseType="lpstr">
      <vt:lpstr>Microsoft JhengHei</vt:lpstr>
      <vt:lpstr>新細明體</vt:lpstr>
      <vt:lpstr>PingFang TC</vt:lpstr>
      <vt:lpstr>Arial</vt:lpstr>
      <vt:lpstr>Calibri</vt:lpstr>
      <vt:lpstr>Cambria Math</vt:lpstr>
      <vt:lpstr>Courier New</vt:lpstr>
      <vt:lpstr>Wingdings</vt:lpstr>
      <vt:lpstr>回顧</vt:lpstr>
      <vt:lpstr>深度學習 Deep Learning</vt:lpstr>
      <vt:lpstr>Outline</vt:lpstr>
      <vt:lpstr>[Recap] Recurrent Neural Networks (RNN)</vt:lpstr>
      <vt:lpstr>[Recap] Text Generation with RNN</vt:lpstr>
      <vt:lpstr>[Recap] RNN 的記憶力意義</vt:lpstr>
      <vt:lpstr>序列模型 (Sequential Model)</vt:lpstr>
      <vt:lpstr>為什麼我們需要序列模型?</vt:lpstr>
      <vt:lpstr>深度學習常見模型架構</vt:lpstr>
      <vt:lpstr>RNN 與 CNN 作為序列模型的問題</vt:lpstr>
      <vt:lpstr>Encoder and Decoder</vt:lpstr>
      <vt:lpstr>Transformer</vt:lpstr>
      <vt:lpstr>Overview of Transformer</vt:lpstr>
      <vt:lpstr>Outline of Transformer</vt:lpstr>
      <vt:lpstr>Transformer</vt:lpstr>
      <vt:lpstr>Query (Q), Key (K), and Value (V)</vt:lpstr>
      <vt:lpstr>Query (Q), Key (K), and Value (V)</vt:lpstr>
      <vt:lpstr>QKV 的比喻</vt:lpstr>
      <vt:lpstr>為什麼 Transformers 可以平行化？</vt:lpstr>
      <vt:lpstr>Transformers 的權重值 (1/2)</vt:lpstr>
      <vt:lpstr>Transformers 的權重值 (2/2)</vt:lpstr>
      <vt:lpstr>Self-attention 的公式與縮放項</vt:lpstr>
      <vt:lpstr>Query (Q), Key (K), and Value (V)</vt:lpstr>
      <vt:lpstr>Query (Q), Key (K), and Value (V)</vt:lpstr>
      <vt:lpstr>Self-attention 動畫</vt:lpstr>
      <vt:lpstr>PowerPoint 簡報</vt:lpstr>
      <vt:lpstr>Multi-Head Attention (MHA)</vt:lpstr>
      <vt:lpstr>Multi-Head Attention (MHA)</vt:lpstr>
      <vt:lpstr>Query (Q), Key (K), and Value (V) with MHA</vt:lpstr>
      <vt:lpstr>Query (Q), Key (K), and Value (V) with MHA</vt:lpstr>
      <vt:lpstr>Input Dimensions of MHA</vt:lpstr>
      <vt:lpstr>Output Dimensions</vt:lpstr>
      <vt:lpstr>MHA 比較好嗎？</vt:lpstr>
      <vt:lpstr>Summary of MHA</vt:lpstr>
      <vt:lpstr>Outline of Transformer</vt:lpstr>
      <vt:lpstr>Add &amp; Norm</vt:lpstr>
      <vt:lpstr>Add &amp; Norm</vt:lpstr>
      <vt:lpstr>Add &amp; Norm</vt:lpstr>
      <vt:lpstr>Why LN not BN? </vt:lpstr>
      <vt:lpstr>Outline of Transformer</vt:lpstr>
      <vt:lpstr>Lack of Position Modeling</vt:lpstr>
      <vt:lpstr>Positional Encoding Equations</vt:lpstr>
      <vt:lpstr>Positional Encoding Visualization</vt:lpstr>
      <vt:lpstr>Encoder-Decoder 橋樑: Cross-Attention</vt:lpstr>
      <vt:lpstr>Cross-attention</vt:lpstr>
      <vt:lpstr>Number of Layers</vt:lpstr>
      <vt:lpstr>Outline of Transformer</vt:lpstr>
      <vt:lpstr>[Recap] Text Generation with RNN</vt:lpstr>
      <vt:lpstr>Transformers’ Achievements</vt:lpstr>
      <vt:lpstr>Transformer Variants (there are many more)</vt:lpstr>
      <vt:lpstr>Tokens vs. words</vt:lpstr>
      <vt:lpstr>Transformer 架構常用於現代 AI 模型</vt:lpstr>
      <vt:lpstr>Additional Links</vt:lpstr>
      <vt:lpstr>Announcements</vt:lpstr>
      <vt:lpstr>Project checkpoints</vt:lpstr>
      <vt:lpstr>Project 各個階段分數佔比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深度學習 Deep Learning</dc:title>
  <dc:creator>林英嘉</dc:creator>
  <cp:lastModifiedBy>英嘉 林</cp:lastModifiedBy>
  <cp:revision>1480</cp:revision>
  <dcterms:created xsi:type="dcterms:W3CDTF">2025-02-06T07:16:08Z</dcterms:created>
  <dcterms:modified xsi:type="dcterms:W3CDTF">2025-11-05T05:08:27Z</dcterms:modified>
</cp:coreProperties>
</file>