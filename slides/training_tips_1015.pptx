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9"/>
  </p:notesMasterIdLst>
  <p:sldIdLst>
    <p:sldId id="264" r:id="rId2"/>
    <p:sldId id="278" r:id="rId3"/>
    <p:sldId id="509" r:id="rId4"/>
    <p:sldId id="672" r:id="rId5"/>
    <p:sldId id="668" r:id="rId6"/>
    <p:sldId id="671" r:id="rId7"/>
    <p:sldId id="687" r:id="rId8"/>
    <p:sldId id="688" r:id="rId9"/>
    <p:sldId id="673" r:id="rId10"/>
    <p:sldId id="679" r:id="rId11"/>
    <p:sldId id="674" r:id="rId12"/>
    <p:sldId id="676" r:id="rId13"/>
    <p:sldId id="680" r:id="rId14"/>
    <p:sldId id="678" r:id="rId15"/>
    <p:sldId id="681" r:id="rId16"/>
    <p:sldId id="632" r:id="rId17"/>
    <p:sldId id="532" r:id="rId18"/>
    <p:sldId id="531" r:id="rId19"/>
    <p:sldId id="682" r:id="rId20"/>
    <p:sldId id="534" r:id="rId21"/>
    <p:sldId id="683" r:id="rId22"/>
    <p:sldId id="684" r:id="rId23"/>
    <p:sldId id="667" r:id="rId24"/>
    <p:sldId id="677" r:id="rId25"/>
    <p:sldId id="561" r:id="rId26"/>
    <p:sldId id="662" r:id="rId27"/>
    <p:sldId id="631" r:id="rId28"/>
    <p:sldId id="649" r:id="rId29"/>
    <p:sldId id="659" r:id="rId30"/>
    <p:sldId id="689" r:id="rId31"/>
    <p:sldId id="658" r:id="rId32"/>
    <p:sldId id="685" r:id="rId33"/>
    <p:sldId id="686" r:id="rId34"/>
    <p:sldId id="506" r:id="rId35"/>
    <p:sldId id="660" r:id="rId36"/>
    <p:sldId id="666" r:id="rId37"/>
    <p:sldId id="610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2"/>
    <p:restoredTop sz="93325"/>
  </p:normalViewPr>
  <p:slideViewPr>
    <p:cSldViewPr snapToGrid="0">
      <p:cViewPr varScale="1">
        <p:scale>
          <a:sx n="127" d="100"/>
          <a:sy n="127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456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2025/10/15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634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277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7971-4AE8-E105-9871-832B2C3C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32BD12-0BA7-EB39-AF2D-563ADE6FC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C823D3-20D5-C2A8-34AB-A2240D1AC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Underfitting occurs when the model is not able to obtain a sufficiently low error value on the training set.</a:t>
            </a:r>
          </a:p>
          <a:p>
            <a:r>
              <a:rPr kumimoji="1" lang="en" altLang="zh-TW" dirty="0"/>
              <a:t>Overfitting occurs when the gap between the training error and test error is too large.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3F09EA-B6BB-7D92-767F-84813894A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266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Regularization is any modification we make to a learning algorithm that is intended to reduce its generalization error but not its training error.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89988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A133-70C2-F553-2205-9523BCC2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21A7D05-AFEF-08AB-000D-3C1764739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1FBF1D-E4BF-30A7-CCCE-16666664F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Regularization is any modification we make to a learning algorithm that is intended to reduce its generalization error but not its training error.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9073D-A789-C493-AE0F-857048A59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6256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5873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DA66-579A-16B0-C300-8A2C0A67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2D68EC-B3EA-DBF8-01BD-F7995AB12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FF0F94-D453-DF5A-0755-8BE6DA76B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Regularization is any modification we make to a learning algorithm that is intended to reduce its generalization error but not its training error.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165B8A-4292-6D52-C9EA-0EC081CD0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7578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279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294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D083-26F3-FA6A-62FB-18029644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04D059-DC38-6DC5-0F5D-E8F32877D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AEF39E-C182-5ED1-A0C4-89A85E424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6A802F-E2CB-92CC-6FF5-AD30A36BA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9218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1402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527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DE60-2C65-0F13-2ABB-395C8AD1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618595D-78B5-6D77-EC25-04E40EA9E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1EA767-DC4E-349C-3403-654CCDAE0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90971-1B73-B1F7-FE80-2A2C7F92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6466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3634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8396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5287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fall" TargetMode="External"/><Relationship Id="rId5" Type="http://schemas.openxmlformats.org/officeDocument/2006/relationships/hyperlink" Target="https://app.sli.do/event/trLLdJv5TjT9ahwZTURqNG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2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1.png"/><Relationship Id="rId4" Type="http://schemas.openxmlformats.org/officeDocument/2006/relationships/image" Target="../media/image2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1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0.png"/><Relationship Id="rId4" Type="http://schemas.openxmlformats.org/officeDocument/2006/relationships/image" Target="../media/image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26698" y="4749453"/>
            <a:ext cx="5559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⭐️ DL Training Tips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26698" y="5827136"/>
            <a:ext cx="488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2025/10/15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DL1015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5C7679-0DD5-039B-74EF-74661FFE8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590" y="4698030"/>
            <a:ext cx="1631464" cy="163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4" y="1705612"/>
            <a:ext cx="1091837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Model training tips [70 min]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EarlyStopping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Regularization and </a:t>
            </a:r>
            <a:r>
              <a:rPr kumimoji="1" lang="en-US" altLang="zh-TW" sz="2400" dirty="0" err="1"/>
              <a:t>AdamW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Batch Normalization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Dropout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Code demo [10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Term Project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343904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9F4F9-53F9-EB98-4171-1BED9745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如何訓練模型：資料集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DD5409-AE0E-05A6-A869-64ACEEDE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圖形 6" descr="書本 以實心填滿">
            <a:extLst>
              <a:ext uri="{FF2B5EF4-FFF2-40B4-BE49-F238E27FC236}">
                <a16:creationId xmlns:a16="http://schemas.microsoft.com/office/drawing/2014/main" id="{A953D788-7396-4C55-870C-D427DE0F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0808" y="3228765"/>
            <a:ext cx="914400" cy="914400"/>
          </a:xfrm>
          <a:prstGeom prst="rect">
            <a:avLst/>
          </a:prstGeom>
        </p:spPr>
      </p:pic>
      <p:pic>
        <p:nvPicPr>
          <p:cNvPr id="8" name="圖形 7" descr="報紙 外框">
            <a:extLst>
              <a:ext uri="{FF2B5EF4-FFF2-40B4-BE49-F238E27FC236}">
                <a16:creationId xmlns:a16="http://schemas.microsoft.com/office/drawing/2014/main" id="{8DC1824A-9160-DFF0-9309-38D0121B1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6429" y="3228765"/>
            <a:ext cx="914400" cy="9144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FC93BB7-224C-9970-AAE0-ADC03F869F69}"/>
              </a:ext>
            </a:extLst>
          </p:cNvPr>
          <p:cNvSpPr txBox="1"/>
          <p:nvPr/>
        </p:nvSpPr>
        <p:spPr>
          <a:xfrm>
            <a:off x="2914851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630997-26C9-5248-8800-0F2AECAD8BD0}"/>
              </a:ext>
            </a:extLst>
          </p:cNvPr>
          <p:cNvSpPr txBox="1"/>
          <p:nvPr/>
        </p:nvSpPr>
        <p:spPr>
          <a:xfrm>
            <a:off x="6580472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Test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測試資料集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1" name="圖形 10" descr="書本 以實心填滿">
            <a:extLst>
              <a:ext uri="{FF2B5EF4-FFF2-40B4-BE49-F238E27FC236}">
                <a16:creationId xmlns:a16="http://schemas.microsoft.com/office/drawing/2014/main" id="{0F8466F8-52BB-2DFF-1A8D-034AF154C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775" y="5501160"/>
            <a:ext cx="914400" cy="9144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AABECE-579F-A34C-A2C3-1476CE26B65C}"/>
              </a:ext>
            </a:extLst>
          </p:cNvPr>
          <p:cNvSpPr txBox="1"/>
          <p:nvPr/>
        </p:nvSpPr>
        <p:spPr>
          <a:xfrm>
            <a:off x="1682818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3" name="圖形 12" descr="書本 以實心填滿">
            <a:extLst>
              <a:ext uri="{FF2B5EF4-FFF2-40B4-BE49-F238E27FC236}">
                <a16:creationId xmlns:a16="http://schemas.microsoft.com/office/drawing/2014/main" id="{B6CA68CE-EE47-9CA6-AB36-54E42DFA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5090" y="5501160"/>
            <a:ext cx="914400" cy="9144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6A189AE-E2EE-362B-2892-F7BBA9D1DE6E}"/>
              </a:ext>
            </a:extLst>
          </p:cNvPr>
          <p:cNvSpPr txBox="1"/>
          <p:nvPr/>
        </p:nvSpPr>
        <p:spPr>
          <a:xfrm>
            <a:off x="4089133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Validation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驗證資料集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cxnSp>
        <p:nvCxnSpPr>
          <p:cNvPr id="16" name="肘形接點 15">
            <a:extLst>
              <a:ext uri="{FF2B5EF4-FFF2-40B4-BE49-F238E27FC236}">
                <a16:creationId xmlns:a16="http://schemas.microsoft.com/office/drawing/2014/main" id="{A90677DF-2F64-6B52-FEBC-5A26A961A84C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4089133" y="3255250"/>
            <a:ext cx="12700" cy="240631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4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810F-4ECE-8C21-F876-828094FA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E3DD86-1B83-C8EA-4540-F5178101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訓練模型的目標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91BD06-B4F9-51BF-E893-F91576CF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圖形 6" descr="書本 以實心填滿">
            <a:extLst>
              <a:ext uri="{FF2B5EF4-FFF2-40B4-BE49-F238E27FC236}">
                <a16:creationId xmlns:a16="http://schemas.microsoft.com/office/drawing/2014/main" id="{AD65B6E6-E551-EC4E-1819-B92CA885C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8168" y="3228765"/>
            <a:ext cx="914400" cy="914400"/>
          </a:xfrm>
          <a:prstGeom prst="rect">
            <a:avLst/>
          </a:prstGeom>
        </p:spPr>
      </p:pic>
      <p:pic>
        <p:nvPicPr>
          <p:cNvPr id="8" name="圖形 7" descr="報紙 外框">
            <a:extLst>
              <a:ext uri="{FF2B5EF4-FFF2-40B4-BE49-F238E27FC236}">
                <a16:creationId xmlns:a16="http://schemas.microsoft.com/office/drawing/2014/main" id="{CA7C1099-3EB5-0692-10CA-0AC89CE42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5469" y="3228765"/>
            <a:ext cx="914400" cy="9144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1895C71-4E14-949B-734B-4B8D9B94A944}"/>
              </a:ext>
            </a:extLst>
          </p:cNvPr>
          <p:cNvSpPr txBox="1"/>
          <p:nvPr/>
        </p:nvSpPr>
        <p:spPr>
          <a:xfrm>
            <a:off x="2112211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8AF3EFE-D8C1-A67D-23D5-9253B4C82372}"/>
              </a:ext>
            </a:extLst>
          </p:cNvPr>
          <p:cNvSpPr txBox="1"/>
          <p:nvPr/>
        </p:nvSpPr>
        <p:spPr>
          <a:xfrm>
            <a:off x="7789512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Test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測試資料集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1" name="圖形 10" descr="書本 以實心填滿">
            <a:extLst>
              <a:ext uri="{FF2B5EF4-FFF2-40B4-BE49-F238E27FC236}">
                <a16:creationId xmlns:a16="http://schemas.microsoft.com/office/drawing/2014/main" id="{556EA9B8-56B9-1509-DB98-34CA897C4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6135" y="5501160"/>
            <a:ext cx="914400" cy="9144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8900FFC-C4D8-CCAE-DD62-04870FA0C4C1}"/>
              </a:ext>
            </a:extLst>
          </p:cNvPr>
          <p:cNvSpPr txBox="1"/>
          <p:nvPr/>
        </p:nvSpPr>
        <p:spPr>
          <a:xfrm>
            <a:off x="880178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3" name="圖形 12" descr="書本 以實心填滿">
            <a:extLst>
              <a:ext uri="{FF2B5EF4-FFF2-40B4-BE49-F238E27FC236}">
                <a16:creationId xmlns:a16="http://schemas.microsoft.com/office/drawing/2014/main" id="{039A9468-85E2-AD34-50E0-EDA808558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2450" y="5501160"/>
            <a:ext cx="914400" cy="9144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AC14D7A-5087-ABA4-59FE-314F582D5D79}"/>
              </a:ext>
            </a:extLst>
          </p:cNvPr>
          <p:cNvSpPr txBox="1"/>
          <p:nvPr/>
        </p:nvSpPr>
        <p:spPr>
          <a:xfrm>
            <a:off x="3286493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Validation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驗證資料集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cxnSp>
        <p:nvCxnSpPr>
          <p:cNvPr id="16" name="肘形接點 15">
            <a:extLst>
              <a:ext uri="{FF2B5EF4-FFF2-40B4-BE49-F238E27FC236}">
                <a16:creationId xmlns:a16="http://schemas.microsoft.com/office/drawing/2014/main" id="{482D257C-CF64-BA86-696D-29C055455608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3286493" y="3255250"/>
            <a:ext cx="12700" cy="240631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橢圓 2">
            <a:extLst>
              <a:ext uri="{FF2B5EF4-FFF2-40B4-BE49-F238E27FC236}">
                <a16:creationId xmlns:a16="http://schemas.microsoft.com/office/drawing/2014/main" id="{FB216208-8879-1315-870A-B132F12F0531}"/>
              </a:ext>
            </a:extLst>
          </p:cNvPr>
          <p:cNvSpPr/>
          <p:nvPr/>
        </p:nvSpPr>
        <p:spPr>
          <a:xfrm>
            <a:off x="2000885" y="1880398"/>
            <a:ext cx="2583915" cy="22732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3DD17B-F193-34D3-7B81-E237D89BB30A}"/>
              </a:ext>
            </a:extLst>
          </p:cNvPr>
          <p:cNvSpPr txBox="1"/>
          <p:nvPr/>
        </p:nvSpPr>
        <p:spPr>
          <a:xfrm>
            <a:off x="1493253" y="1511066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你所能收集到的資料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4412DC-6481-A735-694A-DE8D433713F2}"/>
              </a:ext>
            </a:extLst>
          </p:cNvPr>
          <p:cNvSpPr/>
          <p:nvPr/>
        </p:nvSpPr>
        <p:spPr>
          <a:xfrm>
            <a:off x="5513020" y="2853220"/>
            <a:ext cx="1535197" cy="75108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Model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CBEF3C7-C7D9-3C1D-A11D-7C4C0B09C2FF}"/>
              </a:ext>
            </a:extLst>
          </p:cNvPr>
          <p:cNvCxnSpPr>
            <a:cxnSpLocks/>
          </p:cNvCxnSpPr>
          <p:nvPr/>
        </p:nvCxnSpPr>
        <p:spPr>
          <a:xfrm>
            <a:off x="4693653" y="3228764"/>
            <a:ext cx="6668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616A30E-A3D7-2CB1-C60E-738CDCF5F3D1}"/>
              </a:ext>
            </a:extLst>
          </p:cNvPr>
          <p:cNvCxnSpPr>
            <a:cxnSpLocks/>
          </p:cNvCxnSpPr>
          <p:nvPr/>
        </p:nvCxnSpPr>
        <p:spPr>
          <a:xfrm>
            <a:off x="7122629" y="3228764"/>
            <a:ext cx="6668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79237B9-77FD-8D16-A9BC-424069380D7C}"/>
              </a:ext>
            </a:extLst>
          </p:cNvPr>
          <p:cNvSpPr txBox="1"/>
          <p:nvPr/>
        </p:nvSpPr>
        <p:spPr>
          <a:xfrm>
            <a:off x="7271352" y="4464758"/>
            <a:ext cx="3782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目標在測試集上得到很好的效果，代表泛化能力強 </a:t>
            </a:r>
            <a:r>
              <a:rPr kumimoji="1" lang="en-US" altLang="zh-TW" dirty="0">
                <a:solidFill>
                  <a:srgbClr val="FF0000"/>
                </a:solidFill>
              </a:rPr>
              <a:t>(Generalization)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79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90F1BD-7AB8-C237-15B9-EDA8E109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訓練機器學習模型時可能發生的情況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CA5B01-0293-6CFE-CD33-EFD0CB39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31C1502-C10B-290B-C11E-9424E946E138}"/>
              </a:ext>
            </a:extLst>
          </p:cNvPr>
          <p:cNvSpPr txBox="1"/>
          <p:nvPr/>
        </p:nvSpPr>
        <p:spPr>
          <a:xfrm>
            <a:off x="9295242" y="1458949"/>
            <a:ext cx="2276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code/w7_plot_overfitting.py</a:t>
            </a:r>
            <a:endParaRPr kumimoji="1" lang="zh-TW" altLang="en-US" sz="1200" dirty="0"/>
          </a:p>
        </p:txBody>
      </p:sp>
      <p:pic>
        <p:nvPicPr>
          <p:cNvPr id="5" name="圖片 4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3C2D5B50-52A9-0D90-30BC-0FACDBED4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897" y="2111585"/>
            <a:ext cx="8776205" cy="43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0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1C31-DB37-54D8-EF11-8322D796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4EA579-E49D-245C-2580-285AF659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定義</a:t>
            </a:r>
            <a:r>
              <a:rPr kumimoji="1" lang="en-US" altLang="zh-TW" dirty="0"/>
              <a:t>]</a:t>
            </a:r>
            <a:r>
              <a:rPr kumimoji="1" lang="zh-TW" altLang="en-US" dirty="0"/>
              <a:t> </a:t>
            </a:r>
            <a:r>
              <a:rPr kumimoji="1" lang="en-US" altLang="zh-TW" dirty="0"/>
              <a:t>Overfitting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 Underfitting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79A379-1CBF-1501-10FF-E7C9A325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427E3C6-B265-2A79-32B1-8CFBF32D4AF6}"/>
              </a:ext>
            </a:extLst>
          </p:cNvPr>
          <p:cNvSpPr txBox="1"/>
          <p:nvPr/>
        </p:nvSpPr>
        <p:spPr>
          <a:xfrm>
            <a:off x="653144" y="1806093"/>
            <a:ext cx="10918370" cy="2932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Underfitting (</a:t>
            </a:r>
            <a:r>
              <a:rPr kumimoji="1" lang="zh-TW" altLang="en-US" sz="2400" dirty="0"/>
              <a:t>欠擬合</a:t>
            </a:r>
            <a:r>
              <a:rPr kumimoji="1" lang="en-US" altLang="zh-TW" sz="2400" dirty="0"/>
              <a:t>): </a:t>
            </a:r>
            <a:r>
              <a:rPr kumimoji="1" lang="zh-TW" altLang="en-US" sz="2400" dirty="0"/>
              <a:t>模型無法在</a:t>
            </a:r>
            <a:r>
              <a:rPr kumimoji="1" lang="en-US" altLang="zh-TW" sz="2400" dirty="0"/>
              <a:t> training set </a:t>
            </a:r>
            <a:r>
              <a:rPr kumimoji="1" lang="zh-TW" altLang="en-US" sz="2400" dirty="0"/>
              <a:t>取得很低的誤差 </a:t>
            </a:r>
            <a:r>
              <a:rPr kumimoji="1" lang="en-US" altLang="zh-TW" sz="2400" dirty="0"/>
              <a:t>(error; loss)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Overfitting (</a:t>
            </a:r>
            <a:r>
              <a:rPr kumimoji="1" lang="zh-TW" altLang="en-US" sz="2400" dirty="0"/>
              <a:t>過擬合</a:t>
            </a:r>
            <a:r>
              <a:rPr kumimoji="1" lang="en-US" altLang="zh-TW" sz="2400" dirty="0"/>
              <a:t>): </a:t>
            </a:r>
            <a:r>
              <a:rPr kumimoji="1" lang="zh-TW" altLang="en-US" sz="2400" dirty="0"/>
              <a:t>模型的 </a:t>
            </a:r>
            <a:r>
              <a:rPr kumimoji="1" lang="en-US" altLang="zh-TW" sz="2400" dirty="0"/>
              <a:t>training error </a:t>
            </a:r>
            <a:r>
              <a:rPr kumimoji="1" lang="zh-TW" altLang="en-US" sz="2400" dirty="0"/>
              <a:t>與 </a:t>
            </a:r>
            <a:r>
              <a:rPr kumimoji="1" lang="en-US" altLang="zh-TW" sz="2400" dirty="0"/>
              <a:t>test error </a:t>
            </a:r>
            <a:r>
              <a:rPr kumimoji="1" lang="zh-TW" altLang="en-US" sz="2400" dirty="0"/>
              <a:t>差異很大</a:t>
            </a:r>
            <a:endParaRPr kumimoji="1" lang="en-US" altLang="zh-TW" sz="2400" dirty="0"/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test error</a:t>
            </a:r>
            <a:r>
              <a:rPr kumimoji="1" lang="zh-TW" altLang="en-US" sz="2400" dirty="0"/>
              <a:t> 通常代表 </a:t>
            </a:r>
            <a:r>
              <a:rPr kumimoji="1" lang="en-US" altLang="zh-TW" sz="2400" dirty="0"/>
              <a:t>validation loss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常見模型可以呈現很小的 </a:t>
            </a:r>
            <a:r>
              <a:rPr kumimoji="1" lang="en" altLang="zh-TW" sz="2400" dirty="0"/>
              <a:t>training error</a:t>
            </a:r>
            <a:r>
              <a:rPr kumimoji="1" lang="zh-TW" altLang="en-US" sz="2400" dirty="0"/>
              <a:t>，但</a:t>
            </a:r>
            <a:r>
              <a:rPr kumimoji="1" lang="en-US" altLang="zh-TW" sz="2400" dirty="0"/>
              <a:t> test error </a:t>
            </a:r>
            <a:r>
              <a:rPr kumimoji="1" lang="zh-TW" altLang="en-US" sz="2400" dirty="0"/>
              <a:t>仍大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693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35A607-0DF5-796A-730E-304D588C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EarlyStopping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9986D1-9F0D-9963-E2E7-C52EBEBB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圖片 8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52B03589-1F66-35C9-C8DA-81C0EE981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897" y="2111585"/>
            <a:ext cx="8776205" cy="4334119"/>
          </a:xfrm>
          <a:prstGeom prst="rect">
            <a:avLst/>
          </a:prstGeom>
        </p:spPr>
      </p:pic>
      <p:sp>
        <p:nvSpPr>
          <p:cNvPr id="10" name="向右箭號 9">
            <a:extLst>
              <a:ext uri="{FF2B5EF4-FFF2-40B4-BE49-F238E27FC236}">
                <a16:creationId xmlns:a16="http://schemas.microsoft.com/office/drawing/2014/main" id="{6A55B421-D9F5-1B17-DF43-098A06BDD51F}"/>
              </a:ext>
            </a:extLst>
          </p:cNvPr>
          <p:cNvSpPr/>
          <p:nvPr/>
        </p:nvSpPr>
        <p:spPr>
          <a:xfrm rot="16200000">
            <a:off x="4940519" y="4997808"/>
            <a:ext cx="406959" cy="21619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1FC4D0A-11B3-4871-F1F6-7AC61FF349B8}"/>
              </a:ext>
            </a:extLst>
          </p:cNvPr>
          <p:cNvSpPr txBox="1"/>
          <p:nvPr/>
        </p:nvSpPr>
        <p:spPr>
          <a:xfrm>
            <a:off x="9295242" y="1458949"/>
            <a:ext cx="2276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code/w7_plot_overfitting.py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774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1432-EEF5-DE1B-552E-157C4B7A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C57B9-07C0-7CB9-2C30-A6B498AA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EarlyStopping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08C839-2F8D-0107-9A14-BB3F39F4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圖片 6" descr="一張含有 螢幕擷取畫面, 繪圖, 行, 圖表 的圖片&#10;&#10;AI 產生的內容可能不正確。">
            <a:extLst>
              <a:ext uri="{FF2B5EF4-FFF2-40B4-BE49-F238E27FC236}">
                <a16:creationId xmlns:a16="http://schemas.microsoft.com/office/drawing/2014/main" id="{7C69B5A8-14EB-1D88-68CA-AAFDA05D9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202" y="1966194"/>
            <a:ext cx="8857595" cy="4374313"/>
          </a:xfrm>
          <a:prstGeom prst="rect">
            <a:avLst/>
          </a:prstGeom>
        </p:spPr>
      </p:pic>
      <p:sp>
        <p:nvSpPr>
          <p:cNvPr id="8" name="向右箭號 7">
            <a:extLst>
              <a:ext uri="{FF2B5EF4-FFF2-40B4-BE49-F238E27FC236}">
                <a16:creationId xmlns:a16="http://schemas.microsoft.com/office/drawing/2014/main" id="{E88DAF0A-1B91-3115-2D26-9AF2F6977FD4}"/>
              </a:ext>
            </a:extLst>
          </p:cNvPr>
          <p:cNvSpPr/>
          <p:nvPr/>
        </p:nvSpPr>
        <p:spPr>
          <a:xfrm rot="16200000">
            <a:off x="6159719" y="5501391"/>
            <a:ext cx="406959" cy="21619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EC05A0-684E-2134-1A3A-39EF897091AD}"/>
              </a:ext>
            </a:extLst>
          </p:cNvPr>
          <p:cNvSpPr txBox="1"/>
          <p:nvPr/>
        </p:nvSpPr>
        <p:spPr>
          <a:xfrm>
            <a:off x="9917722" y="1458949"/>
            <a:ext cx="165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code/w7_plot_es.py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87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D81F64-17EF-5216-005B-119E2757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Regularization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7F44BC-6CAD-3009-9C8E-CE9FC86C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1A51746-6BC1-8400-4F56-5FDF59B0CFA4}"/>
                  </a:ext>
                </a:extLst>
              </p:cNvPr>
              <p:cNvSpPr txBox="1"/>
              <p:nvPr/>
            </p:nvSpPr>
            <p:spPr>
              <a:xfrm>
                <a:off x="2538884" y="3645737"/>
                <a:ext cx="358056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4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4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4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4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1A51746-6BC1-8400-4F56-5FDF59B0C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884" y="3645737"/>
                <a:ext cx="3580561" cy="707886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6B933EC9-0681-367C-2A3D-A997F7D3DDA7}"/>
              </a:ext>
            </a:extLst>
          </p:cNvPr>
          <p:cNvSpPr/>
          <p:nvPr/>
        </p:nvSpPr>
        <p:spPr>
          <a:xfrm>
            <a:off x="5858188" y="3675881"/>
            <a:ext cx="2703007" cy="707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 err="1"/>
              <a:t>regularization_term</a:t>
            </a:r>
            <a:endParaRPr kumimoji="1" lang="zh-TW" alt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8A52A1-96BF-9AB3-FC46-7C61B75749EC}"/>
              </a:ext>
            </a:extLst>
          </p:cNvPr>
          <p:cNvSpPr txBox="1"/>
          <p:nvPr/>
        </p:nvSpPr>
        <p:spPr>
          <a:xfrm>
            <a:off x="636815" y="1928013"/>
            <a:ext cx="1091837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定義：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regularization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正則化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是一種技巧來幫助模型減少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training error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與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test error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的差距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並非降低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training error)</a:t>
            </a:r>
          </a:p>
        </p:txBody>
      </p:sp>
    </p:spTree>
    <p:extLst>
      <p:ext uri="{BB962C8B-B14F-4D97-AF65-F5344CB8AC3E}">
        <p14:creationId xmlns:p14="http://schemas.microsoft.com/office/powerpoint/2010/main" val="4272512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259B9-2DBE-4A0C-0690-1EFAA8B9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Norm (</a:t>
            </a:r>
            <a:r>
              <a:rPr kumimoji="1" lang="zh-TW" altLang="en-US" dirty="0"/>
              <a:t>範數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D1D641-DB34-D073-31B6-87C1B141BA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3" y="1906022"/>
                <a:ext cx="10918371" cy="4023360"/>
              </a:xfrm>
            </p:spPr>
            <p:txBody>
              <a:bodyPr/>
              <a:lstStyle/>
              <a:p>
                <a:r>
                  <a:rPr kumimoji="1" lang="zh-TW" altLang="en-US" sz="2400" dirty="0"/>
                  <a:t>是具有「長度」概念的函數，其為向量空間內的所有向量的正長度或大小。</a:t>
                </a:r>
                <a:endParaRPr kumimoji="1" lang="en-US" altLang="zh-TW" sz="2400" dirty="0"/>
              </a:p>
              <a:p>
                <a:r>
                  <a:rPr kumimoji="1" lang="zh-TW" altLang="en-US" sz="2400" dirty="0"/>
                  <a:t>假設有一向量</a:t>
                </a:r>
                <a:r>
                  <a:rPr kumimoji="1" lang="en-US" altLang="zh-TW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w</m:t>
                    </m:r>
                    <m:r>
                      <a:rPr lang="en-US" altLang="zh-TW" sz="240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TW" altLang="zh-TW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D1D641-DB34-D073-31B6-87C1B141B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3" y="1906022"/>
                <a:ext cx="10918371" cy="4023360"/>
              </a:xfrm>
              <a:blipFill>
                <a:blip r:embed="rId2"/>
                <a:stretch>
                  <a:fillRect l="-1742" t="-22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3ACC18-CEF2-3BC6-5D2E-CBEC69CF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269B94-A8BA-3712-86BA-574C8210F69B}"/>
              </a:ext>
            </a:extLst>
          </p:cNvPr>
          <p:cNvSpPr txBox="1"/>
          <p:nvPr/>
        </p:nvSpPr>
        <p:spPr>
          <a:xfrm>
            <a:off x="2924071" y="3725933"/>
            <a:ext cx="1922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L</a:t>
            </a:r>
            <a:r>
              <a:rPr kumimoji="1" lang="en-US" altLang="zh-TW" sz="2400" baseline="30000" dirty="0"/>
              <a:t>1</a:t>
            </a:r>
            <a:r>
              <a:rPr kumimoji="1" lang="en-US" altLang="zh-TW" sz="2400" dirty="0"/>
              <a:t>-Norm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C142E8E-693D-D01B-3477-BB9DD95E93F9}"/>
                  </a:ext>
                </a:extLst>
              </p:cNvPr>
              <p:cNvSpPr txBox="1"/>
              <p:nvPr/>
            </p:nvSpPr>
            <p:spPr>
              <a:xfrm>
                <a:off x="4230348" y="3405220"/>
                <a:ext cx="5164015" cy="110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zh-TW" sz="24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C142E8E-693D-D01B-3477-BB9DD95E9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348" y="3405220"/>
                <a:ext cx="5164015" cy="1100558"/>
              </a:xfrm>
              <a:prstGeom prst="rect">
                <a:avLst/>
              </a:prstGeom>
              <a:blipFill>
                <a:blip r:embed="rId3"/>
                <a:stretch>
                  <a:fillRect l="-14988" t="-108046" b="-1632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82EA405-E161-FD50-19A4-FF27E62AA9ED}"/>
              </a:ext>
            </a:extLst>
          </p:cNvPr>
          <p:cNvSpPr txBox="1"/>
          <p:nvPr/>
        </p:nvSpPr>
        <p:spPr>
          <a:xfrm>
            <a:off x="2924071" y="5165545"/>
            <a:ext cx="1922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L</a:t>
            </a:r>
            <a:r>
              <a:rPr kumimoji="1" lang="en-US" altLang="zh-TW" sz="2400" baseline="30000" dirty="0"/>
              <a:t>2</a:t>
            </a:r>
            <a:r>
              <a:rPr kumimoji="1" lang="en-US" altLang="zh-TW" sz="2400" dirty="0"/>
              <a:t>-Norm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63D576-EAC2-FE44-97F7-EB12E2DF3CD3}"/>
                  </a:ext>
                </a:extLst>
              </p:cNvPr>
              <p:cNvSpPr txBox="1"/>
              <p:nvPr/>
            </p:nvSpPr>
            <p:spPr>
              <a:xfrm>
                <a:off x="4230348" y="4919839"/>
                <a:ext cx="5164015" cy="843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63D576-EAC2-FE44-97F7-EB12E2DF3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348" y="4919839"/>
                <a:ext cx="5164015" cy="843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999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DD7A-744F-87D9-50B3-597BD7BF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84D63-DD5E-BC04-7555-BDD95831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</a:t>
            </a:r>
            <a:r>
              <a:rPr kumimoji="1" lang="en-US" altLang="zh-TW" baseline="30000" dirty="0"/>
              <a:t>2</a:t>
            </a:r>
            <a:r>
              <a:rPr kumimoji="1" lang="en-US" altLang="zh-TW" dirty="0"/>
              <a:t> Regularization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D9DB70-4222-3254-7A42-FEAA9E2F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4D72730-2F58-06EE-64B3-EEFC1CB8C3AB}"/>
                  </a:ext>
                </a:extLst>
              </p:cNvPr>
              <p:cNvSpPr txBox="1"/>
              <p:nvPr/>
            </p:nvSpPr>
            <p:spPr>
              <a:xfrm>
                <a:off x="2096759" y="2379581"/>
                <a:ext cx="35805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4D72730-2F58-06EE-64B3-EEFC1CB8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759" y="2379581"/>
                <a:ext cx="35805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C5ABBFC-C35D-7C60-32DE-11A12CE6AE42}"/>
                  </a:ext>
                </a:extLst>
              </p:cNvPr>
              <p:cNvSpPr txBox="1"/>
              <p:nvPr/>
            </p:nvSpPr>
            <p:spPr>
              <a:xfrm>
                <a:off x="4486589" y="2166135"/>
                <a:ext cx="221566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C5ABBFC-C35D-7C60-32DE-11A12CE6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589" y="2166135"/>
                <a:ext cx="2215661" cy="898964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8C660173-9F1A-E029-5785-43940D303A0C}"/>
              </a:ext>
            </a:extLst>
          </p:cNvPr>
          <p:cNvSpPr txBox="1"/>
          <p:nvPr/>
        </p:nvSpPr>
        <p:spPr>
          <a:xfrm>
            <a:off x="2644391" y="6317246"/>
            <a:ext cx="690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</a:t>
            </a:r>
            <a:r>
              <a:rPr kumimoji="1" lang="en-US" altLang="zh-TW" baseline="30000" dirty="0"/>
              <a:t>2</a:t>
            </a:r>
            <a:r>
              <a:rPr kumimoji="1" lang="en-US" altLang="zh-TW" dirty="0"/>
              <a:t>-Norm </a:t>
            </a:r>
            <a:r>
              <a:rPr kumimoji="1" lang="zh-TW" altLang="en-US" dirty="0"/>
              <a:t>說明：</a:t>
            </a:r>
            <a:r>
              <a:rPr kumimoji="1" lang="en" altLang="zh-TW" dirty="0"/>
              <a:t>https://</a:t>
            </a:r>
            <a:r>
              <a:rPr kumimoji="1" lang="en" altLang="zh-TW" dirty="0" err="1"/>
              <a:t>mathworld.wolfram.com</a:t>
            </a:r>
            <a:r>
              <a:rPr kumimoji="1" lang="en" altLang="zh-TW" dirty="0"/>
              <a:t>/L2-Norm.html</a:t>
            </a:r>
            <a:endParaRPr kumimoji="1"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EABFB3E-173F-662B-BE29-25A738B5496D}"/>
              </a:ext>
            </a:extLst>
          </p:cNvPr>
          <p:cNvCxnSpPr/>
          <p:nvPr/>
        </p:nvCxnSpPr>
        <p:spPr>
          <a:xfrm>
            <a:off x="5436159" y="2906659"/>
            <a:ext cx="8943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41F89CF-E697-5BCE-2235-AEABF12D6E50}"/>
                  </a:ext>
                </a:extLst>
              </p:cNvPr>
              <p:cNvSpPr txBox="1"/>
              <p:nvPr/>
            </p:nvSpPr>
            <p:spPr>
              <a:xfrm>
                <a:off x="5263654" y="3060019"/>
                <a:ext cx="3516922" cy="528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80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TW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zh-TW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2800" kern="100" dirty="0">
                  <a:solidFill>
                    <a:srgbClr val="FF0000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41F89CF-E697-5BCE-2235-AEABF12D6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654" y="3060019"/>
                <a:ext cx="3516922" cy="528991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12C049A-A936-4C7F-C072-8C8536337B5C}"/>
              </a:ext>
            </a:extLst>
          </p:cNvPr>
          <p:cNvCxnSpPr/>
          <p:nvPr/>
        </p:nvCxnSpPr>
        <p:spPr>
          <a:xfrm flipV="1">
            <a:off x="3386294" y="3034955"/>
            <a:ext cx="0" cy="964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32EC3A-920D-51FD-EDD8-B7BAE4976122}"/>
                  </a:ext>
                </a:extLst>
              </p:cNvPr>
              <p:cNvSpPr txBox="1"/>
              <p:nvPr/>
            </p:nvSpPr>
            <p:spPr>
              <a:xfrm>
                <a:off x="1085220" y="4174107"/>
                <a:ext cx="64912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400" dirty="0"/>
                  <a:t>代表模型的目標除了要讓 </a:t>
                </a:r>
                <a14:m>
                  <m:oMath xmlns:m="http://schemas.openxmlformats.org/officeDocument/2006/math">
                    <m:r>
                      <a:rPr lang="zh-TW" altLang="en-US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kumimoji="1" lang="zh-TW" altLang="en-US" sz="2400" dirty="0"/>
                  <a:t> 越小越好之外，</a:t>
                </a:r>
                <a:endParaRPr kumimoji="1" lang="en-US" altLang="zh-TW" sz="2400" dirty="0"/>
              </a:p>
              <a:p>
                <a:r>
                  <a:rPr kumimoji="1" lang="zh-TW" altLang="en-US" sz="2400" dirty="0"/>
                  <a:t>還要讓所有的</a:t>
                </a:r>
                <a:r>
                  <a:rPr kumimoji="1" lang="en-US" altLang="zh-TW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0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kumimoji="1" lang="en-US" altLang="zh-TW" sz="2400" dirty="0"/>
                  <a:t> </a:t>
                </a:r>
                <a:r>
                  <a:rPr kumimoji="1" lang="zh-TW" altLang="en-US" sz="2400" dirty="0"/>
                  <a:t>的</a:t>
                </a:r>
                <a:r>
                  <a:rPr kumimoji="1" lang="zh-TW" altLang="en-US" sz="2400" dirty="0">
                    <a:solidFill>
                      <a:srgbClr val="FF0000"/>
                    </a:solidFill>
                  </a:rPr>
                  <a:t>平方和</a:t>
                </a:r>
                <a:r>
                  <a:rPr kumimoji="1" lang="zh-TW" altLang="en-US" sz="2400" dirty="0"/>
                  <a:t>越小越好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32EC3A-920D-51FD-EDD8-B7BAE4976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20" y="4174107"/>
                <a:ext cx="6491234" cy="830997"/>
              </a:xfrm>
              <a:prstGeom prst="rect">
                <a:avLst/>
              </a:prstGeom>
              <a:blipFill>
                <a:blip r:embed="rId6"/>
                <a:stretch>
                  <a:fillRect l="-1563" t="-5970" b="-164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40306BB-7A9D-E96D-5CEB-BB053B11AE13}"/>
                  </a:ext>
                </a:extLst>
              </p:cNvPr>
              <p:cNvSpPr txBox="1"/>
              <p:nvPr/>
            </p:nvSpPr>
            <p:spPr>
              <a:xfrm>
                <a:off x="8780576" y="1422333"/>
                <a:ext cx="298604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正則項的比例 </a:t>
                </a:r>
                <a:r>
                  <a:rPr lang="en-US" altLang="zh-TW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(0-1</a:t>
                </a:r>
                <a:r>
                  <a:rPr lang="zh-TW" altLang="en-US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之間</a:t>
                </a:r>
                <a:r>
                  <a:rPr lang="en-US" altLang="zh-TW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)</a:t>
                </a:r>
                <a:endParaRPr lang="zh-TW" altLang="zh-TW" sz="18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40306BB-7A9D-E96D-5CEB-BB053B11A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576" y="1422333"/>
                <a:ext cx="2986040" cy="646331"/>
              </a:xfrm>
              <a:prstGeom prst="rect">
                <a:avLst/>
              </a:prstGeom>
              <a:blipFill>
                <a:blip r:embed="rId7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71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88433-985C-1BE5-E601-2553FC75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為什麼要增加正則項？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35D280-D685-A031-E3A4-3FFD5408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114F75-A06A-0D34-B283-1EA02C892E8A}"/>
                  </a:ext>
                </a:extLst>
              </p:cNvPr>
              <p:cNvSpPr txBox="1"/>
              <p:nvPr/>
            </p:nvSpPr>
            <p:spPr>
              <a:xfrm>
                <a:off x="653143" y="1910416"/>
                <a:ext cx="7295103" cy="488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/>
                  <a:t>假設我們的模型：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114F75-A06A-0D34-B283-1EA02C892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910416"/>
                <a:ext cx="7295103" cy="488980"/>
              </a:xfrm>
              <a:prstGeom prst="rect">
                <a:avLst/>
              </a:prstGeom>
              <a:blipFill>
                <a:blip r:embed="rId3"/>
                <a:stretch>
                  <a:fillRect l="-1391" t="-5000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CC6025-E776-C215-B3AB-A5111B7624DB}"/>
                  </a:ext>
                </a:extLst>
              </p:cNvPr>
              <p:cNvSpPr txBox="1"/>
              <p:nvPr/>
            </p:nvSpPr>
            <p:spPr>
              <a:xfrm>
                <a:off x="653143" y="3764478"/>
                <a:ext cx="7295103" cy="46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/>
                  <a:t>假設我們想要學出的模型：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CC6025-E776-C215-B3AB-A5111B762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764478"/>
                <a:ext cx="7295103" cy="466666"/>
              </a:xfrm>
              <a:prstGeom prst="rect">
                <a:avLst/>
              </a:prstGeom>
              <a:blipFill>
                <a:blip r:embed="rId4"/>
                <a:stretch>
                  <a:fillRect l="-1391" t="-789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71B8F76E-2D65-A107-2B8F-105D0F40111F}"/>
              </a:ext>
            </a:extLst>
          </p:cNvPr>
          <p:cNvSpPr txBox="1"/>
          <p:nvPr/>
        </p:nvSpPr>
        <p:spPr>
          <a:xfrm>
            <a:off x="1848896" y="4682531"/>
            <a:ext cx="3185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非常通用的模型，</a:t>
            </a:r>
            <a:endParaRPr kumimoji="1" lang="en-US" altLang="zh-TW" dirty="0"/>
          </a:p>
          <a:p>
            <a:r>
              <a:rPr kumimoji="1" lang="zh-TW" altLang="en-US" dirty="0"/>
              <a:t>可以在 </a:t>
            </a:r>
            <a:r>
              <a:rPr kumimoji="1" lang="en-US" altLang="zh-TW" dirty="0">
                <a:solidFill>
                  <a:srgbClr val="FF0000"/>
                </a:solidFill>
              </a:rPr>
              <a:t>unseen</a:t>
            </a:r>
            <a:r>
              <a:rPr kumimoji="1" lang="en-US" altLang="zh-TW" dirty="0"/>
              <a:t> </a:t>
            </a:r>
            <a:r>
              <a:rPr kumimoji="1" lang="zh-TW" altLang="en-US" dirty="0"/>
              <a:t>資料上表現好</a:t>
            </a: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39756A69-264B-5FD5-3C30-962A235E4430}"/>
              </a:ext>
            </a:extLst>
          </p:cNvPr>
          <p:cNvCxnSpPr/>
          <p:nvPr/>
        </p:nvCxnSpPr>
        <p:spPr>
          <a:xfrm flipV="1">
            <a:off x="3024554" y="4286434"/>
            <a:ext cx="0" cy="3659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047B36D3-BAD2-9614-EE6A-67F02B94D4E1}"/>
              </a:ext>
            </a:extLst>
          </p:cNvPr>
          <p:cNvCxnSpPr/>
          <p:nvPr/>
        </p:nvCxnSpPr>
        <p:spPr>
          <a:xfrm>
            <a:off x="1984549" y="4206047"/>
            <a:ext cx="21001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BAB9FF2-878D-5075-A7D9-BFD1CDF019F6}"/>
              </a:ext>
            </a:extLst>
          </p:cNvPr>
          <p:cNvCxnSpPr>
            <a:cxnSpLocks/>
          </p:cNvCxnSpPr>
          <p:nvPr/>
        </p:nvCxnSpPr>
        <p:spPr>
          <a:xfrm>
            <a:off x="3764781" y="2419785"/>
            <a:ext cx="32690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9BC1E21-1B44-FF8F-428F-E4C6866FF9A0}"/>
              </a:ext>
            </a:extLst>
          </p:cNvPr>
          <p:cNvSpPr txBox="1"/>
          <p:nvPr/>
        </p:nvSpPr>
        <p:spPr>
          <a:xfrm>
            <a:off x="3641691" y="2880229"/>
            <a:ext cx="3652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如果沒有正則項，目標函數相當於是為</a:t>
            </a:r>
            <a:r>
              <a:rPr kumimoji="1" lang="en-US" altLang="zh-TW" dirty="0"/>
              <a:t> training set </a:t>
            </a:r>
            <a:r>
              <a:rPr kumimoji="1" lang="zh-TW" altLang="en-US" dirty="0"/>
              <a:t>量身打造</a:t>
            </a: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333BCF2B-BA02-4F5A-74C0-F0E3D73A7D55}"/>
              </a:ext>
            </a:extLst>
          </p:cNvPr>
          <p:cNvCxnSpPr/>
          <p:nvPr/>
        </p:nvCxnSpPr>
        <p:spPr>
          <a:xfrm flipV="1">
            <a:off x="5467979" y="2484132"/>
            <a:ext cx="0" cy="3659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橢圓圖說文字 16">
                <a:extLst>
                  <a:ext uri="{FF2B5EF4-FFF2-40B4-BE49-F238E27FC236}">
                    <a16:creationId xmlns:a16="http://schemas.microsoft.com/office/drawing/2014/main" id="{A1E65A7F-1EDD-F953-9B51-E673024DE8F2}"/>
                  </a:ext>
                </a:extLst>
              </p:cNvPr>
              <p:cNvSpPr/>
              <p:nvPr/>
            </p:nvSpPr>
            <p:spPr>
              <a:xfrm>
                <a:off x="7486022" y="2484132"/>
                <a:ext cx="3496819" cy="1513679"/>
              </a:xfrm>
              <a:prstGeom prst="wedgeEllipseCallout">
                <a:avLst>
                  <a:gd name="adj1" fmla="val -56967"/>
                  <a:gd name="adj2" fmla="val -5831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dirty="0">
                    <a:solidFill>
                      <a:schemeClr val="tx1"/>
                    </a:solidFill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TW" altLang="en-US" kern="1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很大怎麼辦？</a:t>
                </a:r>
                <a:endParaRPr lang="en-US" altLang="zh-TW" kern="1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TW" altLang="en-US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正則項 </a:t>
                </a:r>
                <a:r>
                  <a:rPr lang="en-US" altLang="zh-TW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如</a:t>
                </a:r>
                <a:r>
                  <a:rPr lang="en-US" altLang="zh-TW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L</a:t>
                </a:r>
                <a:r>
                  <a:rPr lang="en-US" altLang="zh-TW" kern="100" baseline="300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能限制</a:t>
                </a:r>
                <a:r>
                  <a:rPr lang="en-US" altLang="zh-TW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weight </a:t>
                </a:r>
                <a:r>
                  <a:rPr lang="zh-TW" altLang="en-US" kern="1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數值大小</a:t>
                </a:r>
                <a:endParaRPr lang="en-US" altLang="zh-TW" kern="100" dirty="0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橢圓圖說文字 16">
                <a:extLst>
                  <a:ext uri="{FF2B5EF4-FFF2-40B4-BE49-F238E27FC236}">
                    <a16:creationId xmlns:a16="http://schemas.microsoft.com/office/drawing/2014/main" id="{A1E65A7F-1EDD-F953-9B51-E673024DE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022" y="2484132"/>
                <a:ext cx="3496819" cy="1513679"/>
              </a:xfrm>
              <a:prstGeom prst="wedgeEllipseCallout">
                <a:avLst>
                  <a:gd name="adj1" fmla="val -56967"/>
                  <a:gd name="adj2" fmla="val -58318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03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0DCDE-05CF-9D51-4318-47256C40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Gradient Descent with L</a:t>
            </a:r>
            <a:r>
              <a:rPr kumimoji="1" lang="en-US" altLang="zh-TW" baseline="30000" dirty="0"/>
              <a:t>2</a:t>
            </a:r>
            <a:r>
              <a:rPr kumimoji="1" lang="en-US" altLang="zh-TW" dirty="0"/>
              <a:t> Regularization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E52574-2372-37D9-676D-FB99A4B9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55AE89C-3806-2A58-2B04-1DE656870D63}"/>
                  </a:ext>
                </a:extLst>
              </p:cNvPr>
              <p:cNvSpPr txBox="1"/>
              <p:nvPr/>
            </p:nvSpPr>
            <p:spPr>
              <a:xfrm>
                <a:off x="5902881" y="2552016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55AE89C-3806-2A58-2B04-1DE65687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81" y="2552016"/>
                <a:ext cx="4020064" cy="984372"/>
              </a:xfrm>
              <a:prstGeom prst="rect">
                <a:avLst/>
              </a:prstGeom>
              <a:blipFill>
                <a:blip r:embed="rId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D76894B-1B00-4102-CA89-F371600E959E}"/>
                  </a:ext>
                </a:extLst>
              </p:cNvPr>
              <p:cNvSpPr txBox="1"/>
              <p:nvPr/>
            </p:nvSpPr>
            <p:spPr>
              <a:xfrm>
                <a:off x="839035" y="1653052"/>
                <a:ext cx="3582237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D76894B-1B00-4102-CA89-F371600E9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5" y="1653052"/>
                <a:ext cx="3582237" cy="898964"/>
              </a:xfrm>
              <a:prstGeom prst="rect">
                <a:avLst/>
              </a:prstGeom>
              <a:blipFill>
                <a:blip r:embed="rId3"/>
                <a:stretch>
                  <a:fillRect l="-1064" b="-69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ACCB45C-7707-BF3C-203E-EFB1E0D3779F}"/>
                  </a:ext>
                </a:extLst>
              </p:cNvPr>
              <p:cNvSpPr txBox="1"/>
              <p:nvPr/>
            </p:nvSpPr>
            <p:spPr>
              <a:xfrm>
                <a:off x="839034" y="3611213"/>
                <a:ext cx="3582237" cy="99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ACCB45C-7707-BF3C-203E-EFB1E0D37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4" y="3611213"/>
                <a:ext cx="3582237" cy="999633"/>
              </a:xfrm>
              <a:prstGeom prst="rect">
                <a:avLst/>
              </a:prstGeom>
              <a:blipFill>
                <a:blip r:embed="rId4"/>
                <a:stretch>
                  <a:fillRect l="-1064" b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428B43-74E8-0D02-F180-E5963D4280DF}"/>
                  </a:ext>
                </a:extLst>
              </p:cNvPr>
              <p:cNvSpPr txBox="1"/>
              <p:nvPr/>
            </p:nvSpPr>
            <p:spPr>
              <a:xfrm>
                <a:off x="6366780" y="3646302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428B43-74E8-0D02-F180-E5963D428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780" y="3646302"/>
                <a:ext cx="4020064" cy="984372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B476F6A-E3B4-879E-2D37-FF5A05088E6D}"/>
                  </a:ext>
                </a:extLst>
              </p:cNvPr>
              <p:cNvSpPr txBox="1"/>
              <p:nvPr/>
            </p:nvSpPr>
            <p:spPr>
              <a:xfrm>
                <a:off x="6366779" y="4740588"/>
                <a:ext cx="5558201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B476F6A-E3B4-879E-2D37-FF5A05088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779" y="4740588"/>
                <a:ext cx="5558201" cy="984372"/>
              </a:xfrm>
              <a:prstGeom prst="rect">
                <a:avLst/>
              </a:prstGeom>
              <a:blipFill>
                <a:blip r:embed="rId6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A25F12-F2E8-3A3A-E476-C659A9B645B6}"/>
                  </a:ext>
                </a:extLst>
              </p:cNvPr>
              <p:cNvSpPr txBox="1"/>
              <p:nvPr/>
            </p:nvSpPr>
            <p:spPr>
              <a:xfrm>
                <a:off x="839034" y="2867331"/>
                <a:ext cx="3582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400" dirty="0">
                    <a:solidFill>
                      <a:srgbClr val="0070C0"/>
                    </a:solidFill>
                  </a:rPr>
                  <a:t>對任意</a:t>
                </a:r>
                <a:r>
                  <a:rPr kumimoji="1" lang="en-US" altLang="zh-TW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zh-TW" altLang="en-US" sz="2400" dirty="0">
                    <a:solidFill>
                      <a:srgbClr val="0070C0"/>
                    </a:solidFill>
                  </a:rPr>
                  <a:t>進行偏微分：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A25F12-F2E8-3A3A-E476-C659A9B64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4" y="2867331"/>
                <a:ext cx="3582237" cy="461665"/>
              </a:xfrm>
              <a:prstGeom prst="rect">
                <a:avLst/>
              </a:prstGeom>
              <a:blipFill>
                <a:blip r:embed="rId7"/>
                <a:stretch>
                  <a:fillRect l="-2837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1CEB5955-4147-3BAB-E08C-C14C049858A2}"/>
              </a:ext>
            </a:extLst>
          </p:cNvPr>
          <p:cNvSpPr txBox="1"/>
          <p:nvPr/>
        </p:nvSpPr>
        <p:spPr>
          <a:xfrm>
            <a:off x="5302178" y="2003878"/>
            <a:ext cx="1822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0070C0"/>
                </a:solidFill>
              </a:rPr>
              <a:t>梯度下降：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5597799-E8B6-A93E-8F61-C8D7D01DF104}"/>
              </a:ext>
            </a:extLst>
          </p:cNvPr>
          <p:cNvSpPr txBox="1"/>
          <p:nvPr/>
        </p:nvSpPr>
        <p:spPr>
          <a:xfrm>
            <a:off x="5302178" y="3927751"/>
            <a:ext cx="137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0070C0"/>
                </a:solidFill>
              </a:rPr>
              <a:t>(</a:t>
            </a:r>
            <a:r>
              <a:rPr kumimoji="1" lang="zh-TW" altLang="en-US" sz="2400" dirty="0">
                <a:solidFill>
                  <a:srgbClr val="0070C0"/>
                </a:solidFill>
              </a:rPr>
              <a:t>代入</a:t>
            </a:r>
            <a:r>
              <a:rPr kumimoji="1" lang="en-US" altLang="zh-TW" sz="2400" dirty="0">
                <a:solidFill>
                  <a:srgbClr val="0070C0"/>
                </a:solidFill>
              </a:rPr>
              <a:t>)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E0036F2-28AC-534B-7B46-D338ACDA21A1}"/>
              </a:ext>
            </a:extLst>
          </p:cNvPr>
          <p:cNvSpPr txBox="1"/>
          <p:nvPr/>
        </p:nvSpPr>
        <p:spPr>
          <a:xfrm>
            <a:off x="5302178" y="5022037"/>
            <a:ext cx="137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0070C0"/>
                </a:solidFill>
              </a:rPr>
              <a:t>(</a:t>
            </a:r>
            <a:r>
              <a:rPr kumimoji="1" lang="zh-TW" altLang="en-US" sz="2400" dirty="0">
                <a:solidFill>
                  <a:srgbClr val="0070C0"/>
                </a:solidFill>
              </a:rPr>
              <a:t>移項</a:t>
            </a:r>
            <a:r>
              <a:rPr kumimoji="1" lang="en-US" altLang="zh-TW" sz="2400" dirty="0">
                <a:solidFill>
                  <a:srgbClr val="0070C0"/>
                </a:solidFill>
              </a:rPr>
              <a:t>)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59219AE-4645-5ADD-044D-73316ED7CD4C}"/>
              </a:ext>
            </a:extLst>
          </p:cNvPr>
          <p:cNvSpPr txBox="1"/>
          <p:nvPr/>
        </p:nvSpPr>
        <p:spPr>
          <a:xfrm>
            <a:off x="5902881" y="5677383"/>
            <a:ext cx="3386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</a:rPr>
              <a:t>每次更新都會倍數遞減 </a:t>
            </a:r>
            <a:r>
              <a:rPr kumimoji="1" lang="en-US" altLang="zh-TW" sz="2400" dirty="0">
                <a:solidFill>
                  <a:srgbClr val="FF0000"/>
                </a:solidFill>
              </a:rPr>
              <a:t>(weight decay)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0256084-C999-46B6-77BE-425E09795184}"/>
              </a:ext>
            </a:extLst>
          </p:cNvPr>
          <p:cNvCxnSpPr>
            <a:cxnSpLocks/>
          </p:cNvCxnSpPr>
          <p:nvPr/>
        </p:nvCxnSpPr>
        <p:spPr>
          <a:xfrm>
            <a:off x="6864305" y="5488747"/>
            <a:ext cx="12801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5F92673-A61E-FC88-8BF7-69DABA7ED922}"/>
              </a:ext>
            </a:extLst>
          </p:cNvPr>
          <p:cNvSpPr/>
          <p:nvPr/>
        </p:nvSpPr>
        <p:spPr>
          <a:xfrm>
            <a:off x="2280976" y="3646302"/>
            <a:ext cx="1718268" cy="9645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991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  <p:bldP spid="14" grpId="0"/>
      <p:bldP spid="15" grpId="1"/>
      <p:bldP spid="16" grpId="0"/>
      <p:bldP spid="17" grpId="0"/>
      <p:bldP spid="8" grpId="0" animBg="1"/>
      <p:bldP spid="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435F-4B83-BDFC-6E18-0C0A1971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1C2CAB-EEF2-D457-D61C-3867ACB8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</a:t>
            </a:r>
            <a:r>
              <a:rPr kumimoji="1" lang="en-US" altLang="zh-TW" baseline="30000" dirty="0"/>
              <a:t>1</a:t>
            </a:r>
            <a:r>
              <a:rPr kumimoji="1" lang="en-US" altLang="zh-TW" dirty="0"/>
              <a:t> Regularization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5B5BA6-51A2-8259-2CA7-66568E86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7A431BD-893D-867E-2127-772DAD9370BD}"/>
                  </a:ext>
                </a:extLst>
              </p:cNvPr>
              <p:cNvSpPr txBox="1"/>
              <p:nvPr/>
            </p:nvSpPr>
            <p:spPr>
              <a:xfrm>
                <a:off x="2096759" y="2379581"/>
                <a:ext cx="35805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7A431BD-893D-867E-2127-772DAD937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759" y="2379581"/>
                <a:ext cx="35805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FE0B6E17-7E3A-ADA2-59E1-DCB6A4DD1D44}"/>
              </a:ext>
            </a:extLst>
          </p:cNvPr>
          <p:cNvSpPr txBox="1"/>
          <p:nvPr/>
        </p:nvSpPr>
        <p:spPr>
          <a:xfrm>
            <a:off x="2644391" y="6317246"/>
            <a:ext cx="690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</a:t>
            </a:r>
            <a:r>
              <a:rPr kumimoji="1" lang="en-US" altLang="zh-TW" baseline="30000" dirty="0"/>
              <a:t>1</a:t>
            </a:r>
            <a:r>
              <a:rPr kumimoji="1" lang="en-US" altLang="zh-TW" dirty="0"/>
              <a:t>-Norm </a:t>
            </a:r>
            <a:r>
              <a:rPr kumimoji="1" lang="zh-TW" altLang="en-US" dirty="0"/>
              <a:t>說明：</a:t>
            </a:r>
            <a:r>
              <a:rPr kumimoji="1" lang="en" altLang="zh-TW" dirty="0"/>
              <a:t>https://</a:t>
            </a:r>
            <a:r>
              <a:rPr kumimoji="1" lang="en" altLang="zh-TW" dirty="0" err="1"/>
              <a:t>mathworld.wolfram.com</a:t>
            </a:r>
            <a:r>
              <a:rPr kumimoji="1" lang="en" altLang="zh-TW" dirty="0"/>
              <a:t>/L1-Norm.html</a:t>
            </a:r>
            <a:endParaRPr kumimoji="1"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E5E8DAA-5A09-E434-EC06-150EEC450CDB}"/>
              </a:ext>
            </a:extLst>
          </p:cNvPr>
          <p:cNvCxnSpPr>
            <a:cxnSpLocks/>
          </p:cNvCxnSpPr>
          <p:nvPr/>
        </p:nvCxnSpPr>
        <p:spPr>
          <a:xfrm>
            <a:off x="5161506" y="2907865"/>
            <a:ext cx="8273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1DB49E8-BDBA-8F8C-83EB-F15866B2324C}"/>
              </a:ext>
            </a:extLst>
          </p:cNvPr>
          <p:cNvSpPr txBox="1"/>
          <p:nvPr/>
        </p:nvSpPr>
        <p:spPr>
          <a:xfrm>
            <a:off x="5101219" y="2992403"/>
            <a:ext cx="1922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L</a:t>
            </a:r>
            <a:r>
              <a:rPr kumimoji="1" lang="en-US" altLang="zh-TW" sz="2400" baseline="30000" dirty="0">
                <a:solidFill>
                  <a:srgbClr val="FF0000"/>
                </a:solidFill>
              </a:rPr>
              <a:t>1</a:t>
            </a:r>
            <a:r>
              <a:rPr kumimoji="1" lang="en-US" altLang="zh-TW" sz="2400" dirty="0">
                <a:solidFill>
                  <a:srgbClr val="FF0000"/>
                </a:solidFill>
              </a:rPr>
              <a:t>-Norm</a:t>
            </a:r>
            <a:endParaRPr lang="zh-TW" altLang="zh-TW" sz="24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CF38F9C-5808-B82F-0FE8-A6A645007368}"/>
              </a:ext>
            </a:extLst>
          </p:cNvPr>
          <p:cNvCxnSpPr/>
          <p:nvPr/>
        </p:nvCxnSpPr>
        <p:spPr>
          <a:xfrm flipV="1">
            <a:off x="3386294" y="3034955"/>
            <a:ext cx="0" cy="964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E2CD7EB-241A-653E-1A94-060739FA761A}"/>
                  </a:ext>
                </a:extLst>
              </p:cNvPr>
              <p:cNvSpPr txBox="1"/>
              <p:nvPr/>
            </p:nvSpPr>
            <p:spPr>
              <a:xfrm>
                <a:off x="1085220" y="4174107"/>
                <a:ext cx="64912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400" dirty="0"/>
                  <a:t>代表模型的目標除了要讓 </a:t>
                </a:r>
                <a14:m>
                  <m:oMath xmlns:m="http://schemas.openxmlformats.org/officeDocument/2006/math">
                    <m:r>
                      <a:rPr lang="zh-TW" altLang="en-US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kumimoji="1" lang="zh-TW" altLang="en-US" sz="2400" dirty="0"/>
                  <a:t> 越小越好之外，</a:t>
                </a:r>
                <a:endParaRPr kumimoji="1" lang="en-US" altLang="zh-TW" sz="2400" dirty="0"/>
              </a:p>
              <a:p>
                <a:r>
                  <a:rPr kumimoji="1" lang="zh-TW" altLang="en-US" sz="2400" dirty="0"/>
                  <a:t>還要讓所有的</a:t>
                </a:r>
                <a:r>
                  <a:rPr kumimoji="1" lang="en-US" altLang="zh-TW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0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kumimoji="1" lang="en-US" altLang="zh-TW" sz="2400" dirty="0"/>
                  <a:t> </a:t>
                </a:r>
                <a:r>
                  <a:rPr kumimoji="1" lang="zh-TW" altLang="en-US" sz="2400" dirty="0"/>
                  <a:t>的</a:t>
                </a:r>
                <a:r>
                  <a:rPr kumimoji="1" lang="zh-TW" altLang="en-US" sz="2400" dirty="0">
                    <a:solidFill>
                      <a:srgbClr val="FF0000"/>
                    </a:solidFill>
                  </a:rPr>
                  <a:t>絕對值和</a:t>
                </a:r>
                <a:r>
                  <a:rPr kumimoji="1" lang="zh-TW" altLang="en-US" sz="2400" dirty="0"/>
                  <a:t>越小越好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E2CD7EB-241A-653E-1A94-060739FA7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20" y="4174107"/>
                <a:ext cx="6491234" cy="830997"/>
              </a:xfrm>
              <a:prstGeom prst="rect">
                <a:avLst/>
              </a:prstGeom>
              <a:blipFill>
                <a:blip r:embed="rId4"/>
                <a:stretch>
                  <a:fillRect l="-1563" t="-5970" b="-164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FD57C1C-9184-3F18-C125-FE9B0C71C909}"/>
                  </a:ext>
                </a:extLst>
              </p:cNvPr>
              <p:cNvSpPr txBox="1"/>
              <p:nvPr/>
            </p:nvSpPr>
            <p:spPr>
              <a:xfrm>
                <a:off x="8780576" y="1422333"/>
                <a:ext cx="298604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正則項的比例 </a:t>
                </a:r>
                <a:r>
                  <a:rPr lang="en-US" altLang="zh-TW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(0-1</a:t>
                </a:r>
                <a:r>
                  <a:rPr lang="zh-TW" altLang="en-US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之間</a:t>
                </a:r>
                <a:r>
                  <a:rPr lang="en-US" altLang="zh-TW" sz="1800" kern="100" dirty="0">
                    <a:effectLst/>
                    <a:latin typeface="+mn-ea"/>
                    <a:cs typeface="Times New Roman" panose="02020603050405020304" pitchFamily="18" charset="0"/>
                  </a:rPr>
                  <a:t>)</a:t>
                </a:r>
                <a:endParaRPr lang="zh-TW" altLang="zh-TW" sz="18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FD57C1C-9184-3F18-C125-FE9B0C71C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576" y="1422333"/>
                <a:ext cx="2986040" cy="646331"/>
              </a:xfrm>
              <a:prstGeom prst="rect">
                <a:avLst/>
              </a:prstGeom>
              <a:blipFill>
                <a:blip r:embed="rId5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AD60F8-A6C7-E09A-4926-525F7E512FB1}"/>
                  </a:ext>
                </a:extLst>
              </p:cNvPr>
              <p:cNvSpPr txBox="1"/>
              <p:nvPr/>
            </p:nvSpPr>
            <p:spPr>
              <a:xfrm>
                <a:off x="4330837" y="2394336"/>
                <a:ext cx="22156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AD60F8-A6C7-E09A-4926-525F7E512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837" y="2394336"/>
                <a:ext cx="2215661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8D0A5D4-10FA-3B6B-1CD5-DECBE8765642}"/>
                  </a:ext>
                </a:extLst>
              </p:cNvPr>
              <p:cNvSpPr txBox="1"/>
              <p:nvPr/>
            </p:nvSpPr>
            <p:spPr>
              <a:xfrm>
                <a:off x="6407496" y="2671690"/>
                <a:ext cx="5164015" cy="110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zh-TW" sz="2400" kern="100" dirty="0">
                  <a:solidFill>
                    <a:srgbClr val="FF0000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8D0A5D4-10FA-3B6B-1CD5-DECBE8765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496" y="2671690"/>
                <a:ext cx="5164015" cy="1100558"/>
              </a:xfrm>
              <a:prstGeom prst="rect">
                <a:avLst/>
              </a:prstGeom>
              <a:blipFill>
                <a:blip r:embed="rId7"/>
                <a:stretch>
                  <a:fillRect l="-14706" t="-106818" b="-161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93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3F93-4227-682A-0332-0832D6C3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0C7B1-A29B-936C-B0C0-4931EB37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Gradient Descent with L1 Regularization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F998FC-9DC6-072C-381D-0236E624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9307915-71C0-5C91-EA2D-E79E97C4EFBD}"/>
                  </a:ext>
                </a:extLst>
              </p:cNvPr>
              <p:cNvSpPr txBox="1"/>
              <p:nvPr/>
            </p:nvSpPr>
            <p:spPr>
              <a:xfrm>
                <a:off x="6194981" y="2552016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9307915-71C0-5C91-EA2D-E79E97C4E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981" y="2552016"/>
                <a:ext cx="4020064" cy="984372"/>
              </a:xfrm>
              <a:prstGeom prst="rect">
                <a:avLst/>
              </a:prstGeom>
              <a:blipFill>
                <a:blip r:embed="rId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08C881E-E66F-AF58-2856-6859526E8107}"/>
                  </a:ext>
                </a:extLst>
              </p:cNvPr>
              <p:cNvSpPr txBox="1"/>
              <p:nvPr/>
            </p:nvSpPr>
            <p:spPr>
              <a:xfrm>
                <a:off x="839034" y="1973100"/>
                <a:ext cx="35822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a:rPr lang="en-US" altLang="zh-TW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08C881E-E66F-AF58-2856-6859526E8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4" y="1973100"/>
                <a:ext cx="3582237" cy="523220"/>
              </a:xfrm>
              <a:prstGeom prst="rect">
                <a:avLst/>
              </a:prstGeom>
              <a:blipFill>
                <a:blip r:embed="rId3"/>
                <a:stretch>
                  <a:fillRect l="-1064" b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4986F87-9D02-4A4C-23D4-1766FD62F81B}"/>
                  </a:ext>
                </a:extLst>
              </p:cNvPr>
              <p:cNvSpPr txBox="1"/>
              <p:nvPr/>
            </p:nvSpPr>
            <p:spPr>
              <a:xfrm>
                <a:off x="839034" y="3611213"/>
                <a:ext cx="6539666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4986F87-9D02-4A4C-23D4-1766FD62F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4" y="3611213"/>
                <a:ext cx="6539666" cy="984372"/>
              </a:xfrm>
              <a:prstGeom prst="rect">
                <a:avLst/>
              </a:prstGeom>
              <a:blipFill>
                <a:blip r:embed="rId4"/>
                <a:stretch>
                  <a:fillRect l="-583" b="-5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5155F51-5EE7-1DF0-1BB7-084961236837}"/>
                  </a:ext>
                </a:extLst>
              </p:cNvPr>
              <p:cNvSpPr txBox="1"/>
              <p:nvPr/>
            </p:nvSpPr>
            <p:spPr>
              <a:xfrm>
                <a:off x="6681740" y="3646302"/>
                <a:ext cx="491263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5155F51-5EE7-1DF0-1BB7-084961236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740" y="3646302"/>
                <a:ext cx="4912634" cy="984372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09099D0-8CC2-D2E2-B34D-A3805A03BE4B}"/>
                  </a:ext>
                </a:extLst>
              </p:cNvPr>
              <p:cNvSpPr txBox="1"/>
              <p:nvPr/>
            </p:nvSpPr>
            <p:spPr>
              <a:xfrm>
                <a:off x="839034" y="2867331"/>
                <a:ext cx="3582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400" dirty="0">
                    <a:solidFill>
                      <a:srgbClr val="0070C0"/>
                    </a:solidFill>
                  </a:rPr>
                  <a:t>對任意</a:t>
                </a:r>
                <a:r>
                  <a:rPr kumimoji="1" lang="en-US" altLang="zh-TW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zh-TW" altLang="en-US" sz="2400" dirty="0">
                    <a:solidFill>
                      <a:srgbClr val="0070C0"/>
                    </a:solidFill>
                  </a:rPr>
                  <a:t>進行偏微分：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09099D0-8CC2-D2E2-B34D-A3805A03B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34" y="2867331"/>
                <a:ext cx="3582237" cy="461665"/>
              </a:xfrm>
              <a:prstGeom prst="rect">
                <a:avLst/>
              </a:prstGeom>
              <a:blipFill>
                <a:blip r:embed="rId6"/>
                <a:stretch>
                  <a:fillRect l="-2837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69A079D7-7B7F-0FD1-3A0D-1EAB3984329E}"/>
              </a:ext>
            </a:extLst>
          </p:cNvPr>
          <p:cNvSpPr txBox="1"/>
          <p:nvPr/>
        </p:nvSpPr>
        <p:spPr>
          <a:xfrm>
            <a:off x="5594278" y="2003878"/>
            <a:ext cx="1822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0070C0"/>
                </a:solidFill>
              </a:rPr>
              <a:t>梯度下降：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DF3A6EE-4017-2726-D535-98861BBBF12A}"/>
              </a:ext>
            </a:extLst>
          </p:cNvPr>
          <p:cNvSpPr txBox="1"/>
          <p:nvPr/>
        </p:nvSpPr>
        <p:spPr>
          <a:xfrm>
            <a:off x="5594278" y="3927751"/>
            <a:ext cx="137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0070C0"/>
                </a:solidFill>
              </a:rPr>
              <a:t>(</a:t>
            </a:r>
            <a:r>
              <a:rPr kumimoji="1" lang="zh-TW" altLang="en-US" sz="2400" dirty="0">
                <a:solidFill>
                  <a:srgbClr val="0070C0"/>
                </a:solidFill>
              </a:rPr>
              <a:t>代入</a:t>
            </a:r>
            <a:r>
              <a:rPr kumimoji="1" lang="en-US" altLang="zh-TW" sz="2400" dirty="0">
                <a:solidFill>
                  <a:srgbClr val="0070C0"/>
                </a:solidFill>
              </a:rPr>
              <a:t>)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5A29647-D53B-0EE7-EB91-8CBF7D763269}"/>
              </a:ext>
            </a:extLst>
          </p:cNvPr>
          <p:cNvSpPr txBox="1"/>
          <p:nvPr/>
        </p:nvSpPr>
        <p:spPr>
          <a:xfrm>
            <a:off x="8227873" y="4689788"/>
            <a:ext cx="3386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</a:rPr>
              <a:t>每次更新都會扣減 </a:t>
            </a:r>
            <a:r>
              <a:rPr kumimoji="1" lang="en-US" altLang="zh-TW" sz="2400" dirty="0">
                <a:solidFill>
                  <a:srgbClr val="FF0000"/>
                </a:solidFill>
              </a:rPr>
              <a:t>(weight decay)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3082350-06FB-F7A9-6519-47F3F4A8435A}"/>
              </a:ext>
            </a:extLst>
          </p:cNvPr>
          <p:cNvCxnSpPr>
            <a:cxnSpLocks/>
          </p:cNvCxnSpPr>
          <p:nvPr/>
        </p:nvCxnSpPr>
        <p:spPr>
          <a:xfrm>
            <a:off x="7974752" y="4633685"/>
            <a:ext cx="31479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02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F8788-8ED4-4490-91E7-1ACEC23C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AdamW</a:t>
            </a:r>
            <a:r>
              <a:rPr kumimoji="1" lang="en-US" altLang="zh-TW" dirty="0"/>
              <a:t> will be in Week 7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32D448-AB0A-B7D9-469C-BF99A7E9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A4C83F-3B1C-7E38-E74C-4C9EAE3C2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50" y="2337560"/>
            <a:ext cx="8411700" cy="303567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94922D5-CAF1-9516-8F07-8F4426B29EC8}"/>
              </a:ext>
            </a:extLst>
          </p:cNvPr>
          <p:cNvSpPr txBox="1"/>
          <p:nvPr/>
        </p:nvSpPr>
        <p:spPr>
          <a:xfrm>
            <a:off x="2651513" y="5819665"/>
            <a:ext cx="6888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Week7: </a:t>
            </a:r>
            <a:r>
              <a:rPr kumimoji="1" lang="zh-TW" altLang="en-US" sz="2000" dirty="0"/>
              <a:t>過擬合、正規化、模型訓練技巧、期末專案介紹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48F685-B6F1-6E55-CFF3-A452EB481F77}"/>
              </a:ext>
            </a:extLst>
          </p:cNvPr>
          <p:cNvSpPr txBox="1"/>
          <p:nvPr/>
        </p:nvSpPr>
        <p:spPr>
          <a:xfrm>
            <a:off x="558875" y="1732240"/>
            <a:ext cx="287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70C0"/>
                </a:solidFill>
              </a:rPr>
              <a:t>The paper of </a:t>
            </a:r>
            <a:r>
              <a:rPr kumimoji="1" lang="en-US" altLang="zh-TW" sz="2000" dirty="0" err="1">
                <a:solidFill>
                  <a:srgbClr val="0070C0"/>
                </a:solidFill>
              </a:rPr>
              <a:t>AdamW</a:t>
            </a:r>
            <a:r>
              <a:rPr kumimoji="1" lang="en-US" altLang="zh-TW" sz="2000" dirty="0">
                <a:solidFill>
                  <a:srgbClr val="0070C0"/>
                </a:solidFill>
              </a:rPr>
              <a:t>: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65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31BEB-AA35-99AB-AD32-A4612C46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[Recap] Adam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8A8EA-FC84-EE22-BC36-DB7FCE4B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416527-037B-6EE2-66D8-3CC64DBAE34B}"/>
              </a:ext>
            </a:extLst>
          </p:cNvPr>
          <p:cNvSpPr txBox="1"/>
          <p:nvPr/>
        </p:nvSpPr>
        <p:spPr>
          <a:xfrm>
            <a:off x="636815" y="1634131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Adam: adaptive moment estimation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結合了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 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的概念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1E40E4-52D9-EC9D-8E28-4F97B88F70BA}"/>
              </a:ext>
            </a:extLst>
          </p:cNvPr>
          <p:cNvSpPr txBox="1"/>
          <p:nvPr/>
        </p:nvSpPr>
        <p:spPr>
          <a:xfrm>
            <a:off x="2879749" y="6123172"/>
            <a:ext cx="6432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 err="1"/>
              <a:t>Kingma</a:t>
            </a:r>
            <a:r>
              <a:rPr lang="en" altLang="zh-TW" sz="1600" dirty="0"/>
              <a:t>, </a:t>
            </a:r>
            <a:r>
              <a:rPr lang="en" altLang="zh-TW" sz="1600" dirty="0" err="1"/>
              <a:t>Diederik</a:t>
            </a:r>
            <a:r>
              <a:rPr lang="en" altLang="zh-TW" sz="1600" dirty="0"/>
              <a:t> P., and Jimmy Ba. "Adam: A method for stochastic optimization." ICLR</a:t>
            </a:r>
            <a:r>
              <a:rPr lang="en" altLang="zh-TW" sz="1600" i="1" dirty="0"/>
              <a:t> </a:t>
            </a:r>
            <a:r>
              <a:rPr lang="en" altLang="zh-TW" sz="1600" dirty="0"/>
              <a:t>2015. </a:t>
            </a:r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/abs/1412.6980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55906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5DCA-AD23-0483-23A6-76AA1B5E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ea typeface="Microsoft JhengHei" panose="020B0604030504040204" pitchFamily="34" charset="-120"/>
              </a:rPr>
              <a:t>如何有效訓練深度學習模型？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C4522-D889-E6D5-61A5-99D5D8C7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FC8C5A-0B29-3309-726A-17AB931575B6}"/>
              </a:ext>
            </a:extLst>
          </p:cNvPr>
          <p:cNvSpPr txBox="1"/>
          <p:nvPr/>
        </p:nvSpPr>
        <p:spPr>
          <a:xfrm>
            <a:off x="653143" y="1715588"/>
            <a:ext cx="1776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Optimizer: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A12DC8-C115-9691-A037-B1A755AB049B}"/>
              </a:ext>
            </a:extLst>
          </p:cNvPr>
          <p:cNvSpPr txBox="1"/>
          <p:nvPr/>
        </p:nvSpPr>
        <p:spPr>
          <a:xfrm>
            <a:off x="1006610" y="2177253"/>
            <a:ext cx="10918370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對梯度動手腳</a:t>
            </a:r>
            <a:endParaRPr kumimoji="1" lang="en-US" altLang="zh-TW" sz="2400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自動調整學習率</a:t>
            </a:r>
            <a:endParaRPr kumimoji="1" lang="en-US" altLang="zh-TW" sz="2400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193277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276F-E6FE-6F28-70F3-A3BC79B1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6C20D8-03EC-54D4-1B33-BB4ABBA0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Adam</a:t>
            </a:r>
            <a:r>
              <a:rPr kumimoji="1" lang="zh-TW" altLang="en-US" dirty="0"/>
              <a:t> 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463B63-F59E-9B86-69D3-6EDBC990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48E84EE-6624-7AD3-705D-D257416D9120}"/>
              </a:ext>
            </a:extLst>
          </p:cNvPr>
          <p:cNvSpPr txBox="1"/>
          <p:nvPr/>
        </p:nvSpPr>
        <p:spPr>
          <a:xfrm>
            <a:off x="636815" y="1634131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Adam: Momentum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 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的概念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724B70-7019-81B7-4E8A-05F2AD5380EA}"/>
              </a:ext>
            </a:extLst>
          </p:cNvPr>
          <p:cNvSpPr txBox="1"/>
          <p:nvPr/>
        </p:nvSpPr>
        <p:spPr>
          <a:xfrm>
            <a:off x="2879749" y="6123172"/>
            <a:ext cx="6432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 err="1"/>
              <a:t>Kingma</a:t>
            </a:r>
            <a:r>
              <a:rPr lang="en" altLang="zh-TW" sz="1600" dirty="0"/>
              <a:t>, </a:t>
            </a:r>
            <a:r>
              <a:rPr lang="en" altLang="zh-TW" sz="1600" dirty="0" err="1"/>
              <a:t>Diederik</a:t>
            </a:r>
            <a:r>
              <a:rPr lang="en" altLang="zh-TW" sz="1600" dirty="0"/>
              <a:t> P., and Jimmy Ba. "Adam: A method for stochastic optimization." ICLR</a:t>
            </a:r>
            <a:r>
              <a:rPr lang="en" altLang="zh-TW" sz="1600" i="1" dirty="0"/>
              <a:t> </a:t>
            </a:r>
            <a:r>
              <a:rPr lang="en" altLang="zh-TW" sz="1600" dirty="0"/>
              <a:t>2015. </a:t>
            </a:r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/abs/1412.6980</a:t>
            </a:r>
            <a:endParaRPr kumimoji="1" lang="zh-TW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62C5CA2-BB84-0622-4FFD-E7246B8F538D}"/>
                  </a:ext>
                </a:extLst>
              </p:cNvPr>
              <p:cNvSpPr txBox="1"/>
              <p:nvPr/>
            </p:nvSpPr>
            <p:spPr>
              <a:xfrm>
                <a:off x="977153" y="2744076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1️⃣ </a:t>
                </a:r>
                <a:r>
                  <a:rPr lang="zh-TW" altLang="en-US" sz="2400" dirty="0"/>
                  <a:t>計算梯度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62C5CA2-BB84-0622-4FFD-E7246B8F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2744076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l="-1455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1FAB2E5-5903-59C1-5F18-AD3687DC5C46}"/>
                  </a:ext>
                </a:extLst>
              </p:cNvPr>
              <p:cNvSpPr txBox="1"/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2️⃣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以移動平均</a:t>
                </a:r>
                <a:r>
                  <a:rPr lang="zh-TW" altLang="en-US" sz="2400" dirty="0"/>
                  <a:t>紀錄梯度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</a:rPr>
                  <a:t> (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為了對梯度動手腳 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-- Momentum)</a:t>
                </a:r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1FAB2E5-5903-59C1-5F18-AD3687DC5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blipFill>
                <a:blip r:embed="rId4"/>
                <a:stretch>
                  <a:fillRect l="-857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ABE6290-142D-1DEA-A241-543D1EB0337B}"/>
                  </a:ext>
                </a:extLst>
              </p:cNvPr>
              <p:cNvSpPr txBox="1"/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3️⃣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以移動平均</a:t>
                </a:r>
                <a:r>
                  <a:rPr lang="zh-TW" altLang="en-US" sz="2400" dirty="0"/>
                  <a:t>紀錄梯度平方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:r>
                  <a:rPr lang="zh-TW" altLang="en-US" sz="2400" dirty="0"/>
                  <a:t>為了調整學習率</a:t>
                </a:r>
                <a:r>
                  <a:rPr lang="en-US" altLang="zh-TW" sz="2400" dirty="0"/>
                  <a:t> -- Adagrad)</a:t>
                </a:r>
                <a:endParaRPr lang="zh-TW" altLang="zh-TW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ABE6290-142D-1DEA-A241-543D1EB03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blipFill>
                <a:blip r:embed="rId5"/>
                <a:stretch>
                  <a:fillRect l="-933" t="-10256" b="-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D385DD-6313-5F48-DB90-C7C916666291}"/>
                  </a:ext>
                </a:extLst>
              </p:cNvPr>
              <p:cNvSpPr txBox="1"/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4️⃣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更新參數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zh-TW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TW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TW" altLang="zh-TW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D385DD-6313-5F48-DB90-C7C916666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blipFill>
                <a:blip r:embed="rId6"/>
                <a:stretch>
                  <a:fillRect l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264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ED1DB-CC02-E17E-7495-7A3DA3C9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02EA67-8708-3360-B025-7C2AEA43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F9A021-E052-17D1-B752-7344064B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6433"/>
            <a:ext cx="7772400" cy="486454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C47B8B5-0BA7-A571-B52C-B86FA0959BE0}"/>
              </a:ext>
            </a:extLst>
          </p:cNvPr>
          <p:cNvSpPr txBox="1"/>
          <p:nvPr/>
        </p:nvSpPr>
        <p:spPr>
          <a:xfrm>
            <a:off x="5617029" y="3573780"/>
            <a:ext cx="170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</a:t>
            </a:r>
            <a:r>
              <a:rPr kumimoji="1" lang="en-US" altLang="zh-TW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omentum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351C67-7210-F3A2-D025-55117520F337}"/>
              </a:ext>
            </a:extLst>
          </p:cNvPr>
          <p:cNvSpPr txBox="1"/>
          <p:nvPr/>
        </p:nvSpPr>
        <p:spPr>
          <a:xfrm>
            <a:off x="5617028" y="3799131"/>
            <a:ext cx="231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chemeClr val="accent6"/>
                </a:solidFill>
              </a:rPr>
              <a:t>Adagrad</a:t>
            </a:r>
            <a:r>
              <a:rPr lang="en-US" altLang="zh-TW" dirty="0">
                <a:solidFill>
                  <a:schemeClr val="accent6"/>
                </a:solidFill>
              </a:rPr>
              <a:t>, </a:t>
            </a:r>
            <a:r>
              <a:rPr lang="en-US" altLang="zh-TW" dirty="0" err="1">
                <a:solidFill>
                  <a:schemeClr val="accent6"/>
                </a:solidFill>
              </a:rPr>
              <a:t>RMSProp</a:t>
            </a:r>
            <a:r>
              <a:rPr lang="en-US" altLang="zh-TW" dirty="0">
                <a:solidFill>
                  <a:schemeClr val="accent6"/>
                </a:solidFill>
              </a:rPr>
              <a:t> 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EE9FE2C-7397-4871-7C49-E5FA2F89F916}"/>
              </a:ext>
            </a:extLst>
          </p:cNvPr>
          <p:cNvCxnSpPr/>
          <p:nvPr/>
        </p:nvCxnSpPr>
        <p:spPr>
          <a:xfrm>
            <a:off x="3065418" y="4067413"/>
            <a:ext cx="231648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E433C28-86F2-B072-015A-C3ED38813893}"/>
              </a:ext>
            </a:extLst>
          </p:cNvPr>
          <p:cNvCxnSpPr/>
          <p:nvPr/>
        </p:nvCxnSpPr>
        <p:spPr>
          <a:xfrm>
            <a:off x="3122021" y="3841792"/>
            <a:ext cx="23164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E266E4D-DD1C-AABB-6D33-8F631AFEE5EC}"/>
              </a:ext>
            </a:extLst>
          </p:cNvPr>
          <p:cNvCxnSpPr>
            <a:cxnSpLocks/>
          </p:cNvCxnSpPr>
          <p:nvPr/>
        </p:nvCxnSpPr>
        <p:spPr>
          <a:xfrm>
            <a:off x="4288970" y="6031196"/>
            <a:ext cx="77071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4A8B5B-F457-060F-C9D9-CCECE1CDB373}"/>
              </a:ext>
            </a:extLst>
          </p:cNvPr>
          <p:cNvSpPr txBox="1"/>
          <p:nvPr/>
        </p:nvSpPr>
        <p:spPr>
          <a:xfrm>
            <a:off x="3966711" y="2712064"/>
            <a:ext cx="170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Learning rate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5F7705-9325-E6CD-0AB7-8B10E9C86D2D}"/>
              </a:ext>
            </a:extLst>
          </p:cNvPr>
          <p:cNvSpPr/>
          <p:nvPr/>
        </p:nvSpPr>
        <p:spPr>
          <a:xfrm>
            <a:off x="2535809" y="5354117"/>
            <a:ext cx="5872899" cy="703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387B059-C7EA-2B02-3829-0E99632A6E54}"/>
              </a:ext>
            </a:extLst>
          </p:cNvPr>
          <p:cNvSpPr txBox="1"/>
          <p:nvPr/>
        </p:nvSpPr>
        <p:spPr>
          <a:xfrm>
            <a:off x="6809173" y="687744"/>
            <a:ext cx="4762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Kingma</a:t>
            </a:r>
            <a:r>
              <a:rPr lang="en" altLang="zh-TW" sz="1200" dirty="0"/>
              <a:t>, </a:t>
            </a:r>
            <a:r>
              <a:rPr lang="en" altLang="zh-TW" sz="1200" dirty="0" err="1"/>
              <a:t>Diederik</a:t>
            </a:r>
            <a:r>
              <a:rPr lang="en" altLang="zh-TW" sz="1200" dirty="0"/>
              <a:t> P., and Jimmy Ba. "Adam: A method for stochastic optimization." ICLR</a:t>
            </a:r>
            <a:r>
              <a:rPr lang="en" altLang="zh-TW" sz="1200" i="1" dirty="0"/>
              <a:t> </a:t>
            </a:r>
            <a:r>
              <a:rPr lang="en" altLang="zh-TW" sz="1200" dirty="0"/>
              <a:t>2015. </a:t>
            </a:r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arxiv.org</a:t>
            </a:r>
            <a:r>
              <a:rPr kumimoji="1" lang="en" altLang="zh-TW" sz="1200" dirty="0"/>
              <a:t>/abs/1412.6980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603E8E-523C-6AEF-72EE-6C1C3EFACE10}"/>
                  </a:ext>
                </a:extLst>
              </p:cNvPr>
              <p:cNvSpPr txBox="1"/>
              <p:nvPr/>
            </p:nvSpPr>
            <p:spPr>
              <a:xfrm>
                <a:off x="8501139" y="3597039"/>
                <a:ext cx="1974036" cy="9233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[Adam]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TW" altLang="en-US" dirty="0"/>
                  <a:t> 記錄梯度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記錄梯度平方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603E8E-523C-6AEF-72EE-6C1C3EFAC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39" y="3597039"/>
                <a:ext cx="1974036" cy="923330"/>
              </a:xfrm>
              <a:prstGeom prst="rect">
                <a:avLst/>
              </a:prstGeom>
              <a:blipFill>
                <a:blip r:embed="rId4"/>
                <a:stretch>
                  <a:fillRect l="-2548" t="-1333" b="-800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01EB24B8-45EE-B53F-8888-254B9FFAEEA4}"/>
              </a:ext>
            </a:extLst>
          </p:cNvPr>
          <p:cNvSpPr txBox="1"/>
          <p:nvPr/>
        </p:nvSpPr>
        <p:spPr>
          <a:xfrm>
            <a:off x="8637291" y="4951674"/>
            <a:ext cx="268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accent6"/>
                </a:solidFill>
              </a:rPr>
              <a:t>移動平均取自 </a:t>
            </a:r>
            <a:r>
              <a:rPr lang="en-US" altLang="zh-TW" dirty="0" err="1">
                <a:solidFill>
                  <a:schemeClr val="accent6"/>
                </a:solidFill>
              </a:rPr>
              <a:t>RMSProp</a:t>
            </a:r>
            <a:r>
              <a:rPr lang="en-US" altLang="zh-TW" dirty="0">
                <a:solidFill>
                  <a:schemeClr val="accent6"/>
                </a:solidFill>
              </a:rPr>
              <a:t> 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9D0C143-6859-1D66-55CD-A2A2590E9019}"/>
              </a:ext>
            </a:extLst>
          </p:cNvPr>
          <p:cNvCxnSpPr>
            <a:cxnSpLocks/>
          </p:cNvCxnSpPr>
          <p:nvPr/>
        </p:nvCxnSpPr>
        <p:spPr>
          <a:xfrm>
            <a:off x="3107079" y="5136340"/>
            <a:ext cx="29306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086322A-6C1F-A650-A83B-21B13506B5E0}"/>
              </a:ext>
            </a:extLst>
          </p:cNvPr>
          <p:cNvCxnSpPr>
            <a:cxnSpLocks/>
          </p:cNvCxnSpPr>
          <p:nvPr/>
        </p:nvCxnSpPr>
        <p:spPr>
          <a:xfrm>
            <a:off x="3065418" y="5345288"/>
            <a:ext cx="29306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56FA1F3-E39B-2B0D-36EF-391482595884}"/>
              </a:ext>
            </a:extLst>
          </p:cNvPr>
          <p:cNvCxnSpPr>
            <a:cxnSpLocks/>
          </p:cNvCxnSpPr>
          <p:nvPr/>
        </p:nvCxnSpPr>
        <p:spPr>
          <a:xfrm>
            <a:off x="4022704" y="5345288"/>
            <a:ext cx="65162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8E4216F-5044-6644-B353-30C4A8C70D18}"/>
              </a:ext>
            </a:extLst>
          </p:cNvPr>
          <p:cNvCxnSpPr>
            <a:cxnSpLocks/>
          </p:cNvCxnSpPr>
          <p:nvPr/>
        </p:nvCxnSpPr>
        <p:spPr>
          <a:xfrm>
            <a:off x="4197024" y="5136340"/>
            <a:ext cx="65162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B98D567-7F8F-FC1E-15EC-D25FF0F3578E}"/>
              </a:ext>
            </a:extLst>
          </p:cNvPr>
          <p:cNvSpPr txBox="1"/>
          <p:nvPr/>
        </p:nvSpPr>
        <p:spPr>
          <a:xfrm>
            <a:off x="6691797" y="5705632"/>
            <a:ext cx="124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chemeClr val="accent6"/>
                </a:solidFill>
              </a:rPr>
              <a:t>Adagrad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434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15091-E575-D498-64E0-3ED1E083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實作細節</a:t>
            </a:r>
            <a:r>
              <a:rPr kumimoji="1" lang="en-US" altLang="zh-TW" dirty="0"/>
              <a:t>] </a:t>
            </a:r>
            <a:r>
              <a:rPr kumimoji="1" lang="zh-TW" altLang="en-US" dirty="0"/>
              <a:t>把 </a:t>
            </a:r>
            <a:r>
              <a:rPr kumimoji="1" lang="en-US" altLang="zh-TW" dirty="0"/>
              <a:t>L</a:t>
            </a:r>
            <a:r>
              <a:rPr kumimoji="1" lang="en-US" altLang="zh-TW" baseline="30000" dirty="0"/>
              <a:t>2</a:t>
            </a:r>
            <a:r>
              <a:rPr kumimoji="1" lang="en-US" altLang="zh-TW" dirty="0"/>
              <a:t> Regularization </a:t>
            </a:r>
            <a:r>
              <a:rPr kumimoji="1" lang="zh-TW" altLang="en-US" dirty="0"/>
              <a:t>加到 </a:t>
            </a:r>
            <a:r>
              <a:rPr kumimoji="1" lang="en-US" altLang="zh-TW" dirty="0"/>
              <a:t>SGD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C6E979-5E72-DF4E-8BD9-1C6F1B17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3A69BD5-461E-54CE-A9C7-0085EEED07C7}"/>
                  </a:ext>
                </a:extLst>
              </p:cNvPr>
              <p:cNvSpPr txBox="1"/>
              <p:nvPr/>
            </p:nvSpPr>
            <p:spPr>
              <a:xfrm>
                <a:off x="755580" y="2708217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1️⃣ </a:t>
                </a:r>
                <a:r>
                  <a:rPr lang="zh-TW" altLang="en-US" sz="2400" dirty="0"/>
                  <a:t>計算梯度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3A69BD5-461E-54CE-A9C7-0085EEED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80" y="2708217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l="-1663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B1FC23A-A871-3C78-370C-01CCBF3FA692}"/>
                  </a:ext>
                </a:extLst>
              </p:cNvPr>
              <p:cNvSpPr txBox="1"/>
              <p:nvPr/>
            </p:nvSpPr>
            <p:spPr>
              <a:xfrm>
                <a:off x="755580" y="3393141"/>
                <a:ext cx="95025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2️⃣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更新參數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B1FC23A-A871-3C78-370C-01CCBF3FA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80" y="3393141"/>
                <a:ext cx="9502588" cy="461665"/>
              </a:xfrm>
              <a:prstGeom prst="rect">
                <a:avLst/>
              </a:prstGeom>
              <a:blipFill>
                <a:blip r:embed="rId4"/>
                <a:stretch>
                  <a:fillRect l="-1068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3C36C06-E2A0-9F9D-AF64-5C31119929D0}"/>
                  </a:ext>
                </a:extLst>
              </p:cNvPr>
              <p:cNvSpPr txBox="1"/>
              <p:nvPr/>
            </p:nvSpPr>
            <p:spPr>
              <a:xfrm>
                <a:off x="1594468" y="4894729"/>
                <a:ext cx="4642291" cy="856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3C36C06-E2A0-9F9D-AF64-5C3111992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468" y="4894729"/>
                <a:ext cx="4642291" cy="856966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F9EDB0B-9206-3167-4250-B851C7D10B4A}"/>
              </a:ext>
            </a:extLst>
          </p:cNvPr>
          <p:cNvSpPr/>
          <p:nvPr/>
        </p:nvSpPr>
        <p:spPr>
          <a:xfrm>
            <a:off x="5031745" y="2708216"/>
            <a:ext cx="859010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6CC72A4-0BA9-5856-5AD3-30241DAA90D3}"/>
                  </a:ext>
                </a:extLst>
              </p:cNvPr>
              <p:cNvSpPr txBox="1"/>
              <p:nvPr/>
            </p:nvSpPr>
            <p:spPr>
              <a:xfrm>
                <a:off x="4511792" y="2708216"/>
                <a:ext cx="16495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6CC72A4-0BA9-5856-5AD3-30241DAA9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792" y="2708216"/>
                <a:ext cx="1649506" cy="461665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1B3904A-0C93-E16A-2E5E-96E8631ABA37}"/>
              </a:ext>
            </a:extLst>
          </p:cNvPr>
          <p:cNvCxnSpPr>
            <a:cxnSpLocks/>
          </p:cNvCxnSpPr>
          <p:nvPr/>
        </p:nvCxnSpPr>
        <p:spPr>
          <a:xfrm>
            <a:off x="3561533" y="3953435"/>
            <a:ext cx="0" cy="94129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E00E59-E393-65CF-09BD-B5555A97A01C}"/>
              </a:ext>
            </a:extLst>
          </p:cNvPr>
          <p:cNvSpPr txBox="1"/>
          <p:nvPr/>
        </p:nvSpPr>
        <p:spPr>
          <a:xfrm>
            <a:off x="3704974" y="4113906"/>
            <a:ext cx="13267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等價於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D16C1A1-78EF-AD0E-219F-683977C32028}"/>
              </a:ext>
            </a:extLst>
          </p:cNvPr>
          <p:cNvSpPr txBox="1"/>
          <p:nvPr/>
        </p:nvSpPr>
        <p:spPr>
          <a:xfrm>
            <a:off x="7395881" y="1475584"/>
            <a:ext cx="4303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Loshchilov, Ilya, and Frank Hutter. “Decoupled Weight Decay Regularization.” International Conference on Learning Representations</a:t>
            </a:r>
            <a:r>
              <a:rPr kumimoji="1" lang="zh-TW" altLang="en-US" sz="1400" dirty="0"/>
              <a:t> </a:t>
            </a:r>
            <a:r>
              <a:rPr kumimoji="1" lang="en-US" altLang="zh-TW" sz="1400" dirty="0"/>
              <a:t>(2019)</a:t>
            </a:r>
            <a:r>
              <a:rPr kumimoji="1" lang="en" altLang="zh-TW" sz="1400" dirty="0"/>
              <a:t>.</a:t>
            </a:r>
            <a:endParaRPr kumimoji="1"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755E275-D22F-E85A-2148-878EE6516C2C}"/>
              </a:ext>
            </a:extLst>
          </p:cNvPr>
          <p:cNvSpPr txBox="1"/>
          <p:nvPr/>
        </p:nvSpPr>
        <p:spPr>
          <a:xfrm>
            <a:off x="5973043" y="2769772"/>
            <a:ext cx="5725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0070C0"/>
                </a:solidFill>
              </a:rPr>
              <a:t>證明請見 </a:t>
            </a:r>
            <a:r>
              <a:rPr lang="en-US" altLang="zh-TW" sz="2000" dirty="0" err="1">
                <a:solidFill>
                  <a:srgbClr val="0070C0"/>
                </a:solidFill>
              </a:rPr>
              <a:t>AdamW</a:t>
            </a:r>
            <a:r>
              <a:rPr lang="en-US" altLang="zh-TW" sz="2000" dirty="0">
                <a:solidFill>
                  <a:srgbClr val="0070C0"/>
                </a:solidFill>
              </a:rPr>
              <a:t> </a:t>
            </a:r>
            <a:r>
              <a:rPr lang="zh-TW" altLang="en-US" sz="2000" dirty="0">
                <a:solidFill>
                  <a:srgbClr val="0070C0"/>
                </a:solidFill>
              </a:rPr>
              <a:t>論文 </a:t>
            </a:r>
            <a:r>
              <a:rPr lang="en-US" altLang="zh-TW" sz="2000" dirty="0">
                <a:solidFill>
                  <a:srgbClr val="0070C0"/>
                </a:solidFill>
              </a:rPr>
              <a:t>Proposition 1 proof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3AD59A-31A7-A247-A24C-76DE88E58DCE}"/>
                  </a:ext>
                </a:extLst>
              </p:cNvPr>
              <p:cNvSpPr txBox="1"/>
              <p:nvPr/>
            </p:nvSpPr>
            <p:spPr>
              <a:xfrm>
                <a:off x="2124496" y="1550152"/>
                <a:ext cx="3582237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3AD59A-31A7-A247-A24C-76DE88E58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496" y="1550152"/>
                <a:ext cx="3582237" cy="898964"/>
              </a:xfrm>
              <a:prstGeom prst="rect">
                <a:avLst/>
              </a:prstGeom>
              <a:blipFill>
                <a:blip r:embed="rId7"/>
                <a:stretch>
                  <a:fillRect l="-1060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158DEF73-6912-8E44-1F3C-965358AE1555}"/>
              </a:ext>
            </a:extLst>
          </p:cNvPr>
          <p:cNvSpPr txBox="1"/>
          <p:nvPr/>
        </p:nvSpPr>
        <p:spPr>
          <a:xfrm>
            <a:off x="981652" y="1846051"/>
            <a:ext cx="13267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總目標：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0AEA66D-6621-E838-3B6D-441518A91C4C}"/>
              </a:ext>
            </a:extLst>
          </p:cNvPr>
          <p:cNvSpPr txBox="1"/>
          <p:nvPr/>
        </p:nvSpPr>
        <p:spPr>
          <a:xfrm>
            <a:off x="981652" y="5142524"/>
            <a:ext cx="1326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GD</a:t>
            </a:r>
            <a:r>
              <a:rPr lang="zh-TW" altLang="en-US" sz="2000" dirty="0">
                <a:solidFill>
                  <a:srgbClr val="FF0000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28212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1" grpId="0"/>
      <p:bldP spid="15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3E06C-788C-52B8-97CA-33751CC8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33F34-F875-9FAB-431A-5DE64376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實作細節</a:t>
            </a:r>
            <a:r>
              <a:rPr kumimoji="1" lang="en-US" altLang="zh-TW" dirty="0"/>
              <a:t>] </a:t>
            </a:r>
            <a:r>
              <a:rPr kumimoji="1" lang="zh-TW" altLang="en-US" dirty="0"/>
              <a:t>把 </a:t>
            </a:r>
            <a:r>
              <a:rPr kumimoji="1" lang="en-US" altLang="zh-TW" dirty="0"/>
              <a:t>L2 Regularization </a:t>
            </a:r>
            <a:r>
              <a:rPr kumimoji="1" lang="zh-TW" altLang="en-US" dirty="0"/>
              <a:t>加到 </a:t>
            </a:r>
            <a:r>
              <a:rPr kumimoji="1" lang="en-US" altLang="zh-TW" dirty="0"/>
              <a:t>Adam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458B38-6C84-60AE-D0F8-91668D6B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27A9ED2-0F25-9051-86A2-DBB0F59334EE}"/>
                  </a:ext>
                </a:extLst>
              </p:cNvPr>
              <p:cNvSpPr txBox="1"/>
              <p:nvPr/>
            </p:nvSpPr>
            <p:spPr>
              <a:xfrm>
                <a:off x="977153" y="2744076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1️⃣ </a:t>
                </a:r>
                <a:r>
                  <a:rPr lang="zh-TW" altLang="en-US" sz="2400" dirty="0"/>
                  <a:t>計算梯度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62C5CA2-BB84-0622-4FFD-E7246B8F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2744076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l="-1455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9597E36-CD6B-D745-18BF-ADF5D87D2108}"/>
                  </a:ext>
                </a:extLst>
              </p:cNvPr>
              <p:cNvSpPr txBox="1"/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2️⃣ </a:t>
                </a:r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以移動平均紀錄梯度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 (</a:t>
                </a:r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為了對梯度動手腳 </a:t>
                </a:r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-- Momentum)</a:t>
                </a:r>
                <a:endParaRPr lang="zh-TW" altLang="en-US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9597E36-CD6B-D745-18BF-ADF5D87D2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blipFill>
                <a:blip r:embed="rId4"/>
                <a:stretch>
                  <a:fillRect l="-857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D7EFE6-C343-1E66-E012-56ABF05C6794}"/>
                  </a:ext>
                </a:extLst>
              </p:cNvPr>
              <p:cNvSpPr txBox="1"/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3️⃣ </a:t>
                </a:r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以移動平均紀錄梯度平方</a:t>
                </a:r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(</a:t>
                </a:r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為了調整學習率</a:t>
                </a:r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 -- Adagrad)</a:t>
                </a:r>
                <a:endParaRPr lang="zh-TW" altLang="zh-TW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D7EFE6-C343-1E66-E012-56ABF05C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blipFill>
                <a:blip r:embed="rId5"/>
                <a:stretch>
                  <a:fillRect l="-933" t="-10256" b="-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2CD3D5E-D515-FAC9-E869-FC9AC25CEBCA}"/>
                  </a:ext>
                </a:extLst>
              </p:cNvPr>
              <p:cNvSpPr txBox="1"/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</a:rPr>
                  <a:t>4️⃣ </a:t>
                </a:r>
                <a:r>
                  <a:rPr lang="zh-TW" alt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更新參數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zh-TW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zh-TW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TW" altLang="zh-TW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TW" altLang="zh-TW" sz="24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zh-TW" altLang="zh-TW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2CD3D5E-D515-FAC9-E869-FC9AC25CE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blipFill>
                <a:blip r:embed="rId6"/>
                <a:stretch>
                  <a:fillRect l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0949467C-1795-6795-ECC0-B27E8AB01315}"/>
              </a:ext>
            </a:extLst>
          </p:cNvPr>
          <p:cNvSpPr/>
          <p:nvPr/>
        </p:nvSpPr>
        <p:spPr>
          <a:xfrm>
            <a:off x="997759" y="2644419"/>
            <a:ext cx="5156857" cy="6175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2142D9C-6F6C-78B0-7DF5-91EE4D20B0D8}"/>
                  </a:ext>
                </a:extLst>
              </p:cNvPr>
              <p:cNvSpPr txBox="1"/>
              <p:nvPr/>
            </p:nvSpPr>
            <p:spPr>
              <a:xfrm>
                <a:off x="4687638" y="2733454"/>
                <a:ext cx="16495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2142D9C-6F6C-78B0-7DF5-91EE4D20B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638" y="2733454"/>
                <a:ext cx="1649506" cy="461665"/>
              </a:xfrm>
              <a:prstGeom prst="rect">
                <a:avLst/>
              </a:prstGeom>
              <a:blipFill>
                <a:blip r:embed="rId7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D69B4D4C-261B-5F5B-1251-45D00AA62515}"/>
              </a:ext>
            </a:extLst>
          </p:cNvPr>
          <p:cNvSpPr txBox="1"/>
          <p:nvPr/>
        </p:nvSpPr>
        <p:spPr>
          <a:xfrm>
            <a:off x="1361032" y="2086779"/>
            <a:ext cx="10139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在</a:t>
            </a:r>
            <a:r>
              <a:rPr lang="en-US" altLang="zh-TW" sz="2400" dirty="0"/>
              <a:t>SGD</a:t>
            </a:r>
            <a:r>
              <a:rPr lang="zh-TW" altLang="en-US" sz="2400" dirty="0"/>
              <a:t>正確，</a:t>
            </a:r>
            <a:r>
              <a:rPr lang="zh-TW" altLang="en-US" sz="2400" dirty="0">
                <a:solidFill>
                  <a:srgbClr val="FF0000"/>
                </a:solidFill>
              </a:rPr>
              <a:t>但在</a:t>
            </a:r>
            <a:r>
              <a:rPr lang="en-US" altLang="zh-TW" sz="2400" dirty="0">
                <a:solidFill>
                  <a:srgbClr val="FF0000"/>
                </a:solidFill>
              </a:rPr>
              <a:t>Adam</a:t>
            </a:r>
            <a:r>
              <a:rPr lang="zh-TW" altLang="en-US" sz="2400" dirty="0">
                <a:solidFill>
                  <a:srgbClr val="FF0000"/>
                </a:solidFill>
              </a:rPr>
              <a:t>是錯的</a:t>
            </a:r>
            <a:r>
              <a:rPr lang="zh-TW" altLang="en-US" sz="2400" dirty="0"/>
              <a:t>，因為改變</a:t>
            </a:r>
            <a:r>
              <a:rPr lang="en-US" altLang="zh-TW" sz="2400" dirty="0"/>
              <a:t>1️⃣</a:t>
            </a:r>
            <a:r>
              <a:rPr lang="zh-TW" altLang="en-US" sz="2400" dirty="0"/>
              <a:t>的梯度</a:t>
            </a:r>
            <a:r>
              <a:rPr lang="zh-TW" altLang="en-US" sz="2400" dirty="0">
                <a:solidFill>
                  <a:srgbClr val="00B050"/>
                </a:solidFill>
              </a:rPr>
              <a:t>會影響到梯度紀錄</a:t>
            </a:r>
            <a:endParaRPr lang="zh-TW" altLang="zh-TW" sz="2400" dirty="0">
              <a:solidFill>
                <a:srgbClr val="00B05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5B19996-8BE1-E194-6C7C-DDB49DB8F9DF}"/>
              </a:ext>
            </a:extLst>
          </p:cNvPr>
          <p:cNvSpPr txBox="1"/>
          <p:nvPr/>
        </p:nvSpPr>
        <p:spPr>
          <a:xfrm>
            <a:off x="2856809" y="6257465"/>
            <a:ext cx="6478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Loshchilov, Ilya, and Frank Hutter. “Decoupled Weight Decay Regularization.” International Conference on Learning Representations</a:t>
            </a:r>
            <a:r>
              <a:rPr kumimoji="1" lang="zh-TW" altLang="en-US" sz="1400" dirty="0"/>
              <a:t> </a:t>
            </a:r>
            <a:r>
              <a:rPr kumimoji="1" lang="en-US" altLang="zh-TW" sz="1400" dirty="0"/>
              <a:t>(2019)</a:t>
            </a:r>
            <a:r>
              <a:rPr kumimoji="1" lang="en" altLang="zh-TW" sz="1400" dirty="0"/>
              <a:t>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0141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EAD9CD-568D-AD16-BE24-5FD747DD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AdamW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09FB2-FD05-39F5-EC31-5F054D412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6383"/>
            <a:ext cx="10918371" cy="660053"/>
          </a:xfrm>
        </p:spPr>
        <p:txBody>
          <a:bodyPr>
            <a:normAutofit/>
          </a:bodyPr>
          <a:lstStyle/>
          <a:p>
            <a:r>
              <a:rPr kumimoji="1" lang="en" altLang="zh-TW" sz="2400" dirty="0" err="1"/>
              <a:t>AdamW</a:t>
            </a:r>
            <a:r>
              <a:rPr kumimoji="1" lang="en" altLang="zh-TW" sz="2400" dirty="0"/>
              <a:t>: Adam with </a:t>
            </a:r>
            <a:r>
              <a:rPr kumimoji="1" lang="en" altLang="zh-TW" sz="2400" dirty="0">
                <a:solidFill>
                  <a:srgbClr val="0070C0"/>
                </a:solidFill>
              </a:rPr>
              <a:t>decoupled</a:t>
            </a:r>
            <a:r>
              <a:rPr kumimoji="1" lang="en" altLang="zh-TW" sz="2400" dirty="0"/>
              <a:t> weight decay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3F72E7-C4A9-AECE-2C83-191CD569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BE055-D616-3E7E-D5BD-8EDC857CDE83}"/>
              </a:ext>
            </a:extLst>
          </p:cNvPr>
          <p:cNvSpPr txBox="1"/>
          <p:nvPr/>
        </p:nvSpPr>
        <p:spPr>
          <a:xfrm>
            <a:off x="2856809" y="6257465"/>
            <a:ext cx="6478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Loshchilov, Ilya, and Frank Hutter. “Decoupled Weight Decay Regularization.” International Conference on Learning Representations</a:t>
            </a:r>
            <a:r>
              <a:rPr kumimoji="1" lang="zh-TW" altLang="en-US" sz="1400" dirty="0"/>
              <a:t> </a:t>
            </a:r>
            <a:r>
              <a:rPr kumimoji="1" lang="en-US" altLang="zh-TW" sz="1400" dirty="0"/>
              <a:t>(2019)</a:t>
            </a:r>
            <a:r>
              <a:rPr kumimoji="1" lang="en" altLang="zh-TW" sz="1400" dirty="0"/>
              <a:t>.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F8625A-AE4B-F845-FED1-0DDE68D7332E}"/>
              </a:ext>
            </a:extLst>
          </p:cNvPr>
          <p:cNvSpPr txBox="1"/>
          <p:nvPr/>
        </p:nvSpPr>
        <p:spPr>
          <a:xfrm>
            <a:off x="3543301" y="1573823"/>
            <a:ext cx="138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70C0"/>
                </a:solidFill>
              </a:rPr>
              <a:t>分離的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151F811-6EB7-F6B1-FC70-EFCCBC04822A}"/>
                  </a:ext>
                </a:extLst>
              </p:cNvPr>
              <p:cNvSpPr txBox="1"/>
              <p:nvPr/>
            </p:nvSpPr>
            <p:spPr>
              <a:xfrm>
                <a:off x="977153" y="2744075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1️⃣ </a:t>
                </a:r>
                <a:r>
                  <a:rPr lang="zh-TW" altLang="en-US" sz="2400" dirty="0"/>
                  <a:t>計算梯度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151F811-6EB7-F6B1-FC70-EFCCBC048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2744075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l="-1455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E7C6F99-604D-BE95-65FE-8C67621439F1}"/>
                  </a:ext>
                </a:extLst>
              </p:cNvPr>
              <p:cNvSpPr txBox="1"/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2️⃣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以移動平均</a:t>
                </a:r>
                <a:r>
                  <a:rPr lang="zh-TW" altLang="en-US" sz="2400" dirty="0"/>
                  <a:t>紀錄梯度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</a:rPr>
                  <a:t> (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為了對梯度動手腳 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-- Momentum)</a:t>
                </a:r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E7C6F99-604D-BE95-65FE-8C6762143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2" y="3372284"/>
                <a:ext cx="10363201" cy="461665"/>
              </a:xfrm>
              <a:prstGeom prst="rect">
                <a:avLst/>
              </a:prstGeom>
              <a:blipFill>
                <a:blip r:embed="rId4"/>
                <a:stretch>
                  <a:fillRect l="-857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265CD50-EA80-F64F-3977-CB028AD6CB8B}"/>
                  </a:ext>
                </a:extLst>
              </p:cNvPr>
              <p:cNvSpPr txBox="1"/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3️⃣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以移動平均</a:t>
                </a:r>
                <a:r>
                  <a:rPr lang="zh-TW" altLang="en-US" sz="2400" dirty="0"/>
                  <a:t>紀錄梯度平方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:r>
                  <a:rPr lang="zh-TW" altLang="en-US" sz="2400" dirty="0"/>
                  <a:t>為了調整學習率</a:t>
                </a:r>
                <a:r>
                  <a:rPr lang="en-US" altLang="zh-TW" sz="2400" dirty="0"/>
                  <a:t> -- Adagrad)</a:t>
                </a:r>
                <a:endParaRPr lang="zh-TW" altLang="zh-TW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265CD50-EA80-F64F-3977-CB028AD6C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000492"/>
                <a:ext cx="9502588" cy="472245"/>
              </a:xfrm>
              <a:prstGeom prst="rect">
                <a:avLst/>
              </a:prstGeom>
              <a:blipFill>
                <a:blip r:embed="rId5"/>
                <a:stretch>
                  <a:fillRect l="-933" t="-10256" b="-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7B6547C-2EB6-2F9E-8242-6051CF77F718}"/>
                  </a:ext>
                </a:extLst>
              </p:cNvPr>
              <p:cNvSpPr txBox="1"/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4️⃣ </a:t>
                </a:r>
                <a:r>
                  <a:rPr lang="zh-TW" altLang="en-US" sz="2400" dirty="0">
                    <a:solidFill>
                      <a:schemeClr val="tx1"/>
                    </a:solidFill>
                  </a:rPr>
                  <a:t>更新參數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7B6547C-2EB6-2F9E-8242-6051CF77F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53" y="4639280"/>
                <a:ext cx="9502588" cy="694742"/>
              </a:xfrm>
              <a:prstGeom prst="rect">
                <a:avLst/>
              </a:prstGeom>
              <a:blipFill>
                <a:blip r:embed="rId6"/>
                <a:stretch>
                  <a:fillRect l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F56DA3A-9906-5F27-C45E-0FEFF9D251FB}"/>
                  </a:ext>
                </a:extLst>
              </p:cNvPr>
              <p:cNvSpPr txBox="1"/>
              <p:nvPr/>
            </p:nvSpPr>
            <p:spPr>
              <a:xfrm>
                <a:off x="4714015" y="2744075"/>
                <a:ext cx="16495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F56DA3A-9906-5F27-C45E-0FEFF9D25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15" y="2744075"/>
                <a:ext cx="1649506" cy="461665"/>
              </a:xfrm>
              <a:prstGeom prst="rect">
                <a:avLst/>
              </a:prstGeom>
              <a:blipFill>
                <a:blip r:embed="rId8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F3E44EAD-E681-2388-BA56-9CD02EC98927}"/>
              </a:ext>
            </a:extLst>
          </p:cNvPr>
          <p:cNvCxnSpPr/>
          <p:nvPr/>
        </p:nvCxnSpPr>
        <p:spPr>
          <a:xfrm>
            <a:off x="5046782" y="2770841"/>
            <a:ext cx="1049215" cy="4616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47BE5E2-5022-0567-1F49-526391F7D664}"/>
              </a:ext>
            </a:extLst>
          </p:cNvPr>
          <p:cNvCxnSpPr>
            <a:cxnSpLocks/>
          </p:cNvCxnSpPr>
          <p:nvPr/>
        </p:nvCxnSpPr>
        <p:spPr>
          <a:xfrm flipH="1">
            <a:off x="5046782" y="2770841"/>
            <a:ext cx="1049215" cy="4616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6328340-4EF1-4321-BAB4-A818A29CD8A4}"/>
                  </a:ext>
                </a:extLst>
              </p:cNvPr>
              <p:cNvSpPr txBox="1"/>
              <p:nvPr/>
            </p:nvSpPr>
            <p:spPr>
              <a:xfrm>
                <a:off x="2525422" y="5334022"/>
                <a:ext cx="4642291" cy="856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6328340-4EF1-4321-BAB4-A818A29CD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422" y="5334022"/>
                <a:ext cx="4642291" cy="856966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25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9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DCEDB-7867-C669-135C-2BB0FED7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延伸學習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5DED34-1C08-E9B0-774D-ACB369A5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李宏毅老師影片</a:t>
            </a:r>
            <a:endParaRPr kumimoji="1" lang="en-US" altLang="zh-TW" dirty="0"/>
          </a:p>
          <a:p>
            <a:r>
              <a:rPr kumimoji="1" lang="en" altLang="zh-TW" dirty="0"/>
              <a:t>https://</a:t>
            </a:r>
            <a:r>
              <a:rPr kumimoji="1" lang="en" altLang="zh-TW" dirty="0" err="1"/>
              <a:t>youtu.be</a:t>
            </a:r>
            <a:r>
              <a:rPr kumimoji="1" lang="en" altLang="zh-TW" dirty="0"/>
              <a:t>/xki61j7z-30?si=ofWigNuHKkTdPC4f&amp;t=3463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A4255-727F-5A51-F83C-AEF91C49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68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65CD-1F5E-505C-97E6-EAA22210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B2BB75-BF72-13CB-4FDC-4639CBDB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38" y="2772849"/>
            <a:ext cx="3516924" cy="1312302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dirty="0"/>
              <a:t>Batch Normalization 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A74680-6E34-41F1-310C-6236D317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76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B0836-2FF1-EAA4-BFD5-1150AFA1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The whole CNN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3485EA-0D68-1364-71AB-83173001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圖片 4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38F48D60-A46D-4AF1-1392-A95FB3F79C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789943" y="1827791"/>
            <a:ext cx="1842214" cy="18467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90DFC0-1D61-D377-38CC-E7844B1C34AE}"/>
              </a:ext>
            </a:extLst>
          </p:cNvPr>
          <p:cNvSpPr/>
          <p:nvPr/>
        </p:nvSpPr>
        <p:spPr>
          <a:xfrm>
            <a:off x="3433170" y="2161390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7CABF8-94B3-6A15-5200-8112C8935D8C}"/>
              </a:ext>
            </a:extLst>
          </p:cNvPr>
          <p:cNvSpPr/>
          <p:nvPr/>
        </p:nvSpPr>
        <p:spPr>
          <a:xfrm>
            <a:off x="3433170" y="2939368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E73D49-B84A-BD0C-91BF-4B6949C17A77}"/>
              </a:ext>
            </a:extLst>
          </p:cNvPr>
          <p:cNvSpPr/>
          <p:nvPr/>
        </p:nvSpPr>
        <p:spPr>
          <a:xfrm>
            <a:off x="3433170" y="3619918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5DBA5C-48F0-F33D-7B08-924B0D55375B}"/>
              </a:ext>
            </a:extLst>
          </p:cNvPr>
          <p:cNvSpPr/>
          <p:nvPr/>
        </p:nvSpPr>
        <p:spPr>
          <a:xfrm>
            <a:off x="3433170" y="4397896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CD66F9-F9EA-BC8A-29A6-FA7229702F81}"/>
              </a:ext>
            </a:extLst>
          </p:cNvPr>
          <p:cNvSpPr/>
          <p:nvPr/>
        </p:nvSpPr>
        <p:spPr>
          <a:xfrm>
            <a:off x="3433170" y="5175874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D4D183-04E3-6AE8-31AE-F48261757729}"/>
              </a:ext>
            </a:extLst>
          </p:cNvPr>
          <p:cNvSpPr/>
          <p:nvPr/>
        </p:nvSpPr>
        <p:spPr>
          <a:xfrm>
            <a:off x="3433170" y="5856423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82924233-30CF-AA0F-FFD8-50833C194AC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172310" y="5446223"/>
            <a:ext cx="0" cy="410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10E8B50-C78B-E302-6A39-419453B015C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4172310" y="4765673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222929CC-69E0-4A93-7CBB-87D96EE2D12A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4172310" y="3987695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106BF96-0DA8-4FCF-FDA2-ACD1C337BF5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172310" y="320971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170584EA-4083-4F20-74CD-46569A1EFD9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72310" y="252916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>
            <a:extLst>
              <a:ext uri="{FF2B5EF4-FFF2-40B4-BE49-F238E27FC236}">
                <a16:creationId xmlns:a16="http://schemas.microsoft.com/office/drawing/2014/main" id="{8E4222A5-9518-4515-C567-7D02CE7EF07F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V="1">
            <a:off x="2632157" y="2161390"/>
            <a:ext cx="1540153" cy="589766"/>
          </a:xfrm>
          <a:prstGeom prst="bentConnector4">
            <a:avLst>
              <a:gd name="adj1" fmla="val 26004"/>
              <a:gd name="adj2" fmla="val 143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EA95DE7D-F114-BF6B-83E4-0FE9DC3F689F}"/>
              </a:ext>
            </a:extLst>
          </p:cNvPr>
          <p:cNvSpPr/>
          <p:nvPr/>
        </p:nvSpPr>
        <p:spPr>
          <a:xfrm>
            <a:off x="5712463" y="3619918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F01520-C937-4548-D98B-2D1C36DC0DB3}"/>
              </a:ext>
            </a:extLst>
          </p:cNvPr>
          <p:cNvSpPr/>
          <p:nvPr/>
        </p:nvSpPr>
        <p:spPr>
          <a:xfrm>
            <a:off x="5712463" y="2939368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2F50E5-CFE1-6D86-500B-BF3205C910BD}"/>
              </a:ext>
            </a:extLst>
          </p:cNvPr>
          <p:cNvSpPr/>
          <p:nvPr/>
        </p:nvSpPr>
        <p:spPr>
          <a:xfrm>
            <a:off x="5712463" y="2161389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045CAF1-AA66-A35D-34C4-11A8FE037048}"/>
              </a:ext>
            </a:extLst>
          </p:cNvPr>
          <p:cNvSpPr/>
          <p:nvPr/>
        </p:nvSpPr>
        <p:spPr>
          <a:xfrm>
            <a:off x="8081563" y="2161390"/>
            <a:ext cx="1478280" cy="36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Flatten</a:t>
            </a:r>
            <a:endParaRPr kumimoji="1"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5F31B3-32D8-249F-3F5D-A4F3077FBDBC}"/>
              </a:ext>
            </a:extLst>
          </p:cNvPr>
          <p:cNvSpPr/>
          <p:nvPr/>
        </p:nvSpPr>
        <p:spPr>
          <a:xfrm>
            <a:off x="8081563" y="3114068"/>
            <a:ext cx="1478280" cy="873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Fully-connected Networks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D7DFCDCC-BFD5-3FA2-1B1E-D8F96FD3ED0A}"/>
              </a:ext>
            </a:extLst>
          </p:cNvPr>
          <p:cNvSpPr/>
          <p:nvPr/>
        </p:nvSpPr>
        <p:spPr>
          <a:xfrm>
            <a:off x="7933368" y="4581784"/>
            <a:ext cx="1774669" cy="8076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Classification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99480CCB-B3E7-728E-B76D-E60A5DF7CE8A}"/>
              </a:ext>
            </a:extLst>
          </p:cNvPr>
          <p:cNvCxnSpPr>
            <a:cxnSpLocks/>
            <a:stCxn id="36" idx="0"/>
            <a:endCxn id="37" idx="2"/>
          </p:cNvCxnSpPr>
          <p:nvPr/>
        </p:nvCxnSpPr>
        <p:spPr>
          <a:xfrm flipV="1">
            <a:off x="6451603" y="2529166"/>
            <a:ext cx="0" cy="410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57482C9B-2778-30A4-FD9A-732437152C6A}"/>
              </a:ext>
            </a:extLst>
          </p:cNvPr>
          <p:cNvCxnSpPr>
            <a:cxnSpLocks/>
            <a:stCxn id="35" idx="0"/>
            <a:endCxn id="36" idx="2"/>
          </p:cNvCxnSpPr>
          <p:nvPr/>
        </p:nvCxnSpPr>
        <p:spPr>
          <a:xfrm flipV="1">
            <a:off x="6451603" y="320971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>
            <a:extLst>
              <a:ext uri="{FF2B5EF4-FFF2-40B4-BE49-F238E27FC236}">
                <a16:creationId xmlns:a16="http://schemas.microsoft.com/office/drawing/2014/main" id="{8896412A-A417-58C7-2FAC-16ED643B8504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 flipH="1" flipV="1">
            <a:off x="4603905" y="4376501"/>
            <a:ext cx="1416103" cy="2279295"/>
          </a:xfrm>
          <a:prstGeom prst="bentConnector4">
            <a:avLst>
              <a:gd name="adj1" fmla="val -16143"/>
              <a:gd name="adj2" fmla="val 999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2823384-BA6A-093D-75B9-B5AA2C2509E9}"/>
              </a:ext>
            </a:extLst>
          </p:cNvPr>
          <p:cNvSpPr txBox="1"/>
          <p:nvPr/>
        </p:nvSpPr>
        <p:spPr>
          <a:xfrm>
            <a:off x="6158420" y="4093193"/>
            <a:ext cx="923330" cy="506093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r>
              <a:rPr kumimoji="1" lang="en-US" altLang="zh-TW" sz="4800" dirty="0"/>
              <a:t>…</a:t>
            </a:r>
            <a:endParaRPr kumimoji="1" lang="zh-TW" altLang="en-US" sz="4800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37C6F649-4852-1E8A-C89A-E0F49BCFFA0D}"/>
              </a:ext>
            </a:extLst>
          </p:cNvPr>
          <p:cNvCxnSpPr>
            <a:cxnSpLocks/>
            <a:stCxn id="37" idx="0"/>
            <a:endCxn id="38" idx="0"/>
          </p:cNvCxnSpPr>
          <p:nvPr/>
        </p:nvCxnSpPr>
        <p:spPr>
          <a:xfrm rot="16200000" flipH="1">
            <a:off x="7636152" y="976839"/>
            <a:ext cx="1" cy="236910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38E39F11-A556-6D19-1C14-7B8C4E74D85B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8820703" y="2529167"/>
            <a:ext cx="0" cy="584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609651EC-D953-FB0D-6019-DD2010F2822C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8820703" y="3987695"/>
            <a:ext cx="0" cy="594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728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DF92E-B5A8-D2C9-16E4-EE0DB245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Batch Normalization (</a:t>
            </a:r>
            <a:r>
              <a:rPr kumimoji="1" lang="en-US" altLang="zh-TW" dirty="0" err="1"/>
              <a:t>BatchNorm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841A6B-01EF-5CBE-F220-27940AAD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FA76626-3C10-AE6F-B4B3-8FF3F784CD37}"/>
              </a:ext>
            </a:extLst>
          </p:cNvPr>
          <p:cNvSpPr txBox="1"/>
          <p:nvPr/>
        </p:nvSpPr>
        <p:spPr>
          <a:xfrm>
            <a:off x="636815" y="1552560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BatchNorm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對數值進行轉換，使得轉換後的數值的平均值為零、標準差為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類似於統計上的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Z-score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standardization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 descr="一張含有 繪圖, 圖表, 螢幕擷取畫面, 行 的圖片&#10;&#10;自動產生的描述">
            <a:extLst>
              <a:ext uri="{FF2B5EF4-FFF2-40B4-BE49-F238E27FC236}">
                <a16:creationId xmlns:a16="http://schemas.microsoft.com/office/drawing/2014/main" id="{DB885088-417F-5078-A48D-BEAF7C03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990" y="2757726"/>
            <a:ext cx="8098578" cy="39262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1EACC4-7982-5F94-5D06-AA6192B712F3}"/>
              </a:ext>
            </a:extLst>
          </p:cNvPr>
          <p:cNvSpPr/>
          <p:nvPr/>
        </p:nvSpPr>
        <p:spPr>
          <a:xfrm>
            <a:off x="2567353" y="6308396"/>
            <a:ext cx="3528647" cy="351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CC1F52-6B5B-4EC0-5AA7-933541E85AB9}"/>
              </a:ext>
            </a:extLst>
          </p:cNvPr>
          <p:cNvSpPr/>
          <p:nvPr/>
        </p:nvSpPr>
        <p:spPr>
          <a:xfrm>
            <a:off x="6688921" y="6308396"/>
            <a:ext cx="3528647" cy="351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865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667A0C-9EE4-ADCF-7F04-ED0B18D8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MLP </a:t>
            </a:r>
            <a:r>
              <a:rPr kumimoji="1" lang="zh-TW" altLang="en-US" dirty="0"/>
              <a:t>中的 </a:t>
            </a:r>
            <a:r>
              <a:rPr kumimoji="1" lang="en-US" altLang="zh-TW" dirty="0" err="1"/>
              <a:t>BatchNorm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799D2-EFE6-72B3-DFB0-1E2782D7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54EC4411-331F-89FB-75D5-1E780B508F33}"/>
              </a:ext>
            </a:extLst>
          </p:cNvPr>
          <p:cNvSpPr/>
          <p:nvPr/>
        </p:nvSpPr>
        <p:spPr>
          <a:xfrm>
            <a:off x="830674" y="28116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2CD7406-DBA1-DA07-237D-F37725D41694}"/>
              </a:ext>
            </a:extLst>
          </p:cNvPr>
          <p:cNvSpPr/>
          <p:nvPr/>
        </p:nvSpPr>
        <p:spPr>
          <a:xfrm>
            <a:off x="830674" y="39998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7B2A1C90-B12D-ADAA-9CF8-1CCC0857296A}"/>
              </a:ext>
            </a:extLst>
          </p:cNvPr>
          <p:cNvCxnSpPr>
            <a:cxnSpLocks/>
            <a:stCxn id="37" idx="6"/>
            <a:endCxn id="42" idx="2"/>
          </p:cNvCxnSpPr>
          <p:nvPr/>
        </p:nvCxnSpPr>
        <p:spPr>
          <a:xfrm>
            <a:off x="1402174" y="3097420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7276F505-0068-4061-C421-07059C4A60AC}"/>
              </a:ext>
            </a:extLst>
          </p:cNvPr>
          <p:cNvCxnSpPr>
            <a:cxnSpLocks/>
            <a:stCxn id="38" idx="6"/>
            <a:endCxn id="41" idx="2"/>
          </p:cNvCxnSpPr>
          <p:nvPr/>
        </p:nvCxnSpPr>
        <p:spPr>
          <a:xfrm flipV="1">
            <a:off x="1402174" y="3097420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1EEA0174-7951-FB79-3246-935E6D0F44D8}"/>
              </a:ext>
            </a:extLst>
          </p:cNvPr>
          <p:cNvSpPr/>
          <p:nvPr/>
        </p:nvSpPr>
        <p:spPr>
          <a:xfrm>
            <a:off x="2579464" y="28116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AF6A8F57-F0B9-D7F2-5FD3-68BF763B92F6}"/>
              </a:ext>
            </a:extLst>
          </p:cNvPr>
          <p:cNvSpPr/>
          <p:nvPr/>
        </p:nvSpPr>
        <p:spPr>
          <a:xfrm>
            <a:off x="2579464" y="39998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42BE92B8-261E-A54F-292F-0204865C24EB}"/>
              </a:ext>
            </a:extLst>
          </p:cNvPr>
          <p:cNvCxnSpPr>
            <a:cxnSpLocks/>
          </p:cNvCxnSpPr>
          <p:nvPr/>
        </p:nvCxnSpPr>
        <p:spPr>
          <a:xfrm>
            <a:off x="1402174" y="3097420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AD7BB64D-8BA3-796F-8DD5-F8DDA7FE6438}"/>
              </a:ext>
            </a:extLst>
          </p:cNvPr>
          <p:cNvCxnSpPr>
            <a:cxnSpLocks/>
            <a:stCxn id="38" idx="6"/>
            <a:endCxn id="42" idx="2"/>
          </p:cNvCxnSpPr>
          <p:nvPr/>
        </p:nvCxnSpPr>
        <p:spPr>
          <a:xfrm>
            <a:off x="1402174" y="4285626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F0A0A78-3B18-CEDD-82AA-3837114A46E7}"/>
                  </a:ext>
                </a:extLst>
              </p:cNvPr>
              <p:cNvSpPr txBox="1"/>
              <p:nvPr/>
            </p:nvSpPr>
            <p:spPr>
              <a:xfrm>
                <a:off x="936389" y="289736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F0A0A78-3B18-CEDD-82AA-3837114A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89" y="2897365"/>
                <a:ext cx="322139" cy="400110"/>
              </a:xfrm>
              <a:prstGeom prst="rect">
                <a:avLst/>
              </a:prstGeom>
              <a:blipFill>
                <a:blip r:embed="rId2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2937082-04B4-ED50-AA11-27CE89F1AB35}"/>
                  </a:ext>
                </a:extLst>
              </p:cNvPr>
              <p:cNvSpPr txBox="1"/>
              <p:nvPr/>
            </p:nvSpPr>
            <p:spPr>
              <a:xfrm>
                <a:off x="912606" y="4066361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2937082-04B4-ED50-AA11-27CE89F1A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06" y="4066361"/>
                <a:ext cx="44485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2C3D8883-F7CC-F3CF-EA83-49762FBEBCC8}"/>
                  </a:ext>
                </a:extLst>
              </p:cNvPr>
              <p:cNvSpPr txBox="1"/>
              <p:nvPr/>
            </p:nvSpPr>
            <p:spPr>
              <a:xfrm>
                <a:off x="2636481" y="289736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2C3D8883-F7CC-F3CF-EA83-49762FBEB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481" y="2897365"/>
                <a:ext cx="5158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C6847CF-8AF3-FA1D-EF01-309014A358AB}"/>
                  </a:ext>
                </a:extLst>
              </p:cNvPr>
              <p:cNvSpPr txBox="1"/>
              <p:nvPr/>
            </p:nvSpPr>
            <p:spPr>
              <a:xfrm>
                <a:off x="2612992" y="4085571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C6847CF-8AF3-FA1D-EF01-309014A35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992" y="4085571"/>
                <a:ext cx="504444" cy="424796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>
            <a:extLst>
              <a:ext uri="{FF2B5EF4-FFF2-40B4-BE49-F238E27FC236}">
                <a16:creationId xmlns:a16="http://schemas.microsoft.com/office/drawing/2014/main" id="{5D66460D-0E90-4220-DA5C-95AB08FE15F3}"/>
              </a:ext>
            </a:extLst>
          </p:cNvPr>
          <p:cNvSpPr txBox="1"/>
          <p:nvPr/>
        </p:nvSpPr>
        <p:spPr>
          <a:xfrm rot="5400000">
            <a:off x="833940" y="36297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01F52D3-17E5-A806-6EBE-7E59C4595E00}"/>
              </a:ext>
            </a:extLst>
          </p:cNvPr>
          <p:cNvSpPr txBox="1"/>
          <p:nvPr/>
        </p:nvSpPr>
        <p:spPr>
          <a:xfrm rot="5400000">
            <a:off x="2578450" y="36297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BA3F778-8DCC-F0A7-F51C-96FE18E063D5}"/>
              </a:ext>
            </a:extLst>
          </p:cNvPr>
          <p:cNvSpPr/>
          <p:nvPr/>
        </p:nvSpPr>
        <p:spPr>
          <a:xfrm>
            <a:off x="2489200" y="2570480"/>
            <a:ext cx="792480" cy="22758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096DE832-2955-44A4-433C-70C3DE0D4CAE}"/>
                  </a:ext>
                </a:extLst>
              </p:cNvPr>
              <p:cNvSpPr txBox="1"/>
              <p:nvPr/>
            </p:nvSpPr>
            <p:spPr>
              <a:xfrm>
                <a:off x="3454400" y="1534160"/>
                <a:ext cx="341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096DE832-2955-44A4-433C-70C3DE0D4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0" y="1534160"/>
                <a:ext cx="3413760" cy="369332"/>
              </a:xfrm>
              <a:prstGeom prst="rect">
                <a:avLst/>
              </a:prstGeom>
              <a:blipFill>
                <a:blip r:embed="rId6"/>
                <a:stretch>
                  <a:fillRect l="-1859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肘形接點 62">
            <a:extLst>
              <a:ext uri="{FF2B5EF4-FFF2-40B4-BE49-F238E27FC236}">
                <a16:creationId xmlns:a16="http://schemas.microsoft.com/office/drawing/2014/main" id="{F03AF852-46BC-B85A-82D1-3FB1F3B2FA30}"/>
              </a:ext>
            </a:extLst>
          </p:cNvPr>
          <p:cNvCxnSpPr>
            <a:stCxn id="60" idx="0"/>
            <a:endCxn id="61" idx="1"/>
          </p:cNvCxnSpPr>
          <p:nvPr/>
        </p:nvCxnSpPr>
        <p:spPr>
          <a:xfrm rot="5400000" flipH="1" flipV="1">
            <a:off x="2744093" y="1860173"/>
            <a:ext cx="851654" cy="56896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橢圓 63">
            <a:extLst>
              <a:ext uri="{FF2B5EF4-FFF2-40B4-BE49-F238E27FC236}">
                <a16:creationId xmlns:a16="http://schemas.microsoft.com/office/drawing/2014/main" id="{C3E3F7A8-2EE9-EBC7-4695-91C69073B793}"/>
              </a:ext>
            </a:extLst>
          </p:cNvPr>
          <p:cNvSpPr/>
          <p:nvPr/>
        </p:nvSpPr>
        <p:spPr>
          <a:xfrm>
            <a:off x="4346915" y="28116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270B74A9-E328-AF2C-3EEE-1B373E310EC3}"/>
              </a:ext>
            </a:extLst>
          </p:cNvPr>
          <p:cNvSpPr/>
          <p:nvPr/>
        </p:nvSpPr>
        <p:spPr>
          <a:xfrm>
            <a:off x="4346915" y="39998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164DB17-C0EC-D60B-88A4-1DEBAA2AD1DD}"/>
                  </a:ext>
                </a:extLst>
              </p:cNvPr>
              <p:cNvSpPr txBox="1"/>
              <p:nvPr/>
            </p:nvSpPr>
            <p:spPr>
              <a:xfrm>
                <a:off x="4403932" y="289736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164DB17-C0EC-D60B-88A4-1DEBAA2A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932" y="2897365"/>
                <a:ext cx="5158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A67EA603-BAF4-CC45-7620-95CBAD85CBEA}"/>
                  </a:ext>
                </a:extLst>
              </p:cNvPr>
              <p:cNvSpPr txBox="1"/>
              <p:nvPr/>
            </p:nvSpPr>
            <p:spPr>
              <a:xfrm>
                <a:off x="4380443" y="4085571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A67EA603-BAF4-CC45-7620-95CBAD85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443" y="4085571"/>
                <a:ext cx="504444" cy="424796"/>
              </a:xfrm>
              <a:prstGeom prst="rect">
                <a:avLst/>
              </a:prstGeom>
              <a:blipFill>
                <a:blip r:embed="rId8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字方塊 67">
            <a:extLst>
              <a:ext uri="{FF2B5EF4-FFF2-40B4-BE49-F238E27FC236}">
                <a16:creationId xmlns:a16="http://schemas.microsoft.com/office/drawing/2014/main" id="{48D66048-BB9F-222A-D662-EAC8F572C8D3}"/>
              </a:ext>
            </a:extLst>
          </p:cNvPr>
          <p:cNvSpPr txBox="1"/>
          <p:nvPr/>
        </p:nvSpPr>
        <p:spPr>
          <a:xfrm rot="5400000">
            <a:off x="4345901" y="36297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17BFF798-BB0C-07DC-54A2-5AF46F7B83EF}"/>
              </a:ext>
            </a:extLst>
          </p:cNvPr>
          <p:cNvCxnSpPr>
            <a:cxnSpLocks/>
            <a:stCxn id="50" idx="3"/>
            <a:endCxn id="64" idx="2"/>
          </p:cNvCxnSpPr>
          <p:nvPr/>
        </p:nvCxnSpPr>
        <p:spPr>
          <a:xfrm>
            <a:off x="3152355" y="3097420"/>
            <a:ext cx="119456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87467220-ABB2-5A79-2E07-1217247A22F0}"/>
              </a:ext>
            </a:extLst>
          </p:cNvPr>
          <p:cNvCxnSpPr>
            <a:cxnSpLocks/>
            <a:stCxn id="42" idx="6"/>
            <a:endCxn id="65" idx="2"/>
          </p:cNvCxnSpPr>
          <p:nvPr/>
        </p:nvCxnSpPr>
        <p:spPr>
          <a:xfrm>
            <a:off x="3150964" y="4285626"/>
            <a:ext cx="1195951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4E487E8-7115-62EF-4254-B2FA6F9EE8D0}"/>
                  </a:ext>
                </a:extLst>
              </p:cNvPr>
              <p:cNvSpPr txBox="1"/>
              <p:nvPr/>
            </p:nvSpPr>
            <p:spPr>
              <a:xfrm>
                <a:off x="5708355" y="2642231"/>
                <a:ext cx="2319610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4E487E8-7115-62EF-4254-B2FA6F9EE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355" y="2642231"/>
                <a:ext cx="2319610" cy="910377"/>
              </a:xfrm>
              <a:prstGeom prst="rect">
                <a:avLst/>
              </a:prstGeom>
              <a:blipFill>
                <a:blip r:embed="rId9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B00FC11-D74B-C225-FEB1-0A543DCAD987}"/>
                  </a:ext>
                </a:extLst>
              </p:cNvPr>
              <p:cNvSpPr txBox="1"/>
              <p:nvPr/>
            </p:nvSpPr>
            <p:spPr>
              <a:xfrm>
                <a:off x="5708355" y="3768482"/>
                <a:ext cx="2319610" cy="9228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B00FC11-D74B-C225-FEB1-0A543DCA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355" y="3768482"/>
                <a:ext cx="2319610" cy="922881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字方塊 79">
            <a:extLst>
              <a:ext uri="{FF2B5EF4-FFF2-40B4-BE49-F238E27FC236}">
                <a16:creationId xmlns:a16="http://schemas.microsoft.com/office/drawing/2014/main" id="{A1681D01-6AAE-C2DF-8285-4193B427871E}"/>
              </a:ext>
            </a:extLst>
          </p:cNvPr>
          <p:cNvSpPr txBox="1"/>
          <p:nvPr/>
        </p:nvSpPr>
        <p:spPr>
          <a:xfrm>
            <a:off x="2590799" y="6240302"/>
            <a:ext cx="7808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 err="1"/>
              <a:t>Ioffe</a:t>
            </a:r>
            <a:r>
              <a:rPr kumimoji="1" lang="en" altLang="zh-TW" sz="1400" dirty="0"/>
              <a:t>, Sergey, and Christian </a:t>
            </a:r>
            <a:r>
              <a:rPr kumimoji="1" lang="en" altLang="zh-TW" sz="1400" dirty="0" err="1"/>
              <a:t>Szegedy</a:t>
            </a:r>
            <a:r>
              <a:rPr kumimoji="1" lang="en" altLang="zh-TW" sz="1400" dirty="0"/>
              <a:t>. "Batch normalization: Accelerating deep network training by reducing internal covariate shift." International conference on machine learning. 2015.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686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C9B3A2-0B0A-D4CF-1BF1-28689618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BatchNorm</a:t>
            </a:r>
            <a:r>
              <a:rPr kumimoji="1" lang="en-US" altLang="zh-TW" dirty="0"/>
              <a:t> During </a:t>
            </a:r>
            <a:r>
              <a:rPr kumimoji="1" lang="en-US" altLang="zh-TW" dirty="0">
                <a:solidFill>
                  <a:schemeClr val="tx1"/>
                </a:solidFill>
              </a:rPr>
              <a:t>Training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151C7C-B877-CCFA-8334-D98892D2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519A73-CBB1-AC4F-1211-866A2807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8" y="1683161"/>
            <a:ext cx="9062224" cy="426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8D14189-25C4-A2BB-633D-1D5A471F74FC}"/>
              </a:ext>
            </a:extLst>
          </p:cNvPr>
          <p:cNvSpPr txBox="1"/>
          <p:nvPr/>
        </p:nvSpPr>
        <p:spPr>
          <a:xfrm>
            <a:off x="3553379" y="6042021"/>
            <a:ext cx="5620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stackoverow.com</a:t>
            </a:r>
            <a:r>
              <a:rPr kumimoji="1" lang="en" altLang="zh-TW" sz="1400" dirty="0"/>
              <a:t>/questions/65613694/calculation-of-mean-and-variance-in-flbatch-normalization-in-convolutional-neural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673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43ED3FE-7824-5311-B88B-C9CF24988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37697"/>
              </p:ext>
            </p:extLst>
          </p:nvPr>
        </p:nvGraphicFramePr>
        <p:xfrm>
          <a:off x="2720085" y="2141990"/>
          <a:ext cx="2139964" cy="213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91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82BFE53-3332-40A4-9967-F8C5F6437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605881"/>
              </p:ext>
            </p:extLst>
          </p:nvPr>
        </p:nvGraphicFramePr>
        <p:xfrm>
          <a:off x="2587782" y="2250846"/>
          <a:ext cx="2139964" cy="213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91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A026F11D-559B-4F93-3C00-96991F1E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</a:t>
            </a:r>
            <a:r>
              <a:rPr kumimoji="1" lang="zh-TW" altLang="en-US" dirty="0"/>
              <a:t> 中的 </a:t>
            </a:r>
            <a:r>
              <a:rPr kumimoji="1" lang="en" altLang="zh-TW" dirty="0" err="1"/>
              <a:t>BatchNorm</a:t>
            </a:r>
            <a:endParaRPr kumimoji="1"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1C69F49-803D-CA1D-BBB6-2F03994B9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37845"/>
              </p:ext>
            </p:extLst>
          </p:nvPr>
        </p:nvGraphicFramePr>
        <p:xfrm>
          <a:off x="2455479" y="2359702"/>
          <a:ext cx="2139964" cy="213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91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5C1809-B700-5D22-2907-F0104440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3FB9D4-5782-B023-CF98-C1D18F321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95349"/>
              </p:ext>
            </p:extLst>
          </p:nvPr>
        </p:nvGraphicFramePr>
        <p:xfrm>
          <a:off x="2303080" y="2508750"/>
          <a:ext cx="2139964" cy="213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91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3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E415662-F7DD-C1E5-BB2B-9F466728E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53107"/>
              </p:ext>
            </p:extLst>
          </p:nvPr>
        </p:nvGraphicFramePr>
        <p:xfrm>
          <a:off x="2181156" y="2637702"/>
          <a:ext cx="2139964" cy="213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91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534991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x0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x2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x3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x4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x5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x6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x7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x8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x9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x10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x11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534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x12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x13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x14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x15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0858" marR="70858" marT="35429" marB="35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2E7360-0280-4169-6E58-8BA56AD41933}"/>
              </a:ext>
            </a:extLst>
          </p:cNvPr>
          <p:cNvSpPr txBox="1"/>
          <p:nvPr/>
        </p:nvSpPr>
        <p:spPr>
          <a:xfrm>
            <a:off x="2150843" y="4938167"/>
            <a:ext cx="2200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(</a:t>
            </a:r>
            <a:r>
              <a:rPr kumimoji="1" lang="en-US" altLang="zh-TW" sz="2400" dirty="0">
                <a:solidFill>
                  <a:srgbClr val="FF0000"/>
                </a:solidFill>
              </a:rPr>
              <a:t>5</a:t>
            </a:r>
            <a:r>
              <a:rPr kumimoji="1" lang="en-US" altLang="zh-TW" sz="2400" dirty="0"/>
              <a:t>, </a:t>
            </a:r>
            <a:r>
              <a:rPr kumimoji="1" lang="en-US" altLang="zh-TW" sz="2400" dirty="0">
                <a:solidFill>
                  <a:srgbClr val="0070C0"/>
                </a:solidFill>
              </a:rPr>
              <a:t>4</a:t>
            </a:r>
            <a:r>
              <a:rPr kumimoji="1" lang="en-US" altLang="zh-TW" sz="2400" dirty="0"/>
              <a:t>, </a:t>
            </a:r>
            <a:r>
              <a:rPr kumimoji="1" lang="en-US" altLang="zh-TW" sz="2400" dirty="0">
                <a:solidFill>
                  <a:schemeClr val="accent6"/>
                </a:solidFill>
              </a:rPr>
              <a:t>4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A86EC4-8F73-F30F-ED4C-94AF399822A1}"/>
              </a:ext>
            </a:extLst>
          </p:cNvPr>
          <p:cNvSpPr txBox="1"/>
          <p:nvPr/>
        </p:nvSpPr>
        <p:spPr>
          <a:xfrm>
            <a:off x="1148603" y="5429676"/>
            <a:ext cx="444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(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batch_size</a:t>
            </a:r>
            <a:r>
              <a:rPr kumimoji="1" lang="en-US" altLang="zh-TW" sz="2400" dirty="0"/>
              <a:t>, </a:t>
            </a:r>
            <a:r>
              <a:rPr kumimoji="1" lang="en-US" altLang="zh-TW" sz="2400" dirty="0">
                <a:solidFill>
                  <a:srgbClr val="0070C0"/>
                </a:solidFill>
              </a:rPr>
              <a:t>height</a:t>
            </a:r>
            <a:r>
              <a:rPr kumimoji="1" lang="en-US" altLang="zh-TW" sz="2400" dirty="0"/>
              <a:t>, </a:t>
            </a:r>
            <a:r>
              <a:rPr kumimoji="1" lang="en-US" altLang="zh-TW" sz="2400" dirty="0">
                <a:solidFill>
                  <a:schemeClr val="accent6"/>
                </a:solidFill>
              </a:rPr>
              <a:t>width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5BCC09D-5032-8B54-8AD9-CB3E5C12D18F}"/>
                  </a:ext>
                </a:extLst>
              </p:cNvPr>
              <p:cNvSpPr txBox="1"/>
              <p:nvPr/>
            </p:nvSpPr>
            <p:spPr>
              <a:xfrm>
                <a:off x="6096000" y="3162549"/>
                <a:ext cx="478008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TW" sz="240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2400" dirty="0"/>
                  <a:t> </a:t>
                </a:r>
                <a:r>
                  <a:rPr lang="zh-TW" altLang="en-US" sz="2400" dirty="0"/>
                  <a:t>計算自這個 </a:t>
                </a:r>
                <a:r>
                  <a:rPr lang="en-US" altLang="zh-TW" sz="2400" dirty="0"/>
                  <a:t>batch </a:t>
                </a:r>
                <a:r>
                  <a:rPr lang="zh-TW" altLang="en-US" sz="2400" dirty="0"/>
                  <a:t>的每一個值</a:t>
                </a:r>
                <a:endParaRPr lang="en-US" altLang="zh-TW" sz="2400" dirty="0"/>
              </a:p>
              <a:p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TW" altLang="en-US" sz="2400" dirty="0"/>
                  <a:t> 計算自這個 </a:t>
                </a:r>
                <a:r>
                  <a:rPr lang="en-US" altLang="zh-TW" sz="2400" dirty="0"/>
                  <a:t>batch </a:t>
                </a:r>
                <a:r>
                  <a:rPr lang="zh-TW" altLang="en-US" sz="2400" dirty="0"/>
                  <a:t>的每一個值</a:t>
                </a:r>
                <a:endParaRPr lang="en-US" altLang="zh-TW" sz="24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5BCC09D-5032-8B54-8AD9-CB3E5C12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62549"/>
                <a:ext cx="4780085" cy="830997"/>
              </a:xfrm>
              <a:prstGeom prst="rect">
                <a:avLst/>
              </a:prstGeom>
              <a:blipFill>
                <a:blip r:embed="rId2"/>
                <a:stretch>
                  <a:fillRect l="-265" t="-606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中括弧 15">
            <a:extLst>
              <a:ext uri="{FF2B5EF4-FFF2-40B4-BE49-F238E27FC236}">
                <a16:creationId xmlns:a16="http://schemas.microsoft.com/office/drawing/2014/main" id="{1BDB3AD3-001C-F3CC-5E6D-99817DFE0B92}"/>
              </a:ext>
            </a:extLst>
          </p:cNvPr>
          <p:cNvSpPr/>
          <p:nvPr/>
        </p:nvSpPr>
        <p:spPr>
          <a:xfrm rot="2446797">
            <a:off x="4755928" y="4282305"/>
            <a:ext cx="75941" cy="64528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623758F-D788-3EB1-3284-D9DBA434F8B8}"/>
              </a:ext>
            </a:extLst>
          </p:cNvPr>
          <p:cNvSpPr txBox="1"/>
          <p:nvPr/>
        </p:nvSpPr>
        <p:spPr>
          <a:xfrm>
            <a:off x="4793898" y="4498298"/>
            <a:ext cx="142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 err="1">
                <a:solidFill>
                  <a:srgbClr val="FF0000"/>
                </a:solidFill>
              </a:rPr>
              <a:t>batch_size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F4C115A-A43C-E87C-9422-219D0CA33478}"/>
              </a:ext>
            </a:extLst>
          </p:cNvPr>
          <p:cNvSpPr txBox="1"/>
          <p:nvPr/>
        </p:nvSpPr>
        <p:spPr>
          <a:xfrm>
            <a:off x="3285892" y="6287733"/>
            <a:ext cx="5620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/>
              <a:t>參考：</a:t>
            </a:r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stackoverow.com</a:t>
            </a:r>
            <a:r>
              <a:rPr kumimoji="1" lang="en" altLang="zh-TW" sz="1400" dirty="0"/>
              <a:t>/questions/65613694/calculation-of-mean-and-variance-in-flbatch-normalization-in-convolutional-neural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93992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D3757-05C4-6CCF-9A76-05EDACB7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BatchNorm</a:t>
            </a:r>
            <a:r>
              <a:rPr kumimoji="1" lang="en-US" altLang="zh-TW" dirty="0"/>
              <a:t> During Test (Inference)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B12D0E-87EA-F795-B0E8-BFEAB151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3A40E81-EB54-E4FA-6702-1F88C917E733}"/>
              </a:ext>
            </a:extLst>
          </p:cNvPr>
          <p:cNvSpPr/>
          <p:nvPr/>
        </p:nvSpPr>
        <p:spPr>
          <a:xfrm>
            <a:off x="1626124" y="21587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3FDEAC2-C8FE-F406-B444-AD629113D98E}"/>
              </a:ext>
            </a:extLst>
          </p:cNvPr>
          <p:cNvSpPr/>
          <p:nvPr/>
        </p:nvSpPr>
        <p:spPr>
          <a:xfrm>
            <a:off x="1626124" y="334698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5DF31681-D49E-7CB3-FE0B-A15E768B4CF4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2197624" y="2444529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95452ED-AF6E-F382-B0E5-E4D770835FDE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197624" y="2444529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9F43F3B7-ED15-88FF-876F-0CDD10A5CD95}"/>
              </a:ext>
            </a:extLst>
          </p:cNvPr>
          <p:cNvSpPr/>
          <p:nvPr/>
        </p:nvSpPr>
        <p:spPr>
          <a:xfrm>
            <a:off x="3374914" y="21587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04DF703-95C9-4291-2FB8-6BC5C4D0288A}"/>
              </a:ext>
            </a:extLst>
          </p:cNvPr>
          <p:cNvSpPr/>
          <p:nvPr/>
        </p:nvSpPr>
        <p:spPr>
          <a:xfrm>
            <a:off x="3374914" y="334698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C4D87D5-3A60-450A-7A4B-D18213F2B6D6}"/>
              </a:ext>
            </a:extLst>
          </p:cNvPr>
          <p:cNvCxnSpPr>
            <a:cxnSpLocks/>
          </p:cNvCxnSpPr>
          <p:nvPr/>
        </p:nvCxnSpPr>
        <p:spPr>
          <a:xfrm>
            <a:off x="2197624" y="2444529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2B70F69-BF78-1526-17BF-B553B32C230A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2197624" y="3632735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066B5A6-117D-A2E0-03B2-48128DDEF1CB}"/>
                  </a:ext>
                </a:extLst>
              </p:cNvPr>
              <p:cNvSpPr txBox="1"/>
              <p:nvPr/>
            </p:nvSpPr>
            <p:spPr>
              <a:xfrm>
                <a:off x="1731839" y="224447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066B5A6-117D-A2E0-03B2-48128DDEF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39" y="2244474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27421E3-240F-1F94-88A1-461C9CE27AFE}"/>
                  </a:ext>
                </a:extLst>
              </p:cNvPr>
              <p:cNvSpPr txBox="1"/>
              <p:nvPr/>
            </p:nvSpPr>
            <p:spPr>
              <a:xfrm>
                <a:off x="1708056" y="34134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27421E3-240F-1F94-88A1-461C9CE27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056" y="3413470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720FD7-B3AD-F0B6-5E11-296FE18AE837}"/>
                  </a:ext>
                </a:extLst>
              </p:cNvPr>
              <p:cNvSpPr txBox="1"/>
              <p:nvPr/>
            </p:nvSpPr>
            <p:spPr>
              <a:xfrm>
                <a:off x="3431931" y="224447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720FD7-B3AD-F0B6-5E11-296FE18A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931" y="2244474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2B363C6-6353-013C-D2BF-809D39E3CACE}"/>
                  </a:ext>
                </a:extLst>
              </p:cNvPr>
              <p:cNvSpPr txBox="1"/>
              <p:nvPr/>
            </p:nvSpPr>
            <p:spPr>
              <a:xfrm>
                <a:off x="3408442" y="3432680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2B363C6-6353-013C-D2BF-809D39E3C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442" y="3432680"/>
                <a:ext cx="504444" cy="424796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FF42B37-7D8D-98D0-93C3-14C1F0CEC574}"/>
              </a:ext>
            </a:extLst>
          </p:cNvPr>
          <p:cNvSpPr txBox="1"/>
          <p:nvPr/>
        </p:nvSpPr>
        <p:spPr>
          <a:xfrm rot="5400000">
            <a:off x="1629390" y="2976877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FC1EC7C-B19A-86E9-9070-BD425AC9BBD0}"/>
              </a:ext>
            </a:extLst>
          </p:cNvPr>
          <p:cNvSpPr txBox="1"/>
          <p:nvPr/>
        </p:nvSpPr>
        <p:spPr>
          <a:xfrm rot="5400000">
            <a:off x="3373900" y="2976877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985E06-1BCD-495D-4330-111D7E41C982}"/>
              </a:ext>
            </a:extLst>
          </p:cNvPr>
          <p:cNvSpPr/>
          <p:nvPr/>
        </p:nvSpPr>
        <p:spPr>
          <a:xfrm>
            <a:off x="3284650" y="1917589"/>
            <a:ext cx="792480" cy="22758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881E1D-7A80-9401-8200-00E1207E49F6}"/>
                  </a:ext>
                </a:extLst>
              </p:cNvPr>
              <p:cNvSpPr txBox="1"/>
              <p:nvPr/>
            </p:nvSpPr>
            <p:spPr>
              <a:xfrm>
                <a:off x="4249850" y="1499116"/>
                <a:ext cx="341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881E1D-7A80-9401-8200-00E1207E4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850" y="1499116"/>
                <a:ext cx="3413760" cy="369332"/>
              </a:xfrm>
              <a:prstGeom prst="rect">
                <a:avLst/>
              </a:prstGeom>
              <a:blipFill>
                <a:blip r:embed="rId7"/>
                <a:stretch>
                  <a:fillRect l="-1481" t="-10000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2A37180C-3AC5-B321-538B-EBB24F3007BE}"/>
              </a:ext>
            </a:extLst>
          </p:cNvPr>
          <p:cNvCxnSpPr>
            <a:stCxn id="19" idx="0"/>
            <a:endCxn id="20" idx="1"/>
          </p:cNvCxnSpPr>
          <p:nvPr/>
        </p:nvCxnSpPr>
        <p:spPr>
          <a:xfrm rot="5400000" flipH="1" flipV="1">
            <a:off x="3848467" y="1516206"/>
            <a:ext cx="233807" cy="56896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81B2B729-BE09-EDD2-E0DE-2731CF347BCE}"/>
              </a:ext>
            </a:extLst>
          </p:cNvPr>
          <p:cNvSpPr/>
          <p:nvPr/>
        </p:nvSpPr>
        <p:spPr>
          <a:xfrm>
            <a:off x="5142365" y="21587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1019F8D-9914-17E1-0F28-543F4B1CBE6E}"/>
              </a:ext>
            </a:extLst>
          </p:cNvPr>
          <p:cNvSpPr/>
          <p:nvPr/>
        </p:nvSpPr>
        <p:spPr>
          <a:xfrm>
            <a:off x="5142365" y="334698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807044D-2135-5A76-F418-49D04F725C98}"/>
                  </a:ext>
                </a:extLst>
              </p:cNvPr>
              <p:cNvSpPr txBox="1"/>
              <p:nvPr/>
            </p:nvSpPr>
            <p:spPr>
              <a:xfrm>
                <a:off x="5199382" y="224447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807044D-2135-5A76-F418-49D04F725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382" y="2244474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C98F1F2-A287-6861-0191-064A5A07135F}"/>
                  </a:ext>
                </a:extLst>
              </p:cNvPr>
              <p:cNvSpPr txBox="1"/>
              <p:nvPr/>
            </p:nvSpPr>
            <p:spPr>
              <a:xfrm>
                <a:off x="5175893" y="3432680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C98F1F2-A287-6861-0191-064A5A071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893" y="3432680"/>
                <a:ext cx="504444" cy="424796"/>
              </a:xfrm>
              <a:prstGeom prst="rect">
                <a:avLst/>
              </a:prstGeom>
              <a:blipFill>
                <a:blip r:embed="rId9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AF7E60FC-AFC1-272E-053C-8E196429AADE}"/>
              </a:ext>
            </a:extLst>
          </p:cNvPr>
          <p:cNvSpPr txBox="1"/>
          <p:nvPr/>
        </p:nvSpPr>
        <p:spPr>
          <a:xfrm rot="5400000">
            <a:off x="5141351" y="2976877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EA1B716-AD45-8E93-3428-65F2595FD53D}"/>
              </a:ext>
            </a:extLst>
          </p:cNvPr>
          <p:cNvCxnSpPr>
            <a:cxnSpLocks/>
            <a:stCxn id="15" idx="3"/>
            <a:endCxn id="22" idx="2"/>
          </p:cNvCxnSpPr>
          <p:nvPr/>
        </p:nvCxnSpPr>
        <p:spPr>
          <a:xfrm>
            <a:off x="3947805" y="2444529"/>
            <a:ext cx="119456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9DC7BAD-AABE-6EDE-DD78-9D93CE837F9C}"/>
              </a:ext>
            </a:extLst>
          </p:cNvPr>
          <p:cNvCxnSpPr>
            <a:cxnSpLocks/>
            <a:stCxn id="10" idx="6"/>
            <a:endCxn id="23" idx="2"/>
          </p:cNvCxnSpPr>
          <p:nvPr/>
        </p:nvCxnSpPr>
        <p:spPr>
          <a:xfrm>
            <a:off x="3946414" y="3632735"/>
            <a:ext cx="1195951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4E10E65E-CE5D-ECF5-3903-4FF29812BC51}"/>
              </a:ext>
            </a:extLst>
          </p:cNvPr>
          <p:cNvSpPr/>
          <p:nvPr/>
        </p:nvSpPr>
        <p:spPr>
          <a:xfrm>
            <a:off x="1626124" y="463230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22661829-B11D-263B-4B68-14D894522958}"/>
              </a:ext>
            </a:extLst>
          </p:cNvPr>
          <p:cNvSpPr/>
          <p:nvPr/>
        </p:nvSpPr>
        <p:spPr>
          <a:xfrm>
            <a:off x="1626124" y="582051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82A7955A-840F-6520-6D7B-569A24818B4A}"/>
              </a:ext>
            </a:extLst>
          </p:cNvPr>
          <p:cNvCxnSpPr>
            <a:cxnSpLocks/>
            <a:stCxn id="54" idx="6"/>
            <a:endCxn id="59" idx="2"/>
          </p:cNvCxnSpPr>
          <p:nvPr/>
        </p:nvCxnSpPr>
        <p:spPr>
          <a:xfrm>
            <a:off x="2197624" y="4918055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F8C946D4-BA8E-1226-0784-FE3C57D1FFDB}"/>
              </a:ext>
            </a:extLst>
          </p:cNvPr>
          <p:cNvCxnSpPr>
            <a:cxnSpLocks/>
            <a:stCxn id="55" idx="6"/>
            <a:endCxn id="58" idx="2"/>
          </p:cNvCxnSpPr>
          <p:nvPr/>
        </p:nvCxnSpPr>
        <p:spPr>
          <a:xfrm flipV="1">
            <a:off x="2197624" y="4918055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橢圓 57">
            <a:extLst>
              <a:ext uri="{FF2B5EF4-FFF2-40B4-BE49-F238E27FC236}">
                <a16:creationId xmlns:a16="http://schemas.microsoft.com/office/drawing/2014/main" id="{A82DBB7E-5A53-A1BE-BC2F-AB57268ED220}"/>
              </a:ext>
            </a:extLst>
          </p:cNvPr>
          <p:cNvSpPr/>
          <p:nvPr/>
        </p:nvSpPr>
        <p:spPr>
          <a:xfrm>
            <a:off x="3374914" y="463230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03635034-7943-36F1-C854-38C195ED11AC}"/>
              </a:ext>
            </a:extLst>
          </p:cNvPr>
          <p:cNvSpPr/>
          <p:nvPr/>
        </p:nvSpPr>
        <p:spPr>
          <a:xfrm>
            <a:off x="3374914" y="582051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00728864-D7A9-CE17-AA65-4BDCB010C3A8}"/>
              </a:ext>
            </a:extLst>
          </p:cNvPr>
          <p:cNvCxnSpPr>
            <a:cxnSpLocks/>
          </p:cNvCxnSpPr>
          <p:nvPr/>
        </p:nvCxnSpPr>
        <p:spPr>
          <a:xfrm>
            <a:off x="2197624" y="4918055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F181CE0C-083F-CCEE-6354-AEC82972425B}"/>
              </a:ext>
            </a:extLst>
          </p:cNvPr>
          <p:cNvCxnSpPr>
            <a:cxnSpLocks/>
            <a:stCxn id="55" idx="6"/>
            <a:endCxn id="59" idx="2"/>
          </p:cNvCxnSpPr>
          <p:nvPr/>
        </p:nvCxnSpPr>
        <p:spPr>
          <a:xfrm>
            <a:off x="2197624" y="6106261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B658909B-550C-F975-6C96-2CCAA72B2BB9}"/>
                  </a:ext>
                </a:extLst>
              </p:cNvPr>
              <p:cNvSpPr txBox="1"/>
              <p:nvPr/>
            </p:nvSpPr>
            <p:spPr>
              <a:xfrm>
                <a:off x="1731839" y="4718000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B658909B-550C-F975-6C96-2CCAA72B2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39" y="4718000"/>
                <a:ext cx="322139" cy="400110"/>
              </a:xfrm>
              <a:prstGeom prst="rect">
                <a:avLst/>
              </a:prstGeom>
              <a:blipFill>
                <a:blip r:embed="rId10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0201FF3-8F18-A8AA-4169-75B4CDDA2896}"/>
                  </a:ext>
                </a:extLst>
              </p:cNvPr>
              <p:cNvSpPr txBox="1"/>
              <p:nvPr/>
            </p:nvSpPr>
            <p:spPr>
              <a:xfrm>
                <a:off x="1708056" y="5886996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0201FF3-8F18-A8AA-4169-75B4CDDA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056" y="5886996"/>
                <a:ext cx="44485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67500ED-3D28-F352-7A7E-7B75D2F9930B}"/>
                  </a:ext>
                </a:extLst>
              </p:cNvPr>
              <p:cNvSpPr txBox="1"/>
              <p:nvPr/>
            </p:nvSpPr>
            <p:spPr>
              <a:xfrm>
                <a:off x="3431931" y="471800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67500ED-3D28-F352-7A7E-7B75D2F99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931" y="4718000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51BDCA9-17BD-C0A6-A001-DCB6E6D21004}"/>
                  </a:ext>
                </a:extLst>
              </p:cNvPr>
              <p:cNvSpPr txBox="1"/>
              <p:nvPr/>
            </p:nvSpPr>
            <p:spPr>
              <a:xfrm>
                <a:off x="3408442" y="5906206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51BDCA9-17BD-C0A6-A001-DCB6E6D21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442" y="5906206"/>
                <a:ext cx="504444" cy="424796"/>
              </a:xfrm>
              <a:prstGeom prst="rect">
                <a:avLst/>
              </a:prstGeom>
              <a:blipFill>
                <a:blip r:embed="rId1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7C117977-E20A-0EC7-3FFE-3AC1B09C954E}"/>
              </a:ext>
            </a:extLst>
          </p:cNvPr>
          <p:cNvSpPr txBox="1"/>
          <p:nvPr/>
        </p:nvSpPr>
        <p:spPr>
          <a:xfrm rot="5400000">
            <a:off x="1629390" y="5450403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0194FE71-DA0A-7290-7EA1-D30668B59A47}"/>
              </a:ext>
            </a:extLst>
          </p:cNvPr>
          <p:cNvSpPr txBox="1"/>
          <p:nvPr/>
        </p:nvSpPr>
        <p:spPr>
          <a:xfrm rot="5400000">
            <a:off x="3373900" y="5450403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71AB77CE-8C28-1CB9-20BB-F8E1B8D45B31}"/>
              </a:ext>
            </a:extLst>
          </p:cNvPr>
          <p:cNvSpPr/>
          <p:nvPr/>
        </p:nvSpPr>
        <p:spPr>
          <a:xfrm>
            <a:off x="5142365" y="463230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E524A00B-64E4-272C-6FAB-7D34D836FDF5}"/>
              </a:ext>
            </a:extLst>
          </p:cNvPr>
          <p:cNvSpPr/>
          <p:nvPr/>
        </p:nvSpPr>
        <p:spPr>
          <a:xfrm>
            <a:off x="5142365" y="582051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BE91A00-3871-368A-2F55-8D59E8C54D19}"/>
                  </a:ext>
                </a:extLst>
              </p:cNvPr>
              <p:cNvSpPr txBox="1"/>
              <p:nvPr/>
            </p:nvSpPr>
            <p:spPr>
              <a:xfrm>
                <a:off x="5199382" y="471800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BE91A00-3871-368A-2F55-8D59E8C54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382" y="4718000"/>
                <a:ext cx="51587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D436ED9-AA03-A985-3C50-6C7612D1CF95}"/>
                  </a:ext>
                </a:extLst>
              </p:cNvPr>
              <p:cNvSpPr txBox="1"/>
              <p:nvPr/>
            </p:nvSpPr>
            <p:spPr>
              <a:xfrm>
                <a:off x="5175893" y="5906206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D436ED9-AA03-A985-3C50-6C7612D1C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893" y="5906206"/>
                <a:ext cx="504444" cy="424796"/>
              </a:xfrm>
              <a:prstGeom prst="rect">
                <a:avLst/>
              </a:prstGeom>
              <a:blipFill>
                <a:blip r:embed="rId15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71">
            <a:extLst>
              <a:ext uri="{FF2B5EF4-FFF2-40B4-BE49-F238E27FC236}">
                <a16:creationId xmlns:a16="http://schemas.microsoft.com/office/drawing/2014/main" id="{F52DBFA6-D799-17B2-ABD8-0F3091291E27}"/>
              </a:ext>
            </a:extLst>
          </p:cNvPr>
          <p:cNvSpPr txBox="1"/>
          <p:nvPr/>
        </p:nvSpPr>
        <p:spPr>
          <a:xfrm rot="5400000">
            <a:off x="5141351" y="5450403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F7BBA38-A4E2-9F1C-D7CF-1F7525E8C1E4}"/>
              </a:ext>
            </a:extLst>
          </p:cNvPr>
          <p:cNvCxnSpPr>
            <a:cxnSpLocks/>
            <a:stCxn id="64" idx="3"/>
            <a:endCxn id="68" idx="2"/>
          </p:cNvCxnSpPr>
          <p:nvPr/>
        </p:nvCxnSpPr>
        <p:spPr>
          <a:xfrm>
            <a:off x="3947805" y="4918055"/>
            <a:ext cx="119456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86F4C09C-3B45-98DD-2708-E5FA3FBA3F10}"/>
              </a:ext>
            </a:extLst>
          </p:cNvPr>
          <p:cNvCxnSpPr>
            <a:cxnSpLocks/>
            <a:stCxn id="59" idx="6"/>
            <a:endCxn id="69" idx="2"/>
          </p:cNvCxnSpPr>
          <p:nvPr/>
        </p:nvCxnSpPr>
        <p:spPr>
          <a:xfrm>
            <a:off x="3946414" y="6106261"/>
            <a:ext cx="1195951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左中括弧 74">
            <a:extLst>
              <a:ext uri="{FF2B5EF4-FFF2-40B4-BE49-F238E27FC236}">
                <a16:creationId xmlns:a16="http://schemas.microsoft.com/office/drawing/2014/main" id="{4B42AAE5-1D24-34E4-BCBC-1F5B6CC09EE8}"/>
              </a:ext>
            </a:extLst>
          </p:cNvPr>
          <p:cNvSpPr/>
          <p:nvPr/>
        </p:nvSpPr>
        <p:spPr>
          <a:xfrm>
            <a:off x="1435194" y="4761896"/>
            <a:ext cx="74341" cy="1569106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D556EDC5-A679-753D-9C11-6E2CAD704388}"/>
              </a:ext>
            </a:extLst>
          </p:cNvPr>
          <p:cNvSpPr txBox="1"/>
          <p:nvPr/>
        </p:nvSpPr>
        <p:spPr>
          <a:xfrm>
            <a:off x="332245" y="5236650"/>
            <a:ext cx="117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假設只有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張影像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0DEB0F3-B16D-198F-292E-1B0E2AA41DB1}"/>
              </a:ext>
            </a:extLst>
          </p:cNvPr>
          <p:cNvSpPr txBox="1"/>
          <p:nvPr/>
        </p:nvSpPr>
        <p:spPr>
          <a:xfrm>
            <a:off x="381827" y="4092458"/>
            <a:ext cx="124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Inference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6EC47FDA-C2D4-A5C5-FA9A-63714E238A4E}"/>
              </a:ext>
            </a:extLst>
          </p:cNvPr>
          <p:cNvSpPr txBox="1"/>
          <p:nvPr/>
        </p:nvSpPr>
        <p:spPr>
          <a:xfrm>
            <a:off x="381827" y="1530250"/>
            <a:ext cx="124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Training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3172E2CF-3350-599F-2FC6-E94D84A045A9}"/>
              </a:ext>
            </a:extLst>
          </p:cNvPr>
          <p:cNvSpPr txBox="1"/>
          <p:nvPr/>
        </p:nvSpPr>
        <p:spPr>
          <a:xfrm>
            <a:off x="6385931" y="2244474"/>
            <a:ext cx="2832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Moving average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06D8DC03-B473-5CB1-2DF0-569C063D714B}"/>
                  </a:ext>
                </a:extLst>
              </p:cNvPr>
              <p:cNvSpPr txBox="1"/>
              <p:nvPr/>
            </p:nvSpPr>
            <p:spPr>
              <a:xfrm>
                <a:off x="6906586" y="2730279"/>
                <a:ext cx="35237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06D8DC03-B473-5CB1-2DF0-569C063D7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586" y="2730279"/>
                <a:ext cx="3523786" cy="461665"/>
              </a:xfrm>
              <a:prstGeom prst="rect">
                <a:avLst/>
              </a:prstGeom>
              <a:blipFill>
                <a:blip r:embed="rId1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40AD5AA1-284F-550C-6F2C-627FF6708051}"/>
                  </a:ext>
                </a:extLst>
              </p:cNvPr>
              <p:cNvSpPr txBox="1"/>
              <p:nvPr/>
            </p:nvSpPr>
            <p:spPr>
              <a:xfrm>
                <a:off x="6906586" y="3339947"/>
                <a:ext cx="35237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40AD5AA1-284F-550C-6F2C-627FF670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586" y="3339947"/>
                <a:ext cx="3523786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8C048B1D-8F37-7A96-303F-849A01B160CB}"/>
                  </a:ext>
                </a:extLst>
              </p:cNvPr>
              <p:cNvSpPr txBox="1"/>
              <p:nvPr/>
            </p:nvSpPr>
            <p:spPr>
              <a:xfrm>
                <a:off x="7019651" y="4479834"/>
                <a:ext cx="2319610" cy="982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8C048B1D-8F37-7A96-303F-849A01B1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51" y="4479834"/>
                <a:ext cx="2319610" cy="982770"/>
              </a:xfrm>
              <a:prstGeom prst="rect">
                <a:avLst/>
              </a:prstGeom>
              <a:blipFill>
                <a:blip r:embed="rId18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B14E43E0-5D1E-0B6A-D577-8D2EE368070C}"/>
                  </a:ext>
                </a:extLst>
              </p:cNvPr>
              <p:cNvSpPr txBox="1"/>
              <p:nvPr/>
            </p:nvSpPr>
            <p:spPr>
              <a:xfrm>
                <a:off x="7019651" y="5606085"/>
                <a:ext cx="2319610" cy="995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B14E43E0-5D1E-0B6A-D577-8D2EE3680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51" y="5606085"/>
                <a:ext cx="2319610" cy="995272"/>
              </a:xfrm>
              <a:prstGeom prst="rect">
                <a:avLst/>
              </a:prstGeom>
              <a:blipFill>
                <a:blip r:embed="rId19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C24BCBA9-CB64-4174-B7B4-C036FF614DE5}"/>
              </a:ext>
            </a:extLst>
          </p:cNvPr>
          <p:cNvSpPr txBox="1"/>
          <p:nvPr/>
        </p:nvSpPr>
        <p:spPr>
          <a:xfrm>
            <a:off x="8274343" y="1416797"/>
            <a:ext cx="3383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pytorch.org</a:t>
            </a:r>
            <a:r>
              <a:rPr kumimoji="1" lang="en" altLang="zh-TW" sz="1400" dirty="0"/>
              <a:t>/docs/stable/generated/torch.nn.BatchNorm2d.html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7AB3D31-27EC-E638-12CA-5EAFB1F6DCFF}"/>
                  </a:ext>
                </a:extLst>
              </p:cNvPr>
              <p:cNvSpPr txBox="1"/>
              <p:nvPr/>
            </p:nvSpPr>
            <p:spPr>
              <a:xfrm>
                <a:off x="7019651" y="3982206"/>
                <a:ext cx="35237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accent1"/>
                    </a:solidFill>
                  </a:rPr>
                  <a:t>momentum (</a:t>
                </a:r>
                <a14:m>
                  <m:oMath xmlns:m="http://schemas.openxmlformats.org/officeDocument/2006/math">
                    <m:r>
                      <a:rPr lang="zh-TW" altLang="en-US" sz="1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TW" dirty="0">
                    <a:solidFill>
                      <a:schemeClr val="accent1"/>
                    </a:solidFill>
                  </a:rPr>
                  <a:t>) </a:t>
                </a:r>
                <a:r>
                  <a:rPr kumimoji="1" lang="zh-TW" altLang="en-US" dirty="0">
                    <a:solidFill>
                      <a:schemeClr val="accent1"/>
                    </a:solidFill>
                  </a:rPr>
                  <a:t>常見設定為</a:t>
                </a:r>
                <a:r>
                  <a:rPr kumimoji="1" lang="en-US" altLang="zh-TW" dirty="0">
                    <a:solidFill>
                      <a:schemeClr val="accent1"/>
                    </a:solidFill>
                  </a:rPr>
                  <a:t>0.1</a:t>
                </a:r>
                <a:endParaRPr kumimoji="1" lang="zh-TW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7AB3D31-27EC-E638-12CA-5EAFB1F6D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51" y="3982206"/>
                <a:ext cx="3523786" cy="369332"/>
              </a:xfrm>
              <a:prstGeom prst="rect">
                <a:avLst/>
              </a:prstGeom>
              <a:blipFill>
                <a:blip r:embed="rId20"/>
                <a:stretch>
                  <a:fillRect l="-1434" t="-10000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93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8" grpId="0" animBg="1"/>
      <p:bldP spid="59" grpId="0" animBg="1"/>
      <p:bldP spid="62" grpId="0"/>
      <p:bldP spid="63" grpId="0"/>
      <p:bldP spid="64" grpId="0"/>
      <p:bldP spid="65" grpId="0"/>
      <p:bldP spid="66" grpId="0"/>
      <p:bldP spid="67" grpId="0"/>
      <p:bldP spid="68" grpId="0" animBg="1"/>
      <p:bldP spid="69" grpId="0" animBg="1"/>
      <p:bldP spid="70" grpId="0"/>
      <p:bldP spid="71" grpId="0"/>
      <p:bldP spid="72" grpId="0"/>
      <p:bldP spid="75" grpId="0" animBg="1"/>
      <p:bldP spid="76" grpId="0"/>
      <p:bldP spid="77" grpId="0"/>
      <p:bldP spid="83" grpId="0"/>
      <p:bldP spid="8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8A601-AD70-3DF3-7375-726CFCA0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觀察</a:t>
            </a:r>
            <a:r>
              <a:rPr kumimoji="1" lang="en-US" altLang="zh-TW" dirty="0"/>
              <a:t>] </a:t>
            </a:r>
            <a:r>
              <a:rPr kumimoji="1" lang="en-US" altLang="zh-TW" dirty="0" err="1"/>
              <a:t>BatchNorm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D9C9C-7838-2C8C-E049-AC7741CE9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BatchNorm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可以：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減少不同特徵尺度帶來的偏差，避免梯度爆炸或消失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提高模型訓練時的穩定性，加速收斂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43C00A-3A4F-FB7D-DAF2-1CD911DE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68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B44F-EADD-8EB4-2D4A-B38CAA22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F840CDF-6D1B-5900-8B3C-71C38392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38" y="2772849"/>
            <a:ext cx="3516924" cy="1312302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Dropout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9B17A8-2895-5CF4-977D-5235CB2A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05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E7E3D-8832-815A-398E-5D370294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/>
              <a:t>Dropout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484AA6-EDA6-3CB2-E2A1-439E91C6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A051111-91AD-85C9-289E-78581694890E}"/>
              </a:ext>
            </a:extLst>
          </p:cNvPr>
          <p:cNvSpPr/>
          <p:nvPr/>
        </p:nvSpPr>
        <p:spPr>
          <a:xfrm>
            <a:off x="7425755" y="208055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AF5625F-BB1B-6258-134D-2D4D0DB9BD03}"/>
              </a:ext>
            </a:extLst>
          </p:cNvPr>
          <p:cNvSpPr/>
          <p:nvPr/>
        </p:nvSpPr>
        <p:spPr>
          <a:xfrm>
            <a:off x="7414325" y="3266038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72886C0-CFBA-9021-C1DD-05CBC53D640C}"/>
              </a:ext>
            </a:extLst>
          </p:cNvPr>
          <p:cNvSpPr/>
          <p:nvPr/>
        </p:nvSpPr>
        <p:spPr>
          <a:xfrm>
            <a:off x="7414325" y="445152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5C04F0C-708A-AF6D-B73A-18B6EFD7C954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7997255" y="2366305"/>
            <a:ext cx="1091520" cy="1799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DAA638A-97C6-A3EF-7455-C8493E5F661C}"/>
              </a:ext>
            </a:extLst>
          </p:cNvPr>
          <p:cNvCxnSpPr>
            <a:cxnSpLocks/>
            <a:stCxn id="7" idx="6"/>
            <a:endCxn id="20" idx="2"/>
          </p:cNvCxnSpPr>
          <p:nvPr/>
        </p:nvCxnSpPr>
        <p:spPr>
          <a:xfrm flipV="1">
            <a:off x="7985825" y="2980288"/>
            <a:ext cx="111438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A1EBB34-A906-0510-FA73-F87222E9006A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7985825" y="2980288"/>
            <a:ext cx="1114380" cy="1756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FAE376AA-AC77-2329-84B2-2B58C2AAACD6}"/>
              </a:ext>
            </a:extLst>
          </p:cNvPr>
          <p:cNvSpPr/>
          <p:nvPr/>
        </p:nvSpPr>
        <p:spPr>
          <a:xfrm>
            <a:off x="9100205" y="2694538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3D5EC23-BD7A-0386-9058-B441690B8EBE}"/>
              </a:ext>
            </a:extLst>
          </p:cNvPr>
          <p:cNvSpPr/>
          <p:nvPr/>
        </p:nvSpPr>
        <p:spPr>
          <a:xfrm>
            <a:off x="9088775" y="388002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5FFA530-2E95-FA1A-17EC-F995F35D9C36}"/>
              </a:ext>
            </a:extLst>
          </p:cNvPr>
          <p:cNvCxnSpPr>
            <a:cxnSpLocks/>
            <a:stCxn id="6" idx="6"/>
            <a:endCxn id="20" idx="2"/>
          </p:cNvCxnSpPr>
          <p:nvPr/>
        </p:nvCxnSpPr>
        <p:spPr>
          <a:xfrm>
            <a:off x="7997255" y="2366305"/>
            <a:ext cx="110295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3C7D02C-5F0E-E432-6E4F-D290B2FDA8F1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 flipV="1">
            <a:off x="7985825" y="4165771"/>
            <a:ext cx="110295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FD8BBD-B426-9055-03A9-D834DD929B1B}"/>
              </a:ext>
            </a:extLst>
          </p:cNvPr>
          <p:cNvCxnSpPr>
            <a:cxnSpLocks/>
            <a:stCxn id="7" idx="6"/>
            <a:endCxn id="21" idx="2"/>
          </p:cNvCxnSpPr>
          <p:nvPr/>
        </p:nvCxnSpPr>
        <p:spPr>
          <a:xfrm>
            <a:off x="7985825" y="3551788"/>
            <a:ext cx="110295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4EB4507B-0A0E-BCF3-03A0-7C6A9A0BC44B}"/>
              </a:ext>
            </a:extLst>
          </p:cNvPr>
          <p:cNvSpPr/>
          <p:nvPr/>
        </p:nvSpPr>
        <p:spPr>
          <a:xfrm>
            <a:off x="6046721" y="208055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B3D1FB9B-F58B-C96B-BD0E-BF351A91612E}"/>
              </a:ext>
            </a:extLst>
          </p:cNvPr>
          <p:cNvSpPr/>
          <p:nvPr/>
        </p:nvSpPr>
        <p:spPr>
          <a:xfrm>
            <a:off x="6035291" y="3266038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75554B98-4D1B-4AA0-2856-AD0ED81A8080}"/>
              </a:ext>
            </a:extLst>
          </p:cNvPr>
          <p:cNvSpPr/>
          <p:nvPr/>
        </p:nvSpPr>
        <p:spPr>
          <a:xfrm>
            <a:off x="6035291" y="445152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4BDB5A1-2804-A905-419A-943C898B5099}"/>
              </a:ext>
            </a:extLst>
          </p:cNvPr>
          <p:cNvCxnSpPr>
            <a:cxnSpLocks/>
            <a:stCxn id="28" idx="6"/>
            <a:endCxn id="7" idx="2"/>
          </p:cNvCxnSpPr>
          <p:nvPr/>
        </p:nvCxnSpPr>
        <p:spPr>
          <a:xfrm>
            <a:off x="6618221" y="2366305"/>
            <a:ext cx="796104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31D3322-F35F-6C98-B167-A5380472748D}"/>
              </a:ext>
            </a:extLst>
          </p:cNvPr>
          <p:cNvCxnSpPr>
            <a:cxnSpLocks/>
            <a:stCxn id="29" idx="6"/>
            <a:endCxn id="6" idx="2"/>
          </p:cNvCxnSpPr>
          <p:nvPr/>
        </p:nvCxnSpPr>
        <p:spPr>
          <a:xfrm flipV="1">
            <a:off x="6606791" y="2366305"/>
            <a:ext cx="818964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180EC44F-2899-F2D1-2646-FEDBF0B026DE}"/>
              </a:ext>
            </a:extLst>
          </p:cNvPr>
          <p:cNvCxnSpPr>
            <a:cxnSpLocks/>
            <a:stCxn id="29" idx="6"/>
            <a:endCxn id="7" idx="2"/>
          </p:cNvCxnSpPr>
          <p:nvPr/>
        </p:nvCxnSpPr>
        <p:spPr>
          <a:xfrm>
            <a:off x="6606791" y="3551788"/>
            <a:ext cx="8075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7998B345-ED82-8B0B-0F08-87C121D0D99C}"/>
              </a:ext>
            </a:extLst>
          </p:cNvPr>
          <p:cNvCxnSpPr>
            <a:cxnSpLocks/>
            <a:stCxn id="29" idx="6"/>
            <a:endCxn id="8" idx="2"/>
          </p:cNvCxnSpPr>
          <p:nvPr/>
        </p:nvCxnSpPr>
        <p:spPr>
          <a:xfrm>
            <a:off x="6606791" y="3551788"/>
            <a:ext cx="807534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33E7F495-6219-5768-4BCB-2B9A42CB68D5}"/>
              </a:ext>
            </a:extLst>
          </p:cNvPr>
          <p:cNvCxnSpPr>
            <a:cxnSpLocks/>
            <a:stCxn id="7" idx="2"/>
            <a:endCxn id="30" idx="6"/>
          </p:cNvCxnSpPr>
          <p:nvPr/>
        </p:nvCxnSpPr>
        <p:spPr>
          <a:xfrm flipH="1">
            <a:off x="6606791" y="3551788"/>
            <a:ext cx="807534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16E6A2B5-D5D1-E2C9-0D65-3A0A5C3F0484}"/>
              </a:ext>
            </a:extLst>
          </p:cNvPr>
          <p:cNvCxnSpPr>
            <a:cxnSpLocks/>
            <a:stCxn id="8" idx="2"/>
            <a:endCxn id="30" idx="6"/>
          </p:cNvCxnSpPr>
          <p:nvPr/>
        </p:nvCxnSpPr>
        <p:spPr>
          <a:xfrm flipH="1">
            <a:off x="6606791" y="4737271"/>
            <a:ext cx="8075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704C389E-93E1-89DC-3551-E549C253C2E6}"/>
              </a:ext>
            </a:extLst>
          </p:cNvPr>
          <p:cNvCxnSpPr>
            <a:cxnSpLocks/>
            <a:stCxn id="28" idx="6"/>
            <a:endCxn id="6" idx="2"/>
          </p:cNvCxnSpPr>
          <p:nvPr/>
        </p:nvCxnSpPr>
        <p:spPr>
          <a:xfrm>
            <a:off x="6618221" y="2366305"/>
            <a:ext cx="8075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>
            <a:extLst>
              <a:ext uri="{FF2B5EF4-FFF2-40B4-BE49-F238E27FC236}">
                <a16:creationId xmlns:a16="http://schemas.microsoft.com/office/drawing/2014/main" id="{0153FE26-0FA0-ECB3-393F-6330C45CEE52}"/>
              </a:ext>
            </a:extLst>
          </p:cNvPr>
          <p:cNvSpPr/>
          <p:nvPr/>
        </p:nvSpPr>
        <p:spPr>
          <a:xfrm>
            <a:off x="10531279" y="3266038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5D3CE94-E98A-EBFB-9B6C-07CAC68BB37F}"/>
              </a:ext>
            </a:extLst>
          </p:cNvPr>
          <p:cNvCxnSpPr>
            <a:cxnSpLocks/>
            <a:stCxn id="20" idx="6"/>
            <a:endCxn id="55" idx="2"/>
          </p:cNvCxnSpPr>
          <p:nvPr/>
        </p:nvCxnSpPr>
        <p:spPr>
          <a:xfrm>
            <a:off x="9671705" y="2980288"/>
            <a:ext cx="85957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B68D2D37-5927-AB07-CF98-038F0DAF82C0}"/>
              </a:ext>
            </a:extLst>
          </p:cNvPr>
          <p:cNvCxnSpPr>
            <a:cxnSpLocks/>
            <a:stCxn id="21" idx="6"/>
            <a:endCxn id="55" idx="2"/>
          </p:cNvCxnSpPr>
          <p:nvPr/>
        </p:nvCxnSpPr>
        <p:spPr>
          <a:xfrm flipV="1">
            <a:off x="9660275" y="3551788"/>
            <a:ext cx="87100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11B92CC-7112-BB8F-938B-4E6674A26CC0}"/>
              </a:ext>
            </a:extLst>
          </p:cNvPr>
          <p:cNvSpPr txBox="1"/>
          <p:nvPr/>
        </p:nvSpPr>
        <p:spPr>
          <a:xfrm>
            <a:off x="7425755" y="330915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65944AE-08F2-E89A-7AD7-FAFB9C11C875}"/>
              </a:ext>
            </a:extLst>
          </p:cNvPr>
          <p:cNvSpPr txBox="1"/>
          <p:nvPr/>
        </p:nvSpPr>
        <p:spPr>
          <a:xfrm>
            <a:off x="9088775" y="3934938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2C579D27-9A0C-9B16-67CD-79E579A50F7F}"/>
              </a:ext>
            </a:extLst>
          </p:cNvPr>
          <p:cNvSpPr txBox="1"/>
          <p:nvPr/>
        </p:nvSpPr>
        <p:spPr>
          <a:xfrm>
            <a:off x="10259839" y="3880021"/>
            <a:ext cx="11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(Output)</a:t>
            </a:r>
            <a:endParaRPr kumimoji="1" lang="zh-TW" altLang="en-US" dirty="0"/>
          </a:p>
        </p:txBody>
      </p:sp>
      <p:sp>
        <p:nvSpPr>
          <p:cNvPr id="68" name="內容版面配置區 2">
            <a:extLst>
              <a:ext uri="{FF2B5EF4-FFF2-40B4-BE49-F238E27FC236}">
                <a16:creationId xmlns:a16="http://schemas.microsoft.com/office/drawing/2014/main" id="{B1D7A06E-6F04-CB4F-C3CD-F6B1C143F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225" y="6311590"/>
            <a:ext cx="5985550" cy="469095"/>
          </a:xfrm>
        </p:spPr>
        <p:txBody>
          <a:bodyPr>
            <a:normAutofit fontScale="92500"/>
          </a:bodyPr>
          <a:lstStyle/>
          <a:p>
            <a:r>
              <a:rPr kumimoji="1" lang="en" altLang="zh-TW" sz="1400" dirty="0"/>
              <a:t>Srivastava, Nitish, et al. "Dropout: a simple way to prevent neural networks from overfitting." The journal of machine learning research 15.1 (2014): 1929-1958.</a:t>
            </a:r>
            <a:endParaRPr kumimoji="1" lang="zh-TW" altLang="en-US" sz="1400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44CACB93-BB48-B438-79C0-C302B9B06B8E}"/>
              </a:ext>
            </a:extLst>
          </p:cNvPr>
          <p:cNvSpPr txBox="1"/>
          <p:nvPr/>
        </p:nvSpPr>
        <p:spPr>
          <a:xfrm>
            <a:off x="764599" y="2144223"/>
            <a:ext cx="4486018" cy="23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每輪訓練時，神經網路每一層的輸入值部份以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p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的機率隨機替換成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p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是超參數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可防止模型過擬合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(over-fitting)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，增強模型的泛化能力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generalization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304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271531-215D-0330-A0E6-74A8A2CC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/>
              <a:t>Dropout may improve </a:t>
            </a:r>
            <a:r>
              <a:rPr kumimoji="1" lang="en" altLang="zh-TW" sz="4800" dirty="0">
                <a:ea typeface="Microsoft JhengHei" panose="020B0604030504040204" pitchFamily="34" charset="-120"/>
              </a:rPr>
              <a:t>generalization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8AA7E3-12A9-9632-61EA-49765E2D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512455-B101-3CDD-8325-5F5D7797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07" y="1727625"/>
            <a:ext cx="5362411" cy="4687935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0EA5E1E-ED05-4F94-36FD-092B60F7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7859" y="1876308"/>
            <a:ext cx="4130200" cy="740512"/>
          </a:xfrm>
        </p:spPr>
        <p:txBody>
          <a:bodyPr>
            <a:normAutofit fontScale="92500"/>
          </a:bodyPr>
          <a:lstStyle/>
          <a:p>
            <a:r>
              <a:rPr kumimoji="1" lang="en" altLang="zh-TW" sz="1400" dirty="0"/>
              <a:t>Srivastava, Nitish, et al. "Dropout: a simple way to prevent neural networks from overfitting." The journal of machine learning research 15.1 (2014): 1929-1958.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60176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B81613-5953-9582-6657-01655AAA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model.eval</a:t>
            </a:r>
            <a:r>
              <a:rPr kumimoji="1" lang="en-US" altLang="zh-TW" dirty="0"/>
              <a:t>()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5EAF-901A-5755-282A-4C723594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A3D600-16B1-CA56-D9AF-F7B22F1A514E}"/>
              </a:ext>
            </a:extLst>
          </p:cNvPr>
          <p:cNvSpPr txBox="1"/>
          <p:nvPr/>
        </p:nvSpPr>
        <p:spPr>
          <a:xfrm>
            <a:off x="636815" y="1928013"/>
            <a:ext cx="10918370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使用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training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時取得的平均值跟標準差來算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batch normalization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關閉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dropout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保留所有的神經元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測試時已經不需要再更新模型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去除隨機性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968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8107</TotalTime>
  <Words>1992</Words>
  <Application>Microsoft Macintosh PowerPoint</Application>
  <PresentationFormat>寬螢幕</PresentationFormat>
  <Paragraphs>402</Paragraphs>
  <Slides>37</Slides>
  <Notes>16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3" baseType="lpstr">
      <vt:lpstr>Microsoft JhengHei</vt:lpstr>
      <vt:lpstr>Aptos</vt:lpstr>
      <vt:lpstr>Arial</vt:lpstr>
      <vt:lpstr>Calibri</vt:lpstr>
      <vt:lpstr>Cambria Math</vt:lpstr>
      <vt:lpstr>回顧</vt:lpstr>
      <vt:lpstr>深度學習 Deep Learning</vt:lpstr>
      <vt:lpstr>Outline</vt:lpstr>
      <vt:lpstr>[Recap] 如何訓練模型：資料集</vt:lpstr>
      <vt:lpstr>訓練模型的目標</vt:lpstr>
      <vt:lpstr>訓練機器學習模型時可能發生的情況</vt:lpstr>
      <vt:lpstr>[定義] Overfitting 與 Underfitting</vt:lpstr>
      <vt:lpstr>EarlyStopping</vt:lpstr>
      <vt:lpstr>EarlyStopping</vt:lpstr>
      <vt:lpstr>Regularization</vt:lpstr>
      <vt:lpstr>Norm (範數)</vt:lpstr>
      <vt:lpstr>L2 Regularization</vt:lpstr>
      <vt:lpstr>為什麼要增加正則項？</vt:lpstr>
      <vt:lpstr>Gradient Descent with L2 Regularization</vt:lpstr>
      <vt:lpstr>L1 Regularization</vt:lpstr>
      <vt:lpstr>Gradient Descent with L1 Regularization</vt:lpstr>
      <vt:lpstr>AdamW will be in Week 7</vt:lpstr>
      <vt:lpstr>[Recap] Adam</vt:lpstr>
      <vt:lpstr>[Recap] 如何有效訓練深度學習模型？</vt:lpstr>
      <vt:lpstr>[Recap] Adam 流程</vt:lpstr>
      <vt:lpstr>Adam</vt:lpstr>
      <vt:lpstr>[實作細節] 把 L2 Regularization 加到 SGD</vt:lpstr>
      <vt:lpstr>[實作細節] 把 L2 Regularization 加到 Adam</vt:lpstr>
      <vt:lpstr>AdamW</vt:lpstr>
      <vt:lpstr>延伸學習</vt:lpstr>
      <vt:lpstr>Batch Normalization </vt:lpstr>
      <vt:lpstr>The whole CNN</vt:lpstr>
      <vt:lpstr>Batch Normalization (BatchNorm)</vt:lpstr>
      <vt:lpstr>MLP 中的 BatchNorm</vt:lpstr>
      <vt:lpstr>BatchNorm During Training</vt:lpstr>
      <vt:lpstr>CNN 中的 BatchNorm</vt:lpstr>
      <vt:lpstr>BatchNorm During Test (Inference)</vt:lpstr>
      <vt:lpstr>[觀察] BatchNorm</vt:lpstr>
      <vt:lpstr>Dropout</vt:lpstr>
      <vt:lpstr>Dropout</vt:lpstr>
      <vt:lpstr>Dropout may improve generalization</vt:lpstr>
      <vt:lpstr>model.eval()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1301</cp:revision>
  <dcterms:created xsi:type="dcterms:W3CDTF">2025-02-06T07:16:08Z</dcterms:created>
  <dcterms:modified xsi:type="dcterms:W3CDTF">2025-10-15T04:34:38Z</dcterms:modified>
</cp:coreProperties>
</file>