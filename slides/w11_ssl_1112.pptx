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sldIdLst>
    <p:sldId id="264" r:id="rId2"/>
    <p:sldId id="720" r:id="rId3"/>
    <p:sldId id="718" r:id="rId4"/>
    <p:sldId id="719" r:id="rId5"/>
    <p:sldId id="722" r:id="rId6"/>
    <p:sldId id="678" r:id="rId7"/>
    <p:sldId id="669" r:id="rId8"/>
    <p:sldId id="655" r:id="rId9"/>
    <p:sldId id="656" r:id="rId10"/>
    <p:sldId id="657" r:id="rId11"/>
    <p:sldId id="660" r:id="rId12"/>
    <p:sldId id="658" r:id="rId13"/>
    <p:sldId id="659" r:id="rId14"/>
    <p:sldId id="661" r:id="rId15"/>
    <p:sldId id="723" r:id="rId16"/>
    <p:sldId id="674" r:id="rId17"/>
    <p:sldId id="498" r:id="rId18"/>
    <p:sldId id="731" r:id="rId19"/>
    <p:sldId id="676" r:id="rId20"/>
    <p:sldId id="551" r:id="rId21"/>
    <p:sldId id="679" r:id="rId22"/>
    <p:sldId id="680" r:id="rId23"/>
    <p:sldId id="732" r:id="rId24"/>
    <p:sldId id="673" r:id="rId25"/>
    <p:sldId id="729" r:id="rId26"/>
    <p:sldId id="733" r:id="rId27"/>
    <p:sldId id="312" r:id="rId28"/>
    <p:sldId id="685" r:id="rId29"/>
    <p:sldId id="683" r:id="rId30"/>
    <p:sldId id="734" r:id="rId31"/>
    <p:sldId id="296" r:id="rId32"/>
    <p:sldId id="724" r:id="rId33"/>
    <p:sldId id="682" r:id="rId34"/>
    <p:sldId id="730" r:id="rId35"/>
    <p:sldId id="728" r:id="rId36"/>
    <p:sldId id="735" r:id="rId37"/>
    <p:sldId id="677" r:id="rId38"/>
    <p:sldId id="671" r:id="rId39"/>
    <p:sldId id="670" r:id="rId40"/>
    <p:sldId id="265" r:id="rId41"/>
    <p:sldId id="725" r:id="rId42"/>
    <p:sldId id="687" r:id="rId43"/>
    <p:sldId id="727" r:id="rId44"/>
    <p:sldId id="316" r:id="rId45"/>
    <p:sldId id="291" r:id="rId46"/>
    <p:sldId id="517" r:id="rId47"/>
    <p:sldId id="726" r:id="rId48"/>
    <p:sldId id="736" r:id="rId49"/>
    <p:sldId id="610" r:id="rId5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EF5EA"/>
    <a:srgbClr val="CDD5DE"/>
    <a:srgbClr val="FCE7D7"/>
    <a:srgbClr val="F9EDC6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0886"/>
  </p:normalViewPr>
  <p:slideViewPr>
    <p:cSldViewPr snapToGrid="0">
      <p:cViewPr varScale="1">
        <p:scale>
          <a:sx n="123" d="100"/>
          <a:sy n="123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176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5910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1147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7797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48186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3892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286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8409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4367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0367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7580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531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829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4794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2802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2485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8157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212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0315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hyperlink" Target="https://github.com/mcps5601/CGUDL_2025_fa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.sli.do/event/f4AyC4nV31kbBjuL3zEi6U" TargetMode="External"/><Relationship Id="rId5" Type="http://schemas.openxmlformats.org/officeDocument/2006/relationships/hyperlink" Target="https://app.sli.do/event/r6bsGhmsqjXx3WLiJiGQdT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29.png"/><Relationship Id="rId4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20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3.jpeg"/><Relationship Id="rId10" Type="http://schemas.openxmlformats.org/officeDocument/2006/relationships/image" Target="../media/image41.png"/><Relationship Id="rId4" Type="http://schemas.openxmlformats.org/officeDocument/2006/relationships/image" Target="../media/image32.jpeg"/><Relationship Id="rId9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360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3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Slido # DL1112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7"/>
              </a:rPr>
              <a:t>Course GitHub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C54666-0C58-F99D-556B-7D8163B991AA}"/>
              </a:ext>
            </a:extLst>
          </p:cNvPr>
          <p:cNvSpPr txBox="1"/>
          <p:nvPr/>
        </p:nvSpPr>
        <p:spPr>
          <a:xfrm>
            <a:off x="901959" y="4749453"/>
            <a:ext cx="50808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Vision Transformer (</a:t>
            </a:r>
            <a:r>
              <a:rPr kumimoji="1" lang="en-US" altLang="zh-TW" sz="2800" b="1" dirty="0" err="1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ViT</a:t>
            </a:r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)</a:t>
            </a:r>
            <a:r>
              <a:rPr kumimoji="1" lang="zh-TW" altLang="en-US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、</a:t>
            </a:r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r>
              <a:rPr kumimoji="1" lang="zh-TW" altLang="en-US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自監督式學習與預訓練模型</a:t>
            </a:r>
            <a:endParaRPr kumimoji="1" lang="zh-TW" altLang="en-US" sz="2400" b="1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A82EC-22FA-ABE2-B4AF-6FCD7356A734}"/>
              </a:ext>
            </a:extLst>
          </p:cNvPr>
          <p:cNvSpPr txBox="1"/>
          <p:nvPr/>
        </p:nvSpPr>
        <p:spPr>
          <a:xfrm>
            <a:off x="901959" y="5851998"/>
            <a:ext cx="445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2025/11/12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CEF83FC-984A-9E18-534E-66CA4A12E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929" y="4712369"/>
            <a:ext cx="1602785" cy="160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Announcements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6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Project checkpoints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6A18D-6FA5-9047-5902-5DC0B4DDE78C}"/>
              </a:ext>
            </a:extLst>
          </p:cNvPr>
          <p:cNvSpPr txBox="1"/>
          <p:nvPr/>
        </p:nvSpPr>
        <p:spPr>
          <a:xfrm>
            <a:off x="653144" y="180609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>
                <a:ea typeface="Microsoft JhengHei" panose="020B0604030504040204" pitchFamily="34" charset="-120"/>
              </a:rPr>
              <a:t>Week 9: </a:t>
            </a:r>
            <a:r>
              <a:rPr kumimoji="1" lang="zh-TW" altLang="en-US" sz="2400" strike="sngStrike" dirty="0">
                <a:ea typeface="Microsoft JhengHei" panose="020B0604030504040204" pitchFamily="34" charset="-120"/>
              </a:rPr>
              <a:t>確定各組的題目</a:t>
            </a:r>
            <a:endParaRPr kumimoji="1" lang="en-US" altLang="zh-TW" sz="2400" strike="sngStrike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Week 12: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PPT (5 pages)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14: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(5+5 pages), Presentations (selected teams)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16: Final presentations for all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16-17: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繳交書面報告以及程式碼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81933"/>
              </p:ext>
            </p:extLst>
          </p:nvPr>
        </p:nvGraphicFramePr>
        <p:xfrm>
          <a:off x="653142" y="2304626"/>
          <a:ext cx="10700657" cy="325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818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6156960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1706879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12)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 pages)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866771"/>
                  </a:ext>
                </a:extLst>
              </a:tr>
              <a:tr h="7261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14)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(5+5 pages*)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Selected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取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題目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於課堂中報告，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10min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711125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16)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含程式碼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、小平台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(optional)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80A544A-B20C-DC01-EA74-C3212CC709C5}"/>
              </a:ext>
            </a:extLst>
          </p:cNvPr>
          <p:cNvSpPr txBox="1"/>
          <p:nvPr/>
        </p:nvSpPr>
        <p:spPr>
          <a:xfrm>
            <a:off x="653142" y="5688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>
                <a:ea typeface="Microsoft JhengHei" panose="020B0604030504040204" pitchFamily="34" charset="-120"/>
              </a:rPr>
              <a:t>繼承</a:t>
            </a:r>
            <a:r>
              <a:rPr lang="en" altLang="zh-TW" dirty="0">
                <a:ea typeface="Microsoft JhengHei" panose="020B0604030504040204" pitchFamily="34" charset="-120"/>
              </a:rPr>
              <a:t>Checkpoint1</a:t>
            </a:r>
            <a:r>
              <a:rPr lang="zh-TW" altLang="en-US" dirty="0">
                <a:ea typeface="Microsoft JhengHei" panose="020B0604030504040204" pitchFamily="34" charset="-120"/>
              </a:rPr>
              <a:t>內容</a:t>
            </a:r>
            <a:r>
              <a:rPr lang="en-US" altLang="zh-TW" dirty="0">
                <a:ea typeface="Microsoft JhengHei" panose="020B0604030504040204" pitchFamily="34" charset="-120"/>
              </a:rPr>
              <a:t>+</a:t>
            </a:r>
            <a:r>
              <a:rPr lang="zh-TW" altLang="en-US" dirty="0">
                <a:ea typeface="Microsoft JhengHei" panose="020B0604030504040204" pitchFamily="34" charset="-120"/>
              </a:rPr>
              <a:t>實作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2" y="18034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40%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53143" y="1586847"/>
            <a:ext cx="10918370" cy="4659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清晰易懂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的簡報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頁，一組繳交一份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介紹競賽任務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舉例說明資料的長相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做簡單的資料分析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，關鍵字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: EDA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(Exploratory Data Analysis)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請附上來源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預期的實作方法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預期實作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/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使用的模型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，請附上來源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預期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分工模式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6116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繳交注意事項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731932"/>
            <a:ext cx="10918370" cy="2343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5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頁是最低需求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不包含首頁跟最後一頁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可以多於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一組繳交一份，請上傳至</a:t>
            </a:r>
            <a:r>
              <a:rPr kumimoji="1" lang="en-US" altLang="zh-TW" sz="2000">
                <a:ea typeface="Microsoft JhengHei" panose="020B0604030504040204" pitchFamily="34" charset="-120"/>
              </a:rPr>
              <a:t> </a:t>
            </a:r>
            <a:r>
              <a:rPr kumimoji="1" lang="en-US" altLang="zh-TW" sz="2000">
                <a:solidFill>
                  <a:srgbClr val="FF0000"/>
                </a:solidFill>
                <a:ea typeface="Microsoft JhengHei" panose="020B0604030504040204" pitchFamily="34" charset="-120"/>
              </a:rPr>
              <a:t>E-Learning</a:t>
            </a:r>
            <a:endParaRPr kumimoji="1"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Deadline: 2025/11/21 23:59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DL_teamN_checkpoint1.pdf</a:t>
            </a:r>
          </a:p>
        </p:txBody>
      </p:sp>
    </p:spTree>
    <p:extLst>
      <p:ext uri="{BB962C8B-B14F-4D97-AF65-F5344CB8AC3E}">
        <p14:creationId xmlns:p14="http://schemas.microsoft.com/office/powerpoint/2010/main" val="1292131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4456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Vision Transformer (</a:t>
            </a:r>
            <a:r>
              <a:rPr kumimoji="1" lang="en-US" altLang="zh-TW" sz="2400" dirty="0" err="1"/>
              <a:t>ViT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Self-supervised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Images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Autoencoders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Contrastive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Text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Next-token prediction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訓練方式為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/>
              <a:t>Language Modeling)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Cloze test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訓練方式為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/>
              <a:t>Masked-language Modeling)</a:t>
            </a:r>
          </a:p>
        </p:txBody>
      </p:sp>
    </p:spTree>
    <p:extLst>
      <p:ext uri="{BB962C8B-B14F-4D97-AF65-F5344CB8AC3E}">
        <p14:creationId xmlns:p14="http://schemas.microsoft.com/office/powerpoint/2010/main" val="449483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88DA8B3-68A9-0C0E-AA3A-4F955A31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ea typeface="Microsoft JhengHei" panose="020B0604030504040204" pitchFamily="34" charset="-120"/>
              </a:rPr>
              <a:t>Transformer</a:t>
            </a:r>
            <a:r>
              <a:rPr lang="zh-TW" altLang="en-US" sz="5400" dirty="0">
                <a:ea typeface="Microsoft JhengHei" panose="020B0604030504040204" pitchFamily="34" charset="-120"/>
              </a:rPr>
              <a:t>能不能用在影像上呢？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F0CB90-2918-CF05-E593-676344F0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E471B1F-2A4C-A2D0-1AD8-0CA4082A205B}"/>
              </a:ext>
            </a:extLst>
          </p:cNvPr>
          <p:cNvSpPr txBox="1"/>
          <p:nvPr/>
        </p:nvSpPr>
        <p:spPr>
          <a:xfrm>
            <a:off x="1225685" y="4523362"/>
            <a:ext cx="7237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800" dirty="0"/>
              <a:t>Vision Transformer (</a:t>
            </a:r>
            <a:r>
              <a:rPr kumimoji="1" lang="en" altLang="zh-TW" sz="2800" dirty="0" err="1"/>
              <a:t>ViT</a:t>
            </a:r>
            <a:r>
              <a:rPr kumimoji="1" lang="en" altLang="zh-TW" sz="2800" dirty="0"/>
              <a:t>) 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6936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07EF3E-03FC-2204-C4DB-78BFDD01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71050D-455C-43B8-2FCF-FF8CE6DF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30" y="1749261"/>
            <a:ext cx="9398540" cy="4556386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271F758D-3520-122E-FA8F-2A557944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Concept: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把影像區域當成 </a:t>
            </a:r>
            <a:r>
              <a:rPr kumimoji="1" lang="en-US" altLang="zh-TW" dirty="0">
                <a:cs typeface="Calibri" panose="020F0502020204030204" pitchFamily="34" charset="0"/>
              </a:rPr>
              <a:t>token</a:t>
            </a:r>
            <a:r>
              <a:rPr kumimoji="1" lang="zh-TW" altLang="en-US" dirty="0">
                <a:cs typeface="Calibri" panose="020F0502020204030204" pitchFamily="34" charset="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輸入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BE579-C3F6-5FC1-E776-2E2660FB6A18}"/>
              </a:ext>
            </a:extLst>
          </p:cNvPr>
          <p:cNvSpPr/>
          <p:nvPr/>
        </p:nvSpPr>
        <p:spPr>
          <a:xfrm flipV="1">
            <a:off x="1481111" y="3015516"/>
            <a:ext cx="6388565" cy="5195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9539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31BC5-FBCC-F4CA-2E6B-52D8A23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Vision Transformer (</a:t>
            </a:r>
            <a:r>
              <a:rPr kumimoji="1" lang="en-US" altLang="zh-TW" dirty="0" err="1"/>
              <a:t>ViT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7928AA-8F65-5232-1A09-CE8C32F1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A6AFB5-D85D-6FFB-5BC7-6EE0D5AA0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88" y="5440032"/>
            <a:ext cx="1400775" cy="137630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F1CCDF-6346-1832-7805-CFF3FF9AE6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31"/>
          <a:stretch/>
        </p:blipFill>
        <p:spPr>
          <a:xfrm>
            <a:off x="3503179" y="5847879"/>
            <a:ext cx="6849771" cy="560614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E667C784-47AA-389A-188F-0F40EE8B3F88}"/>
              </a:ext>
            </a:extLst>
          </p:cNvPr>
          <p:cNvSpPr/>
          <p:nvPr/>
        </p:nvSpPr>
        <p:spPr>
          <a:xfrm>
            <a:off x="4207964" y="4742251"/>
            <a:ext cx="6070138" cy="8029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Linear Projection of Flattened Patches</a:t>
            </a:r>
            <a:endParaRPr kumimoji="1" lang="zh-TW" altLang="en-US" sz="2400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72596B2-D304-F56C-3D22-EE41BDD4F210}"/>
              </a:ext>
            </a:extLst>
          </p:cNvPr>
          <p:cNvCxnSpPr>
            <a:cxnSpLocks/>
          </p:cNvCxnSpPr>
          <p:nvPr/>
        </p:nvCxnSpPr>
        <p:spPr>
          <a:xfrm>
            <a:off x="5113106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D00136A-53E3-52E9-8FE2-7C1D6F8318E7}"/>
              </a:ext>
            </a:extLst>
          </p:cNvPr>
          <p:cNvCxnSpPr>
            <a:cxnSpLocks/>
          </p:cNvCxnSpPr>
          <p:nvPr/>
        </p:nvCxnSpPr>
        <p:spPr>
          <a:xfrm>
            <a:off x="5733135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19DB344-4FA9-2FC8-47DA-3D8A484E4B36}"/>
              </a:ext>
            </a:extLst>
          </p:cNvPr>
          <p:cNvCxnSpPr>
            <a:cxnSpLocks/>
          </p:cNvCxnSpPr>
          <p:nvPr/>
        </p:nvCxnSpPr>
        <p:spPr>
          <a:xfrm>
            <a:off x="6353164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81F2317-C5ED-244D-7349-4540C3E40056}"/>
              </a:ext>
            </a:extLst>
          </p:cNvPr>
          <p:cNvCxnSpPr>
            <a:cxnSpLocks/>
          </p:cNvCxnSpPr>
          <p:nvPr/>
        </p:nvCxnSpPr>
        <p:spPr>
          <a:xfrm>
            <a:off x="6973193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B30E9554-FBDD-E66C-38D8-B2EEBD2EF088}"/>
              </a:ext>
            </a:extLst>
          </p:cNvPr>
          <p:cNvCxnSpPr>
            <a:cxnSpLocks/>
          </p:cNvCxnSpPr>
          <p:nvPr/>
        </p:nvCxnSpPr>
        <p:spPr>
          <a:xfrm>
            <a:off x="7593222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DF3C79FF-370C-1EBD-9648-928C0126E23A}"/>
              </a:ext>
            </a:extLst>
          </p:cNvPr>
          <p:cNvCxnSpPr>
            <a:cxnSpLocks/>
          </p:cNvCxnSpPr>
          <p:nvPr/>
        </p:nvCxnSpPr>
        <p:spPr>
          <a:xfrm>
            <a:off x="8213251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10ADAAE-4629-E6C1-8740-EEF7FB6184ED}"/>
              </a:ext>
            </a:extLst>
          </p:cNvPr>
          <p:cNvCxnSpPr>
            <a:cxnSpLocks/>
          </p:cNvCxnSpPr>
          <p:nvPr/>
        </p:nvCxnSpPr>
        <p:spPr>
          <a:xfrm>
            <a:off x="8833280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E8C67D7-63AA-1DC8-A546-27E8E3184028}"/>
              </a:ext>
            </a:extLst>
          </p:cNvPr>
          <p:cNvCxnSpPr>
            <a:cxnSpLocks/>
          </p:cNvCxnSpPr>
          <p:nvPr/>
        </p:nvCxnSpPr>
        <p:spPr>
          <a:xfrm>
            <a:off x="9453309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8707482-F88C-F4D9-D2A0-4BBB01EF49EA}"/>
              </a:ext>
            </a:extLst>
          </p:cNvPr>
          <p:cNvCxnSpPr>
            <a:cxnSpLocks/>
          </p:cNvCxnSpPr>
          <p:nvPr/>
        </p:nvCxnSpPr>
        <p:spPr>
          <a:xfrm>
            <a:off x="10073341" y="5565369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571624-512F-FF33-03BD-9316FE7A9CC9}"/>
              </a:ext>
            </a:extLst>
          </p:cNvPr>
          <p:cNvSpPr/>
          <p:nvPr/>
        </p:nvSpPr>
        <p:spPr>
          <a:xfrm>
            <a:off x="5015829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4596635-2C7D-0A80-8E22-4518ECA6E585}"/>
              </a:ext>
            </a:extLst>
          </p:cNvPr>
          <p:cNvCxnSpPr>
            <a:cxnSpLocks/>
          </p:cNvCxnSpPr>
          <p:nvPr/>
        </p:nvCxnSpPr>
        <p:spPr>
          <a:xfrm>
            <a:off x="5113105" y="445325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C8AF57D-A11D-3F29-0BDD-CB2E88C9EFCB}"/>
              </a:ext>
            </a:extLst>
          </p:cNvPr>
          <p:cNvSpPr/>
          <p:nvPr/>
        </p:nvSpPr>
        <p:spPr>
          <a:xfrm>
            <a:off x="5635859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18574100-906D-7605-B2F7-E2F1FE317025}"/>
              </a:ext>
            </a:extLst>
          </p:cNvPr>
          <p:cNvCxnSpPr>
            <a:cxnSpLocks/>
          </p:cNvCxnSpPr>
          <p:nvPr/>
        </p:nvCxnSpPr>
        <p:spPr>
          <a:xfrm>
            <a:off x="5733135" y="4450001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574919D8-1705-12C3-760E-41D7CF138537}"/>
              </a:ext>
            </a:extLst>
          </p:cNvPr>
          <p:cNvSpPr/>
          <p:nvPr/>
        </p:nvSpPr>
        <p:spPr>
          <a:xfrm>
            <a:off x="6258644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F274F02-DDF3-679D-FEDD-BA602AC3946E}"/>
              </a:ext>
            </a:extLst>
          </p:cNvPr>
          <p:cNvCxnSpPr>
            <a:cxnSpLocks/>
          </p:cNvCxnSpPr>
          <p:nvPr/>
        </p:nvCxnSpPr>
        <p:spPr>
          <a:xfrm>
            <a:off x="6355920" y="446184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9D66E3FD-F78A-F30C-5379-3530E8DB94C6}"/>
              </a:ext>
            </a:extLst>
          </p:cNvPr>
          <p:cNvSpPr/>
          <p:nvPr/>
        </p:nvSpPr>
        <p:spPr>
          <a:xfrm>
            <a:off x="6878674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D34A7083-55FC-DCC6-8162-3B40D9AA46BE}"/>
              </a:ext>
            </a:extLst>
          </p:cNvPr>
          <p:cNvCxnSpPr>
            <a:cxnSpLocks/>
          </p:cNvCxnSpPr>
          <p:nvPr/>
        </p:nvCxnSpPr>
        <p:spPr>
          <a:xfrm>
            <a:off x="6975950" y="445858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9A9EFCA7-63DA-49C3-3959-549A39C4638C}"/>
              </a:ext>
            </a:extLst>
          </p:cNvPr>
          <p:cNvSpPr/>
          <p:nvPr/>
        </p:nvSpPr>
        <p:spPr>
          <a:xfrm>
            <a:off x="7493188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29477C92-22F2-05F5-0C15-45494D04FBBF}"/>
              </a:ext>
            </a:extLst>
          </p:cNvPr>
          <p:cNvCxnSpPr>
            <a:cxnSpLocks/>
          </p:cNvCxnSpPr>
          <p:nvPr/>
        </p:nvCxnSpPr>
        <p:spPr>
          <a:xfrm>
            <a:off x="7590464" y="446153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687A651F-4330-0BE5-F456-7A9364F315DF}"/>
              </a:ext>
            </a:extLst>
          </p:cNvPr>
          <p:cNvSpPr/>
          <p:nvPr/>
        </p:nvSpPr>
        <p:spPr>
          <a:xfrm>
            <a:off x="8113218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F118BCE3-7F1B-5D75-BD06-FE6443FB4B97}"/>
              </a:ext>
            </a:extLst>
          </p:cNvPr>
          <p:cNvCxnSpPr>
            <a:cxnSpLocks/>
          </p:cNvCxnSpPr>
          <p:nvPr/>
        </p:nvCxnSpPr>
        <p:spPr>
          <a:xfrm>
            <a:off x="8210494" y="4458281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8727A827-6269-161D-6534-044D7FF6C570}"/>
              </a:ext>
            </a:extLst>
          </p:cNvPr>
          <p:cNvSpPr/>
          <p:nvPr/>
        </p:nvSpPr>
        <p:spPr>
          <a:xfrm>
            <a:off x="8736003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9D5C5FED-EA57-7B75-82F1-CB13D85CB320}"/>
              </a:ext>
            </a:extLst>
          </p:cNvPr>
          <p:cNvCxnSpPr>
            <a:cxnSpLocks/>
          </p:cNvCxnSpPr>
          <p:nvPr/>
        </p:nvCxnSpPr>
        <p:spPr>
          <a:xfrm>
            <a:off x="8833279" y="447012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44B460EE-8632-CE10-9AD5-1444397D4266}"/>
              </a:ext>
            </a:extLst>
          </p:cNvPr>
          <p:cNvSpPr/>
          <p:nvPr/>
        </p:nvSpPr>
        <p:spPr>
          <a:xfrm>
            <a:off x="9356033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C82859D2-EDD1-6841-2750-108FDCD62438}"/>
              </a:ext>
            </a:extLst>
          </p:cNvPr>
          <p:cNvCxnSpPr>
            <a:cxnSpLocks/>
          </p:cNvCxnSpPr>
          <p:nvPr/>
        </p:nvCxnSpPr>
        <p:spPr>
          <a:xfrm>
            <a:off x="9453309" y="446686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DE6CB904-26A7-CBD8-DE62-A872E6D4B877}"/>
              </a:ext>
            </a:extLst>
          </p:cNvPr>
          <p:cNvSpPr/>
          <p:nvPr/>
        </p:nvSpPr>
        <p:spPr>
          <a:xfrm>
            <a:off x="9976063" y="4039231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FC60701-6B41-A4B6-38F6-3C15C4C56A83}"/>
              </a:ext>
            </a:extLst>
          </p:cNvPr>
          <p:cNvCxnSpPr>
            <a:cxnSpLocks/>
          </p:cNvCxnSpPr>
          <p:nvPr/>
        </p:nvCxnSpPr>
        <p:spPr>
          <a:xfrm>
            <a:off x="10073339" y="4453356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93C59E56-E777-7B89-5E30-FD48B6A9102F}"/>
              </a:ext>
            </a:extLst>
          </p:cNvPr>
          <p:cNvSpPr/>
          <p:nvPr/>
        </p:nvSpPr>
        <p:spPr>
          <a:xfrm>
            <a:off x="4760698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AA08644-4F28-1281-474D-D39D195C0E48}"/>
              </a:ext>
            </a:extLst>
          </p:cNvPr>
          <p:cNvSpPr/>
          <p:nvPr/>
        </p:nvSpPr>
        <p:spPr>
          <a:xfrm>
            <a:off x="5380727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1544CF7-1323-47F3-FCF4-A080EF2F0314}"/>
              </a:ext>
            </a:extLst>
          </p:cNvPr>
          <p:cNvSpPr/>
          <p:nvPr/>
        </p:nvSpPr>
        <p:spPr>
          <a:xfrm>
            <a:off x="6003512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6D35FB6-F198-0011-E2C6-E2EAE4B53ABC}"/>
              </a:ext>
            </a:extLst>
          </p:cNvPr>
          <p:cNvSpPr/>
          <p:nvPr/>
        </p:nvSpPr>
        <p:spPr>
          <a:xfrm>
            <a:off x="6626533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6346736-6487-6182-E4A2-046A3C167A21}"/>
              </a:ext>
            </a:extLst>
          </p:cNvPr>
          <p:cNvSpPr/>
          <p:nvPr/>
        </p:nvSpPr>
        <p:spPr>
          <a:xfrm>
            <a:off x="7246562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D6A9646-5090-2AA9-BEA5-E91E1A3419EE}"/>
              </a:ext>
            </a:extLst>
          </p:cNvPr>
          <p:cNvSpPr/>
          <p:nvPr/>
        </p:nvSpPr>
        <p:spPr>
          <a:xfrm>
            <a:off x="7869347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48E8CA4-42F8-3AFF-DC15-B6CF17E64173}"/>
              </a:ext>
            </a:extLst>
          </p:cNvPr>
          <p:cNvSpPr/>
          <p:nvPr/>
        </p:nvSpPr>
        <p:spPr>
          <a:xfrm>
            <a:off x="8486622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73E5460-04F9-993B-7258-23AB5C583188}"/>
              </a:ext>
            </a:extLst>
          </p:cNvPr>
          <p:cNvSpPr/>
          <p:nvPr/>
        </p:nvSpPr>
        <p:spPr>
          <a:xfrm>
            <a:off x="9106651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01E1185-6E82-9BEE-BFDF-97BAFC3F34F2}"/>
              </a:ext>
            </a:extLst>
          </p:cNvPr>
          <p:cNvSpPr/>
          <p:nvPr/>
        </p:nvSpPr>
        <p:spPr>
          <a:xfrm>
            <a:off x="9729436" y="403923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45F084C7-CE2E-61E4-03BC-885EC8CFCC22}"/>
              </a:ext>
            </a:extLst>
          </p:cNvPr>
          <p:cNvSpPr/>
          <p:nvPr/>
        </p:nvSpPr>
        <p:spPr>
          <a:xfrm>
            <a:off x="4207964" y="2923158"/>
            <a:ext cx="6070138" cy="80298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Transformer Encoder</a:t>
            </a:r>
            <a:endParaRPr kumimoji="1" lang="zh-TW" altLang="en-US" sz="2400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769DF29E-FF1C-293E-B8A1-E9E744699600}"/>
              </a:ext>
            </a:extLst>
          </p:cNvPr>
          <p:cNvCxnSpPr>
            <a:cxnSpLocks/>
          </p:cNvCxnSpPr>
          <p:nvPr/>
        </p:nvCxnSpPr>
        <p:spPr>
          <a:xfrm>
            <a:off x="5113104" y="374416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3D88BDBC-5503-EB10-37A1-0065D1591E60}"/>
              </a:ext>
            </a:extLst>
          </p:cNvPr>
          <p:cNvCxnSpPr>
            <a:cxnSpLocks/>
          </p:cNvCxnSpPr>
          <p:nvPr/>
        </p:nvCxnSpPr>
        <p:spPr>
          <a:xfrm>
            <a:off x="5733134" y="374090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D2CB1B4E-CC7D-7DFF-F2C9-3AB8730DE05D}"/>
              </a:ext>
            </a:extLst>
          </p:cNvPr>
          <p:cNvCxnSpPr>
            <a:cxnSpLocks/>
          </p:cNvCxnSpPr>
          <p:nvPr/>
        </p:nvCxnSpPr>
        <p:spPr>
          <a:xfrm>
            <a:off x="6355919" y="3752752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9CFBB62-3895-8A76-C647-07AD70F5AB21}"/>
              </a:ext>
            </a:extLst>
          </p:cNvPr>
          <p:cNvCxnSpPr>
            <a:cxnSpLocks/>
          </p:cNvCxnSpPr>
          <p:nvPr/>
        </p:nvCxnSpPr>
        <p:spPr>
          <a:xfrm>
            <a:off x="6975949" y="374949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AAF185D6-1318-A0D6-7E11-0D743FA96ADE}"/>
              </a:ext>
            </a:extLst>
          </p:cNvPr>
          <p:cNvCxnSpPr>
            <a:cxnSpLocks/>
          </p:cNvCxnSpPr>
          <p:nvPr/>
        </p:nvCxnSpPr>
        <p:spPr>
          <a:xfrm>
            <a:off x="7590463" y="375244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0ECB060-0B3B-BC9C-017A-F93693CA7125}"/>
              </a:ext>
            </a:extLst>
          </p:cNvPr>
          <p:cNvCxnSpPr>
            <a:cxnSpLocks/>
          </p:cNvCxnSpPr>
          <p:nvPr/>
        </p:nvCxnSpPr>
        <p:spPr>
          <a:xfrm>
            <a:off x="8210493" y="374918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9DAC9DAE-6262-04A3-B0F3-28CA2C58E5A0}"/>
              </a:ext>
            </a:extLst>
          </p:cNvPr>
          <p:cNvCxnSpPr>
            <a:cxnSpLocks/>
          </p:cNvCxnSpPr>
          <p:nvPr/>
        </p:nvCxnSpPr>
        <p:spPr>
          <a:xfrm>
            <a:off x="8833278" y="3761032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3367670D-3B4F-C506-A6F0-E2BB230E4B28}"/>
              </a:ext>
            </a:extLst>
          </p:cNvPr>
          <p:cNvCxnSpPr>
            <a:cxnSpLocks/>
          </p:cNvCxnSpPr>
          <p:nvPr/>
        </p:nvCxnSpPr>
        <p:spPr>
          <a:xfrm>
            <a:off x="9453308" y="3757775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0A47F62C-8126-282F-EEFF-25CD08A26F31}"/>
              </a:ext>
            </a:extLst>
          </p:cNvPr>
          <p:cNvCxnSpPr>
            <a:cxnSpLocks/>
          </p:cNvCxnSpPr>
          <p:nvPr/>
        </p:nvCxnSpPr>
        <p:spPr>
          <a:xfrm>
            <a:off x="10073338" y="3744263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3A5B0C1A-2B7B-9B2B-10E5-969327DBA494}"/>
              </a:ext>
            </a:extLst>
          </p:cNvPr>
          <p:cNvCxnSpPr>
            <a:cxnSpLocks/>
          </p:cNvCxnSpPr>
          <p:nvPr/>
        </p:nvCxnSpPr>
        <p:spPr>
          <a:xfrm>
            <a:off x="4508359" y="2527158"/>
            <a:ext cx="0" cy="396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6EC03968-5B40-5097-CD84-19A81FA9E0B5}"/>
              </a:ext>
            </a:extLst>
          </p:cNvPr>
          <p:cNvSpPr/>
          <p:nvPr/>
        </p:nvSpPr>
        <p:spPr>
          <a:xfrm>
            <a:off x="3685323" y="1990949"/>
            <a:ext cx="1695387" cy="5023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MLP Head</a:t>
            </a:r>
            <a:endParaRPr kumimoji="1" lang="zh-TW" altLang="en-US" sz="2400" dirty="0"/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E21588EE-0743-8B32-4A68-6E25D8BB9080}"/>
              </a:ext>
            </a:extLst>
          </p:cNvPr>
          <p:cNvSpPr/>
          <p:nvPr/>
        </p:nvSpPr>
        <p:spPr>
          <a:xfrm>
            <a:off x="1628817" y="1445702"/>
            <a:ext cx="894491" cy="160089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Class</a:t>
            </a:r>
          </a:p>
          <a:p>
            <a:pPr algn="ctr"/>
            <a:r>
              <a:rPr kumimoji="1" lang="en" altLang="zh-TW" dirty="0"/>
              <a:t>Bird</a:t>
            </a:r>
          </a:p>
          <a:p>
            <a:pPr algn="ctr"/>
            <a:r>
              <a:rPr kumimoji="1" lang="en" altLang="zh-TW" dirty="0"/>
              <a:t>Ball</a:t>
            </a:r>
          </a:p>
          <a:p>
            <a:pPr algn="ctr"/>
            <a:r>
              <a:rPr kumimoji="1" lang="en" altLang="zh-TW" dirty="0"/>
              <a:t>Car</a:t>
            </a:r>
          </a:p>
          <a:p>
            <a:pPr algn="ctr"/>
            <a:r>
              <a:rPr kumimoji="1" lang="en" altLang="zh-TW" dirty="0"/>
              <a:t>...</a:t>
            </a:r>
            <a:endParaRPr kumimoji="1" lang="zh-TW" altLang="en-US" dirty="0"/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4C05EE9F-60FE-6213-7BA6-78FD6201414E}"/>
              </a:ext>
            </a:extLst>
          </p:cNvPr>
          <p:cNvCxnSpPr>
            <a:cxnSpLocks/>
            <a:stCxn id="84" idx="3"/>
            <a:endCxn id="83" idx="1"/>
          </p:cNvCxnSpPr>
          <p:nvPr/>
        </p:nvCxnSpPr>
        <p:spPr>
          <a:xfrm flipV="1">
            <a:off x="2523308" y="2242113"/>
            <a:ext cx="1162015" cy="4036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D4D14F60-7DF0-E517-4CB3-590895C55B37}"/>
              </a:ext>
            </a:extLst>
          </p:cNvPr>
          <p:cNvSpPr txBox="1"/>
          <p:nvPr/>
        </p:nvSpPr>
        <p:spPr>
          <a:xfrm>
            <a:off x="2118660" y="3932526"/>
            <a:ext cx="1989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Patch + Position</a:t>
            </a:r>
          </a:p>
          <a:p>
            <a:pPr algn="ctr"/>
            <a:r>
              <a:rPr kumimoji="1" lang="en" altLang="zh-TW" dirty="0"/>
              <a:t>Embedding</a:t>
            </a:r>
            <a:endParaRPr kumimoji="1" lang="zh-TW" altLang="en-US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A6B96C54-892F-630E-AB56-D727D1D56218}"/>
              </a:ext>
            </a:extLst>
          </p:cNvPr>
          <p:cNvSpPr txBox="1"/>
          <p:nvPr/>
        </p:nvSpPr>
        <p:spPr>
          <a:xfrm>
            <a:off x="9616614" y="1407629"/>
            <a:ext cx="1992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 </a:t>
            </a:r>
            <a:r>
              <a:rPr lang="zh-TW" altLang="en-US" dirty="0"/>
              <a:t>Extra learnable</a:t>
            </a:r>
          </a:p>
          <a:p>
            <a:r>
              <a:rPr lang="zh-TW" altLang="en-US" dirty="0"/>
              <a:t>class embedding</a:t>
            </a: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F4AF37A5-EAEE-159B-F14C-EDBCF420EF72}"/>
              </a:ext>
            </a:extLst>
          </p:cNvPr>
          <p:cNvSpPr txBox="1"/>
          <p:nvPr/>
        </p:nvSpPr>
        <p:spPr>
          <a:xfrm>
            <a:off x="1974288" y="5143741"/>
            <a:ext cx="52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16</a:t>
            </a:r>
            <a:endParaRPr kumimoji="1" lang="zh-TW" altLang="en-US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F1E951C3-FA7F-0114-6DD2-121EBFE32074}"/>
              </a:ext>
            </a:extLst>
          </p:cNvPr>
          <p:cNvSpPr txBox="1"/>
          <p:nvPr/>
        </p:nvSpPr>
        <p:spPr>
          <a:xfrm>
            <a:off x="1606694" y="5478547"/>
            <a:ext cx="52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16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71A205-1216-2C41-D59A-7CB2334A073B}"/>
              </a:ext>
            </a:extLst>
          </p:cNvPr>
          <p:cNvSpPr/>
          <p:nvPr/>
        </p:nvSpPr>
        <p:spPr>
          <a:xfrm>
            <a:off x="4411084" y="4035974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A1974BC-59E4-B58B-41AF-689696C03F25}"/>
              </a:ext>
            </a:extLst>
          </p:cNvPr>
          <p:cNvCxnSpPr>
            <a:cxnSpLocks/>
          </p:cNvCxnSpPr>
          <p:nvPr/>
        </p:nvCxnSpPr>
        <p:spPr>
          <a:xfrm>
            <a:off x="4508360" y="4450001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0BBC9F2D-628F-68FC-C26D-1827AC33BCFB}"/>
              </a:ext>
            </a:extLst>
          </p:cNvPr>
          <p:cNvSpPr/>
          <p:nvPr/>
        </p:nvSpPr>
        <p:spPr>
          <a:xfrm>
            <a:off x="4155953" y="4035974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3C365792-B468-2BA2-71AB-94EB2EA85C31}"/>
              </a:ext>
            </a:extLst>
          </p:cNvPr>
          <p:cNvCxnSpPr>
            <a:cxnSpLocks/>
          </p:cNvCxnSpPr>
          <p:nvPr/>
        </p:nvCxnSpPr>
        <p:spPr>
          <a:xfrm>
            <a:off x="4508359" y="3740908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A39FB9-AC82-F205-F3F0-72D4954CD4C2}"/>
              </a:ext>
            </a:extLst>
          </p:cNvPr>
          <p:cNvSpPr txBox="1"/>
          <p:nvPr/>
        </p:nvSpPr>
        <p:spPr>
          <a:xfrm>
            <a:off x="4330031" y="4097536"/>
            <a:ext cx="36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*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366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83" grpId="0" animBg="1"/>
      <p:bldP spid="84" grpId="0" animBg="1"/>
      <p:bldP spid="89" grpId="0"/>
      <p:bldP spid="91" grpId="0"/>
      <p:bldP spid="92" grpId="0"/>
      <p:bldP spid="93" grpId="0"/>
      <p:bldP spid="3" grpId="0" animBg="1"/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3336E-6F78-EB62-B8E2-4351EDAC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Linear Projection of Flattened Patches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EC0FE0-CCCA-BF8D-4230-95C68467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2B1466-026D-09E9-F10A-4775371259F5}"/>
              </a:ext>
            </a:extLst>
          </p:cNvPr>
          <p:cNvSpPr txBox="1"/>
          <p:nvPr/>
        </p:nvSpPr>
        <p:spPr>
          <a:xfrm>
            <a:off x="653143" y="1684124"/>
            <a:ext cx="10918370" cy="2069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假設原始輸入是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224*224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 的影像，切成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16*16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的小張影像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(patch)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每張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patch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 進行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flattening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後，數值總數：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16 * 16 * </a:t>
            </a:r>
            <a:r>
              <a:rPr kumimoji="1" lang="en-US" altLang="zh-TW" sz="2200" dirty="0" err="1">
                <a:ea typeface="Microsoft JhengHei" panose="020B0604030504040204" pitchFamily="34" charset="-120"/>
              </a:rPr>
              <a:t>num_channels</a:t>
            </a:r>
            <a:endParaRPr kumimoji="1" lang="en-US" altLang="zh-TW" sz="22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使用</a:t>
            </a:r>
            <a:r>
              <a:rPr kumimoji="1" lang="zh-TW" altLang="en-US" sz="2200" dirty="0">
                <a:solidFill>
                  <a:srgbClr val="FF0000"/>
                </a:solidFill>
                <a:ea typeface="Microsoft JhengHei" panose="020B0604030504040204" pitchFamily="34" charset="-120"/>
              </a:rPr>
              <a:t>線性轉換層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將影像原始資料處理為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image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輸出的維度為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D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Linear Projection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的矩陣大小為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16 * 16 * </a:t>
            </a:r>
            <a:r>
              <a:rPr kumimoji="1" lang="en-US" altLang="zh-TW" sz="2200" dirty="0" err="1">
                <a:ea typeface="Microsoft JhengHei" panose="020B0604030504040204" pitchFamily="34" charset="-120"/>
              </a:rPr>
              <a:t>num_channels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* D</a:t>
            </a: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9F748D9F-5C10-9EA3-28EB-E0E05F396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42" y="4782383"/>
            <a:ext cx="1400775" cy="1376307"/>
          </a:xfrm>
          <a:prstGeom prst="rect">
            <a:avLst/>
          </a:prstGeom>
        </p:spPr>
      </p:pic>
      <p:sp>
        <p:nvSpPr>
          <p:cNvPr id="84" name="文字方塊 83">
            <a:extLst>
              <a:ext uri="{FF2B5EF4-FFF2-40B4-BE49-F238E27FC236}">
                <a16:creationId xmlns:a16="http://schemas.microsoft.com/office/drawing/2014/main" id="{576FF264-6D4B-BCBC-5028-0C5A988498E1}"/>
              </a:ext>
            </a:extLst>
          </p:cNvPr>
          <p:cNvSpPr txBox="1"/>
          <p:nvPr/>
        </p:nvSpPr>
        <p:spPr>
          <a:xfrm>
            <a:off x="2254842" y="4486092"/>
            <a:ext cx="52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16</a:t>
            </a:r>
            <a:endParaRPr kumimoji="1" lang="zh-TW" altLang="en-US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2B9EB149-B993-F8CD-5C8A-256333103934}"/>
              </a:ext>
            </a:extLst>
          </p:cNvPr>
          <p:cNvSpPr txBox="1"/>
          <p:nvPr/>
        </p:nvSpPr>
        <p:spPr>
          <a:xfrm>
            <a:off x="1887248" y="4820898"/>
            <a:ext cx="52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16</a:t>
            </a:r>
            <a:endParaRPr kumimoji="1" lang="zh-TW" altLang="en-US" dirty="0"/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C33B003-F775-3312-855C-B6C4FF055748}"/>
              </a:ext>
            </a:extLst>
          </p:cNvPr>
          <p:cNvCxnSpPr>
            <a:cxnSpLocks/>
          </p:cNvCxnSpPr>
          <p:nvPr/>
        </p:nvCxnSpPr>
        <p:spPr>
          <a:xfrm>
            <a:off x="3761509" y="4983235"/>
            <a:ext cx="16486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>
            <a:extLst>
              <a:ext uri="{FF2B5EF4-FFF2-40B4-BE49-F238E27FC236}">
                <a16:creationId xmlns:a16="http://schemas.microsoft.com/office/drawing/2014/main" id="{2E2D0C9D-ED54-CBAF-FB9D-EA4079627A94}"/>
              </a:ext>
            </a:extLst>
          </p:cNvPr>
          <p:cNvSpPr/>
          <p:nvPr/>
        </p:nvSpPr>
        <p:spPr>
          <a:xfrm>
            <a:off x="5503717" y="4324585"/>
            <a:ext cx="259773" cy="2597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959B79F-26E6-4657-6831-2FF65C1866B2}"/>
              </a:ext>
            </a:extLst>
          </p:cNvPr>
          <p:cNvSpPr/>
          <p:nvPr/>
        </p:nvSpPr>
        <p:spPr>
          <a:xfrm>
            <a:off x="5503717" y="4624992"/>
            <a:ext cx="259773" cy="2597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85D1BFD-BC7F-F243-4B53-ACBAA02669CF}"/>
              </a:ext>
            </a:extLst>
          </p:cNvPr>
          <p:cNvSpPr/>
          <p:nvPr/>
        </p:nvSpPr>
        <p:spPr>
          <a:xfrm>
            <a:off x="5503717" y="4944580"/>
            <a:ext cx="259773" cy="2597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22BEFF2-5AF1-FC41-F80A-1F0D6302B877}"/>
              </a:ext>
            </a:extLst>
          </p:cNvPr>
          <p:cNvSpPr/>
          <p:nvPr/>
        </p:nvSpPr>
        <p:spPr>
          <a:xfrm>
            <a:off x="5503717" y="5535935"/>
            <a:ext cx="259773" cy="2597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B4208D6-9D8D-955C-C35B-DB3DA747C6D6}"/>
              </a:ext>
            </a:extLst>
          </p:cNvPr>
          <p:cNvSpPr txBox="1"/>
          <p:nvPr/>
        </p:nvSpPr>
        <p:spPr>
          <a:xfrm rot="5400000">
            <a:off x="5444275" y="5263795"/>
            <a:ext cx="50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04689B-8C0D-FE84-495E-A5625BFE457E}"/>
              </a:ext>
            </a:extLst>
          </p:cNvPr>
          <p:cNvSpPr/>
          <p:nvPr/>
        </p:nvSpPr>
        <p:spPr>
          <a:xfrm>
            <a:off x="3231572" y="4782383"/>
            <a:ext cx="413654" cy="413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516B105-15BC-E13A-7DDF-C2016D168BFD}"/>
              </a:ext>
            </a:extLst>
          </p:cNvPr>
          <p:cNvSpPr txBox="1"/>
          <p:nvPr/>
        </p:nvSpPr>
        <p:spPr>
          <a:xfrm>
            <a:off x="5345481" y="5993427"/>
            <a:ext cx="60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768</a:t>
            </a:r>
            <a:endParaRPr kumimoji="1" lang="zh-TW" altLang="en-US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646F3AD4-8530-F2CF-6008-D38613A1055D}"/>
              </a:ext>
            </a:extLst>
          </p:cNvPr>
          <p:cNvCxnSpPr>
            <a:cxnSpLocks/>
          </p:cNvCxnSpPr>
          <p:nvPr/>
        </p:nvCxnSpPr>
        <p:spPr>
          <a:xfrm>
            <a:off x="6033655" y="4983235"/>
            <a:ext cx="24764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DEF9FC-6BF5-C804-3989-BB5B6A01F8D4}"/>
              </a:ext>
            </a:extLst>
          </p:cNvPr>
          <p:cNvSpPr txBox="1"/>
          <p:nvPr/>
        </p:nvSpPr>
        <p:spPr>
          <a:xfrm>
            <a:off x="6046027" y="4611774"/>
            <a:ext cx="246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Linear Layer (MLP)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54364BA-20BC-E268-38AA-2A2E1A558F6A}"/>
              </a:ext>
            </a:extLst>
          </p:cNvPr>
          <p:cNvSpPr txBox="1"/>
          <p:nvPr/>
        </p:nvSpPr>
        <p:spPr>
          <a:xfrm>
            <a:off x="6352308" y="4989210"/>
            <a:ext cx="1839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768 * D</a:t>
            </a:r>
            <a:endParaRPr kumimoji="1"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D6E69F-2139-5734-2DEF-C04C7D6D7A5F}"/>
              </a:ext>
            </a:extLst>
          </p:cNvPr>
          <p:cNvSpPr/>
          <p:nvPr/>
        </p:nvSpPr>
        <p:spPr>
          <a:xfrm>
            <a:off x="8792691" y="4752097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458B11E-9585-D1C9-93E9-528CF46BFFF0}"/>
              </a:ext>
            </a:extLst>
          </p:cNvPr>
          <p:cNvSpPr txBox="1"/>
          <p:nvPr/>
        </p:nvSpPr>
        <p:spPr>
          <a:xfrm>
            <a:off x="8887537" y="4752097"/>
            <a:ext cx="60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endParaRPr kumimoji="1"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55950E2-547E-883B-15CA-716CFBB08590}"/>
              </a:ext>
            </a:extLst>
          </p:cNvPr>
          <p:cNvSpPr txBox="1"/>
          <p:nvPr/>
        </p:nvSpPr>
        <p:spPr>
          <a:xfrm>
            <a:off x="3691969" y="4611774"/>
            <a:ext cx="1839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Flattening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51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7" grpId="0" animBg="1"/>
      <p:bldP spid="8" grpId="0" animBg="1"/>
      <p:bldP spid="12" grpId="0" animBg="1"/>
      <p:bldP spid="13" grpId="0" animBg="1"/>
      <p:bldP spid="14" grpId="0"/>
      <p:bldP spid="15" grpId="0" animBg="1"/>
      <p:bldP spid="16" grpId="0"/>
      <p:bldP spid="20" grpId="0"/>
      <p:bldP spid="22" grpId="0"/>
      <p:bldP spid="24" grpId="0" animBg="1"/>
      <p:bldP spid="25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88982-90D0-8712-5D7D-4A4A396A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Positional </a:t>
            </a:r>
            <a:r>
              <a:rPr kumimoji="1" lang="en" altLang="zh-TW" dirty="0"/>
              <a:t>Embedding in </a:t>
            </a:r>
            <a:r>
              <a:rPr kumimoji="1" lang="en" altLang="zh-TW" dirty="0" err="1"/>
              <a:t>ViT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2B8F7B-C37F-1CE1-C486-F9CE79C7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E2C53CD-05C1-178C-2CD9-54990C6F005E}"/>
              </a:ext>
            </a:extLst>
          </p:cNvPr>
          <p:cNvSpPr/>
          <p:nvPr/>
        </p:nvSpPr>
        <p:spPr>
          <a:xfrm>
            <a:off x="3278831" y="5310356"/>
            <a:ext cx="6070138" cy="8029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Linear Projection of Flattened Patches</a:t>
            </a:r>
            <a:endParaRPr kumimoji="1" lang="zh-TW" altLang="en-US" sz="24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88D2F0E-DD56-74B1-C018-48A2ABC78A8B}"/>
              </a:ext>
            </a:extLst>
          </p:cNvPr>
          <p:cNvSpPr txBox="1"/>
          <p:nvPr/>
        </p:nvSpPr>
        <p:spPr>
          <a:xfrm>
            <a:off x="653143" y="1684124"/>
            <a:ext cx="1091837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假設原始輸入是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224*224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 的影像，切成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16*16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的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patches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200" dirty="0" err="1">
                <a:ea typeface="Microsoft JhengHei" panose="020B0604030504040204" pitchFamily="34" charset="-120"/>
              </a:rPr>
              <a:t>num_patches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= 14 * 14 = 196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，等同於有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196</a:t>
            </a:r>
            <a:r>
              <a:rPr kumimoji="1" lang="en-US" altLang="zh-TW" sz="2200" dirty="0">
                <a:solidFill>
                  <a:srgbClr val="FF0000"/>
                </a:solidFill>
                <a:ea typeface="Microsoft JhengHei" panose="020B0604030504040204" pitchFamily="34" charset="-120"/>
              </a:rPr>
              <a:t>+1 (CLS)</a:t>
            </a:r>
            <a:r>
              <a:rPr kumimoji="1" lang="zh-TW" altLang="en-US" sz="22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個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每個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patch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各自的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 embedding (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維度為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D) </a:t>
            </a:r>
            <a:r>
              <a:rPr kumimoji="1" lang="zh-TW" altLang="en-US" sz="2200" dirty="0">
                <a:ea typeface="Microsoft JhengHei" panose="020B0604030504040204" pitchFamily="34" charset="-120"/>
              </a:rPr>
              <a:t>會在訓練過程中自動更新</a:t>
            </a:r>
            <a:endParaRPr kumimoji="1" lang="en-US" altLang="zh-TW" sz="22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200" dirty="0">
                <a:ea typeface="Microsoft JhengHei" panose="020B0604030504040204" pitchFamily="34" charset="-120"/>
              </a:rPr>
              <a:t>絕對位置資訊編碼 </a:t>
            </a:r>
            <a:r>
              <a:rPr kumimoji="1" lang="en-US" altLang="zh-TW" sz="2200" dirty="0">
                <a:ea typeface="Microsoft JhengHei" panose="020B0604030504040204" pitchFamily="34" charset="-120"/>
              </a:rPr>
              <a:t>(Absolute positional Encoding)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C612874-03C0-62B1-B105-544440E29F88}"/>
              </a:ext>
            </a:extLst>
          </p:cNvPr>
          <p:cNvSpPr/>
          <p:nvPr/>
        </p:nvSpPr>
        <p:spPr>
          <a:xfrm rot="5400000">
            <a:off x="10533668" y="3454621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A48575E-F797-A7E2-51F1-258DC4FC6C45}"/>
              </a:ext>
            </a:extLst>
          </p:cNvPr>
          <p:cNvSpPr/>
          <p:nvPr/>
        </p:nvSpPr>
        <p:spPr>
          <a:xfrm rot="5400000">
            <a:off x="10533668" y="3695360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0C012CA-1CB0-6ABC-F736-9B0343642D3E}"/>
              </a:ext>
            </a:extLst>
          </p:cNvPr>
          <p:cNvSpPr/>
          <p:nvPr/>
        </p:nvSpPr>
        <p:spPr>
          <a:xfrm rot="5400000">
            <a:off x="10533668" y="4087480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FD1B2D8-0D89-BFE2-5803-F1C8D49AA5FC}"/>
              </a:ext>
            </a:extLst>
          </p:cNvPr>
          <p:cNvSpPr txBox="1"/>
          <p:nvPr/>
        </p:nvSpPr>
        <p:spPr>
          <a:xfrm rot="5400000">
            <a:off x="10449507" y="3999931"/>
            <a:ext cx="474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…</a:t>
            </a:r>
            <a:endParaRPr kumimoji="1" lang="zh-TW" altLang="en-US" sz="1400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A25D4576-356F-4563-94BA-DCC84FBAC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167" y="4466032"/>
            <a:ext cx="1600675" cy="325203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D30D21E7-5DF5-9A97-4414-74415F9C8B95}"/>
              </a:ext>
            </a:extLst>
          </p:cNvPr>
          <p:cNvSpPr/>
          <p:nvPr/>
        </p:nvSpPr>
        <p:spPr>
          <a:xfrm>
            <a:off x="9768758" y="3458848"/>
            <a:ext cx="1720867" cy="14144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2626640-0DB8-BEDC-47F8-9B90479AC61A}"/>
              </a:ext>
            </a:extLst>
          </p:cNvPr>
          <p:cNvSpPr/>
          <p:nvPr/>
        </p:nvSpPr>
        <p:spPr>
          <a:xfrm>
            <a:off x="4086696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AD4FD03-C844-07F7-A6E5-23C0E7F8AABB}"/>
              </a:ext>
            </a:extLst>
          </p:cNvPr>
          <p:cNvCxnSpPr>
            <a:cxnSpLocks/>
          </p:cNvCxnSpPr>
          <p:nvPr/>
        </p:nvCxnSpPr>
        <p:spPr>
          <a:xfrm>
            <a:off x="4183972" y="5021363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2F9AC40-18BD-18FC-6930-B449F8534FBB}"/>
              </a:ext>
            </a:extLst>
          </p:cNvPr>
          <p:cNvSpPr/>
          <p:nvPr/>
        </p:nvSpPr>
        <p:spPr>
          <a:xfrm>
            <a:off x="4706726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CEB50EC4-6E69-B18E-4AA1-8D842CEC8398}"/>
              </a:ext>
            </a:extLst>
          </p:cNvPr>
          <p:cNvCxnSpPr>
            <a:cxnSpLocks/>
          </p:cNvCxnSpPr>
          <p:nvPr/>
        </p:nvCxnSpPr>
        <p:spPr>
          <a:xfrm>
            <a:off x="4804002" y="5018106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725641B5-33E7-2C89-5A0C-9D91FBC25F84}"/>
              </a:ext>
            </a:extLst>
          </p:cNvPr>
          <p:cNvSpPr/>
          <p:nvPr/>
        </p:nvSpPr>
        <p:spPr>
          <a:xfrm>
            <a:off x="5329511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80D25B42-EDED-15D4-DDE8-FED5017FE995}"/>
              </a:ext>
            </a:extLst>
          </p:cNvPr>
          <p:cNvCxnSpPr>
            <a:cxnSpLocks/>
          </p:cNvCxnSpPr>
          <p:nvPr/>
        </p:nvCxnSpPr>
        <p:spPr>
          <a:xfrm>
            <a:off x="5426787" y="5029950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C74F4E93-A99E-AA90-0187-B8C8E542081B}"/>
              </a:ext>
            </a:extLst>
          </p:cNvPr>
          <p:cNvSpPr/>
          <p:nvPr/>
        </p:nvSpPr>
        <p:spPr>
          <a:xfrm>
            <a:off x="5949541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3FBFF85-302A-1C4C-77C4-B49BAAADE6B2}"/>
              </a:ext>
            </a:extLst>
          </p:cNvPr>
          <p:cNvCxnSpPr>
            <a:cxnSpLocks/>
          </p:cNvCxnSpPr>
          <p:nvPr/>
        </p:nvCxnSpPr>
        <p:spPr>
          <a:xfrm>
            <a:off x="6046817" y="5026693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00938E24-7DE4-1C22-AE07-181D1809DCB6}"/>
              </a:ext>
            </a:extLst>
          </p:cNvPr>
          <p:cNvSpPr/>
          <p:nvPr/>
        </p:nvSpPr>
        <p:spPr>
          <a:xfrm>
            <a:off x="6564055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E4E93F5F-D9AE-E56D-D638-63AF30303B2C}"/>
              </a:ext>
            </a:extLst>
          </p:cNvPr>
          <p:cNvCxnSpPr>
            <a:cxnSpLocks/>
          </p:cNvCxnSpPr>
          <p:nvPr/>
        </p:nvCxnSpPr>
        <p:spPr>
          <a:xfrm>
            <a:off x="6661331" y="5029643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828AAB93-2F74-A08E-9F25-363A71B64C2E}"/>
              </a:ext>
            </a:extLst>
          </p:cNvPr>
          <p:cNvSpPr/>
          <p:nvPr/>
        </p:nvSpPr>
        <p:spPr>
          <a:xfrm>
            <a:off x="7184085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42060BF1-9E42-BFE2-12CA-D2DA1D3C358A}"/>
              </a:ext>
            </a:extLst>
          </p:cNvPr>
          <p:cNvCxnSpPr>
            <a:cxnSpLocks/>
          </p:cNvCxnSpPr>
          <p:nvPr/>
        </p:nvCxnSpPr>
        <p:spPr>
          <a:xfrm>
            <a:off x="7281361" y="5026386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5DAA7636-5C0D-5E1C-5C3E-3AA9CCBC0549}"/>
              </a:ext>
            </a:extLst>
          </p:cNvPr>
          <p:cNvSpPr/>
          <p:nvPr/>
        </p:nvSpPr>
        <p:spPr>
          <a:xfrm>
            <a:off x="7806870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C1A26878-9ACA-7738-65E2-FD715E976DF9}"/>
              </a:ext>
            </a:extLst>
          </p:cNvPr>
          <p:cNvCxnSpPr>
            <a:cxnSpLocks/>
          </p:cNvCxnSpPr>
          <p:nvPr/>
        </p:nvCxnSpPr>
        <p:spPr>
          <a:xfrm>
            <a:off x="7904146" y="5038230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07D2DFB2-ACA8-6597-055E-973F396BB1AC}"/>
              </a:ext>
            </a:extLst>
          </p:cNvPr>
          <p:cNvSpPr/>
          <p:nvPr/>
        </p:nvSpPr>
        <p:spPr>
          <a:xfrm>
            <a:off x="8426900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3D304D43-CD80-63B7-17E7-A67A3269241D}"/>
              </a:ext>
            </a:extLst>
          </p:cNvPr>
          <p:cNvCxnSpPr>
            <a:cxnSpLocks/>
          </p:cNvCxnSpPr>
          <p:nvPr/>
        </p:nvCxnSpPr>
        <p:spPr>
          <a:xfrm>
            <a:off x="8524176" y="5034973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83FD8EDD-B675-A740-3815-B7247E84DE22}"/>
              </a:ext>
            </a:extLst>
          </p:cNvPr>
          <p:cNvSpPr/>
          <p:nvPr/>
        </p:nvSpPr>
        <p:spPr>
          <a:xfrm>
            <a:off x="9046930" y="4607336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5D1715F9-3114-8150-4660-0D2E6E50AFD7}"/>
              </a:ext>
            </a:extLst>
          </p:cNvPr>
          <p:cNvCxnSpPr>
            <a:cxnSpLocks/>
          </p:cNvCxnSpPr>
          <p:nvPr/>
        </p:nvCxnSpPr>
        <p:spPr>
          <a:xfrm>
            <a:off x="9144206" y="5021461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75AF46FB-C005-62BD-2C32-23756585700F}"/>
              </a:ext>
            </a:extLst>
          </p:cNvPr>
          <p:cNvSpPr/>
          <p:nvPr/>
        </p:nvSpPr>
        <p:spPr>
          <a:xfrm>
            <a:off x="3831565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2EA18A2-1F8C-6643-6B67-CF50DAE65642}"/>
              </a:ext>
            </a:extLst>
          </p:cNvPr>
          <p:cNvSpPr/>
          <p:nvPr/>
        </p:nvSpPr>
        <p:spPr>
          <a:xfrm>
            <a:off x="4451594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FE6D39D-CDA8-4C82-E2BB-2429784ECE9C}"/>
              </a:ext>
            </a:extLst>
          </p:cNvPr>
          <p:cNvSpPr/>
          <p:nvPr/>
        </p:nvSpPr>
        <p:spPr>
          <a:xfrm>
            <a:off x="5074379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BBD3F3E-701F-5FAC-D80B-070BC7A4EC49}"/>
              </a:ext>
            </a:extLst>
          </p:cNvPr>
          <p:cNvSpPr/>
          <p:nvPr/>
        </p:nvSpPr>
        <p:spPr>
          <a:xfrm>
            <a:off x="5697400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8F079C8-F3D3-34DF-D7AF-193D80122ED5}"/>
              </a:ext>
            </a:extLst>
          </p:cNvPr>
          <p:cNvSpPr/>
          <p:nvPr/>
        </p:nvSpPr>
        <p:spPr>
          <a:xfrm>
            <a:off x="6317429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40C9289-CB9A-89DD-6681-F8DB40DC562C}"/>
              </a:ext>
            </a:extLst>
          </p:cNvPr>
          <p:cNvSpPr/>
          <p:nvPr/>
        </p:nvSpPr>
        <p:spPr>
          <a:xfrm>
            <a:off x="6940214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B7BFF99-9041-FF9D-B3F2-7FCA9405EA92}"/>
              </a:ext>
            </a:extLst>
          </p:cNvPr>
          <p:cNvSpPr/>
          <p:nvPr/>
        </p:nvSpPr>
        <p:spPr>
          <a:xfrm>
            <a:off x="7557489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B8692A9-D087-5911-1DC5-4CD7FF612FB9}"/>
              </a:ext>
            </a:extLst>
          </p:cNvPr>
          <p:cNvSpPr/>
          <p:nvPr/>
        </p:nvSpPr>
        <p:spPr>
          <a:xfrm>
            <a:off x="8177518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162F333-B19B-8502-DA41-52C020C07C5C}"/>
              </a:ext>
            </a:extLst>
          </p:cNvPr>
          <p:cNvSpPr/>
          <p:nvPr/>
        </p:nvSpPr>
        <p:spPr>
          <a:xfrm>
            <a:off x="8800303" y="4607336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9B3D520-1B3F-58F9-1618-88F34349F720}"/>
              </a:ext>
            </a:extLst>
          </p:cNvPr>
          <p:cNvSpPr/>
          <p:nvPr/>
        </p:nvSpPr>
        <p:spPr>
          <a:xfrm>
            <a:off x="3481951" y="4604079"/>
            <a:ext cx="189692" cy="4057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A76F4FC4-CF08-1AA9-C223-E8D590614BC1}"/>
              </a:ext>
            </a:extLst>
          </p:cNvPr>
          <p:cNvCxnSpPr>
            <a:cxnSpLocks/>
          </p:cNvCxnSpPr>
          <p:nvPr/>
        </p:nvCxnSpPr>
        <p:spPr>
          <a:xfrm>
            <a:off x="3579227" y="5018106"/>
            <a:ext cx="0" cy="2880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98F08A35-4142-03AF-CD32-AEE576E1C30A}"/>
              </a:ext>
            </a:extLst>
          </p:cNvPr>
          <p:cNvSpPr/>
          <p:nvPr/>
        </p:nvSpPr>
        <p:spPr>
          <a:xfrm>
            <a:off x="3226820" y="4604079"/>
            <a:ext cx="189692" cy="40574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9328A10-2F24-F73C-FC41-C4CF0CA15259}"/>
              </a:ext>
            </a:extLst>
          </p:cNvPr>
          <p:cNvSpPr txBox="1"/>
          <p:nvPr/>
        </p:nvSpPr>
        <p:spPr>
          <a:xfrm>
            <a:off x="3400898" y="4665641"/>
            <a:ext cx="36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*</a:t>
            </a:r>
            <a:endParaRPr kumimoji="1" lang="zh-TW" altLang="en-US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E89DD1F5-2F3E-B591-6F8D-1EA3AFA51A1D}"/>
              </a:ext>
            </a:extLst>
          </p:cNvPr>
          <p:cNvSpPr txBox="1"/>
          <p:nvPr/>
        </p:nvSpPr>
        <p:spPr>
          <a:xfrm>
            <a:off x="1078079" y="4500631"/>
            <a:ext cx="210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Patch + Position</a:t>
            </a:r>
          </a:p>
          <a:p>
            <a:pPr algn="ctr"/>
            <a:r>
              <a:rPr kumimoji="1" lang="en" altLang="zh-TW" dirty="0"/>
              <a:t>Embedding</a:t>
            </a:r>
            <a:endParaRPr kumimoji="1" lang="zh-TW" altLang="en-US" dirty="0"/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ADF94BDC-A33C-FE6D-A30A-53C793E71237}"/>
              </a:ext>
            </a:extLst>
          </p:cNvPr>
          <p:cNvSpPr txBox="1"/>
          <p:nvPr/>
        </p:nvSpPr>
        <p:spPr>
          <a:xfrm>
            <a:off x="8521746" y="557978"/>
            <a:ext cx="3214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 </a:t>
            </a:r>
            <a:r>
              <a:rPr lang="zh-TW" altLang="en-US" dirty="0"/>
              <a:t>Extra learnable</a:t>
            </a:r>
          </a:p>
          <a:p>
            <a:r>
              <a:rPr lang="zh-TW" altLang="en-US" dirty="0"/>
              <a:t>class embedding</a:t>
            </a:r>
            <a:r>
              <a:rPr lang="en-US" altLang="zh-TW" dirty="0"/>
              <a:t> (CLS token)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364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/>
      <p:bldP spid="5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5" grpId="0" animBg="1"/>
      <p:bldP spid="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6945C-1452-3A96-4440-D60F6040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ViT</a:t>
            </a:r>
            <a:r>
              <a:rPr kumimoji="1" lang="en-US" altLang="zh-TW" dirty="0"/>
              <a:t> 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Pre-norm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A0EA30-3B50-8141-6B1D-D11550B6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2" descr="Original transformer model architecture.">
            <a:extLst>
              <a:ext uri="{FF2B5EF4-FFF2-40B4-BE49-F238E27FC236}">
                <a16:creationId xmlns:a16="http://schemas.microsoft.com/office/drawing/2014/main" id="{100D4C5B-69F4-A364-0C0A-D8B2E1C3A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940" y="882687"/>
            <a:ext cx="4196208" cy="56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A44E17B-80D6-2CB5-A307-A390171D1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70" y="2495920"/>
            <a:ext cx="1851198" cy="400599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FC766A9-8D73-75AD-6A4C-BE4A951C4E58}"/>
              </a:ext>
            </a:extLst>
          </p:cNvPr>
          <p:cNvSpPr txBox="1"/>
          <p:nvPr/>
        </p:nvSpPr>
        <p:spPr>
          <a:xfrm>
            <a:off x="753762" y="1668579"/>
            <a:ext cx="3080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Left: </a:t>
            </a:r>
            <a:r>
              <a:rPr kumimoji="1" lang="en-US" altLang="zh-TW" dirty="0" err="1"/>
              <a:t>ViT</a:t>
            </a:r>
            <a:r>
              <a:rPr kumimoji="1" lang="en-US" altLang="zh-TW" dirty="0"/>
              <a:t> Transformer layer</a:t>
            </a:r>
          </a:p>
          <a:p>
            <a:r>
              <a:rPr kumimoji="1" lang="en-US" altLang="zh-TW" dirty="0"/>
              <a:t>Right: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原始</a:t>
            </a:r>
            <a:r>
              <a:rPr kumimoji="1" lang="en-US" altLang="zh-TW" dirty="0"/>
              <a:t> Transformers</a:t>
            </a:r>
            <a:endParaRPr kumimoji="1"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C6D52B0-7DFC-9AD9-22EF-9C4358FA6895}"/>
              </a:ext>
            </a:extLst>
          </p:cNvPr>
          <p:cNvGrpSpPr/>
          <p:nvPr/>
        </p:nvGrpSpPr>
        <p:grpSpPr>
          <a:xfrm>
            <a:off x="799401" y="3890008"/>
            <a:ext cx="2003906" cy="369332"/>
            <a:chOff x="799401" y="3890008"/>
            <a:chExt cx="2003906" cy="369332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EA82571-44FC-FFBA-88E8-EF9B5F9190AA}"/>
                </a:ext>
              </a:extLst>
            </p:cNvPr>
            <p:cNvSpPr txBox="1"/>
            <p:nvPr/>
          </p:nvSpPr>
          <p:spPr>
            <a:xfrm>
              <a:off x="799401" y="3890008"/>
              <a:ext cx="185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</a:t>
              </a:r>
              <a:r>
                <a:rPr kumimoji="1" lang="zh-TW" altLang="en-US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Pre-norm!</a:t>
              </a:r>
              <a:endParaRPr kumimoji="1"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直線箭頭接點 10">
              <a:extLst>
                <a:ext uri="{FF2B5EF4-FFF2-40B4-BE49-F238E27FC236}">
                  <a16:creationId xmlns:a16="http://schemas.microsoft.com/office/drawing/2014/main" id="{9EE9FC0A-B637-A84A-59B5-2D0F47F90BF0}"/>
                </a:ext>
              </a:extLst>
            </p:cNvPr>
            <p:cNvCxnSpPr/>
            <p:nvPr/>
          </p:nvCxnSpPr>
          <p:spPr>
            <a:xfrm>
              <a:off x="2471351" y="4074674"/>
              <a:ext cx="33195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A98672F-E41B-9E7E-624B-108AF55E83CC}"/>
              </a:ext>
            </a:extLst>
          </p:cNvPr>
          <p:cNvCxnSpPr/>
          <p:nvPr/>
        </p:nvCxnSpPr>
        <p:spPr>
          <a:xfrm>
            <a:off x="2471351" y="5569666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469B61A-9150-452C-3234-8031D7071D4F}"/>
              </a:ext>
            </a:extLst>
          </p:cNvPr>
          <p:cNvSpPr txBox="1"/>
          <p:nvPr/>
        </p:nvSpPr>
        <p:spPr>
          <a:xfrm>
            <a:off x="5146002" y="3047361"/>
            <a:ext cx="1851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kumimoji="1" lang="zh-TW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TW" dirty="0">
                <a:solidFill>
                  <a:srgbClr val="FF0000"/>
                </a:solidFill>
              </a:rPr>
              <a:t>Post-norm!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13C7B0E-928E-D609-6A19-48C83ADA568D}"/>
              </a:ext>
            </a:extLst>
          </p:cNvPr>
          <p:cNvCxnSpPr>
            <a:cxnSpLocks/>
          </p:cNvCxnSpPr>
          <p:nvPr/>
        </p:nvCxnSpPr>
        <p:spPr>
          <a:xfrm>
            <a:off x="6946373" y="3232027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3FF125A-BDCD-8AC2-995C-DEEB6BDDE071}"/>
              </a:ext>
            </a:extLst>
          </p:cNvPr>
          <p:cNvCxnSpPr>
            <a:cxnSpLocks/>
          </p:cNvCxnSpPr>
          <p:nvPr/>
        </p:nvCxnSpPr>
        <p:spPr>
          <a:xfrm>
            <a:off x="6946373" y="4251843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2A5D788B-4CCD-71FB-64B4-E0210D1245D1}"/>
              </a:ext>
            </a:extLst>
          </p:cNvPr>
          <p:cNvCxnSpPr/>
          <p:nvPr/>
        </p:nvCxnSpPr>
        <p:spPr>
          <a:xfrm>
            <a:off x="8830296" y="1923690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4DF5BBAD-5FF6-5DD9-4B50-40B4E832382B}"/>
              </a:ext>
            </a:extLst>
          </p:cNvPr>
          <p:cNvCxnSpPr/>
          <p:nvPr/>
        </p:nvCxnSpPr>
        <p:spPr>
          <a:xfrm>
            <a:off x="8830296" y="2991848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A1810661-1F97-F0E3-D5C3-8AA9EC5B8BB8}"/>
              </a:ext>
            </a:extLst>
          </p:cNvPr>
          <p:cNvCxnSpPr/>
          <p:nvPr/>
        </p:nvCxnSpPr>
        <p:spPr>
          <a:xfrm>
            <a:off x="8758960" y="4002167"/>
            <a:ext cx="3319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66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4498CF-CBC0-DF22-A0CC-6375C72B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Why using Pre-Norm (Pre-Normalization)?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DBAF41-AB10-7C3B-020C-37A3CADB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9C6D94-2CB2-DCC5-25B9-A48F6204A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44" y="2283796"/>
            <a:ext cx="9277311" cy="39232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53CA84-FB49-830C-60C9-B4B1F84F6068}"/>
              </a:ext>
            </a:extLst>
          </p:cNvPr>
          <p:cNvSpPr txBox="1"/>
          <p:nvPr/>
        </p:nvSpPr>
        <p:spPr>
          <a:xfrm>
            <a:off x="6524017" y="1468877"/>
            <a:ext cx="525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Xiong</a:t>
            </a:r>
            <a:r>
              <a:rPr kumimoji="1" lang="en" altLang="zh-TW" sz="1200" dirty="0"/>
              <a:t>, </a:t>
            </a:r>
            <a:r>
              <a:rPr kumimoji="1" lang="en" altLang="zh-TW" sz="1200" dirty="0" err="1"/>
              <a:t>Ruibin</a:t>
            </a:r>
            <a:r>
              <a:rPr kumimoji="1" lang="en" altLang="zh-TW" sz="1200" dirty="0"/>
              <a:t>, et al. "On layer normalization in the transformer architecture." International conference on machine learning.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53758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Self-supervised Learning</a:t>
            </a:r>
            <a:endParaRPr lang="zh-TW" altLang="en-US" sz="66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簡稱</a:t>
            </a:r>
            <a:r>
              <a:rPr lang="en-US" altLang="zh-TW" dirty="0"/>
              <a:t>SSL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25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08405-F7C4-5A7B-A6CB-BCD63C6B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self-supervised?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347963-51C5-E0FA-E5CE-03E611BD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757410-9A0B-2DA8-88B0-903D004242FF}"/>
              </a:ext>
            </a:extLst>
          </p:cNvPr>
          <p:cNvSpPr txBox="1"/>
          <p:nvPr/>
        </p:nvSpPr>
        <p:spPr>
          <a:xfrm>
            <a:off x="653143" y="1586847"/>
            <a:ext cx="10918370" cy="587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深度學習模型需要</a:t>
            </a:r>
            <a:r>
              <a:rPr kumimoji="1" lang="zh-TW" altLang="en-US" sz="24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大量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答案才能進行訓練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4659DB-3FC7-CC73-AC09-910B32E7555B}"/>
              </a:ext>
            </a:extLst>
          </p:cNvPr>
          <p:cNvSpPr txBox="1"/>
          <p:nvPr/>
        </p:nvSpPr>
        <p:spPr>
          <a:xfrm>
            <a:off x="3174841" y="2941548"/>
            <a:ext cx="150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哪裡來？</a:t>
            </a: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DDB85B14-3F2B-F535-0257-950F25FF2E73}"/>
              </a:ext>
            </a:extLst>
          </p:cNvPr>
          <p:cNvCxnSpPr/>
          <p:nvPr/>
        </p:nvCxnSpPr>
        <p:spPr>
          <a:xfrm flipV="1">
            <a:off x="3860642" y="2187225"/>
            <a:ext cx="0" cy="6584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9BB4913D-388D-15AE-F222-B5F49783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17" y="4144561"/>
            <a:ext cx="5757793" cy="1830574"/>
          </a:xfrm>
          <a:prstGeom prst="rect">
            <a:avLst/>
          </a:prstGeom>
        </p:spPr>
      </p:pic>
      <p:sp>
        <p:nvSpPr>
          <p:cNvPr id="10" name="圓角矩形 9">
            <a:extLst>
              <a:ext uri="{FF2B5EF4-FFF2-40B4-BE49-F238E27FC236}">
                <a16:creationId xmlns:a16="http://schemas.microsoft.com/office/drawing/2014/main" id="{E914D515-B018-C268-01B7-5C528DC8E196}"/>
              </a:ext>
            </a:extLst>
          </p:cNvPr>
          <p:cNvSpPr/>
          <p:nvPr/>
        </p:nvSpPr>
        <p:spPr>
          <a:xfrm>
            <a:off x="8192479" y="4222868"/>
            <a:ext cx="611995" cy="577466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51101B0D-E81A-2611-2695-DBC9BFA61113}"/>
              </a:ext>
            </a:extLst>
          </p:cNvPr>
          <p:cNvSpPr/>
          <p:nvPr/>
        </p:nvSpPr>
        <p:spPr>
          <a:xfrm>
            <a:off x="10209079" y="4222868"/>
            <a:ext cx="611995" cy="577466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真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2275480-27AF-030A-8144-0A56DCC214DF}"/>
              </a:ext>
            </a:extLst>
          </p:cNvPr>
          <p:cNvSpPr/>
          <p:nvPr/>
        </p:nvSpPr>
        <p:spPr>
          <a:xfrm>
            <a:off x="10959518" y="4222868"/>
            <a:ext cx="611995" cy="577466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好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D3F5275C-2E35-5E1E-E60A-A4259D91C8A4}"/>
              </a:ext>
            </a:extLst>
          </p:cNvPr>
          <p:cNvSpPr/>
          <p:nvPr/>
        </p:nvSpPr>
        <p:spPr>
          <a:xfrm>
            <a:off x="8942918" y="4222868"/>
            <a:ext cx="1141167" cy="577466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[MASK]</a:t>
            </a:r>
            <a:endParaRPr kumimoji="1" lang="zh-TW" altLang="en-US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37727E5-E5B9-1DEE-0FAC-F0365889B597}"/>
              </a:ext>
            </a:extLst>
          </p:cNvPr>
          <p:cNvSpPr/>
          <p:nvPr/>
        </p:nvSpPr>
        <p:spPr>
          <a:xfrm>
            <a:off x="9207503" y="5429905"/>
            <a:ext cx="611995" cy="577466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氣</a:t>
            </a: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FBBE79B2-D905-118C-929A-BF2E1AFCBABE}"/>
              </a:ext>
            </a:extLst>
          </p:cNvPr>
          <p:cNvCxnSpPr>
            <a:cxnSpLocks/>
          </p:cNvCxnSpPr>
          <p:nvPr/>
        </p:nvCxnSpPr>
        <p:spPr>
          <a:xfrm flipV="1">
            <a:off x="9516812" y="4873487"/>
            <a:ext cx="0" cy="4662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4F753A8-E2E9-B25A-5FC8-BADF87790783}"/>
              </a:ext>
            </a:extLst>
          </p:cNvPr>
          <p:cNvSpPr txBox="1"/>
          <p:nvPr/>
        </p:nvSpPr>
        <p:spPr>
          <a:xfrm>
            <a:off x="7427165" y="4326935"/>
            <a:ext cx="76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Input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7483AC7-AA6E-DD1A-565D-2D7161C8298B}"/>
              </a:ext>
            </a:extLst>
          </p:cNvPr>
          <p:cNvSpPr txBox="1"/>
          <p:nvPr/>
        </p:nvSpPr>
        <p:spPr>
          <a:xfrm>
            <a:off x="7427165" y="5533972"/>
            <a:ext cx="120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Prediction</a:t>
            </a:r>
            <a:endParaRPr kumimoji="1"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70B402E-35F2-F629-AA61-C2E8BA23FC8C}"/>
              </a:ext>
            </a:extLst>
          </p:cNvPr>
          <p:cNvSpPr txBox="1"/>
          <p:nvPr/>
        </p:nvSpPr>
        <p:spPr>
          <a:xfrm>
            <a:off x="653143" y="3591233"/>
            <a:ext cx="2835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影像處理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例子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2DB4409-1F07-93C9-8C97-0B8D867B9EDF}"/>
              </a:ext>
            </a:extLst>
          </p:cNvPr>
          <p:cNvSpPr txBox="1"/>
          <p:nvPr/>
        </p:nvSpPr>
        <p:spPr>
          <a:xfrm>
            <a:off x="7427164" y="3591233"/>
            <a:ext cx="3393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自然語言處理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例子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4AE7E36-F831-C7F2-10CC-EF3AAB5CCF47}"/>
              </a:ext>
            </a:extLst>
          </p:cNvPr>
          <p:cNvSpPr txBox="1"/>
          <p:nvPr/>
        </p:nvSpPr>
        <p:spPr>
          <a:xfrm>
            <a:off x="4342577" y="2941548"/>
            <a:ext cx="5333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標資料很貴，最好資料本身就有答案</a:t>
            </a:r>
          </a:p>
        </p:txBody>
      </p:sp>
    </p:spTree>
    <p:extLst>
      <p:ext uri="{BB962C8B-B14F-4D97-AF65-F5344CB8AC3E}">
        <p14:creationId xmlns:p14="http://schemas.microsoft.com/office/powerpoint/2010/main" val="340416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6" grpId="0" animBg="1"/>
      <p:bldP spid="17" grpId="0" animBg="1"/>
      <p:bldP spid="18" grpId="0" animBg="1"/>
      <p:bldP spid="20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kumimoji="1" lang="en-US" altLang="zh-TW" dirty="0"/>
              <a:t> Pre-training</a:t>
            </a:r>
            <a:r>
              <a:rPr kumimoji="1" lang="zh-TW" altLang="en-US" dirty="0"/>
              <a:t>，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</a:t>
            </a:r>
            <a:r>
              <a:rPr kumimoji="1" lang="zh-TW" altLang="en-US" dirty="0"/>
              <a:t> </a:t>
            </a:r>
            <a:r>
              <a:rPr kumimoji="1" lang="en-US" altLang="zh-TW" dirty="0"/>
              <a:t>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2133897" y="2727701"/>
            <a:ext cx="2557219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Pre-training</a:t>
            </a:r>
            <a:endParaRPr kumimoji="1"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6956157" y="2727702"/>
            <a:ext cx="2557219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Fine-tuning</a:t>
            </a:r>
            <a:endParaRPr kumimoji="1" lang="zh-TW" altLang="en-US" sz="2800" dirty="0"/>
          </a:p>
        </p:txBody>
      </p:sp>
      <p:cxnSp>
        <p:nvCxnSpPr>
          <p:cNvPr id="7" name="Google Shape;195;p17">
            <a:extLst>
              <a:ext uri="{FF2B5EF4-FFF2-40B4-BE49-F238E27FC236}">
                <a16:creationId xmlns:a16="http://schemas.microsoft.com/office/drawing/2014/main" id="{A42C9718-A3A1-C827-6BE8-93B311EC9440}"/>
              </a:ext>
            </a:extLst>
          </p:cNvPr>
          <p:cNvCxnSpPr>
            <a:cxnSpLocks/>
          </p:cNvCxnSpPr>
          <p:nvPr/>
        </p:nvCxnSpPr>
        <p:spPr>
          <a:xfrm>
            <a:off x="5176731" y="3399151"/>
            <a:ext cx="1293811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724D3D-D6A7-9A27-68C2-CCD45EB287C3}"/>
              </a:ext>
            </a:extLst>
          </p:cNvPr>
          <p:cNvSpPr txBox="1"/>
          <p:nvPr/>
        </p:nvSpPr>
        <p:spPr>
          <a:xfrm>
            <a:off x="1526834" y="4533254"/>
            <a:ext cx="3771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大量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資料上進行訓練，通常是自監督式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(Self-Supervised Training)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AFA3B6E-1EDC-9352-30A0-71896FB0BC66}"/>
              </a:ext>
            </a:extLst>
          </p:cNvPr>
          <p:cNvSpPr txBox="1"/>
          <p:nvPr/>
        </p:nvSpPr>
        <p:spPr>
          <a:xfrm>
            <a:off x="6444711" y="4533254"/>
            <a:ext cx="3771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目標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</a:t>
            </a:r>
            <a:r>
              <a:rPr kumimoji="1" lang="en-US" altLang="zh-TW" dirty="0">
                <a:ea typeface="Microsoft JhengHei" panose="020B0604030504040204" pitchFamily="34" charset="-120"/>
              </a:rPr>
              <a:t> (Down-stream tasks, </a:t>
            </a:r>
            <a:r>
              <a:rPr kumimoji="1" lang="zh-TW" altLang="en-US" dirty="0">
                <a:ea typeface="Microsoft JhengHei" panose="020B0604030504040204" pitchFamily="34" charset="-120"/>
              </a:rPr>
              <a:t>下游任務</a:t>
            </a:r>
            <a:r>
              <a:rPr kumimoji="1" lang="en-US" altLang="zh-TW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dirty="0">
                <a:ea typeface="Microsoft JhengHei" panose="020B0604030504040204" pitchFamily="34" charset="-120"/>
              </a:rPr>
              <a:t>進行訓練，通常是監督式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(Supervised Training)</a:t>
            </a:r>
            <a:r>
              <a:rPr kumimoji="1" lang="zh-TW" altLang="en-US" dirty="0">
                <a:ea typeface="Microsoft JhengHei" panose="020B0604030504040204" pitchFamily="34" charset="-120"/>
              </a:rPr>
              <a:t>，也就是需要有標註的資料才能進行模型訓練</a:t>
            </a:r>
          </a:p>
        </p:txBody>
      </p:sp>
    </p:spTree>
    <p:extLst>
      <p:ext uri="{BB962C8B-B14F-4D97-AF65-F5344CB8AC3E}">
        <p14:creationId xmlns:p14="http://schemas.microsoft.com/office/powerpoint/2010/main" val="3023047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047E2-9430-F975-66E4-6B8856E6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Pre-training </a:t>
            </a:r>
            <a:r>
              <a:rPr kumimoji="1" lang="zh-TW" altLang="en-US" dirty="0"/>
              <a:t>和模型初始化有關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9A57AF-3458-073E-4035-12CDEDC7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E8737BE-E0B5-348A-6F7C-96B9B0BC49E3}"/>
              </a:ext>
            </a:extLst>
          </p:cNvPr>
          <p:cNvSpPr/>
          <p:nvPr/>
        </p:nvSpPr>
        <p:spPr>
          <a:xfrm>
            <a:off x="1606536" y="236266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73757ED-847B-67AB-1435-84EC29BBDF53}"/>
              </a:ext>
            </a:extLst>
          </p:cNvPr>
          <p:cNvSpPr/>
          <p:nvPr/>
        </p:nvSpPr>
        <p:spPr>
          <a:xfrm>
            <a:off x="1606536" y="35549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BA91843E-1B43-7BFD-01BE-A5F535778E5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178036" y="2648417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25E44CF-000A-EBFD-4206-D666E3A29AD8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178036" y="2649804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C5670752-8B7C-0463-E0A8-7B77794606F9}"/>
              </a:ext>
            </a:extLst>
          </p:cNvPr>
          <p:cNvSpPr/>
          <p:nvPr/>
        </p:nvSpPr>
        <p:spPr>
          <a:xfrm>
            <a:off x="3355326" y="236405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C77C6FEB-C837-B34F-8D97-77AA6E8C680A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178036" y="2648417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EC4B43B-4845-B517-553A-50B127D7A67E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178036" y="3840733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16700B54-7690-D397-B4B5-78D54F590B84}"/>
              </a:ext>
            </a:extLst>
          </p:cNvPr>
          <p:cNvSpPr/>
          <p:nvPr/>
        </p:nvSpPr>
        <p:spPr>
          <a:xfrm>
            <a:off x="4431270" y="293555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548352F-2C83-85C5-5099-0D5E6DE7A976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3926826" y="2649804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466FD1F-E023-9E59-6631-BFD0157A365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926826" y="3221304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39D8AC9-71B7-3E40-21D7-2E530EC45F29}"/>
                  </a:ext>
                </a:extLst>
              </p:cNvPr>
              <p:cNvSpPr txBox="1"/>
              <p:nvPr/>
            </p:nvSpPr>
            <p:spPr>
              <a:xfrm>
                <a:off x="1712251" y="241305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39D8AC9-71B7-3E40-21D7-2E530EC4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251" y="2413057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D71FFA8-9CAF-3AE3-3744-099EAE5E5A67}"/>
                  </a:ext>
                </a:extLst>
              </p:cNvPr>
              <p:cNvSpPr txBox="1"/>
              <p:nvPr/>
            </p:nvSpPr>
            <p:spPr>
              <a:xfrm>
                <a:off x="1688468" y="3618051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D71FFA8-9CAF-3AE3-3744-099EAE5E5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68" y="3618051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911438F-7785-09B7-E977-41F2342C7A48}"/>
                  </a:ext>
                </a:extLst>
              </p:cNvPr>
              <p:cNvSpPr txBox="1"/>
              <p:nvPr/>
            </p:nvSpPr>
            <p:spPr>
              <a:xfrm>
                <a:off x="2371296" y="2232543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911438F-7785-09B7-E977-41F2342C7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296" y="2232543"/>
                <a:ext cx="779339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6A0366D-0F09-BF3F-4488-B5B32F3065BD}"/>
                  </a:ext>
                </a:extLst>
              </p:cNvPr>
              <p:cNvSpPr txBox="1"/>
              <p:nvPr/>
            </p:nvSpPr>
            <p:spPr>
              <a:xfrm>
                <a:off x="1931581" y="2783779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6A0366D-0F09-BF3F-4488-B5B32F30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81" y="2783779"/>
                <a:ext cx="526489" cy="413511"/>
              </a:xfrm>
              <a:prstGeom prst="rect">
                <a:avLst/>
              </a:prstGeom>
              <a:blipFill>
                <a:blip r:embed="rId6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4C06C88-93C5-DAB8-AE2F-6F3EA1806AAC}"/>
                  </a:ext>
                </a:extLst>
              </p:cNvPr>
              <p:cNvSpPr txBox="1"/>
              <p:nvPr/>
            </p:nvSpPr>
            <p:spPr>
              <a:xfrm>
                <a:off x="2413355" y="3800847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4C06C88-93C5-DAB8-AE2F-6F3EA1806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355" y="3800847"/>
                <a:ext cx="711521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6ECA081-342C-4C18-25FC-3800302D0031}"/>
                  </a:ext>
                </a:extLst>
              </p:cNvPr>
              <p:cNvSpPr txBox="1"/>
              <p:nvPr/>
            </p:nvSpPr>
            <p:spPr>
              <a:xfrm>
                <a:off x="1932383" y="317727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6ECA081-342C-4C18-25FC-3800302D0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383" y="3177278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99D2D2C-10DC-8BEE-BE9F-7FB7CF92C272}"/>
                  </a:ext>
                </a:extLst>
              </p:cNvPr>
              <p:cNvSpPr txBox="1"/>
              <p:nvPr/>
            </p:nvSpPr>
            <p:spPr>
              <a:xfrm>
                <a:off x="3412343" y="243929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99D2D2C-10DC-8BEE-BE9F-7FB7CF92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343" y="2439298"/>
                <a:ext cx="5158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76CD291-DCA1-B959-2FBD-38D14CCB68E4}"/>
                  </a:ext>
                </a:extLst>
              </p:cNvPr>
              <p:cNvSpPr txBox="1"/>
              <p:nvPr/>
            </p:nvSpPr>
            <p:spPr>
              <a:xfrm>
                <a:off x="4464798" y="3027236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76CD291-DCA1-B959-2FBD-38D14CCB6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798" y="3027236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AF79AD7-13A5-B942-6AE1-DE4F9195DE49}"/>
                  </a:ext>
                </a:extLst>
              </p:cNvPr>
              <p:cNvSpPr txBox="1"/>
              <p:nvPr/>
            </p:nvSpPr>
            <p:spPr>
              <a:xfrm>
                <a:off x="3388854" y="363000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AF79AD7-13A5-B942-6AE1-DE4F9195D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854" y="3630002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5E9EA14-009E-3BB5-0E0E-8265E73731BB}"/>
                  </a:ext>
                </a:extLst>
              </p:cNvPr>
              <p:cNvSpPr txBox="1"/>
              <p:nvPr/>
            </p:nvSpPr>
            <p:spPr>
              <a:xfrm>
                <a:off x="4040293" y="245165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5E9EA14-009E-3BB5-0E0E-8265E737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293" y="2451655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72AF34F-C86F-7E93-3A56-7B54E7636CF9}"/>
                  </a:ext>
                </a:extLst>
              </p:cNvPr>
              <p:cNvSpPr txBox="1"/>
              <p:nvPr/>
            </p:nvSpPr>
            <p:spPr>
              <a:xfrm>
                <a:off x="4035483" y="354953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72AF34F-C86F-7E93-3A56-7B54E7636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83" y="3549537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CF38B52-E1FD-CED0-5276-062A78611838}"/>
                  </a:ext>
                </a:extLst>
              </p:cNvPr>
              <p:cNvSpPr txBox="1"/>
              <p:nvPr/>
            </p:nvSpPr>
            <p:spPr>
              <a:xfrm>
                <a:off x="6409887" y="2170196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CF38B52-E1FD-CED0-5276-062A78611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887" y="2170196"/>
                <a:ext cx="4203068" cy="542136"/>
              </a:xfrm>
              <a:prstGeom prst="rect">
                <a:avLst/>
              </a:prstGeom>
              <a:blipFill>
                <a:blip r:embed="rId14"/>
                <a:stretch>
                  <a:fillRect l="-904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8298D9B-0FBA-7B26-EF77-813DA0936585}"/>
                  </a:ext>
                </a:extLst>
              </p:cNvPr>
              <p:cNvSpPr txBox="1"/>
              <p:nvPr/>
            </p:nvSpPr>
            <p:spPr>
              <a:xfrm>
                <a:off x="6335227" y="2886864"/>
                <a:ext cx="427772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8298D9B-0FBA-7B26-EF77-813DA0936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227" y="2886864"/>
                <a:ext cx="4277728" cy="542136"/>
              </a:xfrm>
              <a:prstGeom prst="rect">
                <a:avLst/>
              </a:prstGeom>
              <a:blipFill>
                <a:blip r:embed="rId15"/>
                <a:stretch>
                  <a:fillRect l="-296" t="-4545" b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619AEF7-7421-5F9F-CBDD-8DA516346350}"/>
                  </a:ext>
                </a:extLst>
              </p:cNvPr>
              <p:cNvSpPr txBox="1"/>
              <p:nvPr/>
            </p:nvSpPr>
            <p:spPr>
              <a:xfrm>
                <a:off x="6409887" y="3680233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619AEF7-7421-5F9F-CBDD-8DA51634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887" y="3680233"/>
                <a:ext cx="4203068" cy="542136"/>
              </a:xfrm>
              <a:prstGeom prst="rect">
                <a:avLst/>
              </a:prstGeom>
              <a:blipFill>
                <a:blip r:embed="rId16"/>
                <a:stretch>
                  <a:fillRect t="-2273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橢圓 28">
            <a:extLst>
              <a:ext uri="{FF2B5EF4-FFF2-40B4-BE49-F238E27FC236}">
                <a16:creationId xmlns:a16="http://schemas.microsoft.com/office/drawing/2014/main" id="{8F75BA96-B65B-AF6D-6E3F-96183E1A8EA9}"/>
              </a:ext>
            </a:extLst>
          </p:cNvPr>
          <p:cNvSpPr/>
          <p:nvPr/>
        </p:nvSpPr>
        <p:spPr>
          <a:xfrm>
            <a:off x="3343896" y="354953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60FAA75-3753-070F-7372-C521FB4230A5}"/>
              </a:ext>
            </a:extLst>
          </p:cNvPr>
          <p:cNvSpPr/>
          <p:nvPr/>
        </p:nvSpPr>
        <p:spPr>
          <a:xfrm>
            <a:off x="2485492" y="2272429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BE5273D-C34B-4E88-285C-A9AC72D43F40}"/>
              </a:ext>
            </a:extLst>
          </p:cNvPr>
          <p:cNvSpPr/>
          <p:nvPr/>
        </p:nvSpPr>
        <p:spPr>
          <a:xfrm>
            <a:off x="1965110" y="2825962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84771EC-475F-EC08-5BE1-75DFF0321847}"/>
              </a:ext>
            </a:extLst>
          </p:cNvPr>
          <p:cNvSpPr/>
          <p:nvPr/>
        </p:nvSpPr>
        <p:spPr>
          <a:xfrm>
            <a:off x="1965110" y="3239473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4817146-E804-92E5-5FC6-B0BE17E4A5DC}"/>
              </a:ext>
            </a:extLst>
          </p:cNvPr>
          <p:cNvSpPr/>
          <p:nvPr/>
        </p:nvSpPr>
        <p:spPr>
          <a:xfrm>
            <a:off x="2497721" y="3840877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C1A093F6-0C7A-FFD5-3FDE-DB339AA979D2}"/>
              </a:ext>
            </a:extLst>
          </p:cNvPr>
          <p:cNvSpPr/>
          <p:nvPr/>
        </p:nvSpPr>
        <p:spPr>
          <a:xfrm>
            <a:off x="4081390" y="2473353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69662AAA-42BB-5EEB-D961-A47911420C50}"/>
              </a:ext>
            </a:extLst>
          </p:cNvPr>
          <p:cNvSpPr/>
          <p:nvPr/>
        </p:nvSpPr>
        <p:spPr>
          <a:xfrm>
            <a:off x="4076083" y="3598736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1C838D5D-7990-26C7-7B15-1EFEFBC6B803}"/>
              </a:ext>
            </a:extLst>
          </p:cNvPr>
          <p:cNvSpPr/>
          <p:nvPr/>
        </p:nvSpPr>
        <p:spPr>
          <a:xfrm>
            <a:off x="7266366" y="2232543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53CE6EDB-494C-670F-6108-115F223FD7F3}"/>
              </a:ext>
            </a:extLst>
          </p:cNvPr>
          <p:cNvSpPr/>
          <p:nvPr/>
        </p:nvSpPr>
        <p:spPr>
          <a:xfrm>
            <a:off x="7266366" y="2963565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5BFE6715-F558-5DB7-27A4-718C184BD8A7}"/>
              </a:ext>
            </a:extLst>
          </p:cNvPr>
          <p:cNvSpPr/>
          <p:nvPr/>
        </p:nvSpPr>
        <p:spPr>
          <a:xfrm>
            <a:off x="7206530" y="3757694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F392643-7789-31F6-2A9D-59668505C41B}"/>
              </a:ext>
            </a:extLst>
          </p:cNvPr>
          <p:cNvSpPr/>
          <p:nvPr/>
        </p:nvSpPr>
        <p:spPr>
          <a:xfrm>
            <a:off x="8629052" y="2249286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7691A2DA-CAD7-9C5D-2993-425D7518EAF7}"/>
              </a:ext>
            </a:extLst>
          </p:cNvPr>
          <p:cNvSpPr/>
          <p:nvPr/>
        </p:nvSpPr>
        <p:spPr>
          <a:xfrm>
            <a:off x="8629052" y="2980308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078D2399-CA13-8006-4412-4C45C4B31C26}"/>
              </a:ext>
            </a:extLst>
          </p:cNvPr>
          <p:cNvSpPr/>
          <p:nvPr/>
        </p:nvSpPr>
        <p:spPr>
          <a:xfrm>
            <a:off x="8569216" y="3774437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7479AB50-001F-BF1F-7503-DE208C44B076}"/>
              </a:ext>
            </a:extLst>
          </p:cNvPr>
          <p:cNvSpPr/>
          <p:nvPr/>
        </p:nvSpPr>
        <p:spPr>
          <a:xfrm>
            <a:off x="9959892" y="2232543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29781894-83B8-8CE1-832F-584FB89AFE71}"/>
              </a:ext>
            </a:extLst>
          </p:cNvPr>
          <p:cNvSpPr/>
          <p:nvPr/>
        </p:nvSpPr>
        <p:spPr>
          <a:xfrm>
            <a:off x="9991738" y="2943350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DC7D2F8F-4ABF-F840-22E8-06F9A89B5BC0}"/>
              </a:ext>
            </a:extLst>
          </p:cNvPr>
          <p:cNvSpPr/>
          <p:nvPr/>
        </p:nvSpPr>
        <p:spPr>
          <a:xfrm>
            <a:off x="9959892" y="3742728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4FB7064-E593-4C66-DE57-FE197EC8E1A8}"/>
              </a:ext>
            </a:extLst>
          </p:cNvPr>
          <p:cNvSpPr txBox="1"/>
          <p:nvPr/>
        </p:nvSpPr>
        <p:spPr>
          <a:xfrm>
            <a:off x="2154102" y="5819830"/>
            <a:ext cx="809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💡預訓練就是學習一個有意義的初始化點，而非隨機點。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9D5FD84-7250-3688-AC44-1E0B71902783}"/>
              </a:ext>
            </a:extLst>
          </p:cNvPr>
          <p:cNvSpPr txBox="1"/>
          <p:nvPr/>
        </p:nvSpPr>
        <p:spPr>
          <a:xfrm>
            <a:off x="6771901" y="1621265"/>
            <a:ext cx="347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參數可能為隨機初始化</a:t>
            </a:r>
          </a:p>
        </p:txBody>
      </p:sp>
    </p:spTree>
    <p:extLst>
      <p:ext uri="{BB962C8B-B14F-4D97-AF65-F5344CB8AC3E}">
        <p14:creationId xmlns:p14="http://schemas.microsoft.com/office/powerpoint/2010/main" val="123506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影像處理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/>
              <a:t>SSL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0F77D2-841E-08C1-4A09-5AE447429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765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0AEE-CB92-2911-2690-F8F254DA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Autoencoder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自動編碼器</a:t>
            </a:r>
            <a:r>
              <a:rPr kumimoji="1" lang="en-US" altLang="zh-TW" dirty="0">
                <a:ea typeface="Microsoft JhengHei" panose="020B0604030504040204" pitchFamily="34" charset="-120"/>
              </a:rPr>
              <a:t>, AE</a:t>
            </a:r>
            <a:r>
              <a:rPr kumimoji="1" lang="en-US" altLang="zh-TW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3E6AA-1E0B-5DDD-8630-156AC7E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F29F317C-6F40-618B-811C-53ECA2D07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854404"/>
            <a:ext cx="8890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F7E670C-4E6C-5200-2167-0C3716C6E9B2}"/>
              </a:ext>
            </a:extLst>
          </p:cNvPr>
          <p:cNvSpPr txBox="1"/>
          <p:nvPr/>
        </p:nvSpPr>
        <p:spPr>
          <a:xfrm>
            <a:off x="3048000" y="644163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400" dirty="0"/>
              <a:t>Figure source: https://</a:t>
            </a:r>
            <a:r>
              <a:rPr lang="en" altLang="zh-TW" sz="1400" dirty="0" err="1"/>
              <a:t>blog.keras.io</a:t>
            </a:r>
            <a:r>
              <a:rPr lang="en" altLang="zh-TW" sz="1400" dirty="0"/>
              <a:t>/</a:t>
            </a:r>
            <a:r>
              <a:rPr lang="en" altLang="zh-TW" sz="1400" dirty="0" err="1"/>
              <a:t>img</a:t>
            </a:r>
            <a:r>
              <a:rPr lang="en" altLang="zh-TW" sz="1400" dirty="0"/>
              <a:t>/ae/</a:t>
            </a:r>
            <a:r>
              <a:rPr lang="en" altLang="zh-TW" sz="1400" dirty="0" err="1"/>
              <a:t>autoencoder_schema.jpg</a:t>
            </a:r>
            <a:endParaRPr lang="zh-TW" altLang="en-US" sz="1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A1CCC4-A49C-9AD9-36AD-2236C73F613E}"/>
              </a:ext>
            </a:extLst>
          </p:cNvPr>
          <p:cNvSpPr txBox="1"/>
          <p:nvPr/>
        </p:nvSpPr>
        <p:spPr>
          <a:xfrm>
            <a:off x="582082" y="2075303"/>
            <a:ext cx="544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Autoencoder 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的訓練方式即為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self-supervised learning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C8F549-4F1F-2DFD-28C5-582AD8EE25E6}"/>
              </a:ext>
            </a:extLst>
          </p:cNvPr>
          <p:cNvSpPr txBox="1"/>
          <p:nvPr/>
        </p:nvSpPr>
        <p:spPr>
          <a:xfrm>
            <a:off x="653142" y="1528977"/>
            <a:ext cx="348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以最原始的</a:t>
            </a:r>
            <a:r>
              <a:rPr kumimoji="1" lang="en-US" altLang="zh-TW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Autoencoder </a:t>
            </a:r>
            <a:r>
              <a:rPr kumimoji="1" lang="zh-TW" altLang="en-US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8F8B309-28A0-D950-072E-DF97F25A1D2B}"/>
              </a:ext>
            </a:extLst>
          </p:cNvPr>
          <p:cNvSpPr txBox="1"/>
          <p:nvPr/>
        </p:nvSpPr>
        <p:spPr>
          <a:xfrm>
            <a:off x="2373785" y="5860351"/>
            <a:ext cx="744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訓練目標：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Reconstruction error (MSE, Mean Squared Error) 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越低越好</a:t>
            </a:r>
          </a:p>
        </p:txBody>
      </p:sp>
      <p:cxnSp>
        <p:nvCxnSpPr>
          <p:cNvPr id="6" name="肘形接點 5">
            <a:extLst>
              <a:ext uri="{FF2B5EF4-FFF2-40B4-BE49-F238E27FC236}">
                <a16:creationId xmlns:a16="http://schemas.microsoft.com/office/drawing/2014/main" id="{501FFD4B-DE7E-D5CF-12A5-855ADA2EE2B6}"/>
              </a:ext>
            </a:extLst>
          </p:cNvPr>
          <p:cNvCxnSpPr>
            <a:cxnSpLocks/>
            <a:endCxn id="12" idx="2"/>
          </p:cNvCxnSpPr>
          <p:nvPr/>
        </p:nvCxnSpPr>
        <p:spPr>
          <a:xfrm rot="16200000" flipH="1">
            <a:off x="5859838" y="1535137"/>
            <a:ext cx="138946" cy="7067823"/>
          </a:xfrm>
          <a:prstGeom prst="bentConnector3">
            <a:avLst>
              <a:gd name="adj1" fmla="val 560669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76A1377-C376-7F05-7418-6A709A347CF8}"/>
              </a:ext>
            </a:extLst>
          </p:cNvPr>
          <p:cNvSpPr txBox="1"/>
          <p:nvPr/>
        </p:nvSpPr>
        <p:spPr>
          <a:xfrm>
            <a:off x="9160328" y="4769190"/>
            <a:ext cx="605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19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E7F7B-6D66-77FF-91FA-AC5A0E33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AE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的功能</a:t>
            </a:r>
            <a:r>
              <a:rPr kumimoji="1" lang="en-US" altLang="zh-TW" dirty="0"/>
              <a:t>1</a:t>
            </a:r>
            <a:r>
              <a:rPr kumimoji="1" lang="zh-TW" altLang="en-US" dirty="0"/>
              <a:t>：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降維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27757-120E-4039-2092-BC02BCA9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5AAD7AD-7098-38D0-8D93-B8E4B2CFC1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14" b="19980"/>
          <a:stretch/>
        </p:blipFill>
        <p:spPr bwMode="auto">
          <a:xfrm>
            <a:off x="523240" y="2311122"/>
            <a:ext cx="4079240" cy="223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69502CC-A0A9-69C0-9322-99C047C2DDE2}"/>
              </a:ext>
            </a:extLst>
          </p:cNvPr>
          <p:cNvSpPr txBox="1"/>
          <p:nvPr/>
        </p:nvSpPr>
        <p:spPr>
          <a:xfrm>
            <a:off x="953588" y="60873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Figure source:</a:t>
            </a:r>
          </a:p>
          <a:p>
            <a:r>
              <a:rPr lang="en" altLang="zh-TW" sz="1200" dirty="0"/>
              <a:t>Left: https://</a:t>
            </a:r>
            <a:r>
              <a:rPr lang="en" altLang="zh-TW" sz="1200" dirty="0" err="1"/>
              <a:t>blog.keras.io</a:t>
            </a:r>
            <a:r>
              <a:rPr lang="en" altLang="zh-TW" sz="1200" dirty="0"/>
              <a:t>/</a:t>
            </a:r>
            <a:r>
              <a:rPr lang="en" altLang="zh-TW" sz="1200" dirty="0" err="1"/>
              <a:t>img</a:t>
            </a:r>
            <a:r>
              <a:rPr lang="en" altLang="zh-TW" sz="1200" dirty="0"/>
              <a:t>/ae/</a:t>
            </a:r>
            <a:r>
              <a:rPr lang="en" altLang="zh-TW" sz="1200" dirty="0" err="1"/>
              <a:t>autoencoder_schema.jpg</a:t>
            </a:r>
            <a:endParaRPr lang="en" altLang="zh-TW" sz="1200" dirty="0"/>
          </a:p>
          <a:p>
            <a:r>
              <a:rPr lang="en" altLang="zh-TW" sz="1200" dirty="0"/>
              <a:t>Right: https://jason-chen-1992.weebly.com/home/-autoencoder</a:t>
            </a:r>
            <a:endParaRPr lang="zh-TW" altLang="en-US" sz="1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708B96-8E00-B84B-D9B3-A8523C210D37}"/>
              </a:ext>
            </a:extLst>
          </p:cNvPr>
          <p:cNvSpPr txBox="1"/>
          <p:nvPr/>
        </p:nvSpPr>
        <p:spPr>
          <a:xfrm>
            <a:off x="3337560" y="2640826"/>
            <a:ext cx="975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CNN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0B452E6-6537-CC84-8EEC-8AD4913458A6}"/>
              </a:ext>
            </a:extLst>
          </p:cNvPr>
          <p:cNvSpPr txBox="1"/>
          <p:nvPr/>
        </p:nvSpPr>
        <p:spPr>
          <a:xfrm>
            <a:off x="4602479" y="3261360"/>
            <a:ext cx="1620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[2, 1 ,1]</a:t>
            </a:r>
          </a:p>
          <a:p>
            <a:pPr algn="ctr"/>
            <a:r>
              <a:rPr kumimoji="1" lang="en-US" altLang="zh-TW" sz="2400" dirty="0"/>
              <a:t>(C, H, W)</a:t>
            </a:r>
            <a:endParaRPr kumimoji="1" lang="zh-TW" altLang="en-US" sz="2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2955E07-3972-227B-81F5-90C07888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295" y="2017811"/>
            <a:ext cx="4137660" cy="299253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01E8E19-38EA-313E-55E6-E1B571485733}"/>
              </a:ext>
            </a:extLst>
          </p:cNvPr>
          <p:cNvSpPr txBox="1"/>
          <p:nvPr/>
        </p:nvSpPr>
        <p:spPr>
          <a:xfrm>
            <a:off x="6222987" y="5356239"/>
            <a:ext cx="5701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AE </a:t>
            </a:r>
            <a:r>
              <a:rPr kumimoji="1" lang="zh-TW" altLang="en-US" dirty="0">
                <a:ea typeface="Microsoft JhengHei" panose="020B0604030504040204" pitchFamily="34" charset="-120"/>
              </a:rPr>
              <a:t>與</a:t>
            </a:r>
            <a:r>
              <a:rPr kumimoji="1" lang="en-US" altLang="zh-TW" dirty="0">
                <a:ea typeface="Microsoft JhengHei" panose="020B0604030504040204" pitchFamily="34" charset="-120"/>
              </a:rPr>
              <a:t> PCA (</a:t>
            </a:r>
            <a:r>
              <a:rPr kumimoji="1" lang="zh-TW" altLang="en-US" dirty="0">
                <a:ea typeface="Microsoft JhengHei" panose="020B0604030504040204" pitchFamily="34" charset="-120"/>
              </a:rPr>
              <a:t>主成分分析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t-SNE (t-distributed Stochastic Neighbor Embedding)</a:t>
            </a:r>
          </a:p>
          <a:p>
            <a:r>
              <a:rPr kumimoji="1" lang="zh-TW" altLang="en-US" dirty="0">
                <a:ea typeface="Microsoft JhengHei" panose="020B0604030504040204" pitchFamily="34" charset="-120"/>
              </a:rPr>
              <a:t>同為降維 </a:t>
            </a:r>
            <a:r>
              <a:rPr kumimoji="1" lang="en-US" altLang="zh-TW" dirty="0">
                <a:ea typeface="Microsoft JhengHei" panose="020B0604030504040204" pitchFamily="34" charset="-120"/>
              </a:rPr>
              <a:t>(dimensionality reduction) </a:t>
            </a:r>
            <a:r>
              <a:rPr kumimoji="1" lang="zh-TW" altLang="en-US" dirty="0">
                <a:ea typeface="Microsoft JhengHei" panose="020B0604030504040204" pitchFamily="34" charset="-120"/>
              </a:rPr>
              <a:t>作法</a:t>
            </a:r>
          </a:p>
        </p:txBody>
      </p:sp>
    </p:spTree>
    <p:extLst>
      <p:ext uri="{BB962C8B-B14F-4D97-AF65-F5344CB8AC3E}">
        <p14:creationId xmlns:p14="http://schemas.microsoft.com/office/powerpoint/2010/main" val="270369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A995F4-0BF8-3C2E-B4ED-3321B130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AE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的功能</a:t>
            </a:r>
            <a:r>
              <a:rPr kumimoji="1" lang="en-US" altLang="zh-TW" dirty="0">
                <a:ea typeface="Microsoft JhengHei" panose="020B0604030504040204" pitchFamily="34" charset="-120"/>
              </a:rPr>
              <a:t>2</a:t>
            </a:r>
            <a:r>
              <a:rPr kumimoji="1" lang="zh-TW" altLang="en-US" dirty="0"/>
              <a:t>：得到一個好的初始 </a:t>
            </a:r>
            <a:r>
              <a:rPr kumimoji="1" lang="en-US" altLang="zh-TW" dirty="0"/>
              <a:t>Encoder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E86E73-6708-012D-70B4-E8BC4FEB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A19E2F7-5B74-3E55-F5E8-AA52FA1212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57" b="-1810"/>
          <a:stretch/>
        </p:blipFill>
        <p:spPr bwMode="auto">
          <a:xfrm>
            <a:off x="1250070" y="2607747"/>
            <a:ext cx="9691860" cy="312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4934C7-948C-12F6-74EF-ECF3E958127D}"/>
              </a:ext>
            </a:extLst>
          </p:cNvPr>
          <p:cNvSpPr txBox="1"/>
          <p:nvPr/>
        </p:nvSpPr>
        <p:spPr>
          <a:xfrm>
            <a:off x="3621484" y="2026182"/>
            <a:ext cx="459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第一階段訓練</a:t>
            </a:r>
            <a:r>
              <a:rPr kumimoji="1" lang="zh-TW" altLang="en-US" sz="2000" b="1" dirty="0"/>
              <a:t>：</a:t>
            </a:r>
            <a:r>
              <a:rPr kumimoji="1" lang="en-US" altLang="zh-TW" sz="2000" b="1" dirty="0"/>
              <a:t>Pre-training</a:t>
            </a:r>
            <a:r>
              <a:rPr kumimoji="1" lang="zh-TW" altLang="en-US" sz="2000" b="1" dirty="0"/>
              <a:t> </a:t>
            </a:r>
            <a:r>
              <a:rPr kumimoji="1" lang="en-US" altLang="zh-TW" sz="2000" b="1" dirty="0"/>
              <a:t>(SSL)</a:t>
            </a:r>
            <a:endParaRPr kumimoji="1" lang="zh-TW" altLang="en-US" sz="2000" b="1" dirty="0"/>
          </a:p>
        </p:txBody>
      </p:sp>
      <p:sp>
        <p:nvSpPr>
          <p:cNvPr id="30" name="右中括弧 29">
            <a:extLst>
              <a:ext uri="{FF2B5EF4-FFF2-40B4-BE49-F238E27FC236}">
                <a16:creationId xmlns:a16="http://schemas.microsoft.com/office/drawing/2014/main" id="{980A3764-4245-906B-5E4B-B86ED9232D26}"/>
              </a:ext>
            </a:extLst>
          </p:cNvPr>
          <p:cNvSpPr/>
          <p:nvPr/>
        </p:nvSpPr>
        <p:spPr>
          <a:xfrm rot="16200000">
            <a:off x="6026156" y="-2017880"/>
            <a:ext cx="185406" cy="9277403"/>
          </a:xfrm>
          <a:prstGeom prst="righ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4580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3200-DD4F-DDFB-B57C-E30677F2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FC2466-3427-37AD-DDA9-E476F745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2B28427-D47D-233B-3BCB-0714EDA153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47" b="20857"/>
          <a:stretch/>
        </p:blipFill>
        <p:spPr bwMode="auto">
          <a:xfrm>
            <a:off x="653143" y="2957073"/>
            <a:ext cx="4912491" cy="243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66BCD42-BBC0-D486-F81A-8C816223C35A}"/>
              </a:ext>
            </a:extLst>
          </p:cNvPr>
          <p:cNvSpPr txBox="1"/>
          <p:nvPr/>
        </p:nvSpPr>
        <p:spPr>
          <a:xfrm>
            <a:off x="4732020" y="5323445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重要特徵</a:t>
            </a: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6FB22C2-CA61-A480-AF53-6A12B506474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353050" y="4911965"/>
            <a:ext cx="0" cy="4114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F447D3-DA7F-150B-4D4D-AFCD2ED5877E}"/>
              </a:ext>
            </a:extLst>
          </p:cNvPr>
          <p:cNvSpPr txBox="1"/>
          <p:nvPr/>
        </p:nvSpPr>
        <p:spPr>
          <a:xfrm>
            <a:off x="2784143" y="5715637"/>
            <a:ext cx="1665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具備影像知識的模型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EDA948C2-2EE5-0B82-35AA-EE8CF0C92FA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616657" y="5304157"/>
            <a:ext cx="0" cy="4114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204;p17">
            <a:extLst>
              <a:ext uri="{FF2B5EF4-FFF2-40B4-BE49-F238E27FC236}">
                <a16:creationId xmlns:a16="http://schemas.microsoft.com/office/drawing/2014/main" id="{42845DCC-2D0C-5AC0-FADB-EB6F9B99D87B}"/>
              </a:ext>
            </a:extLst>
          </p:cNvPr>
          <p:cNvSpPr/>
          <p:nvPr/>
        </p:nvSpPr>
        <p:spPr>
          <a:xfrm>
            <a:off x="6186664" y="3334625"/>
            <a:ext cx="732167" cy="1961912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Conv</a:t>
            </a:r>
            <a:endParaRPr dirty="0"/>
          </a:p>
        </p:txBody>
      </p:sp>
      <p:sp>
        <p:nvSpPr>
          <p:cNvPr id="14" name="Google Shape;204;p17">
            <a:extLst>
              <a:ext uri="{FF2B5EF4-FFF2-40B4-BE49-F238E27FC236}">
                <a16:creationId xmlns:a16="http://schemas.microsoft.com/office/drawing/2014/main" id="{A1628FBD-534C-79EE-CDAD-297982762D98}"/>
              </a:ext>
            </a:extLst>
          </p:cNvPr>
          <p:cNvSpPr/>
          <p:nvPr/>
        </p:nvSpPr>
        <p:spPr>
          <a:xfrm>
            <a:off x="7502022" y="3334625"/>
            <a:ext cx="732167" cy="1961912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Conv</a:t>
            </a:r>
            <a:endParaRPr dirty="0"/>
          </a:p>
        </p:txBody>
      </p:sp>
      <p:sp>
        <p:nvSpPr>
          <p:cNvPr id="15" name="Google Shape;204;p17">
            <a:extLst>
              <a:ext uri="{FF2B5EF4-FFF2-40B4-BE49-F238E27FC236}">
                <a16:creationId xmlns:a16="http://schemas.microsoft.com/office/drawing/2014/main" id="{2969395B-8C22-487E-E21E-CA22EAC7FDE9}"/>
              </a:ext>
            </a:extLst>
          </p:cNvPr>
          <p:cNvSpPr/>
          <p:nvPr/>
        </p:nvSpPr>
        <p:spPr>
          <a:xfrm>
            <a:off x="8785848" y="3334625"/>
            <a:ext cx="732167" cy="1961912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FC</a:t>
            </a:r>
            <a:endParaRPr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58E221B-A00B-4CF4-03D9-8BFCF2529464}"/>
              </a:ext>
            </a:extLst>
          </p:cNvPr>
          <p:cNvSpPr txBox="1"/>
          <p:nvPr/>
        </p:nvSpPr>
        <p:spPr>
          <a:xfrm>
            <a:off x="9236213" y="1470742"/>
            <a:ext cx="2335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Conv: convolutional layer</a:t>
            </a:r>
          </a:p>
          <a:p>
            <a:r>
              <a:rPr lang="en-US" altLang="zh-TW" sz="1400" dirty="0"/>
              <a:t>FC: fully-connected layer</a:t>
            </a: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57AD288-D47B-DB06-A451-CCBD21451026}"/>
              </a:ext>
            </a:extLst>
          </p:cNvPr>
          <p:cNvCxnSpPr/>
          <p:nvPr/>
        </p:nvCxnSpPr>
        <p:spPr>
          <a:xfrm>
            <a:off x="5722620" y="4332845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120F198C-E166-8E65-4F15-39BAAFC09317}"/>
              </a:ext>
            </a:extLst>
          </p:cNvPr>
          <p:cNvCxnSpPr/>
          <p:nvPr/>
        </p:nvCxnSpPr>
        <p:spPr>
          <a:xfrm>
            <a:off x="6996735" y="4325225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DC9BEDBE-FA0E-381E-F5E0-AE8DAA90C84E}"/>
              </a:ext>
            </a:extLst>
          </p:cNvPr>
          <p:cNvCxnSpPr/>
          <p:nvPr/>
        </p:nvCxnSpPr>
        <p:spPr>
          <a:xfrm>
            <a:off x="8312093" y="4332845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BD2F7EB0-7DE1-9B53-0AAA-28BAE1EC4317}"/>
              </a:ext>
            </a:extLst>
          </p:cNvPr>
          <p:cNvCxnSpPr/>
          <p:nvPr/>
        </p:nvCxnSpPr>
        <p:spPr>
          <a:xfrm>
            <a:off x="9557430" y="4332845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37E7C28-EAF9-BC7A-C6BA-D89E0670F590}"/>
              </a:ext>
            </a:extLst>
          </p:cNvPr>
          <p:cNvSpPr txBox="1"/>
          <p:nvPr/>
        </p:nvSpPr>
        <p:spPr>
          <a:xfrm>
            <a:off x="9937904" y="4148179"/>
            <a:ext cx="110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18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分類任務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83AC8A6-D8E3-862B-FB6E-C0D4D2294C7B}"/>
              </a:ext>
            </a:extLst>
          </p:cNvPr>
          <p:cNvSpPr txBox="1"/>
          <p:nvPr/>
        </p:nvSpPr>
        <p:spPr>
          <a:xfrm>
            <a:off x="6066209" y="5822114"/>
            <a:ext cx="49216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訓練過的參數 </a:t>
            </a:r>
            <a:r>
              <a:rPr kumimoji="1" lang="en-US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+</a:t>
            </a:r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新的參數 </a:t>
            </a:r>
            <a:r>
              <a:rPr kumimoji="1" lang="en-US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-&gt; </a:t>
            </a:r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加速模型收斂</a:t>
            </a:r>
            <a:endParaRPr kumimoji="1" lang="en-US" altLang="zh-TW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ea typeface="Microsoft JhengHei" panose="020B0604030504040204" pitchFamily="34" charset="-120"/>
              </a:rPr>
              <a:t>(Transfer Learning)</a:t>
            </a:r>
            <a:endParaRPr kumimoji="1" lang="zh-TW" altLang="en-US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4EF958D-5B2E-1DCB-FAE6-66B0BE32A3EE}"/>
              </a:ext>
            </a:extLst>
          </p:cNvPr>
          <p:cNvSpPr txBox="1"/>
          <p:nvPr/>
        </p:nvSpPr>
        <p:spPr>
          <a:xfrm>
            <a:off x="620486" y="1684748"/>
            <a:ext cx="7136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將 </a:t>
            </a:r>
            <a:r>
              <a:rPr kumimoji="1" lang="en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AE </a:t>
            </a:r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的 </a:t>
            </a:r>
            <a:r>
              <a:rPr kumimoji="1" lang="en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Encoder </a:t>
            </a:r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當作特徵萃取器，遷移到下游分類任務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1B24ADD-B6C1-10A0-B38E-24E5DD973AD2}"/>
              </a:ext>
            </a:extLst>
          </p:cNvPr>
          <p:cNvSpPr txBox="1"/>
          <p:nvPr/>
        </p:nvSpPr>
        <p:spPr>
          <a:xfrm>
            <a:off x="1173707" y="2495408"/>
            <a:ext cx="435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b="1" dirty="0"/>
              <a:t>移除</a:t>
            </a:r>
            <a:r>
              <a:rPr kumimoji="1" lang="en-US" altLang="zh-TW" sz="2000" b="1" dirty="0"/>
              <a:t> Decoder</a:t>
            </a:r>
            <a:endParaRPr kumimoji="1" lang="zh-TW" altLang="en-US" sz="2000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E0A5DD7-7F31-3C73-01C9-A03E144B2964}"/>
              </a:ext>
            </a:extLst>
          </p:cNvPr>
          <p:cNvSpPr txBox="1"/>
          <p:nvPr/>
        </p:nvSpPr>
        <p:spPr>
          <a:xfrm>
            <a:off x="5749789" y="2499349"/>
            <a:ext cx="5554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b="1" dirty="0">
                <a:ea typeface="Microsoft JhengHei" panose="020B0604030504040204" pitchFamily="34" charset="-120"/>
              </a:rPr>
              <a:t>第二階段訓練：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Fine-tuning (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監督式學習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)</a:t>
            </a:r>
            <a:endParaRPr kumimoji="1" lang="zh-TW" altLang="en-US" sz="2000" b="1" dirty="0">
              <a:ea typeface="Microsoft JhengHei" panose="020B0604030504040204" pitchFamily="34" charset="-120"/>
            </a:endParaRPr>
          </a:p>
        </p:txBody>
      </p:sp>
      <p:sp>
        <p:nvSpPr>
          <p:cNvPr id="30" name="右中括弧 29">
            <a:extLst>
              <a:ext uri="{FF2B5EF4-FFF2-40B4-BE49-F238E27FC236}">
                <a16:creationId xmlns:a16="http://schemas.microsoft.com/office/drawing/2014/main" id="{3451D666-DCB6-5E88-1A1B-CD05A8A5B8AC}"/>
              </a:ext>
            </a:extLst>
          </p:cNvPr>
          <p:cNvSpPr/>
          <p:nvPr/>
        </p:nvSpPr>
        <p:spPr>
          <a:xfrm rot="16200000">
            <a:off x="3217294" y="817536"/>
            <a:ext cx="207206" cy="4588479"/>
          </a:xfrm>
          <a:prstGeom prst="righ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1" name="右中括弧 30">
            <a:extLst>
              <a:ext uri="{FF2B5EF4-FFF2-40B4-BE49-F238E27FC236}">
                <a16:creationId xmlns:a16="http://schemas.microsoft.com/office/drawing/2014/main" id="{E64EFD8F-9A7D-01CA-80AB-4EE19A454C54}"/>
              </a:ext>
            </a:extLst>
          </p:cNvPr>
          <p:cNvSpPr/>
          <p:nvPr/>
        </p:nvSpPr>
        <p:spPr>
          <a:xfrm rot="16200000">
            <a:off x="8288207" y="817537"/>
            <a:ext cx="207206" cy="4588479"/>
          </a:xfrm>
          <a:prstGeom prst="righ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1FABEB26-33EC-6AD9-1DE2-3A3D2941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" altLang="zh-TW" dirty="0"/>
              <a:t>AE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的功能</a:t>
            </a:r>
            <a:r>
              <a:rPr kumimoji="1" lang="en-US" altLang="zh-TW" dirty="0">
                <a:ea typeface="Microsoft JhengHei" panose="020B0604030504040204" pitchFamily="34" charset="-120"/>
              </a:rPr>
              <a:t>2</a:t>
            </a:r>
            <a:r>
              <a:rPr kumimoji="1" lang="zh-TW" altLang="en-US" dirty="0"/>
              <a:t>：得到一個好的初始 </a:t>
            </a:r>
            <a:r>
              <a:rPr kumimoji="1" lang="en-US" altLang="zh-TW" dirty="0"/>
              <a:t>Encoder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2E9E697-1C78-51D6-3752-7308361DF278}"/>
              </a:ext>
            </a:extLst>
          </p:cNvPr>
          <p:cNvSpPr txBox="1"/>
          <p:nvPr/>
        </p:nvSpPr>
        <p:spPr>
          <a:xfrm>
            <a:off x="8516341" y="6444233"/>
            <a:ext cx="275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/abs/2201.03898</a:t>
            </a:r>
            <a:endParaRPr kumimoji="1" lang="zh-TW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85B19E-0DE7-EB84-039E-36FF04D67D5E}"/>
              </a:ext>
            </a:extLst>
          </p:cNvPr>
          <p:cNvSpPr/>
          <p:nvPr/>
        </p:nvSpPr>
        <p:spPr>
          <a:xfrm>
            <a:off x="2415653" y="3307329"/>
            <a:ext cx="2289071" cy="19695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053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 animBg="1"/>
      <p:bldP spid="14" grpId="0" animBg="1"/>
      <p:bldP spid="15" grpId="0" animBg="1"/>
      <p:bldP spid="24" grpId="0"/>
      <p:bldP spid="25" grpId="0"/>
      <p:bldP spid="29" grpId="0"/>
      <p:bldP spid="31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149E43-AEC0-0EFC-6694-C55E53D4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Masked autoencoders (MAE)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4F2CA8-DB53-0936-9738-841100F8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B0B87B-059D-896F-FB51-A6F974B19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89" y="2002687"/>
            <a:ext cx="7772400" cy="438459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8CBFF0B-94B5-788A-643C-AEC6BF4400DA}"/>
              </a:ext>
            </a:extLst>
          </p:cNvPr>
          <p:cNvSpPr txBox="1"/>
          <p:nvPr/>
        </p:nvSpPr>
        <p:spPr>
          <a:xfrm>
            <a:off x="2143089" y="6466538"/>
            <a:ext cx="7074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400" dirty="0"/>
              <a:t>He, </a:t>
            </a:r>
            <a:r>
              <a:rPr lang="en" altLang="zh-TW" sz="1400" dirty="0" err="1"/>
              <a:t>Kaiming</a:t>
            </a:r>
            <a:r>
              <a:rPr lang="en" altLang="zh-TW" sz="1400" dirty="0"/>
              <a:t>, et al. "Masked autoencoders are scalable vision learners." CVPR 2022.</a:t>
            </a:r>
            <a:endParaRPr lang="zh-TW" altLang="en-US" sz="1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B7EC1BA-D4B7-0074-464D-F5888EC78B51}"/>
              </a:ext>
            </a:extLst>
          </p:cNvPr>
          <p:cNvSpPr txBox="1"/>
          <p:nvPr/>
        </p:nvSpPr>
        <p:spPr>
          <a:xfrm>
            <a:off x="653143" y="3588075"/>
            <a:ext cx="1698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0070C0"/>
                </a:solidFill>
                <a:ea typeface="Microsoft JhengHei" panose="020B0604030504040204" pitchFamily="34" charset="-120"/>
              </a:rPr>
              <a:t>把圖片切成 </a:t>
            </a:r>
            <a:r>
              <a:rPr kumimoji="1" lang="en" altLang="zh-TW" dirty="0">
                <a:solidFill>
                  <a:srgbClr val="0070C0"/>
                </a:solidFill>
                <a:ea typeface="Microsoft JhengHei" panose="020B0604030504040204" pitchFamily="34" charset="-120"/>
              </a:rPr>
              <a:t>patches</a:t>
            </a:r>
            <a:r>
              <a:rPr kumimoji="1" lang="zh-TW" altLang="en-US" dirty="0">
                <a:solidFill>
                  <a:srgbClr val="0070C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solidFill>
                  <a:srgbClr val="0070C0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0070C0"/>
                </a:solidFill>
                <a:ea typeface="Microsoft JhengHei" panose="020B0604030504040204" pitchFamily="34" charset="-120"/>
              </a:rPr>
              <a:t>例如 </a:t>
            </a:r>
            <a:r>
              <a:rPr kumimoji="1" lang="en" altLang="zh-TW" dirty="0" err="1">
                <a:solidFill>
                  <a:srgbClr val="0070C0"/>
                </a:solidFill>
                <a:ea typeface="Microsoft JhengHei" panose="020B0604030504040204" pitchFamily="34" charset="-120"/>
              </a:rPr>
              <a:t>ViT</a:t>
            </a:r>
            <a:r>
              <a:rPr kumimoji="1" lang="zh-TW" altLang="en" dirty="0">
                <a:solidFill>
                  <a:srgbClr val="0070C0"/>
                </a:solidFill>
                <a:ea typeface="Microsoft JhengHei" panose="020B0604030504040204" pitchFamily="34" charset="-120"/>
              </a:rPr>
              <a:t>：</a:t>
            </a:r>
            <a:r>
              <a:rPr kumimoji="1" lang="en" altLang="zh-TW" dirty="0">
                <a:solidFill>
                  <a:srgbClr val="0070C0"/>
                </a:solidFill>
                <a:ea typeface="Microsoft JhengHei" panose="020B0604030504040204" pitchFamily="34" charset="-120"/>
              </a:rPr>
              <a:t>16x16</a:t>
            </a:r>
            <a:r>
              <a:rPr kumimoji="1" lang="en-US" altLang="zh-TW" dirty="0">
                <a:solidFill>
                  <a:srgbClr val="0070C0"/>
                </a:solidFill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0070C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D7FEFAA-13CA-CF77-FC16-0BE02FC82CDB}"/>
              </a:ext>
            </a:extLst>
          </p:cNvPr>
          <p:cNvSpPr txBox="1"/>
          <p:nvPr/>
        </p:nvSpPr>
        <p:spPr>
          <a:xfrm>
            <a:off x="2143089" y="2703048"/>
            <a:ext cx="152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  <a:ea typeface="Microsoft JhengHei" panose="020B0604030504040204" pitchFamily="34" charset="-120"/>
              </a:rPr>
              <a:t>Masking 75% patches</a:t>
            </a:r>
            <a:endParaRPr kumimoji="1" lang="zh-TW" altLang="en-US" dirty="0">
              <a:solidFill>
                <a:srgbClr val="0070C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4C6DBE-83B2-0DA8-D8F0-1F0DD52D7208}"/>
              </a:ext>
            </a:extLst>
          </p:cNvPr>
          <p:cNvSpPr txBox="1"/>
          <p:nvPr/>
        </p:nvSpPr>
        <p:spPr>
          <a:xfrm>
            <a:off x="3910490" y="1914444"/>
            <a:ext cx="221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ea typeface="Microsoft JhengHei" panose="020B0604030504040204" pitchFamily="34" charset="-120"/>
              </a:rPr>
              <a:t>Encoder 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只能看到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unmasked 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patches</a:t>
            </a:r>
            <a:endParaRPr kumimoji="1" lang="zh-TW" altLang="en-US" sz="1600" dirty="0"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0454EE1-6D20-8E81-67B0-58CB919B5F61}"/>
              </a:ext>
            </a:extLst>
          </p:cNvPr>
          <p:cNvSpPr txBox="1"/>
          <p:nvPr/>
        </p:nvSpPr>
        <p:spPr>
          <a:xfrm>
            <a:off x="5694181" y="1392526"/>
            <a:ext cx="352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ea typeface="Microsoft JhengHei" panose="020B0604030504040204" pitchFamily="34" charset="-120"/>
              </a:rPr>
              <a:t>Masked patches 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加回去 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encoder output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 後，作為 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decoder input</a:t>
            </a:r>
            <a:endParaRPr kumimoji="1" lang="zh-TW" altLang="en-US" sz="1600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350987-D801-0E3A-3BE9-984264C856A9}"/>
              </a:ext>
            </a:extLst>
          </p:cNvPr>
          <p:cNvSpPr txBox="1"/>
          <p:nvPr/>
        </p:nvSpPr>
        <p:spPr>
          <a:xfrm>
            <a:off x="9144867" y="5434914"/>
            <a:ext cx="2676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訓練目標：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Reconstruction error (MSE) 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越低越好</a:t>
            </a:r>
          </a:p>
        </p:txBody>
      </p:sp>
      <p:cxnSp>
        <p:nvCxnSpPr>
          <p:cNvPr id="11" name="肘形接點 10">
            <a:extLst>
              <a:ext uri="{FF2B5EF4-FFF2-40B4-BE49-F238E27FC236}">
                <a16:creationId xmlns:a16="http://schemas.microsoft.com/office/drawing/2014/main" id="{E3DA4EDE-DF69-A9AD-DD36-99BA73B56711}"/>
              </a:ext>
            </a:extLst>
          </p:cNvPr>
          <p:cNvCxnSpPr>
            <a:cxnSpLocks/>
            <a:stCxn id="13" idx="2"/>
            <a:endCxn id="12" idx="2"/>
          </p:cNvCxnSpPr>
          <p:nvPr/>
        </p:nvCxnSpPr>
        <p:spPr>
          <a:xfrm rot="16200000" flipH="1">
            <a:off x="6024685" y="2136210"/>
            <a:ext cx="69474" cy="6170892"/>
          </a:xfrm>
          <a:prstGeom prst="bentConnector3">
            <a:avLst>
              <a:gd name="adj1" fmla="val 1636668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CFA88C-BD81-3DC8-FE71-06C6B7B8CCB6}"/>
              </a:ext>
            </a:extLst>
          </p:cNvPr>
          <p:cNvSpPr txBox="1"/>
          <p:nvPr/>
        </p:nvSpPr>
        <p:spPr>
          <a:xfrm>
            <a:off x="8841973" y="4887061"/>
            <a:ext cx="605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816C316-3702-9256-2376-CA1D402506EE}"/>
              </a:ext>
            </a:extLst>
          </p:cNvPr>
          <p:cNvSpPr txBox="1"/>
          <p:nvPr/>
        </p:nvSpPr>
        <p:spPr>
          <a:xfrm>
            <a:off x="2671081" y="4817587"/>
            <a:ext cx="605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pic>
        <p:nvPicPr>
          <p:cNvPr id="14" name="圖片 13" descr="一張含有 卡通, 虛構角色, 動畫卡通, 虛構小說 的圖片&#10;&#10;自動產生的描述">
            <a:extLst>
              <a:ext uri="{FF2B5EF4-FFF2-40B4-BE49-F238E27FC236}">
                <a16:creationId xmlns:a16="http://schemas.microsoft.com/office/drawing/2014/main" id="{591EE831-B1C3-9447-7C1B-D803B3D45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521" y="4345134"/>
            <a:ext cx="471680" cy="707519"/>
          </a:xfrm>
          <a:prstGeom prst="rect">
            <a:avLst/>
          </a:prstGeom>
        </p:spPr>
      </p:pic>
      <p:pic>
        <p:nvPicPr>
          <p:cNvPr id="15" name="圖片 14" descr="一張含有 卡通, 虛構角色, 動畫卡通, 虛構小說 的圖片&#10;&#10;自動產生的描述">
            <a:extLst>
              <a:ext uri="{FF2B5EF4-FFF2-40B4-BE49-F238E27FC236}">
                <a16:creationId xmlns:a16="http://schemas.microsoft.com/office/drawing/2014/main" id="{3F805B2E-9D1E-723A-1ACD-E096DDB79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97" y="4359788"/>
            <a:ext cx="369714" cy="55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3F7EF-DFA1-38A2-A1C3-995EBDB5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MAE </a:t>
            </a:r>
            <a:r>
              <a:rPr kumimoji="1" lang="zh-TW" altLang="en-US" dirty="0"/>
              <a:t>細節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AF4B0C-C43D-D294-7BEE-9479182E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B75201-5776-DC96-9364-0B0E94962643}"/>
              </a:ext>
            </a:extLst>
          </p:cNvPr>
          <p:cNvSpPr txBox="1"/>
          <p:nvPr/>
        </p:nvSpPr>
        <p:spPr>
          <a:xfrm>
            <a:off x="653143" y="1586847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Decoder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知道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patches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的順序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位置資訊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嗎？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Yes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，且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Encoder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也有位置資訊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ViT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Decoder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input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包含了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Encoder outputs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和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masked patches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，那這些會照順序排好再輸入給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Decoder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嗎？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02461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24722-22EF-5D07-321A-856160B1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不同的 </a:t>
            </a:r>
            <a:r>
              <a:rPr kumimoji="1" lang="en-US" altLang="zh-TW" dirty="0"/>
              <a:t>SSL</a:t>
            </a:r>
            <a:r>
              <a:rPr kumimoji="1" lang="zh-TW" altLang="en-US" dirty="0"/>
              <a:t> 策略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86F128-ACBF-B137-554D-76971BF6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圖片 4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E4404F05-1922-975A-51DB-B7C9B19914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7751433" y="4899546"/>
            <a:ext cx="931280" cy="933563"/>
          </a:xfrm>
          <a:prstGeom prst="rect">
            <a:avLst/>
          </a:prstGeom>
        </p:spPr>
      </p:pic>
      <p:pic>
        <p:nvPicPr>
          <p:cNvPr id="6" name="圖片 5" descr="一張含有 哺乳動物, 貓, 家貓, 小型到中型大小的貓 的圖片&#10;&#10;自動產生的描述">
            <a:extLst>
              <a:ext uri="{FF2B5EF4-FFF2-40B4-BE49-F238E27FC236}">
                <a16:creationId xmlns:a16="http://schemas.microsoft.com/office/drawing/2014/main" id="{7925BFDB-035B-BCD9-909E-EF72213E6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504" y="3342280"/>
            <a:ext cx="1189525" cy="1189525"/>
          </a:xfrm>
          <a:prstGeom prst="rect">
            <a:avLst/>
          </a:prstGeom>
        </p:spPr>
      </p:pic>
      <p:pic>
        <p:nvPicPr>
          <p:cNvPr id="7" name="圖片 6" descr="一張含有 家貓, 貓, 哺乳動物, 小型到中型大小的貓 的圖片&#10;&#10;自動產生的描述">
            <a:extLst>
              <a:ext uri="{FF2B5EF4-FFF2-40B4-BE49-F238E27FC236}">
                <a16:creationId xmlns:a16="http://schemas.microsoft.com/office/drawing/2014/main" id="{3A7F41FF-10AF-06F4-ED51-891C995C7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474" y="3556112"/>
            <a:ext cx="1159564" cy="115956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48980D2-DAA2-81F0-85C8-E33B73B165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530" r="80163" b="33931"/>
          <a:stretch/>
        </p:blipFill>
        <p:spPr>
          <a:xfrm>
            <a:off x="2712588" y="3453667"/>
            <a:ext cx="1215755" cy="115956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24763E3-03C4-8DAB-27DB-5D8C50FE29E3}"/>
              </a:ext>
            </a:extLst>
          </p:cNvPr>
          <p:cNvSpPr txBox="1"/>
          <p:nvPr/>
        </p:nvSpPr>
        <p:spPr>
          <a:xfrm>
            <a:off x="1730499" y="2140359"/>
            <a:ext cx="3179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學習尋找影像內部的關聯性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2A56C805-04A5-8FCB-5E4B-56BAD5AA5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601" y="4790691"/>
            <a:ext cx="3316785" cy="104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94625F7-AEC5-4CC4-4BB3-65CF060624B7}"/>
              </a:ext>
            </a:extLst>
          </p:cNvPr>
          <p:cNvSpPr txBox="1"/>
          <p:nvPr/>
        </p:nvSpPr>
        <p:spPr>
          <a:xfrm>
            <a:off x="6373538" y="2140359"/>
            <a:ext cx="3179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學習尋找影像</a:t>
            </a:r>
            <a:r>
              <a:rPr kumimoji="1" lang="zh-TW" altLang="en-US" sz="2800" dirty="0">
                <a:solidFill>
                  <a:srgbClr val="FF0000"/>
                </a:solidFill>
              </a:rPr>
              <a:t>之間</a:t>
            </a:r>
            <a:r>
              <a:rPr kumimoji="1" lang="zh-TW" altLang="en-US" sz="2800" dirty="0"/>
              <a:t>的關聯性</a:t>
            </a:r>
          </a:p>
        </p:txBody>
      </p:sp>
    </p:spTree>
    <p:extLst>
      <p:ext uri="{BB962C8B-B14F-4D97-AF65-F5344CB8AC3E}">
        <p14:creationId xmlns:p14="http://schemas.microsoft.com/office/powerpoint/2010/main" val="296849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F7DF6-871A-CE94-2729-71EB3733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Contrastive Learning in Images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36DB21-9C24-8520-D84A-D29AED82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83490EC-3EF3-2DC1-497B-B9DBAD2BC5F4}"/>
              </a:ext>
            </a:extLst>
          </p:cNvPr>
          <p:cNvSpPr txBox="1"/>
          <p:nvPr/>
        </p:nvSpPr>
        <p:spPr>
          <a:xfrm>
            <a:off x="7192366" y="6010816"/>
            <a:ext cx="40766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[2] Right Figure source: Chen, Ting, et al. "A simple framework for contrastive learning of visual representations." ICLR 2020.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395E903-3B6A-53E0-0F87-214ACCCF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9" y="4006198"/>
            <a:ext cx="5676418" cy="141429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9F1EBF-8326-BDAB-9A48-B7182A32415E}"/>
              </a:ext>
            </a:extLst>
          </p:cNvPr>
          <p:cNvSpPr txBox="1"/>
          <p:nvPr/>
        </p:nvSpPr>
        <p:spPr>
          <a:xfrm>
            <a:off x="1251520" y="6010816"/>
            <a:ext cx="47844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[1] Left Figure source: </a:t>
            </a:r>
            <a:r>
              <a:rPr lang="en" altLang="zh-TW" sz="1100" dirty="0" err="1"/>
              <a:t>Schroff</a:t>
            </a:r>
            <a:r>
              <a:rPr lang="en" altLang="zh-TW" sz="1100" dirty="0"/>
              <a:t>, Florian, Dmitry </a:t>
            </a:r>
            <a:r>
              <a:rPr lang="en" altLang="zh-TW" sz="1100" dirty="0" err="1"/>
              <a:t>Kalenichenko</a:t>
            </a:r>
            <a:r>
              <a:rPr lang="en" altLang="zh-TW" sz="1100" dirty="0"/>
              <a:t>, and James Philbin. "</a:t>
            </a:r>
            <a:r>
              <a:rPr lang="en" altLang="zh-TW" sz="1100" dirty="0" err="1"/>
              <a:t>Facenet</a:t>
            </a:r>
            <a:r>
              <a:rPr lang="en" altLang="zh-TW" sz="1100" dirty="0"/>
              <a:t>: A unified embedding for face recognition and clustering." CVPR 2015.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1CF6A08-8CAA-77B1-F9F2-C593E2056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485" y="1982920"/>
            <a:ext cx="4811486" cy="3633163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4E9D95-413E-3188-B0D4-F846B50268E7}"/>
              </a:ext>
            </a:extLst>
          </p:cNvPr>
          <p:cNvSpPr txBox="1"/>
          <p:nvPr/>
        </p:nvSpPr>
        <p:spPr>
          <a:xfrm>
            <a:off x="6481960" y="5101962"/>
            <a:ext cx="172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Positive pairs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8F68E4-F5D0-AD2A-2134-81B73CAABA9C}"/>
              </a:ext>
            </a:extLst>
          </p:cNvPr>
          <p:cNvSpPr txBox="1"/>
          <p:nvPr/>
        </p:nvSpPr>
        <p:spPr>
          <a:xfrm>
            <a:off x="9144000" y="630256"/>
            <a:ext cx="2068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f (·): encoder network</a:t>
            </a:r>
          </a:p>
          <a:p>
            <a:r>
              <a:rPr lang="zh-TW" altLang="en-US" sz="1400" dirty="0"/>
              <a:t>g(·)</a:t>
            </a:r>
            <a:r>
              <a:rPr lang="en-US" altLang="zh-TW" sz="1400" dirty="0"/>
              <a:t>: </a:t>
            </a:r>
            <a:r>
              <a:rPr lang="zh-TW" altLang="en-US" sz="1400" dirty="0"/>
              <a:t>projection head</a:t>
            </a:r>
            <a:endParaRPr lang="en-US" altLang="zh-TW" sz="1400" dirty="0"/>
          </a:p>
          <a:p>
            <a:r>
              <a:rPr lang="en-US" altLang="zh-TW" sz="1400" dirty="0"/>
              <a:t>z: output logits</a:t>
            </a:r>
          </a:p>
        </p:txBody>
      </p:sp>
      <p:pic>
        <p:nvPicPr>
          <p:cNvPr id="15" name="圖片 14" descr="一張含有 哺乳動物, 貓, 家貓, 小型到中型大小的貓 的圖片&#10;&#10;自動產生的描述">
            <a:extLst>
              <a:ext uri="{FF2B5EF4-FFF2-40B4-BE49-F238E27FC236}">
                <a16:creationId xmlns:a16="http://schemas.microsoft.com/office/drawing/2014/main" id="{099B613B-C810-4676-5D64-BE9601FF06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33" y="4220208"/>
            <a:ext cx="648182" cy="648182"/>
          </a:xfrm>
          <a:prstGeom prst="rect">
            <a:avLst/>
          </a:prstGeom>
        </p:spPr>
      </p:pic>
      <p:pic>
        <p:nvPicPr>
          <p:cNvPr id="8" name="圖片 7" descr="一張含有 家貓, 貓, 哺乳動物, 小型到中型大小的貓 的圖片&#10;&#10;自動產生的描述">
            <a:extLst>
              <a:ext uri="{FF2B5EF4-FFF2-40B4-BE49-F238E27FC236}">
                <a16:creationId xmlns:a16="http://schemas.microsoft.com/office/drawing/2014/main" id="{B6900F88-9F4D-AC6F-B385-C5C9AF4A8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36" y="4228371"/>
            <a:ext cx="631856" cy="63185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6653E23-9542-385D-B10F-3452B78F9041}"/>
              </a:ext>
            </a:extLst>
          </p:cNvPr>
          <p:cNvSpPr/>
          <p:nvPr/>
        </p:nvSpPr>
        <p:spPr>
          <a:xfrm>
            <a:off x="6980162" y="4159471"/>
            <a:ext cx="4297438" cy="827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7B2ED59-07D8-4A25-CAD0-8B8123AE4755}"/>
              </a:ext>
            </a:extLst>
          </p:cNvPr>
          <p:cNvSpPr txBox="1"/>
          <p:nvPr/>
        </p:nvSpPr>
        <p:spPr>
          <a:xfrm>
            <a:off x="653142" y="1688321"/>
            <a:ext cx="5582119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The concept of contrastive learning is to maximize the agreement of positive pairs </a:t>
            </a:r>
            <a:r>
              <a:rPr kumimoji="1" lang="en" altLang="zh-TW" sz="2000" baseline="30000" dirty="0"/>
              <a:t>[1][2] </a:t>
            </a:r>
            <a:r>
              <a:rPr kumimoji="1" lang="en" altLang="zh-TW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A model will be able to learn the connections among similar data and dissimilar data.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9510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E9BBF-3706-2FC2-E3F6-975E3774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 data augmentation approaches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D05974-ACA8-7049-01CC-471372C5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26" name="Picture 2" descr="Example of basic image augmentation for cat image">
            <a:extLst>
              <a:ext uri="{FF2B5EF4-FFF2-40B4-BE49-F238E27FC236}">
                <a16:creationId xmlns:a16="http://schemas.microsoft.com/office/drawing/2014/main" id="{9DD6BC9C-AF47-35E2-0D2C-7FE88F9E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52" y="1804179"/>
            <a:ext cx="7573896" cy="426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B443EC-19BB-BF64-C184-AE3950B49294}"/>
              </a:ext>
            </a:extLst>
          </p:cNvPr>
          <p:cNvSpPr txBox="1"/>
          <p:nvPr/>
        </p:nvSpPr>
        <p:spPr>
          <a:xfrm>
            <a:off x="3899767" y="6415560"/>
            <a:ext cx="4392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Figure source: https://</a:t>
            </a:r>
            <a:r>
              <a:rPr lang="en" altLang="zh-TW" sz="1100" dirty="0" err="1"/>
              <a:t>www.ibm.com</a:t>
            </a:r>
            <a:r>
              <a:rPr lang="en" altLang="zh-TW" sz="1100" dirty="0"/>
              <a:t>/think/topics/data-augmentation</a:t>
            </a:r>
          </a:p>
        </p:txBody>
      </p:sp>
    </p:spTree>
    <p:extLst>
      <p:ext uri="{BB962C8B-B14F-4D97-AF65-F5344CB8AC3E}">
        <p14:creationId xmlns:p14="http://schemas.microsoft.com/office/powerpoint/2010/main" val="3296767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9BA7BC-4D96-14A1-2AEE-20075F30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Contrastive Learning Loss</a:t>
            </a:r>
            <a:r>
              <a:rPr kumimoji="1" lang="zh-TW" altLang="en-US" dirty="0"/>
              <a:t> </a:t>
            </a:r>
            <a:r>
              <a:rPr kumimoji="1"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07353-0EA9-B0EC-D05E-4CF5ECAE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E0353D-36DB-A57F-FB2A-A818007D8EEE}"/>
              </a:ext>
            </a:extLst>
          </p:cNvPr>
          <p:cNvSpPr txBox="1"/>
          <p:nvPr/>
        </p:nvSpPr>
        <p:spPr>
          <a:xfrm>
            <a:off x="1508873" y="6071025"/>
            <a:ext cx="40766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Chen, Ting, et al. “A simple framework for contrastive learning of visual representations</a:t>
            </a:r>
            <a:r>
              <a:rPr lang="zh-TW" altLang="en-US" sz="1100" dirty="0"/>
              <a:t> </a:t>
            </a:r>
            <a:r>
              <a:rPr lang="en-US" altLang="zh-TW" sz="1100" dirty="0"/>
              <a:t>(</a:t>
            </a:r>
            <a:r>
              <a:rPr lang="en-US" altLang="zh-TW" sz="1100" dirty="0" err="1"/>
              <a:t>SimCLR</a:t>
            </a:r>
            <a:r>
              <a:rPr lang="en-US" altLang="zh-TW" sz="1100" dirty="0"/>
              <a:t>)</a:t>
            </a:r>
            <a:r>
              <a:rPr lang="en" altLang="zh-TW" sz="1100" dirty="0"/>
              <a:t>." ICLR 2020.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BE9397F-C9D9-51D7-7591-8C0C11974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92" y="2043129"/>
            <a:ext cx="4811486" cy="363316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8A7AB86-2B29-B4D5-9410-34732CDF9D86}"/>
              </a:ext>
            </a:extLst>
          </p:cNvPr>
          <p:cNvSpPr txBox="1"/>
          <p:nvPr/>
        </p:nvSpPr>
        <p:spPr>
          <a:xfrm>
            <a:off x="798467" y="5162171"/>
            <a:ext cx="172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Positive pairs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pic>
        <p:nvPicPr>
          <p:cNvPr id="8" name="圖片 7" descr="一張含有 哺乳動物, 貓, 家貓, 小型到中型大小的貓 的圖片&#10;&#10;自動產生的描述">
            <a:extLst>
              <a:ext uri="{FF2B5EF4-FFF2-40B4-BE49-F238E27FC236}">
                <a16:creationId xmlns:a16="http://schemas.microsoft.com/office/drawing/2014/main" id="{92873FD1-B45A-8F1F-F008-BC4230832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640" y="4280417"/>
            <a:ext cx="648182" cy="648182"/>
          </a:xfrm>
          <a:prstGeom prst="rect">
            <a:avLst/>
          </a:prstGeom>
        </p:spPr>
      </p:pic>
      <p:pic>
        <p:nvPicPr>
          <p:cNvPr id="9" name="圖片 8" descr="一張含有 家貓, 貓, 哺乳動物, 小型到中型大小的貓 的圖片&#10;&#10;自動產生的描述">
            <a:extLst>
              <a:ext uri="{FF2B5EF4-FFF2-40B4-BE49-F238E27FC236}">
                <a16:creationId xmlns:a16="http://schemas.microsoft.com/office/drawing/2014/main" id="{9A587C34-B877-CD9F-E4E2-C415381333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4288580"/>
            <a:ext cx="631856" cy="6318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005EF64-B51A-E3A4-FDBF-DA2638028769}"/>
              </a:ext>
            </a:extLst>
          </p:cNvPr>
          <p:cNvSpPr/>
          <p:nvPr/>
        </p:nvSpPr>
        <p:spPr>
          <a:xfrm>
            <a:off x="1296669" y="4219680"/>
            <a:ext cx="4297438" cy="827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53CE6A9-A7DF-E7AC-E4D4-58886A38A425}"/>
              </a:ext>
            </a:extLst>
          </p:cNvPr>
          <p:cNvSpPr/>
          <p:nvPr/>
        </p:nvSpPr>
        <p:spPr>
          <a:xfrm>
            <a:off x="7038575" y="2236055"/>
            <a:ext cx="1536807" cy="2394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591CA16-4EB1-731F-3515-FEDA7AA171C3}"/>
              </a:ext>
            </a:extLst>
          </p:cNvPr>
          <p:cNvSpPr/>
          <p:nvPr/>
        </p:nvSpPr>
        <p:spPr>
          <a:xfrm>
            <a:off x="9114674" y="2236054"/>
            <a:ext cx="1536807" cy="23941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EBA8450-F84F-8D09-60D3-2108A9657507}"/>
              </a:ext>
            </a:extLst>
          </p:cNvPr>
          <p:cNvSpPr txBox="1"/>
          <p:nvPr/>
        </p:nvSpPr>
        <p:spPr>
          <a:xfrm>
            <a:off x="7274076" y="1715370"/>
            <a:ext cx="9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Batch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E01238-CF14-FA69-9D81-0FAF454A04EA}"/>
              </a:ext>
            </a:extLst>
          </p:cNvPr>
          <p:cNvSpPr txBox="1"/>
          <p:nvPr/>
        </p:nvSpPr>
        <p:spPr>
          <a:xfrm>
            <a:off x="9174224" y="1575811"/>
            <a:ext cx="1432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Batch ( After DA)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9E912D-47A8-F3FA-AAEE-8FE0D557F208}"/>
                  </a:ext>
                </a:extLst>
              </p:cNvPr>
              <p:cNvSpPr txBox="1"/>
              <p:nvPr/>
            </p:nvSpPr>
            <p:spPr>
              <a:xfrm>
                <a:off x="7499616" y="2392079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9E912D-47A8-F3FA-AAEE-8FE0D557F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616" y="2392079"/>
                <a:ext cx="614723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E4924D-F7CD-17C5-E415-E4A7A049BD05}"/>
                  </a:ext>
                </a:extLst>
              </p:cNvPr>
              <p:cNvSpPr txBox="1"/>
              <p:nvPr/>
            </p:nvSpPr>
            <p:spPr>
              <a:xfrm>
                <a:off x="9575715" y="2392079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E4924D-F7CD-17C5-E415-E4A7A049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15" y="2392079"/>
                <a:ext cx="614723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D05F8DF-046B-FC2E-B89C-07B50DA5076B}"/>
                  </a:ext>
                </a:extLst>
              </p:cNvPr>
              <p:cNvSpPr txBox="1"/>
              <p:nvPr/>
            </p:nvSpPr>
            <p:spPr>
              <a:xfrm>
                <a:off x="7499616" y="3160106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D05F8DF-046B-FC2E-B89C-07B50DA5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616" y="3160106"/>
                <a:ext cx="614723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487BAF-A7AD-6A06-625C-C961105632BE}"/>
                  </a:ext>
                </a:extLst>
              </p:cNvPr>
              <p:cNvSpPr txBox="1"/>
              <p:nvPr/>
            </p:nvSpPr>
            <p:spPr>
              <a:xfrm>
                <a:off x="9575715" y="3160106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487BAF-A7AD-6A06-625C-C96110563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15" y="3160106"/>
                <a:ext cx="614723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3C4530-88C5-024B-C60D-4BC5C1E7CAB6}"/>
                  </a:ext>
                </a:extLst>
              </p:cNvPr>
              <p:cNvSpPr txBox="1"/>
              <p:nvPr/>
            </p:nvSpPr>
            <p:spPr>
              <a:xfrm>
                <a:off x="7499616" y="3928133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3C4530-88C5-024B-C60D-4BC5C1E7C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616" y="3928133"/>
                <a:ext cx="614723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2514445-7900-CBCA-756D-E32154DE2707}"/>
                  </a:ext>
                </a:extLst>
              </p:cNvPr>
              <p:cNvSpPr txBox="1"/>
              <p:nvPr/>
            </p:nvSpPr>
            <p:spPr>
              <a:xfrm>
                <a:off x="9575715" y="3928133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2514445-7900-CBCA-756D-E32154DE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15" y="3928133"/>
                <a:ext cx="614723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4424CC-242D-548D-F9B3-3B8C6BE74022}"/>
                  </a:ext>
                </a:extLst>
              </p:cNvPr>
              <p:cNvSpPr txBox="1"/>
              <p:nvPr/>
            </p:nvSpPr>
            <p:spPr>
              <a:xfrm>
                <a:off x="6543722" y="5069838"/>
                <a:ext cx="564827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為例：</a:t>
                </a:r>
                <a:endParaRPr kumimoji="1" lang="en-US" altLang="zh-TW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正樣本對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-&gt;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負樣本對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-&gt;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kumimoji="1" lang="zh-TW" altLang="en-US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4424CC-242D-548D-F9B3-3B8C6BE74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722" y="5069838"/>
                <a:ext cx="5648278" cy="923330"/>
              </a:xfrm>
              <a:prstGeom prst="rect">
                <a:avLst/>
              </a:prstGeom>
              <a:blipFill>
                <a:blip r:embed="rId12"/>
                <a:stretch>
                  <a:fillRect l="-897" t="-4110" b="-109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0A21C09-E496-89A3-982E-2A15BA937B87}"/>
                  </a:ext>
                </a:extLst>
              </p:cNvPr>
              <p:cNvSpPr txBox="1"/>
              <p:nvPr/>
            </p:nvSpPr>
            <p:spPr>
              <a:xfrm>
                <a:off x="9007457" y="626008"/>
                <a:ext cx="263500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dirty="0"/>
                  <a:t>DA: data augmentation</a:t>
                </a:r>
                <a:endParaRPr kumimoji="1" lang="zh-TW" altLang="en-US" dirty="0"/>
              </a:p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</a:t>
                </a:r>
                <a:r>
                  <a:rPr kumimoji="1" lang="zh-TW" altLang="en-US" dirty="0"/>
                  <a:t> </a:t>
                </a:r>
                <a:r>
                  <a:rPr kumimoji="1" lang="en-US" altLang="zh-TW" sz="1800" b="0" dirty="0" err="1"/>
                  <a:t>Batch_size</a:t>
                </a:r>
                <a:r>
                  <a:rPr kumimoji="1" lang="en-US" altLang="zh-TW" sz="1800" b="0" dirty="0"/>
                  <a:t> </a:t>
                </a:r>
                <a:r>
                  <a:rPr kumimoji="1" lang="zh-TW" altLang="en-US" sz="1800" b="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</a:t>
                </a:r>
                <a14:m>
                  <m:oMath xmlns:m="http://schemas.openxmlformats.org/officeDocument/2006/math">
                    <m:r>
                      <a:rPr kumimoji="1" lang="en-US" altLang="zh-TW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0A21C09-E496-89A3-982E-2A15BA937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457" y="626008"/>
                <a:ext cx="2635002" cy="646331"/>
              </a:xfrm>
              <a:prstGeom prst="rect">
                <a:avLst/>
              </a:prstGeom>
              <a:blipFill>
                <a:blip r:embed="rId13"/>
                <a:stretch>
                  <a:fillRect l="-1923" t="-3846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B555B86E-41B7-2F91-D37F-EABD9BF3B8A5}"/>
              </a:ext>
            </a:extLst>
          </p:cNvPr>
          <p:cNvSpPr/>
          <p:nvPr/>
        </p:nvSpPr>
        <p:spPr>
          <a:xfrm>
            <a:off x="7274076" y="2367212"/>
            <a:ext cx="3177620" cy="597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B89EC4-937D-6939-5478-50FC240DF4B1}"/>
              </a:ext>
            </a:extLst>
          </p:cNvPr>
          <p:cNvSpPr/>
          <p:nvPr/>
        </p:nvSpPr>
        <p:spPr>
          <a:xfrm rot="1105724">
            <a:off x="7285659" y="2770229"/>
            <a:ext cx="3177620" cy="5972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77494D-F2AE-A155-0D35-1A0E1B6D34C9}"/>
              </a:ext>
            </a:extLst>
          </p:cNvPr>
          <p:cNvSpPr/>
          <p:nvPr/>
        </p:nvSpPr>
        <p:spPr>
          <a:xfrm rot="2116191">
            <a:off x="7215288" y="3170389"/>
            <a:ext cx="3177620" cy="5972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12EF42-D823-6064-4442-8C01866E15C8}"/>
              </a:ext>
            </a:extLst>
          </p:cNvPr>
          <p:cNvSpPr/>
          <p:nvPr/>
        </p:nvSpPr>
        <p:spPr>
          <a:xfrm>
            <a:off x="7856061" y="5684174"/>
            <a:ext cx="3715453" cy="30899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A34B14-5AF4-ADFF-7979-B76B2C32E92B}"/>
              </a:ext>
            </a:extLst>
          </p:cNvPr>
          <p:cNvSpPr/>
          <p:nvPr/>
        </p:nvSpPr>
        <p:spPr>
          <a:xfrm>
            <a:off x="1290016" y="1988776"/>
            <a:ext cx="4297438" cy="6318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C5E2F9-2133-E041-90EB-FB4BABBC3E79}"/>
              </a:ext>
            </a:extLst>
          </p:cNvPr>
          <p:cNvSpPr/>
          <p:nvPr/>
        </p:nvSpPr>
        <p:spPr>
          <a:xfrm rot="5400000">
            <a:off x="7136762" y="2736473"/>
            <a:ext cx="1245915" cy="5571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手繪多邊形 29">
            <a:extLst>
              <a:ext uri="{FF2B5EF4-FFF2-40B4-BE49-F238E27FC236}">
                <a16:creationId xmlns:a16="http://schemas.microsoft.com/office/drawing/2014/main" id="{6A0120E9-E783-F0D0-8A9C-BEA2C7064913}"/>
              </a:ext>
            </a:extLst>
          </p:cNvPr>
          <p:cNvSpPr/>
          <p:nvPr/>
        </p:nvSpPr>
        <p:spPr>
          <a:xfrm>
            <a:off x="6858000" y="2244436"/>
            <a:ext cx="1205992" cy="2303750"/>
          </a:xfrm>
          <a:custGeom>
            <a:avLst/>
            <a:gdLst>
              <a:gd name="connsiteX0" fmla="*/ 1143000 w 1205992"/>
              <a:gd name="connsiteY0" fmla="*/ 1631373 h 2303750"/>
              <a:gd name="connsiteX1" fmla="*/ 1194955 w 1205992"/>
              <a:gd name="connsiteY1" fmla="*/ 1714500 h 2303750"/>
              <a:gd name="connsiteX2" fmla="*/ 1205345 w 1205992"/>
              <a:gd name="connsiteY2" fmla="*/ 1756064 h 2303750"/>
              <a:gd name="connsiteX3" fmla="*/ 1194955 w 1205992"/>
              <a:gd name="connsiteY3" fmla="*/ 2161309 h 2303750"/>
              <a:gd name="connsiteX4" fmla="*/ 1153391 w 1205992"/>
              <a:gd name="connsiteY4" fmla="*/ 2223655 h 2303750"/>
              <a:gd name="connsiteX5" fmla="*/ 1059873 w 1205992"/>
              <a:gd name="connsiteY5" fmla="*/ 2254828 h 2303750"/>
              <a:gd name="connsiteX6" fmla="*/ 945573 w 1205992"/>
              <a:gd name="connsiteY6" fmla="*/ 2275609 h 2303750"/>
              <a:gd name="connsiteX7" fmla="*/ 540327 w 1205992"/>
              <a:gd name="connsiteY7" fmla="*/ 2275609 h 2303750"/>
              <a:gd name="connsiteX8" fmla="*/ 477982 w 1205992"/>
              <a:gd name="connsiteY8" fmla="*/ 2254828 h 2303750"/>
              <a:gd name="connsiteX9" fmla="*/ 436418 w 1205992"/>
              <a:gd name="connsiteY9" fmla="*/ 2223655 h 2303750"/>
              <a:gd name="connsiteX10" fmla="*/ 374073 w 1205992"/>
              <a:gd name="connsiteY10" fmla="*/ 2171700 h 2303750"/>
              <a:gd name="connsiteX11" fmla="*/ 353291 w 1205992"/>
              <a:gd name="connsiteY11" fmla="*/ 2140528 h 2303750"/>
              <a:gd name="connsiteX12" fmla="*/ 322118 w 1205992"/>
              <a:gd name="connsiteY12" fmla="*/ 2109355 h 2303750"/>
              <a:gd name="connsiteX13" fmla="*/ 311727 w 1205992"/>
              <a:gd name="connsiteY13" fmla="*/ 2078182 h 2303750"/>
              <a:gd name="connsiteX14" fmla="*/ 280555 w 1205992"/>
              <a:gd name="connsiteY14" fmla="*/ 2047009 h 2303750"/>
              <a:gd name="connsiteX15" fmla="*/ 207818 w 1205992"/>
              <a:gd name="connsiteY15" fmla="*/ 1932709 h 2303750"/>
              <a:gd name="connsiteX16" fmla="*/ 176645 w 1205992"/>
              <a:gd name="connsiteY16" fmla="*/ 1870364 h 2303750"/>
              <a:gd name="connsiteX17" fmla="*/ 155864 w 1205992"/>
              <a:gd name="connsiteY17" fmla="*/ 1797628 h 2303750"/>
              <a:gd name="connsiteX18" fmla="*/ 135082 w 1205992"/>
              <a:gd name="connsiteY18" fmla="*/ 1735282 h 2303750"/>
              <a:gd name="connsiteX19" fmla="*/ 114300 w 1205992"/>
              <a:gd name="connsiteY19" fmla="*/ 1672937 h 2303750"/>
              <a:gd name="connsiteX20" fmla="*/ 103909 w 1205992"/>
              <a:gd name="connsiteY20" fmla="*/ 1641764 h 2303750"/>
              <a:gd name="connsiteX21" fmla="*/ 93518 w 1205992"/>
              <a:gd name="connsiteY21" fmla="*/ 1610591 h 2303750"/>
              <a:gd name="connsiteX22" fmla="*/ 72736 w 1205992"/>
              <a:gd name="connsiteY22" fmla="*/ 1506682 h 2303750"/>
              <a:gd name="connsiteX23" fmla="*/ 62345 w 1205992"/>
              <a:gd name="connsiteY23" fmla="*/ 1465119 h 2303750"/>
              <a:gd name="connsiteX24" fmla="*/ 51955 w 1205992"/>
              <a:gd name="connsiteY24" fmla="*/ 1392382 h 2303750"/>
              <a:gd name="connsiteX25" fmla="*/ 31173 w 1205992"/>
              <a:gd name="connsiteY25" fmla="*/ 1267691 h 2303750"/>
              <a:gd name="connsiteX26" fmla="*/ 20782 w 1205992"/>
              <a:gd name="connsiteY26" fmla="*/ 1215737 h 2303750"/>
              <a:gd name="connsiteX27" fmla="*/ 10391 w 1205992"/>
              <a:gd name="connsiteY27" fmla="*/ 1143000 h 2303750"/>
              <a:gd name="connsiteX28" fmla="*/ 0 w 1205992"/>
              <a:gd name="connsiteY28" fmla="*/ 841664 h 2303750"/>
              <a:gd name="connsiteX29" fmla="*/ 10391 w 1205992"/>
              <a:gd name="connsiteY29" fmla="*/ 529937 h 2303750"/>
              <a:gd name="connsiteX30" fmla="*/ 20782 w 1205992"/>
              <a:gd name="connsiteY30" fmla="*/ 477982 h 2303750"/>
              <a:gd name="connsiteX31" fmla="*/ 51955 w 1205992"/>
              <a:gd name="connsiteY31" fmla="*/ 374073 h 2303750"/>
              <a:gd name="connsiteX32" fmla="*/ 72736 w 1205992"/>
              <a:gd name="connsiteY32" fmla="*/ 301337 h 2303750"/>
              <a:gd name="connsiteX33" fmla="*/ 124691 w 1205992"/>
              <a:gd name="connsiteY33" fmla="*/ 238991 h 2303750"/>
              <a:gd name="connsiteX34" fmla="*/ 166255 w 1205992"/>
              <a:gd name="connsiteY34" fmla="*/ 176646 h 2303750"/>
              <a:gd name="connsiteX35" fmla="*/ 259773 w 1205992"/>
              <a:gd name="connsiteY35" fmla="*/ 114300 h 2303750"/>
              <a:gd name="connsiteX36" fmla="*/ 322118 w 1205992"/>
              <a:gd name="connsiteY36" fmla="*/ 83128 h 2303750"/>
              <a:gd name="connsiteX37" fmla="*/ 384464 w 1205992"/>
              <a:gd name="connsiteY37" fmla="*/ 51955 h 2303750"/>
              <a:gd name="connsiteX38" fmla="*/ 415636 w 1205992"/>
              <a:gd name="connsiteY38" fmla="*/ 31173 h 2303750"/>
              <a:gd name="connsiteX39" fmla="*/ 561109 w 1205992"/>
              <a:gd name="connsiteY39" fmla="*/ 0 h 2303750"/>
              <a:gd name="connsiteX40" fmla="*/ 852055 w 1205992"/>
              <a:gd name="connsiteY40" fmla="*/ 10391 h 2303750"/>
              <a:gd name="connsiteX41" fmla="*/ 893618 w 1205992"/>
              <a:gd name="connsiteY41" fmla="*/ 20782 h 2303750"/>
              <a:gd name="connsiteX42" fmla="*/ 1039091 w 1205992"/>
              <a:gd name="connsiteY42" fmla="*/ 103909 h 2303750"/>
              <a:gd name="connsiteX43" fmla="*/ 1101436 w 1205992"/>
              <a:gd name="connsiteY43" fmla="*/ 166255 h 2303750"/>
              <a:gd name="connsiteX44" fmla="*/ 1122218 w 1205992"/>
              <a:gd name="connsiteY44" fmla="*/ 228600 h 2303750"/>
              <a:gd name="connsiteX45" fmla="*/ 1132609 w 1205992"/>
              <a:gd name="connsiteY45" fmla="*/ 259773 h 2303750"/>
              <a:gd name="connsiteX46" fmla="*/ 1143000 w 1205992"/>
              <a:gd name="connsiteY46" fmla="*/ 311728 h 2303750"/>
              <a:gd name="connsiteX47" fmla="*/ 1132609 w 1205992"/>
              <a:gd name="connsiteY47" fmla="*/ 426028 h 2303750"/>
              <a:gd name="connsiteX48" fmla="*/ 1028700 w 1205992"/>
              <a:gd name="connsiteY48" fmla="*/ 529937 h 2303750"/>
              <a:gd name="connsiteX49" fmla="*/ 997527 w 1205992"/>
              <a:gd name="connsiteY49" fmla="*/ 540328 h 2303750"/>
              <a:gd name="connsiteX50" fmla="*/ 935182 w 1205992"/>
              <a:gd name="connsiteY50" fmla="*/ 581891 h 2303750"/>
              <a:gd name="connsiteX51" fmla="*/ 872836 w 1205992"/>
              <a:gd name="connsiteY51" fmla="*/ 613064 h 2303750"/>
              <a:gd name="connsiteX52" fmla="*/ 841664 w 1205992"/>
              <a:gd name="connsiteY52" fmla="*/ 623455 h 2303750"/>
              <a:gd name="connsiteX53" fmla="*/ 810491 w 1205992"/>
              <a:gd name="connsiteY53" fmla="*/ 644237 h 2303750"/>
              <a:gd name="connsiteX54" fmla="*/ 748145 w 1205992"/>
              <a:gd name="connsiteY54" fmla="*/ 675409 h 2303750"/>
              <a:gd name="connsiteX55" fmla="*/ 696191 w 1205992"/>
              <a:gd name="connsiteY55" fmla="*/ 727364 h 2303750"/>
              <a:gd name="connsiteX56" fmla="*/ 644236 w 1205992"/>
              <a:gd name="connsiteY56" fmla="*/ 789709 h 2303750"/>
              <a:gd name="connsiteX57" fmla="*/ 633845 w 1205992"/>
              <a:gd name="connsiteY57" fmla="*/ 820882 h 2303750"/>
              <a:gd name="connsiteX58" fmla="*/ 592282 w 1205992"/>
              <a:gd name="connsiteY58" fmla="*/ 883228 h 2303750"/>
              <a:gd name="connsiteX59" fmla="*/ 571500 w 1205992"/>
              <a:gd name="connsiteY59" fmla="*/ 987137 h 2303750"/>
              <a:gd name="connsiteX60" fmla="*/ 581891 w 1205992"/>
              <a:gd name="connsiteY60" fmla="*/ 1184564 h 2303750"/>
              <a:gd name="connsiteX61" fmla="*/ 644236 w 1205992"/>
              <a:gd name="connsiteY61" fmla="*/ 1309255 h 2303750"/>
              <a:gd name="connsiteX62" fmla="*/ 675409 w 1205992"/>
              <a:gd name="connsiteY62" fmla="*/ 1330037 h 2303750"/>
              <a:gd name="connsiteX63" fmla="*/ 727364 w 1205992"/>
              <a:gd name="connsiteY63" fmla="*/ 1371600 h 2303750"/>
              <a:gd name="connsiteX64" fmla="*/ 748145 w 1205992"/>
              <a:gd name="connsiteY64" fmla="*/ 1402773 h 2303750"/>
              <a:gd name="connsiteX65" fmla="*/ 810491 w 1205992"/>
              <a:gd name="connsiteY65" fmla="*/ 1433946 h 2303750"/>
              <a:gd name="connsiteX66" fmla="*/ 904009 w 1205992"/>
              <a:gd name="connsiteY66" fmla="*/ 1496291 h 2303750"/>
              <a:gd name="connsiteX67" fmla="*/ 935182 w 1205992"/>
              <a:gd name="connsiteY67" fmla="*/ 1517073 h 2303750"/>
              <a:gd name="connsiteX68" fmla="*/ 966355 w 1205992"/>
              <a:gd name="connsiteY68" fmla="*/ 1527464 h 2303750"/>
              <a:gd name="connsiteX69" fmla="*/ 1059873 w 1205992"/>
              <a:gd name="connsiteY69" fmla="*/ 1579419 h 2303750"/>
              <a:gd name="connsiteX70" fmla="*/ 1143000 w 1205992"/>
              <a:gd name="connsiteY70" fmla="*/ 1631373 h 230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205992" h="2303750">
                <a:moveTo>
                  <a:pt x="1143000" y="1631373"/>
                </a:moveTo>
                <a:cubicBezTo>
                  <a:pt x="1165514" y="1653886"/>
                  <a:pt x="1180342" y="1685274"/>
                  <a:pt x="1194955" y="1714500"/>
                </a:cubicBezTo>
                <a:cubicBezTo>
                  <a:pt x="1201342" y="1727273"/>
                  <a:pt x="1205345" y="1741783"/>
                  <a:pt x="1205345" y="1756064"/>
                </a:cubicBezTo>
                <a:cubicBezTo>
                  <a:pt x="1205345" y="1891190"/>
                  <a:pt x="1209877" y="2027009"/>
                  <a:pt x="1194955" y="2161309"/>
                </a:cubicBezTo>
                <a:cubicBezTo>
                  <a:pt x="1192197" y="2186133"/>
                  <a:pt x="1177622" y="2217597"/>
                  <a:pt x="1153391" y="2223655"/>
                </a:cubicBezTo>
                <a:cubicBezTo>
                  <a:pt x="993871" y="2263535"/>
                  <a:pt x="1255513" y="2196136"/>
                  <a:pt x="1059873" y="2254828"/>
                </a:cubicBezTo>
                <a:cubicBezTo>
                  <a:pt x="1041714" y="2260276"/>
                  <a:pt x="960379" y="2273142"/>
                  <a:pt x="945573" y="2275609"/>
                </a:cubicBezTo>
                <a:cubicBezTo>
                  <a:pt x="799708" y="2324231"/>
                  <a:pt x="883828" y="2300144"/>
                  <a:pt x="540327" y="2275609"/>
                </a:cubicBezTo>
                <a:cubicBezTo>
                  <a:pt x="518477" y="2274048"/>
                  <a:pt x="477982" y="2254828"/>
                  <a:pt x="477982" y="2254828"/>
                </a:cubicBezTo>
                <a:cubicBezTo>
                  <a:pt x="464127" y="2244437"/>
                  <a:pt x="449567" y="2234926"/>
                  <a:pt x="436418" y="2223655"/>
                </a:cubicBezTo>
                <a:cubicBezTo>
                  <a:pt x="366409" y="2163647"/>
                  <a:pt x="442972" y="2217634"/>
                  <a:pt x="374073" y="2171700"/>
                </a:cubicBezTo>
                <a:cubicBezTo>
                  <a:pt x="367146" y="2161309"/>
                  <a:pt x="361286" y="2150122"/>
                  <a:pt x="353291" y="2140528"/>
                </a:cubicBezTo>
                <a:cubicBezTo>
                  <a:pt x="343883" y="2129239"/>
                  <a:pt x="330269" y="2121582"/>
                  <a:pt x="322118" y="2109355"/>
                </a:cubicBezTo>
                <a:cubicBezTo>
                  <a:pt x="316042" y="2100241"/>
                  <a:pt x="317803" y="2087296"/>
                  <a:pt x="311727" y="2078182"/>
                </a:cubicBezTo>
                <a:cubicBezTo>
                  <a:pt x="303576" y="2065955"/>
                  <a:pt x="288444" y="2059407"/>
                  <a:pt x="280555" y="2047009"/>
                </a:cubicBezTo>
                <a:cubicBezTo>
                  <a:pt x="196320" y="1914640"/>
                  <a:pt x="278020" y="2002911"/>
                  <a:pt x="207818" y="1932709"/>
                </a:cubicBezTo>
                <a:cubicBezTo>
                  <a:pt x="181697" y="1854348"/>
                  <a:pt x="216935" y="1950947"/>
                  <a:pt x="176645" y="1870364"/>
                </a:cubicBezTo>
                <a:cubicBezTo>
                  <a:pt x="167918" y="1852910"/>
                  <a:pt x="160855" y="1814265"/>
                  <a:pt x="155864" y="1797628"/>
                </a:cubicBezTo>
                <a:cubicBezTo>
                  <a:pt x="149569" y="1776646"/>
                  <a:pt x="142009" y="1756064"/>
                  <a:pt x="135082" y="1735282"/>
                </a:cubicBezTo>
                <a:lnTo>
                  <a:pt x="114300" y="1672937"/>
                </a:lnTo>
                <a:lnTo>
                  <a:pt x="103909" y="1641764"/>
                </a:lnTo>
                <a:cubicBezTo>
                  <a:pt x="100445" y="1631373"/>
                  <a:pt x="95666" y="1621331"/>
                  <a:pt x="93518" y="1610591"/>
                </a:cubicBezTo>
                <a:cubicBezTo>
                  <a:pt x="86591" y="1575955"/>
                  <a:pt x="81303" y="1540950"/>
                  <a:pt x="72736" y="1506682"/>
                </a:cubicBezTo>
                <a:cubicBezTo>
                  <a:pt x="69272" y="1492828"/>
                  <a:pt x="64900" y="1479169"/>
                  <a:pt x="62345" y="1465119"/>
                </a:cubicBezTo>
                <a:cubicBezTo>
                  <a:pt x="57964" y="1441022"/>
                  <a:pt x="55775" y="1416574"/>
                  <a:pt x="51955" y="1392382"/>
                </a:cubicBezTo>
                <a:cubicBezTo>
                  <a:pt x="45383" y="1350761"/>
                  <a:pt x="39437" y="1309010"/>
                  <a:pt x="31173" y="1267691"/>
                </a:cubicBezTo>
                <a:cubicBezTo>
                  <a:pt x="27709" y="1250373"/>
                  <a:pt x="23685" y="1233158"/>
                  <a:pt x="20782" y="1215737"/>
                </a:cubicBezTo>
                <a:cubicBezTo>
                  <a:pt x="16756" y="1191578"/>
                  <a:pt x="13855" y="1167246"/>
                  <a:pt x="10391" y="1143000"/>
                </a:cubicBezTo>
                <a:cubicBezTo>
                  <a:pt x="6927" y="1042555"/>
                  <a:pt x="0" y="942169"/>
                  <a:pt x="0" y="841664"/>
                </a:cubicBezTo>
                <a:cubicBezTo>
                  <a:pt x="0" y="737697"/>
                  <a:pt x="4460" y="633734"/>
                  <a:pt x="10391" y="529937"/>
                </a:cubicBezTo>
                <a:cubicBezTo>
                  <a:pt x="11399" y="512304"/>
                  <a:pt x="16951" y="495223"/>
                  <a:pt x="20782" y="477982"/>
                </a:cubicBezTo>
                <a:cubicBezTo>
                  <a:pt x="53792" y="329439"/>
                  <a:pt x="111" y="581471"/>
                  <a:pt x="51955" y="374073"/>
                </a:cubicBezTo>
                <a:cubicBezTo>
                  <a:pt x="55285" y="360750"/>
                  <a:pt x="65280" y="316248"/>
                  <a:pt x="72736" y="301337"/>
                </a:cubicBezTo>
                <a:cubicBezTo>
                  <a:pt x="95015" y="256779"/>
                  <a:pt x="92517" y="280357"/>
                  <a:pt x="124691" y="238991"/>
                </a:cubicBezTo>
                <a:cubicBezTo>
                  <a:pt x="140025" y="219276"/>
                  <a:pt x="145473" y="190501"/>
                  <a:pt x="166255" y="176646"/>
                </a:cubicBezTo>
                <a:lnTo>
                  <a:pt x="259773" y="114300"/>
                </a:lnTo>
                <a:cubicBezTo>
                  <a:pt x="349108" y="54744"/>
                  <a:pt x="236078" y="126148"/>
                  <a:pt x="322118" y="83128"/>
                </a:cubicBezTo>
                <a:cubicBezTo>
                  <a:pt x="402691" y="42841"/>
                  <a:pt x="306110" y="78073"/>
                  <a:pt x="384464" y="51955"/>
                </a:cubicBezTo>
                <a:cubicBezTo>
                  <a:pt x="394855" y="45028"/>
                  <a:pt x="403900" y="35441"/>
                  <a:pt x="415636" y="31173"/>
                </a:cubicBezTo>
                <a:cubicBezTo>
                  <a:pt x="459451" y="15240"/>
                  <a:pt x="514665" y="7741"/>
                  <a:pt x="561109" y="0"/>
                </a:cubicBezTo>
                <a:cubicBezTo>
                  <a:pt x="658091" y="3464"/>
                  <a:pt x="755200" y="4338"/>
                  <a:pt x="852055" y="10391"/>
                </a:cubicBezTo>
                <a:cubicBezTo>
                  <a:pt x="866308" y="11282"/>
                  <a:pt x="880436" y="15289"/>
                  <a:pt x="893618" y="20782"/>
                </a:cubicBezTo>
                <a:cubicBezTo>
                  <a:pt x="921555" y="32423"/>
                  <a:pt x="1013475" y="78293"/>
                  <a:pt x="1039091" y="103909"/>
                </a:cubicBezTo>
                <a:lnTo>
                  <a:pt x="1101436" y="166255"/>
                </a:lnTo>
                <a:lnTo>
                  <a:pt x="1122218" y="228600"/>
                </a:lnTo>
                <a:cubicBezTo>
                  <a:pt x="1125682" y="238991"/>
                  <a:pt x="1130461" y="249033"/>
                  <a:pt x="1132609" y="259773"/>
                </a:cubicBezTo>
                <a:lnTo>
                  <a:pt x="1143000" y="311728"/>
                </a:lnTo>
                <a:cubicBezTo>
                  <a:pt x="1139536" y="349828"/>
                  <a:pt x="1143404" y="389325"/>
                  <a:pt x="1132609" y="426028"/>
                </a:cubicBezTo>
                <a:cubicBezTo>
                  <a:pt x="1120562" y="466988"/>
                  <a:pt x="1068455" y="516685"/>
                  <a:pt x="1028700" y="529937"/>
                </a:cubicBezTo>
                <a:cubicBezTo>
                  <a:pt x="1018309" y="533401"/>
                  <a:pt x="1007102" y="535009"/>
                  <a:pt x="997527" y="540328"/>
                </a:cubicBezTo>
                <a:cubicBezTo>
                  <a:pt x="975694" y="552458"/>
                  <a:pt x="958877" y="573993"/>
                  <a:pt x="935182" y="581891"/>
                </a:cubicBezTo>
                <a:cubicBezTo>
                  <a:pt x="856831" y="608008"/>
                  <a:pt x="953405" y="572779"/>
                  <a:pt x="872836" y="613064"/>
                </a:cubicBezTo>
                <a:cubicBezTo>
                  <a:pt x="863040" y="617962"/>
                  <a:pt x="851460" y="618557"/>
                  <a:pt x="841664" y="623455"/>
                </a:cubicBezTo>
                <a:cubicBezTo>
                  <a:pt x="830494" y="629040"/>
                  <a:pt x="821661" y="638652"/>
                  <a:pt x="810491" y="644237"/>
                </a:cubicBezTo>
                <a:cubicBezTo>
                  <a:pt x="724442" y="687262"/>
                  <a:pt x="837491" y="615848"/>
                  <a:pt x="748145" y="675409"/>
                </a:cubicBezTo>
                <a:cubicBezTo>
                  <a:pt x="710047" y="732558"/>
                  <a:pt x="748145" y="684069"/>
                  <a:pt x="696191" y="727364"/>
                </a:cubicBezTo>
                <a:cubicBezTo>
                  <a:pt x="666189" y="752366"/>
                  <a:pt x="664670" y="759059"/>
                  <a:pt x="644236" y="789709"/>
                </a:cubicBezTo>
                <a:cubicBezTo>
                  <a:pt x="640772" y="800100"/>
                  <a:pt x="639164" y="811307"/>
                  <a:pt x="633845" y="820882"/>
                </a:cubicBezTo>
                <a:cubicBezTo>
                  <a:pt x="621715" y="842716"/>
                  <a:pt x="592282" y="883228"/>
                  <a:pt x="592282" y="883228"/>
                </a:cubicBezTo>
                <a:cubicBezTo>
                  <a:pt x="585416" y="910693"/>
                  <a:pt x="571500" y="961658"/>
                  <a:pt x="571500" y="987137"/>
                </a:cubicBezTo>
                <a:cubicBezTo>
                  <a:pt x="571500" y="1053037"/>
                  <a:pt x="574039" y="1119133"/>
                  <a:pt x="581891" y="1184564"/>
                </a:cubicBezTo>
                <a:cubicBezTo>
                  <a:pt x="585499" y="1214629"/>
                  <a:pt x="619109" y="1292504"/>
                  <a:pt x="644236" y="1309255"/>
                </a:cubicBezTo>
                <a:lnTo>
                  <a:pt x="675409" y="1330037"/>
                </a:lnTo>
                <a:cubicBezTo>
                  <a:pt x="734971" y="1419377"/>
                  <a:pt x="655660" y="1314236"/>
                  <a:pt x="727364" y="1371600"/>
                </a:cubicBezTo>
                <a:cubicBezTo>
                  <a:pt x="737116" y="1379401"/>
                  <a:pt x="739315" y="1393942"/>
                  <a:pt x="748145" y="1402773"/>
                </a:cubicBezTo>
                <a:cubicBezTo>
                  <a:pt x="782740" y="1437369"/>
                  <a:pt x="772462" y="1412819"/>
                  <a:pt x="810491" y="1433946"/>
                </a:cubicBezTo>
                <a:lnTo>
                  <a:pt x="904009" y="1496291"/>
                </a:lnTo>
                <a:cubicBezTo>
                  <a:pt x="914400" y="1503218"/>
                  <a:pt x="923334" y="1513124"/>
                  <a:pt x="935182" y="1517073"/>
                </a:cubicBezTo>
                <a:lnTo>
                  <a:pt x="966355" y="1527464"/>
                </a:lnTo>
                <a:cubicBezTo>
                  <a:pt x="1037813" y="1575104"/>
                  <a:pt x="1005005" y="1561130"/>
                  <a:pt x="1059873" y="1579419"/>
                </a:cubicBezTo>
                <a:cubicBezTo>
                  <a:pt x="1104153" y="1645840"/>
                  <a:pt x="1120486" y="1608860"/>
                  <a:pt x="1143000" y="1631373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448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 animBg="1"/>
      <p:bldP spid="3" grpId="0" animBg="1"/>
      <p:bldP spid="15" grpId="0" animBg="1"/>
      <p:bldP spid="23" grpId="0" animBg="1"/>
      <p:bldP spid="26" grpId="0" animBg="1"/>
      <p:bldP spid="27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9BA7BC-4D96-14A1-2AEE-20075F30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Contrastive Learning Loss</a:t>
            </a:r>
            <a:r>
              <a:rPr kumimoji="1" lang="zh-TW" altLang="en-US" dirty="0"/>
              <a:t> </a:t>
            </a:r>
            <a:r>
              <a:rPr kumimoji="1"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07353-0EA9-B0EC-D05E-4CF5ECAE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53CE6A9-A7DF-E7AC-E4D4-58886A38A425}"/>
              </a:ext>
            </a:extLst>
          </p:cNvPr>
          <p:cNvSpPr/>
          <p:nvPr/>
        </p:nvSpPr>
        <p:spPr>
          <a:xfrm>
            <a:off x="1367757" y="2130582"/>
            <a:ext cx="1536807" cy="2394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591CA16-4EB1-731F-3515-FEDA7AA171C3}"/>
              </a:ext>
            </a:extLst>
          </p:cNvPr>
          <p:cNvSpPr/>
          <p:nvPr/>
        </p:nvSpPr>
        <p:spPr>
          <a:xfrm>
            <a:off x="3443856" y="2130581"/>
            <a:ext cx="1536807" cy="23941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9E912D-47A8-F3FA-AAEE-8FE0D557F208}"/>
                  </a:ext>
                </a:extLst>
              </p:cNvPr>
              <p:cNvSpPr txBox="1"/>
              <p:nvPr/>
            </p:nvSpPr>
            <p:spPr>
              <a:xfrm>
                <a:off x="1828798" y="2286606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9E912D-47A8-F3FA-AAEE-8FE0D557F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8" y="2286606"/>
                <a:ext cx="614723" cy="47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E4924D-F7CD-17C5-E415-E4A7A049BD05}"/>
                  </a:ext>
                </a:extLst>
              </p:cNvPr>
              <p:cNvSpPr txBox="1"/>
              <p:nvPr/>
            </p:nvSpPr>
            <p:spPr>
              <a:xfrm>
                <a:off x="3904897" y="2286606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E4924D-F7CD-17C5-E415-E4A7A049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97" y="2286606"/>
                <a:ext cx="614723" cy="477888"/>
              </a:xfrm>
              <a:prstGeom prst="rect">
                <a:avLst/>
              </a:prstGeom>
              <a:blipFill>
                <a:blip r:embed="rId4"/>
                <a:stretch>
                  <a:fillRect l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D05F8DF-046B-FC2E-B89C-07B50DA5076B}"/>
                  </a:ext>
                </a:extLst>
              </p:cNvPr>
              <p:cNvSpPr txBox="1"/>
              <p:nvPr/>
            </p:nvSpPr>
            <p:spPr>
              <a:xfrm>
                <a:off x="1828798" y="3054633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D05F8DF-046B-FC2E-B89C-07B50DA5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8" y="3054633"/>
                <a:ext cx="614723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487BAF-A7AD-6A06-625C-C961105632BE}"/>
                  </a:ext>
                </a:extLst>
              </p:cNvPr>
              <p:cNvSpPr txBox="1"/>
              <p:nvPr/>
            </p:nvSpPr>
            <p:spPr>
              <a:xfrm>
                <a:off x="3904897" y="3054633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487BAF-A7AD-6A06-625C-C96110563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97" y="3054633"/>
                <a:ext cx="614723" cy="477888"/>
              </a:xfrm>
              <a:prstGeom prst="rect">
                <a:avLst/>
              </a:prstGeom>
              <a:blipFill>
                <a:blip r:embed="rId6"/>
                <a:stretch>
                  <a:fillRect l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3C4530-88C5-024B-C60D-4BC5C1E7CAB6}"/>
                  </a:ext>
                </a:extLst>
              </p:cNvPr>
              <p:cNvSpPr txBox="1"/>
              <p:nvPr/>
            </p:nvSpPr>
            <p:spPr>
              <a:xfrm>
                <a:off x="1828798" y="3822660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3C4530-88C5-024B-C60D-4BC5C1E7C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8" y="3822660"/>
                <a:ext cx="614723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2514445-7900-CBCA-756D-E32154DE2707}"/>
                  </a:ext>
                </a:extLst>
              </p:cNvPr>
              <p:cNvSpPr txBox="1"/>
              <p:nvPr/>
            </p:nvSpPr>
            <p:spPr>
              <a:xfrm>
                <a:off x="3904897" y="3822660"/>
                <a:ext cx="614723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2514445-7900-CBCA-756D-E32154DE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97" y="3822660"/>
                <a:ext cx="614723" cy="477888"/>
              </a:xfrm>
              <a:prstGeom prst="rect">
                <a:avLst/>
              </a:prstGeom>
              <a:blipFill>
                <a:blip r:embed="rId8"/>
                <a:stretch>
                  <a:fillRect l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4424CC-242D-548D-F9B3-3B8C6BE74022}"/>
                  </a:ext>
                </a:extLst>
              </p:cNvPr>
              <p:cNvSpPr txBox="1"/>
              <p:nvPr/>
            </p:nvSpPr>
            <p:spPr>
              <a:xfrm>
                <a:off x="872904" y="4964365"/>
                <a:ext cx="52610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為例：</a:t>
                </a:r>
                <a:endParaRPr kumimoji="1" lang="en-US" altLang="zh-TW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正樣本對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-&gt;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負樣本對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-&gt;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kumimoji="1" lang="zh-TW" altLang="en-US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kumimoji="1" lang="zh-TW" altLang="en-US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4424CC-242D-548D-F9B3-3B8C6BE74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04" y="4964365"/>
                <a:ext cx="5261004" cy="923330"/>
              </a:xfrm>
              <a:prstGeom prst="rect">
                <a:avLst/>
              </a:prstGeom>
              <a:blipFill>
                <a:blip r:embed="rId9"/>
                <a:stretch>
                  <a:fillRect l="-964" t="-2703" b="-94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B555B86E-41B7-2F91-D37F-EABD9BF3B8A5}"/>
              </a:ext>
            </a:extLst>
          </p:cNvPr>
          <p:cNvSpPr/>
          <p:nvPr/>
        </p:nvSpPr>
        <p:spPr>
          <a:xfrm>
            <a:off x="1603258" y="2261739"/>
            <a:ext cx="3177620" cy="597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1BC76A7-A7A8-F384-1762-6C616A4F8C59}"/>
                  </a:ext>
                </a:extLst>
              </p:cNvPr>
              <p:cNvSpPr/>
              <p:nvPr/>
            </p:nvSpPr>
            <p:spPr>
              <a:xfrm>
                <a:off x="6513124" y="2568904"/>
                <a:ext cx="1342004" cy="4290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1BC76A7-A7A8-F384-1762-6C616A4F8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24" y="2568904"/>
                <a:ext cx="1342004" cy="429049"/>
              </a:xfrm>
              <a:prstGeom prst="roundRect">
                <a:avLst/>
              </a:prstGeom>
              <a:blipFill>
                <a:blip r:embed="rId11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24F01867-C510-98C8-876B-7FB06B774CDF}"/>
                  </a:ext>
                </a:extLst>
              </p:cNvPr>
              <p:cNvSpPr/>
              <p:nvPr/>
            </p:nvSpPr>
            <p:spPr>
              <a:xfrm>
                <a:off x="6513124" y="3195869"/>
                <a:ext cx="1342004" cy="4290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24F01867-C510-98C8-876B-7FB06B774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24" y="3195869"/>
                <a:ext cx="1342004" cy="429049"/>
              </a:xfrm>
              <a:prstGeom prst="round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82C3F5F6-E024-5D35-7EDD-2931BC780B70}"/>
                  </a:ext>
                </a:extLst>
              </p:cNvPr>
              <p:cNvSpPr/>
              <p:nvPr/>
            </p:nvSpPr>
            <p:spPr>
              <a:xfrm>
                <a:off x="6513124" y="3822834"/>
                <a:ext cx="1342004" cy="4290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82C3F5F6-E024-5D35-7EDD-2931BC780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24" y="3822834"/>
                <a:ext cx="1342004" cy="429049"/>
              </a:xfrm>
              <a:prstGeom prst="round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6996D79F-19E3-AFB8-A7DC-6D86C51AA840}"/>
                  </a:ext>
                </a:extLst>
              </p:cNvPr>
              <p:cNvSpPr/>
              <p:nvPr/>
            </p:nvSpPr>
            <p:spPr>
              <a:xfrm>
                <a:off x="6513123" y="4449799"/>
                <a:ext cx="1342004" cy="4290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6996D79F-19E3-AFB8-A7DC-6D86C51AA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23" y="4449799"/>
                <a:ext cx="1342004" cy="429049"/>
              </a:xfrm>
              <a:prstGeom prst="round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圓角矩形 28">
                <a:extLst>
                  <a:ext uri="{FF2B5EF4-FFF2-40B4-BE49-F238E27FC236}">
                    <a16:creationId xmlns:a16="http://schemas.microsoft.com/office/drawing/2014/main" id="{AB2F3ADB-FFD3-4912-4CEA-8AAC1D0C27BD}"/>
                  </a:ext>
                </a:extLst>
              </p:cNvPr>
              <p:cNvSpPr/>
              <p:nvPr/>
            </p:nvSpPr>
            <p:spPr>
              <a:xfrm>
                <a:off x="6513123" y="5076764"/>
                <a:ext cx="1342004" cy="4290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圓角矩形 28">
                <a:extLst>
                  <a:ext uri="{FF2B5EF4-FFF2-40B4-BE49-F238E27FC236}">
                    <a16:creationId xmlns:a16="http://schemas.microsoft.com/office/drawing/2014/main" id="{AB2F3ADB-FFD3-4912-4CEA-8AAC1D0C2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23" y="5076764"/>
                <a:ext cx="1342004" cy="429049"/>
              </a:xfrm>
              <a:prstGeom prst="roundRect">
                <a:avLst/>
              </a:prstGeom>
              <a:blipFill>
                <a:blip r:embed="rId1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FD27413B-F3D6-CEE6-B2B5-2A0CACED5A54}"/>
              </a:ext>
            </a:extLst>
          </p:cNvPr>
          <p:cNvSpPr txBox="1"/>
          <p:nvPr/>
        </p:nvSpPr>
        <p:spPr>
          <a:xfrm>
            <a:off x="7930928" y="1893516"/>
            <a:ext cx="1406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 </a:t>
            </a:r>
            <a:r>
              <a:rPr kumimoji="1" lang="en-US" altLang="zh-TW" dirty="0" err="1"/>
              <a:t>Softmax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後之機率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71986C-D6B3-7481-0836-5D9975980C14}"/>
              </a:ext>
            </a:extLst>
          </p:cNvPr>
          <p:cNvSpPr/>
          <p:nvPr/>
        </p:nvSpPr>
        <p:spPr>
          <a:xfrm>
            <a:off x="6448948" y="2491910"/>
            <a:ext cx="1472544" cy="312545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B617D18-E3F3-78CA-58E8-38A701C44CBA}"/>
              </a:ext>
            </a:extLst>
          </p:cNvPr>
          <p:cNvSpPr txBox="1"/>
          <p:nvPr/>
        </p:nvSpPr>
        <p:spPr>
          <a:xfrm>
            <a:off x="8469478" y="2598762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0.3</a:t>
            </a:r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ED2E6FC-3937-F4E3-7ABE-7D339211AC4D}"/>
              </a:ext>
            </a:extLst>
          </p:cNvPr>
          <p:cNvSpPr txBox="1"/>
          <p:nvPr/>
        </p:nvSpPr>
        <p:spPr>
          <a:xfrm>
            <a:off x="8469478" y="3225727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0.2</a:t>
            </a:r>
            <a:endParaRPr kumimoji="1"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2A3F9A5-8C73-B661-7566-AD4EE5645D51}"/>
              </a:ext>
            </a:extLst>
          </p:cNvPr>
          <p:cNvSpPr txBox="1"/>
          <p:nvPr/>
        </p:nvSpPr>
        <p:spPr>
          <a:xfrm>
            <a:off x="8469478" y="3852692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0.1</a:t>
            </a:r>
            <a:endParaRPr kumimoji="1"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F816CF4-E952-2740-F96A-93A4D7B99A87}"/>
              </a:ext>
            </a:extLst>
          </p:cNvPr>
          <p:cNvSpPr txBox="1"/>
          <p:nvPr/>
        </p:nvSpPr>
        <p:spPr>
          <a:xfrm>
            <a:off x="8469478" y="4479657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0.1</a:t>
            </a:r>
            <a:endParaRPr kumimoji="1"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8A45446-95A4-8916-7D5D-DFD4AE83A453}"/>
              </a:ext>
            </a:extLst>
          </p:cNvPr>
          <p:cNvSpPr txBox="1"/>
          <p:nvPr/>
        </p:nvSpPr>
        <p:spPr>
          <a:xfrm>
            <a:off x="8469478" y="5106622"/>
            <a:ext cx="69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0.3</a:t>
            </a:r>
            <a:endParaRPr kumimoji="1"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8CA1C9B-7A62-FBAC-436C-868D230BCEC5}"/>
              </a:ext>
            </a:extLst>
          </p:cNvPr>
          <p:cNvSpPr txBox="1"/>
          <p:nvPr/>
        </p:nvSpPr>
        <p:spPr>
          <a:xfrm>
            <a:off x="9747448" y="2598762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2220881-1F90-6E59-EC3A-C328D44015BC}"/>
              </a:ext>
            </a:extLst>
          </p:cNvPr>
          <p:cNvSpPr txBox="1"/>
          <p:nvPr/>
        </p:nvSpPr>
        <p:spPr>
          <a:xfrm>
            <a:off x="9747448" y="3225727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F01B694-DCF1-1CF7-1847-39579084F14A}"/>
              </a:ext>
            </a:extLst>
          </p:cNvPr>
          <p:cNvSpPr txBox="1"/>
          <p:nvPr/>
        </p:nvSpPr>
        <p:spPr>
          <a:xfrm>
            <a:off x="9747448" y="3852692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E61A781-E595-9E92-E2CA-EE8C808141CB}"/>
              </a:ext>
            </a:extLst>
          </p:cNvPr>
          <p:cNvSpPr txBox="1"/>
          <p:nvPr/>
        </p:nvSpPr>
        <p:spPr>
          <a:xfrm>
            <a:off x="9747448" y="4479657"/>
            <a:ext cx="72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C958A02-67E6-42B0-5C1D-D3246416FF53}"/>
              </a:ext>
            </a:extLst>
          </p:cNvPr>
          <p:cNvSpPr txBox="1"/>
          <p:nvPr/>
        </p:nvSpPr>
        <p:spPr>
          <a:xfrm>
            <a:off x="9747448" y="5106622"/>
            <a:ext cx="69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42B9E8E-47C9-8CD7-7605-6BB2715A01E9}"/>
              </a:ext>
            </a:extLst>
          </p:cNvPr>
          <p:cNvSpPr txBox="1"/>
          <p:nvPr/>
        </p:nvSpPr>
        <p:spPr>
          <a:xfrm>
            <a:off x="9206776" y="2068232"/>
            <a:ext cx="140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正確答案</a:t>
            </a:r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C51FE06-AA09-058B-DD77-926AAD605CE3}"/>
              </a:ext>
            </a:extLst>
          </p:cNvPr>
          <p:cNvSpPr txBox="1"/>
          <p:nvPr/>
        </p:nvSpPr>
        <p:spPr>
          <a:xfrm>
            <a:off x="6380385" y="5874994"/>
            <a:ext cx="400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相當於在做 </a:t>
            </a:r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2N-1 </a:t>
            </a:r>
            <a:r>
              <a:rPr kumimoji="1" lang="zh-TW" altLang="en-US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個類別之分類任務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C6547E6-B420-C40E-6054-DA572663F2B6}"/>
              </a:ext>
            </a:extLst>
          </p:cNvPr>
          <p:cNvSpPr txBox="1"/>
          <p:nvPr/>
        </p:nvSpPr>
        <p:spPr>
          <a:xfrm>
            <a:off x="10764433" y="3725426"/>
            <a:ext cx="1063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Cross-entropy</a:t>
            </a:r>
            <a:endParaRPr kumimoji="1" lang="zh-TW" alt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5" name="向右箭號 44">
            <a:extLst>
              <a:ext uri="{FF2B5EF4-FFF2-40B4-BE49-F238E27FC236}">
                <a16:creationId xmlns:a16="http://schemas.microsoft.com/office/drawing/2014/main" id="{F58CA3C9-79C3-F5E1-129D-B61DA3E399FF}"/>
              </a:ext>
            </a:extLst>
          </p:cNvPr>
          <p:cNvSpPr/>
          <p:nvPr/>
        </p:nvSpPr>
        <p:spPr>
          <a:xfrm>
            <a:off x="10309688" y="3889763"/>
            <a:ext cx="322729" cy="317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802AE00-322D-A432-4B1C-BC1AA1C44F16}"/>
                  </a:ext>
                </a:extLst>
              </p:cNvPr>
              <p:cNvSpPr txBox="1"/>
              <p:nvPr/>
            </p:nvSpPr>
            <p:spPr>
              <a:xfrm>
                <a:off x="8655270" y="626008"/>
                <a:ext cx="32697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為模型輸出的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/>
                  <a:t>representation</a:t>
                </a:r>
                <a:endParaRPr kumimoji="1" lang="zh-TW" altLang="en-US" dirty="0"/>
              </a:p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</a:t>
                </a:r>
                <a:r>
                  <a:rPr kumimoji="1" lang="zh-TW" altLang="en-US" dirty="0"/>
                  <a:t> </a:t>
                </a:r>
                <a:r>
                  <a:rPr kumimoji="1" lang="en-US" altLang="zh-TW" sz="1800" b="0" dirty="0" err="1"/>
                  <a:t>Batch_size</a:t>
                </a:r>
                <a:r>
                  <a:rPr kumimoji="1" lang="en-US" altLang="zh-TW" sz="1800" b="0" dirty="0"/>
                  <a:t> </a:t>
                </a:r>
                <a:r>
                  <a:rPr kumimoji="1" lang="zh-TW" altLang="en-US" sz="1800" b="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</a:t>
                </a:r>
                <a14:m>
                  <m:oMath xmlns:m="http://schemas.openxmlformats.org/officeDocument/2006/math">
                    <m:r>
                      <a:rPr kumimoji="1" lang="en-US" altLang="zh-TW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802AE00-322D-A432-4B1C-BC1AA1C44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270" y="626008"/>
                <a:ext cx="3269710" cy="646331"/>
              </a:xfrm>
              <a:prstGeom prst="rect">
                <a:avLst/>
              </a:prstGeom>
              <a:blipFill>
                <a:blip r:embed="rId16"/>
                <a:stretch>
                  <a:fillRect l="-1550" t="-5769" r="-775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6F2E61D-BB40-7C65-7364-979F09D0014B}"/>
              </a:ext>
            </a:extLst>
          </p:cNvPr>
          <p:cNvSpPr txBox="1"/>
          <p:nvPr/>
        </p:nvSpPr>
        <p:spPr>
          <a:xfrm>
            <a:off x="1640378" y="1623809"/>
            <a:ext cx="9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Batch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F8DAC6-10E7-B057-A90A-BEB6EC9484DB}"/>
              </a:ext>
            </a:extLst>
          </p:cNvPr>
          <p:cNvSpPr txBox="1"/>
          <p:nvPr/>
        </p:nvSpPr>
        <p:spPr>
          <a:xfrm>
            <a:off x="3540526" y="1484250"/>
            <a:ext cx="1432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Batch ( After DA)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83A7FD9-0713-7F59-E62F-D1E4ECF4E066}"/>
              </a:ext>
            </a:extLst>
          </p:cNvPr>
          <p:cNvSpPr txBox="1"/>
          <p:nvPr/>
        </p:nvSpPr>
        <p:spPr>
          <a:xfrm>
            <a:off x="1508873" y="6071025"/>
            <a:ext cx="40766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Chen, Ting, et al. “A simple framework for contrastive learning of visual representations</a:t>
            </a:r>
            <a:r>
              <a:rPr lang="zh-TW" altLang="en-US" sz="1100" dirty="0"/>
              <a:t> </a:t>
            </a:r>
            <a:r>
              <a:rPr lang="en-US" altLang="zh-TW" sz="1100" dirty="0"/>
              <a:t>(</a:t>
            </a:r>
            <a:r>
              <a:rPr lang="en-US" altLang="zh-TW" sz="1100" dirty="0" err="1"/>
              <a:t>SimCLR</a:t>
            </a:r>
            <a:r>
              <a:rPr lang="en-US" altLang="zh-TW" sz="1100" dirty="0"/>
              <a:t>)</a:t>
            </a:r>
            <a:r>
              <a:rPr lang="en" altLang="zh-TW" sz="1100" dirty="0"/>
              <a:t>." ICLR 2020.</a:t>
            </a:r>
          </a:p>
        </p:txBody>
      </p:sp>
    </p:spTree>
    <p:extLst>
      <p:ext uri="{BB962C8B-B14F-4D97-AF65-F5344CB8AC3E}">
        <p14:creationId xmlns:p14="http://schemas.microsoft.com/office/powerpoint/2010/main" val="22291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509D5-8389-444B-C611-5FB309A3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ImageNet Competition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5C2038-B8B5-EB7A-1D58-E93A2132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9AFA36D-5467-848A-CA4F-5FDA1CDA18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65" y="2224215"/>
            <a:ext cx="8142869" cy="362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2F68213-8993-EA71-3762-48DD0E119370}"/>
              </a:ext>
            </a:extLst>
          </p:cNvPr>
          <p:cNvSpPr txBox="1"/>
          <p:nvPr/>
        </p:nvSpPr>
        <p:spPr>
          <a:xfrm>
            <a:off x="2142199" y="6415560"/>
            <a:ext cx="7907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Figure source: https://</a:t>
            </a:r>
            <a:r>
              <a:rPr kumimoji="1" lang="en-US" altLang="zh-TW" sz="1600" dirty="0" err="1"/>
              <a:t>www.kaggle.com</a:t>
            </a:r>
            <a:r>
              <a:rPr kumimoji="1" lang="en-US" altLang="zh-TW" sz="1600" dirty="0"/>
              <a:t>/discussions/getting-started/149448</a:t>
            </a:r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F23743-ECB4-67CC-77E0-F7B8BC4102E4}"/>
              </a:ext>
            </a:extLst>
          </p:cNvPr>
          <p:cNvSpPr txBox="1"/>
          <p:nvPr/>
        </p:nvSpPr>
        <p:spPr>
          <a:xfrm>
            <a:off x="736600" y="1622193"/>
            <a:ext cx="849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Complete name: ImageNet Large Scale Visual Recognition Challenge (ILSVRC)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207CD2-67F7-1018-622D-5FEF84062818}"/>
              </a:ext>
            </a:extLst>
          </p:cNvPr>
          <p:cNvSpPr txBox="1"/>
          <p:nvPr/>
        </p:nvSpPr>
        <p:spPr>
          <a:xfrm>
            <a:off x="4381602" y="2641570"/>
            <a:ext cx="173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DL (</a:t>
            </a:r>
            <a:r>
              <a:rPr kumimoji="1" lang="en-US" altLang="zh-TW" b="1" dirty="0" err="1"/>
              <a:t>AlexNet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4466B629-7523-42E1-1555-93D6146D2E61}"/>
              </a:ext>
            </a:extLst>
          </p:cNvPr>
          <p:cNvCxnSpPr>
            <a:cxnSpLocks/>
          </p:cNvCxnSpPr>
          <p:nvPr/>
        </p:nvCxnSpPr>
        <p:spPr>
          <a:xfrm>
            <a:off x="4727448" y="2983470"/>
            <a:ext cx="0" cy="6002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09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F151E-37F1-F923-1567-E2555F54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ImageNet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有效，但非</a:t>
            </a:r>
            <a:r>
              <a:rPr kumimoji="1" lang="en-US" altLang="zh-TW" dirty="0">
                <a:ea typeface="Microsoft JhengHei" panose="020B0604030504040204" pitchFamily="34" charset="-120"/>
              </a:rPr>
              <a:t>SSL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9D191-607D-B832-D1C2-BB2CAE16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588D292-B080-82C5-68BD-5FCB60F044C8}"/>
              </a:ext>
            </a:extLst>
          </p:cNvPr>
          <p:cNvSpPr txBox="1"/>
          <p:nvPr/>
        </p:nvSpPr>
        <p:spPr>
          <a:xfrm>
            <a:off x="653142" y="1688321"/>
            <a:ext cx="10178255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剛剛講了很多基於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Representation Learning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含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Autoencoders, contrastive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</a:rPr>
              <a:t>ImageNet pre-training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是深度學習中最早、最有效的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representation learning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策略之一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直接標大量資料的答案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約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120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萬張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8342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F151E-37F1-F923-1567-E2555F54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ImageNet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pre-trained models on </a:t>
            </a:r>
            <a:r>
              <a:rPr kumimoji="1" lang="en-US" altLang="zh-TW" dirty="0" err="1"/>
              <a:t>PyTorch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9D191-607D-B832-D1C2-BB2CAE16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99CB92-7C7C-9D98-3557-D956CAB28B87}"/>
              </a:ext>
            </a:extLst>
          </p:cNvPr>
          <p:cNvSpPr txBox="1"/>
          <p:nvPr/>
        </p:nvSpPr>
        <p:spPr>
          <a:xfrm>
            <a:off x="3800573" y="6411353"/>
            <a:ext cx="459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https://</a:t>
            </a:r>
            <a:r>
              <a:rPr kumimoji="1" lang="en" altLang="zh-TW" dirty="0" err="1"/>
              <a:t>pytorch.org</a:t>
            </a:r>
            <a:r>
              <a:rPr kumimoji="1" lang="en" altLang="zh-TW" dirty="0"/>
              <a:t>/vision/main/</a:t>
            </a:r>
            <a:r>
              <a:rPr kumimoji="1" lang="en" altLang="zh-TW" dirty="0" err="1"/>
              <a:t>models.html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92A40A-5D1A-7A24-FD87-E9C5AD2BC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93699"/>
            <a:ext cx="7772400" cy="42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08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CA2D-1B85-BFC8-8D96-E88DF24F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A1464A-422C-5CD7-1B69-1ACCDDAC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/>
              <a:t>[Recap] (</a:t>
            </a:r>
            <a:r>
              <a:rPr kumimoji="1" lang="en-US" altLang="zh-TW" dirty="0"/>
              <a:t>Supervised) Fine-tuning with CNN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F35FC2-ADAB-6661-A381-01D7C5C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0" name="圖片 9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1D1F6E44-8E93-B1BB-3149-CA142FF13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1497432" y="1890137"/>
            <a:ext cx="1842214" cy="184672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F095E3-9A3D-9222-A8E3-5DC164C1D605}"/>
              </a:ext>
            </a:extLst>
          </p:cNvPr>
          <p:cNvSpPr/>
          <p:nvPr/>
        </p:nvSpPr>
        <p:spPr>
          <a:xfrm>
            <a:off x="4140659" y="2223736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5E328D-CDA8-CE11-983D-99CAFDE2DDED}"/>
              </a:ext>
            </a:extLst>
          </p:cNvPr>
          <p:cNvSpPr/>
          <p:nvPr/>
        </p:nvSpPr>
        <p:spPr>
          <a:xfrm>
            <a:off x="4140659" y="3001714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7F3E1A-AA96-1968-953D-D7AB7BFC68F2}"/>
              </a:ext>
            </a:extLst>
          </p:cNvPr>
          <p:cNvSpPr/>
          <p:nvPr/>
        </p:nvSpPr>
        <p:spPr>
          <a:xfrm>
            <a:off x="4140659" y="3682264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65A214-1A8D-8521-DE07-93416742275D}"/>
              </a:ext>
            </a:extLst>
          </p:cNvPr>
          <p:cNvSpPr/>
          <p:nvPr/>
        </p:nvSpPr>
        <p:spPr>
          <a:xfrm>
            <a:off x="4140659" y="4460242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C1A0B1-2F5E-2BF3-D4B0-3039CC5B81F0}"/>
              </a:ext>
            </a:extLst>
          </p:cNvPr>
          <p:cNvSpPr/>
          <p:nvPr/>
        </p:nvSpPr>
        <p:spPr>
          <a:xfrm>
            <a:off x="4140659" y="5238220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EB7954-6185-4BCA-6EBC-D1F590494519}"/>
              </a:ext>
            </a:extLst>
          </p:cNvPr>
          <p:cNvSpPr/>
          <p:nvPr/>
        </p:nvSpPr>
        <p:spPr>
          <a:xfrm>
            <a:off x="4140659" y="5918769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10389407-3EBB-4549-DF13-4BD7AEC53BD1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879799" y="5508569"/>
            <a:ext cx="0" cy="410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37D62C7-6CE6-41EF-91A8-5A6EB9E3B98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879799" y="4828019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FBB07615-6DCE-FA80-643F-255EBC2F788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879799" y="4050041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CE1CEEE8-F222-4CFE-12F3-69685968C79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879799" y="3272063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78741A4-8CE5-0673-E19F-16F5FD25E42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4879799" y="2591513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接點 23">
            <a:extLst>
              <a:ext uri="{FF2B5EF4-FFF2-40B4-BE49-F238E27FC236}">
                <a16:creationId xmlns:a16="http://schemas.microsoft.com/office/drawing/2014/main" id="{3CA5BD42-99FD-A228-AF35-B10B489A5A41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 flipV="1">
            <a:off x="3339646" y="2223736"/>
            <a:ext cx="1540153" cy="589766"/>
          </a:xfrm>
          <a:prstGeom prst="bentConnector4">
            <a:avLst>
              <a:gd name="adj1" fmla="val 26004"/>
              <a:gd name="adj2" fmla="val 143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73C6278-FDD4-FC69-25EE-35DDB160589F}"/>
              </a:ext>
            </a:extLst>
          </p:cNvPr>
          <p:cNvSpPr/>
          <p:nvPr/>
        </p:nvSpPr>
        <p:spPr>
          <a:xfrm>
            <a:off x="6419952" y="3682264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50AA1D-2A1C-6405-5652-EFD8F9CF89F6}"/>
              </a:ext>
            </a:extLst>
          </p:cNvPr>
          <p:cNvSpPr/>
          <p:nvPr/>
        </p:nvSpPr>
        <p:spPr>
          <a:xfrm>
            <a:off x="6419952" y="3001714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A5F254-50EC-EC23-FF48-8CA664C5C5C3}"/>
              </a:ext>
            </a:extLst>
          </p:cNvPr>
          <p:cNvSpPr/>
          <p:nvPr/>
        </p:nvSpPr>
        <p:spPr>
          <a:xfrm>
            <a:off x="6419952" y="2223735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B82D0-9115-844A-3D40-22F5697E3739}"/>
              </a:ext>
            </a:extLst>
          </p:cNvPr>
          <p:cNvSpPr/>
          <p:nvPr/>
        </p:nvSpPr>
        <p:spPr>
          <a:xfrm>
            <a:off x="8789052" y="2223736"/>
            <a:ext cx="1478280" cy="36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Flatten</a:t>
            </a:r>
            <a:endParaRPr kumimoji="1"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9966AE-EFC2-7EF3-46F3-18C4C9045675}"/>
              </a:ext>
            </a:extLst>
          </p:cNvPr>
          <p:cNvSpPr/>
          <p:nvPr/>
        </p:nvSpPr>
        <p:spPr>
          <a:xfrm>
            <a:off x="8789052" y="3176414"/>
            <a:ext cx="1478280" cy="873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Fully-connected Networks</a:t>
            </a:r>
            <a:endParaRPr kumimoji="1"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DE52F7E3-1B37-47BD-C279-07244B698915}"/>
              </a:ext>
            </a:extLst>
          </p:cNvPr>
          <p:cNvSpPr/>
          <p:nvPr/>
        </p:nvSpPr>
        <p:spPr>
          <a:xfrm>
            <a:off x="8640857" y="4644130"/>
            <a:ext cx="1774669" cy="8076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Classification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F8B39428-B077-1530-3035-5308614A8A20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7159092" y="2591512"/>
            <a:ext cx="0" cy="410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53B23876-DE0C-CD06-008F-2FA14615774F}"/>
              </a:ext>
            </a:extLst>
          </p:cNvPr>
          <p:cNvCxnSpPr>
            <a:cxnSpLocks/>
            <a:stCxn id="25" idx="0"/>
            <a:endCxn id="26" idx="2"/>
          </p:cNvCxnSpPr>
          <p:nvPr/>
        </p:nvCxnSpPr>
        <p:spPr>
          <a:xfrm flipV="1">
            <a:off x="7159092" y="3272063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>
            <a:extLst>
              <a:ext uri="{FF2B5EF4-FFF2-40B4-BE49-F238E27FC236}">
                <a16:creationId xmlns:a16="http://schemas.microsoft.com/office/drawing/2014/main" id="{79850C2D-1B2C-19E4-4794-9BB1CC5CA9D4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 flipH="1" flipV="1">
            <a:off x="5311394" y="4438847"/>
            <a:ext cx="1416103" cy="2279295"/>
          </a:xfrm>
          <a:prstGeom prst="bentConnector4">
            <a:avLst>
              <a:gd name="adj1" fmla="val -16143"/>
              <a:gd name="adj2" fmla="val 999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304BCFC-D569-123E-ADF6-A69AE8B533A6}"/>
              </a:ext>
            </a:extLst>
          </p:cNvPr>
          <p:cNvSpPr txBox="1"/>
          <p:nvPr/>
        </p:nvSpPr>
        <p:spPr>
          <a:xfrm>
            <a:off x="6865909" y="4155539"/>
            <a:ext cx="923330" cy="506093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r>
              <a:rPr kumimoji="1" lang="en-US" altLang="zh-TW" sz="4800" dirty="0"/>
              <a:t>…</a:t>
            </a:r>
            <a:endParaRPr kumimoji="1" lang="zh-TW" altLang="en-US" sz="4800" dirty="0"/>
          </a:p>
        </p:txBody>
      </p:sp>
      <p:cxnSp>
        <p:nvCxnSpPr>
          <p:cNvPr id="35" name="肘形接點 34">
            <a:extLst>
              <a:ext uri="{FF2B5EF4-FFF2-40B4-BE49-F238E27FC236}">
                <a16:creationId xmlns:a16="http://schemas.microsoft.com/office/drawing/2014/main" id="{FEBC1744-9E94-561F-061D-8094E704206A}"/>
              </a:ext>
            </a:extLst>
          </p:cNvPr>
          <p:cNvCxnSpPr>
            <a:cxnSpLocks/>
            <a:stCxn id="27" idx="0"/>
            <a:endCxn id="28" idx="0"/>
          </p:cNvCxnSpPr>
          <p:nvPr/>
        </p:nvCxnSpPr>
        <p:spPr>
          <a:xfrm rot="16200000" flipH="1">
            <a:off x="8343641" y="1039185"/>
            <a:ext cx="1" cy="236910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ABDB40CE-097D-FE01-B74E-32543951E5D2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9528192" y="2591513"/>
            <a:ext cx="0" cy="584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41747F15-9980-71A3-3179-FBA019570809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9528192" y="4050041"/>
            <a:ext cx="0" cy="594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98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0D64-5E5F-8D87-A7BD-DDD285AB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AF4F23-0676-3B86-6BD0-CE22926C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(Supervised) Fine-tuning with MAE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F8839B-1F85-5BCB-4521-F5C8E147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EEDA31B-9FFF-3243-40B9-2ABB62E2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7" r="51502"/>
          <a:stretch/>
        </p:blipFill>
        <p:spPr>
          <a:xfrm>
            <a:off x="3452111" y="2369498"/>
            <a:ext cx="2203529" cy="43845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3F3D31B-C8EE-C58B-A7D6-2605B262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154" t="32891" r="881" b="33850"/>
          <a:stretch/>
        </p:blipFill>
        <p:spPr>
          <a:xfrm>
            <a:off x="1978034" y="3745138"/>
            <a:ext cx="1474077" cy="1458311"/>
          </a:xfrm>
          <a:prstGeom prst="rect">
            <a:avLst/>
          </a:prstGeom>
        </p:spPr>
      </p:pic>
      <p:sp>
        <p:nvSpPr>
          <p:cNvPr id="9" name="圓角矩形 8">
            <a:extLst>
              <a:ext uri="{FF2B5EF4-FFF2-40B4-BE49-F238E27FC236}">
                <a16:creationId xmlns:a16="http://schemas.microsoft.com/office/drawing/2014/main" id="{459C2711-FD4D-D27A-F639-9F19253EC8BD}"/>
              </a:ext>
            </a:extLst>
          </p:cNvPr>
          <p:cNvSpPr/>
          <p:nvPr/>
        </p:nvSpPr>
        <p:spPr>
          <a:xfrm>
            <a:off x="6277005" y="2528884"/>
            <a:ext cx="1695387" cy="5023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MLP Head</a:t>
            </a:r>
            <a:endParaRPr kumimoji="1" lang="zh-TW" altLang="en-US" sz="24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670A44A-6709-F794-7086-D6BC9BD83CC9}"/>
              </a:ext>
            </a:extLst>
          </p:cNvPr>
          <p:cNvSpPr/>
          <p:nvPr/>
        </p:nvSpPr>
        <p:spPr>
          <a:xfrm>
            <a:off x="8757516" y="1979601"/>
            <a:ext cx="894491" cy="160089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Class</a:t>
            </a:r>
          </a:p>
          <a:p>
            <a:pPr algn="ctr"/>
            <a:r>
              <a:rPr kumimoji="1" lang="en" altLang="zh-TW" dirty="0"/>
              <a:t>Bird</a:t>
            </a:r>
          </a:p>
          <a:p>
            <a:pPr algn="ctr"/>
            <a:r>
              <a:rPr kumimoji="1" lang="en" altLang="zh-TW" dirty="0"/>
              <a:t>Ball</a:t>
            </a:r>
          </a:p>
          <a:p>
            <a:pPr algn="ctr"/>
            <a:r>
              <a:rPr kumimoji="1" lang="en" altLang="zh-TW" dirty="0"/>
              <a:t>Car</a:t>
            </a:r>
          </a:p>
          <a:p>
            <a:pPr algn="ctr"/>
            <a:r>
              <a:rPr kumimoji="1" lang="en" altLang="zh-TW" dirty="0"/>
              <a:t>...</a:t>
            </a:r>
            <a:endParaRPr kumimoji="1"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7BF2E1B-D317-FEAE-3CDC-421A98283F47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7972392" y="2780048"/>
            <a:ext cx="785124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圖片 35">
            <a:extLst>
              <a:ext uri="{FF2B5EF4-FFF2-40B4-BE49-F238E27FC236}">
                <a16:creationId xmlns:a16="http://schemas.microsoft.com/office/drawing/2014/main" id="{D80ECE56-26ED-397B-2E28-CCD9AF4D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95" t="45655" r="45370" b="47063"/>
          <a:stretch/>
        </p:blipFill>
        <p:spPr>
          <a:xfrm>
            <a:off x="5683766" y="2620410"/>
            <a:ext cx="492376" cy="3192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C4C809-3B91-F515-5B88-0580E50F7314}"/>
              </a:ext>
            </a:extLst>
          </p:cNvPr>
          <p:cNvSpPr/>
          <p:nvPr/>
        </p:nvSpPr>
        <p:spPr>
          <a:xfrm>
            <a:off x="5244385" y="2607176"/>
            <a:ext cx="342900" cy="3429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*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6349B4-BED0-A97C-DFE8-D41616419D7E}"/>
              </a:ext>
            </a:extLst>
          </p:cNvPr>
          <p:cNvSpPr txBox="1"/>
          <p:nvPr/>
        </p:nvSpPr>
        <p:spPr>
          <a:xfrm>
            <a:off x="722391" y="1518493"/>
            <a:ext cx="1992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 </a:t>
            </a:r>
            <a:r>
              <a:rPr lang="zh-TW" altLang="en-US" dirty="0"/>
              <a:t>Extra learnable</a:t>
            </a:r>
          </a:p>
          <a:p>
            <a:r>
              <a:rPr lang="zh-TW" altLang="en-US" dirty="0"/>
              <a:t>class embedding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3BFEE88-5007-82F8-5720-EE786E488330}"/>
              </a:ext>
            </a:extLst>
          </p:cNvPr>
          <p:cNvSpPr txBox="1"/>
          <p:nvPr/>
        </p:nvSpPr>
        <p:spPr>
          <a:xfrm>
            <a:off x="1565144" y="3244334"/>
            <a:ext cx="232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輸入端</a:t>
            </a:r>
            <a:r>
              <a:rPr kumimoji="1" lang="en-US" altLang="zh-TW" dirty="0"/>
              <a:t>unmasked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541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5BDA-F7C6-ACE3-3B9A-2B2C0CB0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6B796-1B5D-52E6-629A-D0FE4AE8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(Supervised) Fine-tuning with </a:t>
            </a:r>
            <a:r>
              <a:rPr kumimoji="1" lang="en-US" altLang="zh-TW" dirty="0" err="1"/>
              <a:t>SimCLR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982F3E-5C8A-FBB3-E238-2C26C6C3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0" name="圖片 9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20B45302-4F10-26DD-4CC9-06E45C1847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1144584" y="4683348"/>
            <a:ext cx="1478281" cy="148190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E9045A3C-C5E8-AB7C-B053-5C210107F5BA}"/>
              </a:ext>
            </a:extLst>
          </p:cNvPr>
          <p:cNvSpPr/>
          <p:nvPr/>
        </p:nvSpPr>
        <p:spPr>
          <a:xfrm>
            <a:off x="3590647" y="5020489"/>
            <a:ext cx="2186371" cy="8076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>
                <a:solidFill>
                  <a:schemeClr val="tx1"/>
                </a:solidFill>
              </a:rPr>
              <a:t>SimCLR</a:t>
            </a:r>
            <a:r>
              <a:rPr kumimoji="1" lang="en-US" altLang="zh-TW" dirty="0">
                <a:solidFill>
                  <a:schemeClr val="tx1"/>
                </a:solidFill>
              </a:rPr>
              <a:t> backbone (CNN)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A5AFD9-1EB3-4B6B-CF25-47A5C381F909}"/>
              </a:ext>
            </a:extLst>
          </p:cNvPr>
          <p:cNvSpPr/>
          <p:nvPr/>
        </p:nvSpPr>
        <p:spPr>
          <a:xfrm>
            <a:off x="6605055" y="4987487"/>
            <a:ext cx="1774669" cy="873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MLP (</a:t>
            </a:r>
            <a:r>
              <a:rPr kumimoji="1" lang="en-US" altLang="zh-TW" dirty="0" err="1"/>
              <a:t>num_classes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C9D1D67D-CD7F-3E30-7A8A-4D9FAD71114C}"/>
              </a:ext>
            </a:extLst>
          </p:cNvPr>
          <p:cNvSpPr/>
          <p:nvPr/>
        </p:nvSpPr>
        <p:spPr>
          <a:xfrm>
            <a:off x="9190861" y="5020486"/>
            <a:ext cx="1774669" cy="8076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Classification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5" name="肘形接點 34">
            <a:extLst>
              <a:ext uri="{FF2B5EF4-FFF2-40B4-BE49-F238E27FC236}">
                <a16:creationId xmlns:a16="http://schemas.microsoft.com/office/drawing/2014/main" id="{10E2271C-B0CC-BB5F-AF0B-50A66FF38BC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622865" y="5424300"/>
            <a:ext cx="967782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B7255C08-C238-D538-63A6-875F9DC74758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8379724" y="5424300"/>
            <a:ext cx="81113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3825E0A5-01A8-42B3-E83D-13732D54922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5777018" y="5424301"/>
            <a:ext cx="8280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圖片 71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AE9E5357-938A-89AC-1F57-733498A618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1949530" y="3234194"/>
            <a:ext cx="507462" cy="508706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4072A054-60A0-D302-4693-23E293ABDEBA}"/>
              </a:ext>
            </a:extLst>
          </p:cNvPr>
          <p:cNvSpPr/>
          <p:nvPr/>
        </p:nvSpPr>
        <p:spPr>
          <a:xfrm>
            <a:off x="3590647" y="2633394"/>
            <a:ext cx="2186371" cy="8076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>
                <a:solidFill>
                  <a:schemeClr val="tx1"/>
                </a:solidFill>
              </a:rPr>
              <a:t>SimCLR</a:t>
            </a:r>
            <a:r>
              <a:rPr kumimoji="1" lang="en-US" altLang="zh-TW" dirty="0">
                <a:solidFill>
                  <a:schemeClr val="tx1"/>
                </a:solidFill>
              </a:rPr>
              <a:t> backbone (CNN)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36618A1-D1B2-D53F-041B-4AEF0F57F70A}"/>
              </a:ext>
            </a:extLst>
          </p:cNvPr>
          <p:cNvSpPr/>
          <p:nvPr/>
        </p:nvSpPr>
        <p:spPr>
          <a:xfrm>
            <a:off x="6605055" y="2600392"/>
            <a:ext cx="1774669" cy="873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MLP</a:t>
            </a:r>
          </a:p>
          <a:p>
            <a:pPr algn="ctr"/>
            <a:r>
              <a:rPr kumimoji="1" lang="en-US" altLang="zh-TW" dirty="0"/>
              <a:t>(2N-1)</a:t>
            </a:r>
            <a:endParaRPr kumimoji="1" lang="zh-TW" altLang="en-US" dirty="0"/>
          </a:p>
        </p:txBody>
      </p: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3A0CE005-5EBA-4B12-8EB4-3A5B253437E9}"/>
              </a:ext>
            </a:extLst>
          </p:cNvPr>
          <p:cNvSpPr/>
          <p:nvPr/>
        </p:nvSpPr>
        <p:spPr>
          <a:xfrm>
            <a:off x="9190861" y="2633391"/>
            <a:ext cx="1774669" cy="8076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Contrastive Learning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6" name="肘形接點 75">
            <a:extLst>
              <a:ext uri="{FF2B5EF4-FFF2-40B4-BE49-F238E27FC236}">
                <a16:creationId xmlns:a16="http://schemas.microsoft.com/office/drawing/2014/main" id="{FAEE745E-DB19-3879-DA80-5D3683B73655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2622865" y="3037205"/>
            <a:ext cx="967782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id="{E6C774E5-5D55-517E-DEE6-0FBF4640067A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 flipV="1">
            <a:off x="8379724" y="3037205"/>
            <a:ext cx="81113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06A62CEF-F850-A0A0-3C97-DA64260F2E25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>
            <a:off x="5777018" y="3037206"/>
            <a:ext cx="8280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圖片 78" descr="一張含有 哺乳動物, 貓, 家貓, 小型到中型大小的貓 的圖片&#10;&#10;自動產生的描述">
            <a:extLst>
              <a:ext uri="{FF2B5EF4-FFF2-40B4-BE49-F238E27FC236}">
                <a16:creationId xmlns:a16="http://schemas.microsoft.com/office/drawing/2014/main" id="{8B2B5AC4-73C5-EE8F-9A09-35C6F9E2B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476" y="2389023"/>
            <a:ext cx="648182" cy="648182"/>
          </a:xfrm>
          <a:prstGeom prst="rect">
            <a:avLst/>
          </a:prstGeom>
        </p:spPr>
      </p:pic>
      <p:pic>
        <p:nvPicPr>
          <p:cNvPr id="80" name="圖片 79" descr="一張含有 家貓, 貓, 哺乳動物, 小型到中型大小的貓 的圖片&#10;&#10;自動產生的描述">
            <a:extLst>
              <a:ext uri="{FF2B5EF4-FFF2-40B4-BE49-F238E27FC236}">
                <a16:creationId xmlns:a16="http://schemas.microsoft.com/office/drawing/2014/main" id="{CD04C4F4-5E71-E971-A642-8607828E8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92" y="2661847"/>
            <a:ext cx="631856" cy="631856"/>
          </a:xfrm>
          <a:prstGeom prst="rect">
            <a:avLst/>
          </a:prstGeom>
        </p:spPr>
      </p:pic>
      <p:sp>
        <p:nvSpPr>
          <p:cNvPr id="81" name="文字方塊 80">
            <a:extLst>
              <a:ext uri="{FF2B5EF4-FFF2-40B4-BE49-F238E27FC236}">
                <a16:creationId xmlns:a16="http://schemas.microsoft.com/office/drawing/2014/main" id="{01574383-1B64-A09E-B4C2-C986A4837959}"/>
              </a:ext>
            </a:extLst>
          </p:cNvPr>
          <p:cNvSpPr txBox="1"/>
          <p:nvPr/>
        </p:nvSpPr>
        <p:spPr>
          <a:xfrm>
            <a:off x="901760" y="1623665"/>
            <a:ext cx="1963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Pre-training</a:t>
            </a:r>
            <a:endParaRPr kumimoji="1" lang="zh-TW" altLang="en-US" sz="2400" b="1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6AD1F35A-6015-542A-11CB-F3EC29A3A1E1}"/>
              </a:ext>
            </a:extLst>
          </p:cNvPr>
          <p:cNvSpPr txBox="1"/>
          <p:nvPr/>
        </p:nvSpPr>
        <p:spPr>
          <a:xfrm>
            <a:off x="901760" y="4080177"/>
            <a:ext cx="1963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Fine-tuning</a:t>
            </a:r>
            <a:endParaRPr kumimoji="1" lang="zh-TW" altLang="en-US" sz="2400" b="1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112138C-2583-2C98-7350-3E364C790A79}"/>
              </a:ext>
            </a:extLst>
          </p:cNvPr>
          <p:cNvSpPr txBox="1"/>
          <p:nvPr/>
        </p:nvSpPr>
        <p:spPr>
          <a:xfrm>
            <a:off x="4994608" y="3032093"/>
            <a:ext cx="82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🔥</a:t>
            </a:r>
            <a:endParaRPr kumimoji="1" lang="zh-TW" altLang="en-US" sz="2800" dirty="0"/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7F908B78-85ED-6AC1-D2BE-204E84EBE7B7}"/>
              </a:ext>
            </a:extLst>
          </p:cNvPr>
          <p:cNvSpPr txBox="1"/>
          <p:nvPr/>
        </p:nvSpPr>
        <p:spPr>
          <a:xfrm>
            <a:off x="7692847" y="2600392"/>
            <a:ext cx="82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🔥</a:t>
            </a:r>
            <a:endParaRPr kumimoji="1" lang="zh-TW" altLang="en-US" sz="2800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00FCBA91-A6A1-B37E-113B-8EF0CCF46986}"/>
              </a:ext>
            </a:extLst>
          </p:cNvPr>
          <p:cNvSpPr txBox="1"/>
          <p:nvPr/>
        </p:nvSpPr>
        <p:spPr>
          <a:xfrm>
            <a:off x="7669168" y="4987487"/>
            <a:ext cx="82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🔥</a:t>
            </a:r>
            <a:endParaRPr kumimoji="1" lang="zh-TW" altLang="en-US" sz="2800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61F0FAFC-5A21-C0BA-D6A0-968958FEB206}"/>
              </a:ext>
            </a:extLst>
          </p:cNvPr>
          <p:cNvSpPr txBox="1"/>
          <p:nvPr/>
        </p:nvSpPr>
        <p:spPr>
          <a:xfrm>
            <a:off x="5007722" y="5419187"/>
            <a:ext cx="82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❄️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8418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82" grpId="0"/>
      <p:bldP spid="83" grpId="0"/>
      <p:bldP spid="84" grpId="0"/>
      <p:bldP spid="85" grpId="0"/>
      <p:bldP spid="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/>
              <a:t>SSL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0F77D2-841E-08C1-4A09-5AE447429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668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5A419-B761-9BA4-581D-37DFCD0B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條件機率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C51E99-2D91-19D1-B39D-AB454E0D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2018C91-37CB-A2B2-79CA-EC5FFAB55E0F}"/>
              </a:ext>
            </a:extLst>
          </p:cNvPr>
          <p:cNvSpPr txBox="1"/>
          <p:nvPr/>
        </p:nvSpPr>
        <p:spPr>
          <a:xfrm>
            <a:off x="653143" y="1840468"/>
            <a:ext cx="656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假設要讓模型生成一個句子：「天氣真好」</a:t>
            </a:r>
            <a:endParaRPr lang="zh-TW" altLang="en-US" sz="2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2C7A621-54CF-982A-208F-EE81E01E7288}"/>
              </a:ext>
            </a:extLst>
          </p:cNvPr>
          <p:cNvSpPr/>
          <p:nvPr/>
        </p:nvSpPr>
        <p:spPr>
          <a:xfrm>
            <a:off x="1604122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5C1DE3-DC42-33D4-CE31-8D11570F4A81}"/>
              </a:ext>
            </a:extLst>
          </p:cNvPr>
          <p:cNvSpPr txBox="1"/>
          <p:nvPr/>
        </p:nvSpPr>
        <p:spPr>
          <a:xfrm>
            <a:off x="1682049" y="5126057"/>
            <a:ext cx="1130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</a:t>
            </a:r>
            <a:r>
              <a:rPr kumimoji="1" lang="en-US" altLang="zh-TW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(BOS)</a:t>
            </a:r>
            <a:endParaRPr kumimoji="1" lang="zh-TW" altLang="en-US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D1BDD19-1075-76A8-6E65-68F8118BE849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2247404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155EFC6-2B86-11EF-39D3-35EDE7E47E2D}"/>
              </a:ext>
            </a:extLst>
          </p:cNvPr>
          <p:cNvSpPr txBox="1"/>
          <p:nvPr/>
        </p:nvSpPr>
        <p:spPr>
          <a:xfrm>
            <a:off x="1682049" y="276148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CB132C1-055E-7095-06CA-38B86405887D}"/>
              </a:ext>
            </a:extLst>
          </p:cNvPr>
          <p:cNvCxnSpPr>
            <a:cxnSpLocks/>
            <a:stCxn id="7" idx="0"/>
            <a:endCxn id="15" idx="2"/>
          </p:cNvCxnSpPr>
          <p:nvPr/>
        </p:nvCxnSpPr>
        <p:spPr>
          <a:xfrm flipV="1">
            <a:off x="2247404" y="3130816"/>
            <a:ext cx="0" cy="6377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9EE703D-F67E-A0AB-871A-2F6F6E4AF9B6}"/>
              </a:ext>
            </a:extLst>
          </p:cNvPr>
          <p:cNvSpPr txBox="1"/>
          <p:nvPr/>
        </p:nvSpPr>
        <p:spPr>
          <a:xfrm>
            <a:off x="1221914" y="5920302"/>
            <a:ext cx="213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|BOS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922FE676-B0FA-15A7-0031-BEBD41D62E19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2890686" y="4127146"/>
            <a:ext cx="9094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E7EA5C7D-9C49-A98D-5274-1571DEEC40CB}"/>
              </a:ext>
            </a:extLst>
          </p:cNvPr>
          <p:cNvSpPr/>
          <p:nvPr/>
        </p:nvSpPr>
        <p:spPr>
          <a:xfrm>
            <a:off x="3800167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DB6AF11-82C4-1E97-98EE-6AC7126E682C}"/>
              </a:ext>
            </a:extLst>
          </p:cNvPr>
          <p:cNvSpPr txBox="1"/>
          <p:nvPr/>
        </p:nvSpPr>
        <p:spPr>
          <a:xfrm>
            <a:off x="3878094" y="5126057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19049F-0FF1-AB3A-FDC8-F3F293724580}"/>
              </a:ext>
            </a:extLst>
          </p:cNvPr>
          <p:cNvSpPr txBox="1"/>
          <p:nvPr/>
        </p:nvSpPr>
        <p:spPr>
          <a:xfrm>
            <a:off x="3878094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A13E147C-1DA0-AD82-96AC-B031AE550A5A}"/>
              </a:ext>
            </a:extLst>
          </p:cNvPr>
          <p:cNvCxnSpPr>
            <a:cxnSpLocks/>
            <a:stCxn id="22" idx="0"/>
            <a:endCxn id="24" idx="2"/>
          </p:cNvCxnSpPr>
          <p:nvPr/>
        </p:nvCxnSpPr>
        <p:spPr>
          <a:xfrm flipV="1">
            <a:off x="4443449" y="3128237"/>
            <a:ext cx="0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DC69554F-D75A-750C-7A18-A7EBE85F7EC8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flipV="1">
            <a:off x="4443449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7E8106A-BFA7-53F1-F296-0E15721F3F02}"/>
              </a:ext>
            </a:extLst>
          </p:cNvPr>
          <p:cNvSpPr txBox="1"/>
          <p:nvPr/>
        </p:nvSpPr>
        <p:spPr>
          <a:xfrm>
            <a:off x="3386370" y="5920301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F29898A4-E724-801A-4ED3-705BA56AEF46}"/>
              </a:ext>
            </a:extLst>
          </p:cNvPr>
          <p:cNvSpPr/>
          <p:nvPr/>
        </p:nvSpPr>
        <p:spPr>
          <a:xfrm>
            <a:off x="6002385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B29917-9A66-3D14-6F3C-007D4CF26B34}"/>
              </a:ext>
            </a:extLst>
          </p:cNvPr>
          <p:cNvSpPr txBox="1"/>
          <p:nvPr/>
        </p:nvSpPr>
        <p:spPr>
          <a:xfrm>
            <a:off x="6080312" y="5126056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ADF297B-286A-8A22-3C9B-48FC4F21EE7B}"/>
              </a:ext>
            </a:extLst>
          </p:cNvPr>
          <p:cNvSpPr txBox="1"/>
          <p:nvPr/>
        </p:nvSpPr>
        <p:spPr>
          <a:xfrm>
            <a:off x="6074138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61A6D5EA-E957-EAF2-AC03-E4572F974BC0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6639493" y="3128237"/>
            <a:ext cx="6174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A81AF69-85EE-C2DF-4C21-B07FA59315BC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6645667" y="4485753"/>
            <a:ext cx="0" cy="6403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3377379D-D458-0D44-9C13-56B9B1B34C37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086731" y="4127146"/>
            <a:ext cx="9156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85FDD9DB-56C8-07A9-76EF-53DB5285B974}"/>
              </a:ext>
            </a:extLst>
          </p:cNvPr>
          <p:cNvSpPr/>
          <p:nvPr/>
        </p:nvSpPr>
        <p:spPr>
          <a:xfrm>
            <a:off x="8198428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43BD6734-4B6C-26FD-7B7A-1EAD0C8185D3}"/>
              </a:ext>
            </a:extLst>
          </p:cNvPr>
          <p:cNvCxnSpPr>
            <a:cxnSpLocks/>
          </p:cNvCxnSpPr>
          <p:nvPr/>
        </p:nvCxnSpPr>
        <p:spPr>
          <a:xfrm flipH="1" flipV="1">
            <a:off x="8847884" y="3128237"/>
            <a:ext cx="6174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1101420D-6B2E-5618-5999-7A3A7CD75C65}"/>
              </a:ext>
            </a:extLst>
          </p:cNvPr>
          <p:cNvCxnSpPr>
            <a:cxnSpLocks/>
          </p:cNvCxnSpPr>
          <p:nvPr/>
        </p:nvCxnSpPr>
        <p:spPr>
          <a:xfrm flipV="1">
            <a:off x="8850971" y="4485754"/>
            <a:ext cx="0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E4BACEFE-0207-D316-3A2F-E1C863F85555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7288949" y="4127146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36AD2FB-21CA-664B-71AB-AE9D26823743}"/>
              </a:ext>
            </a:extLst>
          </p:cNvPr>
          <p:cNvSpPr txBox="1"/>
          <p:nvPr/>
        </p:nvSpPr>
        <p:spPr>
          <a:xfrm>
            <a:off x="8270181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20709223-573E-2E2D-0B1F-65BB2C71AF1D}"/>
              </a:ext>
            </a:extLst>
          </p:cNvPr>
          <p:cNvCxnSpPr>
            <a:cxnSpLocks/>
          </p:cNvCxnSpPr>
          <p:nvPr/>
        </p:nvCxnSpPr>
        <p:spPr>
          <a:xfrm>
            <a:off x="9484992" y="4127145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ED38F24-8837-CBEE-C182-41D690AAB9BF}"/>
              </a:ext>
            </a:extLst>
          </p:cNvPr>
          <p:cNvSpPr txBox="1"/>
          <p:nvPr/>
        </p:nvSpPr>
        <p:spPr>
          <a:xfrm>
            <a:off x="8282530" y="512605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8B91F5C-7965-097C-E52A-539DE10DADCA}"/>
              </a:ext>
            </a:extLst>
          </p:cNvPr>
          <p:cNvSpPr txBox="1"/>
          <p:nvPr/>
        </p:nvSpPr>
        <p:spPr>
          <a:xfrm>
            <a:off x="5688219" y="5920300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開始字詞、天、氣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FB95BBE-2291-A897-E588-501B79736D88}"/>
              </a:ext>
            </a:extLst>
          </p:cNvPr>
          <p:cNvSpPr txBox="1"/>
          <p:nvPr/>
        </p:nvSpPr>
        <p:spPr>
          <a:xfrm>
            <a:off x="7944152" y="5897611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開始字詞、天、氣、真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6774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5" grpId="0"/>
      <p:bldP spid="19" grpId="0"/>
      <p:bldP spid="22" grpId="0" animBg="1"/>
      <p:bldP spid="23" grpId="0"/>
      <p:bldP spid="24" grpId="0"/>
      <p:bldP spid="34" grpId="0"/>
      <p:bldP spid="35" grpId="0" animBg="1"/>
      <p:bldP spid="36" grpId="0"/>
      <p:bldP spid="37" grpId="0"/>
      <p:bldP spid="48" grpId="0" animBg="1"/>
      <p:bldP spid="54" grpId="0"/>
      <p:bldP spid="56" grpId="0"/>
      <p:bldP spid="57" grpId="0"/>
      <p:bldP spid="5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702-4B56-D69D-2044-8BE4C20E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4BF69-E3A1-CFA7-C259-1A53657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39</a:t>
            </a:fld>
            <a:endParaRPr lang="zh-TW" altLang="en-US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D1D48EE6-20D2-AE58-A92C-3FEF9374D106}"/>
              </a:ext>
            </a:extLst>
          </p:cNvPr>
          <p:cNvSpPr/>
          <p:nvPr/>
        </p:nvSpPr>
        <p:spPr>
          <a:xfrm>
            <a:off x="1053516" y="381545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 (e.g., RNN)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9C18138D-2F9E-B7AC-AF31-80200C74547D}"/>
              </a:ext>
            </a:extLst>
          </p:cNvPr>
          <p:cNvSpPr/>
          <p:nvPr/>
        </p:nvSpPr>
        <p:spPr>
          <a:xfrm>
            <a:off x="113524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78CE1AC-6581-98CA-E3AF-FDC7DC085BA2}"/>
              </a:ext>
            </a:extLst>
          </p:cNvPr>
          <p:cNvSpPr/>
          <p:nvPr/>
        </p:nvSpPr>
        <p:spPr>
          <a:xfrm>
            <a:off x="404982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94D4E7F-2167-5556-2AE6-AAD132578C77}"/>
              </a:ext>
            </a:extLst>
          </p:cNvPr>
          <p:cNvSpPr/>
          <p:nvPr/>
        </p:nvSpPr>
        <p:spPr>
          <a:xfrm>
            <a:off x="4632739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56865D3-702C-99A1-21E0-8E293251D0AC}"/>
              </a:ext>
            </a:extLst>
          </p:cNvPr>
          <p:cNvSpPr/>
          <p:nvPr/>
        </p:nvSpPr>
        <p:spPr>
          <a:xfrm>
            <a:off x="171816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B1BACAC-83CE-05B9-5D0E-65AB22BBE5D7}"/>
              </a:ext>
            </a:extLst>
          </p:cNvPr>
          <p:cNvSpPr/>
          <p:nvPr/>
        </p:nvSpPr>
        <p:spPr>
          <a:xfrm>
            <a:off x="230107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38C12175-BF3B-26F0-442C-8C812F63CDD5}"/>
              </a:ext>
            </a:extLst>
          </p:cNvPr>
          <p:cNvSpPr/>
          <p:nvPr/>
        </p:nvSpPr>
        <p:spPr>
          <a:xfrm>
            <a:off x="288399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1637828-BC44-4F38-8885-7241FC84491C}"/>
              </a:ext>
            </a:extLst>
          </p:cNvPr>
          <p:cNvSpPr/>
          <p:nvPr/>
        </p:nvSpPr>
        <p:spPr>
          <a:xfrm>
            <a:off x="346690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7EB8953-6E87-F058-6FB5-C549DC65EDED}"/>
              </a:ext>
            </a:extLst>
          </p:cNvPr>
          <p:cNvCxnSpPr>
            <a:cxnSpLocks/>
          </p:cNvCxnSpPr>
          <p:nvPr/>
        </p:nvCxnSpPr>
        <p:spPr>
          <a:xfrm flipV="1">
            <a:off x="136717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8D7ACB2-CF6F-909E-624F-EDA7FDEA36C7}"/>
              </a:ext>
            </a:extLst>
          </p:cNvPr>
          <p:cNvCxnSpPr>
            <a:cxnSpLocks/>
          </p:cNvCxnSpPr>
          <p:nvPr/>
        </p:nvCxnSpPr>
        <p:spPr>
          <a:xfrm flipV="1">
            <a:off x="1947369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EB00621-3702-A861-C67F-D1D813014439}"/>
              </a:ext>
            </a:extLst>
          </p:cNvPr>
          <p:cNvCxnSpPr>
            <a:cxnSpLocks/>
          </p:cNvCxnSpPr>
          <p:nvPr/>
        </p:nvCxnSpPr>
        <p:spPr>
          <a:xfrm flipV="1">
            <a:off x="2527563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C3550D86-337D-E2F8-1DD8-2C4BA36FB6FB}"/>
              </a:ext>
            </a:extLst>
          </p:cNvPr>
          <p:cNvCxnSpPr>
            <a:cxnSpLocks/>
          </p:cNvCxnSpPr>
          <p:nvPr/>
        </p:nvCxnSpPr>
        <p:spPr>
          <a:xfrm flipV="1">
            <a:off x="3107757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169E96C9-57A7-3729-3E7B-59236EF0E4D7}"/>
              </a:ext>
            </a:extLst>
          </p:cNvPr>
          <p:cNvCxnSpPr>
            <a:cxnSpLocks/>
          </p:cNvCxnSpPr>
          <p:nvPr/>
        </p:nvCxnSpPr>
        <p:spPr>
          <a:xfrm flipV="1">
            <a:off x="3687951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0D78BC7F-4D4A-8F22-240D-AA52AF35C1CE}"/>
              </a:ext>
            </a:extLst>
          </p:cNvPr>
          <p:cNvCxnSpPr>
            <a:cxnSpLocks/>
          </p:cNvCxnSpPr>
          <p:nvPr/>
        </p:nvCxnSpPr>
        <p:spPr>
          <a:xfrm flipV="1">
            <a:off x="426814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2375D72-99C4-D87B-1E32-0BAF45E9C920}"/>
              </a:ext>
            </a:extLst>
          </p:cNvPr>
          <p:cNvCxnSpPr>
            <a:cxnSpLocks/>
          </p:cNvCxnSpPr>
          <p:nvPr/>
        </p:nvCxnSpPr>
        <p:spPr>
          <a:xfrm flipV="1">
            <a:off x="4848338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477AF822-A44C-ACDC-E3C7-E2F3DBD90267}"/>
              </a:ext>
            </a:extLst>
          </p:cNvPr>
          <p:cNvSpPr/>
          <p:nvPr/>
        </p:nvSpPr>
        <p:spPr>
          <a:xfrm>
            <a:off x="4632739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838753-A9EA-AEEF-042D-5FECD656FA81}"/>
              </a:ext>
            </a:extLst>
          </p:cNvPr>
          <p:cNvCxnSpPr>
            <a:cxnSpLocks/>
          </p:cNvCxnSpPr>
          <p:nvPr/>
        </p:nvCxnSpPr>
        <p:spPr>
          <a:xfrm flipV="1">
            <a:off x="48619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2">
                <a:extLst>
                  <a:ext uri="{FF2B5EF4-FFF2-40B4-BE49-F238E27FC236}">
                    <a16:creationId xmlns:a16="http://schemas.microsoft.com/office/drawing/2014/main" id="{DD8B3EBD-C615-5F42-A649-971C106C244E}"/>
                  </a:ext>
                </a:extLst>
              </p:cNvPr>
              <p:cNvSpPr txBox="1"/>
              <p:nvPr/>
            </p:nvSpPr>
            <p:spPr>
              <a:xfrm>
                <a:off x="992545" y="1928141"/>
                <a:ext cx="6929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Next-token prediction: </a:t>
                </a:r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在給定上下文序列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，模型在第</a:t>
                </a:r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b="1" dirty="0">
                    <a:solidFill>
                      <a:srgbClr val="00B050"/>
                    </a:solidFill>
                    <a:ea typeface="Microsoft JhengHei" panose="020B0604030504040204" pitchFamily="34" charset="-120"/>
                  </a:rPr>
                  <a:t>個時間點會預測下一個字生成的機率值</a:t>
                </a:r>
              </a:p>
            </p:txBody>
          </p:sp>
        </mc:Choice>
        <mc:Fallback xmlns="">
          <p:sp>
            <p:nvSpPr>
              <p:cNvPr id="37" name="文字方塊 2">
                <a:extLst>
                  <a:ext uri="{FF2B5EF4-FFF2-40B4-BE49-F238E27FC236}">
                    <a16:creationId xmlns:a16="http://schemas.microsoft.com/office/drawing/2014/main" id="{DD8B3EBD-C615-5F42-A649-971C106C2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5" y="1928141"/>
                <a:ext cx="6929627" cy="707886"/>
              </a:xfrm>
              <a:prstGeom prst="rect">
                <a:avLst/>
              </a:prstGeom>
              <a:blipFill>
                <a:blip r:embed="rId3"/>
                <a:stretch>
                  <a:fillRect l="-1099" t="-3509" b="-14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/>
              <p:nvPr/>
            </p:nvSpPr>
            <p:spPr>
              <a:xfrm>
                <a:off x="6007512" y="3054557"/>
                <a:ext cx="34622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512" y="3054557"/>
                <a:ext cx="3462292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1432707-D649-B997-664F-93368CC7C22F}"/>
              </a:ext>
            </a:extLst>
          </p:cNvPr>
          <p:cNvSpPr txBox="1"/>
          <p:nvPr/>
        </p:nvSpPr>
        <p:spPr>
          <a:xfrm>
            <a:off x="5661711" y="3911254"/>
            <a:ext cx="6029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200" dirty="0"/>
              <a:t>The task involving predictions of upcoming words is next-token prediction.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DED921C8-7419-4C07-9E33-602B7773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Next-token prediction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34CE8D2B-A8F9-A1D3-61F6-6BBAEC0A4A07}"/>
              </a:ext>
            </a:extLst>
          </p:cNvPr>
          <p:cNvSpPr/>
          <p:nvPr/>
        </p:nvSpPr>
        <p:spPr>
          <a:xfrm>
            <a:off x="112918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D120AC46-9C15-E055-C137-062E787E8040}"/>
              </a:ext>
            </a:extLst>
          </p:cNvPr>
          <p:cNvSpPr/>
          <p:nvPr/>
        </p:nvSpPr>
        <p:spPr>
          <a:xfrm>
            <a:off x="404375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E87610D5-617C-0366-DADA-C43F8DFD5CBA}"/>
              </a:ext>
            </a:extLst>
          </p:cNvPr>
          <p:cNvSpPr/>
          <p:nvPr/>
        </p:nvSpPr>
        <p:spPr>
          <a:xfrm>
            <a:off x="171209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32693CAE-84D3-AF4F-D456-2D3CD8571044}"/>
              </a:ext>
            </a:extLst>
          </p:cNvPr>
          <p:cNvSpPr/>
          <p:nvPr/>
        </p:nvSpPr>
        <p:spPr>
          <a:xfrm>
            <a:off x="229501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F1476C82-D526-C26D-EAB0-D10ED46FB798}"/>
              </a:ext>
            </a:extLst>
          </p:cNvPr>
          <p:cNvSpPr/>
          <p:nvPr/>
        </p:nvSpPr>
        <p:spPr>
          <a:xfrm>
            <a:off x="287792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AEE52965-1951-B0D9-AF66-DC8F52321F40}"/>
              </a:ext>
            </a:extLst>
          </p:cNvPr>
          <p:cNvSpPr/>
          <p:nvPr/>
        </p:nvSpPr>
        <p:spPr>
          <a:xfrm>
            <a:off x="346084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F9DEE172-E84E-C14F-8366-675152B4B209}"/>
              </a:ext>
            </a:extLst>
          </p:cNvPr>
          <p:cNvCxnSpPr>
            <a:cxnSpLocks/>
          </p:cNvCxnSpPr>
          <p:nvPr/>
        </p:nvCxnSpPr>
        <p:spPr>
          <a:xfrm flipV="1">
            <a:off x="136717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692EF03F-E56D-1EF0-21F4-F2E486842E00}"/>
              </a:ext>
            </a:extLst>
          </p:cNvPr>
          <p:cNvCxnSpPr>
            <a:cxnSpLocks/>
          </p:cNvCxnSpPr>
          <p:nvPr/>
        </p:nvCxnSpPr>
        <p:spPr>
          <a:xfrm flipV="1">
            <a:off x="1947369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810DCA2-5311-1AE0-8D97-1C6D60777426}"/>
              </a:ext>
            </a:extLst>
          </p:cNvPr>
          <p:cNvCxnSpPr>
            <a:cxnSpLocks/>
          </p:cNvCxnSpPr>
          <p:nvPr/>
        </p:nvCxnSpPr>
        <p:spPr>
          <a:xfrm flipV="1">
            <a:off x="2527563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04F382F-032D-0706-5759-C0BB83A892F1}"/>
              </a:ext>
            </a:extLst>
          </p:cNvPr>
          <p:cNvCxnSpPr>
            <a:cxnSpLocks/>
          </p:cNvCxnSpPr>
          <p:nvPr/>
        </p:nvCxnSpPr>
        <p:spPr>
          <a:xfrm flipV="1">
            <a:off x="3107757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5B198EA9-AC44-E217-D216-83B9A99B0E80}"/>
              </a:ext>
            </a:extLst>
          </p:cNvPr>
          <p:cNvCxnSpPr>
            <a:cxnSpLocks/>
          </p:cNvCxnSpPr>
          <p:nvPr/>
        </p:nvCxnSpPr>
        <p:spPr>
          <a:xfrm flipV="1">
            <a:off x="3687951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A36CCC39-D953-1216-9943-E39507AEE0DD}"/>
              </a:ext>
            </a:extLst>
          </p:cNvPr>
          <p:cNvCxnSpPr>
            <a:cxnSpLocks/>
          </p:cNvCxnSpPr>
          <p:nvPr/>
        </p:nvCxnSpPr>
        <p:spPr>
          <a:xfrm flipV="1">
            <a:off x="42681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28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35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702-4B56-D69D-2044-8BE4C20E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4BF69-E3A1-CFA7-C259-1A53657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40</a:t>
            </a:fld>
            <a:endParaRPr lang="zh-TW" altLang="en-US"/>
          </a:p>
        </p:txBody>
      </p:sp>
      <p:sp>
        <p:nvSpPr>
          <p:cNvPr id="37" name="文字方塊 2">
            <a:extLst>
              <a:ext uri="{FF2B5EF4-FFF2-40B4-BE49-F238E27FC236}">
                <a16:creationId xmlns:a16="http://schemas.microsoft.com/office/drawing/2014/main" id="{DD8B3EBD-C615-5F42-A649-971C106C244E}"/>
              </a:ext>
            </a:extLst>
          </p:cNvPr>
          <p:cNvSpPr txBox="1"/>
          <p:nvPr/>
        </p:nvSpPr>
        <p:spPr>
          <a:xfrm>
            <a:off x="653143" y="1906131"/>
            <a:ext cx="10485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綜和每個時間點預測的聯合機率分佈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每個時間點的機率值相乘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)</a:t>
            </a:r>
            <a:endParaRPr kumimoji="1" lang="zh-TW" altLang="en-US" sz="2000" b="1" dirty="0">
              <a:solidFill>
                <a:srgbClr val="00B050"/>
              </a:solidFill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/>
              <p:nvPr/>
            </p:nvSpPr>
            <p:spPr>
              <a:xfrm>
                <a:off x="6096000" y="2416559"/>
                <a:ext cx="429540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26795B6-8EB0-D302-0AEA-9D9649F1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16559"/>
                <a:ext cx="4295405" cy="1268552"/>
              </a:xfrm>
              <a:prstGeom prst="rect">
                <a:avLst/>
              </a:prstGeom>
              <a:blipFill>
                <a:blip r:embed="rId3"/>
                <a:stretch>
                  <a:fillRect l="-23894" t="-106931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11432707-D649-B997-664F-93368CC7C22F}"/>
              </a:ext>
            </a:extLst>
          </p:cNvPr>
          <p:cNvSpPr txBox="1"/>
          <p:nvPr/>
        </p:nvSpPr>
        <p:spPr>
          <a:xfrm>
            <a:off x="5689582" y="3987617"/>
            <a:ext cx="5881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語言模型：能預測語言序列生成之機率分布的模型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DED921C8-7419-4C07-9E33-602B7773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模型如何進行訓練？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4FE676D-10AF-13AD-4F64-2D8F5D356F1E}"/>
              </a:ext>
            </a:extLst>
          </p:cNvPr>
          <p:cNvSpPr/>
          <p:nvPr/>
        </p:nvSpPr>
        <p:spPr>
          <a:xfrm>
            <a:off x="1053516" y="381545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 (e.g., RNN)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A89CEB8C-238C-15F2-80B7-7D08F10E427F}"/>
              </a:ext>
            </a:extLst>
          </p:cNvPr>
          <p:cNvSpPr/>
          <p:nvPr/>
        </p:nvSpPr>
        <p:spPr>
          <a:xfrm>
            <a:off x="113524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6CF96F2-E3D3-0588-6807-4A660C5730B1}"/>
              </a:ext>
            </a:extLst>
          </p:cNvPr>
          <p:cNvSpPr/>
          <p:nvPr/>
        </p:nvSpPr>
        <p:spPr>
          <a:xfrm>
            <a:off x="404982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BC881DDB-7386-9C76-A6DD-49C758E71727}"/>
              </a:ext>
            </a:extLst>
          </p:cNvPr>
          <p:cNvSpPr/>
          <p:nvPr/>
        </p:nvSpPr>
        <p:spPr>
          <a:xfrm>
            <a:off x="4632739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14A0C2C-1F97-983B-76A9-2CC1331D5DEC}"/>
              </a:ext>
            </a:extLst>
          </p:cNvPr>
          <p:cNvSpPr/>
          <p:nvPr/>
        </p:nvSpPr>
        <p:spPr>
          <a:xfrm>
            <a:off x="171816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1515603-E866-7550-7E7E-EDB4324E21FF}"/>
              </a:ext>
            </a:extLst>
          </p:cNvPr>
          <p:cNvSpPr/>
          <p:nvPr/>
        </p:nvSpPr>
        <p:spPr>
          <a:xfrm>
            <a:off x="230107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C6E1056E-A7A1-8033-1875-9457F1C650C0}"/>
              </a:ext>
            </a:extLst>
          </p:cNvPr>
          <p:cNvSpPr/>
          <p:nvPr/>
        </p:nvSpPr>
        <p:spPr>
          <a:xfrm>
            <a:off x="2883992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03C31A42-D281-D54D-C532-A0800B6455C6}"/>
              </a:ext>
            </a:extLst>
          </p:cNvPr>
          <p:cNvSpPr/>
          <p:nvPr/>
        </p:nvSpPr>
        <p:spPr>
          <a:xfrm>
            <a:off x="3466907" y="513007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E92C223C-E2D8-9AD3-4A9C-FD3A1194305E}"/>
              </a:ext>
            </a:extLst>
          </p:cNvPr>
          <p:cNvCxnSpPr>
            <a:cxnSpLocks/>
          </p:cNvCxnSpPr>
          <p:nvPr/>
        </p:nvCxnSpPr>
        <p:spPr>
          <a:xfrm flipV="1">
            <a:off x="136717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C761F68C-D897-A0C9-203F-EA55156B9017}"/>
              </a:ext>
            </a:extLst>
          </p:cNvPr>
          <p:cNvCxnSpPr>
            <a:cxnSpLocks/>
          </p:cNvCxnSpPr>
          <p:nvPr/>
        </p:nvCxnSpPr>
        <p:spPr>
          <a:xfrm flipV="1">
            <a:off x="1947369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7996C5A9-9F12-EFA9-C0A7-E83098113C0C}"/>
              </a:ext>
            </a:extLst>
          </p:cNvPr>
          <p:cNvCxnSpPr>
            <a:cxnSpLocks/>
          </p:cNvCxnSpPr>
          <p:nvPr/>
        </p:nvCxnSpPr>
        <p:spPr>
          <a:xfrm flipV="1">
            <a:off x="2527563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49072187-9CB9-EDCD-2259-1735FDF569A4}"/>
              </a:ext>
            </a:extLst>
          </p:cNvPr>
          <p:cNvCxnSpPr>
            <a:cxnSpLocks/>
          </p:cNvCxnSpPr>
          <p:nvPr/>
        </p:nvCxnSpPr>
        <p:spPr>
          <a:xfrm flipV="1">
            <a:off x="3107757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D06BF9B6-7619-4A0F-CC03-723C26EF465B}"/>
              </a:ext>
            </a:extLst>
          </p:cNvPr>
          <p:cNvCxnSpPr>
            <a:cxnSpLocks/>
          </p:cNvCxnSpPr>
          <p:nvPr/>
        </p:nvCxnSpPr>
        <p:spPr>
          <a:xfrm flipV="1">
            <a:off x="3687951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CF1D7353-A03D-4CA4-6A29-A83B7EAB6B30}"/>
              </a:ext>
            </a:extLst>
          </p:cNvPr>
          <p:cNvCxnSpPr>
            <a:cxnSpLocks/>
          </p:cNvCxnSpPr>
          <p:nvPr/>
        </p:nvCxnSpPr>
        <p:spPr>
          <a:xfrm flipV="1">
            <a:off x="4268145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51767266-B3DA-D954-36E8-8C352938FAC5}"/>
              </a:ext>
            </a:extLst>
          </p:cNvPr>
          <p:cNvCxnSpPr>
            <a:cxnSpLocks/>
          </p:cNvCxnSpPr>
          <p:nvPr/>
        </p:nvCxnSpPr>
        <p:spPr>
          <a:xfrm flipV="1">
            <a:off x="4848338" y="481861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83B2216B-64BA-8E11-AA5F-AD51A534DC9E}"/>
              </a:ext>
            </a:extLst>
          </p:cNvPr>
          <p:cNvSpPr/>
          <p:nvPr/>
        </p:nvSpPr>
        <p:spPr>
          <a:xfrm>
            <a:off x="4632739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E09DBE71-A04A-D9F2-4953-3B0F828871A8}"/>
              </a:ext>
            </a:extLst>
          </p:cNvPr>
          <p:cNvCxnSpPr>
            <a:cxnSpLocks/>
          </p:cNvCxnSpPr>
          <p:nvPr/>
        </p:nvCxnSpPr>
        <p:spPr>
          <a:xfrm flipV="1">
            <a:off x="48619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4C4BA6E2-8F1D-AF0D-67F8-605B3948167E}"/>
              </a:ext>
            </a:extLst>
          </p:cNvPr>
          <p:cNvSpPr/>
          <p:nvPr/>
        </p:nvSpPr>
        <p:spPr>
          <a:xfrm>
            <a:off x="112918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FEB73C0D-151A-A4CE-16EF-23E60233DBB8}"/>
              </a:ext>
            </a:extLst>
          </p:cNvPr>
          <p:cNvSpPr/>
          <p:nvPr/>
        </p:nvSpPr>
        <p:spPr>
          <a:xfrm>
            <a:off x="404375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BB60766F-1E60-C09E-B76D-CA57F2D488FD}"/>
              </a:ext>
            </a:extLst>
          </p:cNvPr>
          <p:cNvSpPr/>
          <p:nvPr/>
        </p:nvSpPr>
        <p:spPr>
          <a:xfrm>
            <a:off x="171209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A29333FE-7E68-9F9D-875D-A6B5CFD85021}"/>
              </a:ext>
            </a:extLst>
          </p:cNvPr>
          <p:cNvSpPr/>
          <p:nvPr/>
        </p:nvSpPr>
        <p:spPr>
          <a:xfrm>
            <a:off x="229501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F88E6B07-D145-2025-4AD4-BE2A817FB901}"/>
              </a:ext>
            </a:extLst>
          </p:cNvPr>
          <p:cNvSpPr/>
          <p:nvPr/>
        </p:nvSpPr>
        <p:spPr>
          <a:xfrm>
            <a:off x="2877925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EC2A5B88-F2A5-5927-B7C1-C6A7DE1BBC23}"/>
              </a:ext>
            </a:extLst>
          </p:cNvPr>
          <p:cNvSpPr/>
          <p:nvPr/>
        </p:nvSpPr>
        <p:spPr>
          <a:xfrm>
            <a:off x="3460840" y="309020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46D1EB3C-5B83-6869-6723-7AB3B2DA51CC}"/>
              </a:ext>
            </a:extLst>
          </p:cNvPr>
          <p:cNvCxnSpPr>
            <a:cxnSpLocks/>
          </p:cNvCxnSpPr>
          <p:nvPr/>
        </p:nvCxnSpPr>
        <p:spPr>
          <a:xfrm flipV="1">
            <a:off x="136717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1F5C6148-0E02-539B-8A36-8E15975EBF4C}"/>
              </a:ext>
            </a:extLst>
          </p:cNvPr>
          <p:cNvCxnSpPr>
            <a:cxnSpLocks/>
          </p:cNvCxnSpPr>
          <p:nvPr/>
        </p:nvCxnSpPr>
        <p:spPr>
          <a:xfrm flipV="1">
            <a:off x="1947369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F679A9D9-591C-C057-8B90-1D4E5094B601}"/>
              </a:ext>
            </a:extLst>
          </p:cNvPr>
          <p:cNvCxnSpPr>
            <a:cxnSpLocks/>
          </p:cNvCxnSpPr>
          <p:nvPr/>
        </p:nvCxnSpPr>
        <p:spPr>
          <a:xfrm flipV="1">
            <a:off x="2527563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295239C7-2F0E-B90A-3F84-9FD38889F7FA}"/>
              </a:ext>
            </a:extLst>
          </p:cNvPr>
          <p:cNvCxnSpPr>
            <a:cxnSpLocks/>
          </p:cNvCxnSpPr>
          <p:nvPr/>
        </p:nvCxnSpPr>
        <p:spPr>
          <a:xfrm flipV="1">
            <a:off x="3107757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76211BA7-37A1-7E19-6A51-B3854209472F}"/>
              </a:ext>
            </a:extLst>
          </p:cNvPr>
          <p:cNvCxnSpPr>
            <a:cxnSpLocks/>
          </p:cNvCxnSpPr>
          <p:nvPr/>
        </p:nvCxnSpPr>
        <p:spPr>
          <a:xfrm flipV="1">
            <a:off x="3687951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DC0D1BE6-013B-9D49-7FF6-0E7375F55C7D}"/>
              </a:ext>
            </a:extLst>
          </p:cNvPr>
          <p:cNvCxnSpPr>
            <a:cxnSpLocks/>
          </p:cNvCxnSpPr>
          <p:nvPr/>
        </p:nvCxnSpPr>
        <p:spPr>
          <a:xfrm flipV="1">
            <a:off x="4268145" y="351098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0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  <p:bldP spid="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(1)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blipFill>
                <a:blip r:embed="rId2"/>
                <a:stretch>
                  <a:fillRect l="-12366" t="-106931" r="-269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5445026" y="4616328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739218" y="1646839"/>
            <a:ext cx="7498002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為了使語言模型能夠以分類的形式被訓練，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通常會取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log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/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blipFill>
                <a:blip r:embed="rId3"/>
                <a:stretch>
                  <a:fillRect l="-17473" t="-109000" b="-163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E1423BFA-DAA7-5DF8-183E-651D744A69A9}"/>
              </a:ext>
            </a:extLst>
          </p:cNvPr>
          <p:cNvSpPr txBox="1">
            <a:spLocks/>
          </p:cNvSpPr>
          <p:nvPr/>
        </p:nvSpPr>
        <p:spPr>
          <a:xfrm>
            <a:off x="6117634" y="4206828"/>
            <a:ext cx="4894580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加上負號之後就是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 Cross-entropy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5899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8" grpId="0"/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61485-2411-8B51-3EAF-FB260B39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DFD992-EE9B-CF47-1F33-3C8A5E803DCF}"/>
              </a:ext>
            </a:extLst>
          </p:cNvPr>
          <p:cNvSpPr txBox="1"/>
          <p:nvPr/>
        </p:nvSpPr>
        <p:spPr>
          <a:xfrm>
            <a:off x="5387735" y="2705453"/>
            <a:ext cx="172665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CGU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love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hate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like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E4B2C0-E952-28BB-43AD-4AF71E36A6A7}"/>
              </a:ext>
            </a:extLst>
          </p:cNvPr>
          <p:cNvSpPr txBox="1"/>
          <p:nvPr/>
        </p:nvSpPr>
        <p:spPr>
          <a:xfrm>
            <a:off x="5225184" y="2274496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Token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92E2BA-E5A3-6D18-67DE-7FED3D7A6188}"/>
              </a:ext>
            </a:extLst>
          </p:cNvPr>
          <p:cNvSpPr txBox="1"/>
          <p:nvPr/>
        </p:nvSpPr>
        <p:spPr>
          <a:xfrm>
            <a:off x="6415493" y="2275339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Logits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743197-8878-762F-10B4-CFFF9CD39611}"/>
              </a:ext>
            </a:extLst>
          </p:cNvPr>
          <p:cNvSpPr txBox="1"/>
          <p:nvPr/>
        </p:nvSpPr>
        <p:spPr>
          <a:xfrm>
            <a:off x="3777816" y="3254186"/>
            <a:ext cx="1296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Example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Vocab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假設只有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9B04ED-8AED-AF03-3644-47CD75ABA4D8}"/>
              </a:ext>
            </a:extLst>
          </p:cNvPr>
          <p:cNvSpPr txBox="1"/>
          <p:nvPr/>
        </p:nvSpPr>
        <p:spPr>
          <a:xfrm>
            <a:off x="7563400" y="2736161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0.78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0.11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0.03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0.02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0.06</a:t>
            </a: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86B0476A-0ABE-50C3-447B-72A2519D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(2)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AFCADAD-B29A-3DDF-772F-9FCC70A7124A}"/>
              </a:ext>
            </a:extLst>
          </p:cNvPr>
          <p:cNvSpPr txBox="1"/>
          <p:nvPr/>
        </p:nvSpPr>
        <p:spPr>
          <a:xfrm>
            <a:off x="7460792" y="2263839"/>
            <a:ext cx="1406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 </a:t>
            </a:r>
            <a:r>
              <a:rPr kumimoji="1" lang="en-US" altLang="zh-TW" dirty="0" err="1"/>
              <a:t>Softmax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後之機率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CA918D-83CC-97FE-148A-5B38D4CE4A86}"/>
              </a:ext>
            </a:extLst>
          </p:cNvPr>
          <p:cNvSpPr txBox="1"/>
          <p:nvPr/>
        </p:nvSpPr>
        <p:spPr>
          <a:xfrm>
            <a:off x="8665229" y="2336121"/>
            <a:ext cx="140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正確答案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796932E-DA86-A834-22A2-F18A1200C0B1}"/>
              </a:ext>
            </a:extLst>
          </p:cNvPr>
          <p:cNvSpPr txBox="1"/>
          <p:nvPr/>
        </p:nvSpPr>
        <p:spPr>
          <a:xfrm>
            <a:off x="713500" y="1994652"/>
            <a:ext cx="3133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在</a:t>
            </a:r>
            <a:r>
              <a:rPr kumimoji="1" lang="en-US" altLang="zh-TW" dirty="0">
                <a:ea typeface="Microsoft JhengHei" panose="020B0604030504040204" pitchFamily="34" charset="-120"/>
              </a:rPr>
              <a:t> t </a:t>
            </a:r>
            <a:r>
              <a:rPr kumimoji="1" lang="zh-TW" altLang="en-US" dirty="0">
                <a:ea typeface="Microsoft JhengHei" panose="020B0604030504040204" pitchFamily="34" charset="-120"/>
              </a:rPr>
              <a:t>時間點的正確答案是 </a:t>
            </a:r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的字詞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7E8F12-4FAA-5840-CBE1-E7818E26BEE0}"/>
              </a:ext>
            </a:extLst>
          </p:cNvPr>
          <p:cNvSpPr txBox="1"/>
          <p:nvPr/>
        </p:nvSpPr>
        <p:spPr>
          <a:xfrm>
            <a:off x="1318875" y="3144752"/>
            <a:ext cx="17266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love </a:t>
            </a:r>
            <a:r>
              <a:rPr kumimoji="1" lang="en-US" altLang="zh-TW" sz="2400" dirty="0">
                <a:solidFill>
                  <a:schemeClr val="bg1">
                    <a:lumMod val="75000"/>
                  </a:schemeClr>
                </a:solidFill>
                <a:ea typeface="Microsoft JhengHei" panose="020B0604030504040204" pitchFamily="34" charset="-120"/>
              </a:rPr>
              <a:t>CGU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09D7DF4-B675-533A-657A-001DDECC3B07}"/>
              </a:ext>
            </a:extLst>
          </p:cNvPr>
          <p:cNvSpPr txBox="1"/>
          <p:nvPr/>
        </p:nvSpPr>
        <p:spPr>
          <a:xfrm>
            <a:off x="1667528" y="3689641"/>
            <a:ext cx="33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270F0F5-B102-51A9-70CB-7EE46B4E2C88}"/>
              </a:ext>
            </a:extLst>
          </p:cNvPr>
          <p:cNvSpPr txBox="1"/>
          <p:nvPr/>
        </p:nvSpPr>
        <p:spPr>
          <a:xfrm>
            <a:off x="2182200" y="3689641"/>
            <a:ext cx="59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D41630-608F-C98E-E884-FCDFBA35889F}"/>
              </a:ext>
            </a:extLst>
          </p:cNvPr>
          <p:cNvSpPr txBox="1"/>
          <p:nvPr/>
        </p:nvSpPr>
        <p:spPr>
          <a:xfrm>
            <a:off x="6360759" y="2718047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0.0011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0.0012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0.0013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0.0014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0.0015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368F85E-C0C3-1861-8E3A-112234521778}"/>
              </a:ext>
            </a:extLst>
          </p:cNvPr>
          <p:cNvSpPr txBox="1"/>
          <p:nvPr/>
        </p:nvSpPr>
        <p:spPr>
          <a:xfrm>
            <a:off x="8704649" y="2736160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B916830-494D-4054-555A-596CE8689BB5}"/>
              </a:ext>
            </a:extLst>
          </p:cNvPr>
          <p:cNvSpPr txBox="1"/>
          <p:nvPr/>
        </p:nvSpPr>
        <p:spPr>
          <a:xfrm>
            <a:off x="10349263" y="3866896"/>
            <a:ext cx="1063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Cross-entropy</a:t>
            </a:r>
            <a:endParaRPr kumimoji="1" lang="zh-TW" alt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30D4C7-9CEA-7CCB-3917-A565B274C52E}"/>
              </a:ext>
            </a:extLst>
          </p:cNvPr>
          <p:cNvSpPr/>
          <p:nvPr/>
        </p:nvSpPr>
        <p:spPr>
          <a:xfrm>
            <a:off x="9894518" y="4031233"/>
            <a:ext cx="322729" cy="317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88778-0630-B29A-55F4-4C0CE10B6443}"/>
                  </a:ext>
                </a:extLst>
              </p:cNvPr>
              <p:cNvSpPr txBox="1"/>
              <p:nvPr/>
            </p:nvSpPr>
            <p:spPr>
              <a:xfrm>
                <a:off x="5616337" y="6371879"/>
                <a:ext cx="57111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2000" dirty="0">
                    <a:solidFill>
                      <a:schemeClr val="tx1"/>
                    </a:solidFill>
                  </a:rPr>
                  <a:t>Cross-entropy: </a:t>
                </a:r>
                <a14:m>
                  <m:oMath xmlns:m="http://schemas.openxmlformats.org/officeDocument/2006/math"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TW" sz="20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88778-0630-B29A-55F4-4C0CE10B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337" y="6371879"/>
                <a:ext cx="5711135" cy="400110"/>
              </a:xfrm>
              <a:prstGeom prst="rect">
                <a:avLst/>
              </a:prstGeom>
              <a:blipFill>
                <a:blip r:embed="rId3"/>
                <a:stretch>
                  <a:fillRect l="-1111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9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6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202FB-6BC0-34FB-D56F-AEAF4FC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常見</a:t>
            </a:r>
            <a:r>
              <a:rPr kumimoji="1" lang="en-US" altLang="zh-TW" dirty="0"/>
              <a:t> Language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69D133-9077-1833-8D05-8510205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35194AD4-600B-AFA3-C393-D0C1290A3E51}"/>
              </a:ext>
            </a:extLst>
          </p:cNvPr>
          <p:cNvSpPr txBox="1"/>
          <p:nvPr/>
        </p:nvSpPr>
        <p:spPr>
          <a:xfrm>
            <a:off x="746660" y="1850666"/>
            <a:ext cx="4905993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Models: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透過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 去預測詞彙機率分佈的模型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3FF1C39-892D-65FF-7409-259C8CBEE11C}"/>
              </a:ext>
            </a:extLst>
          </p:cNvPr>
          <p:cNvSpPr/>
          <p:nvPr/>
        </p:nvSpPr>
        <p:spPr>
          <a:xfrm>
            <a:off x="1042767" y="3429000"/>
            <a:ext cx="1327077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DE7F2E3-2F2A-E30C-D7D5-E9CE0A235633}"/>
              </a:ext>
            </a:extLst>
          </p:cNvPr>
          <p:cNvSpPr/>
          <p:nvPr/>
        </p:nvSpPr>
        <p:spPr>
          <a:xfrm>
            <a:off x="1042766" y="4323348"/>
            <a:ext cx="1805299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Transformer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7E955D4-BD45-F2E0-8C6B-ED07B98C0708}"/>
              </a:ext>
            </a:extLst>
          </p:cNvPr>
          <p:cNvSpPr/>
          <p:nvPr/>
        </p:nvSpPr>
        <p:spPr>
          <a:xfrm>
            <a:off x="1042766" y="5217696"/>
            <a:ext cx="1805299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GPT-series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F0DF79-9FBA-437F-509B-A59B32A8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694" y="1548119"/>
            <a:ext cx="3619047" cy="5159829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849A8796-0AC9-501B-8101-86BDF8FEE9C0}"/>
              </a:ext>
            </a:extLst>
          </p:cNvPr>
          <p:cNvSpPr/>
          <p:nvPr/>
        </p:nvSpPr>
        <p:spPr>
          <a:xfrm>
            <a:off x="7678882" y="1465119"/>
            <a:ext cx="1381991" cy="51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5060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1E046-4B7F-576F-5217-73815E8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Evolutionary Tree of Large Language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DC1253-FB74-481A-3604-569596C8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7F15F43-9333-0F89-6741-3E82150A4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86" y="1541284"/>
            <a:ext cx="6521370" cy="508008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D59790F-3374-1176-1EF0-C3FA17FE1DED}"/>
              </a:ext>
            </a:extLst>
          </p:cNvPr>
          <p:cNvSpPr txBox="1"/>
          <p:nvPr/>
        </p:nvSpPr>
        <p:spPr>
          <a:xfrm>
            <a:off x="8149987" y="5949688"/>
            <a:ext cx="3192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Yang, </a:t>
            </a:r>
            <a:r>
              <a:rPr kumimoji="1" lang="en" altLang="zh-TW" sz="1200" dirty="0" err="1"/>
              <a:t>Jingfeng</a:t>
            </a:r>
            <a:r>
              <a:rPr kumimoji="1" lang="en" altLang="zh-TW" sz="1200" dirty="0"/>
              <a:t>, et al. "Harnessing the power of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in practice: A survey on </a:t>
            </a:r>
            <a:r>
              <a:rPr kumimoji="1" lang="en" altLang="zh-TW" sz="1200" dirty="0" err="1"/>
              <a:t>chatgpt</a:t>
            </a:r>
            <a:r>
              <a:rPr kumimoji="1" lang="en" altLang="zh-TW" sz="1200" dirty="0"/>
              <a:t> and beyond." ACM Transactions on Knowledge Discovery from Data 18.6 (2024): 1-32.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35635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BERT (</a:t>
            </a:r>
            <a:r>
              <a:rPr lang="en" altLang="zh-TW" dirty="0">
                <a:solidFill>
                  <a:srgbClr val="FF0000"/>
                </a:solidFill>
                <a:ea typeface="新細明體"/>
                <a:cs typeface="Calibri Light"/>
              </a:rPr>
              <a:t>Bidirectional </a:t>
            </a:r>
            <a:r>
              <a:rPr lang="en" altLang="zh-TW" dirty="0">
                <a:solidFill>
                  <a:schemeClr val="tx1"/>
                </a:solidFill>
                <a:ea typeface="新細明體"/>
                <a:cs typeface="Calibri Light"/>
              </a:rPr>
              <a:t>Encoder Representations from Transformers</a:t>
            </a:r>
            <a:r>
              <a:rPr lang="en-US" altLang="zh-TW" dirty="0">
                <a:ea typeface="新細明體"/>
                <a:cs typeface="Calibri Light"/>
              </a:rPr>
              <a:t>)</a:t>
            </a:r>
            <a:endParaRPr 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45</a:t>
            </a:fld>
            <a:endParaRPr lang="zh-TW" altLang="en-US"/>
          </a:p>
        </p:txBody>
      </p:sp>
      <p:sp>
        <p:nvSpPr>
          <p:cNvPr id="78" name="Google Shape;187;p17">
            <a:extLst>
              <a:ext uri="{FF2B5EF4-FFF2-40B4-BE49-F238E27FC236}">
                <a16:creationId xmlns:a16="http://schemas.microsoft.com/office/drawing/2014/main" id="{12078826-8F85-944B-ADBB-9FD846B897DC}"/>
              </a:ext>
            </a:extLst>
          </p:cNvPr>
          <p:cNvSpPr/>
          <p:nvPr/>
        </p:nvSpPr>
        <p:spPr>
          <a:xfrm>
            <a:off x="240884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88;p17">
            <a:extLst>
              <a:ext uri="{FF2B5EF4-FFF2-40B4-BE49-F238E27FC236}">
                <a16:creationId xmlns:a16="http://schemas.microsoft.com/office/drawing/2014/main" id="{C5EB92C9-179D-21A5-A8B1-A959D1399419}"/>
              </a:ext>
            </a:extLst>
          </p:cNvPr>
          <p:cNvSpPr/>
          <p:nvPr/>
        </p:nvSpPr>
        <p:spPr>
          <a:xfrm>
            <a:off x="169876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9;p17">
            <a:extLst>
              <a:ext uri="{FF2B5EF4-FFF2-40B4-BE49-F238E27FC236}">
                <a16:creationId xmlns:a16="http://schemas.microsoft.com/office/drawing/2014/main" id="{BD6637FB-70DE-4DEE-362A-B3E116F08900}"/>
              </a:ext>
            </a:extLst>
          </p:cNvPr>
          <p:cNvSpPr/>
          <p:nvPr/>
        </p:nvSpPr>
        <p:spPr>
          <a:xfrm>
            <a:off x="4538547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192;p17">
            <a:extLst>
              <a:ext uri="{FF2B5EF4-FFF2-40B4-BE49-F238E27FC236}">
                <a16:creationId xmlns:a16="http://schemas.microsoft.com/office/drawing/2014/main" id="{572F978B-DB27-932D-EBBB-25910B7F0C71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193;p17">
            <a:extLst>
              <a:ext uri="{FF2B5EF4-FFF2-40B4-BE49-F238E27FC236}">
                <a16:creationId xmlns:a16="http://schemas.microsoft.com/office/drawing/2014/main" id="{DE52FF4E-4D57-718C-A568-E103C0C28ABD}"/>
              </a:ext>
            </a:extLst>
          </p:cNvPr>
          <p:cNvCxnSpPr>
            <a:cxnSpLocks/>
          </p:cNvCxnSpPr>
          <p:nvPr/>
        </p:nvCxnSpPr>
        <p:spPr>
          <a:xfrm rot="10800000">
            <a:off x="320607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94;p17">
            <a:extLst>
              <a:ext uri="{FF2B5EF4-FFF2-40B4-BE49-F238E27FC236}">
                <a16:creationId xmlns:a16="http://schemas.microsoft.com/office/drawing/2014/main" id="{9E1B86D0-167B-F82B-4971-C1294716FF23}"/>
              </a:ext>
            </a:extLst>
          </p:cNvPr>
          <p:cNvCxnSpPr>
            <a:cxnSpLocks/>
          </p:cNvCxnSpPr>
          <p:nvPr/>
        </p:nvCxnSpPr>
        <p:spPr>
          <a:xfrm rot="10800000">
            <a:off x="391616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95;p17">
            <a:extLst>
              <a:ext uri="{FF2B5EF4-FFF2-40B4-BE49-F238E27FC236}">
                <a16:creationId xmlns:a16="http://schemas.microsoft.com/office/drawing/2014/main" id="{C91EDADF-2EF4-0682-E7C1-A612A6B98835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" name="Google Shape;200;p17">
            <a:extLst>
              <a:ext uri="{FF2B5EF4-FFF2-40B4-BE49-F238E27FC236}">
                <a16:creationId xmlns:a16="http://schemas.microsoft.com/office/drawing/2014/main" id="{08EE0E68-9D18-DAEC-6E65-313766CEBCE7}"/>
              </a:ext>
            </a:extLst>
          </p:cNvPr>
          <p:cNvSpPr txBox="1"/>
          <p:nvPr/>
        </p:nvSpPr>
        <p:spPr>
          <a:xfrm>
            <a:off x="3524904" y="2546158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bank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202;p17">
            <a:extLst>
              <a:ext uri="{FF2B5EF4-FFF2-40B4-BE49-F238E27FC236}">
                <a16:creationId xmlns:a16="http://schemas.microsoft.com/office/drawing/2014/main" id="{BFAD6294-3106-25E9-8AA3-AAE0FC3A1DBE}"/>
              </a:ext>
            </a:extLst>
          </p:cNvPr>
          <p:cNvSpPr txBox="1"/>
          <p:nvPr/>
        </p:nvSpPr>
        <p:spPr>
          <a:xfrm>
            <a:off x="2042139" y="2047434"/>
            <a:ext cx="315321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Masked Language Modelling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203;p17">
            <a:extLst>
              <a:ext uri="{FF2B5EF4-FFF2-40B4-BE49-F238E27FC236}">
                <a16:creationId xmlns:a16="http://schemas.microsoft.com/office/drawing/2014/main" id="{DAF192C6-ADD0-689F-D3D2-95114000BF88}"/>
              </a:ext>
            </a:extLst>
          </p:cNvPr>
          <p:cNvSpPr txBox="1"/>
          <p:nvPr/>
        </p:nvSpPr>
        <p:spPr>
          <a:xfrm>
            <a:off x="7225343" y="2047433"/>
            <a:ext cx="298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Next Sentence Prediction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218;p17">
            <a:extLst>
              <a:ext uri="{FF2B5EF4-FFF2-40B4-BE49-F238E27FC236}">
                <a16:creationId xmlns:a16="http://schemas.microsoft.com/office/drawing/2014/main" id="{89487FEF-8D42-11B8-9126-1E705AD9B8EA}"/>
              </a:ext>
            </a:extLst>
          </p:cNvPr>
          <p:cNvCxnSpPr>
            <a:cxnSpLocks/>
          </p:cNvCxnSpPr>
          <p:nvPr/>
        </p:nvCxnSpPr>
        <p:spPr>
          <a:xfrm flipV="1">
            <a:off x="6926968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" name="Google Shape;224;p17">
            <a:extLst>
              <a:ext uri="{FF2B5EF4-FFF2-40B4-BE49-F238E27FC236}">
                <a16:creationId xmlns:a16="http://schemas.microsoft.com/office/drawing/2014/main" id="{9C2B0B34-C579-B13F-2C97-862E5EC79054}"/>
              </a:ext>
            </a:extLst>
          </p:cNvPr>
          <p:cNvSpPr txBox="1"/>
          <p:nvPr/>
        </p:nvSpPr>
        <p:spPr>
          <a:xfrm>
            <a:off x="6331918" y="2438925"/>
            <a:ext cx="1190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dirty="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binary classification</a:t>
            </a:r>
            <a:endParaRPr sz="1300" dirty="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225;p17">
            <a:extLst>
              <a:ext uri="{FF2B5EF4-FFF2-40B4-BE49-F238E27FC236}">
                <a16:creationId xmlns:a16="http://schemas.microsoft.com/office/drawing/2014/main" id="{D2598E16-928B-F8ED-B1BC-08D08E1361F3}"/>
              </a:ext>
            </a:extLst>
          </p:cNvPr>
          <p:cNvSpPr txBox="1"/>
          <p:nvPr/>
        </p:nvSpPr>
        <p:spPr>
          <a:xfrm>
            <a:off x="1965207" y="6308224"/>
            <a:ext cx="827704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1200" dirty="0">
                <a:latin typeface="Roboto"/>
                <a:ea typeface="Roboto"/>
                <a:cs typeface="Roboto"/>
                <a:sym typeface="Roboto"/>
              </a:rPr>
              <a:t>Devlin, Jacob, et al. "BERT: Pre-training of Deep Bidirectional Transformers for Language Understanding." NAACL 2019.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195;p17">
            <a:extLst>
              <a:ext uri="{FF2B5EF4-FFF2-40B4-BE49-F238E27FC236}">
                <a16:creationId xmlns:a16="http://schemas.microsoft.com/office/drawing/2014/main" id="{66CA495A-19E6-1812-1E75-1E6512F61A5C}"/>
              </a:ext>
            </a:extLst>
          </p:cNvPr>
          <p:cNvCxnSpPr>
            <a:cxnSpLocks/>
          </p:cNvCxnSpPr>
          <p:nvPr/>
        </p:nvCxnSpPr>
        <p:spPr>
          <a:xfrm rot="10800000">
            <a:off x="249599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192;p17">
            <a:extLst>
              <a:ext uri="{FF2B5EF4-FFF2-40B4-BE49-F238E27FC236}">
                <a16:creationId xmlns:a16="http://schemas.microsoft.com/office/drawing/2014/main" id="{778DFAAD-6C8A-361E-FB33-A4D796293694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193;p17">
            <a:extLst>
              <a:ext uri="{FF2B5EF4-FFF2-40B4-BE49-F238E27FC236}">
                <a16:creationId xmlns:a16="http://schemas.microsoft.com/office/drawing/2014/main" id="{C1E80CEC-50C0-7A87-E961-F4BBEA568B72}"/>
              </a:ext>
            </a:extLst>
          </p:cNvPr>
          <p:cNvCxnSpPr>
            <a:cxnSpLocks/>
          </p:cNvCxnSpPr>
          <p:nvPr/>
        </p:nvCxnSpPr>
        <p:spPr>
          <a:xfrm rot="10800000">
            <a:off x="320607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194;p17">
            <a:extLst>
              <a:ext uri="{FF2B5EF4-FFF2-40B4-BE49-F238E27FC236}">
                <a16:creationId xmlns:a16="http://schemas.microsoft.com/office/drawing/2014/main" id="{65861D38-33A3-6511-151B-CF27648E78AB}"/>
              </a:ext>
            </a:extLst>
          </p:cNvPr>
          <p:cNvCxnSpPr>
            <a:cxnSpLocks/>
          </p:cNvCxnSpPr>
          <p:nvPr/>
        </p:nvCxnSpPr>
        <p:spPr>
          <a:xfrm rot="10800000">
            <a:off x="3916161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195;p17">
            <a:extLst>
              <a:ext uri="{FF2B5EF4-FFF2-40B4-BE49-F238E27FC236}">
                <a16:creationId xmlns:a16="http://schemas.microsoft.com/office/drawing/2014/main" id="{C5C110D0-DF8E-4BD4-7DEB-66571C28E076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195;p17">
            <a:extLst>
              <a:ext uri="{FF2B5EF4-FFF2-40B4-BE49-F238E27FC236}">
                <a16:creationId xmlns:a16="http://schemas.microsoft.com/office/drawing/2014/main" id="{EFD06827-5649-BA80-52DA-0012BF5383FF}"/>
              </a:ext>
            </a:extLst>
          </p:cNvPr>
          <p:cNvCxnSpPr>
            <a:cxnSpLocks/>
          </p:cNvCxnSpPr>
          <p:nvPr/>
        </p:nvCxnSpPr>
        <p:spPr>
          <a:xfrm rot="10800000">
            <a:off x="2495993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187;p17">
            <a:extLst>
              <a:ext uri="{FF2B5EF4-FFF2-40B4-BE49-F238E27FC236}">
                <a16:creationId xmlns:a16="http://schemas.microsoft.com/office/drawing/2014/main" id="{558102B0-D487-A2C1-EF09-57DC0FCD8CBC}"/>
              </a:ext>
            </a:extLst>
          </p:cNvPr>
          <p:cNvSpPr/>
          <p:nvPr/>
        </p:nvSpPr>
        <p:spPr>
          <a:xfrm>
            <a:off x="312085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87;p17">
            <a:extLst>
              <a:ext uri="{FF2B5EF4-FFF2-40B4-BE49-F238E27FC236}">
                <a16:creationId xmlns:a16="http://schemas.microsoft.com/office/drawing/2014/main" id="{24679670-27FD-5658-45B2-3EDC97809CFD}"/>
              </a:ext>
            </a:extLst>
          </p:cNvPr>
          <p:cNvSpPr/>
          <p:nvPr/>
        </p:nvSpPr>
        <p:spPr>
          <a:xfrm>
            <a:off x="381950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8D790F2-302A-1D31-CB9E-A2BBC2A7909D}"/>
              </a:ext>
            </a:extLst>
          </p:cNvPr>
          <p:cNvSpPr txBox="1"/>
          <p:nvPr/>
        </p:nvSpPr>
        <p:spPr>
          <a:xfrm>
            <a:off x="1476977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98762416-0669-652B-27F1-64287FEE488B}"/>
              </a:ext>
            </a:extLst>
          </p:cNvPr>
          <p:cNvSpPr txBox="1"/>
          <p:nvPr/>
        </p:nvSpPr>
        <p:spPr>
          <a:xfrm>
            <a:off x="218706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open</a:t>
            </a:r>
            <a:endParaRPr kumimoji="1" lang="zh-TW" altLang="en-US" sz="13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F1689B9-BC07-370F-3C26-2995578C7B6F}"/>
              </a:ext>
            </a:extLst>
          </p:cNvPr>
          <p:cNvSpPr txBox="1"/>
          <p:nvPr/>
        </p:nvSpPr>
        <p:spPr>
          <a:xfrm>
            <a:off x="289642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</a:t>
            </a:r>
            <a:endParaRPr kumimoji="1" lang="zh-TW" altLang="en-US" sz="13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3C6A9AC-925C-665B-DDA9-E28F39928D95}"/>
              </a:ext>
            </a:extLst>
          </p:cNvPr>
          <p:cNvSpPr txBox="1"/>
          <p:nvPr/>
        </p:nvSpPr>
        <p:spPr>
          <a:xfrm>
            <a:off x="3503432" y="5573410"/>
            <a:ext cx="8244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>
                <a:solidFill>
                  <a:srgbClr val="FF0000"/>
                </a:solidFill>
              </a:rPr>
              <a:t>[MASK]</a:t>
            </a:r>
            <a:endParaRPr kumimoji="1" lang="zh-TW" altLang="en-US" sz="1300" dirty="0">
              <a:solidFill>
                <a:srgbClr val="FF0000"/>
              </a:solidFill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621D8CB-3C9C-42D1-B506-AA87DFFB7C9B}"/>
              </a:ext>
            </a:extLst>
          </p:cNvPr>
          <p:cNvSpPr txBox="1"/>
          <p:nvPr/>
        </p:nvSpPr>
        <p:spPr>
          <a:xfrm>
            <a:off x="4188131" y="5554371"/>
            <a:ext cx="8816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account</a:t>
            </a:r>
            <a:endParaRPr kumimoji="1" lang="zh-TW" altLang="en-US" sz="1300" dirty="0"/>
          </a:p>
        </p:txBody>
      </p:sp>
      <p:sp>
        <p:nvSpPr>
          <p:cNvPr id="104" name="Google Shape;187;p17">
            <a:extLst>
              <a:ext uri="{FF2B5EF4-FFF2-40B4-BE49-F238E27FC236}">
                <a16:creationId xmlns:a16="http://schemas.microsoft.com/office/drawing/2014/main" id="{59572B40-01A3-7EAF-C5B8-000D6904EBBD}"/>
              </a:ext>
            </a:extLst>
          </p:cNvPr>
          <p:cNvSpPr/>
          <p:nvPr/>
        </p:nvSpPr>
        <p:spPr>
          <a:xfrm>
            <a:off x="754990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88;p17">
            <a:extLst>
              <a:ext uri="{FF2B5EF4-FFF2-40B4-BE49-F238E27FC236}">
                <a16:creationId xmlns:a16="http://schemas.microsoft.com/office/drawing/2014/main" id="{A2138C0A-D63F-B196-E393-70D87DEBF3E6}"/>
              </a:ext>
            </a:extLst>
          </p:cNvPr>
          <p:cNvSpPr/>
          <p:nvPr/>
        </p:nvSpPr>
        <p:spPr>
          <a:xfrm>
            <a:off x="683982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89;p17">
            <a:extLst>
              <a:ext uri="{FF2B5EF4-FFF2-40B4-BE49-F238E27FC236}">
                <a16:creationId xmlns:a16="http://schemas.microsoft.com/office/drawing/2014/main" id="{653CD364-19D7-3745-8D3E-F906F3D8C516}"/>
              </a:ext>
            </a:extLst>
          </p:cNvPr>
          <p:cNvSpPr/>
          <p:nvPr/>
        </p:nvSpPr>
        <p:spPr>
          <a:xfrm>
            <a:off x="9679607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" name="Google Shape;192;p17">
            <a:extLst>
              <a:ext uri="{FF2B5EF4-FFF2-40B4-BE49-F238E27FC236}">
                <a16:creationId xmlns:a16="http://schemas.microsoft.com/office/drawing/2014/main" id="{E1AB6907-4E04-C4D0-827C-2C448E29DF72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93;p17">
            <a:extLst>
              <a:ext uri="{FF2B5EF4-FFF2-40B4-BE49-F238E27FC236}">
                <a16:creationId xmlns:a16="http://schemas.microsoft.com/office/drawing/2014/main" id="{85141E47-534E-96C2-550D-CF8B36FAA3B5}"/>
              </a:ext>
            </a:extLst>
          </p:cNvPr>
          <p:cNvCxnSpPr>
            <a:cxnSpLocks/>
          </p:cNvCxnSpPr>
          <p:nvPr/>
        </p:nvCxnSpPr>
        <p:spPr>
          <a:xfrm rot="10800000">
            <a:off x="834713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94;p17">
            <a:extLst>
              <a:ext uri="{FF2B5EF4-FFF2-40B4-BE49-F238E27FC236}">
                <a16:creationId xmlns:a16="http://schemas.microsoft.com/office/drawing/2014/main" id="{9EB206F7-D6E3-A3B7-26CB-534F2D72CD4D}"/>
              </a:ext>
            </a:extLst>
          </p:cNvPr>
          <p:cNvCxnSpPr>
            <a:cxnSpLocks/>
          </p:cNvCxnSpPr>
          <p:nvPr/>
        </p:nvCxnSpPr>
        <p:spPr>
          <a:xfrm rot="10800000">
            <a:off x="905722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95;p17">
            <a:extLst>
              <a:ext uri="{FF2B5EF4-FFF2-40B4-BE49-F238E27FC236}">
                <a16:creationId xmlns:a16="http://schemas.microsoft.com/office/drawing/2014/main" id="{E2165EF3-15EC-4C88-F0C1-E70DD258E1FB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204;p17">
            <a:extLst>
              <a:ext uri="{FF2B5EF4-FFF2-40B4-BE49-F238E27FC236}">
                <a16:creationId xmlns:a16="http://schemas.microsoft.com/office/drawing/2014/main" id="{E0DB81CE-AB87-EF79-D2CC-9D1E585D8EC8}"/>
              </a:ext>
            </a:extLst>
          </p:cNvPr>
          <p:cNvSpPr/>
          <p:nvPr/>
        </p:nvSpPr>
        <p:spPr>
          <a:xfrm>
            <a:off x="6607739" y="4567753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cxnSp>
        <p:nvCxnSpPr>
          <p:cNvPr id="112" name="Google Shape;195;p17">
            <a:extLst>
              <a:ext uri="{FF2B5EF4-FFF2-40B4-BE49-F238E27FC236}">
                <a16:creationId xmlns:a16="http://schemas.microsoft.com/office/drawing/2014/main" id="{35D8230C-B91F-711F-F2F2-C9C3CA150681}"/>
              </a:ext>
            </a:extLst>
          </p:cNvPr>
          <p:cNvCxnSpPr>
            <a:cxnSpLocks/>
          </p:cNvCxnSpPr>
          <p:nvPr/>
        </p:nvCxnSpPr>
        <p:spPr>
          <a:xfrm rot="10800000">
            <a:off x="763705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92;p17">
            <a:extLst>
              <a:ext uri="{FF2B5EF4-FFF2-40B4-BE49-F238E27FC236}">
                <a16:creationId xmlns:a16="http://schemas.microsoft.com/office/drawing/2014/main" id="{3FC8E1FA-890E-BD73-CC1E-A0F28B7F5261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93;p17">
            <a:extLst>
              <a:ext uri="{FF2B5EF4-FFF2-40B4-BE49-F238E27FC236}">
                <a16:creationId xmlns:a16="http://schemas.microsoft.com/office/drawing/2014/main" id="{D9F59E43-A1E2-FB62-B95E-A3943CF664A6}"/>
              </a:ext>
            </a:extLst>
          </p:cNvPr>
          <p:cNvCxnSpPr>
            <a:cxnSpLocks/>
          </p:cNvCxnSpPr>
          <p:nvPr/>
        </p:nvCxnSpPr>
        <p:spPr>
          <a:xfrm rot="10800000">
            <a:off x="834713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94;p17">
            <a:extLst>
              <a:ext uri="{FF2B5EF4-FFF2-40B4-BE49-F238E27FC236}">
                <a16:creationId xmlns:a16="http://schemas.microsoft.com/office/drawing/2014/main" id="{7CD6648E-DC1C-EC0E-53D1-38F1C2C2B0C0}"/>
              </a:ext>
            </a:extLst>
          </p:cNvPr>
          <p:cNvCxnSpPr>
            <a:cxnSpLocks/>
          </p:cNvCxnSpPr>
          <p:nvPr/>
        </p:nvCxnSpPr>
        <p:spPr>
          <a:xfrm rot="10800000">
            <a:off x="9057221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95;p17">
            <a:extLst>
              <a:ext uri="{FF2B5EF4-FFF2-40B4-BE49-F238E27FC236}">
                <a16:creationId xmlns:a16="http://schemas.microsoft.com/office/drawing/2014/main" id="{25DA74D1-FAC8-57CA-5039-88343815ADEE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95;p17">
            <a:extLst>
              <a:ext uri="{FF2B5EF4-FFF2-40B4-BE49-F238E27FC236}">
                <a16:creationId xmlns:a16="http://schemas.microsoft.com/office/drawing/2014/main" id="{2C14B876-1C4A-636F-4EE8-28AD25172CFC}"/>
              </a:ext>
            </a:extLst>
          </p:cNvPr>
          <p:cNvCxnSpPr>
            <a:cxnSpLocks/>
          </p:cNvCxnSpPr>
          <p:nvPr/>
        </p:nvCxnSpPr>
        <p:spPr>
          <a:xfrm rot="10800000">
            <a:off x="7637053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87;p17">
            <a:extLst>
              <a:ext uri="{FF2B5EF4-FFF2-40B4-BE49-F238E27FC236}">
                <a16:creationId xmlns:a16="http://schemas.microsoft.com/office/drawing/2014/main" id="{DE2EE9E7-1DA0-658F-48D0-84B8CBAA5820}"/>
              </a:ext>
            </a:extLst>
          </p:cNvPr>
          <p:cNvSpPr/>
          <p:nvPr/>
        </p:nvSpPr>
        <p:spPr>
          <a:xfrm>
            <a:off x="826191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87;p17">
            <a:extLst>
              <a:ext uri="{FF2B5EF4-FFF2-40B4-BE49-F238E27FC236}">
                <a16:creationId xmlns:a16="http://schemas.microsoft.com/office/drawing/2014/main" id="{27C9A567-27DF-2703-3BF3-DC70801965ED}"/>
              </a:ext>
            </a:extLst>
          </p:cNvPr>
          <p:cNvSpPr/>
          <p:nvPr/>
        </p:nvSpPr>
        <p:spPr>
          <a:xfrm>
            <a:off x="896056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02A8C332-AC64-C148-8283-2BA88D80B94A}"/>
              </a:ext>
            </a:extLst>
          </p:cNvPr>
          <p:cNvSpPr txBox="1"/>
          <p:nvPr/>
        </p:nvSpPr>
        <p:spPr>
          <a:xfrm>
            <a:off x="660748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A9FE2F54-4A09-A1D9-4463-BE47C826E83B}"/>
              </a:ext>
            </a:extLst>
          </p:cNvPr>
          <p:cNvSpPr txBox="1"/>
          <p:nvPr/>
        </p:nvSpPr>
        <p:spPr>
          <a:xfrm>
            <a:off x="725528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study</a:t>
            </a:r>
            <a:endParaRPr kumimoji="1" lang="zh-TW" altLang="en-US" sz="1300" dirty="0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52805FBA-C031-BF0B-948B-2D3A3E19D0A7}"/>
              </a:ext>
            </a:extLst>
          </p:cNvPr>
          <p:cNvSpPr txBox="1"/>
          <p:nvPr/>
        </p:nvSpPr>
        <p:spPr>
          <a:xfrm>
            <a:off x="799209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hard</a:t>
            </a:r>
            <a:endParaRPr kumimoji="1" lang="zh-TW" altLang="en-US" sz="13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670CD33-E05E-D383-6E36-D3851C6E858B}"/>
              </a:ext>
            </a:extLst>
          </p:cNvPr>
          <p:cNvSpPr txBox="1"/>
          <p:nvPr/>
        </p:nvSpPr>
        <p:spPr>
          <a:xfrm>
            <a:off x="874829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F09B156-E611-6D2A-68C9-3807FB3C3501}"/>
              </a:ext>
            </a:extLst>
          </p:cNvPr>
          <p:cNvSpPr txBox="1"/>
          <p:nvPr/>
        </p:nvSpPr>
        <p:spPr>
          <a:xfrm>
            <a:off x="9408044" y="5554371"/>
            <a:ext cx="717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 err="1"/>
              <a:t>plz</a:t>
            </a:r>
            <a:endParaRPr kumimoji="1" lang="zh-TW" altLang="en-US" sz="1300" dirty="0"/>
          </a:p>
        </p:txBody>
      </p:sp>
      <p:cxnSp>
        <p:nvCxnSpPr>
          <p:cNvPr id="125" name="Google Shape;218;p17">
            <a:extLst>
              <a:ext uri="{FF2B5EF4-FFF2-40B4-BE49-F238E27FC236}">
                <a16:creationId xmlns:a16="http://schemas.microsoft.com/office/drawing/2014/main" id="{473F3D53-6A24-7B28-C5D9-F387152D36A1}"/>
              </a:ext>
            </a:extLst>
          </p:cNvPr>
          <p:cNvCxnSpPr>
            <a:cxnSpLocks/>
          </p:cNvCxnSpPr>
          <p:nvPr/>
        </p:nvCxnSpPr>
        <p:spPr>
          <a:xfrm flipV="1">
            <a:off x="3914227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89;p17">
            <a:extLst>
              <a:ext uri="{FF2B5EF4-FFF2-40B4-BE49-F238E27FC236}">
                <a16:creationId xmlns:a16="http://schemas.microsoft.com/office/drawing/2014/main" id="{A1CB2C50-C879-6546-B45C-B7784D8B87C0}"/>
              </a:ext>
            </a:extLst>
          </p:cNvPr>
          <p:cNvSpPr/>
          <p:nvPr/>
        </p:nvSpPr>
        <p:spPr>
          <a:xfrm>
            <a:off x="10398652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" name="Google Shape;195;p17">
            <a:extLst>
              <a:ext uri="{FF2B5EF4-FFF2-40B4-BE49-F238E27FC236}">
                <a16:creationId xmlns:a16="http://schemas.microsoft.com/office/drawing/2014/main" id="{478D83BA-C7D3-C707-A342-E3BF7F033E88}"/>
              </a:ext>
            </a:extLst>
          </p:cNvPr>
          <p:cNvCxnSpPr>
            <a:cxnSpLocks/>
          </p:cNvCxnSpPr>
          <p:nvPr/>
        </p:nvCxnSpPr>
        <p:spPr>
          <a:xfrm rot="10800000">
            <a:off x="10486352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94;p17">
            <a:extLst>
              <a:ext uri="{FF2B5EF4-FFF2-40B4-BE49-F238E27FC236}">
                <a16:creationId xmlns:a16="http://schemas.microsoft.com/office/drawing/2014/main" id="{258C40FA-1A10-5F0B-C970-982009A09BBF}"/>
              </a:ext>
            </a:extLst>
          </p:cNvPr>
          <p:cNvCxnSpPr>
            <a:cxnSpLocks/>
          </p:cNvCxnSpPr>
          <p:nvPr/>
        </p:nvCxnSpPr>
        <p:spPr>
          <a:xfrm rot="10800000">
            <a:off x="1045706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BA7909F-BD6D-9EFB-1E5E-5241672DFBEC}"/>
              </a:ext>
            </a:extLst>
          </p:cNvPr>
          <p:cNvSpPr txBox="1"/>
          <p:nvPr/>
        </p:nvSpPr>
        <p:spPr>
          <a:xfrm>
            <a:off x="1014813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0" name="Google Shape;204;p17">
            <a:extLst>
              <a:ext uri="{FF2B5EF4-FFF2-40B4-BE49-F238E27FC236}">
                <a16:creationId xmlns:a16="http://schemas.microsoft.com/office/drawing/2014/main" id="{B7E77234-E015-E8B0-DEEA-AC759BA87B22}"/>
              </a:ext>
            </a:extLst>
          </p:cNvPr>
          <p:cNvSpPr/>
          <p:nvPr/>
        </p:nvSpPr>
        <p:spPr>
          <a:xfrm>
            <a:off x="1409171" y="4571995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131" name="Google Shape;189;p17">
            <a:extLst>
              <a:ext uri="{FF2B5EF4-FFF2-40B4-BE49-F238E27FC236}">
                <a16:creationId xmlns:a16="http://schemas.microsoft.com/office/drawing/2014/main" id="{A7D052AC-D463-C5AF-A591-99C18CB61E86}"/>
              </a:ext>
            </a:extLst>
          </p:cNvPr>
          <p:cNvSpPr/>
          <p:nvPr/>
        </p:nvSpPr>
        <p:spPr>
          <a:xfrm>
            <a:off x="5238170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95;p17">
            <a:extLst>
              <a:ext uri="{FF2B5EF4-FFF2-40B4-BE49-F238E27FC236}">
                <a16:creationId xmlns:a16="http://schemas.microsoft.com/office/drawing/2014/main" id="{60600E89-5453-EF68-D985-38A317C2F7A4}"/>
              </a:ext>
            </a:extLst>
          </p:cNvPr>
          <p:cNvCxnSpPr>
            <a:cxnSpLocks/>
          </p:cNvCxnSpPr>
          <p:nvPr/>
        </p:nvCxnSpPr>
        <p:spPr>
          <a:xfrm rot="10800000">
            <a:off x="5325870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94;p17">
            <a:extLst>
              <a:ext uri="{FF2B5EF4-FFF2-40B4-BE49-F238E27FC236}">
                <a16:creationId xmlns:a16="http://schemas.microsoft.com/office/drawing/2014/main" id="{B96111B0-6497-73D3-60AD-97486643F3EC}"/>
              </a:ext>
            </a:extLst>
          </p:cNvPr>
          <p:cNvCxnSpPr>
            <a:cxnSpLocks/>
          </p:cNvCxnSpPr>
          <p:nvPr/>
        </p:nvCxnSpPr>
        <p:spPr>
          <a:xfrm rot="10800000">
            <a:off x="5304033" y="5391784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9FFE0A9B-BCD2-39C8-0172-6FC6CA736A8A}"/>
              </a:ext>
            </a:extLst>
          </p:cNvPr>
          <p:cNvSpPr txBox="1"/>
          <p:nvPr/>
        </p:nvSpPr>
        <p:spPr>
          <a:xfrm>
            <a:off x="4995099" y="5557472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5" name="橢圓 134">
            <a:extLst>
              <a:ext uri="{FF2B5EF4-FFF2-40B4-BE49-F238E27FC236}">
                <a16:creationId xmlns:a16="http://schemas.microsoft.com/office/drawing/2014/main" id="{0E02166C-27AB-9A44-EE56-993C9EC6D96B}"/>
              </a:ext>
            </a:extLst>
          </p:cNvPr>
          <p:cNvSpPr/>
          <p:nvPr/>
        </p:nvSpPr>
        <p:spPr>
          <a:xfrm>
            <a:off x="6569567" y="5442805"/>
            <a:ext cx="712443" cy="585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B7628-2F91-9C65-3980-4BC58D1E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92" y="1574318"/>
            <a:ext cx="10058400" cy="1244437"/>
          </a:xfrm>
        </p:spPr>
        <p:txBody>
          <a:bodyPr vert="horz" lIns="0" tIns="45720" rIns="0" bIns="45720" rtlCol="0" anchor="t">
            <a:normAutofit/>
          </a:bodyPr>
          <a:lstStyle/>
          <a:p>
            <a:pPr indent="-36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Microsoft JhengHei" panose="020B0604030504040204" pitchFamily="34" charset="-120"/>
                <a:cs typeface="+mn-lt"/>
              </a:rPr>
              <a:t>BERT</a:t>
            </a:r>
            <a:r>
              <a:rPr lang="zh-TW" altLang="en-US" dirty="0">
                <a:ea typeface="Microsoft JhengHei" panose="020B0604030504040204" pitchFamily="34" charset="-120"/>
                <a:cs typeface="+mn-lt"/>
              </a:rPr>
              <a:t> 有兩種預訓練任務：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512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5" grpId="0"/>
      <p:bldP spid="86" grpId="0"/>
      <p:bldP spid="87" grpId="0"/>
      <p:bldP spid="89" grpId="0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  <p:bldP spid="104" grpId="0" animBg="1"/>
      <p:bldP spid="105" grpId="0" animBg="1"/>
      <p:bldP spid="106" grpId="0" animBg="1"/>
      <p:bldP spid="111" grpId="0" animBg="1"/>
      <p:bldP spid="118" grpId="0" animBg="1"/>
      <p:bldP spid="119" grpId="0" animBg="1"/>
      <p:bldP spid="120" grpId="0"/>
      <p:bldP spid="121" grpId="0"/>
      <p:bldP spid="122" grpId="0"/>
      <p:bldP spid="123" grpId="0"/>
      <p:bldP spid="124" grpId="0"/>
      <p:bldP spid="126" grpId="0" animBg="1"/>
      <p:bldP spid="129" grpId="0"/>
      <p:bldP spid="130" grpId="0" animBg="1"/>
      <p:bldP spid="131" grpId="0" animBg="1"/>
      <p:bldP spid="134" grpId="0"/>
      <p:bldP spid="1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FE2748-B8DE-69B6-55DB-3C5092EA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Next Sentence Prediction (NSP)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B1DA35-3410-D556-3B9C-3B61B111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6F9ACB5-81CC-6C73-DFB6-EFB87967B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429" y="2209192"/>
            <a:ext cx="6092429" cy="29944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74B6F24-489A-0CA7-D2DD-20A7BDD1E8FE}"/>
              </a:ext>
            </a:extLst>
          </p:cNvPr>
          <p:cNvSpPr txBox="1"/>
          <p:nvPr/>
        </p:nvSpPr>
        <p:spPr>
          <a:xfrm>
            <a:off x="653142" y="2106778"/>
            <a:ext cx="4178165" cy="168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二元分類任務</a:t>
            </a:r>
            <a:endParaRPr kumimoji="1" lang="en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目標：使模型能夠理解</a:t>
            </a:r>
            <a:r>
              <a:rPr kumimoji="1" lang="zh-TW" altLang="en-US" sz="2400" dirty="0">
                <a:solidFill>
                  <a:srgbClr val="FF0000"/>
                </a:solidFill>
              </a:rPr>
              <a:t>不同語句之間</a:t>
            </a:r>
            <a:r>
              <a:rPr kumimoji="1" lang="zh-TW" altLang="en-US" sz="2400" dirty="0"/>
              <a:t>的關聯性</a:t>
            </a:r>
          </a:p>
        </p:txBody>
      </p:sp>
    </p:spTree>
    <p:extLst>
      <p:ext uri="{BB962C8B-B14F-4D97-AF65-F5344CB8AC3E}">
        <p14:creationId xmlns:p14="http://schemas.microsoft.com/office/powerpoint/2010/main" val="68540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E9FA-7B65-7809-51D0-57247468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  - Key information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374DE-3D09-47D1-64EF-F07B5616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DBC481-26FC-BDFE-5A7B-9503C8F3571B}"/>
              </a:ext>
            </a:extLst>
          </p:cNvPr>
          <p:cNvSpPr txBox="1"/>
          <p:nvPr/>
        </p:nvSpPr>
        <p:spPr>
          <a:xfrm>
            <a:off x="636815" y="1850797"/>
            <a:ext cx="10918370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Self-supervised Learning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的訓練方式是從資料中取得「答案」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節省大量標註成本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適用於大規模未標資料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影像處理領域以重建影像為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的主要方法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自然語言處理領域以預測文章或句子中的下一個字為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SSL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的主要方法</a:t>
            </a:r>
          </a:p>
        </p:txBody>
      </p:sp>
    </p:spTree>
    <p:extLst>
      <p:ext uri="{BB962C8B-B14F-4D97-AF65-F5344CB8AC3E}">
        <p14:creationId xmlns:p14="http://schemas.microsoft.com/office/powerpoint/2010/main" val="21559358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9960-58C3-4350-A384-7ECE58D2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86D14-4248-2D35-52DC-621020EB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kumimoji="1" lang="en-US" altLang="zh-TW" dirty="0"/>
              <a:t> Pre-training</a:t>
            </a:r>
            <a:r>
              <a:rPr kumimoji="1" lang="zh-TW" altLang="en-US" dirty="0"/>
              <a:t>，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</a:t>
            </a:r>
            <a:r>
              <a:rPr kumimoji="1" lang="zh-TW" altLang="en-US" dirty="0"/>
              <a:t> </a:t>
            </a:r>
            <a:r>
              <a:rPr kumimoji="1" lang="en-US" altLang="zh-TW" dirty="0"/>
              <a:t>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37B124-F096-1D20-40B6-A856CA84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6E07A6D-E2C8-BC3C-6647-8A5121273383}"/>
              </a:ext>
            </a:extLst>
          </p:cNvPr>
          <p:cNvSpPr/>
          <p:nvPr/>
        </p:nvSpPr>
        <p:spPr>
          <a:xfrm>
            <a:off x="2133897" y="2236380"/>
            <a:ext cx="2557219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Pre-training</a:t>
            </a:r>
            <a:endParaRPr kumimoji="1"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CEB1E3E-4B56-CEA8-0BC5-76C9C6ED35E1}"/>
              </a:ext>
            </a:extLst>
          </p:cNvPr>
          <p:cNvSpPr/>
          <p:nvPr/>
        </p:nvSpPr>
        <p:spPr>
          <a:xfrm>
            <a:off x="6956157" y="2236381"/>
            <a:ext cx="2557219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Fine-tuning</a:t>
            </a:r>
            <a:endParaRPr kumimoji="1" lang="zh-TW" altLang="en-US" sz="2800" dirty="0"/>
          </a:p>
        </p:txBody>
      </p:sp>
      <p:cxnSp>
        <p:nvCxnSpPr>
          <p:cNvPr id="7" name="Google Shape;195;p17">
            <a:extLst>
              <a:ext uri="{FF2B5EF4-FFF2-40B4-BE49-F238E27FC236}">
                <a16:creationId xmlns:a16="http://schemas.microsoft.com/office/drawing/2014/main" id="{A832F146-AD71-B715-A500-AF9834498BF3}"/>
              </a:ext>
            </a:extLst>
          </p:cNvPr>
          <p:cNvCxnSpPr>
            <a:cxnSpLocks/>
          </p:cNvCxnSpPr>
          <p:nvPr/>
        </p:nvCxnSpPr>
        <p:spPr>
          <a:xfrm>
            <a:off x="5176731" y="2907830"/>
            <a:ext cx="1293811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0A2250-905D-BC59-B590-5E4ABBBA03D5}"/>
              </a:ext>
            </a:extLst>
          </p:cNvPr>
          <p:cNvSpPr txBox="1"/>
          <p:nvPr/>
        </p:nvSpPr>
        <p:spPr>
          <a:xfrm>
            <a:off x="1526834" y="4041933"/>
            <a:ext cx="3771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大量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資料上進行訓練，通常是自監督式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(Self-Supervised Training)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592796A-986B-861D-73E9-C3B2DFDF20CE}"/>
              </a:ext>
            </a:extLst>
          </p:cNvPr>
          <p:cNvSpPr txBox="1"/>
          <p:nvPr/>
        </p:nvSpPr>
        <p:spPr>
          <a:xfrm>
            <a:off x="6444711" y="4041933"/>
            <a:ext cx="3771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目標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</a:t>
            </a:r>
            <a:r>
              <a:rPr kumimoji="1" lang="en-US" altLang="zh-TW" dirty="0">
                <a:ea typeface="Microsoft JhengHei" panose="020B0604030504040204" pitchFamily="34" charset="-120"/>
              </a:rPr>
              <a:t> (Down-stream tasks, </a:t>
            </a:r>
            <a:r>
              <a:rPr kumimoji="1" lang="zh-TW" altLang="en-US" dirty="0">
                <a:ea typeface="Microsoft JhengHei" panose="020B0604030504040204" pitchFamily="34" charset="-120"/>
              </a:rPr>
              <a:t>下游任務</a:t>
            </a:r>
            <a:r>
              <a:rPr kumimoji="1" lang="en-US" altLang="zh-TW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dirty="0">
                <a:ea typeface="Microsoft JhengHei" panose="020B0604030504040204" pitchFamily="34" charset="-120"/>
              </a:rPr>
              <a:t>進行訓練，通常是監督式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(Supervised Training)</a:t>
            </a:r>
            <a:r>
              <a:rPr kumimoji="1" lang="zh-TW" altLang="en-US" dirty="0">
                <a:ea typeface="Microsoft JhengHei" panose="020B0604030504040204" pitchFamily="34" charset="-120"/>
              </a:rPr>
              <a:t>，也就是需要有標註的資料才能進行模型訓練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F25924DB-B45F-E4C2-1027-A5C3466AC498}"/>
              </a:ext>
            </a:extLst>
          </p:cNvPr>
          <p:cNvSpPr/>
          <p:nvPr/>
        </p:nvSpPr>
        <p:spPr>
          <a:xfrm>
            <a:off x="2211503" y="5010250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影像還原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5674A8-65CF-DABC-B59B-38F6C7D3D4B9}"/>
              </a:ext>
            </a:extLst>
          </p:cNvPr>
          <p:cNvSpPr/>
          <p:nvPr/>
        </p:nvSpPr>
        <p:spPr>
          <a:xfrm>
            <a:off x="2211503" y="5564248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文字還原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06AC0832-FD01-F3E5-A161-482F2F5547F4}"/>
              </a:ext>
            </a:extLst>
          </p:cNvPr>
          <p:cNvSpPr/>
          <p:nvPr/>
        </p:nvSpPr>
        <p:spPr>
          <a:xfrm>
            <a:off x="2211503" y="6134098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對比學習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070A9A1-1FAA-0EE1-2A2B-AB235813D9F0}"/>
              </a:ext>
            </a:extLst>
          </p:cNvPr>
          <p:cNvSpPr/>
          <p:nvPr/>
        </p:nvSpPr>
        <p:spPr>
          <a:xfrm>
            <a:off x="7010749" y="5343630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影像分類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06CF359A-8B5A-905E-2165-650459F5DAA9}"/>
              </a:ext>
            </a:extLst>
          </p:cNvPr>
          <p:cNvSpPr/>
          <p:nvPr/>
        </p:nvSpPr>
        <p:spPr>
          <a:xfrm>
            <a:off x="7010749" y="5913480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文字分類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ECA41D-FEFE-C0B5-F9FD-E6354FFCED12}"/>
              </a:ext>
            </a:extLst>
          </p:cNvPr>
          <p:cNvSpPr txBox="1"/>
          <p:nvPr/>
        </p:nvSpPr>
        <p:spPr>
          <a:xfrm>
            <a:off x="8079475" y="6366110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A2DF355-C451-BBA5-EEF3-1274F5EE5D65}"/>
              </a:ext>
            </a:extLst>
          </p:cNvPr>
          <p:cNvSpPr txBox="1"/>
          <p:nvPr/>
        </p:nvSpPr>
        <p:spPr>
          <a:xfrm>
            <a:off x="4726787" y="6181444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815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3" grpId="0" animBg="1"/>
      <p:bldP spid="14" grpId="0" animBg="1"/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9146</TotalTime>
  <Words>2482</Words>
  <Application>Microsoft Macintosh PowerPoint</Application>
  <PresentationFormat>寬螢幕</PresentationFormat>
  <Paragraphs>525</Paragraphs>
  <Slides>49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7" baseType="lpstr">
      <vt:lpstr>Microsoft JhengHei</vt:lpstr>
      <vt:lpstr>新細明體</vt:lpstr>
      <vt:lpstr>Arial</vt:lpstr>
      <vt:lpstr>Calibri</vt:lpstr>
      <vt:lpstr>Cambria Math</vt:lpstr>
      <vt:lpstr>Roboto</vt:lpstr>
      <vt:lpstr>Times New Roman</vt:lpstr>
      <vt:lpstr>回顧</vt:lpstr>
      <vt:lpstr>深度學習 Deep Learning</vt:lpstr>
      <vt:lpstr>Announcements</vt:lpstr>
      <vt:lpstr>Project checkpoints</vt:lpstr>
      <vt:lpstr>Project 各個階段分數佔比</vt:lpstr>
      <vt:lpstr>Week 12 要繳交什麼？</vt:lpstr>
      <vt:lpstr>Week 12 繳交注意事項</vt:lpstr>
      <vt:lpstr>Outline</vt:lpstr>
      <vt:lpstr>Transformer能不能用在影像上呢？</vt:lpstr>
      <vt:lpstr>Concept: 把影像區域當成 token 輸入</vt:lpstr>
      <vt:lpstr>Vision Transformer (ViT)</vt:lpstr>
      <vt:lpstr>Linear Projection of Flattened Patches</vt:lpstr>
      <vt:lpstr>Positional Embedding in ViT</vt:lpstr>
      <vt:lpstr>ViT 使用 Pre-norm</vt:lpstr>
      <vt:lpstr>Why using Pre-Norm (Pre-Normalization)?</vt:lpstr>
      <vt:lpstr>Self-supervised Learning</vt:lpstr>
      <vt:lpstr>Why self-supervised?</vt:lpstr>
      <vt:lpstr>先 Pre-training，再 Fine-tuning</vt:lpstr>
      <vt:lpstr>Pre-training 和模型初始化有關</vt:lpstr>
      <vt:lpstr>影像處理 SSL</vt:lpstr>
      <vt:lpstr>Autoencoder (自動編碼器, AE)</vt:lpstr>
      <vt:lpstr>AE 的功能1：降維</vt:lpstr>
      <vt:lpstr>AE 的功能2：得到一個好的初始 Encoder</vt:lpstr>
      <vt:lpstr>AE 的功能2：得到一個好的初始 Encoder</vt:lpstr>
      <vt:lpstr>Masked autoencoders (MAE)</vt:lpstr>
      <vt:lpstr>MAE 細節</vt:lpstr>
      <vt:lpstr>不同的 SSL 策略</vt:lpstr>
      <vt:lpstr>Contrastive Learning in Images</vt:lpstr>
      <vt:lpstr>Image data augmentation approaches</vt:lpstr>
      <vt:lpstr>Contrastive Learning Loss (1)</vt:lpstr>
      <vt:lpstr>Contrastive Learning Loss (2)</vt:lpstr>
      <vt:lpstr>ImageNet Competition</vt:lpstr>
      <vt:lpstr>ImageNet (有效，但非SSL)</vt:lpstr>
      <vt:lpstr>ImageNet pre-trained models on PyTorch</vt:lpstr>
      <vt:lpstr>[Recap] (Supervised) Fine-tuning with CNN</vt:lpstr>
      <vt:lpstr>(Supervised) Fine-tuning with MAE</vt:lpstr>
      <vt:lpstr>(Supervised) Fine-tuning with SimCLR</vt:lpstr>
      <vt:lpstr>自然語言處理 SSL</vt:lpstr>
      <vt:lpstr>條件機率</vt:lpstr>
      <vt:lpstr>Next-token prediction</vt:lpstr>
      <vt:lpstr>模型如何進行訓練？</vt:lpstr>
      <vt:lpstr>Language Modeling and Cross-entropy (1)</vt:lpstr>
      <vt:lpstr>Language Modeling and Cross-entropy (2)</vt:lpstr>
      <vt:lpstr>常見 Language Models</vt:lpstr>
      <vt:lpstr>Evolutionary Tree of Large Language Models</vt:lpstr>
      <vt:lpstr>BERT (Bidirectional Encoder Representations from Transformers)</vt:lpstr>
      <vt:lpstr>Next Sentence Prediction (NSP)</vt:lpstr>
      <vt:lpstr>Summary  - Key information</vt:lpstr>
      <vt:lpstr>先 Pre-training，再 Fine-tuning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1583</cp:revision>
  <dcterms:created xsi:type="dcterms:W3CDTF">2025-02-06T07:16:08Z</dcterms:created>
  <dcterms:modified xsi:type="dcterms:W3CDTF">2025-11-18T11:50:42Z</dcterms:modified>
</cp:coreProperties>
</file>