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44"/>
  </p:notesMasterIdLst>
  <p:sldIdLst>
    <p:sldId id="547" r:id="rId2"/>
    <p:sldId id="318" r:id="rId3"/>
    <p:sldId id="507" r:id="rId4"/>
    <p:sldId id="508" r:id="rId5"/>
    <p:sldId id="509" r:id="rId6"/>
    <p:sldId id="512" r:id="rId7"/>
    <p:sldId id="516" r:id="rId8"/>
    <p:sldId id="513" r:id="rId9"/>
    <p:sldId id="511" r:id="rId10"/>
    <p:sldId id="520" r:id="rId11"/>
    <p:sldId id="514" r:id="rId12"/>
    <p:sldId id="515" r:id="rId13"/>
    <p:sldId id="518" r:id="rId14"/>
    <p:sldId id="517" r:id="rId15"/>
    <p:sldId id="519" r:id="rId16"/>
    <p:sldId id="533" r:id="rId17"/>
    <p:sldId id="523" r:id="rId18"/>
    <p:sldId id="535" r:id="rId19"/>
    <p:sldId id="536" r:id="rId20"/>
    <p:sldId id="537" r:id="rId21"/>
    <p:sldId id="538" r:id="rId22"/>
    <p:sldId id="539" r:id="rId23"/>
    <p:sldId id="540" r:id="rId24"/>
    <p:sldId id="541" r:id="rId25"/>
    <p:sldId id="542" r:id="rId26"/>
    <p:sldId id="543" r:id="rId27"/>
    <p:sldId id="544" r:id="rId28"/>
    <p:sldId id="545" r:id="rId29"/>
    <p:sldId id="546" r:id="rId30"/>
    <p:sldId id="521" r:id="rId31"/>
    <p:sldId id="524" r:id="rId32"/>
    <p:sldId id="522" r:id="rId33"/>
    <p:sldId id="611" r:id="rId34"/>
    <p:sldId id="525" r:id="rId35"/>
    <p:sldId id="510" r:id="rId36"/>
    <p:sldId id="526" r:id="rId37"/>
    <p:sldId id="527" r:id="rId38"/>
    <p:sldId id="528" r:id="rId39"/>
    <p:sldId id="612" r:id="rId40"/>
    <p:sldId id="531" r:id="rId41"/>
    <p:sldId id="532" r:id="rId42"/>
    <p:sldId id="610" r:id="rId4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34E7"/>
    <a:srgbClr val="9EF5EA"/>
    <a:srgbClr val="05AE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49"/>
    <p:restoredTop sz="96085"/>
  </p:normalViewPr>
  <p:slideViewPr>
    <p:cSldViewPr snapToGrid="0">
      <p:cViewPr>
        <p:scale>
          <a:sx n="125" d="100"/>
          <a:sy n="125" d="100"/>
        </p:scale>
        <p:origin x="280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3" d="100"/>
          <a:sy n="93" d="100"/>
        </p:scale>
        <p:origin x="3568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DBE83B-754F-B948-8CD7-D8047F5EE2C4}" type="datetimeFigureOut">
              <a:rPr kumimoji="1" lang="zh-TW" altLang="en-US" smtClean="0"/>
              <a:t>2025/10/15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836D1C-D09F-2A41-BBEA-6549EF3DDB6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51419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16343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823319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/>
              <a:t>Co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973496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546391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684529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695907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029819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5527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51579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34524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971211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596238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040007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925757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270327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989237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58190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10/15/25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553428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143" y="356088"/>
            <a:ext cx="10918371" cy="1033416"/>
          </a:xfrm>
        </p:spPr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143" y="1845734"/>
            <a:ext cx="10918371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pic>
        <p:nvPicPr>
          <p:cNvPr id="8" name="圖片 7" descr="一張含有 黑暗, 鮮豔, 圓形, 對稱 的圖片&#10;&#10;自動產生的描述">
            <a:extLst>
              <a:ext uri="{FF2B5EF4-FFF2-40B4-BE49-F238E27FC236}">
                <a16:creationId xmlns:a16="http://schemas.microsoft.com/office/drawing/2014/main" id="{7B42FF8E-DE09-ED24-7D18-F64355A345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020" y="6349567"/>
            <a:ext cx="462323" cy="453571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7DAD89E-131D-FDCA-9260-AC4191103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2955" y="6415560"/>
            <a:ext cx="1312025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6113E31D-E2AB-40D1-8B51-AFA5AFEF393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86838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10/15/25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9116564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10/15/25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DAB314-DF41-49F3-8643-5960470A9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4963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10/15/25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6FF28B-EE0C-0976-1882-688F90260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79200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10/15/25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8DE478E-C0B1-6FFC-0061-DA2334C3F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71989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10/15/25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31067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10/15/25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22681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10/15/25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16162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10/15/25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5B6B208-0D45-71D0-C7BE-D6974D30E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</p:spPr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0684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10/15/25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143666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676003" y="1355758"/>
            <a:ext cx="10839994" cy="45719"/>
          </a:xfrm>
          <a:prstGeom prst="rect">
            <a:avLst/>
          </a:prstGeom>
          <a:solidFill>
            <a:srgbClr val="05AED6"/>
          </a:solidFill>
          <a:ln>
            <a:solidFill>
              <a:srgbClr val="05AE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CGU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101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mcps5601/CGUDL_2025_fall" TargetMode="External"/><Relationship Id="rId5" Type="http://schemas.openxmlformats.org/officeDocument/2006/relationships/hyperlink" Target="https://app.sli.do/event/trLLdJv5TjT9ahwZTURqNG" TargetMode="Externa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competitions/dog-breed-identification/overview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kaggle.com/competitions/wikipedia-image-caption" TargetMode="External"/><Relationship Id="rId5" Type="http://schemas.openxmlformats.org/officeDocument/2006/relationships/hyperlink" Target="https://www.kaggle.com/competitions/nlp-getting-started/overview" TargetMode="External"/><Relationship Id="rId4" Type="http://schemas.openxmlformats.org/officeDocument/2006/relationships/hyperlink" Target="https://www.kaggle.com/competitions/plant-pathology-2020-fgvc7/overview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圓角矩形 4">
            <a:extLst>
              <a:ext uri="{FF2B5EF4-FFF2-40B4-BE49-F238E27FC236}">
                <a16:creationId xmlns:a16="http://schemas.microsoft.com/office/drawing/2014/main" id="{3C6264BC-1151-9168-C7F5-CC114FF3CC95}"/>
              </a:ext>
            </a:extLst>
          </p:cNvPr>
          <p:cNvSpPr/>
          <p:nvPr/>
        </p:nvSpPr>
        <p:spPr>
          <a:xfrm>
            <a:off x="667422" y="2025546"/>
            <a:ext cx="10857156" cy="2426189"/>
          </a:xfrm>
          <a:prstGeom prst="roundRect">
            <a:avLst/>
          </a:prstGeom>
          <a:solidFill>
            <a:srgbClr val="9EF5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C058193-D513-E805-2BD5-118E50D976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1959" y="1006002"/>
            <a:ext cx="5437882" cy="3224045"/>
          </a:xfrm>
        </p:spPr>
        <p:txBody>
          <a:bodyPr anchor="b">
            <a:normAutofit/>
          </a:bodyPr>
          <a:lstStyle/>
          <a:p>
            <a:r>
              <a:rPr kumimoji="1" lang="zh-TW" altLang="en-US" sz="5800" b="1" dirty="0">
                <a:ea typeface="Microsoft JhengHei" panose="020B0604030504040204" pitchFamily="34" charset="-120"/>
              </a:rPr>
              <a:t>深度學習</a:t>
            </a:r>
            <a:br>
              <a:rPr kumimoji="1" lang="en-US" altLang="zh-TW" sz="5800" b="1" dirty="0">
                <a:ea typeface="Microsoft JhengHei" panose="020B0604030504040204" pitchFamily="34" charset="-120"/>
              </a:rPr>
            </a:br>
            <a:r>
              <a:rPr kumimoji="1" lang="en-US" altLang="zh-TW" sz="5800" b="1" dirty="0">
                <a:ea typeface="Microsoft JhengHei" panose="020B0604030504040204" pitchFamily="34" charset="-120"/>
              </a:rPr>
              <a:t>Deep Learning</a:t>
            </a:r>
            <a:endParaRPr kumimoji="1" lang="zh-TW" altLang="en-US" sz="5800" b="1" dirty="0">
              <a:ea typeface="Microsoft JhengHei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598A032-0E8B-F9E1-A926-2F2E78D575C6}"/>
              </a:ext>
            </a:extLst>
          </p:cNvPr>
          <p:cNvSpPr txBox="1"/>
          <p:nvPr/>
        </p:nvSpPr>
        <p:spPr>
          <a:xfrm>
            <a:off x="726698" y="4749453"/>
            <a:ext cx="55598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800" b="1" dirty="0">
                <a:solidFill>
                  <a:srgbClr val="0070C0"/>
                </a:solidFill>
                <a:latin typeface="+mj-lt"/>
                <a:cs typeface="Calibri" panose="020F0502020204030204" pitchFamily="34" charset="0"/>
              </a:rPr>
              <a:t>Term Project Introduction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F843A79-3FEF-CDAD-6B9A-C5A7AD279D2D}"/>
              </a:ext>
            </a:extLst>
          </p:cNvPr>
          <p:cNvSpPr txBox="1"/>
          <p:nvPr/>
        </p:nvSpPr>
        <p:spPr>
          <a:xfrm>
            <a:off x="726698" y="5827136"/>
            <a:ext cx="48892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Instructor: </a:t>
            </a:r>
            <a:r>
              <a:rPr kumimoji="1" lang="zh-TW" altLang="en-US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林英嘉 </a:t>
            </a:r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(Ying-Jia Lin)</a:t>
            </a:r>
          </a:p>
          <a:p>
            <a:r>
              <a:rPr kumimoji="1" lang="en-US" altLang="zh-TW" sz="2000" b="1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2025/10/15</a:t>
            </a:r>
            <a:endParaRPr kumimoji="1" lang="zh-TW" altLang="en-US" sz="2000" b="1" dirty="0">
              <a:latin typeface="+mj-lt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C0C8410-1877-4FB2-39F9-E0CFE0480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9528" y="253272"/>
            <a:ext cx="1468923" cy="1468923"/>
          </a:xfrm>
          <a:prstGeom prst="rect">
            <a:avLst/>
          </a:prstGeom>
        </p:spPr>
      </p:pic>
      <p:pic>
        <p:nvPicPr>
          <p:cNvPr id="8" name="圖片 7" descr="一張含有 螢幕擷取畫面, 樣式, 圓形, 圖形 的圖片&#10;&#10;AI 產生的內容可能不正確。">
            <a:extLst>
              <a:ext uri="{FF2B5EF4-FFF2-40B4-BE49-F238E27FC236}">
                <a16:creationId xmlns:a16="http://schemas.microsoft.com/office/drawing/2014/main" id="{22F76685-E2D2-0BC7-76BB-5BDBC9DCFE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7175" y="4533398"/>
            <a:ext cx="1960729" cy="1960729"/>
          </a:xfrm>
          <a:prstGeom prst="rect">
            <a:avLst/>
          </a:prstGeom>
        </p:spPr>
      </p:pic>
      <p:sp>
        <p:nvSpPr>
          <p:cNvPr id="11" name="文字方塊 10">
            <a:hlinkClick r:id="rId5"/>
            <a:extLst>
              <a:ext uri="{FF2B5EF4-FFF2-40B4-BE49-F238E27FC236}">
                <a16:creationId xmlns:a16="http://schemas.microsoft.com/office/drawing/2014/main" id="{8F823108-2692-7850-78FB-371EE4D6F4E9}"/>
              </a:ext>
            </a:extLst>
          </p:cNvPr>
          <p:cNvSpPr txBox="1"/>
          <p:nvPr/>
        </p:nvSpPr>
        <p:spPr>
          <a:xfrm>
            <a:off x="9181606" y="6296804"/>
            <a:ext cx="1825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hlinkClick r:id="rId5"/>
              </a:rPr>
              <a:t>Slido # DL1015</a:t>
            </a:r>
            <a:endParaRPr kumimoji="1"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88C6CA94-AF36-F0D4-5089-5AA183D3CA39}"/>
              </a:ext>
            </a:extLst>
          </p:cNvPr>
          <p:cNvSpPr txBox="1"/>
          <p:nvPr/>
        </p:nvSpPr>
        <p:spPr>
          <a:xfrm>
            <a:off x="6388165" y="6296804"/>
            <a:ext cx="2038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hlinkClick r:id="rId6"/>
              </a:rPr>
              <a:t>Course GitHub</a:t>
            </a:r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B5C7679-0DD5-039B-74EF-74661FFE8E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78590" y="4698030"/>
            <a:ext cx="1631464" cy="1631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427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80A37B-A650-FC82-C7CC-996F10EB9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ea typeface="Microsoft JhengHei" panose="020B0604030504040204" pitchFamily="34" charset="-120"/>
              </a:rPr>
              <a:t>Final Project </a:t>
            </a:r>
            <a:r>
              <a:rPr kumimoji="1" lang="zh-TW" altLang="en-US" dirty="0">
                <a:ea typeface="Microsoft JhengHei" panose="020B0604030504040204" pitchFamily="34" charset="-120"/>
              </a:rPr>
              <a:t>是什麼？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793246F-627F-DCD7-1FA8-BD91683B7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45A8DC7-59F3-D80C-57D3-40F6F0437FA6}"/>
              </a:ext>
            </a:extLst>
          </p:cNvPr>
          <p:cNvSpPr txBox="1"/>
          <p:nvPr/>
        </p:nvSpPr>
        <p:spPr>
          <a:xfrm>
            <a:off x="653143" y="1868198"/>
            <a:ext cx="10918370" cy="3348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Final Project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 是一種完整的訓練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你將自行從頭到尾做完一個題目，包含：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資料前處理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(Data Pre-processing)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模型訓練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 (Model Training)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模型評估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 (Evaluations)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--&gt;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了解問題並改進模型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每組人數待修課同學總數訂定，原則上</a:t>
            </a:r>
            <a:r>
              <a:rPr kumimoji="1" lang="en-US" altLang="zh-TW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1-3</a:t>
            </a:r>
            <a:r>
              <a:rPr kumimoji="1" lang="zh-TW" altLang="en-US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人</a:t>
            </a:r>
            <a:r>
              <a:rPr kumimoji="1" lang="en-US" altLang="zh-TW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/</a:t>
            </a:r>
            <a:r>
              <a:rPr kumimoji="1" lang="zh-TW" altLang="en-US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組</a:t>
            </a:r>
            <a:endParaRPr kumimoji="1" lang="en-US" altLang="zh-TW" sz="2400" dirty="0">
              <a:solidFill>
                <a:srgbClr val="FF0000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39236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6E16BB-653A-5F30-E23A-03C266E52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如何評估機器學習模型的效能？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C57EAC1-D594-DB11-F6C0-D60228045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5" name="Picture 2" descr="Free Adorable grey and white cat with striking yellow eyes against a plain backdrop. Stock Photo">
            <a:extLst>
              <a:ext uri="{FF2B5EF4-FFF2-40B4-BE49-F238E27FC236}">
                <a16:creationId xmlns:a16="http://schemas.microsoft.com/office/drawing/2014/main" id="{D84CDC2B-6346-9057-0729-EAC4437F21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9251" y="2264926"/>
            <a:ext cx="1778957" cy="1181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199CEE02-7D73-8F06-08B3-5DD20ACEC397}"/>
              </a:ext>
            </a:extLst>
          </p:cNvPr>
          <p:cNvSpPr/>
          <p:nvPr/>
        </p:nvSpPr>
        <p:spPr>
          <a:xfrm>
            <a:off x="4779141" y="2409954"/>
            <a:ext cx="1778957" cy="9829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Model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7" name="直線箭頭接點 6">
            <a:extLst>
              <a:ext uri="{FF2B5EF4-FFF2-40B4-BE49-F238E27FC236}">
                <a16:creationId xmlns:a16="http://schemas.microsoft.com/office/drawing/2014/main" id="{A1B1FB38-B71A-B9F8-49A4-84A1A84D8EE4}"/>
              </a:ext>
            </a:extLst>
          </p:cNvPr>
          <p:cNvCxnSpPr/>
          <p:nvPr/>
        </p:nvCxnSpPr>
        <p:spPr>
          <a:xfrm>
            <a:off x="3853311" y="2901444"/>
            <a:ext cx="7086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箭頭接點 7">
            <a:extLst>
              <a:ext uri="{FF2B5EF4-FFF2-40B4-BE49-F238E27FC236}">
                <a16:creationId xmlns:a16="http://schemas.microsoft.com/office/drawing/2014/main" id="{42DC9220-C18A-0C2D-3864-D8C05AE1B019}"/>
              </a:ext>
            </a:extLst>
          </p:cNvPr>
          <p:cNvCxnSpPr/>
          <p:nvPr/>
        </p:nvCxnSpPr>
        <p:spPr>
          <a:xfrm>
            <a:off x="6817491" y="2901444"/>
            <a:ext cx="7086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C1AA19FF-B696-A95E-4126-BBE306884275}"/>
              </a:ext>
            </a:extLst>
          </p:cNvPr>
          <p:cNvSpPr txBox="1"/>
          <p:nvPr/>
        </p:nvSpPr>
        <p:spPr>
          <a:xfrm>
            <a:off x="7779765" y="2264926"/>
            <a:ext cx="822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Cat</a:t>
            </a:r>
            <a:endParaRPr kumimoji="1" lang="zh-TW" altLang="en-US" sz="200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829E574-76B6-A826-6CDB-023BA73C7D63}"/>
              </a:ext>
            </a:extLst>
          </p:cNvPr>
          <p:cNvSpPr txBox="1"/>
          <p:nvPr/>
        </p:nvSpPr>
        <p:spPr>
          <a:xfrm>
            <a:off x="7779765" y="2701389"/>
            <a:ext cx="822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Dog</a:t>
            </a:r>
            <a:endParaRPr kumimoji="1" lang="zh-TW" altLang="en-US" sz="2000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B3E62E72-53C2-AF2B-3771-5A0C1D43DFE8}"/>
              </a:ext>
            </a:extLst>
          </p:cNvPr>
          <p:cNvSpPr txBox="1"/>
          <p:nvPr/>
        </p:nvSpPr>
        <p:spPr>
          <a:xfrm>
            <a:off x="7779765" y="3129201"/>
            <a:ext cx="822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Fox</a:t>
            </a:r>
            <a:endParaRPr kumimoji="1" lang="zh-TW" altLang="en-US" sz="2000" dirty="0"/>
          </a:p>
        </p:txBody>
      </p:sp>
      <p:pic>
        <p:nvPicPr>
          <p:cNvPr id="12" name="圖形 11" descr="核取方塊 (打勾) 以實心填滿">
            <a:extLst>
              <a:ext uri="{FF2B5EF4-FFF2-40B4-BE49-F238E27FC236}">
                <a16:creationId xmlns:a16="http://schemas.microsoft.com/office/drawing/2014/main" id="{5AFFA1BD-E97D-5902-DA13-F3379D48CF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30850" y="2152308"/>
            <a:ext cx="625345" cy="625345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20386940-889F-EA13-7EF3-D28ED4E28ABB}"/>
              </a:ext>
            </a:extLst>
          </p:cNvPr>
          <p:cNvSpPr txBox="1"/>
          <p:nvPr/>
        </p:nvSpPr>
        <p:spPr>
          <a:xfrm>
            <a:off x="1761124" y="4049814"/>
            <a:ext cx="4184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我們不能只憑一筆資料就說模型很棒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…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14" name="圖片 13" descr="一張含有 寵物, 室內, 狗飼養, corgi 的圖片&#10;&#10;自動產生的描述">
            <a:extLst>
              <a:ext uri="{FF2B5EF4-FFF2-40B4-BE49-F238E27FC236}">
                <a16:creationId xmlns:a16="http://schemas.microsoft.com/office/drawing/2014/main" id="{D7ACA796-7C35-506F-2D71-59AE4361EC1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34" t="24003" r="17757" b="22533"/>
          <a:stretch/>
        </p:blipFill>
        <p:spPr>
          <a:xfrm>
            <a:off x="1849251" y="4694159"/>
            <a:ext cx="1742441" cy="1746711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118F99E4-69A5-05DC-0556-C9133017682C}"/>
              </a:ext>
            </a:extLst>
          </p:cNvPr>
          <p:cNvSpPr/>
          <p:nvPr/>
        </p:nvSpPr>
        <p:spPr>
          <a:xfrm>
            <a:off x="4779141" y="5091415"/>
            <a:ext cx="1778957" cy="9829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Model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18" name="直線箭頭接點 17">
            <a:extLst>
              <a:ext uri="{FF2B5EF4-FFF2-40B4-BE49-F238E27FC236}">
                <a16:creationId xmlns:a16="http://schemas.microsoft.com/office/drawing/2014/main" id="{EDF291CB-9B63-B15C-832F-6BD6A8BD471A}"/>
              </a:ext>
            </a:extLst>
          </p:cNvPr>
          <p:cNvCxnSpPr/>
          <p:nvPr/>
        </p:nvCxnSpPr>
        <p:spPr>
          <a:xfrm>
            <a:off x="3853311" y="5582905"/>
            <a:ext cx="7086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30D66B2E-5595-063B-5895-994AF83B776F}"/>
              </a:ext>
            </a:extLst>
          </p:cNvPr>
          <p:cNvCxnSpPr/>
          <p:nvPr/>
        </p:nvCxnSpPr>
        <p:spPr>
          <a:xfrm>
            <a:off x="6817491" y="5582905"/>
            <a:ext cx="7086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C52109E5-45FE-ED00-EECB-90A77ABFE1F5}"/>
              </a:ext>
            </a:extLst>
          </p:cNvPr>
          <p:cNvSpPr txBox="1"/>
          <p:nvPr/>
        </p:nvSpPr>
        <p:spPr>
          <a:xfrm rot="5400000">
            <a:off x="7923672" y="3687289"/>
            <a:ext cx="7156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…</a:t>
            </a:r>
            <a:endParaRPr kumimoji="1" lang="zh-TW" altLang="en-US" sz="2400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37322E2C-D63A-0E62-6E26-E50ED8D0D6FE}"/>
              </a:ext>
            </a:extLst>
          </p:cNvPr>
          <p:cNvSpPr txBox="1"/>
          <p:nvPr/>
        </p:nvSpPr>
        <p:spPr>
          <a:xfrm>
            <a:off x="7781145" y="4942337"/>
            <a:ext cx="822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Cat</a:t>
            </a:r>
            <a:endParaRPr kumimoji="1" lang="zh-TW" altLang="en-US" sz="2000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7BB8EC52-F4B3-3A64-A001-4B4AF05937A0}"/>
              </a:ext>
            </a:extLst>
          </p:cNvPr>
          <p:cNvSpPr txBox="1"/>
          <p:nvPr/>
        </p:nvSpPr>
        <p:spPr>
          <a:xfrm>
            <a:off x="7781145" y="5378800"/>
            <a:ext cx="822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Dog</a:t>
            </a:r>
            <a:endParaRPr kumimoji="1" lang="zh-TW" altLang="en-US" sz="2000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8A6C6D8A-F24C-9840-45DF-3860CE46EDD8}"/>
              </a:ext>
            </a:extLst>
          </p:cNvPr>
          <p:cNvSpPr txBox="1"/>
          <p:nvPr/>
        </p:nvSpPr>
        <p:spPr>
          <a:xfrm>
            <a:off x="7781145" y="5806612"/>
            <a:ext cx="822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Fox</a:t>
            </a:r>
            <a:endParaRPr kumimoji="1" lang="zh-TW" altLang="en-US" sz="2000" dirty="0"/>
          </a:p>
        </p:txBody>
      </p:sp>
      <p:pic>
        <p:nvPicPr>
          <p:cNvPr id="28" name="圖形 27" descr="核取方塊 (打勾) 以實心填滿">
            <a:extLst>
              <a:ext uri="{FF2B5EF4-FFF2-40B4-BE49-F238E27FC236}">
                <a16:creationId xmlns:a16="http://schemas.microsoft.com/office/drawing/2014/main" id="{834ED82D-2ACB-D128-5BA5-8702F7FAEF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30850" y="5693994"/>
            <a:ext cx="625345" cy="625345"/>
          </a:xfrm>
          <a:prstGeom prst="rect">
            <a:avLst/>
          </a:prstGeom>
        </p:spPr>
      </p:pic>
      <p:sp>
        <p:nvSpPr>
          <p:cNvPr id="29" name="文字方塊 28">
            <a:extLst>
              <a:ext uri="{FF2B5EF4-FFF2-40B4-BE49-F238E27FC236}">
                <a16:creationId xmlns:a16="http://schemas.microsoft.com/office/drawing/2014/main" id="{73AD8DA4-238A-F686-2C35-9743FD0147AE}"/>
              </a:ext>
            </a:extLst>
          </p:cNvPr>
          <p:cNvSpPr txBox="1"/>
          <p:nvPr/>
        </p:nvSpPr>
        <p:spPr>
          <a:xfrm rot="5400000">
            <a:off x="8011379" y="6278372"/>
            <a:ext cx="542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…</a:t>
            </a:r>
            <a:endParaRPr kumimoji="1" lang="zh-TW" altLang="en-US" sz="2400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CBB930C7-202E-F138-D7F5-1CAC6491D660}"/>
              </a:ext>
            </a:extLst>
          </p:cNvPr>
          <p:cNvSpPr txBox="1"/>
          <p:nvPr/>
        </p:nvSpPr>
        <p:spPr>
          <a:xfrm>
            <a:off x="7679410" y="1578446"/>
            <a:ext cx="102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/>
              <a:t>Class</a:t>
            </a:r>
            <a:endParaRPr kumimoji="1" lang="zh-TW" altLang="en-US" sz="2400" b="1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5A114110-675A-4220-F962-2A9FBB217F82}"/>
              </a:ext>
            </a:extLst>
          </p:cNvPr>
          <p:cNvSpPr txBox="1"/>
          <p:nvPr/>
        </p:nvSpPr>
        <p:spPr>
          <a:xfrm>
            <a:off x="8932042" y="1578446"/>
            <a:ext cx="102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/>
              <a:t>Pred</a:t>
            </a:r>
            <a:endParaRPr kumimoji="1" lang="zh-TW" altLang="en-US" sz="2400" b="1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55486250-42F5-2FBC-4F05-3E2BFDBE0FDF}"/>
              </a:ext>
            </a:extLst>
          </p:cNvPr>
          <p:cNvSpPr txBox="1"/>
          <p:nvPr/>
        </p:nvSpPr>
        <p:spPr>
          <a:xfrm>
            <a:off x="10084318" y="1578446"/>
            <a:ext cx="10228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/>
              <a:t>Gold</a:t>
            </a:r>
            <a:endParaRPr kumimoji="1" lang="zh-TW" altLang="en-US" sz="2400" b="1" dirty="0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3403A631-813C-8CA6-0D7C-21275AAE9D81}"/>
              </a:ext>
            </a:extLst>
          </p:cNvPr>
          <p:cNvSpPr txBox="1"/>
          <p:nvPr/>
        </p:nvSpPr>
        <p:spPr>
          <a:xfrm>
            <a:off x="10255062" y="2301279"/>
            <a:ext cx="4615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✅</a:t>
            </a:r>
            <a:endParaRPr kumimoji="1" lang="zh-TW" altLang="en-US" sz="2000" dirty="0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E5A6F876-562D-C4A4-8318-267D4F37B09A}"/>
              </a:ext>
            </a:extLst>
          </p:cNvPr>
          <p:cNvSpPr txBox="1"/>
          <p:nvPr/>
        </p:nvSpPr>
        <p:spPr>
          <a:xfrm>
            <a:off x="10255061" y="5378800"/>
            <a:ext cx="4615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✅</a:t>
            </a:r>
            <a:endParaRPr kumimoji="1"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875680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 animBg="1"/>
      <p:bldP spid="25" grpId="0"/>
      <p:bldP spid="26" grpId="0"/>
      <p:bldP spid="27" grpId="0"/>
      <p:bldP spid="29" grpId="0"/>
      <p:bldP spid="3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AFC2CC-C51C-4DFA-79C7-648A6F361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自動化評估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76B4ADB-C70A-E657-2B53-DD1CAAAAD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B386BCF-9EF0-B1ED-01F8-B9AD72E057C0}"/>
              </a:ext>
            </a:extLst>
          </p:cNvPr>
          <p:cNvSpPr txBox="1"/>
          <p:nvPr/>
        </p:nvSpPr>
        <p:spPr>
          <a:xfrm>
            <a:off x="653144" y="1806093"/>
            <a:ext cx="10918370" cy="578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「評估」的意義：</a:t>
            </a:r>
            <a:r>
              <a:rPr kumimoji="1" lang="zh-TW" altLang="en-US" sz="2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量化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模型的表現</a:t>
            </a:r>
            <a:endParaRPr kumimoji="1"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EEE8889-775F-C60B-ACE9-A3AECCE44BE1}"/>
              </a:ext>
            </a:extLst>
          </p:cNvPr>
          <p:cNvSpPr txBox="1"/>
          <p:nvPr/>
        </p:nvSpPr>
        <p:spPr>
          <a:xfrm>
            <a:off x="4787351" y="3725903"/>
            <a:ext cx="9044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6000" dirty="0"/>
              <a:t>🖥️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D84E516-61D5-7C0B-FF84-A5E7921E66C0}"/>
              </a:ext>
            </a:extLst>
          </p:cNvPr>
          <p:cNvSpPr/>
          <p:nvPr/>
        </p:nvSpPr>
        <p:spPr>
          <a:xfrm>
            <a:off x="1918249" y="3156541"/>
            <a:ext cx="1179825" cy="11798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Image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8C80056-4752-4E6A-3FD7-4F1066088BDA}"/>
              </a:ext>
            </a:extLst>
          </p:cNvPr>
          <p:cNvSpPr/>
          <p:nvPr/>
        </p:nvSpPr>
        <p:spPr>
          <a:xfrm>
            <a:off x="1782416" y="3310418"/>
            <a:ext cx="1179825" cy="11798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Image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AC3565B-585E-5732-C5E2-B89676B1D135}"/>
              </a:ext>
            </a:extLst>
          </p:cNvPr>
          <p:cNvSpPr/>
          <p:nvPr/>
        </p:nvSpPr>
        <p:spPr>
          <a:xfrm>
            <a:off x="1626703" y="3489946"/>
            <a:ext cx="1179825" cy="11798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Image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3C82C15-98AB-6A62-D65F-40F3AB0441A8}"/>
              </a:ext>
            </a:extLst>
          </p:cNvPr>
          <p:cNvSpPr/>
          <p:nvPr/>
        </p:nvSpPr>
        <p:spPr>
          <a:xfrm>
            <a:off x="1470990" y="3643823"/>
            <a:ext cx="1179825" cy="11798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Image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cxnSp>
        <p:nvCxnSpPr>
          <p:cNvPr id="16" name="直線箭頭接點 15">
            <a:extLst>
              <a:ext uri="{FF2B5EF4-FFF2-40B4-BE49-F238E27FC236}">
                <a16:creationId xmlns:a16="http://schemas.microsoft.com/office/drawing/2014/main" id="{BE84DAA7-7EFF-DFFC-60CB-CFF18AA55C23}"/>
              </a:ext>
            </a:extLst>
          </p:cNvPr>
          <p:cNvCxnSpPr/>
          <p:nvPr/>
        </p:nvCxnSpPr>
        <p:spPr>
          <a:xfrm>
            <a:off x="3363120" y="4069919"/>
            <a:ext cx="11591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CE177237-5A2B-8DF6-9950-5493496FDC8F}"/>
              </a:ext>
            </a:extLst>
          </p:cNvPr>
          <p:cNvSpPr txBox="1"/>
          <p:nvPr/>
        </p:nvSpPr>
        <p:spPr>
          <a:xfrm>
            <a:off x="1470990" y="5108322"/>
            <a:ext cx="1487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資料</a:t>
            </a:r>
          </a:p>
        </p:txBody>
      </p:sp>
      <p:graphicFrame>
        <p:nvGraphicFramePr>
          <p:cNvPr id="19" name="表格 19">
            <a:extLst>
              <a:ext uri="{FF2B5EF4-FFF2-40B4-BE49-F238E27FC236}">
                <a16:creationId xmlns:a16="http://schemas.microsoft.com/office/drawing/2014/main" id="{B9F430DE-39D5-8A93-8A9E-53AF6EEE55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2738530"/>
              </p:ext>
            </p:extLst>
          </p:nvPr>
        </p:nvGraphicFramePr>
        <p:xfrm>
          <a:off x="7331968" y="2778857"/>
          <a:ext cx="4016511" cy="23126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837">
                  <a:extLst>
                    <a:ext uri="{9D8B030D-6E8A-4147-A177-3AD203B41FA5}">
                      <a16:colId xmlns:a16="http://schemas.microsoft.com/office/drawing/2014/main" val="1716469936"/>
                    </a:ext>
                  </a:extLst>
                </a:gridCol>
                <a:gridCol w="1338837">
                  <a:extLst>
                    <a:ext uri="{9D8B030D-6E8A-4147-A177-3AD203B41FA5}">
                      <a16:colId xmlns:a16="http://schemas.microsoft.com/office/drawing/2014/main" val="4028485228"/>
                    </a:ext>
                  </a:extLst>
                </a:gridCol>
                <a:gridCol w="1338837">
                  <a:extLst>
                    <a:ext uri="{9D8B030D-6E8A-4147-A177-3AD203B41FA5}">
                      <a16:colId xmlns:a16="http://schemas.microsoft.com/office/drawing/2014/main" val="3308220148"/>
                    </a:ext>
                  </a:extLst>
                </a:gridCol>
              </a:tblGrid>
              <a:tr h="462529">
                <a:tc>
                  <a:txBody>
                    <a:bodyPr/>
                    <a:lstStyle/>
                    <a:p>
                      <a:pPr algn="l"/>
                      <a:endParaRPr lang="zh-TW" altLang="en-US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/>
                        <a:t>Pred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/>
                        <a:t>Gold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2052017"/>
                  </a:ext>
                </a:extLst>
              </a:tr>
              <a:tr h="462529"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993444"/>
                  </a:ext>
                </a:extLst>
              </a:tr>
              <a:tr h="462529"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5761731"/>
                  </a:ext>
                </a:extLst>
              </a:tr>
              <a:tr h="462529"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1222943"/>
                  </a:ext>
                </a:extLst>
              </a:tr>
              <a:tr h="462529"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8988669"/>
                  </a:ext>
                </a:extLst>
              </a:tr>
            </a:tbl>
          </a:graphicData>
        </a:graphic>
      </p:graphicFrame>
      <p:cxnSp>
        <p:nvCxnSpPr>
          <p:cNvPr id="20" name="直線箭頭接點 19">
            <a:extLst>
              <a:ext uri="{FF2B5EF4-FFF2-40B4-BE49-F238E27FC236}">
                <a16:creationId xmlns:a16="http://schemas.microsoft.com/office/drawing/2014/main" id="{032ED51D-0E8C-78C3-37B4-5BA3EA8E1772}"/>
              </a:ext>
            </a:extLst>
          </p:cNvPr>
          <p:cNvCxnSpPr/>
          <p:nvPr/>
        </p:nvCxnSpPr>
        <p:spPr>
          <a:xfrm>
            <a:off x="5900910" y="4107864"/>
            <a:ext cx="11591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E37B6E0B-D0C7-9542-9898-C660BB37C515}"/>
              </a:ext>
            </a:extLst>
          </p:cNvPr>
          <p:cNvSpPr txBox="1"/>
          <p:nvPr/>
        </p:nvSpPr>
        <p:spPr>
          <a:xfrm>
            <a:off x="8825947" y="2374915"/>
            <a:ext cx="22633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假設用二分類任務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5A308BE-3A1E-CCE1-7BA0-670E48A586DC}"/>
              </a:ext>
            </a:extLst>
          </p:cNvPr>
          <p:cNvSpPr txBox="1"/>
          <p:nvPr/>
        </p:nvSpPr>
        <p:spPr>
          <a:xfrm>
            <a:off x="8349568" y="5153366"/>
            <a:ext cx="22633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正確率：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0.75</a:t>
            </a:r>
            <a:endParaRPr lang="zh-TW" altLang="en-US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E38DED9A-9D8D-E747-2485-3E97DCC48ED4}"/>
              </a:ext>
            </a:extLst>
          </p:cNvPr>
          <p:cNvSpPr txBox="1"/>
          <p:nvPr/>
        </p:nvSpPr>
        <p:spPr>
          <a:xfrm>
            <a:off x="8216068" y="5805686"/>
            <a:ext cx="25303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真正答對的數量 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/</a:t>
            </a:r>
          </a:p>
          <a:p>
            <a:pPr algn="ctr"/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總預測的數量</a:t>
            </a:r>
          </a:p>
        </p:txBody>
      </p:sp>
    </p:spTree>
    <p:extLst>
      <p:ext uri="{BB962C8B-B14F-4D97-AF65-F5344CB8AC3E}">
        <p14:creationId xmlns:p14="http://schemas.microsoft.com/office/powerpoint/2010/main" val="3471769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  <p:bldP spid="12" grpId="0" animBg="1"/>
      <p:bldP spid="13" grpId="0" animBg="1"/>
      <p:bldP spid="14" grpId="0" animBg="1"/>
      <p:bldP spid="17" grpId="0"/>
      <p:bldP spid="22" grpId="0"/>
      <p:bldP spid="23" grpId="0"/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AFC2CC-C51C-4DFA-79C7-648A6F361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評估方式 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計算模型有多高分的方式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76B4ADB-C70A-E657-2B53-DD1CAAAAD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B386BCF-9EF0-B1ED-01F8-B9AD72E057C0}"/>
              </a:ext>
            </a:extLst>
          </p:cNvPr>
          <p:cNvSpPr txBox="1"/>
          <p:nvPr/>
        </p:nvSpPr>
        <p:spPr>
          <a:xfrm>
            <a:off x="653144" y="1806093"/>
            <a:ext cx="10918370" cy="578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不同任務有不同的評估方式</a:t>
            </a:r>
            <a:endParaRPr kumimoji="1"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D3861766-14F3-A748-6EA3-CA0525D94C44}"/>
              </a:ext>
            </a:extLst>
          </p:cNvPr>
          <p:cNvSpPr/>
          <p:nvPr/>
        </p:nvSpPr>
        <p:spPr>
          <a:xfrm>
            <a:off x="2454965" y="3041373"/>
            <a:ext cx="3776870" cy="1172817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/>
              <a:t>Automatic Evaluation</a:t>
            </a:r>
          </a:p>
          <a:p>
            <a:pPr algn="ctr"/>
            <a:r>
              <a:rPr kumimoji="1" lang="en-US" altLang="zh-TW" sz="2400" dirty="0"/>
              <a:t>(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自動化評估</a:t>
            </a:r>
            <a:r>
              <a:rPr kumimoji="1" lang="en-US" altLang="zh-TW" sz="2400" dirty="0"/>
              <a:t>)</a:t>
            </a:r>
            <a:endParaRPr kumimoji="1" lang="zh-TW" altLang="en-US" sz="2400" dirty="0"/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151A0D4A-AEDB-DB28-DA46-3A73316ABB7A}"/>
              </a:ext>
            </a:extLst>
          </p:cNvPr>
          <p:cNvSpPr/>
          <p:nvPr/>
        </p:nvSpPr>
        <p:spPr>
          <a:xfrm>
            <a:off x="6836085" y="3041373"/>
            <a:ext cx="3776870" cy="117281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/>
              <a:t>Human Evaluation</a:t>
            </a:r>
          </a:p>
          <a:p>
            <a:pPr algn="ctr"/>
            <a:r>
              <a:rPr kumimoji="1" lang="en-US" altLang="zh-TW" sz="2400" dirty="0"/>
              <a:t>(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人工評估</a:t>
            </a:r>
            <a:r>
              <a:rPr kumimoji="1" lang="en-US" altLang="zh-TW" sz="2400" dirty="0"/>
              <a:t>)</a:t>
            </a:r>
            <a:endParaRPr kumimoji="1" lang="zh-TW" altLang="en-US" sz="24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787169A-AD44-5B18-1591-AF48BDEA2A2C}"/>
              </a:ext>
            </a:extLst>
          </p:cNvPr>
          <p:cNvSpPr txBox="1"/>
          <p:nvPr/>
        </p:nvSpPr>
        <p:spPr>
          <a:xfrm>
            <a:off x="926236" y="3396948"/>
            <a:ext cx="10814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類型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EEE8889-775F-C60B-ACE9-A3AECCE44BE1}"/>
              </a:ext>
            </a:extLst>
          </p:cNvPr>
          <p:cNvSpPr txBox="1"/>
          <p:nvPr/>
        </p:nvSpPr>
        <p:spPr>
          <a:xfrm>
            <a:off x="8272289" y="4744559"/>
            <a:ext cx="9044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4400" dirty="0"/>
              <a:t>🧑‍🏫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A411055-4193-9312-EEAE-A8C060B55376}"/>
              </a:ext>
            </a:extLst>
          </p:cNvPr>
          <p:cNvSpPr txBox="1"/>
          <p:nvPr/>
        </p:nvSpPr>
        <p:spPr>
          <a:xfrm>
            <a:off x="3891169" y="4744558"/>
            <a:ext cx="9044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4400" dirty="0"/>
              <a:t>🖥️</a:t>
            </a:r>
            <a:endParaRPr kumimoji="1" lang="zh-TW" altLang="en-US" sz="440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AE48B5E-7631-0DF6-4D6A-556255372F37}"/>
              </a:ext>
            </a:extLst>
          </p:cNvPr>
          <p:cNvSpPr txBox="1"/>
          <p:nvPr/>
        </p:nvSpPr>
        <p:spPr>
          <a:xfrm>
            <a:off x="7074911" y="5499968"/>
            <a:ext cx="3299215" cy="57849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「生成」任務較為需要</a:t>
            </a:r>
            <a:endParaRPr kumimoji="1"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93442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865971-B0EC-30C9-2033-E2EDCE0F9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What is Kaggle?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E328ABF-DDEA-CADF-66B3-BFE87A3E3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3B87797-E3AE-4EBE-2B62-A4DE081E228D}"/>
              </a:ext>
            </a:extLst>
          </p:cNvPr>
          <p:cNvSpPr txBox="1"/>
          <p:nvPr/>
        </p:nvSpPr>
        <p:spPr>
          <a:xfrm>
            <a:off x="653144" y="1806093"/>
            <a:ext cx="10918370" cy="225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Kaggle is a platform that provides: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Real-word datasets for machine learning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Competitions with prizes (sometimes with money)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Discussion forum with </a:t>
            </a:r>
            <a:r>
              <a:rPr kumimoji="1" lang="en-US" altLang="zh-TW" sz="2400" dirty="0">
                <a:solidFill>
                  <a:srgbClr val="FF0000"/>
                </a:solidFill>
              </a:rPr>
              <a:t>a lots of code examples</a:t>
            </a:r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AC433184-A31B-F809-1E62-9393DCED2E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5637" y="2127093"/>
            <a:ext cx="2903330" cy="1121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2033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86A6FC-3CAE-286A-D273-24D56F1E7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Kaggle submission types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3D58D4F-7593-7A09-5357-C3C5AF2F4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E3A8C51-FB4D-B396-852C-E7355C49A3D4}"/>
              </a:ext>
            </a:extLst>
          </p:cNvPr>
          <p:cNvSpPr txBox="1"/>
          <p:nvPr/>
        </p:nvSpPr>
        <p:spPr>
          <a:xfrm>
            <a:off x="653144" y="1806093"/>
            <a:ext cx="10918370" cy="225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Traditional competitions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Upload s</a:t>
            </a:r>
            <a:r>
              <a:rPr kumimoji="1" lang="en-US" altLang="zh-TW" sz="2400" b="1" dirty="0"/>
              <a:t>ubmission file </a:t>
            </a:r>
            <a:r>
              <a:rPr kumimoji="1" lang="en-US" altLang="zh-TW" sz="2400" dirty="0"/>
              <a:t>(e.g., *.csv)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Code / Notebook competitions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Upload </a:t>
            </a:r>
            <a:r>
              <a:rPr kumimoji="1" lang="en-US" altLang="zh-TW" sz="2400" b="1" dirty="0"/>
              <a:t>code</a:t>
            </a:r>
            <a:r>
              <a:rPr kumimoji="1" lang="en-US" altLang="zh-TW" sz="2400" dirty="0"/>
              <a:t> (e.g., *.</a:t>
            </a:r>
            <a:r>
              <a:rPr kumimoji="1" lang="en-US" altLang="zh-TW" sz="2400" dirty="0" err="1"/>
              <a:t>ipynb</a:t>
            </a:r>
            <a:r>
              <a:rPr kumimoji="1" lang="en-US" altLang="zh-TW" sz="2400" dirty="0"/>
              <a:t>)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2F92B4E-ADBE-9A41-2C44-BD43E77C48F1}"/>
              </a:ext>
            </a:extLst>
          </p:cNvPr>
          <p:cNvSpPr/>
          <p:nvPr/>
        </p:nvSpPr>
        <p:spPr>
          <a:xfrm>
            <a:off x="974034" y="1898374"/>
            <a:ext cx="3450393" cy="52677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34AD1D6-CC47-6744-EBAE-7C9568D54F45}"/>
              </a:ext>
            </a:extLst>
          </p:cNvPr>
          <p:cNvSpPr txBox="1"/>
          <p:nvPr/>
        </p:nvSpPr>
        <p:spPr>
          <a:xfrm>
            <a:off x="4540665" y="1968540"/>
            <a:ext cx="44483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000" dirty="0">
                <a:solidFill>
                  <a:srgbClr val="FF0000"/>
                </a:solidFill>
                <a:ea typeface="Microsoft JhengHei" panose="020B0604030504040204" pitchFamily="34" charset="-120"/>
              </a:rPr>
              <a:t>本課程</a:t>
            </a:r>
            <a:r>
              <a:rPr kumimoji="1" lang="en-US" altLang="zh-TW" sz="2000" dirty="0">
                <a:solidFill>
                  <a:srgbClr val="FF0000"/>
                </a:solidFill>
                <a:ea typeface="Microsoft JhengHei" panose="020B0604030504040204" pitchFamily="34" charset="-120"/>
              </a:rPr>
              <a:t> Term project </a:t>
            </a:r>
            <a:r>
              <a:rPr kumimoji="1" lang="zh-TW" altLang="en-US" sz="2000" dirty="0">
                <a:solidFill>
                  <a:srgbClr val="FF0000"/>
                </a:solidFill>
                <a:ea typeface="Microsoft JhengHei" panose="020B0604030504040204" pitchFamily="34" charset="-120"/>
              </a:rPr>
              <a:t>採用此方式</a:t>
            </a:r>
          </a:p>
        </p:txBody>
      </p:sp>
    </p:spTree>
    <p:extLst>
      <p:ext uri="{BB962C8B-B14F-4D97-AF65-F5344CB8AC3E}">
        <p14:creationId xmlns:p14="http://schemas.microsoft.com/office/powerpoint/2010/main" val="3836629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326150-9229-070C-3EA6-FF1573D0E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TW" dirty="0"/>
              <a:t>If you play Kaggle a lot …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B2D8725-5CE1-C496-866C-03B0CDB8D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D0A3D66-FB6F-E172-77E1-3DA553E44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9888" y="1453470"/>
            <a:ext cx="7452224" cy="4898123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178CD3BA-FB6F-0517-29D5-3738CD04E054}"/>
              </a:ext>
            </a:extLst>
          </p:cNvPr>
          <p:cNvSpPr txBox="1"/>
          <p:nvPr/>
        </p:nvSpPr>
        <p:spPr>
          <a:xfrm>
            <a:off x="3785152" y="6415559"/>
            <a:ext cx="46216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TW" sz="1600" dirty="0"/>
              <a:t>Figure source: https://</a:t>
            </a:r>
            <a:r>
              <a:rPr kumimoji="1" lang="en" altLang="zh-TW" sz="1600" dirty="0" err="1"/>
              <a:t>www.kaggle.com</a:t>
            </a:r>
            <a:r>
              <a:rPr kumimoji="1" lang="en" altLang="zh-TW" sz="1600" dirty="0"/>
              <a:t>/</a:t>
            </a:r>
            <a:r>
              <a:rPr kumimoji="1" lang="en" altLang="zh-TW" sz="1600" dirty="0" err="1"/>
              <a:t>bestfitting</a:t>
            </a:r>
            <a:endParaRPr kumimoji="1" lang="en" altLang="zh-TW" sz="1600" dirty="0"/>
          </a:p>
        </p:txBody>
      </p:sp>
    </p:spTree>
    <p:extLst>
      <p:ext uri="{BB962C8B-B14F-4D97-AF65-F5344CB8AC3E}">
        <p14:creationId xmlns:p14="http://schemas.microsoft.com/office/powerpoint/2010/main" val="4115165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043B37-B985-AD86-241F-FA1CA9C0C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Outline of tasks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55ABF49-8282-4A3F-16A1-B45C54D01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9</a:t>
            </a:fld>
            <a:endParaRPr 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AE9313BD-B832-A6B2-E888-7306EF403C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7038498"/>
              </p:ext>
            </p:extLst>
          </p:nvPr>
        </p:nvGraphicFramePr>
        <p:xfrm>
          <a:off x="882926" y="2140880"/>
          <a:ext cx="10426148" cy="38194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2209">
                  <a:extLst>
                    <a:ext uri="{9D8B030D-6E8A-4147-A177-3AD203B41FA5}">
                      <a16:colId xmlns:a16="http://schemas.microsoft.com/office/drawing/2014/main" val="2000886551"/>
                    </a:ext>
                  </a:extLst>
                </a:gridCol>
                <a:gridCol w="3299791">
                  <a:extLst>
                    <a:ext uri="{9D8B030D-6E8A-4147-A177-3AD203B41FA5}">
                      <a16:colId xmlns:a16="http://schemas.microsoft.com/office/drawing/2014/main" val="3087572156"/>
                    </a:ext>
                  </a:extLst>
                </a:gridCol>
                <a:gridCol w="1704631">
                  <a:extLst>
                    <a:ext uri="{9D8B030D-6E8A-4147-A177-3AD203B41FA5}">
                      <a16:colId xmlns:a16="http://schemas.microsoft.com/office/drawing/2014/main" val="3197629087"/>
                    </a:ext>
                  </a:extLst>
                </a:gridCol>
                <a:gridCol w="2259830">
                  <a:extLst>
                    <a:ext uri="{9D8B030D-6E8A-4147-A177-3AD203B41FA5}">
                      <a16:colId xmlns:a16="http://schemas.microsoft.com/office/drawing/2014/main" val="2381574159"/>
                    </a:ext>
                  </a:extLst>
                </a:gridCol>
                <a:gridCol w="1889687">
                  <a:extLst>
                    <a:ext uri="{9D8B030D-6E8A-4147-A177-3AD203B41FA5}">
                      <a16:colId xmlns:a16="http://schemas.microsoft.com/office/drawing/2014/main" val="1443797130"/>
                    </a:ext>
                  </a:extLst>
                </a:gridCol>
              </a:tblGrid>
              <a:tr h="763897">
                <a:tc>
                  <a:txBody>
                    <a:bodyPr/>
                    <a:lstStyle/>
                    <a:p>
                      <a:r>
                        <a:rPr lang="en-US" altLang="zh-TW" dirty="0"/>
                        <a:t>Platform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Competition Name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Data Type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Task Type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Why special?</a:t>
                      </a:r>
                    </a:p>
                    <a:p>
                      <a:r>
                        <a:rPr lang="en-US" altLang="zh-TW" dirty="0"/>
                        <a:t>(Difficulty)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2026224"/>
                  </a:ext>
                </a:extLst>
              </a:tr>
              <a:tr h="763897">
                <a:tc rowSpan="4">
                  <a:txBody>
                    <a:bodyPr/>
                    <a:lstStyle/>
                    <a:p>
                      <a:r>
                        <a:rPr lang="en-US" altLang="zh-TW" dirty="0"/>
                        <a:t>Kaggle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 altLang="zh-TW" dirty="0">
                          <a:hlinkClick r:id="rId3"/>
                        </a:rPr>
                        <a:t>Dog Breed Identification</a:t>
                      </a:r>
                      <a:endParaRPr lang="en" altLang="zh-TW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 altLang="zh-TW" dirty="0"/>
                        <a:t>Image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Image Classification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120 classes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0284731"/>
                  </a:ext>
                </a:extLst>
              </a:tr>
              <a:tr h="763897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TW" dirty="0">
                          <a:hlinkClick r:id="rId4"/>
                        </a:rPr>
                        <a:t>Plant Pathology 2020 - FGVC7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Image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Image Classification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Class imbalance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391745"/>
                  </a:ext>
                </a:extLst>
              </a:tr>
              <a:tr h="763897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TW" dirty="0">
                          <a:hlinkClick r:id="rId5"/>
                        </a:rPr>
                        <a:t>Natural Language Processing with Disaster Tweets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Text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Text Classification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NLP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9319105"/>
                  </a:ext>
                </a:extLst>
              </a:tr>
              <a:tr h="763897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 altLang="zh-TW" dirty="0">
                          <a:hlinkClick r:id="rId6"/>
                        </a:rPr>
                        <a:t>Wikipedia - Image/Caption Matching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Image / Text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Retrieval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CV+NLP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46023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3528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388DFB-19F0-7DB9-AB73-9A8AA28A0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TW" dirty="0"/>
              <a:t>Dog Breed Identification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E2F5F81-27F1-A459-0E66-DDEE5B5CA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9FE2004-C6BE-2455-E7BB-BF1DB343F41A}"/>
              </a:ext>
            </a:extLst>
          </p:cNvPr>
          <p:cNvSpPr txBox="1"/>
          <p:nvPr/>
        </p:nvSpPr>
        <p:spPr>
          <a:xfrm>
            <a:off x="653143" y="1661204"/>
            <a:ext cx="10918370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https://</a:t>
            </a:r>
            <a:r>
              <a:rPr kumimoji="1" lang="en-US" altLang="zh-TW" sz="2000" dirty="0" err="1"/>
              <a:t>www.kaggle.com</a:t>
            </a:r>
            <a:r>
              <a:rPr kumimoji="1" lang="en-US" altLang="zh-TW" sz="2000" dirty="0"/>
              <a:t>/competitions/dog-breed-identification/overview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27FC0898-884D-194C-4E49-C7AD6F7BB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631" y="2598399"/>
            <a:ext cx="8687909" cy="3386257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03C2959A-6402-6195-376E-18F3A673D6B6}"/>
              </a:ext>
            </a:extLst>
          </p:cNvPr>
          <p:cNvSpPr/>
          <p:nvPr/>
        </p:nvSpPr>
        <p:spPr>
          <a:xfrm>
            <a:off x="7943213" y="2598399"/>
            <a:ext cx="1602231" cy="132683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479679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388DFB-19F0-7DB9-AB73-9A8AA28A0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TW" dirty="0"/>
              <a:t>Dog Breed Identification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E2F5F81-27F1-A459-0E66-DDEE5B5CA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6EAD90F6-5C0B-EBBD-9A8A-91A349A07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51" y="1592468"/>
            <a:ext cx="2363375" cy="4521239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EAB03991-4FC0-9EF1-FF0B-E6E90C51561C}"/>
              </a:ext>
            </a:extLst>
          </p:cNvPr>
          <p:cNvSpPr txBox="1"/>
          <p:nvPr/>
        </p:nvSpPr>
        <p:spPr>
          <a:xfrm rot="5400000">
            <a:off x="1349633" y="6105717"/>
            <a:ext cx="401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…</a:t>
            </a:r>
            <a:endParaRPr kumimoji="1" lang="zh-TW" altLang="en-US" sz="2400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A8C24B6A-47DD-BC55-AFD9-EDFA230F8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3587" y="1597390"/>
            <a:ext cx="2811284" cy="4521239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A025130A-2F7E-6743-A71C-55482886FA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5050" y="2006874"/>
            <a:ext cx="3886200" cy="3162300"/>
          </a:xfrm>
          <a:prstGeom prst="rect">
            <a:avLst/>
          </a:prstGeom>
        </p:spPr>
      </p:pic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987396ED-51A0-1B7F-B05C-960661631C6B}"/>
              </a:ext>
            </a:extLst>
          </p:cNvPr>
          <p:cNvCxnSpPr>
            <a:cxnSpLocks/>
          </p:cNvCxnSpPr>
          <p:nvPr/>
        </p:nvCxnSpPr>
        <p:spPr>
          <a:xfrm>
            <a:off x="5518150" y="2445024"/>
            <a:ext cx="2771085" cy="1143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22403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4E8906-818D-4FB7-E2D3-836402C31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Dog Breed Identification (evaluation)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2063FC0-CF2A-578F-436D-5A098E8AA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F47DE2A-0B31-669C-CE83-5B8BEEA7E6C6}"/>
              </a:ext>
            </a:extLst>
          </p:cNvPr>
          <p:cNvSpPr txBox="1"/>
          <p:nvPr/>
        </p:nvSpPr>
        <p:spPr>
          <a:xfrm>
            <a:off x="653141" y="1910432"/>
            <a:ext cx="9554346" cy="1687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評估指標為 </a:t>
            </a:r>
            <a:r>
              <a:rPr lang="en" altLang="zh-TW" sz="2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Multi Class Log Loss</a:t>
            </a:r>
            <a:r>
              <a:rPr lang="zh-TW" altLang="en-US" sz="24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，值越小越好</a:t>
            </a:r>
            <a:endParaRPr lang="en-US" altLang="zh-TW" sz="2400" dirty="0"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類似 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Cross-entropy</a:t>
            </a:r>
            <a:endParaRPr lang="en-US" altLang="zh-TW" sz="2400" dirty="0"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預測正確的話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loss 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為零</a:t>
            </a:r>
            <a:endParaRPr lang="en-US" altLang="zh-TW" sz="2400" dirty="0">
              <a:solidFill>
                <a:schemeClr val="tx1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05AA34E9-E5F0-5BA9-C254-7B14E4893FDF}"/>
              </a:ext>
            </a:extLst>
          </p:cNvPr>
          <p:cNvSpPr/>
          <p:nvPr/>
        </p:nvSpPr>
        <p:spPr>
          <a:xfrm>
            <a:off x="4060341" y="4164372"/>
            <a:ext cx="685800" cy="68580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/>
              <a:t>1</a:t>
            </a:r>
            <a:endParaRPr kumimoji="1" lang="zh-TW" altLang="en-US" sz="2400" dirty="0"/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6C88DDF6-AFF2-CB35-A761-3981B1BF337A}"/>
              </a:ext>
            </a:extLst>
          </p:cNvPr>
          <p:cNvSpPr/>
          <p:nvPr/>
        </p:nvSpPr>
        <p:spPr>
          <a:xfrm>
            <a:off x="5996940" y="4164372"/>
            <a:ext cx="685800" cy="685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/>
              <a:t>0.1</a:t>
            </a:r>
            <a:endParaRPr kumimoji="1" lang="zh-TW" altLang="en-US" sz="2400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177C788-2044-0995-1DB1-788605DB55D3}"/>
              </a:ext>
            </a:extLst>
          </p:cNvPr>
          <p:cNvSpPr txBox="1"/>
          <p:nvPr/>
        </p:nvSpPr>
        <p:spPr>
          <a:xfrm>
            <a:off x="5054600" y="4113131"/>
            <a:ext cx="2082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4000" dirty="0"/>
              <a:t>log(     ) </a:t>
            </a:r>
            <a:endParaRPr kumimoji="1" lang="zh-TW" altLang="en-US" sz="4000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6F9341B-BD79-6F1D-423F-BDDEF087ED0C}"/>
              </a:ext>
            </a:extLst>
          </p:cNvPr>
          <p:cNvSpPr txBox="1"/>
          <p:nvPr/>
        </p:nvSpPr>
        <p:spPr>
          <a:xfrm>
            <a:off x="4776077" y="4260979"/>
            <a:ext cx="293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x</a:t>
            </a:r>
            <a:endParaRPr kumimoji="1" lang="zh-TW" altLang="en-US" sz="2400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540E6DC1-EBD8-3371-7889-AD0D45BE1A4F}"/>
              </a:ext>
            </a:extLst>
          </p:cNvPr>
          <p:cNvSpPr txBox="1"/>
          <p:nvPr/>
        </p:nvSpPr>
        <p:spPr>
          <a:xfrm>
            <a:off x="3627892" y="4174686"/>
            <a:ext cx="2931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3200" dirty="0"/>
              <a:t>-</a:t>
            </a:r>
            <a:endParaRPr kumimoji="1" lang="zh-TW" altLang="en-US" sz="3200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6D706C39-1AB3-8F19-7A38-5F669BB03E54}"/>
              </a:ext>
            </a:extLst>
          </p:cNvPr>
          <p:cNvSpPr txBox="1"/>
          <p:nvPr/>
        </p:nvSpPr>
        <p:spPr>
          <a:xfrm>
            <a:off x="7012426" y="4214884"/>
            <a:ext cx="18422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3200" dirty="0"/>
              <a:t>= 1</a:t>
            </a:r>
            <a:endParaRPr kumimoji="1"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6126844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9F2A4F-29FE-CF71-0E5F-E8D29D2D5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Plant Pathology 2020 - FGVC7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CAA0E44-943E-629C-348B-B3768636E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1AA4730-45A3-77A6-B299-144931ABB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415" y="2506105"/>
            <a:ext cx="9021170" cy="3849550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0295BE77-5723-870F-FF68-CA4D888051DD}"/>
              </a:ext>
            </a:extLst>
          </p:cNvPr>
          <p:cNvSpPr txBox="1"/>
          <p:nvPr/>
        </p:nvSpPr>
        <p:spPr>
          <a:xfrm>
            <a:off x="653143" y="1661204"/>
            <a:ext cx="10918370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https://</a:t>
            </a:r>
            <a:r>
              <a:rPr kumimoji="1" lang="en-US" altLang="zh-TW" sz="2000" dirty="0" err="1"/>
              <a:t>www.kaggle.com</a:t>
            </a:r>
            <a:r>
              <a:rPr kumimoji="1" lang="en-US" altLang="zh-TW" sz="2000" dirty="0"/>
              <a:t>/competitions/plant-pathology-2020-fgvc7/</a:t>
            </a:r>
            <a:r>
              <a:rPr kumimoji="1" lang="en-US" altLang="zh-TW" sz="2000" dirty="0" err="1"/>
              <a:t>data?select</a:t>
            </a:r>
            <a:r>
              <a:rPr kumimoji="1" lang="en-US" altLang="zh-TW" sz="2000" dirty="0"/>
              <a:t>=images</a:t>
            </a:r>
          </a:p>
        </p:txBody>
      </p:sp>
    </p:spTree>
    <p:extLst>
      <p:ext uri="{BB962C8B-B14F-4D97-AF65-F5344CB8AC3E}">
        <p14:creationId xmlns:p14="http://schemas.microsoft.com/office/powerpoint/2010/main" val="27921094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9F2A4F-29FE-CF71-0E5F-E8D29D2D5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Plant Pathology 2020 - FGVC7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CAA0E44-943E-629C-348B-B3768636E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77F846E-DB14-954B-2A52-23691D77E4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5369" y="1797567"/>
            <a:ext cx="2867387" cy="2156054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AA8F3127-5BFB-CDE7-4F2B-453095D1EE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8609" y="4292404"/>
            <a:ext cx="6705600" cy="2209508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26FFD7B9-A4BD-72D6-E371-FEABDF78D1D1}"/>
              </a:ext>
            </a:extLst>
          </p:cNvPr>
          <p:cNvSpPr txBox="1"/>
          <p:nvPr/>
        </p:nvSpPr>
        <p:spPr>
          <a:xfrm>
            <a:off x="653144" y="1702933"/>
            <a:ext cx="4684573" cy="2345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每張影像有</a:t>
            </a:r>
            <a:r>
              <a:rPr kumimoji="1" lang="en-US" altLang="zh-TW" sz="20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4</a:t>
            </a:r>
            <a:r>
              <a:rPr kumimoji="1" lang="zh-TW" altLang="en-US" sz="20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個類別</a:t>
            </a:r>
            <a:endParaRPr kumimoji="1" lang="en-US" altLang="zh-TW" sz="2000" dirty="0"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Healthy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Multiple diseases</a:t>
            </a:r>
            <a:r>
              <a:rPr kumimoji="1" lang="zh-TW" altLang="en-US" sz="20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kumimoji="1" lang="en-US" altLang="zh-TW" sz="20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kumimoji="1" lang="zh-TW" altLang="en-US" sz="20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多重疾病</a:t>
            </a:r>
            <a:r>
              <a:rPr kumimoji="1" lang="en-US" altLang="zh-TW" sz="20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Rust (</a:t>
            </a:r>
            <a:r>
              <a:rPr kumimoji="1" lang="zh-TW" altLang="en-US" sz="20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鏽病</a:t>
            </a:r>
            <a:r>
              <a:rPr kumimoji="1" lang="en-US" altLang="zh-TW" sz="20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Scab (</a:t>
            </a:r>
            <a:r>
              <a:rPr kumimoji="1" lang="zh-TW" altLang="en-US" sz="20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疥瘡病</a:t>
            </a:r>
            <a:r>
              <a:rPr kumimoji="1" lang="en-US" altLang="zh-TW" sz="20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238081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8CE7A1-9829-7700-A9DD-BFE424838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" altLang="zh-TW" dirty="0"/>
              <a:t>Plant Pathology 2020 - FGVC7 (Evaluation)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F9EF858-479B-288C-1E86-3910F9DF4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1494615-E886-3478-C7AD-061C09849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43" y="1733917"/>
            <a:ext cx="7062377" cy="1202571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B267382B-CF28-2EE3-CEF9-52227CB87194}"/>
              </a:ext>
            </a:extLst>
          </p:cNvPr>
          <p:cNvSpPr/>
          <p:nvPr/>
        </p:nvSpPr>
        <p:spPr>
          <a:xfrm>
            <a:off x="2679837" y="2405111"/>
            <a:ext cx="1914465" cy="15966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08E1162-418D-4E32-A89A-3D10C521D752}"/>
              </a:ext>
            </a:extLst>
          </p:cNvPr>
          <p:cNvSpPr txBox="1"/>
          <p:nvPr/>
        </p:nvSpPr>
        <p:spPr>
          <a:xfrm>
            <a:off x="1576039" y="3238350"/>
            <a:ext cx="8422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ea typeface="Microsoft JhengHei" panose="020B0604030504040204" pitchFamily="34" charset="-120"/>
              </a:rPr>
              <a:t>針對每個 </a:t>
            </a:r>
            <a:r>
              <a:rPr kumimoji="1" lang="en-US" altLang="zh-TW" dirty="0">
                <a:ea typeface="Microsoft JhengHei" panose="020B0604030504040204" pitchFamily="34" charset="-120"/>
              </a:rPr>
              <a:t>label</a:t>
            </a:r>
            <a:r>
              <a:rPr kumimoji="1" lang="zh-TW" altLang="en-US" dirty="0">
                <a:ea typeface="Microsoft JhengHei" panose="020B0604030504040204" pitchFamily="34" charset="-120"/>
              </a:rPr>
              <a:t> 的模型預測各算一次 </a:t>
            </a:r>
            <a:r>
              <a:rPr kumimoji="1" lang="en-US" altLang="zh-TW" dirty="0">
                <a:ea typeface="Microsoft JhengHei" panose="020B0604030504040204" pitchFamily="34" charset="-120"/>
              </a:rPr>
              <a:t>AUC</a:t>
            </a:r>
            <a:r>
              <a:rPr kumimoji="1" lang="zh-TW" altLang="en-US" dirty="0">
                <a:ea typeface="Microsoft JhengHei" panose="020B0604030504040204" pitchFamily="34" charset="-120"/>
              </a:rPr>
              <a:t> </a:t>
            </a:r>
            <a:r>
              <a:rPr kumimoji="1" lang="en-US" altLang="zh-TW" dirty="0">
                <a:ea typeface="Microsoft JhengHei" panose="020B0604030504040204" pitchFamily="34" charset="-120"/>
              </a:rPr>
              <a:t>(Area Under the Curve) </a:t>
            </a:r>
            <a:r>
              <a:rPr kumimoji="1" lang="zh-TW" altLang="en-US" dirty="0">
                <a:ea typeface="Microsoft JhengHei" panose="020B0604030504040204" pitchFamily="34" charset="-120"/>
              </a:rPr>
              <a:t>之後，取平均</a:t>
            </a:r>
            <a:r>
              <a:rPr kumimoji="1" lang="en-US" altLang="zh-TW" dirty="0">
                <a:ea typeface="Microsoft JhengHei" panose="020B0604030504040204" pitchFamily="34" charset="-120"/>
              </a:rPr>
              <a:t> 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cxnSp>
        <p:nvCxnSpPr>
          <p:cNvPr id="9" name="直線箭頭接點 8">
            <a:extLst>
              <a:ext uri="{FF2B5EF4-FFF2-40B4-BE49-F238E27FC236}">
                <a16:creationId xmlns:a16="http://schemas.microsoft.com/office/drawing/2014/main" id="{5438F12A-DDF7-EFB3-4C1A-7CCE48177729}"/>
              </a:ext>
            </a:extLst>
          </p:cNvPr>
          <p:cNvCxnSpPr>
            <a:cxnSpLocks/>
            <a:stCxn id="8" idx="0"/>
            <a:endCxn id="7" idx="2"/>
          </p:cNvCxnSpPr>
          <p:nvPr/>
        </p:nvCxnSpPr>
        <p:spPr>
          <a:xfrm flipH="1" flipV="1">
            <a:off x="3637070" y="2564780"/>
            <a:ext cx="2150332" cy="6735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03611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41B55B-BF60-EEF2-39E2-6FC4F3BB4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ROC Curve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ADA747F-7522-C9B3-4D8B-5B0A7417D8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43" y="1845733"/>
            <a:ext cx="10918371" cy="266614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dirty="0"/>
              <a:t>ROC curve: Receiver operating characteristic curve (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接收者操作特徵曲線</a:t>
            </a:r>
            <a:r>
              <a:rPr kumimoji="1" lang="en-US" altLang="zh-TW" dirty="0"/>
              <a:t>)</a:t>
            </a:r>
          </a:p>
          <a:p>
            <a:pPr>
              <a:lnSpc>
                <a:spcPct val="150000"/>
              </a:lnSpc>
            </a:pPr>
            <a:r>
              <a:rPr kumimoji="1" lang="en-US" altLang="zh-TW" dirty="0"/>
              <a:t>ROC curve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定義</a:t>
            </a:r>
            <a:r>
              <a:rPr kumimoji="1" lang="en-US" altLang="zh-TW" dirty="0"/>
              <a:t>: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針對不同的模型分類門檻下的模型表現圖</a:t>
            </a:r>
            <a:endParaRPr kumimoji="1"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lvl="1">
              <a:lnSpc>
                <a:spcPct val="150000"/>
              </a:lnSpc>
            </a:pP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X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軸：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False positive rate (FPR); Y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軸：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True positive rate (TPR)</a:t>
            </a:r>
          </a:p>
          <a:p>
            <a:pPr lvl="1">
              <a:lnSpc>
                <a:spcPct val="150000"/>
              </a:lnSpc>
            </a:pPr>
            <a:r>
              <a:rPr kumimoji="1" lang="en-US" altLang="zh-TW" sz="2000" dirty="0"/>
              <a:t>AUC: ROC</a:t>
            </a:r>
            <a:r>
              <a:rPr kumimoji="1" lang="zh-TW" altLang="en-US" sz="2000" dirty="0"/>
              <a:t> 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的底面下面積 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越大越好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kumimoji="1" lang="zh-TW" altLang="en-US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86725D2-9CC6-5B07-A89D-9501F7F6C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E42812FE-602B-0FA0-5221-8C7CC6274E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8423" y="3154202"/>
            <a:ext cx="2610013" cy="2666142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6CC60379-BBFA-7774-F9E0-049410F0C12F}"/>
              </a:ext>
            </a:extLst>
          </p:cNvPr>
          <p:cNvSpPr txBox="1"/>
          <p:nvPr/>
        </p:nvSpPr>
        <p:spPr>
          <a:xfrm>
            <a:off x="6784408" y="611186"/>
            <a:ext cx="48841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400" dirty="0"/>
              <a:t>(Useful!!) https://</a:t>
            </a:r>
            <a:r>
              <a:rPr kumimoji="1" lang="en" altLang="zh-TW" sz="1400" dirty="0" err="1"/>
              <a:t>developers.google.com</a:t>
            </a:r>
            <a:r>
              <a:rPr kumimoji="1" lang="en" altLang="zh-TW" sz="1400" dirty="0"/>
              <a:t>/machine-learning/crash-course/classification/</a:t>
            </a:r>
            <a:r>
              <a:rPr kumimoji="1" lang="en" altLang="zh-TW" sz="1400" dirty="0" err="1"/>
              <a:t>roc-and-auc?hl</a:t>
            </a:r>
            <a:r>
              <a:rPr kumimoji="1" lang="en" altLang="zh-TW" sz="1400" dirty="0"/>
              <a:t>=</a:t>
            </a:r>
            <a:r>
              <a:rPr kumimoji="1" lang="en" altLang="zh-TW" sz="1400" dirty="0" err="1"/>
              <a:t>zh-tw</a:t>
            </a:r>
            <a:endParaRPr kumimoji="1" lang="zh-TW" altLang="en-US" sz="1400" dirty="0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B4178374-CC67-8158-52F0-F73FA5BB52C8}"/>
              </a:ext>
            </a:extLst>
          </p:cNvPr>
          <p:cNvSpPr/>
          <p:nvPr/>
        </p:nvSpPr>
        <p:spPr>
          <a:xfrm>
            <a:off x="10707693" y="3222963"/>
            <a:ext cx="160774" cy="1607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A527CF1-BB6C-A4AD-0789-0DC96D994D7F}"/>
              </a:ext>
            </a:extLst>
          </p:cNvPr>
          <p:cNvSpPr txBox="1"/>
          <p:nvPr/>
        </p:nvSpPr>
        <p:spPr>
          <a:xfrm>
            <a:off x="10683932" y="2923858"/>
            <a:ext cx="585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?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2207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B15652-A299-F54A-A30A-AB61D9D4D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模型分類門檻 </a:t>
            </a:r>
            <a:r>
              <a:rPr kumimoji="1" lang="en-US" altLang="zh-TW" dirty="0">
                <a:ea typeface="Microsoft JhengHei" panose="020B0604030504040204" pitchFamily="34" charset="-120"/>
              </a:rPr>
              <a:t>(Threshold)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3BE5E37-8A57-217D-D650-EA5D12038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EE56E9E-E249-337E-4C94-2547C176A3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153" y="2459327"/>
            <a:ext cx="2867387" cy="2156054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08F6504-D1C2-7114-A78A-15EEB765FC5D}"/>
              </a:ext>
            </a:extLst>
          </p:cNvPr>
          <p:cNvSpPr/>
          <p:nvPr/>
        </p:nvSpPr>
        <p:spPr>
          <a:xfrm>
            <a:off x="4716929" y="3193725"/>
            <a:ext cx="1778957" cy="9829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Model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7" name="直線箭頭接點 6">
            <a:extLst>
              <a:ext uri="{FF2B5EF4-FFF2-40B4-BE49-F238E27FC236}">
                <a16:creationId xmlns:a16="http://schemas.microsoft.com/office/drawing/2014/main" id="{80290AE2-40BF-9DF1-D7A0-2E28A47614E0}"/>
              </a:ext>
            </a:extLst>
          </p:cNvPr>
          <p:cNvCxnSpPr/>
          <p:nvPr/>
        </p:nvCxnSpPr>
        <p:spPr>
          <a:xfrm>
            <a:off x="3863359" y="3685215"/>
            <a:ext cx="7086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箭頭接點 7">
            <a:extLst>
              <a:ext uri="{FF2B5EF4-FFF2-40B4-BE49-F238E27FC236}">
                <a16:creationId xmlns:a16="http://schemas.microsoft.com/office/drawing/2014/main" id="{D32AED63-843C-9F57-BA6B-A42D4F162123}"/>
              </a:ext>
            </a:extLst>
          </p:cNvPr>
          <p:cNvCxnSpPr/>
          <p:nvPr/>
        </p:nvCxnSpPr>
        <p:spPr>
          <a:xfrm>
            <a:off x="6626412" y="3685215"/>
            <a:ext cx="7086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3FE0A3F-C92C-BF95-FFAC-79ECD947C4D0}"/>
              </a:ext>
            </a:extLst>
          </p:cNvPr>
          <p:cNvSpPr txBox="1"/>
          <p:nvPr/>
        </p:nvSpPr>
        <p:spPr>
          <a:xfrm>
            <a:off x="9008347" y="2014139"/>
            <a:ext cx="12007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TW" sz="2800" b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Rust</a:t>
            </a:r>
            <a:endParaRPr lang="zh-TW" altLang="en-US" sz="2800" b="1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FD49D0C4-0B2D-67B8-0589-F3FFFA48CBBD}"/>
              </a:ext>
            </a:extLst>
          </p:cNvPr>
          <p:cNvSpPr txBox="1"/>
          <p:nvPr/>
        </p:nvSpPr>
        <p:spPr>
          <a:xfrm>
            <a:off x="7583180" y="3460459"/>
            <a:ext cx="18740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機率</a:t>
            </a:r>
            <a:r>
              <a:rPr lang="en-US" altLang="zh-TW" sz="2400" dirty="0"/>
              <a:t> = 0.55</a:t>
            </a:r>
            <a:endParaRPr lang="zh-TW" altLang="en-US" sz="2400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E9DEC68-03E9-8F13-DABC-835F5C27111B}"/>
              </a:ext>
            </a:extLst>
          </p:cNvPr>
          <p:cNvSpPr txBox="1"/>
          <p:nvPr/>
        </p:nvSpPr>
        <p:spPr>
          <a:xfrm>
            <a:off x="7679455" y="2670504"/>
            <a:ext cx="16881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模型輸出</a:t>
            </a:r>
            <a:endParaRPr lang="zh-TW" altLang="en-US" sz="2800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5B424BBC-E4B8-DC69-DC51-0834CC128A91}"/>
              </a:ext>
            </a:extLst>
          </p:cNvPr>
          <p:cNvSpPr txBox="1"/>
          <p:nvPr/>
        </p:nvSpPr>
        <p:spPr>
          <a:xfrm>
            <a:off x="10291459" y="2665287"/>
            <a:ext cx="12800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答案</a:t>
            </a:r>
            <a:endParaRPr lang="zh-TW" altLang="en-US" sz="2800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3EE4DC1F-A77C-8A1D-693B-81C8F5F249F6}"/>
              </a:ext>
            </a:extLst>
          </p:cNvPr>
          <p:cNvSpPr txBox="1"/>
          <p:nvPr/>
        </p:nvSpPr>
        <p:spPr>
          <a:xfrm>
            <a:off x="10612955" y="3467016"/>
            <a:ext cx="7036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endParaRPr lang="zh-TW" altLang="en-US" sz="240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FFF313A-EA1D-583A-3C89-06FA828DCA66}"/>
              </a:ext>
            </a:extLst>
          </p:cNvPr>
          <p:cNvSpPr/>
          <p:nvPr/>
        </p:nvSpPr>
        <p:spPr>
          <a:xfrm>
            <a:off x="7658363" y="3421949"/>
            <a:ext cx="1778957" cy="51017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3A66BA0D-6DF6-AC16-CA34-CF1DD8589E8B}"/>
              </a:ext>
            </a:extLst>
          </p:cNvPr>
          <p:cNvSpPr txBox="1"/>
          <p:nvPr/>
        </p:nvSpPr>
        <p:spPr>
          <a:xfrm>
            <a:off x="6495886" y="4848907"/>
            <a:ext cx="54290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/>
              <a:t>threshold = 0.5 -&gt; </a:t>
            </a:r>
            <a:r>
              <a:rPr kumimoji="1" lang="zh-TW" altLang="en-US" sz="2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模型預測為</a:t>
            </a:r>
            <a:r>
              <a:rPr kumimoji="1" lang="en-US" altLang="zh-TW" sz="2000" dirty="0">
                <a:solidFill>
                  <a:srgbClr val="FF0000"/>
                </a:solidFill>
              </a:rPr>
              <a:t>1</a:t>
            </a:r>
            <a:r>
              <a:rPr kumimoji="1" lang="zh-TW" altLang="en-US" sz="2000" dirty="0">
                <a:solidFill>
                  <a:srgbClr val="FF0000"/>
                </a:solidFill>
              </a:rPr>
              <a:t>，</a:t>
            </a:r>
            <a:r>
              <a:rPr kumimoji="1" lang="zh-TW" altLang="en-US" sz="2000" dirty="0">
                <a:solidFill>
                  <a:srgbClr val="FF0000"/>
                </a:solidFill>
                <a:ea typeface="Microsoft JhengHei" panose="020B0604030504040204" pitchFamily="34" charset="-120"/>
              </a:rPr>
              <a:t>正確數量</a:t>
            </a:r>
            <a:r>
              <a:rPr kumimoji="1" lang="en-US" altLang="zh-TW" sz="2000" dirty="0">
                <a:solidFill>
                  <a:srgbClr val="FF0000"/>
                </a:solidFill>
                <a:ea typeface="Microsoft JhengHei" panose="020B0604030504040204" pitchFamily="34" charset="-120"/>
              </a:rPr>
              <a:t>+1</a:t>
            </a:r>
            <a:endParaRPr kumimoji="1" lang="zh-TW" altLang="en-US" sz="2000" dirty="0">
              <a:solidFill>
                <a:srgbClr val="FF0000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4CF2DD05-8227-E1B6-A7F5-EC7EC1F4DAFB}"/>
              </a:ext>
            </a:extLst>
          </p:cNvPr>
          <p:cNvSpPr txBox="1"/>
          <p:nvPr/>
        </p:nvSpPr>
        <p:spPr>
          <a:xfrm>
            <a:off x="6495886" y="5315389"/>
            <a:ext cx="54290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/>
              <a:t>threshold = 0.6 -&gt; </a:t>
            </a:r>
            <a:r>
              <a:rPr kumimoji="1" lang="zh-TW" altLang="en-US" sz="2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模型預測為</a:t>
            </a:r>
            <a:r>
              <a:rPr kumimoji="1" lang="en-US" altLang="zh-TW" sz="2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0</a:t>
            </a:r>
            <a:r>
              <a:rPr kumimoji="1" lang="zh-TW" altLang="en-US" sz="2000" dirty="0">
                <a:solidFill>
                  <a:srgbClr val="FF0000"/>
                </a:solidFill>
              </a:rPr>
              <a:t>，</a:t>
            </a:r>
            <a:r>
              <a:rPr kumimoji="1" lang="zh-TW" altLang="en-US" sz="2000" dirty="0">
                <a:solidFill>
                  <a:srgbClr val="FF0000"/>
                </a:solidFill>
                <a:ea typeface="Microsoft JhengHei" panose="020B0604030504040204" pitchFamily="34" charset="-120"/>
              </a:rPr>
              <a:t>正確數量</a:t>
            </a:r>
            <a:r>
              <a:rPr kumimoji="1" lang="en-US" altLang="zh-TW" sz="2000" dirty="0">
                <a:solidFill>
                  <a:srgbClr val="FF0000"/>
                </a:solidFill>
                <a:ea typeface="Microsoft JhengHei" panose="020B0604030504040204" pitchFamily="34" charset="-120"/>
              </a:rPr>
              <a:t>-1</a:t>
            </a:r>
            <a:endParaRPr kumimoji="1" lang="zh-TW" altLang="en-US" sz="2000" dirty="0">
              <a:solidFill>
                <a:srgbClr val="FF0000"/>
              </a:solidFill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11DFCA5E-A82D-3071-424A-CCA97829AA0D}"/>
              </a:ext>
            </a:extLst>
          </p:cNvPr>
          <p:cNvSpPr txBox="1"/>
          <p:nvPr/>
        </p:nvSpPr>
        <p:spPr>
          <a:xfrm>
            <a:off x="6939429" y="4186142"/>
            <a:ext cx="34533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我們應該設多少門檻？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691886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/>
      <p:bldP spid="17" grpId="0"/>
      <p:bldP spid="1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CF1A5E-CBBE-8572-3D80-00AEBB735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TPR and FPR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範例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3DA494E-30B8-A1BF-F610-3A3F9C4DA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AF9B1A9-82F9-A8AC-7E24-3BB274583084}"/>
              </a:ext>
            </a:extLst>
          </p:cNvPr>
          <p:cNvSpPr txBox="1"/>
          <p:nvPr/>
        </p:nvSpPr>
        <p:spPr>
          <a:xfrm>
            <a:off x="1601712" y="4210002"/>
            <a:ext cx="638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3200" dirty="0"/>
              <a:t>💪</a:t>
            </a:r>
            <a:endParaRPr lang="zh-TW" altLang="en-US" sz="32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062CF801-5AAB-E590-9343-8D9D892A532C}"/>
              </a:ext>
            </a:extLst>
          </p:cNvPr>
          <p:cNvSpPr txBox="1"/>
          <p:nvPr/>
        </p:nvSpPr>
        <p:spPr>
          <a:xfrm>
            <a:off x="2504053" y="4170324"/>
            <a:ext cx="7686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4000" dirty="0"/>
              <a:t>🦠</a:t>
            </a:r>
            <a:endParaRPr lang="zh-TW" altLang="en-US" sz="4000" dirty="0"/>
          </a:p>
        </p:txBody>
      </p:sp>
      <p:sp>
        <p:nvSpPr>
          <p:cNvPr id="9" name="向右箭號 8">
            <a:extLst>
              <a:ext uri="{FF2B5EF4-FFF2-40B4-BE49-F238E27FC236}">
                <a16:creationId xmlns:a16="http://schemas.microsoft.com/office/drawing/2014/main" id="{50814E4B-838B-0C7B-4124-4984999A10A5}"/>
              </a:ext>
            </a:extLst>
          </p:cNvPr>
          <p:cNvSpPr/>
          <p:nvPr/>
        </p:nvSpPr>
        <p:spPr>
          <a:xfrm>
            <a:off x="1256046" y="5355768"/>
            <a:ext cx="6219929" cy="25120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52951A3-0AF2-211E-BBDE-FA44F38CA9E9}"/>
              </a:ext>
            </a:extLst>
          </p:cNvPr>
          <p:cNvSpPr txBox="1"/>
          <p:nvPr/>
        </p:nvSpPr>
        <p:spPr>
          <a:xfrm>
            <a:off x="7596555" y="5149338"/>
            <a:ext cx="20297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模型預測為疾病的機率值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(%)</a:t>
            </a:r>
            <a:endParaRPr kumimoji="1" lang="zh-TW" altLang="en-US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13D6C17-6448-D8B0-D22A-6998A1152936}"/>
              </a:ext>
            </a:extLst>
          </p:cNvPr>
          <p:cNvSpPr txBox="1"/>
          <p:nvPr/>
        </p:nvSpPr>
        <p:spPr>
          <a:xfrm>
            <a:off x="1971991" y="4698685"/>
            <a:ext cx="638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3200" dirty="0"/>
              <a:t>💪</a:t>
            </a:r>
            <a:endParaRPr lang="zh-TW" altLang="en-US" sz="3200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4489E62D-088B-9924-BA04-3934229E7626}"/>
              </a:ext>
            </a:extLst>
          </p:cNvPr>
          <p:cNvSpPr txBox="1"/>
          <p:nvPr/>
        </p:nvSpPr>
        <p:spPr>
          <a:xfrm>
            <a:off x="1090248" y="5626391"/>
            <a:ext cx="3315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0</a:t>
            </a:r>
            <a:endParaRPr kumimoji="1" lang="zh-TW" altLang="en-US" sz="2000" b="1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6416FA1C-682A-1F6F-CEB1-360572CC7E76}"/>
              </a:ext>
            </a:extLst>
          </p:cNvPr>
          <p:cNvSpPr txBox="1"/>
          <p:nvPr/>
        </p:nvSpPr>
        <p:spPr>
          <a:xfrm>
            <a:off x="2006659" y="5626391"/>
            <a:ext cx="4973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20</a:t>
            </a:r>
            <a:endParaRPr kumimoji="1" lang="zh-TW" altLang="en-US" sz="2000" b="1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56E5E00A-D07D-B02A-0EAA-DAB3465617FA}"/>
              </a:ext>
            </a:extLst>
          </p:cNvPr>
          <p:cNvSpPr txBox="1"/>
          <p:nvPr/>
        </p:nvSpPr>
        <p:spPr>
          <a:xfrm>
            <a:off x="6923316" y="5626391"/>
            <a:ext cx="693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100</a:t>
            </a:r>
            <a:endParaRPr kumimoji="1" lang="zh-TW" altLang="en-US" sz="2000" b="1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70BAD89B-9E0A-AA99-B783-5D236097E72E}"/>
              </a:ext>
            </a:extLst>
          </p:cNvPr>
          <p:cNvSpPr txBox="1"/>
          <p:nvPr/>
        </p:nvSpPr>
        <p:spPr>
          <a:xfrm>
            <a:off x="5645168" y="5626391"/>
            <a:ext cx="693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80</a:t>
            </a:r>
            <a:endParaRPr kumimoji="1" lang="zh-TW" altLang="en-US" sz="2000" b="1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E31387B6-7C8E-0007-573B-2843177C5FE1}"/>
              </a:ext>
            </a:extLst>
          </p:cNvPr>
          <p:cNvSpPr txBox="1"/>
          <p:nvPr/>
        </p:nvSpPr>
        <p:spPr>
          <a:xfrm>
            <a:off x="4367018" y="5626391"/>
            <a:ext cx="693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60</a:t>
            </a:r>
            <a:endParaRPr kumimoji="1" lang="zh-TW" altLang="en-US" sz="2000" b="1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80F5F19E-0EAE-80DC-DEF3-B33428F58D5B}"/>
              </a:ext>
            </a:extLst>
          </p:cNvPr>
          <p:cNvSpPr txBox="1"/>
          <p:nvPr/>
        </p:nvSpPr>
        <p:spPr>
          <a:xfrm>
            <a:off x="3088868" y="5626391"/>
            <a:ext cx="693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40</a:t>
            </a:r>
            <a:endParaRPr kumimoji="1" lang="zh-TW" altLang="en-US" sz="2000" b="1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62235C84-C27E-2E7D-6C8A-060D531B5543}"/>
              </a:ext>
            </a:extLst>
          </p:cNvPr>
          <p:cNvSpPr txBox="1"/>
          <p:nvPr/>
        </p:nvSpPr>
        <p:spPr>
          <a:xfrm>
            <a:off x="3036113" y="4698684"/>
            <a:ext cx="638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3200" dirty="0"/>
              <a:t>💪</a:t>
            </a:r>
            <a:endParaRPr lang="zh-TW" altLang="en-US" sz="3200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721FBA4A-D5B8-F45F-B1C9-6DAF0D491A2B}"/>
              </a:ext>
            </a:extLst>
          </p:cNvPr>
          <p:cNvSpPr txBox="1"/>
          <p:nvPr/>
        </p:nvSpPr>
        <p:spPr>
          <a:xfrm>
            <a:off x="3881933" y="4142083"/>
            <a:ext cx="638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3200" dirty="0"/>
              <a:t>💪</a:t>
            </a:r>
            <a:endParaRPr lang="zh-TW" altLang="en-US" sz="3200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994473F0-7974-61D6-4CE6-B752474818D6}"/>
              </a:ext>
            </a:extLst>
          </p:cNvPr>
          <p:cNvSpPr txBox="1"/>
          <p:nvPr/>
        </p:nvSpPr>
        <p:spPr>
          <a:xfrm>
            <a:off x="4146454" y="4647882"/>
            <a:ext cx="7686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4000" dirty="0"/>
              <a:t>🦠</a:t>
            </a:r>
            <a:endParaRPr lang="zh-TW" altLang="en-US" sz="4000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C155BD96-7B75-6C59-E78A-9DDD46D15114}"/>
              </a:ext>
            </a:extLst>
          </p:cNvPr>
          <p:cNvSpPr txBox="1"/>
          <p:nvPr/>
        </p:nvSpPr>
        <p:spPr>
          <a:xfrm>
            <a:off x="4841296" y="4611728"/>
            <a:ext cx="7686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4000" dirty="0"/>
              <a:t>🦠</a:t>
            </a:r>
            <a:endParaRPr lang="zh-TW" altLang="en-US" sz="4000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78DA44C5-016A-EB77-143A-600523ECB764}"/>
              </a:ext>
            </a:extLst>
          </p:cNvPr>
          <p:cNvSpPr txBox="1"/>
          <p:nvPr/>
        </p:nvSpPr>
        <p:spPr>
          <a:xfrm>
            <a:off x="5902654" y="4210002"/>
            <a:ext cx="7686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4000" dirty="0"/>
              <a:t>🦠</a:t>
            </a:r>
            <a:endParaRPr lang="zh-TW" altLang="en-US" sz="4000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F74BDC95-B139-53F9-3130-978838A5399A}"/>
              </a:ext>
            </a:extLst>
          </p:cNvPr>
          <p:cNvSpPr txBox="1"/>
          <p:nvPr/>
        </p:nvSpPr>
        <p:spPr>
          <a:xfrm>
            <a:off x="6791933" y="4575573"/>
            <a:ext cx="7686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4000" dirty="0"/>
              <a:t>🦠</a:t>
            </a:r>
            <a:endParaRPr lang="zh-TW" altLang="en-US" sz="4000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139D068F-E4C0-40B0-96B0-840539193ECE}"/>
              </a:ext>
            </a:extLst>
          </p:cNvPr>
          <p:cNvSpPr txBox="1"/>
          <p:nvPr/>
        </p:nvSpPr>
        <p:spPr>
          <a:xfrm>
            <a:off x="5066885" y="4026953"/>
            <a:ext cx="638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3200" dirty="0"/>
              <a:t>💪</a:t>
            </a:r>
            <a:endParaRPr lang="zh-TW" altLang="en-US" sz="3200" dirty="0"/>
          </a:p>
        </p:txBody>
      </p: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CDBF48B8-9AEC-1A85-1386-7302555530ED}"/>
              </a:ext>
            </a:extLst>
          </p:cNvPr>
          <p:cNvCxnSpPr/>
          <p:nvPr/>
        </p:nvCxnSpPr>
        <p:spPr>
          <a:xfrm>
            <a:off x="3786224" y="3623465"/>
            <a:ext cx="0" cy="191359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7FEBDAFB-5149-B7CE-9125-75CF25EF1E19}"/>
              </a:ext>
            </a:extLst>
          </p:cNvPr>
          <p:cNvSpPr txBox="1"/>
          <p:nvPr/>
        </p:nvSpPr>
        <p:spPr>
          <a:xfrm>
            <a:off x="4366010" y="3054696"/>
            <a:ext cx="2305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COVID-19</a:t>
            </a:r>
            <a:endParaRPr kumimoji="1" lang="zh-TW" altLang="en-US" sz="2400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B1AE665A-9235-4551-0FA9-571F015FA956}"/>
              </a:ext>
            </a:extLst>
          </p:cNvPr>
          <p:cNvSpPr txBox="1"/>
          <p:nvPr/>
        </p:nvSpPr>
        <p:spPr>
          <a:xfrm>
            <a:off x="1457389" y="3054696"/>
            <a:ext cx="2305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healthy</a:t>
            </a:r>
            <a:endParaRPr kumimoji="1" lang="zh-TW" altLang="en-US" sz="2400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C3DF3F1D-6501-6E1E-9833-93C523A22C9A}"/>
              </a:ext>
            </a:extLst>
          </p:cNvPr>
          <p:cNvSpPr txBox="1"/>
          <p:nvPr/>
        </p:nvSpPr>
        <p:spPr>
          <a:xfrm>
            <a:off x="653143" y="1763778"/>
            <a:ext cx="55165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假設我們用模型對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10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個人做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COVID-19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檢測：</a:t>
            </a:r>
            <a:endParaRPr kumimoji="1"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(COVID-19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代表 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positive)</a:t>
            </a:r>
            <a:endParaRPr kumimoji="1" lang="zh-TW" altLang="en-US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377258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CF1A5E-CBBE-8572-3D80-00AEBB735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TPR and FPR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範例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  <a:sym typeface="Wingdings" pitchFamily="2" charset="2"/>
              </a:rPr>
              <a:t> (TPR)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3DA494E-30B8-A1BF-F610-3A3F9C4DA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AF9B1A9-82F9-A8AC-7E24-3BB274583084}"/>
              </a:ext>
            </a:extLst>
          </p:cNvPr>
          <p:cNvSpPr txBox="1"/>
          <p:nvPr/>
        </p:nvSpPr>
        <p:spPr>
          <a:xfrm>
            <a:off x="1601712" y="4210002"/>
            <a:ext cx="638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3200" dirty="0"/>
              <a:t>💪</a:t>
            </a:r>
            <a:endParaRPr lang="zh-TW" altLang="en-US" sz="32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062CF801-5AAB-E590-9343-8D9D892A532C}"/>
              </a:ext>
            </a:extLst>
          </p:cNvPr>
          <p:cNvSpPr txBox="1"/>
          <p:nvPr/>
        </p:nvSpPr>
        <p:spPr>
          <a:xfrm>
            <a:off x="2504053" y="4170324"/>
            <a:ext cx="7686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4000" dirty="0"/>
              <a:t>🦠</a:t>
            </a:r>
            <a:endParaRPr lang="zh-TW" altLang="en-US" sz="4000" dirty="0"/>
          </a:p>
        </p:txBody>
      </p:sp>
      <p:sp>
        <p:nvSpPr>
          <p:cNvPr id="9" name="向右箭號 8">
            <a:extLst>
              <a:ext uri="{FF2B5EF4-FFF2-40B4-BE49-F238E27FC236}">
                <a16:creationId xmlns:a16="http://schemas.microsoft.com/office/drawing/2014/main" id="{50814E4B-838B-0C7B-4124-4984999A10A5}"/>
              </a:ext>
            </a:extLst>
          </p:cNvPr>
          <p:cNvSpPr/>
          <p:nvPr/>
        </p:nvSpPr>
        <p:spPr>
          <a:xfrm>
            <a:off x="1256046" y="5355768"/>
            <a:ext cx="6219929" cy="25120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13D6C17-6448-D8B0-D22A-6998A1152936}"/>
              </a:ext>
            </a:extLst>
          </p:cNvPr>
          <p:cNvSpPr txBox="1"/>
          <p:nvPr/>
        </p:nvSpPr>
        <p:spPr>
          <a:xfrm>
            <a:off x="1971991" y="4698685"/>
            <a:ext cx="638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3200" dirty="0"/>
              <a:t>💪</a:t>
            </a:r>
            <a:endParaRPr lang="zh-TW" altLang="en-US" sz="3200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62235C84-C27E-2E7D-6C8A-060D531B5543}"/>
              </a:ext>
            </a:extLst>
          </p:cNvPr>
          <p:cNvSpPr txBox="1"/>
          <p:nvPr/>
        </p:nvSpPr>
        <p:spPr>
          <a:xfrm>
            <a:off x="3036113" y="4698684"/>
            <a:ext cx="638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3200" dirty="0"/>
              <a:t>💪</a:t>
            </a:r>
            <a:endParaRPr lang="zh-TW" altLang="en-US" sz="3200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721FBA4A-D5B8-F45F-B1C9-6DAF0D491A2B}"/>
              </a:ext>
            </a:extLst>
          </p:cNvPr>
          <p:cNvSpPr txBox="1"/>
          <p:nvPr/>
        </p:nvSpPr>
        <p:spPr>
          <a:xfrm>
            <a:off x="3881933" y="4142083"/>
            <a:ext cx="638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3200" dirty="0"/>
              <a:t>💪</a:t>
            </a:r>
            <a:endParaRPr lang="zh-TW" altLang="en-US" sz="3200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994473F0-7974-61D6-4CE6-B752474818D6}"/>
              </a:ext>
            </a:extLst>
          </p:cNvPr>
          <p:cNvSpPr txBox="1"/>
          <p:nvPr/>
        </p:nvSpPr>
        <p:spPr>
          <a:xfrm>
            <a:off x="4146454" y="4647882"/>
            <a:ext cx="7686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4000" dirty="0"/>
              <a:t>🦠</a:t>
            </a:r>
            <a:endParaRPr lang="zh-TW" altLang="en-US" sz="4000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C155BD96-7B75-6C59-E78A-9DDD46D15114}"/>
              </a:ext>
            </a:extLst>
          </p:cNvPr>
          <p:cNvSpPr txBox="1"/>
          <p:nvPr/>
        </p:nvSpPr>
        <p:spPr>
          <a:xfrm>
            <a:off x="4841296" y="4611728"/>
            <a:ext cx="7686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4000" dirty="0"/>
              <a:t>🦠</a:t>
            </a:r>
            <a:endParaRPr lang="zh-TW" altLang="en-US" sz="4000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78DA44C5-016A-EB77-143A-600523ECB764}"/>
              </a:ext>
            </a:extLst>
          </p:cNvPr>
          <p:cNvSpPr txBox="1"/>
          <p:nvPr/>
        </p:nvSpPr>
        <p:spPr>
          <a:xfrm>
            <a:off x="5902654" y="4210002"/>
            <a:ext cx="7686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4000" dirty="0"/>
              <a:t>🦠</a:t>
            </a:r>
            <a:endParaRPr lang="zh-TW" altLang="en-US" sz="4000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F74BDC95-B139-53F9-3130-978838A5399A}"/>
              </a:ext>
            </a:extLst>
          </p:cNvPr>
          <p:cNvSpPr txBox="1"/>
          <p:nvPr/>
        </p:nvSpPr>
        <p:spPr>
          <a:xfrm>
            <a:off x="6791933" y="4575573"/>
            <a:ext cx="7686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4000" dirty="0"/>
              <a:t>🦠</a:t>
            </a:r>
            <a:endParaRPr lang="zh-TW" altLang="en-US" sz="4000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139D068F-E4C0-40B0-96B0-840539193ECE}"/>
              </a:ext>
            </a:extLst>
          </p:cNvPr>
          <p:cNvSpPr txBox="1"/>
          <p:nvPr/>
        </p:nvSpPr>
        <p:spPr>
          <a:xfrm>
            <a:off x="5066885" y="4026953"/>
            <a:ext cx="638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3200" dirty="0"/>
              <a:t>💪</a:t>
            </a:r>
            <a:endParaRPr lang="zh-TW" altLang="en-US" sz="3200" dirty="0"/>
          </a:p>
        </p:txBody>
      </p: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CDBF48B8-9AEC-1A85-1386-7302555530ED}"/>
              </a:ext>
            </a:extLst>
          </p:cNvPr>
          <p:cNvCxnSpPr/>
          <p:nvPr/>
        </p:nvCxnSpPr>
        <p:spPr>
          <a:xfrm>
            <a:off x="3786224" y="3623465"/>
            <a:ext cx="0" cy="191359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7FEBDAFB-5149-B7CE-9125-75CF25EF1E19}"/>
              </a:ext>
            </a:extLst>
          </p:cNvPr>
          <p:cNvSpPr txBox="1"/>
          <p:nvPr/>
        </p:nvSpPr>
        <p:spPr>
          <a:xfrm>
            <a:off x="4366010" y="3054696"/>
            <a:ext cx="2305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COVID-19</a:t>
            </a:r>
            <a:endParaRPr kumimoji="1" lang="zh-TW" altLang="en-US" sz="2400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B1AE665A-9235-4551-0FA9-571F015FA956}"/>
              </a:ext>
            </a:extLst>
          </p:cNvPr>
          <p:cNvSpPr txBox="1"/>
          <p:nvPr/>
        </p:nvSpPr>
        <p:spPr>
          <a:xfrm>
            <a:off x="1457389" y="3054696"/>
            <a:ext cx="2305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healthy</a:t>
            </a:r>
            <a:endParaRPr kumimoji="1" lang="zh-TW" altLang="en-US" sz="240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38EC5D6-5B45-7CE5-9706-8A04B096E863}"/>
              </a:ext>
            </a:extLst>
          </p:cNvPr>
          <p:cNvSpPr txBox="1"/>
          <p:nvPr/>
        </p:nvSpPr>
        <p:spPr>
          <a:xfrm>
            <a:off x="2852730" y="4120285"/>
            <a:ext cx="482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❌</a:t>
            </a:r>
            <a:endParaRPr kumimoji="1"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3E796B9-DC7B-2A2C-9D62-26AB42086EEA}"/>
              </a:ext>
            </a:extLst>
          </p:cNvPr>
          <p:cNvSpPr txBox="1"/>
          <p:nvPr/>
        </p:nvSpPr>
        <p:spPr>
          <a:xfrm>
            <a:off x="7850735" y="2223699"/>
            <a:ext cx="25995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/>
              <a:t>True positive rate (TPR) = 4 / 5 = 0.8</a:t>
            </a:r>
            <a:endParaRPr kumimoji="1" lang="zh-TW" altLang="en-US" sz="20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D03B8C8-30E8-66F1-20A1-70C637CEE2DF}"/>
              </a:ext>
            </a:extLst>
          </p:cNvPr>
          <p:cNvSpPr txBox="1"/>
          <p:nvPr/>
        </p:nvSpPr>
        <p:spPr>
          <a:xfrm>
            <a:off x="1090248" y="5626391"/>
            <a:ext cx="3315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0</a:t>
            </a:r>
            <a:endParaRPr kumimoji="1" lang="zh-TW" altLang="en-US" sz="2000" b="1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84FB7965-17D6-8402-7133-28589187AB23}"/>
              </a:ext>
            </a:extLst>
          </p:cNvPr>
          <p:cNvSpPr txBox="1"/>
          <p:nvPr/>
        </p:nvSpPr>
        <p:spPr>
          <a:xfrm>
            <a:off x="2006659" y="5626391"/>
            <a:ext cx="4973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20</a:t>
            </a:r>
            <a:endParaRPr kumimoji="1" lang="zh-TW" altLang="en-US" sz="2000" b="1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93C18112-EFAA-4569-FC82-73E72291CB7F}"/>
              </a:ext>
            </a:extLst>
          </p:cNvPr>
          <p:cNvSpPr txBox="1"/>
          <p:nvPr/>
        </p:nvSpPr>
        <p:spPr>
          <a:xfrm>
            <a:off x="6923316" y="5626391"/>
            <a:ext cx="693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100</a:t>
            </a:r>
            <a:endParaRPr kumimoji="1" lang="zh-TW" altLang="en-US" sz="2000" b="1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3C21EBBD-8009-1DA4-0DC8-7AAE5E9DB472}"/>
              </a:ext>
            </a:extLst>
          </p:cNvPr>
          <p:cNvSpPr txBox="1"/>
          <p:nvPr/>
        </p:nvSpPr>
        <p:spPr>
          <a:xfrm>
            <a:off x="5645168" y="5626391"/>
            <a:ext cx="693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80</a:t>
            </a:r>
            <a:endParaRPr kumimoji="1" lang="zh-TW" altLang="en-US" sz="2000" b="1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EA341934-F796-44C9-B685-C2E0A2500F4E}"/>
              </a:ext>
            </a:extLst>
          </p:cNvPr>
          <p:cNvSpPr txBox="1"/>
          <p:nvPr/>
        </p:nvSpPr>
        <p:spPr>
          <a:xfrm>
            <a:off x="4367018" y="5626391"/>
            <a:ext cx="693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60</a:t>
            </a:r>
            <a:endParaRPr kumimoji="1" lang="zh-TW" altLang="en-US" sz="2000" b="1" dirty="0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3B95142E-667F-1233-79CC-2320F240D27D}"/>
              </a:ext>
            </a:extLst>
          </p:cNvPr>
          <p:cNvSpPr txBox="1"/>
          <p:nvPr/>
        </p:nvSpPr>
        <p:spPr>
          <a:xfrm>
            <a:off x="3088868" y="5626391"/>
            <a:ext cx="693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40</a:t>
            </a:r>
            <a:endParaRPr kumimoji="1" lang="zh-TW" altLang="en-US" sz="2000" b="1" dirty="0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8DF46934-AD7A-4462-4354-3018E32E1501}"/>
              </a:ext>
            </a:extLst>
          </p:cNvPr>
          <p:cNvSpPr txBox="1"/>
          <p:nvPr/>
        </p:nvSpPr>
        <p:spPr>
          <a:xfrm>
            <a:off x="653143" y="1763778"/>
            <a:ext cx="59385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假設我們用模型對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10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個人做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COVID-19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檢測：</a:t>
            </a:r>
            <a:endParaRPr kumimoji="1"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(healthy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代表 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negative; COVID-19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代表 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positive)</a:t>
            </a:r>
            <a:endParaRPr kumimoji="1" lang="zh-TW" altLang="en-US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78F5B7D5-0F09-B00D-26DF-4E16D3EE734D}"/>
              </a:ext>
            </a:extLst>
          </p:cNvPr>
          <p:cNvSpPr txBox="1"/>
          <p:nvPr/>
        </p:nvSpPr>
        <p:spPr>
          <a:xfrm>
            <a:off x="7596555" y="5149338"/>
            <a:ext cx="20297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模型預測為疾病的機率值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(%)</a:t>
            </a:r>
            <a:endParaRPr kumimoji="1" lang="zh-TW" altLang="en-US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237975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CF1A5E-CBBE-8572-3D80-00AEBB735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TPR and FPR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範例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  <a:sym typeface="Wingdings" pitchFamily="2" charset="2"/>
              </a:rPr>
              <a:t> (FPR)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3DA494E-30B8-A1BF-F610-3A3F9C4DA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AF9B1A9-82F9-A8AC-7E24-3BB274583084}"/>
              </a:ext>
            </a:extLst>
          </p:cNvPr>
          <p:cNvSpPr txBox="1"/>
          <p:nvPr/>
        </p:nvSpPr>
        <p:spPr>
          <a:xfrm>
            <a:off x="1601712" y="4210002"/>
            <a:ext cx="638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3200" dirty="0"/>
              <a:t>💪</a:t>
            </a:r>
            <a:endParaRPr lang="zh-TW" altLang="en-US" sz="32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062CF801-5AAB-E590-9343-8D9D892A532C}"/>
              </a:ext>
            </a:extLst>
          </p:cNvPr>
          <p:cNvSpPr txBox="1"/>
          <p:nvPr/>
        </p:nvSpPr>
        <p:spPr>
          <a:xfrm>
            <a:off x="2504053" y="4170324"/>
            <a:ext cx="7686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4000" dirty="0"/>
              <a:t>🦠</a:t>
            </a:r>
            <a:endParaRPr lang="zh-TW" altLang="en-US" sz="4000" dirty="0"/>
          </a:p>
        </p:txBody>
      </p:sp>
      <p:sp>
        <p:nvSpPr>
          <p:cNvPr id="9" name="向右箭號 8">
            <a:extLst>
              <a:ext uri="{FF2B5EF4-FFF2-40B4-BE49-F238E27FC236}">
                <a16:creationId xmlns:a16="http://schemas.microsoft.com/office/drawing/2014/main" id="{50814E4B-838B-0C7B-4124-4984999A10A5}"/>
              </a:ext>
            </a:extLst>
          </p:cNvPr>
          <p:cNvSpPr/>
          <p:nvPr/>
        </p:nvSpPr>
        <p:spPr>
          <a:xfrm>
            <a:off x="1256046" y="5355768"/>
            <a:ext cx="6219929" cy="25120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13D6C17-6448-D8B0-D22A-6998A1152936}"/>
              </a:ext>
            </a:extLst>
          </p:cNvPr>
          <p:cNvSpPr txBox="1"/>
          <p:nvPr/>
        </p:nvSpPr>
        <p:spPr>
          <a:xfrm>
            <a:off x="1971991" y="4698685"/>
            <a:ext cx="638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3200" dirty="0"/>
              <a:t>💪</a:t>
            </a:r>
            <a:endParaRPr lang="zh-TW" altLang="en-US" sz="3200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62235C84-C27E-2E7D-6C8A-060D531B5543}"/>
              </a:ext>
            </a:extLst>
          </p:cNvPr>
          <p:cNvSpPr txBox="1"/>
          <p:nvPr/>
        </p:nvSpPr>
        <p:spPr>
          <a:xfrm>
            <a:off x="3036113" y="4698684"/>
            <a:ext cx="638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3200" dirty="0"/>
              <a:t>💪</a:t>
            </a:r>
            <a:endParaRPr lang="zh-TW" altLang="en-US" sz="3200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721FBA4A-D5B8-F45F-B1C9-6DAF0D491A2B}"/>
              </a:ext>
            </a:extLst>
          </p:cNvPr>
          <p:cNvSpPr txBox="1"/>
          <p:nvPr/>
        </p:nvSpPr>
        <p:spPr>
          <a:xfrm>
            <a:off x="3881933" y="4142083"/>
            <a:ext cx="638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3200" dirty="0"/>
              <a:t>💪</a:t>
            </a:r>
            <a:endParaRPr lang="zh-TW" altLang="en-US" sz="3200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994473F0-7974-61D6-4CE6-B752474818D6}"/>
              </a:ext>
            </a:extLst>
          </p:cNvPr>
          <p:cNvSpPr txBox="1"/>
          <p:nvPr/>
        </p:nvSpPr>
        <p:spPr>
          <a:xfrm>
            <a:off x="4146454" y="4647882"/>
            <a:ext cx="7686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4000" dirty="0"/>
              <a:t>🦠</a:t>
            </a:r>
            <a:endParaRPr lang="zh-TW" altLang="en-US" sz="4000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C155BD96-7B75-6C59-E78A-9DDD46D15114}"/>
              </a:ext>
            </a:extLst>
          </p:cNvPr>
          <p:cNvSpPr txBox="1"/>
          <p:nvPr/>
        </p:nvSpPr>
        <p:spPr>
          <a:xfrm>
            <a:off x="4841296" y="4611728"/>
            <a:ext cx="7686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4000" dirty="0"/>
              <a:t>🦠</a:t>
            </a:r>
            <a:endParaRPr lang="zh-TW" altLang="en-US" sz="4000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78DA44C5-016A-EB77-143A-600523ECB764}"/>
              </a:ext>
            </a:extLst>
          </p:cNvPr>
          <p:cNvSpPr txBox="1"/>
          <p:nvPr/>
        </p:nvSpPr>
        <p:spPr>
          <a:xfrm>
            <a:off x="5902654" y="4210002"/>
            <a:ext cx="7686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4000" dirty="0"/>
              <a:t>🦠</a:t>
            </a:r>
            <a:endParaRPr lang="zh-TW" altLang="en-US" sz="4000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F74BDC95-B139-53F9-3130-978838A5399A}"/>
              </a:ext>
            </a:extLst>
          </p:cNvPr>
          <p:cNvSpPr txBox="1"/>
          <p:nvPr/>
        </p:nvSpPr>
        <p:spPr>
          <a:xfrm>
            <a:off x="6791933" y="4575573"/>
            <a:ext cx="7686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4000" dirty="0"/>
              <a:t>🦠</a:t>
            </a:r>
            <a:endParaRPr lang="zh-TW" altLang="en-US" sz="4000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139D068F-E4C0-40B0-96B0-840539193ECE}"/>
              </a:ext>
            </a:extLst>
          </p:cNvPr>
          <p:cNvSpPr txBox="1"/>
          <p:nvPr/>
        </p:nvSpPr>
        <p:spPr>
          <a:xfrm>
            <a:off x="5066885" y="4026953"/>
            <a:ext cx="638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3200" dirty="0"/>
              <a:t>💪</a:t>
            </a:r>
            <a:endParaRPr lang="zh-TW" altLang="en-US" sz="3200" dirty="0"/>
          </a:p>
        </p:txBody>
      </p: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CDBF48B8-9AEC-1A85-1386-7302555530ED}"/>
              </a:ext>
            </a:extLst>
          </p:cNvPr>
          <p:cNvCxnSpPr/>
          <p:nvPr/>
        </p:nvCxnSpPr>
        <p:spPr>
          <a:xfrm>
            <a:off x="3786224" y="3623465"/>
            <a:ext cx="0" cy="191359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7FEBDAFB-5149-B7CE-9125-75CF25EF1E19}"/>
              </a:ext>
            </a:extLst>
          </p:cNvPr>
          <p:cNvSpPr txBox="1"/>
          <p:nvPr/>
        </p:nvSpPr>
        <p:spPr>
          <a:xfrm>
            <a:off x="4366010" y="3054696"/>
            <a:ext cx="2305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COVID-19</a:t>
            </a:r>
            <a:endParaRPr kumimoji="1" lang="zh-TW" altLang="en-US" sz="2400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B1AE665A-9235-4551-0FA9-571F015FA956}"/>
              </a:ext>
            </a:extLst>
          </p:cNvPr>
          <p:cNvSpPr txBox="1"/>
          <p:nvPr/>
        </p:nvSpPr>
        <p:spPr>
          <a:xfrm>
            <a:off x="1457389" y="3054696"/>
            <a:ext cx="2305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healthy</a:t>
            </a:r>
            <a:endParaRPr kumimoji="1" lang="zh-TW" altLang="en-US" sz="240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38EC5D6-5B45-7CE5-9706-8A04B096E863}"/>
              </a:ext>
            </a:extLst>
          </p:cNvPr>
          <p:cNvSpPr txBox="1"/>
          <p:nvPr/>
        </p:nvSpPr>
        <p:spPr>
          <a:xfrm>
            <a:off x="4124849" y="4224247"/>
            <a:ext cx="482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❌</a:t>
            </a:r>
            <a:endParaRPr kumimoji="1"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3E796B9-DC7B-2A2C-9D62-26AB42086EEA}"/>
              </a:ext>
            </a:extLst>
          </p:cNvPr>
          <p:cNvSpPr txBox="1"/>
          <p:nvPr/>
        </p:nvSpPr>
        <p:spPr>
          <a:xfrm>
            <a:off x="7850735" y="2223699"/>
            <a:ext cx="25995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/>
              <a:t>False positive rate (FPR) = 2 / 5 = 0.4</a:t>
            </a:r>
            <a:endParaRPr kumimoji="1" lang="zh-TW" altLang="en-US" sz="20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CD16BE7-08E4-4FF0-0A0C-91A0A03D4EF3}"/>
              </a:ext>
            </a:extLst>
          </p:cNvPr>
          <p:cNvSpPr txBox="1"/>
          <p:nvPr/>
        </p:nvSpPr>
        <p:spPr>
          <a:xfrm>
            <a:off x="5321483" y="4088942"/>
            <a:ext cx="482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❌</a:t>
            </a:r>
            <a:endParaRPr kumimoji="1" lang="zh-TW" altLang="en-US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7E2ACCC7-D170-1833-82B3-6F6520201193}"/>
              </a:ext>
            </a:extLst>
          </p:cNvPr>
          <p:cNvSpPr txBox="1"/>
          <p:nvPr/>
        </p:nvSpPr>
        <p:spPr>
          <a:xfrm>
            <a:off x="1090248" y="5626391"/>
            <a:ext cx="3315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0</a:t>
            </a:r>
            <a:endParaRPr kumimoji="1" lang="zh-TW" altLang="en-US" sz="2000" b="1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E76D1BC0-1F0A-6C8B-8908-51E442746BC2}"/>
              </a:ext>
            </a:extLst>
          </p:cNvPr>
          <p:cNvSpPr txBox="1"/>
          <p:nvPr/>
        </p:nvSpPr>
        <p:spPr>
          <a:xfrm>
            <a:off x="2006659" y="5626391"/>
            <a:ext cx="4973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20</a:t>
            </a:r>
            <a:endParaRPr kumimoji="1" lang="zh-TW" altLang="en-US" sz="2000" b="1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3CBC01FE-91E2-FD14-4653-C5FEB41A76B1}"/>
              </a:ext>
            </a:extLst>
          </p:cNvPr>
          <p:cNvSpPr txBox="1"/>
          <p:nvPr/>
        </p:nvSpPr>
        <p:spPr>
          <a:xfrm>
            <a:off x="6923316" y="5626391"/>
            <a:ext cx="693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100</a:t>
            </a:r>
            <a:endParaRPr kumimoji="1" lang="zh-TW" altLang="en-US" sz="2000" b="1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3FBCA88E-BEA0-F486-75ED-A09A3217240B}"/>
              </a:ext>
            </a:extLst>
          </p:cNvPr>
          <p:cNvSpPr txBox="1"/>
          <p:nvPr/>
        </p:nvSpPr>
        <p:spPr>
          <a:xfrm>
            <a:off x="5645168" y="5626391"/>
            <a:ext cx="693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80</a:t>
            </a:r>
            <a:endParaRPr kumimoji="1" lang="zh-TW" altLang="en-US" sz="2000" b="1" dirty="0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46933C5C-5431-3BF2-5B37-E5916296719E}"/>
              </a:ext>
            </a:extLst>
          </p:cNvPr>
          <p:cNvSpPr txBox="1"/>
          <p:nvPr/>
        </p:nvSpPr>
        <p:spPr>
          <a:xfrm>
            <a:off x="4367018" y="5626391"/>
            <a:ext cx="693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60</a:t>
            </a:r>
            <a:endParaRPr kumimoji="1" lang="zh-TW" altLang="en-US" sz="2000" b="1" dirty="0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3D610C1E-B87D-CF52-E8A1-FDF3418F5EB6}"/>
              </a:ext>
            </a:extLst>
          </p:cNvPr>
          <p:cNvSpPr txBox="1"/>
          <p:nvPr/>
        </p:nvSpPr>
        <p:spPr>
          <a:xfrm>
            <a:off x="3088868" y="5626391"/>
            <a:ext cx="693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40</a:t>
            </a:r>
            <a:endParaRPr kumimoji="1" lang="zh-TW" altLang="en-US" sz="2000" b="1" dirty="0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F7DE7EE4-6B6B-1966-7439-72A70785FF44}"/>
              </a:ext>
            </a:extLst>
          </p:cNvPr>
          <p:cNvSpPr txBox="1"/>
          <p:nvPr/>
        </p:nvSpPr>
        <p:spPr>
          <a:xfrm>
            <a:off x="653143" y="1763778"/>
            <a:ext cx="59385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假設我們用模型對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10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個人做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COVID-19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檢測：</a:t>
            </a:r>
            <a:endParaRPr kumimoji="1"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(healthy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代表 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negative; COVID-19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代表 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positive)</a:t>
            </a:r>
            <a:endParaRPr kumimoji="1" lang="zh-TW" altLang="en-US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BD387D06-A6B7-F18D-FA09-7F35C0D5BB99}"/>
              </a:ext>
            </a:extLst>
          </p:cNvPr>
          <p:cNvSpPr txBox="1"/>
          <p:nvPr/>
        </p:nvSpPr>
        <p:spPr>
          <a:xfrm>
            <a:off x="7596555" y="5149338"/>
            <a:ext cx="20297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模型預測為疾病的機率值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(%)</a:t>
            </a:r>
            <a:endParaRPr kumimoji="1" lang="zh-TW" altLang="en-US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920609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F8DB66-051D-855D-1FB2-C4865ECA7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ROC Curve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06BBC8B-70F9-766F-15D8-D7520DD56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4B26086-3E01-8777-AA87-8B63ABBE652F}"/>
              </a:ext>
            </a:extLst>
          </p:cNvPr>
          <p:cNvSpPr txBox="1"/>
          <p:nvPr/>
        </p:nvSpPr>
        <p:spPr>
          <a:xfrm>
            <a:off x="1601712" y="4210002"/>
            <a:ext cx="638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3200" dirty="0"/>
              <a:t>💪</a:t>
            </a:r>
            <a:endParaRPr lang="zh-TW" altLang="en-US" sz="32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A315583-DFCD-57D3-D043-24BCFD77A4D8}"/>
              </a:ext>
            </a:extLst>
          </p:cNvPr>
          <p:cNvSpPr txBox="1"/>
          <p:nvPr/>
        </p:nvSpPr>
        <p:spPr>
          <a:xfrm>
            <a:off x="2504053" y="4170324"/>
            <a:ext cx="7686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4000" dirty="0"/>
              <a:t>🦠</a:t>
            </a:r>
            <a:endParaRPr lang="zh-TW" altLang="en-US" sz="4000" dirty="0"/>
          </a:p>
        </p:txBody>
      </p:sp>
      <p:sp>
        <p:nvSpPr>
          <p:cNvPr id="7" name="向右箭號 6">
            <a:extLst>
              <a:ext uri="{FF2B5EF4-FFF2-40B4-BE49-F238E27FC236}">
                <a16:creationId xmlns:a16="http://schemas.microsoft.com/office/drawing/2014/main" id="{07927F23-568F-C13A-733D-5EBD0E6746E9}"/>
              </a:ext>
            </a:extLst>
          </p:cNvPr>
          <p:cNvSpPr/>
          <p:nvPr/>
        </p:nvSpPr>
        <p:spPr>
          <a:xfrm>
            <a:off x="1256046" y="5355768"/>
            <a:ext cx="6219929" cy="25120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A6D39C6-5268-9EB3-CEE0-F1077AC53925}"/>
              </a:ext>
            </a:extLst>
          </p:cNvPr>
          <p:cNvSpPr txBox="1"/>
          <p:nvPr/>
        </p:nvSpPr>
        <p:spPr>
          <a:xfrm>
            <a:off x="1971991" y="4698685"/>
            <a:ext cx="638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3200" dirty="0"/>
              <a:t>💪</a:t>
            </a:r>
            <a:endParaRPr lang="zh-TW" altLang="en-US" sz="3200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B59F7F7E-D61E-B824-0DFE-A4C99AF811E0}"/>
              </a:ext>
            </a:extLst>
          </p:cNvPr>
          <p:cNvSpPr txBox="1"/>
          <p:nvPr/>
        </p:nvSpPr>
        <p:spPr>
          <a:xfrm>
            <a:off x="3036113" y="4698684"/>
            <a:ext cx="638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3200" dirty="0"/>
              <a:t>💪</a:t>
            </a:r>
            <a:endParaRPr lang="zh-TW" altLang="en-US" sz="3200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0C2930B0-E43A-8824-2AA0-D2639CAF06AD}"/>
              </a:ext>
            </a:extLst>
          </p:cNvPr>
          <p:cNvSpPr txBox="1"/>
          <p:nvPr/>
        </p:nvSpPr>
        <p:spPr>
          <a:xfrm>
            <a:off x="3881933" y="4142083"/>
            <a:ext cx="638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3200" dirty="0"/>
              <a:t>💪</a:t>
            </a:r>
            <a:endParaRPr lang="zh-TW" altLang="en-US" sz="3200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7574090F-3790-1030-5497-24B0BE335366}"/>
              </a:ext>
            </a:extLst>
          </p:cNvPr>
          <p:cNvSpPr txBox="1"/>
          <p:nvPr/>
        </p:nvSpPr>
        <p:spPr>
          <a:xfrm>
            <a:off x="4146454" y="4647882"/>
            <a:ext cx="7686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4000" dirty="0"/>
              <a:t>🦠</a:t>
            </a:r>
            <a:endParaRPr lang="zh-TW" altLang="en-US" sz="4000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3A7735AA-763F-3EB2-659B-099121E38274}"/>
              </a:ext>
            </a:extLst>
          </p:cNvPr>
          <p:cNvSpPr txBox="1"/>
          <p:nvPr/>
        </p:nvSpPr>
        <p:spPr>
          <a:xfrm>
            <a:off x="4841296" y="4611728"/>
            <a:ext cx="7686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4000" dirty="0"/>
              <a:t>🦠</a:t>
            </a:r>
            <a:endParaRPr lang="zh-TW" altLang="en-US" sz="4000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D0053DC2-ED95-3AC5-D3E6-7F068E7DA51D}"/>
              </a:ext>
            </a:extLst>
          </p:cNvPr>
          <p:cNvSpPr txBox="1"/>
          <p:nvPr/>
        </p:nvSpPr>
        <p:spPr>
          <a:xfrm>
            <a:off x="5902654" y="4210002"/>
            <a:ext cx="7686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4000" dirty="0"/>
              <a:t>🦠</a:t>
            </a:r>
            <a:endParaRPr lang="zh-TW" altLang="en-US" sz="4000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417520D2-892F-C3E4-64FE-8F751A3E2D68}"/>
              </a:ext>
            </a:extLst>
          </p:cNvPr>
          <p:cNvSpPr txBox="1"/>
          <p:nvPr/>
        </p:nvSpPr>
        <p:spPr>
          <a:xfrm>
            <a:off x="6791933" y="4575573"/>
            <a:ext cx="7686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4000" dirty="0"/>
              <a:t>🦠</a:t>
            </a:r>
            <a:endParaRPr lang="zh-TW" altLang="en-US" sz="4000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AAABF8E6-773C-219E-E4A8-99BD27D2772F}"/>
              </a:ext>
            </a:extLst>
          </p:cNvPr>
          <p:cNvSpPr txBox="1"/>
          <p:nvPr/>
        </p:nvSpPr>
        <p:spPr>
          <a:xfrm>
            <a:off x="5066885" y="4026953"/>
            <a:ext cx="638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3200" dirty="0"/>
              <a:t>💪</a:t>
            </a:r>
            <a:endParaRPr lang="zh-TW" altLang="en-US" sz="3200" dirty="0"/>
          </a:p>
        </p:txBody>
      </p: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CD2218BA-2162-701A-DCA0-7F0C17464BD8}"/>
              </a:ext>
            </a:extLst>
          </p:cNvPr>
          <p:cNvCxnSpPr/>
          <p:nvPr/>
        </p:nvCxnSpPr>
        <p:spPr>
          <a:xfrm>
            <a:off x="1409791" y="3545594"/>
            <a:ext cx="0" cy="191359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4EC8A6D9-47F8-ECBE-33A9-2298830C7C7D}"/>
              </a:ext>
            </a:extLst>
          </p:cNvPr>
          <p:cNvSpPr txBox="1"/>
          <p:nvPr/>
        </p:nvSpPr>
        <p:spPr>
          <a:xfrm>
            <a:off x="4366010" y="3054696"/>
            <a:ext cx="2305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COVID-19</a:t>
            </a:r>
            <a:endParaRPr kumimoji="1" lang="zh-TW" altLang="en-US" sz="2400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60E7F772-C708-7204-1970-046D10C15E64}"/>
              </a:ext>
            </a:extLst>
          </p:cNvPr>
          <p:cNvSpPr txBox="1"/>
          <p:nvPr/>
        </p:nvSpPr>
        <p:spPr>
          <a:xfrm>
            <a:off x="1457389" y="3054696"/>
            <a:ext cx="2305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healthy</a:t>
            </a:r>
            <a:endParaRPr kumimoji="1" lang="zh-TW" altLang="en-US" sz="2400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DCE8D799-626A-5B20-31DA-CA26C72A8ED6}"/>
              </a:ext>
            </a:extLst>
          </p:cNvPr>
          <p:cNvSpPr txBox="1"/>
          <p:nvPr/>
        </p:nvSpPr>
        <p:spPr>
          <a:xfrm>
            <a:off x="653143" y="1763778"/>
            <a:ext cx="59385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假設我們用模型對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10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個人做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COVID-19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檢測：</a:t>
            </a:r>
            <a:endParaRPr kumimoji="1"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(healthy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代表 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negative; COVID-19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代表 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positive)</a:t>
            </a:r>
            <a:endParaRPr kumimoji="1" lang="zh-TW" altLang="en-US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638C26AC-D0EE-F0C0-FFC4-2F71C1ECF5CB}"/>
              </a:ext>
            </a:extLst>
          </p:cNvPr>
          <p:cNvSpPr txBox="1"/>
          <p:nvPr/>
        </p:nvSpPr>
        <p:spPr>
          <a:xfrm>
            <a:off x="4124849" y="4224247"/>
            <a:ext cx="482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❌</a:t>
            </a:r>
            <a:endParaRPr kumimoji="1" lang="zh-TW" altLang="en-US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E5EBE50C-526E-FA95-756F-6CDCC2BCA8A1}"/>
              </a:ext>
            </a:extLst>
          </p:cNvPr>
          <p:cNvSpPr txBox="1"/>
          <p:nvPr/>
        </p:nvSpPr>
        <p:spPr>
          <a:xfrm>
            <a:off x="5321483" y="4088942"/>
            <a:ext cx="482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❌</a:t>
            </a:r>
            <a:endParaRPr kumimoji="1" lang="zh-TW" altLang="en-US" dirty="0"/>
          </a:p>
        </p:txBody>
      </p:sp>
      <p:cxnSp>
        <p:nvCxnSpPr>
          <p:cNvPr id="30" name="直線箭頭接點 29">
            <a:extLst>
              <a:ext uri="{FF2B5EF4-FFF2-40B4-BE49-F238E27FC236}">
                <a16:creationId xmlns:a16="http://schemas.microsoft.com/office/drawing/2014/main" id="{8E5EA958-3F1C-0917-BF7D-2E81D7B75525}"/>
              </a:ext>
            </a:extLst>
          </p:cNvPr>
          <p:cNvCxnSpPr>
            <a:cxnSpLocks/>
          </p:cNvCxnSpPr>
          <p:nvPr/>
        </p:nvCxnSpPr>
        <p:spPr>
          <a:xfrm flipV="1">
            <a:off x="8651631" y="1763778"/>
            <a:ext cx="0" cy="2263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箭頭接點 30">
            <a:extLst>
              <a:ext uri="{FF2B5EF4-FFF2-40B4-BE49-F238E27FC236}">
                <a16:creationId xmlns:a16="http://schemas.microsoft.com/office/drawing/2014/main" id="{EC6B178F-D391-0474-358E-0BBFE17B6A54}"/>
              </a:ext>
            </a:extLst>
          </p:cNvPr>
          <p:cNvCxnSpPr>
            <a:cxnSpLocks/>
          </p:cNvCxnSpPr>
          <p:nvPr/>
        </p:nvCxnSpPr>
        <p:spPr>
          <a:xfrm>
            <a:off x="8651631" y="4026952"/>
            <a:ext cx="263267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C45E6E63-B8A5-2C83-DA99-A1428F1E4C27}"/>
              </a:ext>
            </a:extLst>
          </p:cNvPr>
          <p:cNvSpPr txBox="1"/>
          <p:nvPr/>
        </p:nvSpPr>
        <p:spPr>
          <a:xfrm>
            <a:off x="8485832" y="4026952"/>
            <a:ext cx="3315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</a:t>
            </a:r>
            <a:endParaRPr kumimoji="1" lang="zh-TW" altLang="en-US" sz="1600" dirty="0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10CEE2EA-014F-0364-AAF6-CAABB3973FB1}"/>
              </a:ext>
            </a:extLst>
          </p:cNvPr>
          <p:cNvSpPr txBox="1"/>
          <p:nvPr/>
        </p:nvSpPr>
        <p:spPr>
          <a:xfrm>
            <a:off x="8856490" y="4025336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0.2</a:t>
            </a:r>
            <a:endParaRPr kumimoji="1" lang="zh-TW" altLang="en-US" sz="1600" dirty="0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085E87B6-2939-552F-53B4-A5A5B199C046}"/>
              </a:ext>
            </a:extLst>
          </p:cNvPr>
          <p:cNvSpPr txBox="1"/>
          <p:nvPr/>
        </p:nvSpPr>
        <p:spPr>
          <a:xfrm>
            <a:off x="9384899" y="4037720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0.4</a:t>
            </a:r>
            <a:endParaRPr kumimoji="1" lang="zh-TW" altLang="en-US" sz="1600" dirty="0"/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1650832D-4CA1-178A-A1B8-6EC98199C393}"/>
              </a:ext>
            </a:extLst>
          </p:cNvPr>
          <p:cNvSpPr txBox="1"/>
          <p:nvPr/>
        </p:nvSpPr>
        <p:spPr>
          <a:xfrm>
            <a:off x="9913308" y="4037720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0.6</a:t>
            </a:r>
            <a:endParaRPr kumimoji="1" lang="zh-TW" altLang="en-US" sz="1600" dirty="0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A8883A52-E28C-4629-18B4-7C2C00464172}"/>
              </a:ext>
            </a:extLst>
          </p:cNvPr>
          <p:cNvSpPr txBox="1"/>
          <p:nvPr/>
        </p:nvSpPr>
        <p:spPr>
          <a:xfrm>
            <a:off x="10441717" y="4037720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0.8</a:t>
            </a:r>
            <a:endParaRPr kumimoji="1" lang="zh-TW" altLang="en-US" sz="1600" dirty="0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723F40E5-BFE2-DA93-D0C3-D1FC67CA951C}"/>
              </a:ext>
            </a:extLst>
          </p:cNvPr>
          <p:cNvSpPr txBox="1"/>
          <p:nvPr/>
        </p:nvSpPr>
        <p:spPr>
          <a:xfrm>
            <a:off x="10970127" y="4037720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1.0</a:t>
            </a:r>
            <a:endParaRPr kumimoji="1" lang="zh-TW" altLang="en-US" sz="1600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25BE68EB-8DA7-2DE6-1F49-8330538075A6}"/>
              </a:ext>
            </a:extLst>
          </p:cNvPr>
          <p:cNvSpPr txBox="1"/>
          <p:nvPr/>
        </p:nvSpPr>
        <p:spPr>
          <a:xfrm>
            <a:off x="8135101" y="3399456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0.2</a:t>
            </a:r>
            <a:endParaRPr kumimoji="1" lang="zh-TW" altLang="en-US" sz="1600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8167BE84-69C7-BEEC-DAC3-1D3A3B1EB133}"/>
              </a:ext>
            </a:extLst>
          </p:cNvPr>
          <p:cNvSpPr txBox="1"/>
          <p:nvPr/>
        </p:nvSpPr>
        <p:spPr>
          <a:xfrm>
            <a:off x="8135101" y="1634592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1.0</a:t>
            </a:r>
            <a:endParaRPr kumimoji="1" lang="zh-TW" altLang="en-US" sz="1600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8E87A05B-3A5C-AFED-2048-72588296184C}"/>
              </a:ext>
            </a:extLst>
          </p:cNvPr>
          <p:cNvSpPr txBox="1"/>
          <p:nvPr/>
        </p:nvSpPr>
        <p:spPr>
          <a:xfrm>
            <a:off x="8135101" y="2075808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0.8</a:t>
            </a:r>
            <a:endParaRPr kumimoji="1" lang="zh-TW" altLang="en-US" sz="1600" dirty="0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1DD8D553-64F7-E94F-251A-275D5E51FA70}"/>
              </a:ext>
            </a:extLst>
          </p:cNvPr>
          <p:cNvSpPr txBox="1"/>
          <p:nvPr/>
        </p:nvSpPr>
        <p:spPr>
          <a:xfrm>
            <a:off x="8135101" y="2517024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0.6</a:t>
            </a:r>
            <a:endParaRPr kumimoji="1" lang="zh-TW" altLang="en-US" sz="1600" dirty="0"/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83CAFB72-69CD-C99D-E040-DAF094C88A43}"/>
              </a:ext>
            </a:extLst>
          </p:cNvPr>
          <p:cNvSpPr txBox="1"/>
          <p:nvPr/>
        </p:nvSpPr>
        <p:spPr>
          <a:xfrm>
            <a:off x="8135101" y="2958240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0.4</a:t>
            </a:r>
            <a:endParaRPr kumimoji="1" lang="zh-TW" altLang="en-US" sz="1600" dirty="0"/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8EDD02C9-3D09-F3CF-45F5-4CC5691EC518}"/>
              </a:ext>
            </a:extLst>
          </p:cNvPr>
          <p:cNvSpPr txBox="1"/>
          <p:nvPr/>
        </p:nvSpPr>
        <p:spPr>
          <a:xfrm>
            <a:off x="8253085" y="3840670"/>
            <a:ext cx="3315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</a:t>
            </a:r>
            <a:endParaRPr kumimoji="1" lang="zh-TW" altLang="en-US" sz="1600" dirty="0"/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792961F0-7385-EBFD-D544-0BC7D4547C19}"/>
              </a:ext>
            </a:extLst>
          </p:cNvPr>
          <p:cNvSpPr txBox="1"/>
          <p:nvPr/>
        </p:nvSpPr>
        <p:spPr>
          <a:xfrm>
            <a:off x="7372158" y="2682965"/>
            <a:ext cx="854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TPR</a:t>
            </a:r>
            <a:endParaRPr kumimoji="1" lang="zh-TW" altLang="en-US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2364A430-AA70-B91C-CB95-6DC0B42CB2A6}"/>
              </a:ext>
            </a:extLst>
          </p:cNvPr>
          <p:cNvSpPr txBox="1"/>
          <p:nvPr/>
        </p:nvSpPr>
        <p:spPr>
          <a:xfrm>
            <a:off x="9606600" y="4371893"/>
            <a:ext cx="854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FPR</a:t>
            </a:r>
            <a:endParaRPr kumimoji="1" lang="zh-TW" altLang="en-US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9" name="橢圓 48">
            <a:extLst>
              <a:ext uri="{FF2B5EF4-FFF2-40B4-BE49-F238E27FC236}">
                <a16:creationId xmlns:a16="http://schemas.microsoft.com/office/drawing/2014/main" id="{3A2AC899-EBAD-3726-2312-1F66C5B19581}"/>
              </a:ext>
            </a:extLst>
          </p:cNvPr>
          <p:cNvSpPr/>
          <p:nvPr/>
        </p:nvSpPr>
        <p:spPr>
          <a:xfrm>
            <a:off x="11134413" y="1777217"/>
            <a:ext cx="160774" cy="1607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207AEC77-918F-828B-9756-BD525A574584}"/>
              </a:ext>
            </a:extLst>
          </p:cNvPr>
          <p:cNvSpPr txBox="1"/>
          <p:nvPr/>
        </p:nvSpPr>
        <p:spPr>
          <a:xfrm>
            <a:off x="1808705" y="4281720"/>
            <a:ext cx="482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❌</a:t>
            </a:r>
            <a:endParaRPr kumimoji="1" lang="zh-TW" altLang="en-US" dirty="0"/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27088B89-F77B-309E-C468-DE16D19662C0}"/>
              </a:ext>
            </a:extLst>
          </p:cNvPr>
          <p:cNvSpPr txBox="1"/>
          <p:nvPr/>
        </p:nvSpPr>
        <p:spPr>
          <a:xfrm>
            <a:off x="2191615" y="4784358"/>
            <a:ext cx="482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❌</a:t>
            </a:r>
            <a:endParaRPr kumimoji="1" lang="zh-TW" altLang="en-US" dirty="0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634BDD10-D7A2-5A05-999A-2A8245DE9DFD}"/>
              </a:ext>
            </a:extLst>
          </p:cNvPr>
          <p:cNvSpPr txBox="1"/>
          <p:nvPr/>
        </p:nvSpPr>
        <p:spPr>
          <a:xfrm>
            <a:off x="3268801" y="4784358"/>
            <a:ext cx="482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❌</a:t>
            </a:r>
            <a:endParaRPr kumimoji="1"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41D53BF-7513-9319-8B06-A6BD4E3D0F49}"/>
              </a:ext>
            </a:extLst>
          </p:cNvPr>
          <p:cNvSpPr txBox="1"/>
          <p:nvPr/>
        </p:nvSpPr>
        <p:spPr>
          <a:xfrm>
            <a:off x="1090248" y="5626391"/>
            <a:ext cx="3315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0</a:t>
            </a:r>
            <a:endParaRPr kumimoji="1" lang="zh-TW" altLang="en-US" sz="2000" b="1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6346454D-F44E-883F-A597-6F49EDCFC07B}"/>
              </a:ext>
            </a:extLst>
          </p:cNvPr>
          <p:cNvSpPr txBox="1"/>
          <p:nvPr/>
        </p:nvSpPr>
        <p:spPr>
          <a:xfrm>
            <a:off x="2006659" y="5626391"/>
            <a:ext cx="4973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20</a:t>
            </a:r>
            <a:endParaRPr kumimoji="1" lang="zh-TW" altLang="en-US" sz="2000" b="1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4CC10C33-D3C1-7A35-B132-F57B7FB2845E}"/>
              </a:ext>
            </a:extLst>
          </p:cNvPr>
          <p:cNvSpPr txBox="1"/>
          <p:nvPr/>
        </p:nvSpPr>
        <p:spPr>
          <a:xfrm>
            <a:off x="6923316" y="5626391"/>
            <a:ext cx="693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100</a:t>
            </a:r>
            <a:endParaRPr kumimoji="1" lang="zh-TW" altLang="en-US" sz="2000" b="1" dirty="0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7FA44D70-BCF6-B7A1-5727-862BA6161469}"/>
              </a:ext>
            </a:extLst>
          </p:cNvPr>
          <p:cNvSpPr txBox="1"/>
          <p:nvPr/>
        </p:nvSpPr>
        <p:spPr>
          <a:xfrm>
            <a:off x="5645168" y="5626391"/>
            <a:ext cx="693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80</a:t>
            </a:r>
            <a:endParaRPr kumimoji="1" lang="zh-TW" altLang="en-US" sz="2000" b="1" dirty="0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2035CA3D-1E63-E8B8-3546-062D90813AAB}"/>
              </a:ext>
            </a:extLst>
          </p:cNvPr>
          <p:cNvSpPr txBox="1"/>
          <p:nvPr/>
        </p:nvSpPr>
        <p:spPr>
          <a:xfrm>
            <a:off x="4367018" y="5626391"/>
            <a:ext cx="693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60</a:t>
            </a:r>
            <a:endParaRPr kumimoji="1" lang="zh-TW" altLang="en-US" sz="2000" b="1" dirty="0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EA10106F-3E2F-6BFC-383B-337C190C48B3}"/>
              </a:ext>
            </a:extLst>
          </p:cNvPr>
          <p:cNvSpPr txBox="1"/>
          <p:nvPr/>
        </p:nvSpPr>
        <p:spPr>
          <a:xfrm>
            <a:off x="3088868" y="5626391"/>
            <a:ext cx="693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40</a:t>
            </a:r>
            <a:endParaRPr kumimoji="1" lang="zh-TW" altLang="en-US" sz="2000" b="1" dirty="0"/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ED82157A-2E24-E78E-C1C3-E9CBACC3A093}"/>
              </a:ext>
            </a:extLst>
          </p:cNvPr>
          <p:cNvSpPr txBox="1"/>
          <p:nvPr/>
        </p:nvSpPr>
        <p:spPr>
          <a:xfrm>
            <a:off x="7596555" y="5149338"/>
            <a:ext cx="20297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模型預測為疾病的機率值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(%)</a:t>
            </a:r>
            <a:endParaRPr kumimoji="1" lang="zh-TW" altLang="en-US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93F76CA9-8BA6-DFAE-28B7-7C7FBA7B0F15}"/>
              </a:ext>
            </a:extLst>
          </p:cNvPr>
          <p:cNvSpPr txBox="1"/>
          <p:nvPr/>
        </p:nvSpPr>
        <p:spPr>
          <a:xfrm>
            <a:off x="673463" y="2578514"/>
            <a:ext cx="259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TPR: 1.0, FPR: 1.0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665954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F8DB66-051D-855D-1FB2-C4865ECA7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ROC Curve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06BBC8B-70F9-766F-15D8-D7520DD56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4B26086-3E01-8777-AA87-8B63ABBE652F}"/>
              </a:ext>
            </a:extLst>
          </p:cNvPr>
          <p:cNvSpPr txBox="1"/>
          <p:nvPr/>
        </p:nvSpPr>
        <p:spPr>
          <a:xfrm>
            <a:off x="1601712" y="4210002"/>
            <a:ext cx="638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3200" dirty="0"/>
              <a:t>💪</a:t>
            </a:r>
            <a:endParaRPr lang="zh-TW" altLang="en-US" sz="32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A315583-DFCD-57D3-D043-24BCFD77A4D8}"/>
              </a:ext>
            </a:extLst>
          </p:cNvPr>
          <p:cNvSpPr txBox="1"/>
          <p:nvPr/>
        </p:nvSpPr>
        <p:spPr>
          <a:xfrm>
            <a:off x="2504053" y="4170324"/>
            <a:ext cx="7686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4000" dirty="0"/>
              <a:t>🦠</a:t>
            </a:r>
            <a:endParaRPr lang="zh-TW" altLang="en-US" sz="4000" dirty="0"/>
          </a:p>
        </p:txBody>
      </p:sp>
      <p:sp>
        <p:nvSpPr>
          <p:cNvPr id="7" name="向右箭號 6">
            <a:extLst>
              <a:ext uri="{FF2B5EF4-FFF2-40B4-BE49-F238E27FC236}">
                <a16:creationId xmlns:a16="http://schemas.microsoft.com/office/drawing/2014/main" id="{07927F23-568F-C13A-733D-5EBD0E6746E9}"/>
              </a:ext>
            </a:extLst>
          </p:cNvPr>
          <p:cNvSpPr/>
          <p:nvPr/>
        </p:nvSpPr>
        <p:spPr>
          <a:xfrm>
            <a:off x="1256046" y="5355768"/>
            <a:ext cx="6219929" cy="25120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A6D39C6-5268-9EB3-CEE0-F1077AC53925}"/>
              </a:ext>
            </a:extLst>
          </p:cNvPr>
          <p:cNvSpPr txBox="1"/>
          <p:nvPr/>
        </p:nvSpPr>
        <p:spPr>
          <a:xfrm>
            <a:off x="1971991" y="4698685"/>
            <a:ext cx="638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3200" dirty="0"/>
              <a:t>💪</a:t>
            </a:r>
            <a:endParaRPr lang="zh-TW" altLang="en-US" sz="3200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B59F7F7E-D61E-B824-0DFE-A4C99AF811E0}"/>
              </a:ext>
            </a:extLst>
          </p:cNvPr>
          <p:cNvSpPr txBox="1"/>
          <p:nvPr/>
        </p:nvSpPr>
        <p:spPr>
          <a:xfrm>
            <a:off x="3036113" y="4698684"/>
            <a:ext cx="638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3200" dirty="0"/>
              <a:t>💪</a:t>
            </a:r>
            <a:endParaRPr lang="zh-TW" altLang="en-US" sz="3200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0C2930B0-E43A-8824-2AA0-D2639CAF06AD}"/>
              </a:ext>
            </a:extLst>
          </p:cNvPr>
          <p:cNvSpPr txBox="1"/>
          <p:nvPr/>
        </p:nvSpPr>
        <p:spPr>
          <a:xfrm>
            <a:off x="3881933" y="4142083"/>
            <a:ext cx="638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3200" dirty="0"/>
              <a:t>💪</a:t>
            </a:r>
            <a:endParaRPr lang="zh-TW" altLang="en-US" sz="3200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7574090F-3790-1030-5497-24B0BE335366}"/>
              </a:ext>
            </a:extLst>
          </p:cNvPr>
          <p:cNvSpPr txBox="1"/>
          <p:nvPr/>
        </p:nvSpPr>
        <p:spPr>
          <a:xfrm>
            <a:off x="4146454" y="4647882"/>
            <a:ext cx="7686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4000" dirty="0"/>
              <a:t>🦠</a:t>
            </a:r>
            <a:endParaRPr lang="zh-TW" altLang="en-US" sz="4000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3A7735AA-763F-3EB2-659B-099121E38274}"/>
              </a:ext>
            </a:extLst>
          </p:cNvPr>
          <p:cNvSpPr txBox="1"/>
          <p:nvPr/>
        </p:nvSpPr>
        <p:spPr>
          <a:xfrm>
            <a:off x="4841296" y="4611728"/>
            <a:ext cx="7686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4000" dirty="0"/>
              <a:t>🦠</a:t>
            </a:r>
            <a:endParaRPr lang="zh-TW" altLang="en-US" sz="4000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D0053DC2-ED95-3AC5-D3E6-7F068E7DA51D}"/>
              </a:ext>
            </a:extLst>
          </p:cNvPr>
          <p:cNvSpPr txBox="1"/>
          <p:nvPr/>
        </p:nvSpPr>
        <p:spPr>
          <a:xfrm>
            <a:off x="5902654" y="4210002"/>
            <a:ext cx="7686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4000" dirty="0"/>
              <a:t>🦠</a:t>
            </a:r>
            <a:endParaRPr lang="zh-TW" altLang="en-US" sz="4000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417520D2-892F-C3E4-64FE-8F751A3E2D68}"/>
              </a:ext>
            </a:extLst>
          </p:cNvPr>
          <p:cNvSpPr txBox="1"/>
          <p:nvPr/>
        </p:nvSpPr>
        <p:spPr>
          <a:xfrm>
            <a:off x="6791933" y="4575573"/>
            <a:ext cx="7686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4000" dirty="0"/>
              <a:t>🦠</a:t>
            </a:r>
            <a:endParaRPr lang="zh-TW" altLang="en-US" sz="4000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AAABF8E6-773C-219E-E4A8-99BD27D2772F}"/>
              </a:ext>
            </a:extLst>
          </p:cNvPr>
          <p:cNvSpPr txBox="1"/>
          <p:nvPr/>
        </p:nvSpPr>
        <p:spPr>
          <a:xfrm>
            <a:off x="5066885" y="4026953"/>
            <a:ext cx="638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3200" dirty="0"/>
              <a:t>💪</a:t>
            </a:r>
            <a:endParaRPr lang="zh-TW" altLang="en-US" sz="3200" dirty="0"/>
          </a:p>
        </p:txBody>
      </p: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CD2218BA-2162-701A-DCA0-7F0C17464BD8}"/>
              </a:ext>
            </a:extLst>
          </p:cNvPr>
          <p:cNvCxnSpPr/>
          <p:nvPr/>
        </p:nvCxnSpPr>
        <p:spPr>
          <a:xfrm>
            <a:off x="2110664" y="3636408"/>
            <a:ext cx="0" cy="191359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4EC8A6D9-47F8-ECBE-33A9-2298830C7C7D}"/>
              </a:ext>
            </a:extLst>
          </p:cNvPr>
          <p:cNvSpPr txBox="1"/>
          <p:nvPr/>
        </p:nvSpPr>
        <p:spPr>
          <a:xfrm>
            <a:off x="4366010" y="3054696"/>
            <a:ext cx="2305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COVID-19</a:t>
            </a:r>
            <a:endParaRPr kumimoji="1" lang="zh-TW" altLang="en-US" sz="2400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60E7F772-C708-7204-1970-046D10C15E64}"/>
              </a:ext>
            </a:extLst>
          </p:cNvPr>
          <p:cNvSpPr txBox="1"/>
          <p:nvPr/>
        </p:nvSpPr>
        <p:spPr>
          <a:xfrm>
            <a:off x="1457389" y="3054696"/>
            <a:ext cx="2305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healthy</a:t>
            </a:r>
            <a:endParaRPr kumimoji="1" lang="zh-TW" altLang="en-US" sz="2400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DCE8D799-626A-5B20-31DA-CA26C72A8ED6}"/>
              </a:ext>
            </a:extLst>
          </p:cNvPr>
          <p:cNvSpPr txBox="1"/>
          <p:nvPr/>
        </p:nvSpPr>
        <p:spPr>
          <a:xfrm>
            <a:off x="653143" y="1763778"/>
            <a:ext cx="59385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假設我們用模型對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10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個人做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COVID-19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檢測：</a:t>
            </a:r>
            <a:endParaRPr kumimoji="1"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(healthy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代表 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negative; COVID-19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代表 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positive)</a:t>
            </a:r>
            <a:endParaRPr kumimoji="1" lang="zh-TW" altLang="en-US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638C26AC-D0EE-F0C0-FFC4-2F71C1ECF5CB}"/>
              </a:ext>
            </a:extLst>
          </p:cNvPr>
          <p:cNvSpPr txBox="1"/>
          <p:nvPr/>
        </p:nvSpPr>
        <p:spPr>
          <a:xfrm>
            <a:off x="4124849" y="4224247"/>
            <a:ext cx="482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❌</a:t>
            </a:r>
            <a:endParaRPr kumimoji="1" lang="zh-TW" altLang="en-US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E5EBE50C-526E-FA95-756F-6CDCC2BCA8A1}"/>
              </a:ext>
            </a:extLst>
          </p:cNvPr>
          <p:cNvSpPr txBox="1"/>
          <p:nvPr/>
        </p:nvSpPr>
        <p:spPr>
          <a:xfrm>
            <a:off x="5321483" y="4088942"/>
            <a:ext cx="482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❌</a:t>
            </a:r>
            <a:endParaRPr kumimoji="1" lang="zh-TW" altLang="en-US" dirty="0"/>
          </a:p>
        </p:txBody>
      </p:sp>
      <p:cxnSp>
        <p:nvCxnSpPr>
          <p:cNvPr id="30" name="直線箭頭接點 29">
            <a:extLst>
              <a:ext uri="{FF2B5EF4-FFF2-40B4-BE49-F238E27FC236}">
                <a16:creationId xmlns:a16="http://schemas.microsoft.com/office/drawing/2014/main" id="{8E5EA958-3F1C-0917-BF7D-2E81D7B75525}"/>
              </a:ext>
            </a:extLst>
          </p:cNvPr>
          <p:cNvCxnSpPr>
            <a:cxnSpLocks/>
          </p:cNvCxnSpPr>
          <p:nvPr/>
        </p:nvCxnSpPr>
        <p:spPr>
          <a:xfrm flipV="1">
            <a:off x="8651631" y="1763778"/>
            <a:ext cx="0" cy="2263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箭頭接點 30">
            <a:extLst>
              <a:ext uri="{FF2B5EF4-FFF2-40B4-BE49-F238E27FC236}">
                <a16:creationId xmlns:a16="http://schemas.microsoft.com/office/drawing/2014/main" id="{EC6B178F-D391-0474-358E-0BBFE17B6A54}"/>
              </a:ext>
            </a:extLst>
          </p:cNvPr>
          <p:cNvCxnSpPr>
            <a:cxnSpLocks/>
          </p:cNvCxnSpPr>
          <p:nvPr/>
        </p:nvCxnSpPr>
        <p:spPr>
          <a:xfrm>
            <a:off x="8651631" y="4026952"/>
            <a:ext cx="263267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C45E6E63-B8A5-2C83-DA99-A1428F1E4C27}"/>
              </a:ext>
            </a:extLst>
          </p:cNvPr>
          <p:cNvSpPr txBox="1"/>
          <p:nvPr/>
        </p:nvSpPr>
        <p:spPr>
          <a:xfrm>
            <a:off x="8485832" y="4026952"/>
            <a:ext cx="3315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</a:t>
            </a:r>
            <a:endParaRPr kumimoji="1" lang="zh-TW" altLang="en-US" sz="1600" dirty="0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10CEE2EA-014F-0364-AAF6-CAABB3973FB1}"/>
              </a:ext>
            </a:extLst>
          </p:cNvPr>
          <p:cNvSpPr txBox="1"/>
          <p:nvPr/>
        </p:nvSpPr>
        <p:spPr>
          <a:xfrm>
            <a:off x="8856490" y="4025336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0.2</a:t>
            </a:r>
            <a:endParaRPr kumimoji="1" lang="zh-TW" altLang="en-US" sz="1600" dirty="0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085E87B6-2939-552F-53B4-A5A5B199C046}"/>
              </a:ext>
            </a:extLst>
          </p:cNvPr>
          <p:cNvSpPr txBox="1"/>
          <p:nvPr/>
        </p:nvSpPr>
        <p:spPr>
          <a:xfrm>
            <a:off x="9384899" y="4037720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0.4</a:t>
            </a:r>
            <a:endParaRPr kumimoji="1" lang="zh-TW" altLang="en-US" sz="1600" dirty="0"/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1650832D-4CA1-178A-A1B8-6EC98199C393}"/>
              </a:ext>
            </a:extLst>
          </p:cNvPr>
          <p:cNvSpPr txBox="1"/>
          <p:nvPr/>
        </p:nvSpPr>
        <p:spPr>
          <a:xfrm>
            <a:off x="9913308" y="4037720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0.6</a:t>
            </a:r>
            <a:endParaRPr kumimoji="1" lang="zh-TW" altLang="en-US" sz="1600" dirty="0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A8883A52-E28C-4629-18B4-7C2C00464172}"/>
              </a:ext>
            </a:extLst>
          </p:cNvPr>
          <p:cNvSpPr txBox="1"/>
          <p:nvPr/>
        </p:nvSpPr>
        <p:spPr>
          <a:xfrm>
            <a:off x="10441717" y="4037720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0.8</a:t>
            </a:r>
            <a:endParaRPr kumimoji="1" lang="zh-TW" altLang="en-US" sz="1600" dirty="0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723F40E5-BFE2-DA93-D0C3-D1FC67CA951C}"/>
              </a:ext>
            </a:extLst>
          </p:cNvPr>
          <p:cNvSpPr txBox="1"/>
          <p:nvPr/>
        </p:nvSpPr>
        <p:spPr>
          <a:xfrm>
            <a:off x="10970127" y="4037720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1.0</a:t>
            </a:r>
            <a:endParaRPr kumimoji="1" lang="zh-TW" altLang="en-US" sz="1600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25BE68EB-8DA7-2DE6-1F49-8330538075A6}"/>
              </a:ext>
            </a:extLst>
          </p:cNvPr>
          <p:cNvSpPr txBox="1"/>
          <p:nvPr/>
        </p:nvSpPr>
        <p:spPr>
          <a:xfrm>
            <a:off x="8135101" y="3399456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0.2</a:t>
            </a:r>
            <a:endParaRPr kumimoji="1" lang="zh-TW" altLang="en-US" sz="1600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8167BE84-69C7-BEEC-DAC3-1D3A3B1EB133}"/>
              </a:ext>
            </a:extLst>
          </p:cNvPr>
          <p:cNvSpPr txBox="1"/>
          <p:nvPr/>
        </p:nvSpPr>
        <p:spPr>
          <a:xfrm>
            <a:off x="8135101" y="1634592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1.0</a:t>
            </a:r>
            <a:endParaRPr kumimoji="1" lang="zh-TW" altLang="en-US" sz="1600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8E87A05B-3A5C-AFED-2048-72588296184C}"/>
              </a:ext>
            </a:extLst>
          </p:cNvPr>
          <p:cNvSpPr txBox="1"/>
          <p:nvPr/>
        </p:nvSpPr>
        <p:spPr>
          <a:xfrm>
            <a:off x="8135101" y="2075808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0.8</a:t>
            </a:r>
            <a:endParaRPr kumimoji="1" lang="zh-TW" altLang="en-US" sz="1600" dirty="0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1DD8D553-64F7-E94F-251A-275D5E51FA70}"/>
              </a:ext>
            </a:extLst>
          </p:cNvPr>
          <p:cNvSpPr txBox="1"/>
          <p:nvPr/>
        </p:nvSpPr>
        <p:spPr>
          <a:xfrm>
            <a:off x="8135101" y="2517024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0.6</a:t>
            </a:r>
            <a:endParaRPr kumimoji="1" lang="zh-TW" altLang="en-US" sz="1600" dirty="0"/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83CAFB72-69CD-C99D-E040-DAF094C88A43}"/>
              </a:ext>
            </a:extLst>
          </p:cNvPr>
          <p:cNvSpPr txBox="1"/>
          <p:nvPr/>
        </p:nvSpPr>
        <p:spPr>
          <a:xfrm>
            <a:off x="8135101" y="2958240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0.4</a:t>
            </a:r>
            <a:endParaRPr kumimoji="1" lang="zh-TW" altLang="en-US" sz="1600" dirty="0"/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8EDD02C9-3D09-F3CF-45F5-4CC5691EC518}"/>
              </a:ext>
            </a:extLst>
          </p:cNvPr>
          <p:cNvSpPr txBox="1"/>
          <p:nvPr/>
        </p:nvSpPr>
        <p:spPr>
          <a:xfrm>
            <a:off x="8253085" y="3840670"/>
            <a:ext cx="3315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</a:t>
            </a:r>
            <a:endParaRPr kumimoji="1" lang="zh-TW" altLang="en-US" sz="1600" dirty="0"/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792961F0-7385-EBFD-D544-0BC7D4547C19}"/>
              </a:ext>
            </a:extLst>
          </p:cNvPr>
          <p:cNvSpPr txBox="1"/>
          <p:nvPr/>
        </p:nvSpPr>
        <p:spPr>
          <a:xfrm>
            <a:off x="7372158" y="2682965"/>
            <a:ext cx="854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TPR</a:t>
            </a:r>
            <a:endParaRPr kumimoji="1" lang="zh-TW" altLang="en-US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2364A430-AA70-B91C-CB95-6DC0B42CB2A6}"/>
              </a:ext>
            </a:extLst>
          </p:cNvPr>
          <p:cNvSpPr txBox="1"/>
          <p:nvPr/>
        </p:nvSpPr>
        <p:spPr>
          <a:xfrm>
            <a:off x="9606600" y="4371893"/>
            <a:ext cx="854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FPR</a:t>
            </a:r>
            <a:endParaRPr kumimoji="1" lang="zh-TW" altLang="en-US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9" name="橢圓 48">
            <a:extLst>
              <a:ext uri="{FF2B5EF4-FFF2-40B4-BE49-F238E27FC236}">
                <a16:creationId xmlns:a16="http://schemas.microsoft.com/office/drawing/2014/main" id="{3A2AC899-EBAD-3726-2312-1F66C5B19581}"/>
              </a:ext>
            </a:extLst>
          </p:cNvPr>
          <p:cNvSpPr/>
          <p:nvPr/>
        </p:nvSpPr>
        <p:spPr>
          <a:xfrm>
            <a:off x="11134413" y="1777217"/>
            <a:ext cx="160774" cy="1607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27088B89-F77B-309E-C468-DE16D19662C0}"/>
              </a:ext>
            </a:extLst>
          </p:cNvPr>
          <p:cNvSpPr txBox="1"/>
          <p:nvPr/>
        </p:nvSpPr>
        <p:spPr>
          <a:xfrm>
            <a:off x="2191615" y="4784358"/>
            <a:ext cx="482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❌</a:t>
            </a:r>
            <a:endParaRPr kumimoji="1" lang="zh-TW" altLang="en-US" dirty="0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634BDD10-D7A2-5A05-999A-2A8245DE9DFD}"/>
              </a:ext>
            </a:extLst>
          </p:cNvPr>
          <p:cNvSpPr txBox="1"/>
          <p:nvPr/>
        </p:nvSpPr>
        <p:spPr>
          <a:xfrm>
            <a:off x="3268801" y="4784358"/>
            <a:ext cx="482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❌</a:t>
            </a:r>
            <a:endParaRPr kumimoji="1" lang="zh-TW" altLang="en-US" dirty="0"/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D97F3419-EDE7-303C-4009-E73BFC205AE9}"/>
              </a:ext>
            </a:extLst>
          </p:cNvPr>
          <p:cNvSpPr/>
          <p:nvPr/>
        </p:nvSpPr>
        <p:spPr>
          <a:xfrm>
            <a:off x="10652006" y="1777217"/>
            <a:ext cx="160774" cy="1607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940D31D7-69CD-1D61-6005-7F1C14052AA2}"/>
              </a:ext>
            </a:extLst>
          </p:cNvPr>
          <p:cNvSpPr txBox="1"/>
          <p:nvPr/>
        </p:nvSpPr>
        <p:spPr>
          <a:xfrm>
            <a:off x="1090248" y="5626391"/>
            <a:ext cx="3315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0</a:t>
            </a:r>
            <a:endParaRPr kumimoji="1" lang="zh-TW" altLang="en-US" sz="2000" b="1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A5F730CF-0CAF-3EB0-CEC8-75005CE8FAE5}"/>
              </a:ext>
            </a:extLst>
          </p:cNvPr>
          <p:cNvSpPr txBox="1"/>
          <p:nvPr/>
        </p:nvSpPr>
        <p:spPr>
          <a:xfrm>
            <a:off x="2006659" y="5626391"/>
            <a:ext cx="4973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20</a:t>
            </a:r>
            <a:endParaRPr kumimoji="1" lang="zh-TW" altLang="en-US" sz="2000" b="1" dirty="0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282AA0EF-FD77-CAE5-F004-63F8FD001868}"/>
              </a:ext>
            </a:extLst>
          </p:cNvPr>
          <p:cNvSpPr txBox="1"/>
          <p:nvPr/>
        </p:nvSpPr>
        <p:spPr>
          <a:xfrm>
            <a:off x="6923316" y="5626391"/>
            <a:ext cx="693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100</a:t>
            </a:r>
            <a:endParaRPr kumimoji="1" lang="zh-TW" altLang="en-US" sz="2000" b="1" dirty="0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FBFC4448-DFFE-1593-333D-AC8CF323D030}"/>
              </a:ext>
            </a:extLst>
          </p:cNvPr>
          <p:cNvSpPr txBox="1"/>
          <p:nvPr/>
        </p:nvSpPr>
        <p:spPr>
          <a:xfrm>
            <a:off x="5645168" y="5626391"/>
            <a:ext cx="693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80</a:t>
            </a:r>
            <a:endParaRPr kumimoji="1" lang="zh-TW" altLang="en-US" sz="2000" b="1" dirty="0"/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F2D44E92-94DE-A582-8E12-C303B201B26C}"/>
              </a:ext>
            </a:extLst>
          </p:cNvPr>
          <p:cNvSpPr txBox="1"/>
          <p:nvPr/>
        </p:nvSpPr>
        <p:spPr>
          <a:xfrm>
            <a:off x="4367018" y="5626391"/>
            <a:ext cx="693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60</a:t>
            </a:r>
            <a:endParaRPr kumimoji="1" lang="zh-TW" altLang="en-US" sz="2000" b="1" dirty="0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B02CA647-A7CA-8B1B-4DEA-88349DB59308}"/>
              </a:ext>
            </a:extLst>
          </p:cNvPr>
          <p:cNvSpPr txBox="1"/>
          <p:nvPr/>
        </p:nvSpPr>
        <p:spPr>
          <a:xfrm>
            <a:off x="3088868" y="5626391"/>
            <a:ext cx="693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40</a:t>
            </a:r>
            <a:endParaRPr kumimoji="1" lang="zh-TW" altLang="en-US" sz="2000" b="1" dirty="0"/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DEE4835E-ED66-7233-B5DF-3341D92D8246}"/>
              </a:ext>
            </a:extLst>
          </p:cNvPr>
          <p:cNvSpPr txBox="1"/>
          <p:nvPr/>
        </p:nvSpPr>
        <p:spPr>
          <a:xfrm>
            <a:off x="7596555" y="5149338"/>
            <a:ext cx="20297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模型預測為疾病的機率值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(%)</a:t>
            </a:r>
            <a:endParaRPr kumimoji="1" lang="zh-TW" altLang="en-US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17D69074-201E-0333-8DA9-9BDAB5A0686E}"/>
              </a:ext>
            </a:extLst>
          </p:cNvPr>
          <p:cNvSpPr txBox="1"/>
          <p:nvPr/>
        </p:nvSpPr>
        <p:spPr>
          <a:xfrm>
            <a:off x="673463" y="2578514"/>
            <a:ext cx="259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TPR: 1.0, FPR: 0.8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303025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F8DB66-051D-855D-1FB2-C4865ECA7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ROC Curve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06BBC8B-70F9-766F-15D8-D7520DD56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4B26086-3E01-8777-AA87-8B63ABBE652F}"/>
              </a:ext>
            </a:extLst>
          </p:cNvPr>
          <p:cNvSpPr txBox="1"/>
          <p:nvPr/>
        </p:nvSpPr>
        <p:spPr>
          <a:xfrm>
            <a:off x="1601712" y="4210002"/>
            <a:ext cx="638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3200" dirty="0"/>
              <a:t>💪</a:t>
            </a:r>
            <a:endParaRPr lang="zh-TW" altLang="en-US" sz="32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A315583-DFCD-57D3-D043-24BCFD77A4D8}"/>
              </a:ext>
            </a:extLst>
          </p:cNvPr>
          <p:cNvSpPr txBox="1"/>
          <p:nvPr/>
        </p:nvSpPr>
        <p:spPr>
          <a:xfrm>
            <a:off x="2504053" y="4170324"/>
            <a:ext cx="7686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4000" dirty="0"/>
              <a:t>🦠</a:t>
            </a:r>
            <a:endParaRPr lang="zh-TW" altLang="en-US" sz="4000" dirty="0"/>
          </a:p>
        </p:txBody>
      </p:sp>
      <p:sp>
        <p:nvSpPr>
          <p:cNvPr id="7" name="向右箭號 6">
            <a:extLst>
              <a:ext uri="{FF2B5EF4-FFF2-40B4-BE49-F238E27FC236}">
                <a16:creationId xmlns:a16="http://schemas.microsoft.com/office/drawing/2014/main" id="{07927F23-568F-C13A-733D-5EBD0E6746E9}"/>
              </a:ext>
            </a:extLst>
          </p:cNvPr>
          <p:cNvSpPr/>
          <p:nvPr/>
        </p:nvSpPr>
        <p:spPr>
          <a:xfrm>
            <a:off x="1256046" y="5355768"/>
            <a:ext cx="6219929" cy="25120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A6D39C6-5268-9EB3-CEE0-F1077AC53925}"/>
              </a:ext>
            </a:extLst>
          </p:cNvPr>
          <p:cNvSpPr txBox="1"/>
          <p:nvPr/>
        </p:nvSpPr>
        <p:spPr>
          <a:xfrm>
            <a:off x="1971991" y="4698685"/>
            <a:ext cx="638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3200" dirty="0"/>
              <a:t>💪</a:t>
            </a:r>
            <a:endParaRPr lang="zh-TW" altLang="en-US" sz="3200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B59F7F7E-D61E-B824-0DFE-A4C99AF811E0}"/>
              </a:ext>
            </a:extLst>
          </p:cNvPr>
          <p:cNvSpPr txBox="1"/>
          <p:nvPr/>
        </p:nvSpPr>
        <p:spPr>
          <a:xfrm>
            <a:off x="3036113" y="4698684"/>
            <a:ext cx="638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3200" dirty="0"/>
              <a:t>💪</a:t>
            </a:r>
            <a:endParaRPr lang="zh-TW" altLang="en-US" sz="3200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0C2930B0-E43A-8824-2AA0-D2639CAF06AD}"/>
              </a:ext>
            </a:extLst>
          </p:cNvPr>
          <p:cNvSpPr txBox="1"/>
          <p:nvPr/>
        </p:nvSpPr>
        <p:spPr>
          <a:xfrm>
            <a:off x="3881933" y="4142083"/>
            <a:ext cx="638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3200" dirty="0"/>
              <a:t>💪</a:t>
            </a:r>
            <a:endParaRPr lang="zh-TW" altLang="en-US" sz="3200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7574090F-3790-1030-5497-24B0BE335366}"/>
              </a:ext>
            </a:extLst>
          </p:cNvPr>
          <p:cNvSpPr txBox="1"/>
          <p:nvPr/>
        </p:nvSpPr>
        <p:spPr>
          <a:xfrm>
            <a:off x="4146454" y="4647882"/>
            <a:ext cx="7686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4000" dirty="0"/>
              <a:t>🦠</a:t>
            </a:r>
            <a:endParaRPr lang="zh-TW" altLang="en-US" sz="4000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3A7735AA-763F-3EB2-659B-099121E38274}"/>
              </a:ext>
            </a:extLst>
          </p:cNvPr>
          <p:cNvSpPr txBox="1"/>
          <p:nvPr/>
        </p:nvSpPr>
        <p:spPr>
          <a:xfrm>
            <a:off x="4841296" y="4611728"/>
            <a:ext cx="7686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4000" dirty="0"/>
              <a:t>🦠</a:t>
            </a:r>
            <a:endParaRPr lang="zh-TW" altLang="en-US" sz="4000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D0053DC2-ED95-3AC5-D3E6-7F068E7DA51D}"/>
              </a:ext>
            </a:extLst>
          </p:cNvPr>
          <p:cNvSpPr txBox="1"/>
          <p:nvPr/>
        </p:nvSpPr>
        <p:spPr>
          <a:xfrm>
            <a:off x="5902654" y="4210002"/>
            <a:ext cx="7686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4000" dirty="0"/>
              <a:t>🦠</a:t>
            </a:r>
            <a:endParaRPr lang="zh-TW" altLang="en-US" sz="4000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417520D2-892F-C3E4-64FE-8F751A3E2D68}"/>
              </a:ext>
            </a:extLst>
          </p:cNvPr>
          <p:cNvSpPr txBox="1"/>
          <p:nvPr/>
        </p:nvSpPr>
        <p:spPr>
          <a:xfrm>
            <a:off x="6791933" y="4575573"/>
            <a:ext cx="7686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4000" dirty="0"/>
              <a:t>🦠</a:t>
            </a:r>
            <a:endParaRPr lang="zh-TW" altLang="en-US" sz="4000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AAABF8E6-773C-219E-E4A8-99BD27D2772F}"/>
              </a:ext>
            </a:extLst>
          </p:cNvPr>
          <p:cNvSpPr txBox="1"/>
          <p:nvPr/>
        </p:nvSpPr>
        <p:spPr>
          <a:xfrm>
            <a:off x="5066885" y="4026953"/>
            <a:ext cx="638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3200" dirty="0"/>
              <a:t>💪</a:t>
            </a:r>
            <a:endParaRPr lang="zh-TW" altLang="en-US" sz="3200" dirty="0"/>
          </a:p>
        </p:txBody>
      </p: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CD2218BA-2162-701A-DCA0-7F0C17464BD8}"/>
              </a:ext>
            </a:extLst>
          </p:cNvPr>
          <p:cNvCxnSpPr/>
          <p:nvPr/>
        </p:nvCxnSpPr>
        <p:spPr>
          <a:xfrm>
            <a:off x="2598012" y="3623824"/>
            <a:ext cx="0" cy="191359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4EC8A6D9-47F8-ECBE-33A9-2298830C7C7D}"/>
              </a:ext>
            </a:extLst>
          </p:cNvPr>
          <p:cNvSpPr txBox="1"/>
          <p:nvPr/>
        </p:nvSpPr>
        <p:spPr>
          <a:xfrm>
            <a:off x="4366010" y="3054696"/>
            <a:ext cx="2305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COVID-19</a:t>
            </a:r>
            <a:endParaRPr kumimoji="1" lang="zh-TW" altLang="en-US" sz="2400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60E7F772-C708-7204-1970-046D10C15E64}"/>
              </a:ext>
            </a:extLst>
          </p:cNvPr>
          <p:cNvSpPr txBox="1"/>
          <p:nvPr/>
        </p:nvSpPr>
        <p:spPr>
          <a:xfrm>
            <a:off x="1457389" y="3054696"/>
            <a:ext cx="2305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healthy</a:t>
            </a:r>
            <a:endParaRPr kumimoji="1" lang="zh-TW" altLang="en-US" sz="2400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DCE8D799-626A-5B20-31DA-CA26C72A8ED6}"/>
              </a:ext>
            </a:extLst>
          </p:cNvPr>
          <p:cNvSpPr txBox="1"/>
          <p:nvPr/>
        </p:nvSpPr>
        <p:spPr>
          <a:xfrm>
            <a:off x="653143" y="1763778"/>
            <a:ext cx="59385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假設我們用模型對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10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個人做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COVID-19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檢測：</a:t>
            </a:r>
            <a:endParaRPr kumimoji="1"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(healthy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代表 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negative; COVID-19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代表 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positive)</a:t>
            </a:r>
            <a:endParaRPr kumimoji="1" lang="zh-TW" altLang="en-US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638C26AC-D0EE-F0C0-FFC4-2F71C1ECF5CB}"/>
              </a:ext>
            </a:extLst>
          </p:cNvPr>
          <p:cNvSpPr txBox="1"/>
          <p:nvPr/>
        </p:nvSpPr>
        <p:spPr>
          <a:xfrm>
            <a:off x="4124849" y="4224247"/>
            <a:ext cx="482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❌</a:t>
            </a:r>
            <a:endParaRPr kumimoji="1" lang="zh-TW" altLang="en-US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E5EBE50C-526E-FA95-756F-6CDCC2BCA8A1}"/>
              </a:ext>
            </a:extLst>
          </p:cNvPr>
          <p:cNvSpPr txBox="1"/>
          <p:nvPr/>
        </p:nvSpPr>
        <p:spPr>
          <a:xfrm>
            <a:off x="5321483" y="4088942"/>
            <a:ext cx="482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❌</a:t>
            </a:r>
            <a:endParaRPr kumimoji="1" lang="zh-TW" altLang="en-US" dirty="0"/>
          </a:p>
        </p:txBody>
      </p:sp>
      <p:cxnSp>
        <p:nvCxnSpPr>
          <p:cNvPr id="30" name="直線箭頭接點 29">
            <a:extLst>
              <a:ext uri="{FF2B5EF4-FFF2-40B4-BE49-F238E27FC236}">
                <a16:creationId xmlns:a16="http://schemas.microsoft.com/office/drawing/2014/main" id="{8E5EA958-3F1C-0917-BF7D-2E81D7B75525}"/>
              </a:ext>
            </a:extLst>
          </p:cNvPr>
          <p:cNvCxnSpPr>
            <a:cxnSpLocks/>
          </p:cNvCxnSpPr>
          <p:nvPr/>
        </p:nvCxnSpPr>
        <p:spPr>
          <a:xfrm flipV="1">
            <a:off x="8651631" y="1763778"/>
            <a:ext cx="0" cy="2263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箭頭接點 30">
            <a:extLst>
              <a:ext uri="{FF2B5EF4-FFF2-40B4-BE49-F238E27FC236}">
                <a16:creationId xmlns:a16="http://schemas.microsoft.com/office/drawing/2014/main" id="{EC6B178F-D391-0474-358E-0BBFE17B6A54}"/>
              </a:ext>
            </a:extLst>
          </p:cNvPr>
          <p:cNvCxnSpPr>
            <a:cxnSpLocks/>
          </p:cNvCxnSpPr>
          <p:nvPr/>
        </p:nvCxnSpPr>
        <p:spPr>
          <a:xfrm>
            <a:off x="8651631" y="4026952"/>
            <a:ext cx="263267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C45E6E63-B8A5-2C83-DA99-A1428F1E4C27}"/>
              </a:ext>
            </a:extLst>
          </p:cNvPr>
          <p:cNvSpPr txBox="1"/>
          <p:nvPr/>
        </p:nvSpPr>
        <p:spPr>
          <a:xfrm>
            <a:off x="8485832" y="4026952"/>
            <a:ext cx="3315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</a:t>
            </a:r>
            <a:endParaRPr kumimoji="1" lang="zh-TW" altLang="en-US" sz="1600" dirty="0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10CEE2EA-014F-0364-AAF6-CAABB3973FB1}"/>
              </a:ext>
            </a:extLst>
          </p:cNvPr>
          <p:cNvSpPr txBox="1"/>
          <p:nvPr/>
        </p:nvSpPr>
        <p:spPr>
          <a:xfrm>
            <a:off x="8856490" y="4025336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0.2</a:t>
            </a:r>
            <a:endParaRPr kumimoji="1" lang="zh-TW" altLang="en-US" sz="1600" dirty="0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085E87B6-2939-552F-53B4-A5A5B199C046}"/>
              </a:ext>
            </a:extLst>
          </p:cNvPr>
          <p:cNvSpPr txBox="1"/>
          <p:nvPr/>
        </p:nvSpPr>
        <p:spPr>
          <a:xfrm>
            <a:off x="9384899" y="4037720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0.4</a:t>
            </a:r>
            <a:endParaRPr kumimoji="1" lang="zh-TW" altLang="en-US" sz="1600" dirty="0"/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1650832D-4CA1-178A-A1B8-6EC98199C393}"/>
              </a:ext>
            </a:extLst>
          </p:cNvPr>
          <p:cNvSpPr txBox="1"/>
          <p:nvPr/>
        </p:nvSpPr>
        <p:spPr>
          <a:xfrm>
            <a:off x="9913308" y="4037720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0.6</a:t>
            </a:r>
            <a:endParaRPr kumimoji="1" lang="zh-TW" altLang="en-US" sz="1600" dirty="0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A8883A52-E28C-4629-18B4-7C2C00464172}"/>
              </a:ext>
            </a:extLst>
          </p:cNvPr>
          <p:cNvSpPr txBox="1"/>
          <p:nvPr/>
        </p:nvSpPr>
        <p:spPr>
          <a:xfrm>
            <a:off x="10441717" y="4037720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0.8</a:t>
            </a:r>
            <a:endParaRPr kumimoji="1" lang="zh-TW" altLang="en-US" sz="1600" dirty="0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723F40E5-BFE2-DA93-D0C3-D1FC67CA951C}"/>
              </a:ext>
            </a:extLst>
          </p:cNvPr>
          <p:cNvSpPr txBox="1"/>
          <p:nvPr/>
        </p:nvSpPr>
        <p:spPr>
          <a:xfrm>
            <a:off x="10970127" y="4037720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1.0</a:t>
            </a:r>
            <a:endParaRPr kumimoji="1" lang="zh-TW" altLang="en-US" sz="1600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25BE68EB-8DA7-2DE6-1F49-8330538075A6}"/>
              </a:ext>
            </a:extLst>
          </p:cNvPr>
          <p:cNvSpPr txBox="1"/>
          <p:nvPr/>
        </p:nvSpPr>
        <p:spPr>
          <a:xfrm>
            <a:off x="8135101" y="3399456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0.2</a:t>
            </a:r>
            <a:endParaRPr kumimoji="1" lang="zh-TW" altLang="en-US" sz="1600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8167BE84-69C7-BEEC-DAC3-1D3A3B1EB133}"/>
              </a:ext>
            </a:extLst>
          </p:cNvPr>
          <p:cNvSpPr txBox="1"/>
          <p:nvPr/>
        </p:nvSpPr>
        <p:spPr>
          <a:xfrm>
            <a:off x="8135101" y="1634592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1.0</a:t>
            </a:r>
            <a:endParaRPr kumimoji="1" lang="zh-TW" altLang="en-US" sz="1600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8E87A05B-3A5C-AFED-2048-72588296184C}"/>
              </a:ext>
            </a:extLst>
          </p:cNvPr>
          <p:cNvSpPr txBox="1"/>
          <p:nvPr/>
        </p:nvSpPr>
        <p:spPr>
          <a:xfrm>
            <a:off x="8135101" y="2075808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0.8</a:t>
            </a:r>
            <a:endParaRPr kumimoji="1" lang="zh-TW" altLang="en-US" sz="1600" dirty="0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1DD8D553-64F7-E94F-251A-275D5E51FA70}"/>
              </a:ext>
            </a:extLst>
          </p:cNvPr>
          <p:cNvSpPr txBox="1"/>
          <p:nvPr/>
        </p:nvSpPr>
        <p:spPr>
          <a:xfrm>
            <a:off x="8135101" y="2517024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0.6</a:t>
            </a:r>
            <a:endParaRPr kumimoji="1" lang="zh-TW" altLang="en-US" sz="1600" dirty="0"/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83CAFB72-69CD-C99D-E040-DAF094C88A43}"/>
              </a:ext>
            </a:extLst>
          </p:cNvPr>
          <p:cNvSpPr txBox="1"/>
          <p:nvPr/>
        </p:nvSpPr>
        <p:spPr>
          <a:xfrm>
            <a:off x="8135101" y="2958240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0.4</a:t>
            </a:r>
            <a:endParaRPr kumimoji="1" lang="zh-TW" altLang="en-US" sz="1600" dirty="0"/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8EDD02C9-3D09-F3CF-45F5-4CC5691EC518}"/>
              </a:ext>
            </a:extLst>
          </p:cNvPr>
          <p:cNvSpPr txBox="1"/>
          <p:nvPr/>
        </p:nvSpPr>
        <p:spPr>
          <a:xfrm>
            <a:off x="8253085" y="3840670"/>
            <a:ext cx="3315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</a:t>
            </a:r>
            <a:endParaRPr kumimoji="1" lang="zh-TW" altLang="en-US" sz="1600" dirty="0"/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792961F0-7385-EBFD-D544-0BC7D4547C19}"/>
              </a:ext>
            </a:extLst>
          </p:cNvPr>
          <p:cNvSpPr txBox="1"/>
          <p:nvPr/>
        </p:nvSpPr>
        <p:spPr>
          <a:xfrm>
            <a:off x="7372158" y="2682965"/>
            <a:ext cx="854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TPR</a:t>
            </a:r>
            <a:endParaRPr kumimoji="1" lang="zh-TW" altLang="en-US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2364A430-AA70-B91C-CB95-6DC0B42CB2A6}"/>
              </a:ext>
            </a:extLst>
          </p:cNvPr>
          <p:cNvSpPr txBox="1"/>
          <p:nvPr/>
        </p:nvSpPr>
        <p:spPr>
          <a:xfrm>
            <a:off x="9606600" y="4371893"/>
            <a:ext cx="854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FPR</a:t>
            </a:r>
            <a:endParaRPr kumimoji="1" lang="zh-TW" altLang="en-US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9" name="橢圓 48">
            <a:extLst>
              <a:ext uri="{FF2B5EF4-FFF2-40B4-BE49-F238E27FC236}">
                <a16:creationId xmlns:a16="http://schemas.microsoft.com/office/drawing/2014/main" id="{3A2AC899-EBAD-3726-2312-1F66C5B19581}"/>
              </a:ext>
            </a:extLst>
          </p:cNvPr>
          <p:cNvSpPr/>
          <p:nvPr/>
        </p:nvSpPr>
        <p:spPr>
          <a:xfrm>
            <a:off x="11134413" y="1777217"/>
            <a:ext cx="160774" cy="1607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634BDD10-D7A2-5A05-999A-2A8245DE9DFD}"/>
              </a:ext>
            </a:extLst>
          </p:cNvPr>
          <p:cNvSpPr txBox="1"/>
          <p:nvPr/>
        </p:nvSpPr>
        <p:spPr>
          <a:xfrm>
            <a:off x="3268801" y="4784358"/>
            <a:ext cx="482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❌</a:t>
            </a:r>
            <a:endParaRPr kumimoji="1" lang="zh-TW" altLang="en-US" dirty="0"/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D97F3419-EDE7-303C-4009-E73BFC205AE9}"/>
              </a:ext>
            </a:extLst>
          </p:cNvPr>
          <p:cNvSpPr/>
          <p:nvPr/>
        </p:nvSpPr>
        <p:spPr>
          <a:xfrm>
            <a:off x="10652006" y="1777217"/>
            <a:ext cx="160774" cy="1607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9" name="橢圓 28">
            <a:extLst>
              <a:ext uri="{FF2B5EF4-FFF2-40B4-BE49-F238E27FC236}">
                <a16:creationId xmlns:a16="http://schemas.microsoft.com/office/drawing/2014/main" id="{AF36541F-610D-D813-1532-C8021E5508B6}"/>
              </a:ext>
            </a:extLst>
          </p:cNvPr>
          <p:cNvSpPr/>
          <p:nvPr/>
        </p:nvSpPr>
        <p:spPr>
          <a:xfrm>
            <a:off x="10122548" y="1777217"/>
            <a:ext cx="160774" cy="1607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AE50D630-6003-0499-F125-A2373E6C958E}"/>
              </a:ext>
            </a:extLst>
          </p:cNvPr>
          <p:cNvSpPr txBox="1"/>
          <p:nvPr/>
        </p:nvSpPr>
        <p:spPr>
          <a:xfrm>
            <a:off x="1090248" y="5626391"/>
            <a:ext cx="3315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0</a:t>
            </a:r>
            <a:endParaRPr kumimoji="1" lang="zh-TW" altLang="en-US" sz="2000" b="1" dirty="0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557E7796-9195-74AD-9B96-407E62173846}"/>
              </a:ext>
            </a:extLst>
          </p:cNvPr>
          <p:cNvSpPr txBox="1"/>
          <p:nvPr/>
        </p:nvSpPr>
        <p:spPr>
          <a:xfrm>
            <a:off x="2006659" y="5626391"/>
            <a:ext cx="4973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20</a:t>
            </a:r>
            <a:endParaRPr kumimoji="1" lang="zh-TW" altLang="en-US" sz="2000" b="1" dirty="0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404B3602-8DF8-C1CC-66C0-B0F2D9506863}"/>
              </a:ext>
            </a:extLst>
          </p:cNvPr>
          <p:cNvSpPr txBox="1"/>
          <p:nvPr/>
        </p:nvSpPr>
        <p:spPr>
          <a:xfrm>
            <a:off x="6923316" y="5626391"/>
            <a:ext cx="693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100</a:t>
            </a:r>
            <a:endParaRPr kumimoji="1" lang="zh-TW" altLang="en-US" sz="2000" b="1" dirty="0"/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8A1CAB93-E389-3D26-A7AB-8A8334CEF1C1}"/>
              </a:ext>
            </a:extLst>
          </p:cNvPr>
          <p:cNvSpPr txBox="1"/>
          <p:nvPr/>
        </p:nvSpPr>
        <p:spPr>
          <a:xfrm>
            <a:off x="5645168" y="5626391"/>
            <a:ext cx="693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80</a:t>
            </a:r>
            <a:endParaRPr kumimoji="1" lang="zh-TW" altLang="en-US" sz="2000" b="1" dirty="0"/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2EB26D62-E193-4547-6497-E59798CB2287}"/>
              </a:ext>
            </a:extLst>
          </p:cNvPr>
          <p:cNvSpPr txBox="1"/>
          <p:nvPr/>
        </p:nvSpPr>
        <p:spPr>
          <a:xfrm>
            <a:off x="4367018" y="5626391"/>
            <a:ext cx="693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60</a:t>
            </a:r>
            <a:endParaRPr kumimoji="1" lang="zh-TW" altLang="en-US" sz="2000" b="1" dirty="0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E1C80215-B5CD-40B8-8322-F610F270B46E}"/>
              </a:ext>
            </a:extLst>
          </p:cNvPr>
          <p:cNvSpPr txBox="1"/>
          <p:nvPr/>
        </p:nvSpPr>
        <p:spPr>
          <a:xfrm>
            <a:off x="3088868" y="5626391"/>
            <a:ext cx="693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40</a:t>
            </a:r>
            <a:endParaRPr kumimoji="1" lang="zh-TW" altLang="en-US" sz="2000" b="1" dirty="0"/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31F53BAC-184E-44A9-73F8-DF48D840230E}"/>
              </a:ext>
            </a:extLst>
          </p:cNvPr>
          <p:cNvSpPr txBox="1"/>
          <p:nvPr/>
        </p:nvSpPr>
        <p:spPr>
          <a:xfrm>
            <a:off x="7596555" y="5149338"/>
            <a:ext cx="20297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模型預測為疾病的機率值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(%)</a:t>
            </a:r>
            <a:endParaRPr kumimoji="1" lang="zh-TW" altLang="en-US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C60340B7-C4C5-7BC5-2409-07B4B7A3E8B0}"/>
              </a:ext>
            </a:extLst>
          </p:cNvPr>
          <p:cNvSpPr txBox="1"/>
          <p:nvPr/>
        </p:nvSpPr>
        <p:spPr>
          <a:xfrm>
            <a:off x="673463" y="2578514"/>
            <a:ext cx="259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TPR: 1.0, FPR: 0.6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93484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F8DB66-051D-855D-1FB2-C4865ECA7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ROC Curve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06BBC8B-70F9-766F-15D8-D7520DD56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4B26086-3E01-8777-AA87-8B63ABBE652F}"/>
              </a:ext>
            </a:extLst>
          </p:cNvPr>
          <p:cNvSpPr txBox="1"/>
          <p:nvPr/>
        </p:nvSpPr>
        <p:spPr>
          <a:xfrm>
            <a:off x="1601712" y="4210002"/>
            <a:ext cx="638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3200" dirty="0"/>
              <a:t>💪</a:t>
            </a:r>
            <a:endParaRPr lang="zh-TW" altLang="en-US" sz="32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A315583-DFCD-57D3-D043-24BCFD77A4D8}"/>
              </a:ext>
            </a:extLst>
          </p:cNvPr>
          <p:cNvSpPr txBox="1"/>
          <p:nvPr/>
        </p:nvSpPr>
        <p:spPr>
          <a:xfrm>
            <a:off x="2504053" y="4170324"/>
            <a:ext cx="7686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4000" dirty="0"/>
              <a:t>🦠</a:t>
            </a:r>
            <a:endParaRPr lang="zh-TW" altLang="en-US" sz="4000" dirty="0"/>
          </a:p>
        </p:txBody>
      </p:sp>
      <p:sp>
        <p:nvSpPr>
          <p:cNvPr id="7" name="向右箭號 6">
            <a:extLst>
              <a:ext uri="{FF2B5EF4-FFF2-40B4-BE49-F238E27FC236}">
                <a16:creationId xmlns:a16="http://schemas.microsoft.com/office/drawing/2014/main" id="{07927F23-568F-C13A-733D-5EBD0E6746E9}"/>
              </a:ext>
            </a:extLst>
          </p:cNvPr>
          <p:cNvSpPr/>
          <p:nvPr/>
        </p:nvSpPr>
        <p:spPr>
          <a:xfrm>
            <a:off x="1256046" y="5355768"/>
            <a:ext cx="6219929" cy="25120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A6D39C6-5268-9EB3-CEE0-F1077AC53925}"/>
              </a:ext>
            </a:extLst>
          </p:cNvPr>
          <p:cNvSpPr txBox="1"/>
          <p:nvPr/>
        </p:nvSpPr>
        <p:spPr>
          <a:xfrm>
            <a:off x="1971991" y="4698685"/>
            <a:ext cx="638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3200" dirty="0"/>
              <a:t>💪</a:t>
            </a:r>
            <a:endParaRPr lang="zh-TW" altLang="en-US" sz="3200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B59F7F7E-D61E-B824-0DFE-A4C99AF811E0}"/>
              </a:ext>
            </a:extLst>
          </p:cNvPr>
          <p:cNvSpPr txBox="1"/>
          <p:nvPr/>
        </p:nvSpPr>
        <p:spPr>
          <a:xfrm>
            <a:off x="3036113" y="4698684"/>
            <a:ext cx="638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3200" dirty="0"/>
              <a:t>💪</a:t>
            </a:r>
            <a:endParaRPr lang="zh-TW" altLang="en-US" sz="3200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0C2930B0-E43A-8824-2AA0-D2639CAF06AD}"/>
              </a:ext>
            </a:extLst>
          </p:cNvPr>
          <p:cNvSpPr txBox="1"/>
          <p:nvPr/>
        </p:nvSpPr>
        <p:spPr>
          <a:xfrm>
            <a:off x="3881933" y="4142083"/>
            <a:ext cx="638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3200" dirty="0"/>
              <a:t>💪</a:t>
            </a:r>
            <a:endParaRPr lang="zh-TW" altLang="en-US" sz="3200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7574090F-3790-1030-5497-24B0BE335366}"/>
              </a:ext>
            </a:extLst>
          </p:cNvPr>
          <p:cNvSpPr txBox="1"/>
          <p:nvPr/>
        </p:nvSpPr>
        <p:spPr>
          <a:xfrm>
            <a:off x="4146454" y="4647882"/>
            <a:ext cx="7686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4000" dirty="0"/>
              <a:t>🦠</a:t>
            </a:r>
            <a:endParaRPr lang="zh-TW" altLang="en-US" sz="4000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3A7735AA-763F-3EB2-659B-099121E38274}"/>
              </a:ext>
            </a:extLst>
          </p:cNvPr>
          <p:cNvSpPr txBox="1"/>
          <p:nvPr/>
        </p:nvSpPr>
        <p:spPr>
          <a:xfrm>
            <a:off x="4841296" y="4611728"/>
            <a:ext cx="7686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4000" dirty="0"/>
              <a:t>🦠</a:t>
            </a:r>
            <a:endParaRPr lang="zh-TW" altLang="en-US" sz="4000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D0053DC2-ED95-3AC5-D3E6-7F068E7DA51D}"/>
              </a:ext>
            </a:extLst>
          </p:cNvPr>
          <p:cNvSpPr txBox="1"/>
          <p:nvPr/>
        </p:nvSpPr>
        <p:spPr>
          <a:xfrm>
            <a:off x="5902654" y="4210002"/>
            <a:ext cx="7686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4000" dirty="0"/>
              <a:t>🦠</a:t>
            </a:r>
            <a:endParaRPr lang="zh-TW" altLang="en-US" sz="4000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417520D2-892F-C3E4-64FE-8F751A3E2D68}"/>
              </a:ext>
            </a:extLst>
          </p:cNvPr>
          <p:cNvSpPr txBox="1"/>
          <p:nvPr/>
        </p:nvSpPr>
        <p:spPr>
          <a:xfrm>
            <a:off x="6791933" y="4575573"/>
            <a:ext cx="7686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4000" dirty="0"/>
              <a:t>🦠</a:t>
            </a:r>
            <a:endParaRPr lang="zh-TW" altLang="en-US" sz="4000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AAABF8E6-773C-219E-E4A8-99BD27D2772F}"/>
              </a:ext>
            </a:extLst>
          </p:cNvPr>
          <p:cNvSpPr txBox="1"/>
          <p:nvPr/>
        </p:nvSpPr>
        <p:spPr>
          <a:xfrm>
            <a:off x="5066885" y="4026953"/>
            <a:ext cx="638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3200" dirty="0"/>
              <a:t>💪</a:t>
            </a:r>
            <a:endParaRPr lang="zh-TW" altLang="en-US" sz="3200" dirty="0"/>
          </a:p>
        </p:txBody>
      </p: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CD2218BA-2162-701A-DCA0-7F0C17464BD8}"/>
              </a:ext>
            </a:extLst>
          </p:cNvPr>
          <p:cNvCxnSpPr/>
          <p:nvPr/>
        </p:nvCxnSpPr>
        <p:spPr>
          <a:xfrm>
            <a:off x="3168500" y="3590698"/>
            <a:ext cx="0" cy="191359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4EC8A6D9-47F8-ECBE-33A9-2298830C7C7D}"/>
              </a:ext>
            </a:extLst>
          </p:cNvPr>
          <p:cNvSpPr txBox="1"/>
          <p:nvPr/>
        </p:nvSpPr>
        <p:spPr>
          <a:xfrm>
            <a:off x="4366010" y="3054696"/>
            <a:ext cx="2305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COVID-19</a:t>
            </a:r>
            <a:endParaRPr kumimoji="1" lang="zh-TW" altLang="en-US" sz="2400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60E7F772-C708-7204-1970-046D10C15E64}"/>
              </a:ext>
            </a:extLst>
          </p:cNvPr>
          <p:cNvSpPr txBox="1"/>
          <p:nvPr/>
        </p:nvSpPr>
        <p:spPr>
          <a:xfrm>
            <a:off x="1457389" y="3054696"/>
            <a:ext cx="2305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healthy</a:t>
            </a:r>
            <a:endParaRPr kumimoji="1" lang="zh-TW" altLang="en-US" sz="2400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DCE8D799-626A-5B20-31DA-CA26C72A8ED6}"/>
              </a:ext>
            </a:extLst>
          </p:cNvPr>
          <p:cNvSpPr txBox="1"/>
          <p:nvPr/>
        </p:nvSpPr>
        <p:spPr>
          <a:xfrm>
            <a:off x="653143" y="1763778"/>
            <a:ext cx="59385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假設我們用模型對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10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個人做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COVID-19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檢測：</a:t>
            </a:r>
            <a:endParaRPr kumimoji="1"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(healthy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代表 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negative; COVID-19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代表 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positive)</a:t>
            </a:r>
            <a:endParaRPr kumimoji="1" lang="zh-TW" altLang="en-US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638C26AC-D0EE-F0C0-FFC4-2F71C1ECF5CB}"/>
              </a:ext>
            </a:extLst>
          </p:cNvPr>
          <p:cNvSpPr txBox="1"/>
          <p:nvPr/>
        </p:nvSpPr>
        <p:spPr>
          <a:xfrm>
            <a:off x="4124849" y="4224247"/>
            <a:ext cx="482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❌</a:t>
            </a:r>
            <a:endParaRPr kumimoji="1" lang="zh-TW" altLang="en-US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E5EBE50C-526E-FA95-756F-6CDCC2BCA8A1}"/>
              </a:ext>
            </a:extLst>
          </p:cNvPr>
          <p:cNvSpPr txBox="1"/>
          <p:nvPr/>
        </p:nvSpPr>
        <p:spPr>
          <a:xfrm>
            <a:off x="5321483" y="4088942"/>
            <a:ext cx="482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❌</a:t>
            </a:r>
            <a:endParaRPr kumimoji="1" lang="zh-TW" altLang="en-US" dirty="0"/>
          </a:p>
        </p:txBody>
      </p:sp>
      <p:cxnSp>
        <p:nvCxnSpPr>
          <p:cNvPr id="30" name="直線箭頭接點 29">
            <a:extLst>
              <a:ext uri="{FF2B5EF4-FFF2-40B4-BE49-F238E27FC236}">
                <a16:creationId xmlns:a16="http://schemas.microsoft.com/office/drawing/2014/main" id="{8E5EA958-3F1C-0917-BF7D-2E81D7B75525}"/>
              </a:ext>
            </a:extLst>
          </p:cNvPr>
          <p:cNvCxnSpPr>
            <a:cxnSpLocks/>
          </p:cNvCxnSpPr>
          <p:nvPr/>
        </p:nvCxnSpPr>
        <p:spPr>
          <a:xfrm flipV="1">
            <a:off x="8651631" y="1763778"/>
            <a:ext cx="0" cy="2263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箭頭接點 30">
            <a:extLst>
              <a:ext uri="{FF2B5EF4-FFF2-40B4-BE49-F238E27FC236}">
                <a16:creationId xmlns:a16="http://schemas.microsoft.com/office/drawing/2014/main" id="{EC6B178F-D391-0474-358E-0BBFE17B6A54}"/>
              </a:ext>
            </a:extLst>
          </p:cNvPr>
          <p:cNvCxnSpPr>
            <a:cxnSpLocks/>
          </p:cNvCxnSpPr>
          <p:nvPr/>
        </p:nvCxnSpPr>
        <p:spPr>
          <a:xfrm>
            <a:off x="8651631" y="4026952"/>
            <a:ext cx="263267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C45E6E63-B8A5-2C83-DA99-A1428F1E4C27}"/>
              </a:ext>
            </a:extLst>
          </p:cNvPr>
          <p:cNvSpPr txBox="1"/>
          <p:nvPr/>
        </p:nvSpPr>
        <p:spPr>
          <a:xfrm>
            <a:off x="8485832" y="4026952"/>
            <a:ext cx="3315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</a:t>
            </a:r>
            <a:endParaRPr kumimoji="1" lang="zh-TW" altLang="en-US" sz="1600" dirty="0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10CEE2EA-014F-0364-AAF6-CAABB3973FB1}"/>
              </a:ext>
            </a:extLst>
          </p:cNvPr>
          <p:cNvSpPr txBox="1"/>
          <p:nvPr/>
        </p:nvSpPr>
        <p:spPr>
          <a:xfrm>
            <a:off x="8856490" y="4025336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0.2</a:t>
            </a:r>
            <a:endParaRPr kumimoji="1" lang="zh-TW" altLang="en-US" sz="1600" dirty="0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085E87B6-2939-552F-53B4-A5A5B199C046}"/>
              </a:ext>
            </a:extLst>
          </p:cNvPr>
          <p:cNvSpPr txBox="1"/>
          <p:nvPr/>
        </p:nvSpPr>
        <p:spPr>
          <a:xfrm>
            <a:off x="9384899" y="4037720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0.4</a:t>
            </a:r>
            <a:endParaRPr kumimoji="1" lang="zh-TW" altLang="en-US" sz="1600" dirty="0"/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1650832D-4CA1-178A-A1B8-6EC98199C393}"/>
              </a:ext>
            </a:extLst>
          </p:cNvPr>
          <p:cNvSpPr txBox="1"/>
          <p:nvPr/>
        </p:nvSpPr>
        <p:spPr>
          <a:xfrm>
            <a:off x="9913308" y="4037720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0.6</a:t>
            </a:r>
            <a:endParaRPr kumimoji="1" lang="zh-TW" altLang="en-US" sz="1600" dirty="0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A8883A52-E28C-4629-18B4-7C2C00464172}"/>
              </a:ext>
            </a:extLst>
          </p:cNvPr>
          <p:cNvSpPr txBox="1"/>
          <p:nvPr/>
        </p:nvSpPr>
        <p:spPr>
          <a:xfrm>
            <a:off x="10441717" y="4037720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0.8</a:t>
            </a:r>
            <a:endParaRPr kumimoji="1" lang="zh-TW" altLang="en-US" sz="1600" dirty="0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723F40E5-BFE2-DA93-D0C3-D1FC67CA951C}"/>
              </a:ext>
            </a:extLst>
          </p:cNvPr>
          <p:cNvSpPr txBox="1"/>
          <p:nvPr/>
        </p:nvSpPr>
        <p:spPr>
          <a:xfrm>
            <a:off x="10970127" y="4037720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1.0</a:t>
            </a:r>
            <a:endParaRPr kumimoji="1" lang="zh-TW" altLang="en-US" sz="1600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25BE68EB-8DA7-2DE6-1F49-8330538075A6}"/>
              </a:ext>
            </a:extLst>
          </p:cNvPr>
          <p:cNvSpPr txBox="1"/>
          <p:nvPr/>
        </p:nvSpPr>
        <p:spPr>
          <a:xfrm>
            <a:off x="8135101" y="3399456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0.2</a:t>
            </a:r>
            <a:endParaRPr kumimoji="1" lang="zh-TW" altLang="en-US" sz="1600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8167BE84-69C7-BEEC-DAC3-1D3A3B1EB133}"/>
              </a:ext>
            </a:extLst>
          </p:cNvPr>
          <p:cNvSpPr txBox="1"/>
          <p:nvPr/>
        </p:nvSpPr>
        <p:spPr>
          <a:xfrm>
            <a:off x="8135101" y="1634592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1.0</a:t>
            </a:r>
            <a:endParaRPr kumimoji="1" lang="zh-TW" altLang="en-US" sz="1600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8E87A05B-3A5C-AFED-2048-72588296184C}"/>
              </a:ext>
            </a:extLst>
          </p:cNvPr>
          <p:cNvSpPr txBox="1"/>
          <p:nvPr/>
        </p:nvSpPr>
        <p:spPr>
          <a:xfrm>
            <a:off x="8135101" y="2075808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0.8</a:t>
            </a:r>
            <a:endParaRPr kumimoji="1" lang="zh-TW" altLang="en-US" sz="1600" dirty="0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1DD8D553-64F7-E94F-251A-275D5E51FA70}"/>
              </a:ext>
            </a:extLst>
          </p:cNvPr>
          <p:cNvSpPr txBox="1"/>
          <p:nvPr/>
        </p:nvSpPr>
        <p:spPr>
          <a:xfrm>
            <a:off x="8135101" y="2517024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0.6</a:t>
            </a:r>
            <a:endParaRPr kumimoji="1" lang="zh-TW" altLang="en-US" sz="1600" dirty="0"/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83CAFB72-69CD-C99D-E040-DAF094C88A43}"/>
              </a:ext>
            </a:extLst>
          </p:cNvPr>
          <p:cNvSpPr txBox="1"/>
          <p:nvPr/>
        </p:nvSpPr>
        <p:spPr>
          <a:xfrm>
            <a:off x="8135101" y="2958240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0.4</a:t>
            </a:r>
            <a:endParaRPr kumimoji="1" lang="zh-TW" altLang="en-US" sz="1600" dirty="0"/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8EDD02C9-3D09-F3CF-45F5-4CC5691EC518}"/>
              </a:ext>
            </a:extLst>
          </p:cNvPr>
          <p:cNvSpPr txBox="1"/>
          <p:nvPr/>
        </p:nvSpPr>
        <p:spPr>
          <a:xfrm>
            <a:off x="8253085" y="3840670"/>
            <a:ext cx="3315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</a:t>
            </a:r>
            <a:endParaRPr kumimoji="1" lang="zh-TW" altLang="en-US" sz="1600" dirty="0"/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792961F0-7385-EBFD-D544-0BC7D4547C19}"/>
              </a:ext>
            </a:extLst>
          </p:cNvPr>
          <p:cNvSpPr txBox="1"/>
          <p:nvPr/>
        </p:nvSpPr>
        <p:spPr>
          <a:xfrm>
            <a:off x="7372158" y="2682965"/>
            <a:ext cx="854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TPR</a:t>
            </a:r>
            <a:endParaRPr kumimoji="1" lang="zh-TW" altLang="en-US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2364A430-AA70-B91C-CB95-6DC0B42CB2A6}"/>
              </a:ext>
            </a:extLst>
          </p:cNvPr>
          <p:cNvSpPr txBox="1"/>
          <p:nvPr/>
        </p:nvSpPr>
        <p:spPr>
          <a:xfrm>
            <a:off x="9606600" y="4371893"/>
            <a:ext cx="854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FPR</a:t>
            </a:r>
            <a:endParaRPr kumimoji="1" lang="zh-TW" altLang="en-US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9" name="橢圓 48">
            <a:extLst>
              <a:ext uri="{FF2B5EF4-FFF2-40B4-BE49-F238E27FC236}">
                <a16:creationId xmlns:a16="http://schemas.microsoft.com/office/drawing/2014/main" id="{3A2AC899-EBAD-3726-2312-1F66C5B19581}"/>
              </a:ext>
            </a:extLst>
          </p:cNvPr>
          <p:cNvSpPr/>
          <p:nvPr/>
        </p:nvSpPr>
        <p:spPr>
          <a:xfrm>
            <a:off x="11134413" y="1777217"/>
            <a:ext cx="160774" cy="1607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634BDD10-D7A2-5A05-999A-2A8245DE9DFD}"/>
              </a:ext>
            </a:extLst>
          </p:cNvPr>
          <p:cNvSpPr txBox="1"/>
          <p:nvPr/>
        </p:nvSpPr>
        <p:spPr>
          <a:xfrm>
            <a:off x="3268801" y="4784358"/>
            <a:ext cx="482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❌</a:t>
            </a:r>
            <a:endParaRPr kumimoji="1" lang="zh-TW" altLang="en-US" dirty="0"/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D97F3419-EDE7-303C-4009-E73BFC205AE9}"/>
              </a:ext>
            </a:extLst>
          </p:cNvPr>
          <p:cNvSpPr/>
          <p:nvPr/>
        </p:nvSpPr>
        <p:spPr>
          <a:xfrm>
            <a:off x="10652006" y="1777217"/>
            <a:ext cx="160774" cy="1607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9" name="橢圓 28">
            <a:extLst>
              <a:ext uri="{FF2B5EF4-FFF2-40B4-BE49-F238E27FC236}">
                <a16:creationId xmlns:a16="http://schemas.microsoft.com/office/drawing/2014/main" id="{AF36541F-610D-D813-1532-C8021E5508B6}"/>
              </a:ext>
            </a:extLst>
          </p:cNvPr>
          <p:cNvSpPr/>
          <p:nvPr/>
        </p:nvSpPr>
        <p:spPr>
          <a:xfrm>
            <a:off x="10122548" y="1777217"/>
            <a:ext cx="160774" cy="1607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B2DF8369-3FD4-F19A-E6FE-3B3DC0E0902E}"/>
              </a:ext>
            </a:extLst>
          </p:cNvPr>
          <p:cNvSpPr/>
          <p:nvPr/>
        </p:nvSpPr>
        <p:spPr>
          <a:xfrm>
            <a:off x="10122548" y="2138072"/>
            <a:ext cx="160774" cy="1607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3E60225D-D13D-3945-C12C-A2B467898EA5}"/>
              </a:ext>
            </a:extLst>
          </p:cNvPr>
          <p:cNvSpPr txBox="1"/>
          <p:nvPr/>
        </p:nvSpPr>
        <p:spPr>
          <a:xfrm>
            <a:off x="2749986" y="4091436"/>
            <a:ext cx="482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❌</a:t>
            </a:r>
            <a:endParaRPr kumimoji="1" lang="zh-TW" altLang="en-US" dirty="0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8C8AC4F3-5716-7291-1C2D-E26714D9BC40}"/>
              </a:ext>
            </a:extLst>
          </p:cNvPr>
          <p:cNvSpPr txBox="1"/>
          <p:nvPr/>
        </p:nvSpPr>
        <p:spPr>
          <a:xfrm>
            <a:off x="1090248" y="5626391"/>
            <a:ext cx="3315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0</a:t>
            </a:r>
            <a:endParaRPr kumimoji="1" lang="zh-TW" altLang="en-US" sz="2000" b="1" dirty="0"/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5AAEDEBD-45DC-DB0C-AB73-1D4C74902C1D}"/>
              </a:ext>
            </a:extLst>
          </p:cNvPr>
          <p:cNvSpPr txBox="1"/>
          <p:nvPr/>
        </p:nvSpPr>
        <p:spPr>
          <a:xfrm>
            <a:off x="2006659" y="5626391"/>
            <a:ext cx="4973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20</a:t>
            </a:r>
            <a:endParaRPr kumimoji="1" lang="zh-TW" altLang="en-US" sz="2000" b="1" dirty="0"/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5FB7A68E-33E6-CD28-8726-32625A2CC86A}"/>
              </a:ext>
            </a:extLst>
          </p:cNvPr>
          <p:cNvSpPr txBox="1"/>
          <p:nvPr/>
        </p:nvSpPr>
        <p:spPr>
          <a:xfrm>
            <a:off x="6923316" y="5626391"/>
            <a:ext cx="693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100</a:t>
            </a:r>
            <a:endParaRPr kumimoji="1" lang="zh-TW" altLang="en-US" sz="2000" b="1" dirty="0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743BB526-5048-1F81-20F9-A79AEEEDF969}"/>
              </a:ext>
            </a:extLst>
          </p:cNvPr>
          <p:cNvSpPr txBox="1"/>
          <p:nvPr/>
        </p:nvSpPr>
        <p:spPr>
          <a:xfrm>
            <a:off x="5645168" y="5626391"/>
            <a:ext cx="693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80</a:t>
            </a:r>
            <a:endParaRPr kumimoji="1" lang="zh-TW" altLang="en-US" sz="2000" b="1" dirty="0"/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2E1E9165-D307-CBAB-3C38-EA6E5EF33F31}"/>
              </a:ext>
            </a:extLst>
          </p:cNvPr>
          <p:cNvSpPr txBox="1"/>
          <p:nvPr/>
        </p:nvSpPr>
        <p:spPr>
          <a:xfrm>
            <a:off x="4367018" y="5626391"/>
            <a:ext cx="693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60</a:t>
            </a:r>
            <a:endParaRPr kumimoji="1" lang="zh-TW" altLang="en-US" sz="2000" b="1" dirty="0"/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D6237A1D-9E11-8C59-AC85-DF83560EDD2B}"/>
              </a:ext>
            </a:extLst>
          </p:cNvPr>
          <p:cNvSpPr txBox="1"/>
          <p:nvPr/>
        </p:nvSpPr>
        <p:spPr>
          <a:xfrm>
            <a:off x="3088868" y="5626391"/>
            <a:ext cx="693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40</a:t>
            </a:r>
            <a:endParaRPr kumimoji="1" lang="zh-TW" altLang="en-US" sz="2000" b="1" dirty="0"/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449EF735-6653-6E5A-9726-1311C4CB7DE9}"/>
              </a:ext>
            </a:extLst>
          </p:cNvPr>
          <p:cNvSpPr txBox="1"/>
          <p:nvPr/>
        </p:nvSpPr>
        <p:spPr>
          <a:xfrm>
            <a:off x="7596555" y="5149338"/>
            <a:ext cx="20297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模型預測為疾病的機率值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(%)</a:t>
            </a:r>
            <a:endParaRPr kumimoji="1" lang="zh-TW" altLang="en-US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87C301A9-0957-017B-0520-5C43FAFFA482}"/>
              </a:ext>
            </a:extLst>
          </p:cNvPr>
          <p:cNvSpPr txBox="1"/>
          <p:nvPr/>
        </p:nvSpPr>
        <p:spPr>
          <a:xfrm>
            <a:off x="673463" y="2578514"/>
            <a:ext cx="259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TPR: 0.8, FPR: 0.6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840531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F8DB66-051D-855D-1FB2-C4865ECA7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ROC Curve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06BBC8B-70F9-766F-15D8-D7520DD56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4B26086-3E01-8777-AA87-8B63ABBE652F}"/>
              </a:ext>
            </a:extLst>
          </p:cNvPr>
          <p:cNvSpPr txBox="1"/>
          <p:nvPr/>
        </p:nvSpPr>
        <p:spPr>
          <a:xfrm>
            <a:off x="1601712" y="4210002"/>
            <a:ext cx="638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3200" dirty="0"/>
              <a:t>💪</a:t>
            </a:r>
            <a:endParaRPr lang="zh-TW" altLang="en-US" sz="32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A315583-DFCD-57D3-D043-24BCFD77A4D8}"/>
              </a:ext>
            </a:extLst>
          </p:cNvPr>
          <p:cNvSpPr txBox="1"/>
          <p:nvPr/>
        </p:nvSpPr>
        <p:spPr>
          <a:xfrm>
            <a:off x="2504053" y="4170324"/>
            <a:ext cx="7686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4000" dirty="0"/>
              <a:t>🦠</a:t>
            </a:r>
            <a:endParaRPr lang="zh-TW" altLang="en-US" sz="4000" dirty="0"/>
          </a:p>
        </p:txBody>
      </p:sp>
      <p:sp>
        <p:nvSpPr>
          <p:cNvPr id="7" name="向右箭號 6">
            <a:extLst>
              <a:ext uri="{FF2B5EF4-FFF2-40B4-BE49-F238E27FC236}">
                <a16:creationId xmlns:a16="http://schemas.microsoft.com/office/drawing/2014/main" id="{07927F23-568F-C13A-733D-5EBD0E6746E9}"/>
              </a:ext>
            </a:extLst>
          </p:cNvPr>
          <p:cNvSpPr/>
          <p:nvPr/>
        </p:nvSpPr>
        <p:spPr>
          <a:xfrm>
            <a:off x="1256046" y="5355768"/>
            <a:ext cx="6219929" cy="25120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A6D39C6-5268-9EB3-CEE0-F1077AC53925}"/>
              </a:ext>
            </a:extLst>
          </p:cNvPr>
          <p:cNvSpPr txBox="1"/>
          <p:nvPr/>
        </p:nvSpPr>
        <p:spPr>
          <a:xfrm>
            <a:off x="1971991" y="4698685"/>
            <a:ext cx="638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3200" dirty="0"/>
              <a:t>💪</a:t>
            </a:r>
            <a:endParaRPr lang="zh-TW" altLang="en-US" sz="3200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B59F7F7E-D61E-B824-0DFE-A4C99AF811E0}"/>
              </a:ext>
            </a:extLst>
          </p:cNvPr>
          <p:cNvSpPr txBox="1"/>
          <p:nvPr/>
        </p:nvSpPr>
        <p:spPr>
          <a:xfrm>
            <a:off x="3036113" y="4698684"/>
            <a:ext cx="638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3200" dirty="0"/>
              <a:t>💪</a:t>
            </a:r>
            <a:endParaRPr lang="zh-TW" altLang="en-US" sz="3200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0C2930B0-E43A-8824-2AA0-D2639CAF06AD}"/>
              </a:ext>
            </a:extLst>
          </p:cNvPr>
          <p:cNvSpPr txBox="1"/>
          <p:nvPr/>
        </p:nvSpPr>
        <p:spPr>
          <a:xfrm>
            <a:off x="3881933" y="4142083"/>
            <a:ext cx="638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3200" dirty="0"/>
              <a:t>💪</a:t>
            </a:r>
            <a:endParaRPr lang="zh-TW" altLang="en-US" sz="3200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7574090F-3790-1030-5497-24B0BE335366}"/>
              </a:ext>
            </a:extLst>
          </p:cNvPr>
          <p:cNvSpPr txBox="1"/>
          <p:nvPr/>
        </p:nvSpPr>
        <p:spPr>
          <a:xfrm>
            <a:off x="4146454" y="4647882"/>
            <a:ext cx="7686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4000" dirty="0"/>
              <a:t>🦠</a:t>
            </a:r>
            <a:endParaRPr lang="zh-TW" altLang="en-US" sz="4000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3A7735AA-763F-3EB2-659B-099121E38274}"/>
              </a:ext>
            </a:extLst>
          </p:cNvPr>
          <p:cNvSpPr txBox="1"/>
          <p:nvPr/>
        </p:nvSpPr>
        <p:spPr>
          <a:xfrm>
            <a:off x="4841296" y="4611728"/>
            <a:ext cx="7686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4000" dirty="0"/>
              <a:t>🦠</a:t>
            </a:r>
            <a:endParaRPr lang="zh-TW" altLang="en-US" sz="4000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D0053DC2-ED95-3AC5-D3E6-7F068E7DA51D}"/>
              </a:ext>
            </a:extLst>
          </p:cNvPr>
          <p:cNvSpPr txBox="1"/>
          <p:nvPr/>
        </p:nvSpPr>
        <p:spPr>
          <a:xfrm>
            <a:off x="5902654" y="4210002"/>
            <a:ext cx="7686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4000" dirty="0"/>
              <a:t>🦠</a:t>
            </a:r>
            <a:endParaRPr lang="zh-TW" altLang="en-US" sz="4000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417520D2-892F-C3E4-64FE-8F751A3E2D68}"/>
              </a:ext>
            </a:extLst>
          </p:cNvPr>
          <p:cNvSpPr txBox="1"/>
          <p:nvPr/>
        </p:nvSpPr>
        <p:spPr>
          <a:xfrm>
            <a:off x="6791933" y="4575573"/>
            <a:ext cx="7686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4000" dirty="0"/>
              <a:t>🦠</a:t>
            </a:r>
            <a:endParaRPr lang="zh-TW" altLang="en-US" sz="4000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AAABF8E6-773C-219E-E4A8-99BD27D2772F}"/>
              </a:ext>
            </a:extLst>
          </p:cNvPr>
          <p:cNvSpPr txBox="1"/>
          <p:nvPr/>
        </p:nvSpPr>
        <p:spPr>
          <a:xfrm>
            <a:off x="5066885" y="4026953"/>
            <a:ext cx="638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3200" dirty="0"/>
              <a:t>💪</a:t>
            </a:r>
            <a:endParaRPr lang="zh-TW" altLang="en-US" sz="3200" dirty="0"/>
          </a:p>
        </p:txBody>
      </p: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CD2218BA-2162-701A-DCA0-7F0C17464BD8}"/>
              </a:ext>
            </a:extLst>
          </p:cNvPr>
          <p:cNvCxnSpPr/>
          <p:nvPr/>
        </p:nvCxnSpPr>
        <p:spPr>
          <a:xfrm>
            <a:off x="3785472" y="3594271"/>
            <a:ext cx="0" cy="191359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4EC8A6D9-47F8-ECBE-33A9-2298830C7C7D}"/>
              </a:ext>
            </a:extLst>
          </p:cNvPr>
          <p:cNvSpPr txBox="1"/>
          <p:nvPr/>
        </p:nvSpPr>
        <p:spPr>
          <a:xfrm>
            <a:off x="4366010" y="3054696"/>
            <a:ext cx="2305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COVID-19</a:t>
            </a:r>
            <a:endParaRPr kumimoji="1" lang="zh-TW" altLang="en-US" sz="2400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60E7F772-C708-7204-1970-046D10C15E64}"/>
              </a:ext>
            </a:extLst>
          </p:cNvPr>
          <p:cNvSpPr txBox="1"/>
          <p:nvPr/>
        </p:nvSpPr>
        <p:spPr>
          <a:xfrm>
            <a:off x="1457389" y="3054696"/>
            <a:ext cx="2305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healthy</a:t>
            </a:r>
            <a:endParaRPr kumimoji="1" lang="zh-TW" altLang="en-US" sz="2400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DCE8D799-626A-5B20-31DA-CA26C72A8ED6}"/>
              </a:ext>
            </a:extLst>
          </p:cNvPr>
          <p:cNvSpPr txBox="1"/>
          <p:nvPr/>
        </p:nvSpPr>
        <p:spPr>
          <a:xfrm>
            <a:off x="653143" y="1763778"/>
            <a:ext cx="59385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假設我們用模型對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10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個人做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COVID-19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檢測：</a:t>
            </a:r>
            <a:endParaRPr kumimoji="1"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(healthy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代表 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negative; COVID-19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代表 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positive)</a:t>
            </a:r>
            <a:endParaRPr kumimoji="1" lang="zh-TW" altLang="en-US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638C26AC-D0EE-F0C0-FFC4-2F71C1ECF5CB}"/>
              </a:ext>
            </a:extLst>
          </p:cNvPr>
          <p:cNvSpPr txBox="1"/>
          <p:nvPr/>
        </p:nvSpPr>
        <p:spPr>
          <a:xfrm>
            <a:off x="4124849" y="4224247"/>
            <a:ext cx="482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❌</a:t>
            </a:r>
            <a:endParaRPr kumimoji="1" lang="zh-TW" altLang="en-US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E5EBE50C-526E-FA95-756F-6CDCC2BCA8A1}"/>
              </a:ext>
            </a:extLst>
          </p:cNvPr>
          <p:cNvSpPr txBox="1"/>
          <p:nvPr/>
        </p:nvSpPr>
        <p:spPr>
          <a:xfrm>
            <a:off x="5321483" y="4088942"/>
            <a:ext cx="482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❌</a:t>
            </a:r>
            <a:endParaRPr kumimoji="1" lang="zh-TW" altLang="en-US" dirty="0"/>
          </a:p>
        </p:txBody>
      </p:sp>
      <p:cxnSp>
        <p:nvCxnSpPr>
          <p:cNvPr id="30" name="直線箭頭接點 29">
            <a:extLst>
              <a:ext uri="{FF2B5EF4-FFF2-40B4-BE49-F238E27FC236}">
                <a16:creationId xmlns:a16="http://schemas.microsoft.com/office/drawing/2014/main" id="{8E5EA958-3F1C-0917-BF7D-2E81D7B75525}"/>
              </a:ext>
            </a:extLst>
          </p:cNvPr>
          <p:cNvCxnSpPr>
            <a:cxnSpLocks/>
          </p:cNvCxnSpPr>
          <p:nvPr/>
        </p:nvCxnSpPr>
        <p:spPr>
          <a:xfrm flipV="1">
            <a:off x="8651631" y="1763778"/>
            <a:ext cx="0" cy="2263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箭頭接點 30">
            <a:extLst>
              <a:ext uri="{FF2B5EF4-FFF2-40B4-BE49-F238E27FC236}">
                <a16:creationId xmlns:a16="http://schemas.microsoft.com/office/drawing/2014/main" id="{EC6B178F-D391-0474-358E-0BBFE17B6A54}"/>
              </a:ext>
            </a:extLst>
          </p:cNvPr>
          <p:cNvCxnSpPr>
            <a:cxnSpLocks/>
          </p:cNvCxnSpPr>
          <p:nvPr/>
        </p:nvCxnSpPr>
        <p:spPr>
          <a:xfrm>
            <a:off x="8651631" y="4026952"/>
            <a:ext cx="263267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C45E6E63-B8A5-2C83-DA99-A1428F1E4C27}"/>
              </a:ext>
            </a:extLst>
          </p:cNvPr>
          <p:cNvSpPr txBox="1"/>
          <p:nvPr/>
        </p:nvSpPr>
        <p:spPr>
          <a:xfrm>
            <a:off x="8485832" y="4026952"/>
            <a:ext cx="3315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</a:t>
            </a:r>
            <a:endParaRPr kumimoji="1" lang="zh-TW" altLang="en-US" sz="1600" dirty="0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10CEE2EA-014F-0364-AAF6-CAABB3973FB1}"/>
              </a:ext>
            </a:extLst>
          </p:cNvPr>
          <p:cNvSpPr txBox="1"/>
          <p:nvPr/>
        </p:nvSpPr>
        <p:spPr>
          <a:xfrm>
            <a:off x="8856490" y="4025336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0.2</a:t>
            </a:r>
            <a:endParaRPr kumimoji="1" lang="zh-TW" altLang="en-US" sz="1600" dirty="0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085E87B6-2939-552F-53B4-A5A5B199C046}"/>
              </a:ext>
            </a:extLst>
          </p:cNvPr>
          <p:cNvSpPr txBox="1"/>
          <p:nvPr/>
        </p:nvSpPr>
        <p:spPr>
          <a:xfrm>
            <a:off x="9384899" y="4037720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0.4</a:t>
            </a:r>
            <a:endParaRPr kumimoji="1" lang="zh-TW" altLang="en-US" sz="1600" dirty="0"/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1650832D-4CA1-178A-A1B8-6EC98199C393}"/>
              </a:ext>
            </a:extLst>
          </p:cNvPr>
          <p:cNvSpPr txBox="1"/>
          <p:nvPr/>
        </p:nvSpPr>
        <p:spPr>
          <a:xfrm>
            <a:off x="9913308" y="4037720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0.6</a:t>
            </a:r>
            <a:endParaRPr kumimoji="1" lang="zh-TW" altLang="en-US" sz="1600" dirty="0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A8883A52-E28C-4629-18B4-7C2C00464172}"/>
              </a:ext>
            </a:extLst>
          </p:cNvPr>
          <p:cNvSpPr txBox="1"/>
          <p:nvPr/>
        </p:nvSpPr>
        <p:spPr>
          <a:xfrm>
            <a:off x="10441717" y="4037720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0.8</a:t>
            </a:r>
            <a:endParaRPr kumimoji="1" lang="zh-TW" altLang="en-US" sz="1600" dirty="0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723F40E5-BFE2-DA93-D0C3-D1FC67CA951C}"/>
              </a:ext>
            </a:extLst>
          </p:cNvPr>
          <p:cNvSpPr txBox="1"/>
          <p:nvPr/>
        </p:nvSpPr>
        <p:spPr>
          <a:xfrm>
            <a:off x="10970127" y="4037720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1.0</a:t>
            </a:r>
            <a:endParaRPr kumimoji="1" lang="zh-TW" altLang="en-US" sz="1600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25BE68EB-8DA7-2DE6-1F49-8330538075A6}"/>
              </a:ext>
            </a:extLst>
          </p:cNvPr>
          <p:cNvSpPr txBox="1"/>
          <p:nvPr/>
        </p:nvSpPr>
        <p:spPr>
          <a:xfrm>
            <a:off x="8135101" y="3399456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0.2</a:t>
            </a:r>
            <a:endParaRPr kumimoji="1" lang="zh-TW" altLang="en-US" sz="1600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8167BE84-69C7-BEEC-DAC3-1D3A3B1EB133}"/>
              </a:ext>
            </a:extLst>
          </p:cNvPr>
          <p:cNvSpPr txBox="1"/>
          <p:nvPr/>
        </p:nvSpPr>
        <p:spPr>
          <a:xfrm>
            <a:off x="8135101" y="1634592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1.0</a:t>
            </a:r>
            <a:endParaRPr kumimoji="1" lang="zh-TW" altLang="en-US" sz="1600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8E87A05B-3A5C-AFED-2048-72588296184C}"/>
              </a:ext>
            </a:extLst>
          </p:cNvPr>
          <p:cNvSpPr txBox="1"/>
          <p:nvPr/>
        </p:nvSpPr>
        <p:spPr>
          <a:xfrm>
            <a:off x="8135101" y="2075808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0.8</a:t>
            </a:r>
            <a:endParaRPr kumimoji="1" lang="zh-TW" altLang="en-US" sz="1600" dirty="0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1DD8D553-64F7-E94F-251A-275D5E51FA70}"/>
              </a:ext>
            </a:extLst>
          </p:cNvPr>
          <p:cNvSpPr txBox="1"/>
          <p:nvPr/>
        </p:nvSpPr>
        <p:spPr>
          <a:xfrm>
            <a:off x="8135101" y="2517024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0.6</a:t>
            </a:r>
            <a:endParaRPr kumimoji="1" lang="zh-TW" altLang="en-US" sz="1600" dirty="0"/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83CAFB72-69CD-C99D-E040-DAF094C88A43}"/>
              </a:ext>
            </a:extLst>
          </p:cNvPr>
          <p:cNvSpPr txBox="1"/>
          <p:nvPr/>
        </p:nvSpPr>
        <p:spPr>
          <a:xfrm>
            <a:off x="8135101" y="2958240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0.4</a:t>
            </a:r>
            <a:endParaRPr kumimoji="1" lang="zh-TW" altLang="en-US" sz="1600" dirty="0"/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8EDD02C9-3D09-F3CF-45F5-4CC5691EC518}"/>
              </a:ext>
            </a:extLst>
          </p:cNvPr>
          <p:cNvSpPr txBox="1"/>
          <p:nvPr/>
        </p:nvSpPr>
        <p:spPr>
          <a:xfrm>
            <a:off x="8253085" y="3840670"/>
            <a:ext cx="3315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</a:t>
            </a:r>
            <a:endParaRPr kumimoji="1" lang="zh-TW" altLang="en-US" sz="1600" dirty="0"/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792961F0-7385-EBFD-D544-0BC7D4547C19}"/>
              </a:ext>
            </a:extLst>
          </p:cNvPr>
          <p:cNvSpPr txBox="1"/>
          <p:nvPr/>
        </p:nvSpPr>
        <p:spPr>
          <a:xfrm>
            <a:off x="7372158" y="2682965"/>
            <a:ext cx="854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TPR</a:t>
            </a:r>
            <a:endParaRPr kumimoji="1" lang="zh-TW" altLang="en-US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2364A430-AA70-B91C-CB95-6DC0B42CB2A6}"/>
              </a:ext>
            </a:extLst>
          </p:cNvPr>
          <p:cNvSpPr txBox="1"/>
          <p:nvPr/>
        </p:nvSpPr>
        <p:spPr>
          <a:xfrm>
            <a:off x="9606600" y="4371893"/>
            <a:ext cx="854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FPR</a:t>
            </a:r>
            <a:endParaRPr kumimoji="1" lang="zh-TW" altLang="en-US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9" name="橢圓 48">
            <a:extLst>
              <a:ext uri="{FF2B5EF4-FFF2-40B4-BE49-F238E27FC236}">
                <a16:creationId xmlns:a16="http://schemas.microsoft.com/office/drawing/2014/main" id="{3A2AC899-EBAD-3726-2312-1F66C5B19581}"/>
              </a:ext>
            </a:extLst>
          </p:cNvPr>
          <p:cNvSpPr/>
          <p:nvPr/>
        </p:nvSpPr>
        <p:spPr>
          <a:xfrm>
            <a:off x="11134413" y="1777217"/>
            <a:ext cx="160774" cy="1607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D97F3419-EDE7-303C-4009-E73BFC205AE9}"/>
              </a:ext>
            </a:extLst>
          </p:cNvPr>
          <p:cNvSpPr/>
          <p:nvPr/>
        </p:nvSpPr>
        <p:spPr>
          <a:xfrm>
            <a:off x="10652006" y="1777217"/>
            <a:ext cx="160774" cy="1607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9" name="橢圓 28">
            <a:extLst>
              <a:ext uri="{FF2B5EF4-FFF2-40B4-BE49-F238E27FC236}">
                <a16:creationId xmlns:a16="http://schemas.microsoft.com/office/drawing/2014/main" id="{AF36541F-610D-D813-1532-C8021E5508B6}"/>
              </a:ext>
            </a:extLst>
          </p:cNvPr>
          <p:cNvSpPr/>
          <p:nvPr/>
        </p:nvSpPr>
        <p:spPr>
          <a:xfrm>
            <a:off x="10122548" y="1777217"/>
            <a:ext cx="160774" cy="1607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B2DF8369-3FD4-F19A-E6FE-3B3DC0E0902E}"/>
              </a:ext>
            </a:extLst>
          </p:cNvPr>
          <p:cNvSpPr/>
          <p:nvPr/>
        </p:nvSpPr>
        <p:spPr>
          <a:xfrm>
            <a:off x="10122548" y="2138072"/>
            <a:ext cx="160774" cy="1607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4" name="橢圓 33">
            <a:extLst>
              <a:ext uri="{FF2B5EF4-FFF2-40B4-BE49-F238E27FC236}">
                <a16:creationId xmlns:a16="http://schemas.microsoft.com/office/drawing/2014/main" id="{6C028913-9EAD-D606-14C0-CF742DEBD56F}"/>
              </a:ext>
            </a:extLst>
          </p:cNvPr>
          <p:cNvSpPr/>
          <p:nvPr/>
        </p:nvSpPr>
        <p:spPr>
          <a:xfrm>
            <a:off x="9545935" y="2138072"/>
            <a:ext cx="160774" cy="1607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E821920F-F9E4-702C-4CC7-FBC075A1265D}"/>
              </a:ext>
            </a:extLst>
          </p:cNvPr>
          <p:cNvSpPr txBox="1"/>
          <p:nvPr/>
        </p:nvSpPr>
        <p:spPr>
          <a:xfrm>
            <a:off x="2749986" y="4091436"/>
            <a:ext cx="482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❌</a:t>
            </a:r>
            <a:endParaRPr kumimoji="1" lang="zh-TW" altLang="en-US" dirty="0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CC0522B3-20AF-7E3B-DC50-89CCBA2B7C18}"/>
              </a:ext>
            </a:extLst>
          </p:cNvPr>
          <p:cNvSpPr txBox="1"/>
          <p:nvPr/>
        </p:nvSpPr>
        <p:spPr>
          <a:xfrm>
            <a:off x="1090248" y="5626391"/>
            <a:ext cx="3315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0</a:t>
            </a:r>
            <a:endParaRPr kumimoji="1" lang="zh-TW" altLang="en-US" sz="2000" b="1" dirty="0"/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2602908B-3C91-AB1C-420C-93B9CC48784C}"/>
              </a:ext>
            </a:extLst>
          </p:cNvPr>
          <p:cNvSpPr txBox="1"/>
          <p:nvPr/>
        </p:nvSpPr>
        <p:spPr>
          <a:xfrm>
            <a:off x="2006659" y="5626391"/>
            <a:ext cx="4973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20</a:t>
            </a:r>
            <a:endParaRPr kumimoji="1" lang="zh-TW" altLang="en-US" sz="2000" b="1" dirty="0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0BF70D0B-2FD4-809C-7914-F34B5E14A719}"/>
              </a:ext>
            </a:extLst>
          </p:cNvPr>
          <p:cNvSpPr txBox="1"/>
          <p:nvPr/>
        </p:nvSpPr>
        <p:spPr>
          <a:xfrm>
            <a:off x="6923316" y="5626391"/>
            <a:ext cx="693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100</a:t>
            </a:r>
            <a:endParaRPr kumimoji="1" lang="zh-TW" altLang="en-US" sz="2000" b="1" dirty="0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8C5656C5-56AB-ACC3-B550-D8262288C72E}"/>
              </a:ext>
            </a:extLst>
          </p:cNvPr>
          <p:cNvSpPr txBox="1"/>
          <p:nvPr/>
        </p:nvSpPr>
        <p:spPr>
          <a:xfrm>
            <a:off x="5645168" y="5626391"/>
            <a:ext cx="693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80</a:t>
            </a:r>
            <a:endParaRPr kumimoji="1" lang="zh-TW" altLang="en-US" sz="2000" b="1" dirty="0"/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40714DD8-47B4-675B-F0B7-151229BCC3D5}"/>
              </a:ext>
            </a:extLst>
          </p:cNvPr>
          <p:cNvSpPr txBox="1"/>
          <p:nvPr/>
        </p:nvSpPr>
        <p:spPr>
          <a:xfrm>
            <a:off x="4367018" y="5626391"/>
            <a:ext cx="693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60</a:t>
            </a:r>
            <a:endParaRPr kumimoji="1" lang="zh-TW" altLang="en-US" sz="2000" b="1" dirty="0"/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FDCCDACD-2E40-FCAB-F0F4-32AF16E70DBB}"/>
              </a:ext>
            </a:extLst>
          </p:cNvPr>
          <p:cNvSpPr txBox="1"/>
          <p:nvPr/>
        </p:nvSpPr>
        <p:spPr>
          <a:xfrm>
            <a:off x="3088868" y="5626391"/>
            <a:ext cx="693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40</a:t>
            </a:r>
            <a:endParaRPr kumimoji="1" lang="zh-TW" altLang="en-US" sz="2000" b="1" dirty="0"/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321192BB-1C5A-2078-A25F-DCD72F5D8654}"/>
              </a:ext>
            </a:extLst>
          </p:cNvPr>
          <p:cNvSpPr txBox="1"/>
          <p:nvPr/>
        </p:nvSpPr>
        <p:spPr>
          <a:xfrm>
            <a:off x="7596555" y="5149338"/>
            <a:ext cx="20297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模型預測為疾病的機率值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(%)</a:t>
            </a:r>
            <a:endParaRPr kumimoji="1" lang="zh-TW" altLang="en-US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E9485060-9BE4-7A5B-6F6B-C4A435011E9A}"/>
              </a:ext>
            </a:extLst>
          </p:cNvPr>
          <p:cNvSpPr txBox="1"/>
          <p:nvPr/>
        </p:nvSpPr>
        <p:spPr>
          <a:xfrm>
            <a:off x="673463" y="2578514"/>
            <a:ext cx="259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TPR: 0.8, FPR: 0.4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141923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F8DB66-051D-855D-1FB2-C4865ECA7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ROC Curve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06BBC8B-70F9-766F-15D8-D7520DD56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4B26086-3E01-8777-AA87-8B63ABBE652F}"/>
              </a:ext>
            </a:extLst>
          </p:cNvPr>
          <p:cNvSpPr txBox="1"/>
          <p:nvPr/>
        </p:nvSpPr>
        <p:spPr>
          <a:xfrm>
            <a:off x="1601712" y="4210002"/>
            <a:ext cx="638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3200" dirty="0"/>
              <a:t>💪</a:t>
            </a:r>
            <a:endParaRPr lang="zh-TW" altLang="en-US" sz="32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A315583-DFCD-57D3-D043-24BCFD77A4D8}"/>
              </a:ext>
            </a:extLst>
          </p:cNvPr>
          <p:cNvSpPr txBox="1"/>
          <p:nvPr/>
        </p:nvSpPr>
        <p:spPr>
          <a:xfrm>
            <a:off x="2504053" y="4170324"/>
            <a:ext cx="7686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4000" dirty="0"/>
              <a:t>🦠</a:t>
            </a:r>
            <a:endParaRPr lang="zh-TW" altLang="en-US" sz="4000" dirty="0"/>
          </a:p>
        </p:txBody>
      </p:sp>
      <p:sp>
        <p:nvSpPr>
          <p:cNvPr id="7" name="向右箭號 6">
            <a:extLst>
              <a:ext uri="{FF2B5EF4-FFF2-40B4-BE49-F238E27FC236}">
                <a16:creationId xmlns:a16="http://schemas.microsoft.com/office/drawing/2014/main" id="{07927F23-568F-C13A-733D-5EBD0E6746E9}"/>
              </a:ext>
            </a:extLst>
          </p:cNvPr>
          <p:cNvSpPr/>
          <p:nvPr/>
        </p:nvSpPr>
        <p:spPr>
          <a:xfrm>
            <a:off x="1256046" y="5355768"/>
            <a:ext cx="6219929" cy="25120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A6D39C6-5268-9EB3-CEE0-F1077AC53925}"/>
              </a:ext>
            </a:extLst>
          </p:cNvPr>
          <p:cNvSpPr txBox="1"/>
          <p:nvPr/>
        </p:nvSpPr>
        <p:spPr>
          <a:xfrm>
            <a:off x="1971991" y="4698685"/>
            <a:ext cx="638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3200" dirty="0"/>
              <a:t>💪</a:t>
            </a:r>
            <a:endParaRPr lang="zh-TW" altLang="en-US" sz="3200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B59F7F7E-D61E-B824-0DFE-A4C99AF811E0}"/>
              </a:ext>
            </a:extLst>
          </p:cNvPr>
          <p:cNvSpPr txBox="1"/>
          <p:nvPr/>
        </p:nvSpPr>
        <p:spPr>
          <a:xfrm>
            <a:off x="3036113" y="4698684"/>
            <a:ext cx="638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3200" dirty="0"/>
              <a:t>💪</a:t>
            </a:r>
            <a:endParaRPr lang="zh-TW" altLang="en-US" sz="3200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0C2930B0-E43A-8824-2AA0-D2639CAF06AD}"/>
              </a:ext>
            </a:extLst>
          </p:cNvPr>
          <p:cNvSpPr txBox="1"/>
          <p:nvPr/>
        </p:nvSpPr>
        <p:spPr>
          <a:xfrm>
            <a:off x="3881933" y="4142083"/>
            <a:ext cx="638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3200" dirty="0"/>
              <a:t>💪</a:t>
            </a:r>
            <a:endParaRPr lang="zh-TW" altLang="en-US" sz="3200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7574090F-3790-1030-5497-24B0BE335366}"/>
              </a:ext>
            </a:extLst>
          </p:cNvPr>
          <p:cNvSpPr txBox="1"/>
          <p:nvPr/>
        </p:nvSpPr>
        <p:spPr>
          <a:xfrm>
            <a:off x="4146454" y="4647882"/>
            <a:ext cx="7686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4000" dirty="0"/>
              <a:t>🦠</a:t>
            </a:r>
            <a:endParaRPr lang="zh-TW" altLang="en-US" sz="4000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3A7735AA-763F-3EB2-659B-099121E38274}"/>
              </a:ext>
            </a:extLst>
          </p:cNvPr>
          <p:cNvSpPr txBox="1"/>
          <p:nvPr/>
        </p:nvSpPr>
        <p:spPr>
          <a:xfrm>
            <a:off x="4841296" y="4611728"/>
            <a:ext cx="7686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4000" dirty="0"/>
              <a:t>🦠</a:t>
            </a:r>
            <a:endParaRPr lang="zh-TW" altLang="en-US" sz="4000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D0053DC2-ED95-3AC5-D3E6-7F068E7DA51D}"/>
              </a:ext>
            </a:extLst>
          </p:cNvPr>
          <p:cNvSpPr txBox="1"/>
          <p:nvPr/>
        </p:nvSpPr>
        <p:spPr>
          <a:xfrm>
            <a:off x="5902654" y="4210002"/>
            <a:ext cx="7686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4000" dirty="0"/>
              <a:t>🦠</a:t>
            </a:r>
            <a:endParaRPr lang="zh-TW" altLang="en-US" sz="4000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417520D2-892F-C3E4-64FE-8F751A3E2D68}"/>
              </a:ext>
            </a:extLst>
          </p:cNvPr>
          <p:cNvSpPr txBox="1"/>
          <p:nvPr/>
        </p:nvSpPr>
        <p:spPr>
          <a:xfrm>
            <a:off x="6791933" y="4575573"/>
            <a:ext cx="7686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4000" dirty="0"/>
              <a:t>🦠</a:t>
            </a:r>
            <a:endParaRPr lang="zh-TW" altLang="en-US" sz="4000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AAABF8E6-773C-219E-E4A8-99BD27D2772F}"/>
              </a:ext>
            </a:extLst>
          </p:cNvPr>
          <p:cNvSpPr txBox="1"/>
          <p:nvPr/>
        </p:nvSpPr>
        <p:spPr>
          <a:xfrm>
            <a:off x="5066885" y="4026953"/>
            <a:ext cx="638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3200" dirty="0"/>
              <a:t>💪</a:t>
            </a:r>
            <a:endParaRPr lang="zh-TW" altLang="en-US" sz="3200" dirty="0"/>
          </a:p>
        </p:txBody>
      </p: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CD2218BA-2162-701A-DCA0-7F0C17464BD8}"/>
              </a:ext>
            </a:extLst>
          </p:cNvPr>
          <p:cNvCxnSpPr/>
          <p:nvPr/>
        </p:nvCxnSpPr>
        <p:spPr>
          <a:xfrm>
            <a:off x="4363253" y="3618778"/>
            <a:ext cx="0" cy="191359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4EC8A6D9-47F8-ECBE-33A9-2298830C7C7D}"/>
              </a:ext>
            </a:extLst>
          </p:cNvPr>
          <p:cNvSpPr txBox="1"/>
          <p:nvPr/>
        </p:nvSpPr>
        <p:spPr>
          <a:xfrm>
            <a:off x="4366010" y="3054696"/>
            <a:ext cx="2305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COVID-19</a:t>
            </a:r>
            <a:endParaRPr kumimoji="1" lang="zh-TW" altLang="en-US" sz="2400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60E7F772-C708-7204-1970-046D10C15E64}"/>
              </a:ext>
            </a:extLst>
          </p:cNvPr>
          <p:cNvSpPr txBox="1"/>
          <p:nvPr/>
        </p:nvSpPr>
        <p:spPr>
          <a:xfrm>
            <a:off x="1457389" y="3054696"/>
            <a:ext cx="2305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healthy</a:t>
            </a:r>
            <a:endParaRPr kumimoji="1" lang="zh-TW" altLang="en-US" sz="2400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DCE8D799-626A-5B20-31DA-CA26C72A8ED6}"/>
              </a:ext>
            </a:extLst>
          </p:cNvPr>
          <p:cNvSpPr txBox="1"/>
          <p:nvPr/>
        </p:nvSpPr>
        <p:spPr>
          <a:xfrm>
            <a:off x="653143" y="1763778"/>
            <a:ext cx="59385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假設我們用模型對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10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個人做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COVID-19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檢測：</a:t>
            </a:r>
            <a:endParaRPr kumimoji="1"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(healthy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代表 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negative; COVID-19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代表 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positive)</a:t>
            </a:r>
            <a:endParaRPr kumimoji="1" lang="zh-TW" altLang="en-US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E5EBE50C-526E-FA95-756F-6CDCC2BCA8A1}"/>
              </a:ext>
            </a:extLst>
          </p:cNvPr>
          <p:cNvSpPr txBox="1"/>
          <p:nvPr/>
        </p:nvSpPr>
        <p:spPr>
          <a:xfrm>
            <a:off x="5321483" y="4088942"/>
            <a:ext cx="482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❌</a:t>
            </a:r>
            <a:endParaRPr kumimoji="1" lang="zh-TW" altLang="en-US" dirty="0"/>
          </a:p>
        </p:txBody>
      </p:sp>
      <p:cxnSp>
        <p:nvCxnSpPr>
          <p:cNvPr id="30" name="直線箭頭接點 29">
            <a:extLst>
              <a:ext uri="{FF2B5EF4-FFF2-40B4-BE49-F238E27FC236}">
                <a16:creationId xmlns:a16="http://schemas.microsoft.com/office/drawing/2014/main" id="{8E5EA958-3F1C-0917-BF7D-2E81D7B75525}"/>
              </a:ext>
            </a:extLst>
          </p:cNvPr>
          <p:cNvCxnSpPr>
            <a:cxnSpLocks/>
          </p:cNvCxnSpPr>
          <p:nvPr/>
        </p:nvCxnSpPr>
        <p:spPr>
          <a:xfrm flipV="1">
            <a:off x="8651631" y="1763778"/>
            <a:ext cx="0" cy="2263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箭頭接點 30">
            <a:extLst>
              <a:ext uri="{FF2B5EF4-FFF2-40B4-BE49-F238E27FC236}">
                <a16:creationId xmlns:a16="http://schemas.microsoft.com/office/drawing/2014/main" id="{EC6B178F-D391-0474-358E-0BBFE17B6A54}"/>
              </a:ext>
            </a:extLst>
          </p:cNvPr>
          <p:cNvCxnSpPr>
            <a:cxnSpLocks/>
          </p:cNvCxnSpPr>
          <p:nvPr/>
        </p:nvCxnSpPr>
        <p:spPr>
          <a:xfrm>
            <a:off x="8651631" y="4026952"/>
            <a:ext cx="263267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C45E6E63-B8A5-2C83-DA99-A1428F1E4C27}"/>
              </a:ext>
            </a:extLst>
          </p:cNvPr>
          <p:cNvSpPr txBox="1"/>
          <p:nvPr/>
        </p:nvSpPr>
        <p:spPr>
          <a:xfrm>
            <a:off x="8485832" y="4026952"/>
            <a:ext cx="3315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</a:t>
            </a:r>
            <a:endParaRPr kumimoji="1" lang="zh-TW" altLang="en-US" sz="1600" dirty="0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10CEE2EA-014F-0364-AAF6-CAABB3973FB1}"/>
              </a:ext>
            </a:extLst>
          </p:cNvPr>
          <p:cNvSpPr txBox="1"/>
          <p:nvPr/>
        </p:nvSpPr>
        <p:spPr>
          <a:xfrm>
            <a:off x="8856490" y="4025336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0.2</a:t>
            </a:r>
            <a:endParaRPr kumimoji="1" lang="zh-TW" altLang="en-US" sz="1600" dirty="0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085E87B6-2939-552F-53B4-A5A5B199C046}"/>
              </a:ext>
            </a:extLst>
          </p:cNvPr>
          <p:cNvSpPr txBox="1"/>
          <p:nvPr/>
        </p:nvSpPr>
        <p:spPr>
          <a:xfrm>
            <a:off x="9384899" y="4037720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0.4</a:t>
            </a:r>
            <a:endParaRPr kumimoji="1" lang="zh-TW" altLang="en-US" sz="1600" dirty="0"/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1650832D-4CA1-178A-A1B8-6EC98199C393}"/>
              </a:ext>
            </a:extLst>
          </p:cNvPr>
          <p:cNvSpPr txBox="1"/>
          <p:nvPr/>
        </p:nvSpPr>
        <p:spPr>
          <a:xfrm>
            <a:off x="9913308" y="4037720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0.6</a:t>
            </a:r>
            <a:endParaRPr kumimoji="1" lang="zh-TW" altLang="en-US" sz="1600" dirty="0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A8883A52-E28C-4629-18B4-7C2C00464172}"/>
              </a:ext>
            </a:extLst>
          </p:cNvPr>
          <p:cNvSpPr txBox="1"/>
          <p:nvPr/>
        </p:nvSpPr>
        <p:spPr>
          <a:xfrm>
            <a:off x="10441717" y="4037720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0.8</a:t>
            </a:r>
            <a:endParaRPr kumimoji="1" lang="zh-TW" altLang="en-US" sz="1600" dirty="0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723F40E5-BFE2-DA93-D0C3-D1FC67CA951C}"/>
              </a:ext>
            </a:extLst>
          </p:cNvPr>
          <p:cNvSpPr txBox="1"/>
          <p:nvPr/>
        </p:nvSpPr>
        <p:spPr>
          <a:xfrm>
            <a:off x="10970127" y="4037720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1.0</a:t>
            </a:r>
            <a:endParaRPr kumimoji="1" lang="zh-TW" altLang="en-US" sz="1600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25BE68EB-8DA7-2DE6-1F49-8330538075A6}"/>
              </a:ext>
            </a:extLst>
          </p:cNvPr>
          <p:cNvSpPr txBox="1"/>
          <p:nvPr/>
        </p:nvSpPr>
        <p:spPr>
          <a:xfrm>
            <a:off x="8135101" y="3399456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0.2</a:t>
            </a:r>
            <a:endParaRPr kumimoji="1" lang="zh-TW" altLang="en-US" sz="1600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8167BE84-69C7-BEEC-DAC3-1D3A3B1EB133}"/>
              </a:ext>
            </a:extLst>
          </p:cNvPr>
          <p:cNvSpPr txBox="1"/>
          <p:nvPr/>
        </p:nvSpPr>
        <p:spPr>
          <a:xfrm>
            <a:off x="8135101" y="1634592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1.0</a:t>
            </a:r>
            <a:endParaRPr kumimoji="1" lang="zh-TW" altLang="en-US" sz="1600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8E87A05B-3A5C-AFED-2048-72588296184C}"/>
              </a:ext>
            </a:extLst>
          </p:cNvPr>
          <p:cNvSpPr txBox="1"/>
          <p:nvPr/>
        </p:nvSpPr>
        <p:spPr>
          <a:xfrm>
            <a:off x="8135101" y="2075808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0.8</a:t>
            </a:r>
            <a:endParaRPr kumimoji="1" lang="zh-TW" altLang="en-US" sz="1600" dirty="0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1DD8D553-64F7-E94F-251A-275D5E51FA70}"/>
              </a:ext>
            </a:extLst>
          </p:cNvPr>
          <p:cNvSpPr txBox="1"/>
          <p:nvPr/>
        </p:nvSpPr>
        <p:spPr>
          <a:xfrm>
            <a:off x="8135101" y="2517024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0.6</a:t>
            </a:r>
            <a:endParaRPr kumimoji="1" lang="zh-TW" altLang="en-US" sz="1600" dirty="0"/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83CAFB72-69CD-C99D-E040-DAF094C88A43}"/>
              </a:ext>
            </a:extLst>
          </p:cNvPr>
          <p:cNvSpPr txBox="1"/>
          <p:nvPr/>
        </p:nvSpPr>
        <p:spPr>
          <a:xfrm>
            <a:off x="8135101" y="2958240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0.4</a:t>
            </a:r>
            <a:endParaRPr kumimoji="1" lang="zh-TW" altLang="en-US" sz="1600" dirty="0"/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8EDD02C9-3D09-F3CF-45F5-4CC5691EC518}"/>
              </a:ext>
            </a:extLst>
          </p:cNvPr>
          <p:cNvSpPr txBox="1"/>
          <p:nvPr/>
        </p:nvSpPr>
        <p:spPr>
          <a:xfrm>
            <a:off x="8253085" y="3840670"/>
            <a:ext cx="3315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</a:t>
            </a:r>
            <a:endParaRPr kumimoji="1" lang="zh-TW" altLang="en-US" sz="1600" dirty="0"/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792961F0-7385-EBFD-D544-0BC7D4547C19}"/>
              </a:ext>
            </a:extLst>
          </p:cNvPr>
          <p:cNvSpPr txBox="1"/>
          <p:nvPr/>
        </p:nvSpPr>
        <p:spPr>
          <a:xfrm>
            <a:off x="7372158" y="2682965"/>
            <a:ext cx="854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TPR</a:t>
            </a:r>
            <a:endParaRPr kumimoji="1" lang="zh-TW" altLang="en-US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2364A430-AA70-B91C-CB95-6DC0B42CB2A6}"/>
              </a:ext>
            </a:extLst>
          </p:cNvPr>
          <p:cNvSpPr txBox="1"/>
          <p:nvPr/>
        </p:nvSpPr>
        <p:spPr>
          <a:xfrm>
            <a:off x="9606600" y="4371893"/>
            <a:ext cx="854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FPR</a:t>
            </a:r>
            <a:endParaRPr kumimoji="1" lang="zh-TW" altLang="en-US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9" name="橢圓 48">
            <a:extLst>
              <a:ext uri="{FF2B5EF4-FFF2-40B4-BE49-F238E27FC236}">
                <a16:creationId xmlns:a16="http://schemas.microsoft.com/office/drawing/2014/main" id="{3A2AC899-EBAD-3726-2312-1F66C5B19581}"/>
              </a:ext>
            </a:extLst>
          </p:cNvPr>
          <p:cNvSpPr/>
          <p:nvPr/>
        </p:nvSpPr>
        <p:spPr>
          <a:xfrm>
            <a:off x="11134413" y="1777217"/>
            <a:ext cx="160774" cy="1607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D97F3419-EDE7-303C-4009-E73BFC205AE9}"/>
              </a:ext>
            </a:extLst>
          </p:cNvPr>
          <p:cNvSpPr/>
          <p:nvPr/>
        </p:nvSpPr>
        <p:spPr>
          <a:xfrm>
            <a:off x="10652006" y="1777217"/>
            <a:ext cx="160774" cy="1607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9" name="橢圓 28">
            <a:extLst>
              <a:ext uri="{FF2B5EF4-FFF2-40B4-BE49-F238E27FC236}">
                <a16:creationId xmlns:a16="http://schemas.microsoft.com/office/drawing/2014/main" id="{AF36541F-610D-D813-1532-C8021E5508B6}"/>
              </a:ext>
            </a:extLst>
          </p:cNvPr>
          <p:cNvSpPr/>
          <p:nvPr/>
        </p:nvSpPr>
        <p:spPr>
          <a:xfrm>
            <a:off x="10122548" y="1777217"/>
            <a:ext cx="160774" cy="1607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B2DF8369-3FD4-F19A-E6FE-3B3DC0E0902E}"/>
              </a:ext>
            </a:extLst>
          </p:cNvPr>
          <p:cNvSpPr/>
          <p:nvPr/>
        </p:nvSpPr>
        <p:spPr>
          <a:xfrm>
            <a:off x="10122548" y="2138072"/>
            <a:ext cx="160774" cy="1607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4" name="橢圓 33">
            <a:extLst>
              <a:ext uri="{FF2B5EF4-FFF2-40B4-BE49-F238E27FC236}">
                <a16:creationId xmlns:a16="http://schemas.microsoft.com/office/drawing/2014/main" id="{6C028913-9EAD-D606-14C0-CF742DEBD56F}"/>
              </a:ext>
            </a:extLst>
          </p:cNvPr>
          <p:cNvSpPr/>
          <p:nvPr/>
        </p:nvSpPr>
        <p:spPr>
          <a:xfrm>
            <a:off x="9545935" y="2138072"/>
            <a:ext cx="160774" cy="1607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E821920F-F9E4-702C-4CC7-FBC075A1265D}"/>
              </a:ext>
            </a:extLst>
          </p:cNvPr>
          <p:cNvSpPr txBox="1"/>
          <p:nvPr/>
        </p:nvSpPr>
        <p:spPr>
          <a:xfrm>
            <a:off x="2749986" y="4091436"/>
            <a:ext cx="482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❌</a:t>
            </a:r>
            <a:endParaRPr kumimoji="1" lang="zh-TW" altLang="en-US" dirty="0"/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A97534F2-4C66-5FBA-34F7-0C36AFE67EC3}"/>
              </a:ext>
            </a:extLst>
          </p:cNvPr>
          <p:cNvSpPr/>
          <p:nvPr/>
        </p:nvSpPr>
        <p:spPr>
          <a:xfrm>
            <a:off x="9096855" y="2138072"/>
            <a:ext cx="160774" cy="1607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84415E6B-81DD-89AD-DC57-1DFF8723354F}"/>
              </a:ext>
            </a:extLst>
          </p:cNvPr>
          <p:cNvSpPr txBox="1"/>
          <p:nvPr/>
        </p:nvSpPr>
        <p:spPr>
          <a:xfrm>
            <a:off x="1090248" y="5626391"/>
            <a:ext cx="3315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0</a:t>
            </a:r>
            <a:endParaRPr kumimoji="1" lang="zh-TW" altLang="en-US" sz="2000" b="1" dirty="0"/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1003E97F-F1BB-4A98-BCD2-3CF2D92B5A4C}"/>
              </a:ext>
            </a:extLst>
          </p:cNvPr>
          <p:cNvSpPr txBox="1"/>
          <p:nvPr/>
        </p:nvSpPr>
        <p:spPr>
          <a:xfrm>
            <a:off x="2006659" y="5626391"/>
            <a:ext cx="4973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20</a:t>
            </a:r>
            <a:endParaRPr kumimoji="1" lang="zh-TW" altLang="en-US" sz="2000" b="1" dirty="0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72A5EC96-DBA5-7175-3C41-9E06DEB186A9}"/>
              </a:ext>
            </a:extLst>
          </p:cNvPr>
          <p:cNvSpPr txBox="1"/>
          <p:nvPr/>
        </p:nvSpPr>
        <p:spPr>
          <a:xfrm>
            <a:off x="6923316" y="5626391"/>
            <a:ext cx="693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100</a:t>
            </a:r>
            <a:endParaRPr kumimoji="1" lang="zh-TW" altLang="en-US" sz="2000" b="1" dirty="0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5085038F-03B2-D26B-913C-73B91CE69AD3}"/>
              </a:ext>
            </a:extLst>
          </p:cNvPr>
          <p:cNvSpPr txBox="1"/>
          <p:nvPr/>
        </p:nvSpPr>
        <p:spPr>
          <a:xfrm>
            <a:off x="5645168" y="5626391"/>
            <a:ext cx="693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80</a:t>
            </a:r>
            <a:endParaRPr kumimoji="1" lang="zh-TW" altLang="en-US" sz="2000" b="1" dirty="0"/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E524CCF3-2B4C-023A-9AEB-6145F09CFC93}"/>
              </a:ext>
            </a:extLst>
          </p:cNvPr>
          <p:cNvSpPr txBox="1"/>
          <p:nvPr/>
        </p:nvSpPr>
        <p:spPr>
          <a:xfrm>
            <a:off x="4367018" y="5626391"/>
            <a:ext cx="693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60</a:t>
            </a:r>
            <a:endParaRPr kumimoji="1" lang="zh-TW" altLang="en-US" sz="2000" b="1" dirty="0"/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1220BE82-881A-6BB6-5665-185B5AC32D75}"/>
              </a:ext>
            </a:extLst>
          </p:cNvPr>
          <p:cNvSpPr txBox="1"/>
          <p:nvPr/>
        </p:nvSpPr>
        <p:spPr>
          <a:xfrm>
            <a:off x="3088868" y="5626391"/>
            <a:ext cx="693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40</a:t>
            </a:r>
            <a:endParaRPr kumimoji="1" lang="zh-TW" altLang="en-US" sz="2000" b="1" dirty="0"/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12531031-E4C6-5E71-4976-7EEF632C8B6A}"/>
              </a:ext>
            </a:extLst>
          </p:cNvPr>
          <p:cNvSpPr txBox="1"/>
          <p:nvPr/>
        </p:nvSpPr>
        <p:spPr>
          <a:xfrm>
            <a:off x="7596555" y="5149338"/>
            <a:ext cx="20297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模型預測為疾病的機率值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(%)</a:t>
            </a:r>
            <a:endParaRPr kumimoji="1" lang="zh-TW" altLang="en-US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3268E52E-96EA-48A3-A54C-EF6323141AC2}"/>
              </a:ext>
            </a:extLst>
          </p:cNvPr>
          <p:cNvSpPr txBox="1"/>
          <p:nvPr/>
        </p:nvSpPr>
        <p:spPr>
          <a:xfrm>
            <a:off x="673463" y="2578514"/>
            <a:ext cx="259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TPR: 0.8, FPR: 0.2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495203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F8DB66-051D-855D-1FB2-C4865ECA7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ROC Curve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06BBC8B-70F9-766F-15D8-D7520DD56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4B26086-3E01-8777-AA87-8B63ABBE652F}"/>
              </a:ext>
            </a:extLst>
          </p:cNvPr>
          <p:cNvSpPr txBox="1"/>
          <p:nvPr/>
        </p:nvSpPr>
        <p:spPr>
          <a:xfrm>
            <a:off x="1601712" y="4210002"/>
            <a:ext cx="638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3200" dirty="0"/>
              <a:t>💪</a:t>
            </a:r>
            <a:endParaRPr lang="zh-TW" altLang="en-US" sz="32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A315583-DFCD-57D3-D043-24BCFD77A4D8}"/>
              </a:ext>
            </a:extLst>
          </p:cNvPr>
          <p:cNvSpPr txBox="1"/>
          <p:nvPr/>
        </p:nvSpPr>
        <p:spPr>
          <a:xfrm>
            <a:off x="2504053" y="4170324"/>
            <a:ext cx="7686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4000" dirty="0"/>
              <a:t>🦠</a:t>
            </a:r>
            <a:endParaRPr lang="zh-TW" altLang="en-US" sz="4000" dirty="0"/>
          </a:p>
        </p:txBody>
      </p:sp>
      <p:sp>
        <p:nvSpPr>
          <p:cNvPr id="7" name="向右箭號 6">
            <a:extLst>
              <a:ext uri="{FF2B5EF4-FFF2-40B4-BE49-F238E27FC236}">
                <a16:creationId xmlns:a16="http://schemas.microsoft.com/office/drawing/2014/main" id="{07927F23-568F-C13A-733D-5EBD0E6746E9}"/>
              </a:ext>
            </a:extLst>
          </p:cNvPr>
          <p:cNvSpPr/>
          <p:nvPr/>
        </p:nvSpPr>
        <p:spPr>
          <a:xfrm>
            <a:off x="1256046" y="5355768"/>
            <a:ext cx="6219929" cy="25120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A6D39C6-5268-9EB3-CEE0-F1077AC53925}"/>
              </a:ext>
            </a:extLst>
          </p:cNvPr>
          <p:cNvSpPr txBox="1"/>
          <p:nvPr/>
        </p:nvSpPr>
        <p:spPr>
          <a:xfrm>
            <a:off x="1971991" y="4698685"/>
            <a:ext cx="638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3200" dirty="0"/>
              <a:t>💪</a:t>
            </a:r>
            <a:endParaRPr lang="zh-TW" altLang="en-US" sz="3200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B59F7F7E-D61E-B824-0DFE-A4C99AF811E0}"/>
              </a:ext>
            </a:extLst>
          </p:cNvPr>
          <p:cNvSpPr txBox="1"/>
          <p:nvPr/>
        </p:nvSpPr>
        <p:spPr>
          <a:xfrm>
            <a:off x="3036113" y="4698684"/>
            <a:ext cx="638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3200" dirty="0"/>
              <a:t>💪</a:t>
            </a:r>
            <a:endParaRPr lang="zh-TW" altLang="en-US" sz="3200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0C2930B0-E43A-8824-2AA0-D2639CAF06AD}"/>
              </a:ext>
            </a:extLst>
          </p:cNvPr>
          <p:cNvSpPr txBox="1"/>
          <p:nvPr/>
        </p:nvSpPr>
        <p:spPr>
          <a:xfrm>
            <a:off x="3881933" y="4142083"/>
            <a:ext cx="638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3200" dirty="0"/>
              <a:t>💪</a:t>
            </a:r>
            <a:endParaRPr lang="zh-TW" altLang="en-US" sz="3200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7574090F-3790-1030-5497-24B0BE335366}"/>
              </a:ext>
            </a:extLst>
          </p:cNvPr>
          <p:cNvSpPr txBox="1"/>
          <p:nvPr/>
        </p:nvSpPr>
        <p:spPr>
          <a:xfrm>
            <a:off x="4146454" y="4647882"/>
            <a:ext cx="7686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4000" dirty="0"/>
              <a:t>🦠</a:t>
            </a:r>
            <a:endParaRPr lang="zh-TW" altLang="en-US" sz="4000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3A7735AA-763F-3EB2-659B-099121E38274}"/>
              </a:ext>
            </a:extLst>
          </p:cNvPr>
          <p:cNvSpPr txBox="1"/>
          <p:nvPr/>
        </p:nvSpPr>
        <p:spPr>
          <a:xfrm>
            <a:off x="4841296" y="4611728"/>
            <a:ext cx="7686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4000" dirty="0"/>
              <a:t>🦠</a:t>
            </a:r>
            <a:endParaRPr lang="zh-TW" altLang="en-US" sz="4000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D0053DC2-ED95-3AC5-D3E6-7F068E7DA51D}"/>
              </a:ext>
            </a:extLst>
          </p:cNvPr>
          <p:cNvSpPr txBox="1"/>
          <p:nvPr/>
        </p:nvSpPr>
        <p:spPr>
          <a:xfrm>
            <a:off x="5902654" y="4210002"/>
            <a:ext cx="7686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4000" dirty="0"/>
              <a:t>🦠</a:t>
            </a:r>
            <a:endParaRPr lang="zh-TW" altLang="en-US" sz="4000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417520D2-892F-C3E4-64FE-8F751A3E2D68}"/>
              </a:ext>
            </a:extLst>
          </p:cNvPr>
          <p:cNvSpPr txBox="1"/>
          <p:nvPr/>
        </p:nvSpPr>
        <p:spPr>
          <a:xfrm>
            <a:off x="6791933" y="4575573"/>
            <a:ext cx="7686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4000" dirty="0"/>
              <a:t>🦠</a:t>
            </a:r>
            <a:endParaRPr lang="zh-TW" altLang="en-US" sz="4000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AAABF8E6-773C-219E-E4A8-99BD27D2772F}"/>
              </a:ext>
            </a:extLst>
          </p:cNvPr>
          <p:cNvSpPr txBox="1"/>
          <p:nvPr/>
        </p:nvSpPr>
        <p:spPr>
          <a:xfrm>
            <a:off x="5066885" y="4026953"/>
            <a:ext cx="638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3200" dirty="0"/>
              <a:t>💪</a:t>
            </a:r>
            <a:endParaRPr lang="zh-TW" altLang="en-US" sz="3200" dirty="0"/>
          </a:p>
        </p:txBody>
      </p: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CD2218BA-2162-701A-DCA0-7F0C17464BD8}"/>
              </a:ext>
            </a:extLst>
          </p:cNvPr>
          <p:cNvCxnSpPr/>
          <p:nvPr/>
        </p:nvCxnSpPr>
        <p:spPr>
          <a:xfrm>
            <a:off x="4841296" y="3618778"/>
            <a:ext cx="0" cy="191359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4EC8A6D9-47F8-ECBE-33A9-2298830C7C7D}"/>
              </a:ext>
            </a:extLst>
          </p:cNvPr>
          <p:cNvSpPr txBox="1"/>
          <p:nvPr/>
        </p:nvSpPr>
        <p:spPr>
          <a:xfrm>
            <a:off x="4366010" y="3054696"/>
            <a:ext cx="2305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COVID-19</a:t>
            </a:r>
            <a:endParaRPr kumimoji="1" lang="zh-TW" altLang="en-US" sz="2400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60E7F772-C708-7204-1970-046D10C15E64}"/>
              </a:ext>
            </a:extLst>
          </p:cNvPr>
          <p:cNvSpPr txBox="1"/>
          <p:nvPr/>
        </p:nvSpPr>
        <p:spPr>
          <a:xfrm>
            <a:off x="1457389" y="3054696"/>
            <a:ext cx="2305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healthy</a:t>
            </a:r>
            <a:endParaRPr kumimoji="1" lang="zh-TW" altLang="en-US" sz="2400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DCE8D799-626A-5B20-31DA-CA26C72A8ED6}"/>
              </a:ext>
            </a:extLst>
          </p:cNvPr>
          <p:cNvSpPr txBox="1"/>
          <p:nvPr/>
        </p:nvSpPr>
        <p:spPr>
          <a:xfrm>
            <a:off x="653143" y="1763778"/>
            <a:ext cx="59385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假設我們用模型對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10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個人做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COVID-19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檢測：</a:t>
            </a:r>
            <a:endParaRPr kumimoji="1"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(healthy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代表 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negative; COVID-19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代表 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positive)</a:t>
            </a:r>
            <a:endParaRPr kumimoji="1" lang="zh-TW" altLang="en-US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E5EBE50C-526E-FA95-756F-6CDCC2BCA8A1}"/>
              </a:ext>
            </a:extLst>
          </p:cNvPr>
          <p:cNvSpPr txBox="1"/>
          <p:nvPr/>
        </p:nvSpPr>
        <p:spPr>
          <a:xfrm>
            <a:off x="5321483" y="4088942"/>
            <a:ext cx="482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❌</a:t>
            </a:r>
            <a:endParaRPr kumimoji="1" lang="zh-TW" altLang="en-US" dirty="0"/>
          </a:p>
        </p:txBody>
      </p:sp>
      <p:cxnSp>
        <p:nvCxnSpPr>
          <p:cNvPr id="30" name="直線箭頭接點 29">
            <a:extLst>
              <a:ext uri="{FF2B5EF4-FFF2-40B4-BE49-F238E27FC236}">
                <a16:creationId xmlns:a16="http://schemas.microsoft.com/office/drawing/2014/main" id="{8E5EA958-3F1C-0917-BF7D-2E81D7B75525}"/>
              </a:ext>
            </a:extLst>
          </p:cNvPr>
          <p:cNvCxnSpPr>
            <a:cxnSpLocks/>
          </p:cNvCxnSpPr>
          <p:nvPr/>
        </p:nvCxnSpPr>
        <p:spPr>
          <a:xfrm flipV="1">
            <a:off x="8651631" y="1763778"/>
            <a:ext cx="0" cy="2263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箭頭接點 30">
            <a:extLst>
              <a:ext uri="{FF2B5EF4-FFF2-40B4-BE49-F238E27FC236}">
                <a16:creationId xmlns:a16="http://schemas.microsoft.com/office/drawing/2014/main" id="{EC6B178F-D391-0474-358E-0BBFE17B6A54}"/>
              </a:ext>
            </a:extLst>
          </p:cNvPr>
          <p:cNvCxnSpPr>
            <a:cxnSpLocks/>
          </p:cNvCxnSpPr>
          <p:nvPr/>
        </p:nvCxnSpPr>
        <p:spPr>
          <a:xfrm>
            <a:off x="8651631" y="4026952"/>
            <a:ext cx="263267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C45E6E63-B8A5-2C83-DA99-A1428F1E4C27}"/>
              </a:ext>
            </a:extLst>
          </p:cNvPr>
          <p:cNvSpPr txBox="1"/>
          <p:nvPr/>
        </p:nvSpPr>
        <p:spPr>
          <a:xfrm>
            <a:off x="8485832" y="4026952"/>
            <a:ext cx="3315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</a:t>
            </a:r>
            <a:endParaRPr kumimoji="1" lang="zh-TW" altLang="en-US" sz="1600" dirty="0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10CEE2EA-014F-0364-AAF6-CAABB3973FB1}"/>
              </a:ext>
            </a:extLst>
          </p:cNvPr>
          <p:cNvSpPr txBox="1"/>
          <p:nvPr/>
        </p:nvSpPr>
        <p:spPr>
          <a:xfrm>
            <a:off x="8856490" y="4025336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0.2</a:t>
            </a:r>
            <a:endParaRPr kumimoji="1" lang="zh-TW" altLang="en-US" sz="1600" dirty="0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085E87B6-2939-552F-53B4-A5A5B199C046}"/>
              </a:ext>
            </a:extLst>
          </p:cNvPr>
          <p:cNvSpPr txBox="1"/>
          <p:nvPr/>
        </p:nvSpPr>
        <p:spPr>
          <a:xfrm>
            <a:off x="9384899" y="4037720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0.4</a:t>
            </a:r>
            <a:endParaRPr kumimoji="1" lang="zh-TW" altLang="en-US" sz="1600" dirty="0"/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1650832D-4CA1-178A-A1B8-6EC98199C393}"/>
              </a:ext>
            </a:extLst>
          </p:cNvPr>
          <p:cNvSpPr txBox="1"/>
          <p:nvPr/>
        </p:nvSpPr>
        <p:spPr>
          <a:xfrm>
            <a:off x="9913308" y="4037720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0.6</a:t>
            </a:r>
            <a:endParaRPr kumimoji="1" lang="zh-TW" altLang="en-US" sz="1600" dirty="0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A8883A52-E28C-4629-18B4-7C2C00464172}"/>
              </a:ext>
            </a:extLst>
          </p:cNvPr>
          <p:cNvSpPr txBox="1"/>
          <p:nvPr/>
        </p:nvSpPr>
        <p:spPr>
          <a:xfrm>
            <a:off x="10441717" y="4037720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0.8</a:t>
            </a:r>
            <a:endParaRPr kumimoji="1" lang="zh-TW" altLang="en-US" sz="1600" dirty="0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723F40E5-BFE2-DA93-D0C3-D1FC67CA951C}"/>
              </a:ext>
            </a:extLst>
          </p:cNvPr>
          <p:cNvSpPr txBox="1"/>
          <p:nvPr/>
        </p:nvSpPr>
        <p:spPr>
          <a:xfrm>
            <a:off x="10970127" y="4037720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1.0</a:t>
            </a:r>
            <a:endParaRPr kumimoji="1" lang="zh-TW" altLang="en-US" sz="1600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25BE68EB-8DA7-2DE6-1F49-8330538075A6}"/>
              </a:ext>
            </a:extLst>
          </p:cNvPr>
          <p:cNvSpPr txBox="1"/>
          <p:nvPr/>
        </p:nvSpPr>
        <p:spPr>
          <a:xfrm>
            <a:off x="8135101" y="3399456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0.2</a:t>
            </a:r>
            <a:endParaRPr kumimoji="1" lang="zh-TW" altLang="en-US" sz="1600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8167BE84-69C7-BEEC-DAC3-1D3A3B1EB133}"/>
              </a:ext>
            </a:extLst>
          </p:cNvPr>
          <p:cNvSpPr txBox="1"/>
          <p:nvPr/>
        </p:nvSpPr>
        <p:spPr>
          <a:xfrm>
            <a:off x="8135101" y="1634592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1.0</a:t>
            </a:r>
            <a:endParaRPr kumimoji="1" lang="zh-TW" altLang="en-US" sz="1600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8E87A05B-3A5C-AFED-2048-72588296184C}"/>
              </a:ext>
            </a:extLst>
          </p:cNvPr>
          <p:cNvSpPr txBox="1"/>
          <p:nvPr/>
        </p:nvSpPr>
        <p:spPr>
          <a:xfrm>
            <a:off x="8135101" y="2075808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0.8</a:t>
            </a:r>
            <a:endParaRPr kumimoji="1" lang="zh-TW" altLang="en-US" sz="1600" dirty="0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1DD8D553-64F7-E94F-251A-275D5E51FA70}"/>
              </a:ext>
            </a:extLst>
          </p:cNvPr>
          <p:cNvSpPr txBox="1"/>
          <p:nvPr/>
        </p:nvSpPr>
        <p:spPr>
          <a:xfrm>
            <a:off x="8135101" y="2517024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0.6</a:t>
            </a:r>
            <a:endParaRPr kumimoji="1" lang="zh-TW" altLang="en-US" sz="1600" dirty="0"/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83CAFB72-69CD-C99D-E040-DAF094C88A43}"/>
              </a:ext>
            </a:extLst>
          </p:cNvPr>
          <p:cNvSpPr txBox="1"/>
          <p:nvPr/>
        </p:nvSpPr>
        <p:spPr>
          <a:xfrm>
            <a:off x="8135101" y="2958240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0.4</a:t>
            </a:r>
            <a:endParaRPr kumimoji="1" lang="zh-TW" altLang="en-US" sz="1600" dirty="0"/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8EDD02C9-3D09-F3CF-45F5-4CC5691EC518}"/>
              </a:ext>
            </a:extLst>
          </p:cNvPr>
          <p:cNvSpPr txBox="1"/>
          <p:nvPr/>
        </p:nvSpPr>
        <p:spPr>
          <a:xfrm>
            <a:off x="8253085" y="3840670"/>
            <a:ext cx="3315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</a:t>
            </a:r>
            <a:endParaRPr kumimoji="1" lang="zh-TW" altLang="en-US" sz="1600" dirty="0"/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792961F0-7385-EBFD-D544-0BC7D4547C19}"/>
              </a:ext>
            </a:extLst>
          </p:cNvPr>
          <p:cNvSpPr txBox="1"/>
          <p:nvPr/>
        </p:nvSpPr>
        <p:spPr>
          <a:xfrm>
            <a:off x="7372158" y="2682965"/>
            <a:ext cx="854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TPR</a:t>
            </a:r>
            <a:endParaRPr kumimoji="1" lang="zh-TW" altLang="en-US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2364A430-AA70-B91C-CB95-6DC0B42CB2A6}"/>
              </a:ext>
            </a:extLst>
          </p:cNvPr>
          <p:cNvSpPr txBox="1"/>
          <p:nvPr/>
        </p:nvSpPr>
        <p:spPr>
          <a:xfrm>
            <a:off x="9606600" y="4371893"/>
            <a:ext cx="854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FPR</a:t>
            </a:r>
            <a:endParaRPr kumimoji="1" lang="zh-TW" altLang="en-US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9" name="橢圓 48">
            <a:extLst>
              <a:ext uri="{FF2B5EF4-FFF2-40B4-BE49-F238E27FC236}">
                <a16:creationId xmlns:a16="http://schemas.microsoft.com/office/drawing/2014/main" id="{3A2AC899-EBAD-3726-2312-1F66C5B19581}"/>
              </a:ext>
            </a:extLst>
          </p:cNvPr>
          <p:cNvSpPr/>
          <p:nvPr/>
        </p:nvSpPr>
        <p:spPr>
          <a:xfrm>
            <a:off x="11134413" y="1777217"/>
            <a:ext cx="160774" cy="1607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D97F3419-EDE7-303C-4009-E73BFC205AE9}"/>
              </a:ext>
            </a:extLst>
          </p:cNvPr>
          <p:cNvSpPr/>
          <p:nvPr/>
        </p:nvSpPr>
        <p:spPr>
          <a:xfrm>
            <a:off x="10652006" y="1777217"/>
            <a:ext cx="160774" cy="1607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9" name="橢圓 28">
            <a:extLst>
              <a:ext uri="{FF2B5EF4-FFF2-40B4-BE49-F238E27FC236}">
                <a16:creationId xmlns:a16="http://schemas.microsoft.com/office/drawing/2014/main" id="{AF36541F-610D-D813-1532-C8021E5508B6}"/>
              </a:ext>
            </a:extLst>
          </p:cNvPr>
          <p:cNvSpPr/>
          <p:nvPr/>
        </p:nvSpPr>
        <p:spPr>
          <a:xfrm>
            <a:off x="10122548" y="1777217"/>
            <a:ext cx="160774" cy="1607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B2DF8369-3FD4-F19A-E6FE-3B3DC0E0902E}"/>
              </a:ext>
            </a:extLst>
          </p:cNvPr>
          <p:cNvSpPr/>
          <p:nvPr/>
        </p:nvSpPr>
        <p:spPr>
          <a:xfrm>
            <a:off x="10122548" y="2138072"/>
            <a:ext cx="160774" cy="1607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4" name="橢圓 33">
            <a:extLst>
              <a:ext uri="{FF2B5EF4-FFF2-40B4-BE49-F238E27FC236}">
                <a16:creationId xmlns:a16="http://schemas.microsoft.com/office/drawing/2014/main" id="{6C028913-9EAD-D606-14C0-CF742DEBD56F}"/>
              </a:ext>
            </a:extLst>
          </p:cNvPr>
          <p:cNvSpPr/>
          <p:nvPr/>
        </p:nvSpPr>
        <p:spPr>
          <a:xfrm>
            <a:off x="9545935" y="2138072"/>
            <a:ext cx="160774" cy="1607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E821920F-F9E4-702C-4CC7-FBC075A1265D}"/>
              </a:ext>
            </a:extLst>
          </p:cNvPr>
          <p:cNvSpPr txBox="1"/>
          <p:nvPr/>
        </p:nvSpPr>
        <p:spPr>
          <a:xfrm>
            <a:off x="2749986" y="4091436"/>
            <a:ext cx="482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❌</a:t>
            </a:r>
            <a:endParaRPr kumimoji="1" lang="zh-TW" altLang="en-US" dirty="0"/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A97534F2-4C66-5FBA-34F7-0C36AFE67EC3}"/>
              </a:ext>
            </a:extLst>
          </p:cNvPr>
          <p:cNvSpPr/>
          <p:nvPr/>
        </p:nvSpPr>
        <p:spPr>
          <a:xfrm>
            <a:off x="9018396" y="2138072"/>
            <a:ext cx="160774" cy="1607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F8F1719A-1BA1-4234-6D38-F45FF7E42CE6}"/>
              </a:ext>
            </a:extLst>
          </p:cNvPr>
          <p:cNvSpPr/>
          <p:nvPr/>
        </p:nvSpPr>
        <p:spPr>
          <a:xfrm>
            <a:off x="9029314" y="2602176"/>
            <a:ext cx="160774" cy="1607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06061F96-5867-D8D8-7EC7-349999F27972}"/>
              </a:ext>
            </a:extLst>
          </p:cNvPr>
          <p:cNvSpPr txBox="1"/>
          <p:nvPr/>
        </p:nvSpPr>
        <p:spPr>
          <a:xfrm>
            <a:off x="4450793" y="4614084"/>
            <a:ext cx="482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❌</a:t>
            </a:r>
            <a:endParaRPr kumimoji="1" lang="zh-TW" altLang="en-US" dirty="0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28D369E3-F759-514E-2764-4568050C7CC0}"/>
              </a:ext>
            </a:extLst>
          </p:cNvPr>
          <p:cNvSpPr txBox="1"/>
          <p:nvPr/>
        </p:nvSpPr>
        <p:spPr>
          <a:xfrm>
            <a:off x="1090248" y="5626391"/>
            <a:ext cx="3315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0</a:t>
            </a:r>
            <a:endParaRPr kumimoji="1" lang="zh-TW" altLang="en-US" sz="2000" b="1" dirty="0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18D576B7-676D-2A15-E7F7-CBBBFA9089DA}"/>
              </a:ext>
            </a:extLst>
          </p:cNvPr>
          <p:cNvSpPr txBox="1"/>
          <p:nvPr/>
        </p:nvSpPr>
        <p:spPr>
          <a:xfrm>
            <a:off x="2006659" y="5626391"/>
            <a:ext cx="4973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20</a:t>
            </a:r>
            <a:endParaRPr kumimoji="1" lang="zh-TW" altLang="en-US" sz="2000" b="1" dirty="0"/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CF5985F5-623F-A772-C7BC-08A9CCA1E759}"/>
              </a:ext>
            </a:extLst>
          </p:cNvPr>
          <p:cNvSpPr txBox="1"/>
          <p:nvPr/>
        </p:nvSpPr>
        <p:spPr>
          <a:xfrm>
            <a:off x="6923316" y="5626391"/>
            <a:ext cx="693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100</a:t>
            </a:r>
            <a:endParaRPr kumimoji="1" lang="zh-TW" altLang="en-US" sz="2000" b="1" dirty="0"/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87373ABF-2738-FFA2-A5BA-9684C1FD1D49}"/>
              </a:ext>
            </a:extLst>
          </p:cNvPr>
          <p:cNvSpPr txBox="1"/>
          <p:nvPr/>
        </p:nvSpPr>
        <p:spPr>
          <a:xfrm>
            <a:off x="5645168" y="5626391"/>
            <a:ext cx="693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80</a:t>
            </a:r>
            <a:endParaRPr kumimoji="1" lang="zh-TW" altLang="en-US" sz="2000" b="1" dirty="0"/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B0D53A2E-02D7-0A87-9F72-93977C1FB780}"/>
              </a:ext>
            </a:extLst>
          </p:cNvPr>
          <p:cNvSpPr txBox="1"/>
          <p:nvPr/>
        </p:nvSpPr>
        <p:spPr>
          <a:xfrm>
            <a:off x="4367018" y="5626391"/>
            <a:ext cx="693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60</a:t>
            </a:r>
            <a:endParaRPr kumimoji="1" lang="zh-TW" altLang="en-US" sz="2000" b="1" dirty="0"/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5FBEDE89-9BEF-0389-2056-9ACA3D446BF4}"/>
              </a:ext>
            </a:extLst>
          </p:cNvPr>
          <p:cNvSpPr txBox="1"/>
          <p:nvPr/>
        </p:nvSpPr>
        <p:spPr>
          <a:xfrm>
            <a:off x="3088868" y="5626391"/>
            <a:ext cx="693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40</a:t>
            </a:r>
            <a:endParaRPr kumimoji="1" lang="zh-TW" altLang="en-US" sz="2000" b="1" dirty="0"/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F114C786-2A92-7E38-ABDF-736B2559C286}"/>
              </a:ext>
            </a:extLst>
          </p:cNvPr>
          <p:cNvSpPr txBox="1"/>
          <p:nvPr/>
        </p:nvSpPr>
        <p:spPr>
          <a:xfrm>
            <a:off x="7596555" y="5149338"/>
            <a:ext cx="20297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模型預測為疾病的機率值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(%)</a:t>
            </a:r>
            <a:endParaRPr kumimoji="1" lang="zh-TW" altLang="en-US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87E13DA8-8332-EA71-C8CE-DF3DFF4BFD4E}"/>
              </a:ext>
            </a:extLst>
          </p:cNvPr>
          <p:cNvSpPr txBox="1"/>
          <p:nvPr/>
        </p:nvSpPr>
        <p:spPr>
          <a:xfrm>
            <a:off x="673463" y="2578514"/>
            <a:ext cx="259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TPR: 0.6, FPR: 0.2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627187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F8DB66-051D-855D-1FB2-C4865ECA7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ROC Curve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06BBC8B-70F9-766F-15D8-D7520DD56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4B26086-3E01-8777-AA87-8B63ABBE652F}"/>
              </a:ext>
            </a:extLst>
          </p:cNvPr>
          <p:cNvSpPr txBox="1"/>
          <p:nvPr/>
        </p:nvSpPr>
        <p:spPr>
          <a:xfrm>
            <a:off x="1601712" y="4210002"/>
            <a:ext cx="638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3200" dirty="0"/>
              <a:t>💪</a:t>
            </a:r>
            <a:endParaRPr lang="zh-TW" altLang="en-US" sz="32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A315583-DFCD-57D3-D043-24BCFD77A4D8}"/>
              </a:ext>
            </a:extLst>
          </p:cNvPr>
          <p:cNvSpPr txBox="1"/>
          <p:nvPr/>
        </p:nvSpPr>
        <p:spPr>
          <a:xfrm>
            <a:off x="2504053" y="4170324"/>
            <a:ext cx="7686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4000" dirty="0"/>
              <a:t>🦠</a:t>
            </a:r>
            <a:endParaRPr lang="zh-TW" altLang="en-US" sz="4000" dirty="0"/>
          </a:p>
        </p:txBody>
      </p:sp>
      <p:sp>
        <p:nvSpPr>
          <p:cNvPr id="7" name="向右箭號 6">
            <a:extLst>
              <a:ext uri="{FF2B5EF4-FFF2-40B4-BE49-F238E27FC236}">
                <a16:creationId xmlns:a16="http://schemas.microsoft.com/office/drawing/2014/main" id="{07927F23-568F-C13A-733D-5EBD0E6746E9}"/>
              </a:ext>
            </a:extLst>
          </p:cNvPr>
          <p:cNvSpPr/>
          <p:nvPr/>
        </p:nvSpPr>
        <p:spPr>
          <a:xfrm>
            <a:off x="1256046" y="5355768"/>
            <a:ext cx="6219929" cy="25120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A6D39C6-5268-9EB3-CEE0-F1077AC53925}"/>
              </a:ext>
            </a:extLst>
          </p:cNvPr>
          <p:cNvSpPr txBox="1"/>
          <p:nvPr/>
        </p:nvSpPr>
        <p:spPr>
          <a:xfrm>
            <a:off x="1971991" y="4698685"/>
            <a:ext cx="638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3200" dirty="0"/>
              <a:t>💪</a:t>
            </a:r>
            <a:endParaRPr lang="zh-TW" altLang="en-US" sz="3200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B59F7F7E-D61E-B824-0DFE-A4C99AF811E0}"/>
              </a:ext>
            </a:extLst>
          </p:cNvPr>
          <p:cNvSpPr txBox="1"/>
          <p:nvPr/>
        </p:nvSpPr>
        <p:spPr>
          <a:xfrm>
            <a:off x="3036113" y="4698684"/>
            <a:ext cx="638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3200" dirty="0"/>
              <a:t>💪</a:t>
            </a:r>
            <a:endParaRPr lang="zh-TW" altLang="en-US" sz="3200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0C2930B0-E43A-8824-2AA0-D2639CAF06AD}"/>
              </a:ext>
            </a:extLst>
          </p:cNvPr>
          <p:cNvSpPr txBox="1"/>
          <p:nvPr/>
        </p:nvSpPr>
        <p:spPr>
          <a:xfrm>
            <a:off x="3881933" y="4142083"/>
            <a:ext cx="638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3200" dirty="0"/>
              <a:t>💪</a:t>
            </a:r>
            <a:endParaRPr lang="zh-TW" altLang="en-US" sz="3200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7574090F-3790-1030-5497-24B0BE335366}"/>
              </a:ext>
            </a:extLst>
          </p:cNvPr>
          <p:cNvSpPr txBox="1"/>
          <p:nvPr/>
        </p:nvSpPr>
        <p:spPr>
          <a:xfrm>
            <a:off x="4146454" y="4647882"/>
            <a:ext cx="7686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4000" dirty="0"/>
              <a:t>🦠</a:t>
            </a:r>
            <a:endParaRPr lang="zh-TW" altLang="en-US" sz="4000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3A7735AA-763F-3EB2-659B-099121E38274}"/>
              </a:ext>
            </a:extLst>
          </p:cNvPr>
          <p:cNvSpPr txBox="1"/>
          <p:nvPr/>
        </p:nvSpPr>
        <p:spPr>
          <a:xfrm>
            <a:off x="4841296" y="4611728"/>
            <a:ext cx="7686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4000" dirty="0"/>
              <a:t>🦠</a:t>
            </a:r>
            <a:endParaRPr lang="zh-TW" altLang="en-US" sz="4000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D0053DC2-ED95-3AC5-D3E6-7F068E7DA51D}"/>
              </a:ext>
            </a:extLst>
          </p:cNvPr>
          <p:cNvSpPr txBox="1"/>
          <p:nvPr/>
        </p:nvSpPr>
        <p:spPr>
          <a:xfrm>
            <a:off x="5902654" y="4210002"/>
            <a:ext cx="7686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4000" dirty="0"/>
              <a:t>🦠</a:t>
            </a:r>
            <a:endParaRPr lang="zh-TW" altLang="en-US" sz="4000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417520D2-892F-C3E4-64FE-8F751A3E2D68}"/>
              </a:ext>
            </a:extLst>
          </p:cNvPr>
          <p:cNvSpPr txBox="1"/>
          <p:nvPr/>
        </p:nvSpPr>
        <p:spPr>
          <a:xfrm>
            <a:off x="6791933" y="4575573"/>
            <a:ext cx="7686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4000" dirty="0"/>
              <a:t>🦠</a:t>
            </a:r>
            <a:endParaRPr lang="zh-TW" altLang="en-US" sz="4000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AAABF8E6-773C-219E-E4A8-99BD27D2772F}"/>
              </a:ext>
            </a:extLst>
          </p:cNvPr>
          <p:cNvSpPr txBox="1"/>
          <p:nvPr/>
        </p:nvSpPr>
        <p:spPr>
          <a:xfrm>
            <a:off x="5066885" y="4026953"/>
            <a:ext cx="638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3200" dirty="0"/>
              <a:t>💪</a:t>
            </a:r>
            <a:endParaRPr lang="zh-TW" altLang="en-US" sz="3200" dirty="0"/>
          </a:p>
        </p:txBody>
      </p: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CD2218BA-2162-701A-DCA0-7F0C17464BD8}"/>
              </a:ext>
            </a:extLst>
          </p:cNvPr>
          <p:cNvCxnSpPr/>
          <p:nvPr/>
        </p:nvCxnSpPr>
        <p:spPr>
          <a:xfrm>
            <a:off x="5704955" y="3536457"/>
            <a:ext cx="0" cy="191359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4EC8A6D9-47F8-ECBE-33A9-2298830C7C7D}"/>
              </a:ext>
            </a:extLst>
          </p:cNvPr>
          <p:cNvSpPr txBox="1"/>
          <p:nvPr/>
        </p:nvSpPr>
        <p:spPr>
          <a:xfrm>
            <a:off x="4366010" y="3054696"/>
            <a:ext cx="2305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COVID-19</a:t>
            </a:r>
            <a:endParaRPr kumimoji="1" lang="zh-TW" altLang="en-US" sz="2400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60E7F772-C708-7204-1970-046D10C15E64}"/>
              </a:ext>
            </a:extLst>
          </p:cNvPr>
          <p:cNvSpPr txBox="1"/>
          <p:nvPr/>
        </p:nvSpPr>
        <p:spPr>
          <a:xfrm>
            <a:off x="1457389" y="3054696"/>
            <a:ext cx="2305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healthy</a:t>
            </a:r>
            <a:endParaRPr kumimoji="1" lang="zh-TW" altLang="en-US" sz="2400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DCE8D799-626A-5B20-31DA-CA26C72A8ED6}"/>
              </a:ext>
            </a:extLst>
          </p:cNvPr>
          <p:cNvSpPr txBox="1"/>
          <p:nvPr/>
        </p:nvSpPr>
        <p:spPr>
          <a:xfrm>
            <a:off x="653143" y="1763778"/>
            <a:ext cx="59385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假設我們用模型對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10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個人做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COVID-19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檢測：</a:t>
            </a:r>
            <a:endParaRPr kumimoji="1"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(healthy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代表 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negative; COVID-19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代表 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positive)</a:t>
            </a:r>
            <a:endParaRPr kumimoji="1" lang="zh-TW" altLang="en-US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E5EBE50C-526E-FA95-756F-6CDCC2BCA8A1}"/>
              </a:ext>
            </a:extLst>
          </p:cNvPr>
          <p:cNvSpPr txBox="1"/>
          <p:nvPr/>
        </p:nvSpPr>
        <p:spPr>
          <a:xfrm>
            <a:off x="5172396" y="4611728"/>
            <a:ext cx="482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❌</a:t>
            </a:r>
            <a:endParaRPr kumimoji="1" lang="zh-TW" altLang="en-US" dirty="0"/>
          </a:p>
        </p:txBody>
      </p:sp>
      <p:cxnSp>
        <p:nvCxnSpPr>
          <p:cNvPr id="30" name="直線箭頭接點 29">
            <a:extLst>
              <a:ext uri="{FF2B5EF4-FFF2-40B4-BE49-F238E27FC236}">
                <a16:creationId xmlns:a16="http://schemas.microsoft.com/office/drawing/2014/main" id="{8E5EA958-3F1C-0917-BF7D-2E81D7B75525}"/>
              </a:ext>
            </a:extLst>
          </p:cNvPr>
          <p:cNvCxnSpPr>
            <a:cxnSpLocks/>
          </p:cNvCxnSpPr>
          <p:nvPr/>
        </p:nvCxnSpPr>
        <p:spPr>
          <a:xfrm flipV="1">
            <a:off x="8651631" y="1763778"/>
            <a:ext cx="0" cy="2263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箭頭接點 30">
            <a:extLst>
              <a:ext uri="{FF2B5EF4-FFF2-40B4-BE49-F238E27FC236}">
                <a16:creationId xmlns:a16="http://schemas.microsoft.com/office/drawing/2014/main" id="{EC6B178F-D391-0474-358E-0BBFE17B6A54}"/>
              </a:ext>
            </a:extLst>
          </p:cNvPr>
          <p:cNvCxnSpPr>
            <a:cxnSpLocks/>
          </p:cNvCxnSpPr>
          <p:nvPr/>
        </p:nvCxnSpPr>
        <p:spPr>
          <a:xfrm>
            <a:off x="8651631" y="4026952"/>
            <a:ext cx="263267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C45E6E63-B8A5-2C83-DA99-A1428F1E4C27}"/>
              </a:ext>
            </a:extLst>
          </p:cNvPr>
          <p:cNvSpPr txBox="1"/>
          <p:nvPr/>
        </p:nvSpPr>
        <p:spPr>
          <a:xfrm>
            <a:off x="8485832" y="4026952"/>
            <a:ext cx="3315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</a:t>
            </a:r>
            <a:endParaRPr kumimoji="1" lang="zh-TW" altLang="en-US" sz="1600" dirty="0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10CEE2EA-014F-0364-AAF6-CAABB3973FB1}"/>
              </a:ext>
            </a:extLst>
          </p:cNvPr>
          <p:cNvSpPr txBox="1"/>
          <p:nvPr/>
        </p:nvSpPr>
        <p:spPr>
          <a:xfrm>
            <a:off x="8856490" y="4025336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0.2</a:t>
            </a:r>
            <a:endParaRPr kumimoji="1" lang="zh-TW" altLang="en-US" sz="1600" dirty="0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085E87B6-2939-552F-53B4-A5A5B199C046}"/>
              </a:ext>
            </a:extLst>
          </p:cNvPr>
          <p:cNvSpPr txBox="1"/>
          <p:nvPr/>
        </p:nvSpPr>
        <p:spPr>
          <a:xfrm>
            <a:off x="9384899" y="4037720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0.4</a:t>
            </a:r>
            <a:endParaRPr kumimoji="1" lang="zh-TW" altLang="en-US" sz="1600" dirty="0"/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1650832D-4CA1-178A-A1B8-6EC98199C393}"/>
              </a:ext>
            </a:extLst>
          </p:cNvPr>
          <p:cNvSpPr txBox="1"/>
          <p:nvPr/>
        </p:nvSpPr>
        <p:spPr>
          <a:xfrm>
            <a:off x="9913308" y="4037720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0.6</a:t>
            </a:r>
            <a:endParaRPr kumimoji="1" lang="zh-TW" altLang="en-US" sz="1600" dirty="0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A8883A52-E28C-4629-18B4-7C2C00464172}"/>
              </a:ext>
            </a:extLst>
          </p:cNvPr>
          <p:cNvSpPr txBox="1"/>
          <p:nvPr/>
        </p:nvSpPr>
        <p:spPr>
          <a:xfrm>
            <a:off x="10441717" y="4037720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0.8</a:t>
            </a:r>
            <a:endParaRPr kumimoji="1" lang="zh-TW" altLang="en-US" sz="1600" dirty="0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723F40E5-BFE2-DA93-D0C3-D1FC67CA951C}"/>
              </a:ext>
            </a:extLst>
          </p:cNvPr>
          <p:cNvSpPr txBox="1"/>
          <p:nvPr/>
        </p:nvSpPr>
        <p:spPr>
          <a:xfrm>
            <a:off x="10970127" y="4037720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1.0</a:t>
            </a:r>
            <a:endParaRPr kumimoji="1" lang="zh-TW" altLang="en-US" sz="1600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25BE68EB-8DA7-2DE6-1F49-8330538075A6}"/>
              </a:ext>
            </a:extLst>
          </p:cNvPr>
          <p:cNvSpPr txBox="1"/>
          <p:nvPr/>
        </p:nvSpPr>
        <p:spPr>
          <a:xfrm>
            <a:off x="8135101" y="3399456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0.2</a:t>
            </a:r>
            <a:endParaRPr kumimoji="1" lang="zh-TW" altLang="en-US" sz="1600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8167BE84-69C7-BEEC-DAC3-1D3A3B1EB133}"/>
              </a:ext>
            </a:extLst>
          </p:cNvPr>
          <p:cNvSpPr txBox="1"/>
          <p:nvPr/>
        </p:nvSpPr>
        <p:spPr>
          <a:xfrm>
            <a:off x="8135101" y="1634592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1.0</a:t>
            </a:r>
            <a:endParaRPr kumimoji="1" lang="zh-TW" altLang="en-US" sz="1600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8E87A05B-3A5C-AFED-2048-72588296184C}"/>
              </a:ext>
            </a:extLst>
          </p:cNvPr>
          <p:cNvSpPr txBox="1"/>
          <p:nvPr/>
        </p:nvSpPr>
        <p:spPr>
          <a:xfrm>
            <a:off x="8135101" y="2075808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0.8</a:t>
            </a:r>
            <a:endParaRPr kumimoji="1" lang="zh-TW" altLang="en-US" sz="1600" dirty="0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1DD8D553-64F7-E94F-251A-275D5E51FA70}"/>
              </a:ext>
            </a:extLst>
          </p:cNvPr>
          <p:cNvSpPr txBox="1"/>
          <p:nvPr/>
        </p:nvSpPr>
        <p:spPr>
          <a:xfrm>
            <a:off x="8135101" y="2517024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0.6</a:t>
            </a:r>
            <a:endParaRPr kumimoji="1" lang="zh-TW" altLang="en-US" sz="1600" dirty="0"/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83CAFB72-69CD-C99D-E040-DAF094C88A43}"/>
              </a:ext>
            </a:extLst>
          </p:cNvPr>
          <p:cNvSpPr txBox="1"/>
          <p:nvPr/>
        </p:nvSpPr>
        <p:spPr>
          <a:xfrm>
            <a:off x="8135101" y="2958240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0.4</a:t>
            </a:r>
            <a:endParaRPr kumimoji="1" lang="zh-TW" altLang="en-US" sz="1600" dirty="0"/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8EDD02C9-3D09-F3CF-45F5-4CC5691EC518}"/>
              </a:ext>
            </a:extLst>
          </p:cNvPr>
          <p:cNvSpPr txBox="1"/>
          <p:nvPr/>
        </p:nvSpPr>
        <p:spPr>
          <a:xfrm>
            <a:off x="8253085" y="3840670"/>
            <a:ext cx="3315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</a:t>
            </a:r>
            <a:endParaRPr kumimoji="1" lang="zh-TW" altLang="en-US" sz="1600" dirty="0"/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792961F0-7385-EBFD-D544-0BC7D4547C19}"/>
              </a:ext>
            </a:extLst>
          </p:cNvPr>
          <p:cNvSpPr txBox="1"/>
          <p:nvPr/>
        </p:nvSpPr>
        <p:spPr>
          <a:xfrm>
            <a:off x="7372158" y="2682965"/>
            <a:ext cx="854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TPR</a:t>
            </a:r>
            <a:endParaRPr kumimoji="1" lang="zh-TW" altLang="en-US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2364A430-AA70-B91C-CB95-6DC0B42CB2A6}"/>
              </a:ext>
            </a:extLst>
          </p:cNvPr>
          <p:cNvSpPr txBox="1"/>
          <p:nvPr/>
        </p:nvSpPr>
        <p:spPr>
          <a:xfrm>
            <a:off x="9606600" y="4371893"/>
            <a:ext cx="854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FPR</a:t>
            </a:r>
            <a:endParaRPr kumimoji="1" lang="zh-TW" altLang="en-US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9" name="橢圓 48">
            <a:extLst>
              <a:ext uri="{FF2B5EF4-FFF2-40B4-BE49-F238E27FC236}">
                <a16:creationId xmlns:a16="http://schemas.microsoft.com/office/drawing/2014/main" id="{3A2AC899-EBAD-3726-2312-1F66C5B19581}"/>
              </a:ext>
            </a:extLst>
          </p:cNvPr>
          <p:cNvSpPr/>
          <p:nvPr/>
        </p:nvSpPr>
        <p:spPr>
          <a:xfrm>
            <a:off x="11134413" y="1777217"/>
            <a:ext cx="160774" cy="1607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D97F3419-EDE7-303C-4009-E73BFC205AE9}"/>
              </a:ext>
            </a:extLst>
          </p:cNvPr>
          <p:cNvSpPr/>
          <p:nvPr/>
        </p:nvSpPr>
        <p:spPr>
          <a:xfrm>
            <a:off x="10652006" y="1777217"/>
            <a:ext cx="160774" cy="1607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9" name="橢圓 28">
            <a:extLst>
              <a:ext uri="{FF2B5EF4-FFF2-40B4-BE49-F238E27FC236}">
                <a16:creationId xmlns:a16="http://schemas.microsoft.com/office/drawing/2014/main" id="{AF36541F-610D-D813-1532-C8021E5508B6}"/>
              </a:ext>
            </a:extLst>
          </p:cNvPr>
          <p:cNvSpPr/>
          <p:nvPr/>
        </p:nvSpPr>
        <p:spPr>
          <a:xfrm>
            <a:off x="10122548" y="1777217"/>
            <a:ext cx="160774" cy="1607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B2DF8369-3FD4-F19A-E6FE-3B3DC0E0902E}"/>
              </a:ext>
            </a:extLst>
          </p:cNvPr>
          <p:cNvSpPr/>
          <p:nvPr/>
        </p:nvSpPr>
        <p:spPr>
          <a:xfrm>
            <a:off x="10122548" y="2138072"/>
            <a:ext cx="160774" cy="1607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4" name="橢圓 33">
            <a:extLst>
              <a:ext uri="{FF2B5EF4-FFF2-40B4-BE49-F238E27FC236}">
                <a16:creationId xmlns:a16="http://schemas.microsoft.com/office/drawing/2014/main" id="{6C028913-9EAD-D606-14C0-CF742DEBD56F}"/>
              </a:ext>
            </a:extLst>
          </p:cNvPr>
          <p:cNvSpPr/>
          <p:nvPr/>
        </p:nvSpPr>
        <p:spPr>
          <a:xfrm>
            <a:off x="9545935" y="2138072"/>
            <a:ext cx="160774" cy="1607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E821920F-F9E4-702C-4CC7-FBC075A1265D}"/>
              </a:ext>
            </a:extLst>
          </p:cNvPr>
          <p:cNvSpPr txBox="1"/>
          <p:nvPr/>
        </p:nvSpPr>
        <p:spPr>
          <a:xfrm>
            <a:off x="2749986" y="4091436"/>
            <a:ext cx="482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❌</a:t>
            </a:r>
            <a:endParaRPr kumimoji="1" lang="zh-TW" altLang="en-US" dirty="0"/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A97534F2-4C66-5FBA-34F7-0C36AFE67EC3}"/>
              </a:ext>
            </a:extLst>
          </p:cNvPr>
          <p:cNvSpPr/>
          <p:nvPr/>
        </p:nvSpPr>
        <p:spPr>
          <a:xfrm>
            <a:off x="9018396" y="2138072"/>
            <a:ext cx="160774" cy="1607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F8F1719A-1BA1-4234-6D38-F45FF7E42CE6}"/>
              </a:ext>
            </a:extLst>
          </p:cNvPr>
          <p:cNvSpPr/>
          <p:nvPr/>
        </p:nvSpPr>
        <p:spPr>
          <a:xfrm>
            <a:off x="9029314" y="2602176"/>
            <a:ext cx="160774" cy="1607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06061F96-5867-D8D8-7EC7-349999F27972}"/>
              </a:ext>
            </a:extLst>
          </p:cNvPr>
          <p:cNvSpPr txBox="1"/>
          <p:nvPr/>
        </p:nvSpPr>
        <p:spPr>
          <a:xfrm>
            <a:off x="4450793" y="4614084"/>
            <a:ext cx="482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❌</a:t>
            </a:r>
            <a:endParaRPr kumimoji="1" lang="zh-TW" altLang="en-US" dirty="0"/>
          </a:p>
        </p:txBody>
      </p:sp>
      <p:sp>
        <p:nvSpPr>
          <p:cNvPr id="52" name="橢圓 51">
            <a:extLst>
              <a:ext uri="{FF2B5EF4-FFF2-40B4-BE49-F238E27FC236}">
                <a16:creationId xmlns:a16="http://schemas.microsoft.com/office/drawing/2014/main" id="{43046A38-EFE6-0911-68B7-BCC2BCB51C08}"/>
              </a:ext>
            </a:extLst>
          </p:cNvPr>
          <p:cNvSpPr/>
          <p:nvPr/>
        </p:nvSpPr>
        <p:spPr>
          <a:xfrm>
            <a:off x="8578620" y="3037223"/>
            <a:ext cx="160774" cy="1607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53" name="直線接點 52">
            <a:extLst>
              <a:ext uri="{FF2B5EF4-FFF2-40B4-BE49-F238E27FC236}">
                <a16:creationId xmlns:a16="http://schemas.microsoft.com/office/drawing/2014/main" id="{ED698D75-3BBE-67F1-3588-12A9E2C8B713}"/>
              </a:ext>
            </a:extLst>
          </p:cNvPr>
          <p:cNvCxnSpPr>
            <a:cxnSpLocks/>
          </p:cNvCxnSpPr>
          <p:nvPr/>
        </p:nvCxnSpPr>
        <p:spPr>
          <a:xfrm flipV="1">
            <a:off x="8644547" y="2739405"/>
            <a:ext cx="408312" cy="41033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BC2D5921-BAA6-1960-B576-CD0A41F371D2}"/>
              </a:ext>
            </a:extLst>
          </p:cNvPr>
          <p:cNvSpPr txBox="1"/>
          <p:nvPr/>
        </p:nvSpPr>
        <p:spPr>
          <a:xfrm>
            <a:off x="1090248" y="5626391"/>
            <a:ext cx="3315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0</a:t>
            </a:r>
            <a:endParaRPr kumimoji="1" lang="zh-TW" altLang="en-US" sz="2000" b="1" dirty="0"/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B447D42C-0810-E40A-5818-B265651360D7}"/>
              </a:ext>
            </a:extLst>
          </p:cNvPr>
          <p:cNvSpPr txBox="1"/>
          <p:nvPr/>
        </p:nvSpPr>
        <p:spPr>
          <a:xfrm>
            <a:off x="2006659" y="5626391"/>
            <a:ext cx="4973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20</a:t>
            </a:r>
            <a:endParaRPr kumimoji="1" lang="zh-TW" altLang="en-US" sz="2000" b="1" dirty="0"/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0D7585ED-0357-EAA8-3F44-6E5F56F61CD2}"/>
              </a:ext>
            </a:extLst>
          </p:cNvPr>
          <p:cNvSpPr txBox="1"/>
          <p:nvPr/>
        </p:nvSpPr>
        <p:spPr>
          <a:xfrm>
            <a:off x="6923316" y="5626391"/>
            <a:ext cx="693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100</a:t>
            </a:r>
            <a:endParaRPr kumimoji="1" lang="zh-TW" altLang="en-US" sz="2000" b="1" dirty="0"/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48E2DE91-2853-13F4-9A49-0D0BDC8702D9}"/>
              </a:ext>
            </a:extLst>
          </p:cNvPr>
          <p:cNvSpPr txBox="1"/>
          <p:nvPr/>
        </p:nvSpPr>
        <p:spPr>
          <a:xfrm>
            <a:off x="5645168" y="5626391"/>
            <a:ext cx="693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80</a:t>
            </a:r>
            <a:endParaRPr kumimoji="1" lang="zh-TW" altLang="en-US" sz="2000" b="1" dirty="0"/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9F8A3481-2506-F544-525F-77FF3262DFCB}"/>
              </a:ext>
            </a:extLst>
          </p:cNvPr>
          <p:cNvSpPr txBox="1"/>
          <p:nvPr/>
        </p:nvSpPr>
        <p:spPr>
          <a:xfrm>
            <a:off x="4367018" y="5626391"/>
            <a:ext cx="693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60</a:t>
            </a:r>
            <a:endParaRPr kumimoji="1" lang="zh-TW" altLang="en-US" sz="2000" b="1" dirty="0"/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2A665428-797F-994B-17B5-2208B2B1E7A5}"/>
              </a:ext>
            </a:extLst>
          </p:cNvPr>
          <p:cNvSpPr txBox="1"/>
          <p:nvPr/>
        </p:nvSpPr>
        <p:spPr>
          <a:xfrm>
            <a:off x="3088868" y="5626391"/>
            <a:ext cx="693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40</a:t>
            </a:r>
            <a:endParaRPr kumimoji="1" lang="zh-TW" altLang="en-US" sz="2000" b="1" dirty="0"/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DAFFA4F5-9251-E6B6-E54F-5501A5D882FC}"/>
              </a:ext>
            </a:extLst>
          </p:cNvPr>
          <p:cNvSpPr txBox="1"/>
          <p:nvPr/>
        </p:nvSpPr>
        <p:spPr>
          <a:xfrm>
            <a:off x="7596555" y="5149338"/>
            <a:ext cx="20297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模型預測為疾病的機率值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(%)</a:t>
            </a:r>
            <a:endParaRPr kumimoji="1" lang="zh-TW" altLang="en-US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711A0985-382B-8E42-D50D-F2AF34ADE565}"/>
              </a:ext>
            </a:extLst>
          </p:cNvPr>
          <p:cNvSpPr txBox="1"/>
          <p:nvPr/>
        </p:nvSpPr>
        <p:spPr>
          <a:xfrm>
            <a:off x="673463" y="2578514"/>
            <a:ext cx="259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TPR: 0.4, FPR: 0.0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015269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F8DB66-051D-855D-1FB2-C4865ECA7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ROC Curve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06BBC8B-70F9-766F-15D8-D7520DD56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4B26086-3E01-8777-AA87-8B63ABBE652F}"/>
              </a:ext>
            </a:extLst>
          </p:cNvPr>
          <p:cNvSpPr txBox="1"/>
          <p:nvPr/>
        </p:nvSpPr>
        <p:spPr>
          <a:xfrm>
            <a:off x="1601712" y="4210002"/>
            <a:ext cx="638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3200" dirty="0"/>
              <a:t>💪</a:t>
            </a:r>
            <a:endParaRPr lang="zh-TW" altLang="en-US" sz="32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A315583-DFCD-57D3-D043-24BCFD77A4D8}"/>
              </a:ext>
            </a:extLst>
          </p:cNvPr>
          <p:cNvSpPr txBox="1"/>
          <p:nvPr/>
        </p:nvSpPr>
        <p:spPr>
          <a:xfrm>
            <a:off x="2504053" y="4170324"/>
            <a:ext cx="7686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4000" dirty="0"/>
              <a:t>🦠</a:t>
            </a:r>
            <a:endParaRPr lang="zh-TW" altLang="en-US" sz="4000" dirty="0"/>
          </a:p>
        </p:txBody>
      </p:sp>
      <p:sp>
        <p:nvSpPr>
          <p:cNvPr id="7" name="向右箭號 6">
            <a:extLst>
              <a:ext uri="{FF2B5EF4-FFF2-40B4-BE49-F238E27FC236}">
                <a16:creationId xmlns:a16="http://schemas.microsoft.com/office/drawing/2014/main" id="{07927F23-568F-C13A-733D-5EBD0E6746E9}"/>
              </a:ext>
            </a:extLst>
          </p:cNvPr>
          <p:cNvSpPr/>
          <p:nvPr/>
        </p:nvSpPr>
        <p:spPr>
          <a:xfrm>
            <a:off x="1256046" y="5355768"/>
            <a:ext cx="6219929" cy="25120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A6D39C6-5268-9EB3-CEE0-F1077AC53925}"/>
              </a:ext>
            </a:extLst>
          </p:cNvPr>
          <p:cNvSpPr txBox="1"/>
          <p:nvPr/>
        </p:nvSpPr>
        <p:spPr>
          <a:xfrm>
            <a:off x="1971991" y="4698685"/>
            <a:ext cx="638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3200" dirty="0"/>
              <a:t>💪</a:t>
            </a:r>
            <a:endParaRPr lang="zh-TW" altLang="en-US" sz="3200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B59F7F7E-D61E-B824-0DFE-A4C99AF811E0}"/>
              </a:ext>
            </a:extLst>
          </p:cNvPr>
          <p:cNvSpPr txBox="1"/>
          <p:nvPr/>
        </p:nvSpPr>
        <p:spPr>
          <a:xfrm>
            <a:off x="3036113" y="4698684"/>
            <a:ext cx="638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3200" dirty="0"/>
              <a:t>💪</a:t>
            </a:r>
            <a:endParaRPr lang="zh-TW" altLang="en-US" sz="3200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0C2930B0-E43A-8824-2AA0-D2639CAF06AD}"/>
              </a:ext>
            </a:extLst>
          </p:cNvPr>
          <p:cNvSpPr txBox="1"/>
          <p:nvPr/>
        </p:nvSpPr>
        <p:spPr>
          <a:xfrm>
            <a:off x="3881933" y="4142083"/>
            <a:ext cx="638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3200" dirty="0"/>
              <a:t>💪</a:t>
            </a:r>
            <a:endParaRPr lang="zh-TW" altLang="en-US" sz="3200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7574090F-3790-1030-5497-24B0BE335366}"/>
              </a:ext>
            </a:extLst>
          </p:cNvPr>
          <p:cNvSpPr txBox="1"/>
          <p:nvPr/>
        </p:nvSpPr>
        <p:spPr>
          <a:xfrm>
            <a:off x="4146454" y="4647882"/>
            <a:ext cx="7686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4000" dirty="0"/>
              <a:t>🦠</a:t>
            </a:r>
            <a:endParaRPr lang="zh-TW" altLang="en-US" sz="4000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3A7735AA-763F-3EB2-659B-099121E38274}"/>
              </a:ext>
            </a:extLst>
          </p:cNvPr>
          <p:cNvSpPr txBox="1"/>
          <p:nvPr/>
        </p:nvSpPr>
        <p:spPr>
          <a:xfrm>
            <a:off x="4841296" y="4611728"/>
            <a:ext cx="7686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4000" dirty="0"/>
              <a:t>🦠</a:t>
            </a:r>
            <a:endParaRPr lang="zh-TW" altLang="en-US" sz="4000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D0053DC2-ED95-3AC5-D3E6-7F068E7DA51D}"/>
              </a:ext>
            </a:extLst>
          </p:cNvPr>
          <p:cNvSpPr txBox="1"/>
          <p:nvPr/>
        </p:nvSpPr>
        <p:spPr>
          <a:xfrm>
            <a:off x="5902654" y="4210002"/>
            <a:ext cx="7686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4000" dirty="0"/>
              <a:t>🦠</a:t>
            </a:r>
            <a:endParaRPr lang="zh-TW" altLang="en-US" sz="4000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417520D2-892F-C3E4-64FE-8F751A3E2D68}"/>
              </a:ext>
            </a:extLst>
          </p:cNvPr>
          <p:cNvSpPr txBox="1"/>
          <p:nvPr/>
        </p:nvSpPr>
        <p:spPr>
          <a:xfrm>
            <a:off x="6791933" y="4575573"/>
            <a:ext cx="7686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4000" dirty="0"/>
              <a:t>🦠</a:t>
            </a:r>
            <a:endParaRPr lang="zh-TW" altLang="en-US" sz="4000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AAABF8E6-773C-219E-E4A8-99BD27D2772F}"/>
              </a:ext>
            </a:extLst>
          </p:cNvPr>
          <p:cNvSpPr txBox="1"/>
          <p:nvPr/>
        </p:nvSpPr>
        <p:spPr>
          <a:xfrm>
            <a:off x="5066885" y="4026953"/>
            <a:ext cx="638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3200" dirty="0"/>
              <a:t>💪</a:t>
            </a:r>
            <a:endParaRPr lang="zh-TW" altLang="en-US" sz="3200" dirty="0"/>
          </a:p>
        </p:txBody>
      </p: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CD2218BA-2162-701A-DCA0-7F0C17464BD8}"/>
              </a:ext>
            </a:extLst>
          </p:cNvPr>
          <p:cNvCxnSpPr/>
          <p:nvPr/>
        </p:nvCxnSpPr>
        <p:spPr>
          <a:xfrm>
            <a:off x="7379698" y="3600320"/>
            <a:ext cx="0" cy="191359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4EC8A6D9-47F8-ECBE-33A9-2298830C7C7D}"/>
              </a:ext>
            </a:extLst>
          </p:cNvPr>
          <p:cNvSpPr txBox="1"/>
          <p:nvPr/>
        </p:nvSpPr>
        <p:spPr>
          <a:xfrm>
            <a:off x="4366010" y="3054696"/>
            <a:ext cx="2305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COVID-19</a:t>
            </a:r>
            <a:endParaRPr kumimoji="1" lang="zh-TW" altLang="en-US" sz="2400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60E7F772-C708-7204-1970-046D10C15E64}"/>
              </a:ext>
            </a:extLst>
          </p:cNvPr>
          <p:cNvSpPr txBox="1"/>
          <p:nvPr/>
        </p:nvSpPr>
        <p:spPr>
          <a:xfrm>
            <a:off x="1457389" y="3054696"/>
            <a:ext cx="2305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healthy</a:t>
            </a:r>
            <a:endParaRPr kumimoji="1" lang="zh-TW" altLang="en-US" sz="2400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DCE8D799-626A-5B20-31DA-CA26C72A8ED6}"/>
              </a:ext>
            </a:extLst>
          </p:cNvPr>
          <p:cNvSpPr txBox="1"/>
          <p:nvPr/>
        </p:nvSpPr>
        <p:spPr>
          <a:xfrm>
            <a:off x="653143" y="1763778"/>
            <a:ext cx="59385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假設我們用模型對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10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個人做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COVID-19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檢測：</a:t>
            </a:r>
            <a:endParaRPr kumimoji="1"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(healthy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代表 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negative; COVID-19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代表 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positive)</a:t>
            </a:r>
            <a:endParaRPr kumimoji="1" lang="zh-TW" altLang="en-US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E5EBE50C-526E-FA95-756F-6CDCC2BCA8A1}"/>
              </a:ext>
            </a:extLst>
          </p:cNvPr>
          <p:cNvSpPr txBox="1"/>
          <p:nvPr/>
        </p:nvSpPr>
        <p:spPr>
          <a:xfrm>
            <a:off x="5172396" y="4611728"/>
            <a:ext cx="482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❌</a:t>
            </a:r>
            <a:endParaRPr kumimoji="1" lang="zh-TW" altLang="en-US" dirty="0"/>
          </a:p>
        </p:txBody>
      </p:sp>
      <p:cxnSp>
        <p:nvCxnSpPr>
          <p:cNvPr id="30" name="直線箭頭接點 29">
            <a:extLst>
              <a:ext uri="{FF2B5EF4-FFF2-40B4-BE49-F238E27FC236}">
                <a16:creationId xmlns:a16="http://schemas.microsoft.com/office/drawing/2014/main" id="{8E5EA958-3F1C-0917-BF7D-2E81D7B75525}"/>
              </a:ext>
            </a:extLst>
          </p:cNvPr>
          <p:cNvCxnSpPr>
            <a:cxnSpLocks/>
          </p:cNvCxnSpPr>
          <p:nvPr/>
        </p:nvCxnSpPr>
        <p:spPr>
          <a:xfrm flipV="1">
            <a:off x="8651631" y="1763778"/>
            <a:ext cx="0" cy="2263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箭頭接點 30">
            <a:extLst>
              <a:ext uri="{FF2B5EF4-FFF2-40B4-BE49-F238E27FC236}">
                <a16:creationId xmlns:a16="http://schemas.microsoft.com/office/drawing/2014/main" id="{EC6B178F-D391-0474-358E-0BBFE17B6A54}"/>
              </a:ext>
            </a:extLst>
          </p:cNvPr>
          <p:cNvCxnSpPr>
            <a:cxnSpLocks/>
          </p:cNvCxnSpPr>
          <p:nvPr/>
        </p:nvCxnSpPr>
        <p:spPr>
          <a:xfrm>
            <a:off x="8651631" y="4026952"/>
            <a:ext cx="263267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C45E6E63-B8A5-2C83-DA99-A1428F1E4C27}"/>
              </a:ext>
            </a:extLst>
          </p:cNvPr>
          <p:cNvSpPr txBox="1"/>
          <p:nvPr/>
        </p:nvSpPr>
        <p:spPr>
          <a:xfrm>
            <a:off x="8485832" y="4026952"/>
            <a:ext cx="3315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</a:t>
            </a:r>
            <a:endParaRPr kumimoji="1" lang="zh-TW" altLang="en-US" sz="1600" dirty="0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10CEE2EA-014F-0364-AAF6-CAABB3973FB1}"/>
              </a:ext>
            </a:extLst>
          </p:cNvPr>
          <p:cNvSpPr txBox="1"/>
          <p:nvPr/>
        </p:nvSpPr>
        <p:spPr>
          <a:xfrm>
            <a:off x="8856490" y="4025336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0.2</a:t>
            </a:r>
            <a:endParaRPr kumimoji="1" lang="zh-TW" altLang="en-US" sz="1600" dirty="0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085E87B6-2939-552F-53B4-A5A5B199C046}"/>
              </a:ext>
            </a:extLst>
          </p:cNvPr>
          <p:cNvSpPr txBox="1"/>
          <p:nvPr/>
        </p:nvSpPr>
        <p:spPr>
          <a:xfrm>
            <a:off x="9384899" y="4037720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0.4</a:t>
            </a:r>
            <a:endParaRPr kumimoji="1" lang="zh-TW" altLang="en-US" sz="1600" dirty="0"/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1650832D-4CA1-178A-A1B8-6EC98199C393}"/>
              </a:ext>
            </a:extLst>
          </p:cNvPr>
          <p:cNvSpPr txBox="1"/>
          <p:nvPr/>
        </p:nvSpPr>
        <p:spPr>
          <a:xfrm>
            <a:off x="9913308" y="4037720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0.6</a:t>
            </a:r>
            <a:endParaRPr kumimoji="1" lang="zh-TW" altLang="en-US" sz="1600" dirty="0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A8883A52-E28C-4629-18B4-7C2C00464172}"/>
              </a:ext>
            </a:extLst>
          </p:cNvPr>
          <p:cNvSpPr txBox="1"/>
          <p:nvPr/>
        </p:nvSpPr>
        <p:spPr>
          <a:xfrm>
            <a:off x="10441717" y="4037720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0.8</a:t>
            </a:r>
            <a:endParaRPr kumimoji="1" lang="zh-TW" altLang="en-US" sz="1600" dirty="0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723F40E5-BFE2-DA93-D0C3-D1FC67CA951C}"/>
              </a:ext>
            </a:extLst>
          </p:cNvPr>
          <p:cNvSpPr txBox="1"/>
          <p:nvPr/>
        </p:nvSpPr>
        <p:spPr>
          <a:xfrm>
            <a:off x="10970127" y="4037720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1.0</a:t>
            </a:r>
            <a:endParaRPr kumimoji="1" lang="zh-TW" altLang="en-US" sz="1600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25BE68EB-8DA7-2DE6-1F49-8330538075A6}"/>
              </a:ext>
            </a:extLst>
          </p:cNvPr>
          <p:cNvSpPr txBox="1"/>
          <p:nvPr/>
        </p:nvSpPr>
        <p:spPr>
          <a:xfrm>
            <a:off x="8135101" y="3399456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0.2</a:t>
            </a:r>
            <a:endParaRPr kumimoji="1" lang="zh-TW" altLang="en-US" sz="1600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8167BE84-69C7-BEEC-DAC3-1D3A3B1EB133}"/>
              </a:ext>
            </a:extLst>
          </p:cNvPr>
          <p:cNvSpPr txBox="1"/>
          <p:nvPr/>
        </p:nvSpPr>
        <p:spPr>
          <a:xfrm>
            <a:off x="8135101" y="1634592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1.0</a:t>
            </a:r>
            <a:endParaRPr kumimoji="1" lang="zh-TW" altLang="en-US" sz="1600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8E87A05B-3A5C-AFED-2048-72588296184C}"/>
              </a:ext>
            </a:extLst>
          </p:cNvPr>
          <p:cNvSpPr txBox="1"/>
          <p:nvPr/>
        </p:nvSpPr>
        <p:spPr>
          <a:xfrm>
            <a:off x="8135101" y="2075808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0.8</a:t>
            </a:r>
            <a:endParaRPr kumimoji="1" lang="zh-TW" altLang="en-US" sz="1600" dirty="0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1DD8D553-64F7-E94F-251A-275D5E51FA70}"/>
              </a:ext>
            </a:extLst>
          </p:cNvPr>
          <p:cNvSpPr txBox="1"/>
          <p:nvPr/>
        </p:nvSpPr>
        <p:spPr>
          <a:xfrm>
            <a:off x="8135101" y="2517024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0.6</a:t>
            </a:r>
            <a:endParaRPr kumimoji="1" lang="zh-TW" altLang="en-US" sz="1600" dirty="0"/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83CAFB72-69CD-C99D-E040-DAF094C88A43}"/>
              </a:ext>
            </a:extLst>
          </p:cNvPr>
          <p:cNvSpPr txBox="1"/>
          <p:nvPr/>
        </p:nvSpPr>
        <p:spPr>
          <a:xfrm>
            <a:off x="8135101" y="2958240"/>
            <a:ext cx="48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0.4</a:t>
            </a:r>
            <a:endParaRPr kumimoji="1" lang="zh-TW" altLang="en-US" sz="1600" dirty="0"/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8EDD02C9-3D09-F3CF-45F5-4CC5691EC518}"/>
              </a:ext>
            </a:extLst>
          </p:cNvPr>
          <p:cNvSpPr txBox="1"/>
          <p:nvPr/>
        </p:nvSpPr>
        <p:spPr>
          <a:xfrm>
            <a:off x="8253085" y="3840670"/>
            <a:ext cx="3315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0</a:t>
            </a:r>
            <a:endParaRPr kumimoji="1" lang="zh-TW" altLang="en-US" sz="1600" dirty="0"/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792961F0-7385-EBFD-D544-0BC7D4547C19}"/>
              </a:ext>
            </a:extLst>
          </p:cNvPr>
          <p:cNvSpPr txBox="1"/>
          <p:nvPr/>
        </p:nvSpPr>
        <p:spPr>
          <a:xfrm>
            <a:off x="7372158" y="2682965"/>
            <a:ext cx="854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TPR</a:t>
            </a:r>
            <a:endParaRPr kumimoji="1" lang="zh-TW" altLang="en-US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2364A430-AA70-B91C-CB95-6DC0B42CB2A6}"/>
              </a:ext>
            </a:extLst>
          </p:cNvPr>
          <p:cNvSpPr txBox="1"/>
          <p:nvPr/>
        </p:nvSpPr>
        <p:spPr>
          <a:xfrm>
            <a:off x="9606600" y="4371893"/>
            <a:ext cx="854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FPR</a:t>
            </a:r>
            <a:endParaRPr kumimoji="1" lang="zh-TW" altLang="en-US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9" name="橢圓 48">
            <a:extLst>
              <a:ext uri="{FF2B5EF4-FFF2-40B4-BE49-F238E27FC236}">
                <a16:creationId xmlns:a16="http://schemas.microsoft.com/office/drawing/2014/main" id="{3A2AC899-EBAD-3726-2312-1F66C5B19581}"/>
              </a:ext>
            </a:extLst>
          </p:cNvPr>
          <p:cNvSpPr/>
          <p:nvPr/>
        </p:nvSpPr>
        <p:spPr>
          <a:xfrm>
            <a:off x="11134413" y="1777217"/>
            <a:ext cx="160774" cy="1607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D97F3419-EDE7-303C-4009-E73BFC205AE9}"/>
              </a:ext>
            </a:extLst>
          </p:cNvPr>
          <p:cNvSpPr/>
          <p:nvPr/>
        </p:nvSpPr>
        <p:spPr>
          <a:xfrm>
            <a:off x="10652006" y="1777217"/>
            <a:ext cx="160774" cy="1607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9" name="橢圓 28">
            <a:extLst>
              <a:ext uri="{FF2B5EF4-FFF2-40B4-BE49-F238E27FC236}">
                <a16:creationId xmlns:a16="http://schemas.microsoft.com/office/drawing/2014/main" id="{AF36541F-610D-D813-1532-C8021E5508B6}"/>
              </a:ext>
            </a:extLst>
          </p:cNvPr>
          <p:cNvSpPr/>
          <p:nvPr/>
        </p:nvSpPr>
        <p:spPr>
          <a:xfrm>
            <a:off x="10122548" y="1777217"/>
            <a:ext cx="160774" cy="1607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B2DF8369-3FD4-F19A-E6FE-3B3DC0E0902E}"/>
              </a:ext>
            </a:extLst>
          </p:cNvPr>
          <p:cNvSpPr/>
          <p:nvPr/>
        </p:nvSpPr>
        <p:spPr>
          <a:xfrm>
            <a:off x="10122548" y="2138072"/>
            <a:ext cx="160774" cy="1607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4" name="橢圓 33">
            <a:extLst>
              <a:ext uri="{FF2B5EF4-FFF2-40B4-BE49-F238E27FC236}">
                <a16:creationId xmlns:a16="http://schemas.microsoft.com/office/drawing/2014/main" id="{6C028913-9EAD-D606-14C0-CF742DEBD56F}"/>
              </a:ext>
            </a:extLst>
          </p:cNvPr>
          <p:cNvSpPr/>
          <p:nvPr/>
        </p:nvSpPr>
        <p:spPr>
          <a:xfrm>
            <a:off x="9545935" y="2138072"/>
            <a:ext cx="160774" cy="1607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E821920F-F9E4-702C-4CC7-FBC075A1265D}"/>
              </a:ext>
            </a:extLst>
          </p:cNvPr>
          <p:cNvSpPr txBox="1"/>
          <p:nvPr/>
        </p:nvSpPr>
        <p:spPr>
          <a:xfrm>
            <a:off x="2749986" y="4091436"/>
            <a:ext cx="482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❌</a:t>
            </a:r>
            <a:endParaRPr kumimoji="1" lang="zh-TW" altLang="en-US" dirty="0"/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A97534F2-4C66-5FBA-34F7-0C36AFE67EC3}"/>
              </a:ext>
            </a:extLst>
          </p:cNvPr>
          <p:cNvSpPr/>
          <p:nvPr/>
        </p:nvSpPr>
        <p:spPr>
          <a:xfrm>
            <a:off x="9018396" y="2138072"/>
            <a:ext cx="160774" cy="1607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F8F1719A-1BA1-4234-6D38-F45FF7E42CE6}"/>
              </a:ext>
            </a:extLst>
          </p:cNvPr>
          <p:cNvSpPr/>
          <p:nvPr/>
        </p:nvSpPr>
        <p:spPr>
          <a:xfrm>
            <a:off x="9029314" y="2602176"/>
            <a:ext cx="160774" cy="1607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06061F96-5867-D8D8-7EC7-349999F27972}"/>
              </a:ext>
            </a:extLst>
          </p:cNvPr>
          <p:cNvSpPr txBox="1"/>
          <p:nvPr/>
        </p:nvSpPr>
        <p:spPr>
          <a:xfrm>
            <a:off x="4450793" y="4614084"/>
            <a:ext cx="482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❌</a:t>
            </a:r>
            <a:endParaRPr kumimoji="1" lang="zh-TW" altLang="en-US" dirty="0"/>
          </a:p>
        </p:txBody>
      </p:sp>
      <p:sp>
        <p:nvSpPr>
          <p:cNvPr id="52" name="橢圓 51">
            <a:extLst>
              <a:ext uri="{FF2B5EF4-FFF2-40B4-BE49-F238E27FC236}">
                <a16:creationId xmlns:a16="http://schemas.microsoft.com/office/drawing/2014/main" id="{43046A38-EFE6-0911-68B7-BCC2BCB51C08}"/>
              </a:ext>
            </a:extLst>
          </p:cNvPr>
          <p:cNvSpPr/>
          <p:nvPr/>
        </p:nvSpPr>
        <p:spPr>
          <a:xfrm>
            <a:off x="8578620" y="3037223"/>
            <a:ext cx="160774" cy="1607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9F88F671-510B-E8D7-DDC0-9E98FFE565CD}"/>
              </a:ext>
            </a:extLst>
          </p:cNvPr>
          <p:cNvSpPr txBox="1"/>
          <p:nvPr/>
        </p:nvSpPr>
        <p:spPr>
          <a:xfrm>
            <a:off x="6149515" y="4159901"/>
            <a:ext cx="482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❌</a:t>
            </a:r>
            <a:endParaRPr kumimoji="1" lang="zh-TW" altLang="en-US" dirty="0"/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E765CEDF-B378-B987-E098-3BB840ACE082}"/>
              </a:ext>
            </a:extLst>
          </p:cNvPr>
          <p:cNvSpPr txBox="1"/>
          <p:nvPr/>
        </p:nvSpPr>
        <p:spPr>
          <a:xfrm>
            <a:off x="7028822" y="4502389"/>
            <a:ext cx="482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❌</a:t>
            </a:r>
            <a:endParaRPr kumimoji="1" lang="zh-TW" altLang="en-US" dirty="0"/>
          </a:p>
        </p:txBody>
      </p:sp>
      <p:sp>
        <p:nvSpPr>
          <p:cNvPr id="55" name="橢圓 54">
            <a:extLst>
              <a:ext uri="{FF2B5EF4-FFF2-40B4-BE49-F238E27FC236}">
                <a16:creationId xmlns:a16="http://schemas.microsoft.com/office/drawing/2014/main" id="{AEA92ED4-CCC6-568F-766F-2F4024CD8DEF}"/>
              </a:ext>
            </a:extLst>
          </p:cNvPr>
          <p:cNvSpPr/>
          <p:nvPr/>
        </p:nvSpPr>
        <p:spPr>
          <a:xfrm>
            <a:off x="8582608" y="3481849"/>
            <a:ext cx="160774" cy="1607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65B0F290-A5E4-D420-CCA4-BA7415AF31C4}"/>
              </a:ext>
            </a:extLst>
          </p:cNvPr>
          <p:cNvSpPr/>
          <p:nvPr/>
        </p:nvSpPr>
        <p:spPr>
          <a:xfrm>
            <a:off x="8593554" y="3915354"/>
            <a:ext cx="160774" cy="1607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41D5BEC0-F533-5B63-DED9-4F3BFF1AFD20}"/>
              </a:ext>
            </a:extLst>
          </p:cNvPr>
          <p:cNvCxnSpPr>
            <a:cxnSpLocks/>
            <a:stCxn id="56" idx="0"/>
          </p:cNvCxnSpPr>
          <p:nvPr/>
        </p:nvCxnSpPr>
        <p:spPr>
          <a:xfrm flipH="1" flipV="1">
            <a:off x="8651630" y="3142906"/>
            <a:ext cx="22311" cy="7724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接點 67">
            <a:extLst>
              <a:ext uri="{FF2B5EF4-FFF2-40B4-BE49-F238E27FC236}">
                <a16:creationId xmlns:a16="http://schemas.microsoft.com/office/drawing/2014/main" id="{E0ED200C-2092-A09C-7E05-362B52CBE652}"/>
              </a:ext>
            </a:extLst>
          </p:cNvPr>
          <p:cNvCxnSpPr>
            <a:cxnSpLocks/>
            <a:endCxn id="27" idx="3"/>
          </p:cNvCxnSpPr>
          <p:nvPr/>
        </p:nvCxnSpPr>
        <p:spPr>
          <a:xfrm flipV="1">
            <a:off x="8644547" y="2739405"/>
            <a:ext cx="408312" cy="41033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接點 70">
            <a:extLst>
              <a:ext uri="{FF2B5EF4-FFF2-40B4-BE49-F238E27FC236}">
                <a16:creationId xmlns:a16="http://schemas.microsoft.com/office/drawing/2014/main" id="{68591E41-229A-D422-2570-D0CF1772A3E1}"/>
              </a:ext>
            </a:extLst>
          </p:cNvPr>
          <p:cNvCxnSpPr>
            <a:cxnSpLocks/>
          </p:cNvCxnSpPr>
          <p:nvPr/>
        </p:nvCxnSpPr>
        <p:spPr>
          <a:xfrm flipH="1" flipV="1">
            <a:off x="9109701" y="2190836"/>
            <a:ext cx="11156" cy="54439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接點 72">
            <a:extLst>
              <a:ext uri="{FF2B5EF4-FFF2-40B4-BE49-F238E27FC236}">
                <a16:creationId xmlns:a16="http://schemas.microsoft.com/office/drawing/2014/main" id="{B37CEB78-A53C-34B4-4597-72A32CD17CA0}"/>
              </a:ext>
            </a:extLst>
          </p:cNvPr>
          <p:cNvCxnSpPr>
            <a:cxnSpLocks/>
          </p:cNvCxnSpPr>
          <p:nvPr/>
        </p:nvCxnSpPr>
        <p:spPr>
          <a:xfrm flipV="1">
            <a:off x="9112483" y="2208757"/>
            <a:ext cx="1010065" cy="46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接點 74">
            <a:extLst>
              <a:ext uri="{FF2B5EF4-FFF2-40B4-BE49-F238E27FC236}">
                <a16:creationId xmlns:a16="http://schemas.microsoft.com/office/drawing/2014/main" id="{709391A4-337D-6755-453A-AD2635F92A21}"/>
              </a:ext>
            </a:extLst>
          </p:cNvPr>
          <p:cNvCxnSpPr>
            <a:cxnSpLocks/>
          </p:cNvCxnSpPr>
          <p:nvPr/>
        </p:nvCxnSpPr>
        <p:spPr>
          <a:xfrm flipV="1">
            <a:off x="10227360" y="1849974"/>
            <a:ext cx="1010065" cy="46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接點 75">
            <a:extLst>
              <a:ext uri="{FF2B5EF4-FFF2-40B4-BE49-F238E27FC236}">
                <a16:creationId xmlns:a16="http://schemas.microsoft.com/office/drawing/2014/main" id="{338CDF96-173C-A093-D9F1-49AF0C678CEC}"/>
              </a:ext>
            </a:extLst>
          </p:cNvPr>
          <p:cNvCxnSpPr>
            <a:cxnSpLocks/>
          </p:cNvCxnSpPr>
          <p:nvPr/>
        </p:nvCxnSpPr>
        <p:spPr>
          <a:xfrm>
            <a:off x="10217124" y="1872151"/>
            <a:ext cx="0" cy="30807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993099FE-2D0A-8318-CBC4-DB2EACAE1047}"/>
              </a:ext>
            </a:extLst>
          </p:cNvPr>
          <p:cNvSpPr txBox="1"/>
          <p:nvPr/>
        </p:nvSpPr>
        <p:spPr>
          <a:xfrm>
            <a:off x="1090248" y="5626391"/>
            <a:ext cx="3315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0</a:t>
            </a:r>
            <a:endParaRPr kumimoji="1" lang="zh-TW" altLang="en-US" sz="2000" b="1" dirty="0"/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1C98BA3B-2639-DED9-4CFC-8F37E511CAE8}"/>
              </a:ext>
            </a:extLst>
          </p:cNvPr>
          <p:cNvSpPr txBox="1"/>
          <p:nvPr/>
        </p:nvSpPr>
        <p:spPr>
          <a:xfrm>
            <a:off x="2006659" y="5626391"/>
            <a:ext cx="4973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20</a:t>
            </a:r>
            <a:endParaRPr kumimoji="1" lang="zh-TW" altLang="en-US" sz="2000" b="1" dirty="0"/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B4E2AB0D-B195-B315-E507-D1FAB0F754C2}"/>
              </a:ext>
            </a:extLst>
          </p:cNvPr>
          <p:cNvSpPr txBox="1"/>
          <p:nvPr/>
        </p:nvSpPr>
        <p:spPr>
          <a:xfrm>
            <a:off x="6923316" y="5626391"/>
            <a:ext cx="693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100</a:t>
            </a:r>
            <a:endParaRPr kumimoji="1" lang="zh-TW" altLang="en-US" sz="2000" b="1" dirty="0"/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5EDFAF41-BD88-6A30-CE63-11C09A513D90}"/>
              </a:ext>
            </a:extLst>
          </p:cNvPr>
          <p:cNvSpPr txBox="1"/>
          <p:nvPr/>
        </p:nvSpPr>
        <p:spPr>
          <a:xfrm>
            <a:off x="5645168" y="5626391"/>
            <a:ext cx="693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80</a:t>
            </a:r>
            <a:endParaRPr kumimoji="1" lang="zh-TW" altLang="en-US" sz="2000" b="1" dirty="0"/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237E4236-EFD5-9FB7-65CB-C81D3A71E8DC}"/>
              </a:ext>
            </a:extLst>
          </p:cNvPr>
          <p:cNvSpPr txBox="1"/>
          <p:nvPr/>
        </p:nvSpPr>
        <p:spPr>
          <a:xfrm>
            <a:off x="4367018" y="5626391"/>
            <a:ext cx="693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60</a:t>
            </a:r>
            <a:endParaRPr kumimoji="1" lang="zh-TW" altLang="en-US" sz="2000" b="1" dirty="0"/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1D128A96-15D4-E664-FCEB-E23549BFB298}"/>
              </a:ext>
            </a:extLst>
          </p:cNvPr>
          <p:cNvSpPr txBox="1"/>
          <p:nvPr/>
        </p:nvSpPr>
        <p:spPr>
          <a:xfrm>
            <a:off x="3088868" y="5626391"/>
            <a:ext cx="693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40</a:t>
            </a:r>
            <a:endParaRPr kumimoji="1" lang="zh-TW" altLang="en-US" sz="2000" b="1" dirty="0"/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37C1DD8F-672F-3800-47D8-D23290821F56}"/>
              </a:ext>
            </a:extLst>
          </p:cNvPr>
          <p:cNvSpPr txBox="1"/>
          <p:nvPr/>
        </p:nvSpPr>
        <p:spPr>
          <a:xfrm>
            <a:off x="7596555" y="5149338"/>
            <a:ext cx="20297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模型預測為疾病的機率值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(%)</a:t>
            </a:r>
            <a:endParaRPr kumimoji="1" lang="zh-TW" altLang="en-US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5BB6F0CC-E848-A7F8-8CD8-0AF9620159B3}"/>
              </a:ext>
            </a:extLst>
          </p:cNvPr>
          <p:cNvSpPr txBox="1"/>
          <p:nvPr/>
        </p:nvSpPr>
        <p:spPr>
          <a:xfrm>
            <a:off x="673463" y="2578514"/>
            <a:ext cx="259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TPR: 0.0, FPR: 0.0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982046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41B55B-BF60-EEF2-39E2-6FC4F3BB4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ROC Curve (bad case)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86725D2-9CC6-5B07-A89D-9501F7F6C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30</a:t>
            </a:fld>
            <a:endParaRPr 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1F3E14CA-8B06-2804-6ECB-0302F3CA79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7442" y="2100819"/>
            <a:ext cx="2390171" cy="2656361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60073B3A-956C-D8C2-5462-303CF3826BF7}"/>
              </a:ext>
            </a:extLst>
          </p:cNvPr>
          <p:cNvSpPr txBox="1"/>
          <p:nvPr/>
        </p:nvSpPr>
        <p:spPr>
          <a:xfrm>
            <a:off x="653142" y="1763778"/>
            <a:ext cx="6580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Bad case: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模型對於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positive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和 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negative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區分能力差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00CBCF24-9653-E09B-FD68-1E68F8012C10}"/>
              </a:ext>
            </a:extLst>
          </p:cNvPr>
          <p:cNvSpPr txBox="1"/>
          <p:nvPr/>
        </p:nvSpPr>
        <p:spPr>
          <a:xfrm>
            <a:off x="1421844" y="4027049"/>
            <a:ext cx="638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3200" dirty="0"/>
              <a:t>💪</a:t>
            </a:r>
            <a:endParaRPr lang="zh-TW" altLang="en-US" sz="3200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444BDE5C-99BE-031F-463B-BBAC0A801875}"/>
              </a:ext>
            </a:extLst>
          </p:cNvPr>
          <p:cNvSpPr txBox="1"/>
          <p:nvPr/>
        </p:nvSpPr>
        <p:spPr>
          <a:xfrm>
            <a:off x="1340165" y="4532848"/>
            <a:ext cx="7686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4000" dirty="0"/>
              <a:t>🦠</a:t>
            </a:r>
            <a:endParaRPr lang="zh-TW" altLang="en-US" sz="4000" dirty="0"/>
          </a:p>
        </p:txBody>
      </p:sp>
      <p:sp>
        <p:nvSpPr>
          <p:cNvPr id="14" name="向右箭號 13">
            <a:extLst>
              <a:ext uri="{FF2B5EF4-FFF2-40B4-BE49-F238E27FC236}">
                <a16:creationId xmlns:a16="http://schemas.microsoft.com/office/drawing/2014/main" id="{D5A68A10-97A4-EE91-9C79-7F4FF84ECE0A}"/>
              </a:ext>
            </a:extLst>
          </p:cNvPr>
          <p:cNvSpPr/>
          <p:nvPr/>
        </p:nvSpPr>
        <p:spPr>
          <a:xfrm>
            <a:off x="1256046" y="5355768"/>
            <a:ext cx="6219929" cy="25120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739C3700-4475-4C2B-00F8-4D51DE2C7919}"/>
              </a:ext>
            </a:extLst>
          </p:cNvPr>
          <p:cNvSpPr txBox="1"/>
          <p:nvPr/>
        </p:nvSpPr>
        <p:spPr>
          <a:xfrm>
            <a:off x="2197081" y="4617570"/>
            <a:ext cx="638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3200" dirty="0"/>
              <a:t>💪</a:t>
            </a:r>
            <a:endParaRPr lang="zh-TW" altLang="en-US" sz="3200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DADCC897-AC1D-E584-B090-FC4D9DBB2DF6}"/>
              </a:ext>
            </a:extLst>
          </p:cNvPr>
          <p:cNvSpPr txBox="1"/>
          <p:nvPr/>
        </p:nvSpPr>
        <p:spPr>
          <a:xfrm>
            <a:off x="3036113" y="4698684"/>
            <a:ext cx="638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3200" dirty="0"/>
              <a:t>💪</a:t>
            </a:r>
            <a:endParaRPr lang="zh-TW" altLang="en-US" sz="3200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C4FDBDD7-B856-DD3F-7D3E-9978A27ED147}"/>
              </a:ext>
            </a:extLst>
          </p:cNvPr>
          <p:cNvSpPr txBox="1"/>
          <p:nvPr/>
        </p:nvSpPr>
        <p:spPr>
          <a:xfrm>
            <a:off x="3869219" y="4064850"/>
            <a:ext cx="638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3200" dirty="0"/>
              <a:t>💪</a:t>
            </a:r>
            <a:endParaRPr lang="zh-TW" altLang="en-US" sz="3200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31DB169D-A9B2-187E-0D7D-099994FE7791}"/>
              </a:ext>
            </a:extLst>
          </p:cNvPr>
          <p:cNvSpPr txBox="1"/>
          <p:nvPr/>
        </p:nvSpPr>
        <p:spPr>
          <a:xfrm>
            <a:off x="2127434" y="4018972"/>
            <a:ext cx="7686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4000" dirty="0"/>
              <a:t>🦠</a:t>
            </a:r>
            <a:endParaRPr lang="zh-TW" altLang="en-US" sz="4000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C218B628-8F8B-234F-FFB6-195CFD807921}"/>
              </a:ext>
            </a:extLst>
          </p:cNvPr>
          <p:cNvSpPr txBox="1"/>
          <p:nvPr/>
        </p:nvSpPr>
        <p:spPr>
          <a:xfrm>
            <a:off x="2945083" y="4099393"/>
            <a:ext cx="7686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4000" dirty="0"/>
              <a:t>🦠</a:t>
            </a:r>
            <a:endParaRPr lang="zh-TW" altLang="en-US" sz="4000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DEC9CD40-5B71-38A1-3BE1-0EABA5387223}"/>
              </a:ext>
            </a:extLst>
          </p:cNvPr>
          <p:cNvSpPr txBox="1"/>
          <p:nvPr/>
        </p:nvSpPr>
        <p:spPr>
          <a:xfrm>
            <a:off x="3805170" y="4611728"/>
            <a:ext cx="7686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4000" dirty="0"/>
              <a:t>🦠</a:t>
            </a:r>
            <a:endParaRPr lang="zh-TW" altLang="en-US" sz="4000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AA50697D-B465-BBD6-104D-BAFFA688B1CF}"/>
              </a:ext>
            </a:extLst>
          </p:cNvPr>
          <p:cNvSpPr txBox="1"/>
          <p:nvPr/>
        </p:nvSpPr>
        <p:spPr>
          <a:xfrm>
            <a:off x="5027684" y="4583026"/>
            <a:ext cx="7686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4000" dirty="0"/>
              <a:t>🦠</a:t>
            </a:r>
            <a:endParaRPr lang="zh-TW" altLang="en-US" sz="4000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B4054F33-D1D0-E19C-1620-AE4646499564}"/>
              </a:ext>
            </a:extLst>
          </p:cNvPr>
          <p:cNvSpPr txBox="1"/>
          <p:nvPr/>
        </p:nvSpPr>
        <p:spPr>
          <a:xfrm>
            <a:off x="5066885" y="4026953"/>
            <a:ext cx="638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3200" dirty="0"/>
              <a:t>💪</a:t>
            </a:r>
            <a:endParaRPr lang="zh-TW" altLang="en-US" sz="3200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7A869501-B00E-EBA2-B2D6-D88EE4C3E9CD}"/>
              </a:ext>
            </a:extLst>
          </p:cNvPr>
          <p:cNvSpPr txBox="1"/>
          <p:nvPr/>
        </p:nvSpPr>
        <p:spPr>
          <a:xfrm>
            <a:off x="4366010" y="3054696"/>
            <a:ext cx="2305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COVID-19</a:t>
            </a:r>
            <a:endParaRPr kumimoji="1" lang="zh-TW" altLang="en-US" sz="2400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75A665F5-623B-3995-96F7-2D478E6DFE9C}"/>
              </a:ext>
            </a:extLst>
          </p:cNvPr>
          <p:cNvSpPr txBox="1"/>
          <p:nvPr/>
        </p:nvSpPr>
        <p:spPr>
          <a:xfrm>
            <a:off x="1457389" y="3054696"/>
            <a:ext cx="2305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healthy</a:t>
            </a:r>
            <a:endParaRPr kumimoji="1" lang="zh-TW" altLang="en-US" sz="240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ACAD16F3-60DC-6214-69B0-4922B5D8D688}"/>
              </a:ext>
            </a:extLst>
          </p:cNvPr>
          <p:cNvSpPr txBox="1"/>
          <p:nvPr/>
        </p:nvSpPr>
        <p:spPr>
          <a:xfrm>
            <a:off x="1090248" y="5626391"/>
            <a:ext cx="3315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0</a:t>
            </a:r>
            <a:endParaRPr kumimoji="1" lang="zh-TW" altLang="en-US" sz="2000" b="1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F2BA733-ADCF-33D2-D417-B516A595878D}"/>
              </a:ext>
            </a:extLst>
          </p:cNvPr>
          <p:cNvSpPr txBox="1"/>
          <p:nvPr/>
        </p:nvSpPr>
        <p:spPr>
          <a:xfrm>
            <a:off x="2006659" y="5626391"/>
            <a:ext cx="4973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20</a:t>
            </a:r>
            <a:endParaRPr kumimoji="1" lang="zh-TW" altLang="en-US" sz="2000" b="1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7A64C7D-69C4-5060-CD39-DC51585343AB}"/>
              </a:ext>
            </a:extLst>
          </p:cNvPr>
          <p:cNvSpPr txBox="1"/>
          <p:nvPr/>
        </p:nvSpPr>
        <p:spPr>
          <a:xfrm>
            <a:off x="6923316" y="5626391"/>
            <a:ext cx="693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100</a:t>
            </a:r>
            <a:endParaRPr kumimoji="1" lang="zh-TW" altLang="en-US" sz="2000" b="1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DC20F1D-621B-7014-331B-E00B1221F153}"/>
              </a:ext>
            </a:extLst>
          </p:cNvPr>
          <p:cNvSpPr txBox="1"/>
          <p:nvPr/>
        </p:nvSpPr>
        <p:spPr>
          <a:xfrm>
            <a:off x="5645168" y="5626391"/>
            <a:ext cx="693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80</a:t>
            </a:r>
            <a:endParaRPr kumimoji="1" lang="zh-TW" altLang="en-US" sz="2000" b="1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8D8F5A2-DBBB-D222-30EF-AC6CE8A926B4}"/>
              </a:ext>
            </a:extLst>
          </p:cNvPr>
          <p:cNvSpPr txBox="1"/>
          <p:nvPr/>
        </p:nvSpPr>
        <p:spPr>
          <a:xfrm>
            <a:off x="4367018" y="5626391"/>
            <a:ext cx="693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60</a:t>
            </a:r>
            <a:endParaRPr kumimoji="1" lang="zh-TW" altLang="en-US" sz="2000" b="1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E3C48F17-1C61-6558-CDB1-AB9CC0CBB360}"/>
              </a:ext>
            </a:extLst>
          </p:cNvPr>
          <p:cNvSpPr txBox="1"/>
          <p:nvPr/>
        </p:nvSpPr>
        <p:spPr>
          <a:xfrm>
            <a:off x="3088868" y="5626391"/>
            <a:ext cx="693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40</a:t>
            </a:r>
            <a:endParaRPr kumimoji="1" lang="zh-TW" altLang="en-US" sz="2000" b="1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B40A04C7-F150-225C-00F5-85866F217B4F}"/>
              </a:ext>
            </a:extLst>
          </p:cNvPr>
          <p:cNvSpPr txBox="1"/>
          <p:nvPr/>
        </p:nvSpPr>
        <p:spPr>
          <a:xfrm>
            <a:off x="6896168" y="611186"/>
            <a:ext cx="48841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400" dirty="0"/>
              <a:t>(Useful!!) https://</a:t>
            </a:r>
            <a:r>
              <a:rPr kumimoji="1" lang="en" altLang="zh-TW" sz="1400" dirty="0" err="1"/>
              <a:t>developers.google.com</a:t>
            </a:r>
            <a:r>
              <a:rPr kumimoji="1" lang="en" altLang="zh-TW" sz="1400" dirty="0"/>
              <a:t>/machine-learning/crash-course/classification/</a:t>
            </a:r>
            <a:r>
              <a:rPr kumimoji="1" lang="en" altLang="zh-TW" sz="1400" dirty="0" err="1"/>
              <a:t>roc-and-auc?hl</a:t>
            </a:r>
            <a:r>
              <a:rPr kumimoji="1" lang="en" altLang="zh-TW" sz="1400" dirty="0"/>
              <a:t>=</a:t>
            </a:r>
            <a:r>
              <a:rPr kumimoji="1" lang="en" altLang="zh-TW" sz="1400" dirty="0" err="1"/>
              <a:t>zh-tw</a:t>
            </a:r>
            <a:endParaRPr kumimoji="1"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9504250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5696E3-80FC-3E5A-74E4-4D36221E6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完美模型的條件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BD2E45F-EE7C-CCA4-821A-1D4371C38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1AA4F84-6B8B-AFBC-997F-AB182B36C3F8}"/>
              </a:ext>
            </a:extLst>
          </p:cNvPr>
          <p:cNvSpPr txBox="1"/>
          <p:nvPr/>
        </p:nvSpPr>
        <p:spPr>
          <a:xfrm>
            <a:off x="653145" y="1806093"/>
            <a:ext cx="6551524" cy="280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分類結果完全正確</a:t>
            </a:r>
            <a:endParaRPr kumimoji="1" lang="en-US" altLang="zh-TW" sz="2000" dirty="0"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沒有誤判</a:t>
            </a:r>
            <a:endParaRPr kumimoji="1" lang="en-US" altLang="zh-TW" sz="2000" dirty="0">
              <a:ea typeface="Microsoft JhengHei" panose="020B0604030504040204" pitchFamily="34" charset="-12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>
                <a:ea typeface="Microsoft JhengHei" panose="020B0604030504040204" pitchFamily="34" charset="-120"/>
              </a:rPr>
              <a:t>No False Negatives: TPR 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越高越好</a:t>
            </a:r>
            <a:endParaRPr kumimoji="1" lang="en-US" altLang="zh-TW" sz="2000" dirty="0">
              <a:ea typeface="Microsoft JhengHei" panose="020B0604030504040204" pitchFamily="34" charset="-12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>
                <a:ea typeface="Microsoft JhengHei" panose="020B0604030504040204" pitchFamily="34" charset="-120"/>
              </a:rPr>
              <a:t>No False Positives: FPR 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越低越好</a:t>
            </a:r>
            <a:endParaRPr kumimoji="1" lang="en-US" altLang="zh-TW" sz="2000" dirty="0"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完美模型中存在一個「理想 </a:t>
            </a:r>
            <a:r>
              <a:rPr kumimoji="1" lang="en" altLang="zh-TW" sz="2000" dirty="0">
                <a:ea typeface="Microsoft JhengHei" panose="020B0604030504040204" pitchFamily="34" charset="-120"/>
              </a:rPr>
              <a:t>threshold 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區間」，使我們能同時得到 </a:t>
            </a:r>
            <a:r>
              <a:rPr kumimoji="1" lang="en" altLang="zh-TW" sz="2000" dirty="0">
                <a:ea typeface="Microsoft JhengHei" panose="020B0604030504040204" pitchFamily="34" charset="-120"/>
              </a:rPr>
              <a:t>TPR = 1 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且 </a:t>
            </a:r>
            <a:r>
              <a:rPr kumimoji="1" lang="en" altLang="zh-TW" sz="2000" dirty="0">
                <a:ea typeface="Microsoft JhengHei" panose="020B0604030504040204" pitchFamily="34" charset="-120"/>
              </a:rPr>
              <a:t>FPR = 0</a:t>
            </a:r>
            <a:endParaRPr kumimoji="1" lang="en-US" altLang="zh-TW" sz="2000" dirty="0">
              <a:ea typeface="Microsoft JhengHei" panose="020B0604030504040204" pitchFamily="34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FCE9062-4EC2-8504-EBC5-220C282B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941" y="2258611"/>
            <a:ext cx="3218625" cy="3287842"/>
          </a:xfrm>
          <a:prstGeom prst="rect">
            <a:avLst/>
          </a:prstGeom>
        </p:spPr>
      </p:pic>
      <p:sp>
        <p:nvSpPr>
          <p:cNvPr id="7" name="橢圓 6">
            <a:extLst>
              <a:ext uri="{FF2B5EF4-FFF2-40B4-BE49-F238E27FC236}">
                <a16:creationId xmlns:a16="http://schemas.microsoft.com/office/drawing/2014/main" id="{E7AC9878-8A31-CC62-8C19-A5AD5E504CF0}"/>
              </a:ext>
            </a:extLst>
          </p:cNvPr>
          <p:cNvSpPr/>
          <p:nvPr/>
        </p:nvSpPr>
        <p:spPr>
          <a:xfrm>
            <a:off x="8279841" y="2351280"/>
            <a:ext cx="160774" cy="1607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267581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32DB69-0711-08EF-ABE6-DE1EDF73E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Confusion Matrix</a:t>
            </a:r>
            <a:r>
              <a:rPr kumimoji="1" lang="en-US" altLang="zh-TW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混淆矩陣</a:t>
            </a:r>
            <a:r>
              <a:rPr lang="en-US" altLang="zh-TW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)</a:t>
            </a:r>
            <a:r>
              <a:rPr lang="zh-TW" altLang="en-US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kumimoji="1" lang="en-US" altLang="zh-TW" dirty="0"/>
              <a:t>for ROC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6B8A267-9F89-75F6-7478-CCB2D8FB6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32</a:t>
            </a:fld>
            <a:endParaRPr 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48DF8A4C-5AC4-9CE1-4981-9C40B22E39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6399393"/>
              </p:ext>
            </p:extLst>
          </p:nvPr>
        </p:nvGraphicFramePr>
        <p:xfrm>
          <a:off x="653143" y="2071824"/>
          <a:ext cx="5586882" cy="3585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2294">
                  <a:extLst>
                    <a:ext uri="{9D8B030D-6E8A-4147-A177-3AD203B41FA5}">
                      <a16:colId xmlns:a16="http://schemas.microsoft.com/office/drawing/2014/main" val="2183311964"/>
                    </a:ext>
                  </a:extLst>
                </a:gridCol>
                <a:gridCol w="1862294">
                  <a:extLst>
                    <a:ext uri="{9D8B030D-6E8A-4147-A177-3AD203B41FA5}">
                      <a16:colId xmlns:a16="http://schemas.microsoft.com/office/drawing/2014/main" val="2298018437"/>
                    </a:ext>
                  </a:extLst>
                </a:gridCol>
                <a:gridCol w="1862294">
                  <a:extLst>
                    <a:ext uri="{9D8B030D-6E8A-4147-A177-3AD203B41FA5}">
                      <a16:colId xmlns:a16="http://schemas.microsoft.com/office/drawing/2014/main" val="1002637503"/>
                    </a:ext>
                  </a:extLst>
                </a:gridCol>
              </a:tblGrid>
              <a:tr h="1195133"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2200" dirty="0">
                          <a:solidFill>
                            <a:schemeClr val="tx1"/>
                          </a:solidFill>
                        </a:rPr>
                        <a:t>Actually positive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2200" dirty="0">
                          <a:solidFill>
                            <a:schemeClr val="tx1"/>
                          </a:solidFill>
                        </a:rPr>
                        <a:t>Actually negative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0552380"/>
                  </a:ext>
                </a:extLst>
              </a:tr>
              <a:tr h="11951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200" b="1" dirty="0">
                          <a:solidFill>
                            <a:schemeClr val="tx1"/>
                          </a:solidFill>
                        </a:rPr>
                        <a:t>Predicted positive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bg1"/>
                          </a:solidFill>
                        </a:rPr>
                        <a:t>True positive (TP)</a:t>
                      </a:r>
                      <a:endParaRPr lang="zh-TW" altLang="en-US" sz="2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434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200" dirty="0">
                          <a:solidFill>
                            <a:schemeClr val="bg1"/>
                          </a:solidFill>
                        </a:rPr>
                        <a:t>False positive (FP)</a:t>
                      </a:r>
                      <a:endParaRPr lang="zh-TW" altLang="en-US" sz="2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434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971663"/>
                  </a:ext>
                </a:extLst>
              </a:tr>
              <a:tr h="11951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200" b="1" dirty="0">
                          <a:solidFill>
                            <a:schemeClr val="tx1"/>
                          </a:solidFill>
                        </a:rPr>
                        <a:t>Predicted negative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False negative (FN)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True negative (TN)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9883575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770E60D2-2FC5-1978-ADCF-F53FB0DC1D64}"/>
              </a:ext>
            </a:extLst>
          </p:cNvPr>
          <p:cNvSpPr txBox="1"/>
          <p:nvPr/>
        </p:nvSpPr>
        <p:spPr>
          <a:xfrm>
            <a:off x="6680640" y="2610957"/>
            <a:ext cx="4858217" cy="1421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TW" sz="20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TP / (TP + FN): True Positive Rate (TPR)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又稱作 </a:t>
            </a:r>
            <a:r>
              <a:rPr lang="en" altLang="zh-TW" sz="20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Recall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TW" sz="20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FP / (FP+TN): False Positive Rate</a:t>
            </a:r>
            <a:r>
              <a:rPr lang="zh-TW" altLang="en-US" sz="20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(FPR)</a:t>
            </a:r>
            <a:endParaRPr lang="en" altLang="zh-TW" sz="2000" dirty="0"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11862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F9110C-2636-D3FA-5430-774470315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Recall and Precision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DAD56BD-21EE-8451-AAA9-815C1B673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33</a:t>
            </a:fld>
            <a:endParaRPr lang="en-US" dirty="0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7E1F5BA6-56C7-5EC8-C822-804C89F06A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074"/>
          <a:stretch/>
        </p:blipFill>
        <p:spPr bwMode="auto">
          <a:xfrm>
            <a:off x="1162050" y="1862512"/>
            <a:ext cx="3762771" cy="4510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undefined">
            <a:extLst>
              <a:ext uri="{FF2B5EF4-FFF2-40B4-BE49-F238E27FC236}">
                <a16:creationId xmlns:a16="http://schemas.microsoft.com/office/drawing/2014/main" id="{7CCB8BE8-5A0D-7D85-62E0-0B24037DE3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000"/>
          <a:stretch/>
        </p:blipFill>
        <p:spPr bwMode="auto">
          <a:xfrm>
            <a:off x="5834761" y="2689198"/>
            <a:ext cx="4910274" cy="2856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AE2D4E6D-F68F-FDE9-D367-FF0EB7AA6539}"/>
              </a:ext>
            </a:extLst>
          </p:cNvPr>
          <p:cNvSpPr txBox="1"/>
          <p:nvPr/>
        </p:nvSpPr>
        <p:spPr>
          <a:xfrm>
            <a:off x="6096000" y="6415560"/>
            <a:ext cx="49102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600" dirty="0"/>
              <a:t>https://</a:t>
            </a:r>
            <a:r>
              <a:rPr kumimoji="1" lang="en" altLang="zh-TW" sz="1600" dirty="0" err="1"/>
              <a:t>en.wikipedia.org</a:t>
            </a:r>
            <a:r>
              <a:rPr kumimoji="1" lang="en" altLang="zh-TW" sz="1600" dirty="0"/>
              <a:t>/wiki/</a:t>
            </a:r>
            <a:r>
              <a:rPr kumimoji="1" lang="en" altLang="zh-TW" sz="1600" dirty="0" err="1"/>
              <a:t>Precision_and_recall</a:t>
            </a:r>
            <a:endParaRPr kumimoji="1" lang="zh-TW" altLang="en-US" sz="16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DAB6AFC-63BF-3411-3C9D-3F17E132E1D9}"/>
              </a:ext>
            </a:extLst>
          </p:cNvPr>
          <p:cNvSpPr txBox="1"/>
          <p:nvPr/>
        </p:nvSpPr>
        <p:spPr>
          <a:xfrm>
            <a:off x="3220719" y="6028358"/>
            <a:ext cx="1312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(</a:t>
            </a:r>
            <a:r>
              <a:rPr kumimoji="1" lang="zh-TW" altLang="en-US" dirty="0"/>
              <a:t>模型預測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165642E-AD07-770F-71A2-2B77CF77E53A}"/>
              </a:ext>
            </a:extLst>
          </p:cNvPr>
          <p:cNvSpPr txBox="1"/>
          <p:nvPr/>
        </p:nvSpPr>
        <p:spPr>
          <a:xfrm>
            <a:off x="1605279" y="1632606"/>
            <a:ext cx="1312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(</a:t>
            </a:r>
            <a:r>
              <a:rPr kumimoji="1" lang="zh-TW" altLang="en-US" dirty="0"/>
              <a:t>正確答案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22672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32DB69-0711-08EF-ABE6-DE1EDF73E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Confusion Matrix</a:t>
            </a:r>
            <a:r>
              <a:rPr kumimoji="1" lang="zh-TW" altLang="en-US" dirty="0"/>
              <a:t> </a:t>
            </a:r>
            <a:r>
              <a:rPr kumimoji="1" lang="en-US" altLang="zh-TW" dirty="0"/>
              <a:t>for General Uses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6B8A267-9F89-75F6-7478-CCB2D8FB6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34</a:t>
            </a:fld>
            <a:endParaRPr 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48DF8A4C-5AC4-9CE1-4981-9C40B22E39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7674868"/>
              </p:ext>
            </p:extLst>
          </p:nvPr>
        </p:nvGraphicFramePr>
        <p:xfrm>
          <a:off x="653143" y="2071824"/>
          <a:ext cx="5586882" cy="3585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2294">
                  <a:extLst>
                    <a:ext uri="{9D8B030D-6E8A-4147-A177-3AD203B41FA5}">
                      <a16:colId xmlns:a16="http://schemas.microsoft.com/office/drawing/2014/main" val="2183311964"/>
                    </a:ext>
                  </a:extLst>
                </a:gridCol>
                <a:gridCol w="1862294">
                  <a:extLst>
                    <a:ext uri="{9D8B030D-6E8A-4147-A177-3AD203B41FA5}">
                      <a16:colId xmlns:a16="http://schemas.microsoft.com/office/drawing/2014/main" val="2298018437"/>
                    </a:ext>
                  </a:extLst>
                </a:gridCol>
                <a:gridCol w="1862294">
                  <a:extLst>
                    <a:ext uri="{9D8B030D-6E8A-4147-A177-3AD203B41FA5}">
                      <a16:colId xmlns:a16="http://schemas.microsoft.com/office/drawing/2014/main" val="1002637503"/>
                    </a:ext>
                  </a:extLst>
                </a:gridCol>
              </a:tblGrid>
              <a:tr h="1195133"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2200" dirty="0">
                          <a:solidFill>
                            <a:schemeClr val="tx1"/>
                          </a:solidFill>
                        </a:rPr>
                        <a:t>Actually positive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2200" dirty="0">
                          <a:solidFill>
                            <a:schemeClr val="tx1"/>
                          </a:solidFill>
                        </a:rPr>
                        <a:t>Actually negative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552380"/>
                  </a:ext>
                </a:extLst>
              </a:tr>
              <a:tr h="11951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200" b="1" dirty="0">
                          <a:solidFill>
                            <a:schemeClr val="tx1"/>
                          </a:solidFill>
                        </a:rPr>
                        <a:t>Predicted positive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True positive (TP)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False positive (FP)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2971663"/>
                  </a:ext>
                </a:extLst>
              </a:tr>
              <a:tr h="11951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200" b="1" dirty="0">
                          <a:solidFill>
                            <a:schemeClr val="tx1"/>
                          </a:solidFill>
                        </a:rPr>
                        <a:t>Predicted negative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False negative (FN)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True negative (TN)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9883575"/>
                  </a:ext>
                </a:extLst>
              </a:tr>
            </a:tbl>
          </a:graphicData>
        </a:graphic>
      </p:graphicFrame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F612AB1A-47AD-2DAC-6A09-4D47286704EF}"/>
              </a:ext>
            </a:extLst>
          </p:cNvPr>
          <p:cNvSpPr txBox="1">
            <a:spLocks/>
          </p:cNvSpPr>
          <p:nvPr/>
        </p:nvSpPr>
        <p:spPr>
          <a:xfrm>
            <a:off x="7908054" y="3584628"/>
            <a:ext cx="3748034" cy="124109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kumimoji="1" lang="en-US" altLang="zh-TW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70E60D2-2FC5-1978-ADCF-F53FB0DC1D64}"/>
              </a:ext>
            </a:extLst>
          </p:cNvPr>
          <p:cNvSpPr txBox="1"/>
          <p:nvPr/>
        </p:nvSpPr>
        <p:spPr>
          <a:xfrm>
            <a:off x="6680640" y="2181134"/>
            <a:ext cx="4858217" cy="3268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斜對角數值越大越好</a:t>
            </a:r>
            <a:endParaRPr lang="en-US" altLang="zh-TW" sz="2000" dirty="0"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TW" sz="20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TP </a:t>
            </a:r>
            <a:r>
              <a:rPr lang="zh-TW" altLang="en-US" sz="20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和</a:t>
            </a:r>
            <a:r>
              <a:rPr lang="en-US" altLang="zh-TW" sz="20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TN</a:t>
            </a:r>
            <a:r>
              <a:rPr lang="zh-TW" altLang="en-US" sz="20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越大越好</a:t>
            </a:r>
            <a:endParaRPr lang="en-US" altLang="zh-TW" sz="2000" dirty="0"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0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Precision = TP / (TP + FP)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模型預測的</a:t>
            </a:r>
            <a:r>
              <a:rPr lang="en-US" altLang="zh-TW" sz="20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TP</a:t>
            </a:r>
            <a:r>
              <a:rPr lang="zh-TW" altLang="en-US" sz="20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比例</a:t>
            </a:r>
            <a:endParaRPr lang="en-US" altLang="zh-TW" sz="2000" dirty="0"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0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Recall = TP / (TP + FN)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0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F1-score (</a:t>
            </a:r>
            <a:r>
              <a:rPr lang="zh-TW" altLang="en-US" sz="20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廣義</a:t>
            </a:r>
            <a:r>
              <a:rPr lang="en-US" altLang="zh-TW" sz="20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) = 2(Precision*Recall) / (</a:t>
            </a:r>
            <a:r>
              <a:rPr lang="en-US" altLang="zh-TW" sz="20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Precision+Recall</a:t>
            </a:r>
            <a:r>
              <a:rPr lang="en-US" altLang="zh-TW" sz="20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)</a:t>
            </a:r>
          </a:p>
        </p:txBody>
      </p:sp>
      <p:cxnSp>
        <p:nvCxnSpPr>
          <p:cNvPr id="9" name="直線箭頭接點 8">
            <a:extLst>
              <a:ext uri="{FF2B5EF4-FFF2-40B4-BE49-F238E27FC236}">
                <a16:creationId xmlns:a16="http://schemas.microsoft.com/office/drawing/2014/main" id="{E9938163-14C4-A021-3D68-56DF9F6F231D}"/>
              </a:ext>
            </a:extLst>
          </p:cNvPr>
          <p:cNvCxnSpPr/>
          <p:nvPr/>
        </p:nvCxnSpPr>
        <p:spPr>
          <a:xfrm flipV="1">
            <a:off x="2890129" y="3891826"/>
            <a:ext cx="0" cy="34813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箭頭接點 9">
            <a:extLst>
              <a:ext uri="{FF2B5EF4-FFF2-40B4-BE49-F238E27FC236}">
                <a16:creationId xmlns:a16="http://schemas.microsoft.com/office/drawing/2014/main" id="{4536941D-D130-C3AC-7B07-303D52038D1B}"/>
              </a:ext>
            </a:extLst>
          </p:cNvPr>
          <p:cNvCxnSpPr/>
          <p:nvPr/>
        </p:nvCxnSpPr>
        <p:spPr>
          <a:xfrm flipV="1">
            <a:off x="4775200" y="4712553"/>
            <a:ext cx="0" cy="34813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340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0DCBB0-A82C-8D86-A17B-BA781BA26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 err="1"/>
              <a:t>roc_curve</a:t>
            </a:r>
            <a:r>
              <a:rPr kumimoji="1" lang="en" altLang="zh-TW" dirty="0"/>
              <a:t> using scikit-learn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EF23DB9-2049-9FD6-3306-854FE1A32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35</a:t>
            </a:fld>
            <a:endParaRPr lang="en-US" dirty="0"/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8594A738-9BB5-7CB8-DE8F-EE2585A6AC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8164893"/>
              </p:ext>
            </p:extLst>
          </p:nvPr>
        </p:nvGraphicFramePr>
        <p:xfrm>
          <a:off x="1501842" y="2871810"/>
          <a:ext cx="9188315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88315">
                  <a:extLst>
                    <a:ext uri="{9D8B030D-6E8A-4147-A177-3AD203B41FA5}">
                      <a16:colId xmlns:a16="http://schemas.microsoft.com/office/drawing/2014/main" val="34596536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" altLang="zh-TW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import </a:t>
                      </a:r>
                      <a:r>
                        <a:rPr lang="en" altLang="zh-TW" sz="20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numpy</a:t>
                      </a:r>
                      <a:r>
                        <a:rPr lang="en" altLang="zh-TW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as np</a:t>
                      </a:r>
                    </a:p>
                    <a:p>
                      <a:r>
                        <a:rPr lang="en" altLang="zh-TW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from </a:t>
                      </a:r>
                      <a:r>
                        <a:rPr lang="en" altLang="zh-TW" sz="20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sklearn</a:t>
                      </a:r>
                      <a:r>
                        <a:rPr lang="en" altLang="zh-TW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import metrics</a:t>
                      </a:r>
                    </a:p>
                    <a:p>
                      <a:endParaRPr lang="en" altLang="zh-TW" sz="20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r>
                        <a:rPr lang="en" altLang="zh-TW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 = </a:t>
                      </a:r>
                      <a:r>
                        <a:rPr lang="en" altLang="zh-TW" sz="20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np.array</a:t>
                      </a:r>
                      <a:r>
                        <a:rPr lang="en" altLang="zh-TW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([1, 1, 2, 2])</a:t>
                      </a:r>
                    </a:p>
                    <a:p>
                      <a:r>
                        <a:rPr lang="en" altLang="zh-TW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scores = </a:t>
                      </a:r>
                      <a:r>
                        <a:rPr lang="en" altLang="zh-TW" sz="20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np.array</a:t>
                      </a:r>
                      <a:r>
                        <a:rPr lang="en" altLang="zh-TW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([0.1, 0.4, 0.35, 0.8])</a:t>
                      </a:r>
                    </a:p>
                    <a:p>
                      <a:r>
                        <a:rPr lang="en" altLang="zh-TW" sz="20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fpr</a:t>
                      </a:r>
                      <a:r>
                        <a:rPr lang="en" altLang="zh-TW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" altLang="zh-TW" sz="20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tpr</a:t>
                      </a:r>
                      <a:r>
                        <a:rPr lang="en" altLang="zh-TW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thresholds = </a:t>
                      </a:r>
                      <a:r>
                        <a:rPr lang="en" altLang="zh-TW" sz="20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metrics.roc_curve</a:t>
                      </a:r>
                      <a:r>
                        <a:rPr lang="en" altLang="zh-TW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(y, scores, </a:t>
                      </a:r>
                      <a:r>
                        <a:rPr lang="en" altLang="zh-TW" sz="20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pos_label</a:t>
                      </a:r>
                      <a:r>
                        <a:rPr lang="en" altLang="zh-TW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=2)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065601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E2C2E83B-9881-AC75-90E6-3BA50AAD616F}"/>
              </a:ext>
            </a:extLst>
          </p:cNvPr>
          <p:cNvSpPr txBox="1"/>
          <p:nvPr/>
        </p:nvSpPr>
        <p:spPr>
          <a:xfrm>
            <a:off x="653144" y="1806093"/>
            <a:ext cx="10728217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000" dirty="0">
                <a:ea typeface="Microsoft JhengHei" panose="020B0604030504040204" pitchFamily="34" charset="-120"/>
              </a:rPr>
              <a:t>https://scikit-</a:t>
            </a:r>
            <a:r>
              <a:rPr kumimoji="1" lang="en" altLang="zh-TW" sz="2000" dirty="0" err="1">
                <a:ea typeface="Microsoft JhengHei" panose="020B0604030504040204" pitchFamily="34" charset="-120"/>
              </a:rPr>
              <a:t>learn.org</a:t>
            </a:r>
            <a:r>
              <a:rPr kumimoji="1" lang="en" altLang="zh-TW" sz="2000" dirty="0">
                <a:ea typeface="Microsoft JhengHei" panose="020B0604030504040204" pitchFamily="34" charset="-120"/>
              </a:rPr>
              <a:t>/stable/modules/generated/</a:t>
            </a:r>
            <a:r>
              <a:rPr kumimoji="1" lang="en" altLang="zh-TW" sz="2000" dirty="0" err="1">
                <a:ea typeface="Microsoft JhengHei" panose="020B0604030504040204" pitchFamily="34" charset="-120"/>
              </a:rPr>
              <a:t>sklearn.metrics.roc_curve.html</a:t>
            </a:r>
            <a:endParaRPr kumimoji="1" lang="en-US" altLang="zh-TW" sz="2000" dirty="0"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863553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D6B55A-E697-E229-54CD-816E49C53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" altLang="zh-TW" dirty="0"/>
              <a:t>Natural Language Processing with Disaster Tweets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4A10CB8-5A32-FCE8-1071-E211E89EF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A97A7F0-B990-19B1-1890-1421128D7852}"/>
              </a:ext>
            </a:extLst>
          </p:cNvPr>
          <p:cNvSpPr txBox="1"/>
          <p:nvPr/>
        </p:nvSpPr>
        <p:spPr>
          <a:xfrm>
            <a:off x="653143" y="1894463"/>
            <a:ext cx="5562831" cy="18935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000" dirty="0">
                <a:ea typeface="Microsoft JhengHei" panose="020B0604030504040204" pitchFamily="34" charset="-120"/>
              </a:rPr>
              <a:t>You are predicting whether a given tweet is about a real disaster or not. If so, predict a 1.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000" dirty="0">
                <a:ea typeface="Microsoft JhengHei" panose="020B0604030504040204" pitchFamily="34" charset="-120"/>
              </a:rPr>
              <a:t>If not, predict a 0.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資料範例 ➡️ 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(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但任務中只需要進行文字分類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)</a:t>
            </a:r>
          </a:p>
        </p:txBody>
      </p:sp>
      <p:pic>
        <p:nvPicPr>
          <p:cNvPr id="8" name="Google Shape;116;p20">
            <a:extLst>
              <a:ext uri="{FF2B5EF4-FFF2-40B4-BE49-F238E27FC236}">
                <a16:creationId xmlns:a16="http://schemas.microsoft.com/office/drawing/2014/main" id="{7B439784-3E13-B6BB-3030-FB9B5D58AE0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20890" y="1894463"/>
            <a:ext cx="4500627" cy="460744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620009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74E7C3-CFCD-0C83-578E-BB4810754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" altLang="zh-TW" dirty="0"/>
              <a:t>Natural Language Processing with Disaster Tweets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125834-C78D-0230-8CE0-5DC859D4A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37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5AE7DDC-3BE0-1C76-4F4C-703737004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565" y="2313949"/>
            <a:ext cx="9880870" cy="4187963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ECD1D1EE-F0A5-86A1-69A2-EC8C50F7181C}"/>
              </a:ext>
            </a:extLst>
          </p:cNvPr>
          <p:cNvSpPr txBox="1"/>
          <p:nvPr/>
        </p:nvSpPr>
        <p:spPr>
          <a:xfrm>
            <a:off x="653143" y="1556366"/>
            <a:ext cx="5562831" cy="504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>
                <a:ea typeface="Microsoft JhengHei" panose="020B0604030504040204" pitchFamily="34" charset="-120"/>
              </a:rPr>
              <a:t>Data structure and example</a:t>
            </a:r>
          </a:p>
        </p:txBody>
      </p:sp>
    </p:spTree>
    <p:extLst>
      <p:ext uri="{BB962C8B-B14F-4D97-AF65-F5344CB8AC3E}">
        <p14:creationId xmlns:p14="http://schemas.microsoft.com/office/powerpoint/2010/main" val="40433798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D4AEB4-013A-6924-A8C1-61E0AC1AE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" altLang="zh-TW" dirty="0"/>
              <a:t>Natural Language Processing with Disaster Tweets</a:t>
            </a:r>
            <a:r>
              <a:rPr kumimoji="1" lang="zh-TW" altLang="en-US" dirty="0"/>
              <a:t> </a:t>
            </a:r>
            <a:r>
              <a:rPr kumimoji="1" lang="en-US" altLang="zh-TW" dirty="0"/>
              <a:t>(Submission)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421BEA0-4064-6B8E-3FFA-6D7EE66A4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38</a:t>
            </a:fld>
            <a:endParaRPr 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6F5B1C9-6FA6-1162-AA2F-4642ED450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582" y="2105342"/>
            <a:ext cx="5152417" cy="4465833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F15E0AC8-6496-C758-0535-F0C6768A7C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5047" y="2413657"/>
            <a:ext cx="3426917" cy="4001903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79BFB9FA-6CF2-C8E3-38B7-E477720E2CCF}"/>
              </a:ext>
            </a:extLst>
          </p:cNvPr>
          <p:cNvSpPr txBox="1"/>
          <p:nvPr/>
        </p:nvSpPr>
        <p:spPr>
          <a:xfrm>
            <a:off x="943582" y="1498765"/>
            <a:ext cx="4569097" cy="497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>
                <a:ea typeface="Microsoft JhengHei" panose="020B0604030504040204" pitchFamily="34" charset="-120"/>
              </a:rPr>
              <a:t>Submission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 分數計算採用 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F1-score</a:t>
            </a:r>
          </a:p>
        </p:txBody>
      </p:sp>
    </p:spTree>
    <p:extLst>
      <p:ext uri="{BB962C8B-B14F-4D97-AF65-F5344CB8AC3E}">
        <p14:creationId xmlns:p14="http://schemas.microsoft.com/office/powerpoint/2010/main" val="21278639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B581BC-4DF5-310E-FAEF-74E236FAE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Wikipedia - Image/Caption Matching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2900B2B-E23D-0629-BDA0-202788B7B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39</a:t>
            </a:fld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304FE6A-616F-9BB8-76D4-CE53819E2A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8512" y="2547711"/>
            <a:ext cx="3391697" cy="2542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0BD61132-80C1-1CF5-BB70-A6DEB6DE90B0}"/>
              </a:ext>
            </a:extLst>
          </p:cNvPr>
          <p:cNvSpPr txBox="1"/>
          <p:nvPr/>
        </p:nvSpPr>
        <p:spPr>
          <a:xfrm>
            <a:off x="6256095" y="3527028"/>
            <a:ext cx="5012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 err="1"/>
              <a:t>Erantido</a:t>
            </a:r>
            <a:r>
              <a:rPr kumimoji="1" lang="en" altLang="zh-TW" dirty="0"/>
              <a:t> </a:t>
            </a:r>
            <a:r>
              <a:rPr kumimoji="1" lang="en" altLang="zh-TW" dirty="0" err="1"/>
              <a:t>vintra</a:t>
            </a:r>
            <a:r>
              <a:rPr kumimoji="1" lang="en" altLang="zh-TW" dirty="0"/>
              <a:t> [SEP] Floro de </a:t>
            </a:r>
            <a:r>
              <a:rPr kumimoji="1" lang="en" altLang="zh-TW" dirty="0" err="1"/>
              <a:t>erantido</a:t>
            </a:r>
            <a:r>
              <a:rPr kumimoji="1" lang="en" altLang="zh-TW" dirty="0"/>
              <a:t> </a:t>
            </a:r>
            <a:r>
              <a:rPr kumimoji="1" lang="en" altLang="zh-TW" dirty="0" err="1"/>
              <a:t>vintra</a:t>
            </a:r>
            <a:endParaRPr kumimoji="1" lang="zh-TW" altLang="en-US" dirty="0"/>
          </a:p>
        </p:txBody>
      </p:sp>
      <p:cxnSp>
        <p:nvCxnSpPr>
          <p:cNvPr id="7" name="直線箭頭接點 6">
            <a:extLst>
              <a:ext uri="{FF2B5EF4-FFF2-40B4-BE49-F238E27FC236}">
                <a16:creationId xmlns:a16="http://schemas.microsoft.com/office/drawing/2014/main" id="{A4B48B6A-1D97-113B-18C3-AD92290FC13E}"/>
              </a:ext>
            </a:extLst>
          </p:cNvPr>
          <p:cNvCxnSpPr/>
          <p:nvPr/>
        </p:nvCxnSpPr>
        <p:spPr>
          <a:xfrm>
            <a:off x="5065449" y="3721854"/>
            <a:ext cx="1016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F6593360-0B02-893D-D4A4-7CEECD57BA56}"/>
              </a:ext>
            </a:extLst>
          </p:cNvPr>
          <p:cNvSpPr txBox="1"/>
          <p:nvPr/>
        </p:nvSpPr>
        <p:spPr>
          <a:xfrm>
            <a:off x="653143" y="1716115"/>
            <a:ext cx="7142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/>
              <a:t>https://</a:t>
            </a:r>
            <a:r>
              <a:rPr kumimoji="1" lang="en" altLang="zh-TW" dirty="0" err="1"/>
              <a:t>www.kaggle.com</a:t>
            </a:r>
            <a:r>
              <a:rPr kumimoji="1" lang="en" altLang="zh-TW" dirty="0"/>
              <a:t>/competitions/</a:t>
            </a:r>
            <a:r>
              <a:rPr kumimoji="1" lang="en" altLang="zh-TW" dirty="0" err="1"/>
              <a:t>wikipedia</a:t>
            </a:r>
            <a:r>
              <a:rPr kumimoji="1" lang="en" altLang="zh-TW" dirty="0"/>
              <a:t>-image-caption</a:t>
            </a:r>
            <a:endParaRPr kumimoji="1"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A289D7C-873B-B385-41D9-0E494ABD767E}"/>
              </a:ext>
            </a:extLst>
          </p:cNvPr>
          <p:cNvSpPr txBox="1"/>
          <p:nvPr/>
        </p:nvSpPr>
        <p:spPr>
          <a:xfrm>
            <a:off x="5461247" y="4772554"/>
            <a:ext cx="5592833" cy="142064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評估指標：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NDCG@5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衡量前五個排序結果的「相關性」與「排序正確性」；不只要找對，還要排得對。</a:t>
            </a:r>
            <a:endParaRPr kumimoji="1" lang="en-US" altLang="zh-TW" sz="2000" dirty="0"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3885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B4BB2F-EC1F-1942-C5BA-BF2D8C862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Project checkpoints </a:t>
            </a:r>
            <a:r>
              <a:rPr kumimoji="1" lang="en" altLang="zh-TW" dirty="0">
                <a:ea typeface="Microsoft JhengHei" panose="020B0604030504040204" pitchFamily="34" charset="-120"/>
              </a:rPr>
              <a:t>(</a:t>
            </a:r>
            <a:r>
              <a:rPr kumimoji="1" lang="zh-TW" altLang="en-US" dirty="0">
                <a:ea typeface="Microsoft JhengHei" panose="020B0604030504040204" pitchFamily="34" charset="-120"/>
              </a:rPr>
              <a:t>暫定</a:t>
            </a:r>
            <a:r>
              <a:rPr kumimoji="1" lang="en" altLang="zh-TW" dirty="0">
                <a:ea typeface="Microsoft JhengHei" panose="020B0604030504040204" pitchFamily="34" charset="-120"/>
              </a:rPr>
              <a:t>)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1C906AD-7CDC-C0A3-BEBF-A34A414C5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466A18D-6FA5-9047-5902-5DC0B4DDE78C}"/>
              </a:ext>
            </a:extLst>
          </p:cNvPr>
          <p:cNvSpPr txBox="1"/>
          <p:nvPr/>
        </p:nvSpPr>
        <p:spPr>
          <a:xfrm>
            <a:off x="653144" y="1806093"/>
            <a:ext cx="10918370" cy="2805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Week 9: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確定各組的題目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Week 11: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進度報告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PPT (5 pages)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Week 13: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進度報告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PPT (5+5 pages), Presentations (selected teams)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Week 15 – Week 16: Final presentations for all teams (maybe poster)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Week 16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 結束前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: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繳交書面報告以及程式碼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991607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BF34E6-0A69-57DA-BC2A-E6ED27C72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期末 </a:t>
            </a:r>
            <a:r>
              <a:rPr kumimoji="1" lang="en" altLang="zh-TW" dirty="0">
                <a:ea typeface="Microsoft JhengHei" panose="020B0604030504040204" pitchFamily="34" charset="-120"/>
              </a:rPr>
              <a:t>Project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規定</a:t>
            </a:r>
            <a:r>
              <a:rPr kumimoji="1" lang="en-US" altLang="zh-TW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en" altLang="zh-TW">
                <a:ea typeface="Microsoft JhengHei" panose="020B0604030504040204" pitchFamily="34" charset="-120"/>
              </a:rPr>
              <a:t>(</a:t>
            </a:r>
            <a:r>
              <a:rPr kumimoji="1" lang="zh-TW" altLang="en-US" dirty="0">
                <a:ea typeface="Microsoft JhengHei" panose="020B0604030504040204" pitchFamily="34" charset="-120"/>
              </a:rPr>
              <a:t>暫定</a:t>
            </a:r>
            <a:r>
              <a:rPr kumimoji="1" lang="en" altLang="zh-TW" dirty="0">
                <a:ea typeface="Microsoft JhengHei" panose="020B0604030504040204" pitchFamily="34" charset="-120"/>
              </a:rPr>
              <a:t>)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8E68BF6-C135-FCB7-9736-7FF9FD6D9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2595967-DAAD-6BB4-08EC-BB4083D2C226}"/>
              </a:ext>
            </a:extLst>
          </p:cNvPr>
          <p:cNvSpPr txBox="1"/>
          <p:nvPr/>
        </p:nvSpPr>
        <p:spPr>
          <a:xfrm>
            <a:off x="653144" y="1806093"/>
            <a:ext cx="10918370" cy="1694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需要上傳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Kaggle Leaderboard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這些任務都僅需要上傳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predictions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 到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Kaggle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即可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每次報告都需要列出每位組員的貢獻內容，以及組員間的工作比重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(%)</a:t>
            </a:r>
          </a:p>
        </p:txBody>
      </p:sp>
    </p:spTree>
    <p:extLst>
      <p:ext uri="{BB962C8B-B14F-4D97-AF65-F5344CB8AC3E}">
        <p14:creationId xmlns:p14="http://schemas.microsoft.com/office/powerpoint/2010/main" val="7843253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6CD83C5C-EA61-C255-DF28-E9CFF9EEA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3065145"/>
            <a:ext cx="3200400" cy="727709"/>
          </a:xfrm>
        </p:spPr>
        <p:txBody>
          <a:bodyPr anchor="ctr">
            <a:normAutofit/>
          </a:bodyPr>
          <a:lstStyle/>
          <a:p>
            <a:r>
              <a:rPr lang="en-US" altLang="zh-TW" sz="4800" dirty="0"/>
              <a:t>Thank you!</a:t>
            </a:r>
            <a:endParaRPr lang="zh-TW" altLang="en-US" sz="48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060AC63-905C-E7E8-4AEA-D711150C4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5CC2DB8D-FB34-E3BD-0CDD-276E352FE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1802" y="2769461"/>
            <a:ext cx="4071257" cy="2046786"/>
          </a:xfrm>
        </p:spPr>
        <p:txBody>
          <a:bodyPr>
            <a:normAutofit fontScale="85000" lnSpcReduction="10000"/>
          </a:bodyPr>
          <a:lstStyle/>
          <a:p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Instructor: </a:t>
            </a: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林英嘉</a:t>
            </a: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✉️ </a:t>
            </a:r>
            <a:r>
              <a:rPr kumimoji="1" lang="en-US" altLang="zh-TW" sz="3200" dirty="0" err="1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yjlin@cgu.edu.tw</a:t>
            </a: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TA: </a:t>
            </a: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劉美辰</a:t>
            </a:r>
          </a:p>
          <a:p>
            <a:pPr marL="0" indent="0">
              <a:buNone/>
            </a:pP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✉️ </a:t>
            </a: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m1461014@cgu.edu.tw</a:t>
            </a:r>
          </a:p>
          <a:p>
            <a:pPr marL="0" indent="0">
              <a:buNone/>
            </a:pP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2365187"/>
      </p:ext>
    </p:extLst>
  </p:cSld>
  <p:clrMapOvr>
    <a:masterClrMapping/>
  </p:clrMapOvr>
</p:sld>
</file>

<file path=ppt/theme/theme1.xml><?xml version="1.0" encoding="utf-8"?>
<a:theme xmlns:a="http://schemas.openxmlformats.org/drawingml/2006/main" name="回顧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urse_template_DL" id="{E71C07C9-5718-B34F-9EA9-A4FDE47A262C}" vid="{F05AA8C9-6C58-904C-AE8A-42257BEE94D0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回顧</Template>
  <TotalTime>7969</TotalTime>
  <Words>2146</Words>
  <Application>Microsoft Macintosh PowerPoint</Application>
  <PresentationFormat>寬螢幕</PresentationFormat>
  <Paragraphs>733</Paragraphs>
  <Slides>42</Slides>
  <Notes>17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42</vt:i4>
      </vt:variant>
    </vt:vector>
  </HeadingPairs>
  <TitlesOfParts>
    <vt:vector size="48" baseType="lpstr">
      <vt:lpstr>Microsoft JhengHei</vt:lpstr>
      <vt:lpstr>Arial</vt:lpstr>
      <vt:lpstr>Calibri</vt:lpstr>
      <vt:lpstr>Consolas</vt:lpstr>
      <vt:lpstr>Times New Roman</vt:lpstr>
      <vt:lpstr>回顧</vt:lpstr>
      <vt:lpstr>深度學習 Deep Learning</vt:lpstr>
      <vt:lpstr>Final Project 是什麼？</vt:lpstr>
      <vt:lpstr>如何評估機器學習模型的效能？</vt:lpstr>
      <vt:lpstr>自動化評估</vt:lpstr>
      <vt:lpstr>評估方式 (計算模型有多高分的方式)</vt:lpstr>
      <vt:lpstr>What is Kaggle?</vt:lpstr>
      <vt:lpstr>Kaggle submission types</vt:lpstr>
      <vt:lpstr>If you play Kaggle a lot …</vt:lpstr>
      <vt:lpstr>Outline of tasks</vt:lpstr>
      <vt:lpstr>Dog Breed Identification</vt:lpstr>
      <vt:lpstr>Dog Breed Identification</vt:lpstr>
      <vt:lpstr>Dog Breed Identification (evaluation)</vt:lpstr>
      <vt:lpstr>Plant Pathology 2020 - FGVC7</vt:lpstr>
      <vt:lpstr>Plant Pathology 2020 - FGVC7</vt:lpstr>
      <vt:lpstr>Plant Pathology 2020 - FGVC7 (Evaluation)</vt:lpstr>
      <vt:lpstr>ROC Curve</vt:lpstr>
      <vt:lpstr>模型分類門檻 (Threshold)</vt:lpstr>
      <vt:lpstr>TPR and FPR 範例</vt:lpstr>
      <vt:lpstr>TPR and FPR 範例 (TPR)</vt:lpstr>
      <vt:lpstr>TPR and FPR 範例 (FPR)</vt:lpstr>
      <vt:lpstr>ROC Curve</vt:lpstr>
      <vt:lpstr>ROC Curve</vt:lpstr>
      <vt:lpstr>ROC Curve</vt:lpstr>
      <vt:lpstr>ROC Curve</vt:lpstr>
      <vt:lpstr>ROC Curve</vt:lpstr>
      <vt:lpstr>ROC Curve</vt:lpstr>
      <vt:lpstr>ROC Curve</vt:lpstr>
      <vt:lpstr>ROC Curve</vt:lpstr>
      <vt:lpstr>ROC Curve</vt:lpstr>
      <vt:lpstr>ROC Curve (bad case)</vt:lpstr>
      <vt:lpstr>完美模型的條件</vt:lpstr>
      <vt:lpstr>Confusion Matrix (混淆矩陣) for ROC</vt:lpstr>
      <vt:lpstr>Recall and Precision</vt:lpstr>
      <vt:lpstr>Confusion Matrix for General Uses</vt:lpstr>
      <vt:lpstr>roc_curve using scikit-learn</vt:lpstr>
      <vt:lpstr>Natural Language Processing with Disaster Tweets</vt:lpstr>
      <vt:lpstr>Natural Language Processing with Disaster Tweets</vt:lpstr>
      <vt:lpstr>Natural Language Processing with Disaster Tweets (Submission)</vt:lpstr>
      <vt:lpstr>Wikipedia - Image/Caption Matching</vt:lpstr>
      <vt:lpstr>Project checkpoints (暫定)</vt:lpstr>
      <vt:lpstr>期末 Project 規定 (暫定)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深度學習 Deep Learning</dc:title>
  <dc:creator>林英嘉</dc:creator>
  <cp:lastModifiedBy>英嘉 林</cp:lastModifiedBy>
  <cp:revision>1193</cp:revision>
  <dcterms:created xsi:type="dcterms:W3CDTF">2025-02-06T07:16:08Z</dcterms:created>
  <dcterms:modified xsi:type="dcterms:W3CDTF">2025-10-15T02:26:44Z</dcterms:modified>
</cp:coreProperties>
</file>