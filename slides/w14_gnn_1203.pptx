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1"/>
  </p:notesMasterIdLst>
  <p:sldIdLst>
    <p:sldId id="264" r:id="rId2"/>
    <p:sldId id="665" r:id="rId3"/>
    <p:sldId id="529" r:id="rId4"/>
    <p:sldId id="614" r:id="rId5"/>
    <p:sldId id="811" r:id="rId6"/>
    <p:sldId id="779" r:id="rId7"/>
    <p:sldId id="780" r:id="rId8"/>
    <p:sldId id="781" r:id="rId9"/>
    <p:sldId id="782" r:id="rId10"/>
    <p:sldId id="783" r:id="rId11"/>
    <p:sldId id="784" r:id="rId12"/>
    <p:sldId id="812" r:id="rId13"/>
    <p:sldId id="813" r:id="rId14"/>
    <p:sldId id="787" r:id="rId15"/>
    <p:sldId id="789" r:id="rId16"/>
    <p:sldId id="790" r:id="rId17"/>
    <p:sldId id="785" r:id="rId18"/>
    <p:sldId id="791" r:id="rId19"/>
    <p:sldId id="792" r:id="rId20"/>
    <p:sldId id="793" r:id="rId21"/>
    <p:sldId id="794" r:id="rId22"/>
    <p:sldId id="328" r:id="rId23"/>
    <p:sldId id="797" r:id="rId24"/>
    <p:sldId id="798" r:id="rId25"/>
    <p:sldId id="796" r:id="rId26"/>
    <p:sldId id="799" r:id="rId27"/>
    <p:sldId id="814" r:id="rId28"/>
    <p:sldId id="806" r:id="rId29"/>
    <p:sldId id="800" r:id="rId30"/>
    <p:sldId id="802" r:id="rId31"/>
    <p:sldId id="803" r:id="rId32"/>
    <p:sldId id="804" r:id="rId33"/>
    <p:sldId id="805" r:id="rId34"/>
    <p:sldId id="807" r:id="rId35"/>
    <p:sldId id="808" r:id="rId36"/>
    <p:sldId id="809" r:id="rId37"/>
    <p:sldId id="810" r:id="rId38"/>
    <p:sldId id="778" r:id="rId39"/>
    <p:sldId id="610" r:id="rId4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9EF5EA"/>
    <a:srgbClr val="CDD5DE"/>
    <a:srgbClr val="FCE7D7"/>
    <a:srgbClr val="F9EDC6"/>
    <a:srgbClr val="05A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04"/>
    <p:restoredTop sz="87035"/>
  </p:normalViewPr>
  <p:slideViewPr>
    <p:cSldViewPr snapToGrid="0">
      <p:cViewPr varScale="1">
        <p:scale>
          <a:sx n="118" d="100"/>
          <a:sy n="118" d="100"/>
        </p:scale>
        <p:origin x="4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2025/12/3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81769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6333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22197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FC9FE-0ABE-5C2E-A0C1-6F6ECEC64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AA9FC70-5C63-9143-DB1E-68B38FF021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1E6C522-60DB-0DBB-8FC1-79641A7BF3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DB7887-E98B-BC75-CBB6-845F81459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39897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00416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dirty="0">
                <a:solidFill>
                  <a:schemeClr val="tx1"/>
                </a:solidFill>
              </a:rPr>
              <a:t>通常鄰接矩陣每個</a:t>
            </a:r>
            <a:r>
              <a:rPr lang="en-US" altLang="zh-TW" sz="1200" dirty="0">
                <a:solidFill>
                  <a:schemeClr val="tx1"/>
                </a:solidFill>
              </a:rPr>
              <a:t>row</a:t>
            </a:r>
            <a:r>
              <a:rPr lang="zh-TW" altLang="en-US" sz="1200" dirty="0">
                <a:solidFill>
                  <a:schemeClr val="tx1"/>
                </a:solidFill>
              </a:rPr>
              <a:t>的總和就代表該節點</a:t>
            </a:r>
            <a:r>
              <a:rPr lang="en-US" altLang="zh-TW" sz="1200" dirty="0" err="1">
                <a:solidFill>
                  <a:schemeClr val="tx1"/>
                </a:solidFill>
              </a:rPr>
              <a:t>i</a:t>
            </a:r>
            <a:r>
              <a:rPr lang="zh-TW" altLang="en-US" sz="1200" dirty="0">
                <a:solidFill>
                  <a:schemeClr val="tx1"/>
                </a:solidFill>
              </a:rPr>
              <a:t>的度數</a:t>
            </a:r>
            <a:endParaRPr lang="en-US" altLang="zh-TW" sz="1200" dirty="0">
              <a:solidFill>
                <a:schemeClr val="tx1"/>
              </a:solidFill>
            </a:endParaRPr>
          </a:p>
          <a:p>
            <a:r>
              <a:rPr kumimoji="1" lang="zh-TW" altLang="en-US" sz="1200" dirty="0">
                <a:solidFill>
                  <a:schemeClr val="tx1"/>
                </a:solidFill>
              </a:rPr>
              <a:t>有些教學或維基百科會說</a:t>
            </a:r>
            <a:r>
              <a:rPr lang="zh-TW" altLang="en-US" sz="1200" dirty="0">
                <a:solidFill>
                  <a:schemeClr val="tx1"/>
                </a:solidFill>
              </a:rPr>
              <a:t>鄰接矩陣中自環也是</a:t>
            </a:r>
            <a:r>
              <a:rPr lang="en-US" altLang="zh-TW" sz="1200" dirty="0">
                <a:solidFill>
                  <a:schemeClr val="tx1"/>
                </a:solidFill>
              </a:rPr>
              <a:t>+2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5760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0C77D-34F8-D2F4-DF04-700B399E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4F6F163-E43E-E8D9-3DFC-1B5304F0C4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9C0A53D-EC51-A12D-A832-3F759FF6D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16B30F-4A05-FBB5-4ECA-38749C088B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18877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5574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70395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318746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816685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893701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638654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28961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68482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012860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ED97C-927E-6D05-50B7-4F65CEF41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6905A5F-97DA-D7AC-D7D0-E4F1B56AE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93768AA-E4BC-A88F-5D8E-ADEA7188D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5FB379-83F7-A3BC-60B4-545C54E735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814585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52603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04595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996977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E4EFF-C927-9033-3C98-3D8C4E570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7E89CE8-8B25-DCCC-F24A-228852A92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17F64D9-9212-1201-3B93-7AC329B44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5DA401-5782-6AFB-AB32-98930CF5C0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858820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1864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144877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592CC-E513-9B17-3E03-C0E456FBC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7A74C19-87B9-E3E3-174C-F9F1F81CC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0AE54F9-0779-5F79-3970-C0F2551AD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此頁</a:t>
            </a:r>
            <a:r>
              <a:rPr kumimoji="1" lang="en-US" altLang="zh-TW" dirty="0" err="1"/>
              <a:t>Wh</a:t>
            </a:r>
            <a:r>
              <a:rPr kumimoji="1" lang="zh-TW" altLang="en-US" dirty="0"/>
              <a:t>省略轉置符號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3B046A0-5C6B-48C8-3556-7E62A2961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159139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5F2D5-32D0-37DA-1E98-ED9701E3F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221DF71-8A71-444C-14C1-EF986172F1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EA7E2DF-30E8-99BF-1DFD-913E1EC2F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817005-5520-5508-BCD7-F9018B5E98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524923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38019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pic>
        <p:nvPicPr>
          <p:cNvPr id="8" name="圖片 7" descr="一張含有 黑暗, 鮮豔, 圓形, 對稱 的圖片&#10;&#10;自動產生的描述">
            <a:extLst>
              <a:ext uri="{FF2B5EF4-FFF2-40B4-BE49-F238E27FC236}">
                <a16:creationId xmlns:a16="http://schemas.microsoft.com/office/drawing/2014/main" id="{7B42FF8E-DE09-ED24-7D18-F64355A345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20" y="6349567"/>
            <a:ext cx="462323" cy="45357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05AED6"/>
          </a:solidFill>
          <a:ln>
            <a:solidFill>
              <a:srgbClr val="05A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cps5601/CGUDL_2025_fall" TargetMode="External"/><Relationship Id="rId5" Type="http://schemas.openxmlformats.org/officeDocument/2006/relationships/hyperlink" Target="https://app.sli.do/event/a9Ks9X76bjkXihUKA4zCdX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6.png"/><Relationship Id="rId21" Type="http://schemas.openxmlformats.org/officeDocument/2006/relationships/image" Target="../media/image2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6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0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0.png"/><Relationship Id="rId10" Type="http://schemas.openxmlformats.org/officeDocument/2006/relationships/image" Target="../media/image64.png"/><Relationship Id="rId4" Type="http://schemas.openxmlformats.org/officeDocument/2006/relationships/image" Target="../media/image580.png"/><Relationship Id="rId9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3" Type="http://schemas.openxmlformats.org/officeDocument/2006/relationships/image" Target="../media/image82.png"/><Relationship Id="rId21" Type="http://schemas.openxmlformats.org/officeDocument/2006/relationships/image" Target="../media/image100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23" Type="http://schemas.openxmlformats.org/officeDocument/2006/relationships/image" Target="../media/image102.png"/><Relationship Id="rId10" Type="http://schemas.openxmlformats.org/officeDocument/2006/relationships/image" Target="../media/image89.png"/><Relationship Id="rId19" Type="http://schemas.openxmlformats.org/officeDocument/2006/relationships/image" Target="../media/image98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Relationship Id="rId22" Type="http://schemas.openxmlformats.org/officeDocument/2006/relationships/image" Target="../media/image10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18" Type="http://schemas.openxmlformats.org/officeDocument/2006/relationships/image" Target="../media/image97.png"/><Relationship Id="rId3" Type="http://schemas.openxmlformats.org/officeDocument/2006/relationships/image" Target="../media/image82.png"/><Relationship Id="rId21" Type="http://schemas.openxmlformats.org/officeDocument/2006/relationships/image" Target="../media/image100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95.png"/><Relationship Id="rId20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23" Type="http://schemas.openxmlformats.org/officeDocument/2006/relationships/image" Target="../media/image102.png"/><Relationship Id="rId10" Type="http://schemas.openxmlformats.org/officeDocument/2006/relationships/image" Target="../media/image89.png"/><Relationship Id="rId19" Type="http://schemas.openxmlformats.org/officeDocument/2006/relationships/image" Target="../media/image98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Relationship Id="rId22" Type="http://schemas.openxmlformats.org/officeDocument/2006/relationships/image" Target="../media/image10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gi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gi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3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5.png"/><Relationship Id="rId4" Type="http://schemas.openxmlformats.org/officeDocument/2006/relationships/image" Target="../media/image10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12.png"/><Relationship Id="rId4" Type="http://schemas.openxmlformats.org/officeDocument/2006/relationships/image" Target="../media/image10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3.png"/><Relationship Id="rId3" Type="http://schemas.openxmlformats.org/officeDocument/2006/relationships/image" Target="../media/image1130.png"/><Relationship Id="rId7" Type="http://schemas.openxmlformats.org/officeDocument/2006/relationships/image" Target="../media/image117.png"/><Relationship Id="rId12" Type="http://schemas.openxmlformats.org/officeDocument/2006/relationships/image" Target="../media/image122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5" Type="http://schemas.openxmlformats.org/officeDocument/2006/relationships/image" Target="../media/image125.png"/><Relationship Id="rId10" Type="http://schemas.openxmlformats.org/officeDocument/2006/relationships/image" Target="../media/image120.png"/><Relationship Id="rId4" Type="http://schemas.openxmlformats.org/officeDocument/2006/relationships/image" Target="../media/image1140.png"/><Relationship Id="rId9" Type="http://schemas.openxmlformats.org/officeDocument/2006/relationships/image" Target="../media/image119.png"/><Relationship Id="rId14" Type="http://schemas.openxmlformats.org/officeDocument/2006/relationships/image" Target="../media/image12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0.png"/><Relationship Id="rId3" Type="http://schemas.openxmlformats.org/officeDocument/2006/relationships/image" Target="../media/image103.png"/><Relationship Id="rId7" Type="http://schemas.openxmlformats.org/officeDocument/2006/relationships/image" Target="../media/image12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10" Type="http://schemas.openxmlformats.org/officeDocument/2006/relationships/image" Target="../media/image1260.png"/><Relationship Id="rId4" Type="http://schemas.openxmlformats.org/officeDocument/2006/relationships/image" Target="../media/image104.png"/><Relationship Id="rId9" Type="http://schemas.openxmlformats.org/officeDocument/2006/relationships/image" Target="../media/image125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3" Type="http://schemas.openxmlformats.org/officeDocument/2006/relationships/image" Target="../media/image133.png"/><Relationship Id="rId7" Type="http://schemas.openxmlformats.org/officeDocument/2006/relationships/image" Target="../media/image1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4.png"/><Relationship Id="rId9" Type="http://schemas.openxmlformats.org/officeDocument/2006/relationships/image" Target="../media/image139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147.png"/><Relationship Id="rId18" Type="http://schemas.openxmlformats.org/officeDocument/2006/relationships/image" Target="../media/image152.png"/><Relationship Id="rId3" Type="http://schemas.openxmlformats.org/officeDocument/2006/relationships/image" Target="../media/image134.png"/><Relationship Id="rId7" Type="http://schemas.openxmlformats.org/officeDocument/2006/relationships/image" Target="../media/image141.png"/><Relationship Id="rId12" Type="http://schemas.openxmlformats.org/officeDocument/2006/relationships/image" Target="../media/image146.png"/><Relationship Id="rId17" Type="http://schemas.openxmlformats.org/officeDocument/2006/relationships/image" Target="../media/image151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5" Type="http://schemas.openxmlformats.org/officeDocument/2006/relationships/image" Target="../media/image136.png"/><Relationship Id="rId15" Type="http://schemas.openxmlformats.org/officeDocument/2006/relationships/image" Target="../media/image149.png"/><Relationship Id="rId10" Type="http://schemas.openxmlformats.org/officeDocument/2006/relationships/image" Target="../media/image144.png"/><Relationship Id="rId4" Type="http://schemas.openxmlformats.org/officeDocument/2006/relationships/image" Target="../media/image135.png"/><Relationship Id="rId9" Type="http://schemas.openxmlformats.org/officeDocument/2006/relationships/image" Target="../media/image143.png"/><Relationship Id="rId14" Type="http://schemas.openxmlformats.org/officeDocument/2006/relationships/image" Target="../media/image14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134.png"/><Relationship Id="rId7" Type="http://schemas.openxmlformats.org/officeDocument/2006/relationships/image" Target="../media/image148.png"/><Relationship Id="rId12" Type="http://schemas.openxmlformats.org/officeDocument/2006/relationships/image" Target="../media/image15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11" Type="http://schemas.openxmlformats.org/officeDocument/2006/relationships/image" Target="../media/image152.png"/><Relationship Id="rId5" Type="http://schemas.openxmlformats.org/officeDocument/2006/relationships/image" Target="../media/image136.png"/><Relationship Id="rId10" Type="http://schemas.openxmlformats.org/officeDocument/2006/relationships/image" Target="../media/image151.png"/><Relationship Id="rId4" Type="http://schemas.openxmlformats.org/officeDocument/2006/relationships/image" Target="../media/image135.png"/><Relationship Id="rId9" Type="http://schemas.openxmlformats.org/officeDocument/2006/relationships/image" Target="../media/image15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54.png"/><Relationship Id="rId7" Type="http://schemas.openxmlformats.org/officeDocument/2006/relationships/image" Target="../media/image15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10" Type="http://schemas.openxmlformats.org/officeDocument/2006/relationships/image" Target="../media/image161.png"/><Relationship Id="rId4" Type="http://schemas.openxmlformats.org/officeDocument/2006/relationships/image" Target="../media/image155.png"/><Relationship Id="rId9" Type="http://schemas.openxmlformats.org/officeDocument/2006/relationships/image" Target="../media/image16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M9ht8vsVEw8?si=qYy2ggGIuF8lEsE-" TargetMode="External"/><Relationship Id="rId2" Type="http://schemas.openxmlformats.org/officeDocument/2006/relationships/hyperlink" Target="https://youtu.be/eybCCtNKwzA?si=bCBjHODKbrxGiGlz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google.com/presentation/d/1Xt_DThN7dd7w5Oay6RikgUhPx5wWw24xTQp7fQdEznA/edit?usp=sharing" TargetMode="External"/><Relationship Id="rId5" Type="http://schemas.openxmlformats.org/officeDocument/2006/relationships/hyperlink" Target="https://medium.com/data-science/graph-convolutional-networks-introduction-to-gnns-24b3f60d6c95" TargetMode="External"/><Relationship Id="rId4" Type="http://schemas.openxmlformats.org/officeDocument/2006/relationships/hyperlink" Target="https://jacky-18008.medium.com/&#22294;&#31070;&#32147;&#32178;&#36335;&#24590;&#40636;&#36889;&#40637;&#26834;-how-powerful-are-graph-neural-networks-42bbfd640e68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矩形 4">
            <a:extLst>
              <a:ext uri="{FF2B5EF4-FFF2-40B4-BE49-F238E27FC236}">
                <a16:creationId xmlns:a16="http://schemas.microsoft.com/office/drawing/2014/main" id="{3C6264BC-1151-9168-C7F5-CC114FF3CC95}"/>
              </a:ext>
            </a:extLst>
          </p:cNvPr>
          <p:cNvSpPr/>
          <p:nvPr/>
        </p:nvSpPr>
        <p:spPr>
          <a:xfrm>
            <a:off x="667422" y="2025546"/>
            <a:ext cx="10857156" cy="2426189"/>
          </a:xfrm>
          <a:prstGeom prst="roundRect">
            <a:avLst/>
          </a:prstGeom>
          <a:solidFill>
            <a:srgbClr val="9EF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959" y="1006002"/>
            <a:ext cx="5437882" cy="3224045"/>
          </a:xfrm>
        </p:spPr>
        <p:txBody>
          <a:bodyPr anchor="b">
            <a:normAutofit/>
          </a:bodyPr>
          <a:lstStyle/>
          <a:p>
            <a:r>
              <a:rPr kumimoji="1" lang="zh-TW" altLang="en-US" sz="5800" b="1" dirty="0">
                <a:ea typeface="Microsoft JhengHei" panose="020B0604030504040204" pitchFamily="34" charset="-120"/>
              </a:rPr>
              <a:t>深度學習</a:t>
            </a:r>
            <a:br>
              <a:rPr kumimoji="1" lang="en-US" altLang="zh-TW" sz="5800" b="1" dirty="0">
                <a:ea typeface="Microsoft JhengHei" panose="020B0604030504040204" pitchFamily="34" charset="-120"/>
              </a:rPr>
            </a:br>
            <a:r>
              <a:rPr kumimoji="1" lang="en-US" altLang="zh-TW" sz="5800" b="1" dirty="0">
                <a:ea typeface="Microsoft JhengHei" panose="020B0604030504040204" pitchFamily="34" charset="-120"/>
              </a:rPr>
              <a:t>Deep Learning</a:t>
            </a:r>
            <a:endParaRPr kumimoji="1" lang="zh-TW" altLang="en-US" sz="5800" b="1" dirty="0">
              <a:ea typeface="Microsoft JhengHei" panose="020B0604030504040204" pitchFamily="34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9528" y="253272"/>
            <a:ext cx="1468923" cy="1468923"/>
          </a:xfrm>
          <a:prstGeom prst="rect">
            <a:avLst/>
          </a:prstGeom>
        </p:spPr>
      </p:pic>
      <p:pic>
        <p:nvPicPr>
          <p:cNvPr id="8" name="圖片 7" descr="一張含有 螢幕擷取畫面, 樣式, 圓形, 圖形 的圖片&#10;&#10;AI 產生的內容可能不正確。">
            <a:extLst>
              <a:ext uri="{FF2B5EF4-FFF2-40B4-BE49-F238E27FC236}">
                <a16:creationId xmlns:a16="http://schemas.microsoft.com/office/drawing/2014/main" id="{22F76685-E2D2-0BC7-76BB-5BDBC9DCFE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175" y="4533398"/>
            <a:ext cx="1960729" cy="1960729"/>
          </a:xfrm>
          <a:prstGeom prst="rect">
            <a:avLst/>
          </a:prstGeom>
        </p:spPr>
      </p:pic>
      <p:sp>
        <p:nvSpPr>
          <p:cNvPr id="11" name="文字方塊 10">
            <a:hlinkClick r:id="rId5"/>
            <a:extLst>
              <a:ext uri="{FF2B5EF4-FFF2-40B4-BE49-F238E27FC236}">
                <a16:creationId xmlns:a16="http://schemas.microsoft.com/office/drawing/2014/main" id="{8F823108-2692-7850-78FB-371EE4D6F4E9}"/>
              </a:ext>
            </a:extLst>
          </p:cNvPr>
          <p:cNvSpPr txBox="1"/>
          <p:nvPr/>
        </p:nvSpPr>
        <p:spPr>
          <a:xfrm>
            <a:off x="9181606" y="6296804"/>
            <a:ext cx="182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5"/>
              </a:rPr>
              <a:t>Slido # DL1203</a:t>
            </a:r>
            <a:endParaRPr kumimoji="1"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8C6CA94-AF36-F0D4-5089-5AA183D3CA39}"/>
              </a:ext>
            </a:extLst>
          </p:cNvPr>
          <p:cNvSpPr txBox="1"/>
          <p:nvPr/>
        </p:nvSpPr>
        <p:spPr>
          <a:xfrm>
            <a:off x="6388165" y="6296804"/>
            <a:ext cx="203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6"/>
              </a:rPr>
              <a:t>Course GitHub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EC54666-0C58-F99D-556B-7D8163B991AA}"/>
              </a:ext>
            </a:extLst>
          </p:cNvPr>
          <p:cNvSpPr txBox="1"/>
          <p:nvPr/>
        </p:nvSpPr>
        <p:spPr>
          <a:xfrm>
            <a:off x="901958" y="4693039"/>
            <a:ext cx="54862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b="1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圖神經網路</a:t>
            </a:r>
            <a:endParaRPr kumimoji="1" lang="en-US" altLang="zh-TW" sz="2800" b="1" dirty="0">
              <a:solidFill>
                <a:srgbClr val="0070C0"/>
              </a:solidFill>
              <a:latin typeface="Microsoft JhengHei" panose="020B0604030504040204" pitchFamily="34" charset="-12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r>
              <a:rPr kumimoji="1" lang="en-US" altLang="zh-TW" sz="2800" b="1" dirty="0">
                <a:solidFill>
                  <a:srgbClr val="0070C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  <a:cs typeface="Calibri" panose="020F0502020204030204" pitchFamily="34" charset="0"/>
              </a:rPr>
              <a:t>Graph Neural Network (GNN)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24A82EC-22FA-ABE2-B4AF-6FCD7356A734}"/>
              </a:ext>
            </a:extLst>
          </p:cNvPr>
          <p:cNvSpPr txBox="1"/>
          <p:nvPr/>
        </p:nvSpPr>
        <p:spPr>
          <a:xfrm>
            <a:off x="901959" y="5851998"/>
            <a:ext cx="4453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2025/12/03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C7CE42-1629-0715-4CCD-C63BD828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2" name="圖片 11" descr="一張含有 樣式, 對稱, 正方形, 藝術 的圖片&#10;&#10;AI 產生的內容可能不正確。">
            <a:extLst>
              <a:ext uri="{FF2B5EF4-FFF2-40B4-BE49-F238E27FC236}">
                <a16:creationId xmlns:a16="http://schemas.microsoft.com/office/drawing/2014/main" id="{4FCEE5DF-5536-8E61-6A15-D23FD0B2CF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2439" y="4693039"/>
            <a:ext cx="1603765" cy="160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14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E7F39-290C-D102-4E6C-BA283CFCB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0BAF86-D3E8-8066-F44E-7EAB8A09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C85A9A9-AB70-91D9-06C4-DE2676BBA254}"/>
              </a:ext>
            </a:extLst>
          </p:cNvPr>
          <p:cNvSpPr txBox="1"/>
          <p:nvPr/>
        </p:nvSpPr>
        <p:spPr>
          <a:xfrm>
            <a:off x="653143" y="1586847"/>
            <a:ext cx="10918370" cy="453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800" dirty="0">
                <a:ea typeface="Microsoft JhengHei" panose="020B0604030504040204" pitchFamily="34" charset="-120"/>
              </a:rPr>
              <a:t>圖資料結構介紹</a:t>
            </a:r>
            <a:r>
              <a:rPr kumimoji="1" lang="en-US" altLang="zh-TW" sz="2800" dirty="0">
                <a:ea typeface="Microsoft JhengHei" panose="020B0604030504040204" pitchFamily="34" charset="-120"/>
              </a:rPr>
              <a:t> – 20 min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Graph Neural Networks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GCN (Graph Convolutional Network) – 20 min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GAT (Graph Attention Network) – 15 min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Code – 30 min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Project presentations – 40 min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ea typeface="Microsoft JhengHei" panose="020B0604030504040204" pitchFamily="34" charset="-120"/>
              </a:rPr>
              <a:t>Quiz – 15 min</a:t>
            </a:r>
          </a:p>
        </p:txBody>
      </p:sp>
    </p:spTree>
    <p:extLst>
      <p:ext uri="{BB962C8B-B14F-4D97-AF65-F5344CB8AC3E}">
        <p14:creationId xmlns:p14="http://schemas.microsoft.com/office/powerpoint/2010/main" val="105834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E692DA-4E78-0987-B4FC-FBA12BB6D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深度學習課程地圖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8442CB-DD3B-BF3D-2D4B-E36C8413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45273E-C091-9730-6F0E-9964EF25B311}"/>
              </a:ext>
            </a:extLst>
          </p:cNvPr>
          <p:cNvSpPr/>
          <p:nvPr/>
        </p:nvSpPr>
        <p:spPr>
          <a:xfrm>
            <a:off x="4482599" y="1813809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多層感知機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3B1826-EC22-8380-CE08-4E0AB714DE65}"/>
              </a:ext>
            </a:extLst>
          </p:cNvPr>
          <p:cNvSpPr/>
          <p:nvPr/>
        </p:nvSpPr>
        <p:spPr>
          <a:xfrm>
            <a:off x="4482599" y="2391764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梯度下降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E4DFE3-AC61-13DF-A52E-D505A4E93174}"/>
              </a:ext>
            </a:extLst>
          </p:cNvPr>
          <p:cNvSpPr/>
          <p:nvPr/>
        </p:nvSpPr>
        <p:spPr>
          <a:xfrm>
            <a:off x="4482599" y="2988457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反向傳播法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B03916-5D46-E822-94B9-200918D6970B}"/>
              </a:ext>
            </a:extLst>
          </p:cNvPr>
          <p:cNvSpPr/>
          <p:nvPr/>
        </p:nvSpPr>
        <p:spPr>
          <a:xfrm>
            <a:off x="4482599" y="3585150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最佳化方法 </a:t>
            </a:r>
            <a:r>
              <a:rPr kumimoji="1" lang="en-US" altLang="zh-TW" dirty="0">
                <a:solidFill>
                  <a:schemeClr val="tx1"/>
                </a:solidFill>
              </a:rPr>
              <a:t>(Optimizers)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DB913C0-E0DE-C061-87CD-D6CA828BC23B}"/>
              </a:ext>
            </a:extLst>
          </p:cNvPr>
          <p:cNvSpPr/>
          <p:nvPr/>
        </p:nvSpPr>
        <p:spPr>
          <a:xfrm>
            <a:off x="939922" y="4952925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卷積神經網路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FD7F434-C931-041D-78B7-B438F9FEC449}"/>
              </a:ext>
            </a:extLst>
          </p:cNvPr>
          <p:cNvSpPr/>
          <p:nvPr/>
        </p:nvSpPr>
        <p:spPr>
          <a:xfrm>
            <a:off x="939922" y="5600001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Vision Transformers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6C4CA6-DA52-BD1B-587F-638CF9666E5A}"/>
              </a:ext>
            </a:extLst>
          </p:cNvPr>
          <p:cNvSpPr/>
          <p:nvPr/>
        </p:nvSpPr>
        <p:spPr>
          <a:xfrm>
            <a:off x="4482599" y="4952925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循環神經網路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4026928-3FDD-0A24-4FF8-01B1FFA40D77}"/>
              </a:ext>
            </a:extLst>
          </p:cNvPr>
          <p:cNvSpPr/>
          <p:nvPr/>
        </p:nvSpPr>
        <p:spPr>
          <a:xfrm>
            <a:off x="4482599" y="5600001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Transformers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C184D69-49BE-87FE-0444-15C0B7CDF0E7}"/>
              </a:ext>
            </a:extLst>
          </p:cNvPr>
          <p:cNvSpPr/>
          <p:nvPr/>
        </p:nvSpPr>
        <p:spPr>
          <a:xfrm>
            <a:off x="4482599" y="6247077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Large Language Models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0C194B5-5A70-6B53-04A6-64965D48447B}"/>
              </a:ext>
            </a:extLst>
          </p:cNvPr>
          <p:cNvSpPr/>
          <p:nvPr/>
        </p:nvSpPr>
        <p:spPr>
          <a:xfrm>
            <a:off x="8010284" y="4952925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Policy Gradients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AEFBAE-5410-0795-F2A4-4525601CC37D}"/>
              </a:ext>
            </a:extLst>
          </p:cNvPr>
          <p:cNvSpPr/>
          <p:nvPr/>
        </p:nvSpPr>
        <p:spPr>
          <a:xfrm>
            <a:off x="8010284" y="5600001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Actor-Critic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E2F3775-F919-4E24-A8BB-1949000E8F47}"/>
              </a:ext>
            </a:extLst>
          </p:cNvPr>
          <p:cNvSpPr/>
          <p:nvPr/>
        </p:nvSpPr>
        <p:spPr>
          <a:xfrm>
            <a:off x="8010284" y="6247077"/>
            <a:ext cx="2774430" cy="457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PPO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9" name="肘形接點 18">
            <a:extLst>
              <a:ext uri="{FF2B5EF4-FFF2-40B4-BE49-F238E27FC236}">
                <a16:creationId xmlns:a16="http://schemas.microsoft.com/office/drawing/2014/main" id="{9A03C221-47DD-0A48-1508-5F8EA7FE9143}"/>
              </a:ext>
            </a:extLst>
          </p:cNvPr>
          <p:cNvCxnSpPr>
            <a:cxnSpLocks/>
            <a:stCxn id="48" idx="0"/>
            <a:endCxn id="49" idx="0"/>
          </p:cNvCxnSpPr>
          <p:nvPr/>
        </p:nvCxnSpPr>
        <p:spPr>
          <a:xfrm rot="5400000" flipH="1" flipV="1">
            <a:off x="4096826" y="2727564"/>
            <a:ext cx="3300" cy="3542678"/>
          </a:xfrm>
          <a:prstGeom prst="bentConnector3">
            <a:avLst>
              <a:gd name="adj1" fmla="val 5891667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接點 20">
            <a:extLst>
              <a:ext uri="{FF2B5EF4-FFF2-40B4-BE49-F238E27FC236}">
                <a16:creationId xmlns:a16="http://schemas.microsoft.com/office/drawing/2014/main" id="{FEB0E691-6F24-D93B-5BE5-F13672485312}"/>
              </a:ext>
            </a:extLst>
          </p:cNvPr>
          <p:cNvCxnSpPr>
            <a:cxnSpLocks/>
            <a:stCxn id="49" idx="0"/>
            <a:endCxn id="50" idx="0"/>
          </p:cNvCxnSpPr>
          <p:nvPr/>
        </p:nvCxnSpPr>
        <p:spPr>
          <a:xfrm rot="16200000" flipH="1">
            <a:off x="7597030" y="2770037"/>
            <a:ext cx="3299" cy="3457731"/>
          </a:xfrm>
          <a:prstGeom prst="bentConnector3">
            <a:avLst>
              <a:gd name="adj1" fmla="val -5793392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9BA1EF0B-2904-0E04-1C66-8EA810ACCB29}"/>
              </a:ext>
            </a:extLst>
          </p:cNvPr>
          <p:cNvCxnSpPr>
            <a:cxnSpLocks/>
            <a:stCxn id="34" idx="2"/>
            <a:endCxn id="49" idx="0"/>
          </p:cNvCxnSpPr>
          <p:nvPr/>
        </p:nvCxnSpPr>
        <p:spPr>
          <a:xfrm>
            <a:off x="5869814" y="4104897"/>
            <a:ext cx="1" cy="39235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6AF82F84-2BFC-107F-F93B-B1EC1144DDBA}"/>
              </a:ext>
            </a:extLst>
          </p:cNvPr>
          <p:cNvSpPr/>
          <p:nvPr/>
        </p:nvSpPr>
        <p:spPr>
          <a:xfrm>
            <a:off x="4408273" y="1721461"/>
            <a:ext cx="2923082" cy="238343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A993D1B6-D4A0-95D4-E8CB-F1A61EC00334}"/>
              </a:ext>
            </a:extLst>
          </p:cNvPr>
          <p:cNvSpPr txBox="1"/>
          <p:nvPr/>
        </p:nvSpPr>
        <p:spPr>
          <a:xfrm>
            <a:off x="4954478" y="1378312"/>
            <a:ext cx="1830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/>
              <a:t>深度學習基礎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9D90C29-236A-CD0B-44F3-1268957D2CF1}"/>
              </a:ext>
            </a:extLst>
          </p:cNvPr>
          <p:cNvSpPr/>
          <p:nvPr/>
        </p:nvSpPr>
        <p:spPr>
          <a:xfrm>
            <a:off x="871946" y="4873706"/>
            <a:ext cx="2923082" cy="12595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082AD99-91DD-5FB9-A071-56517C068F40}"/>
              </a:ext>
            </a:extLst>
          </p:cNvPr>
          <p:cNvSpPr/>
          <p:nvPr/>
        </p:nvSpPr>
        <p:spPr>
          <a:xfrm>
            <a:off x="4408273" y="4869885"/>
            <a:ext cx="2923082" cy="1910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25169498-3D63-782F-5494-B8226B5184DB}"/>
              </a:ext>
            </a:extLst>
          </p:cNvPr>
          <p:cNvSpPr/>
          <p:nvPr/>
        </p:nvSpPr>
        <p:spPr>
          <a:xfrm>
            <a:off x="7929612" y="4869885"/>
            <a:ext cx="2923082" cy="1910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BF51814-F66A-0313-900B-560BB49AF0D6}"/>
              </a:ext>
            </a:extLst>
          </p:cNvPr>
          <p:cNvSpPr txBox="1"/>
          <p:nvPr/>
        </p:nvSpPr>
        <p:spPr>
          <a:xfrm>
            <a:off x="1411800" y="4500553"/>
            <a:ext cx="1830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/>
              <a:t>電腦視覺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B7E4CA39-D77A-C579-2C5B-F1CB15DB4B71}"/>
              </a:ext>
            </a:extLst>
          </p:cNvPr>
          <p:cNvSpPr txBox="1"/>
          <p:nvPr/>
        </p:nvSpPr>
        <p:spPr>
          <a:xfrm>
            <a:off x="4954478" y="4497253"/>
            <a:ext cx="1830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/>
              <a:t>自然語言處理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CB6D8397-2D21-242E-6372-24F5377826C1}"/>
              </a:ext>
            </a:extLst>
          </p:cNvPr>
          <p:cNvSpPr txBox="1"/>
          <p:nvPr/>
        </p:nvSpPr>
        <p:spPr>
          <a:xfrm>
            <a:off x="8412209" y="4500552"/>
            <a:ext cx="1830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dirty="0"/>
              <a:t>(</a:t>
            </a:r>
            <a:r>
              <a:rPr kumimoji="1" lang="zh-TW" altLang="en-US" dirty="0"/>
              <a:t>深度</a:t>
            </a:r>
            <a:r>
              <a:rPr kumimoji="1" lang="en-US" altLang="zh-TW" dirty="0"/>
              <a:t>) </a:t>
            </a:r>
            <a:r>
              <a:rPr kumimoji="1" lang="zh-TW" altLang="en-US" dirty="0"/>
              <a:t>強化學習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C6B6E657-890F-BDE5-2BB8-9265E7369C03}"/>
              </a:ext>
            </a:extLst>
          </p:cNvPr>
          <p:cNvCxnSpPr>
            <a:cxnSpLocks/>
          </p:cNvCxnSpPr>
          <p:nvPr/>
        </p:nvCxnSpPr>
        <p:spPr>
          <a:xfrm>
            <a:off x="3791853" y="5503486"/>
            <a:ext cx="613245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9329F5D7-A339-2EF0-4B93-A1097E77E6D1}"/>
              </a:ext>
            </a:extLst>
          </p:cNvPr>
          <p:cNvCxnSpPr>
            <a:cxnSpLocks/>
          </p:cNvCxnSpPr>
          <p:nvPr/>
        </p:nvCxnSpPr>
        <p:spPr>
          <a:xfrm>
            <a:off x="3791853" y="5600001"/>
            <a:ext cx="613245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>
            <a:extLst>
              <a:ext uri="{FF2B5EF4-FFF2-40B4-BE49-F238E27FC236}">
                <a16:creationId xmlns:a16="http://schemas.microsoft.com/office/drawing/2014/main" id="{DE19430C-3B96-7E98-8F70-D701648CFE84}"/>
              </a:ext>
            </a:extLst>
          </p:cNvPr>
          <p:cNvCxnSpPr>
            <a:cxnSpLocks/>
          </p:cNvCxnSpPr>
          <p:nvPr/>
        </p:nvCxnSpPr>
        <p:spPr>
          <a:xfrm>
            <a:off x="9277070" y="1837141"/>
            <a:ext cx="613245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CDA52D50-F022-9E6E-F0C4-68C90810721E}"/>
              </a:ext>
            </a:extLst>
          </p:cNvPr>
          <p:cNvCxnSpPr>
            <a:cxnSpLocks/>
          </p:cNvCxnSpPr>
          <p:nvPr/>
        </p:nvCxnSpPr>
        <p:spPr>
          <a:xfrm>
            <a:off x="9277070" y="1933656"/>
            <a:ext cx="613245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8FC55205-9EA5-4F75-5CC2-74DAA65936A3}"/>
              </a:ext>
            </a:extLst>
          </p:cNvPr>
          <p:cNvSpPr txBox="1"/>
          <p:nvPr/>
        </p:nvSpPr>
        <p:spPr>
          <a:xfrm>
            <a:off x="9795327" y="1691814"/>
            <a:ext cx="18306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/>
              <a:t>模型訓練技巧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AAAACF78-DA10-1696-C102-4106E246752D}"/>
              </a:ext>
            </a:extLst>
          </p:cNvPr>
          <p:cNvCxnSpPr>
            <a:cxnSpLocks/>
          </p:cNvCxnSpPr>
          <p:nvPr/>
        </p:nvCxnSpPr>
        <p:spPr>
          <a:xfrm>
            <a:off x="9327545" y="4305600"/>
            <a:ext cx="1110106" cy="0"/>
          </a:xfrm>
          <a:prstGeom prst="line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7D399F8-7CA6-DC48-348B-39CB0CFC7F14}"/>
              </a:ext>
            </a:extLst>
          </p:cNvPr>
          <p:cNvSpPr txBox="1"/>
          <p:nvPr/>
        </p:nvSpPr>
        <p:spPr>
          <a:xfrm>
            <a:off x="10294128" y="4126548"/>
            <a:ext cx="16607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圖神經網路</a:t>
            </a: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685F2782-FB39-268A-4E1F-F75D8FB795E2}"/>
              </a:ext>
            </a:extLst>
          </p:cNvPr>
          <p:cNvSpPr/>
          <p:nvPr/>
        </p:nvSpPr>
        <p:spPr>
          <a:xfrm>
            <a:off x="10242882" y="3825557"/>
            <a:ext cx="1682098" cy="97129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01859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B64E37-7043-078E-7B83-7467617BF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Graph examples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0A23AB-9BCE-EABA-8269-69C9EF51B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AC5DA59A-7A23-65D6-2F19-BDBB84C72E51}"/>
              </a:ext>
            </a:extLst>
          </p:cNvPr>
          <p:cNvGrpSpPr/>
          <p:nvPr/>
        </p:nvGrpSpPr>
        <p:grpSpPr>
          <a:xfrm>
            <a:off x="979679" y="2472149"/>
            <a:ext cx="531222" cy="531223"/>
            <a:chOff x="9810206" y="5809698"/>
            <a:chExt cx="531222" cy="5312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橢圓 5">
                  <a:extLst>
                    <a:ext uri="{FF2B5EF4-FFF2-40B4-BE49-F238E27FC236}">
                      <a16:creationId xmlns:a16="http://schemas.microsoft.com/office/drawing/2014/main" id="{C2F8B044-0AE7-9831-B9E4-A13D373BCEB7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橢圓 5">
                  <a:extLst>
                    <a:ext uri="{FF2B5EF4-FFF2-40B4-BE49-F238E27FC236}">
                      <a16:creationId xmlns:a16="http://schemas.microsoft.com/office/drawing/2014/main" id="{C2F8B044-0AE7-9831-B9E4-A13D373BCE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B62FAAB2-D52A-3673-FB66-D5FBD3B0A786}"/>
                    </a:ext>
                  </a:extLst>
                </p:cNvPr>
                <p:cNvSpPr txBox="1"/>
                <p:nvPr/>
              </p:nvSpPr>
              <p:spPr>
                <a:xfrm>
                  <a:off x="9858102" y="5809698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𝐴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B62FAAB2-D52A-3673-FB66-D5FBD3B0A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8102" y="5809698"/>
                  <a:ext cx="435429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5290B963-0025-D7B9-552F-6ABA50B1EEDF}"/>
              </a:ext>
            </a:extLst>
          </p:cNvPr>
          <p:cNvGrpSpPr/>
          <p:nvPr/>
        </p:nvGrpSpPr>
        <p:grpSpPr>
          <a:xfrm>
            <a:off x="3135050" y="2472150"/>
            <a:ext cx="531222" cy="531222"/>
            <a:chOff x="9810206" y="5809699"/>
            <a:chExt cx="531222" cy="53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橢圓 8">
                  <a:extLst>
                    <a:ext uri="{FF2B5EF4-FFF2-40B4-BE49-F238E27FC236}">
                      <a16:creationId xmlns:a16="http://schemas.microsoft.com/office/drawing/2014/main" id="{298B4402-A9EF-7952-766F-2D7D4C64FAD1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橢圓 8">
                  <a:extLst>
                    <a:ext uri="{FF2B5EF4-FFF2-40B4-BE49-F238E27FC236}">
                      <a16:creationId xmlns:a16="http://schemas.microsoft.com/office/drawing/2014/main" id="{298B4402-A9EF-7952-766F-2D7D4C64FA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37E080DF-B64E-AD1A-82DC-CFFE623E91CC}"/>
                    </a:ext>
                  </a:extLst>
                </p:cNvPr>
                <p:cNvSpPr txBox="1"/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𝐵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37E080DF-B64E-AD1A-82DC-CFFE623E91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08981D9-F004-CB22-18A3-0B7566AC5BE1}"/>
              </a:ext>
            </a:extLst>
          </p:cNvPr>
          <p:cNvGrpSpPr/>
          <p:nvPr/>
        </p:nvGrpSpPr>
        <p:grpSpPr>
          <a:xfrm>
            <a:off x="979678" y="4801693"/>
            <a:ext cx="531222" cy="531222"/>
            <a:chOff x="9810206" y="5809699"/>
            <a:chExt cx="531222" cy="53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橢圓 11">
                  <a:extLst>
                    <a:ext uri="{FF2B5EF4-FFF2-40B4-BE49-F238E27FC236}">
                      <a16:creationId xmlns:a16="http://schemas.microsoft.com/office/drawing/2014/main" id="{704FFF07-AAAF-B2D1-1199-9F3E0AD06FCA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橢圓 11">
                  <a:extLst>
                    <a:ext uri="{FF2B5EF4-FFF2-40B4-BE49-F238E27FC236}">
                      <a16:creationId xmlns:a16="http://schemas.microsoft.com/office/drawing/2014/main" id="{704FFF07-AAAF-B2D1-1199-9F3E0AD06F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25AE95D4-FE69-3A34-764C-C0614A7A6517}"/>
                    </a:ext>
                  </a:extLst>
                </p:cNvPr>
                <p:cNvSpPr txBox="1"/>
                <p:nvPr/>
              </p:nvSpPr>
              <p:spPr>
                <a:xfrm>
                  <a:off x="9862421" y="5844477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𝐶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25AE95D4-FE69-3A34-764C-C0614A7A65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2421" y="5844477"/>
                  <a:ext cx="435429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3B17C586-2F83-752A-2637-C21B25A266A6}"/>
              </a:ext>
            </a:extLst>
          </p:cNvPr>
          <p:cNvGrpSpPr/>
          <p:nvPr/>
        </p:nvGrpSpPr>
        <p:grpSpPr>
          <a:xfrm>
            <a:off x="3135050" y="4801693"/>
            <a:ext cx="531222" cy="531222"/>
            <a:chOff x="9810206" y="5809699"/>
            <a:chExt cx="531222" cy="53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C1CB7231-C701-7EC5-1572-69528D5E8426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C1CB7231-C701-7EC5-1572-69528D5E84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832166C1-1B9D-5FDB-4454-8195112B0BF2}"/>
                    </a:ext>
                  </a:extLst>
                </p:cNvPr>
                <p:cNvSpPr txBox="1"/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𝐷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832166C1-1B9D-5FDB-4454-8195112B0B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75AFA7DE-6C59-61E3-F427-5617959228E7}"/>
              </a:ext>
            </a:extLst>
          </p:cNvPr>
          <p:cNvGrpSpPr/>
          <p:nvPr/>
        </p:nvGrpSpPr>
        <p:grpSpPr>
          <a:xfrm>
            <a:off x="4415175" y="3666538"/>
            <a:ext cx="531222" cy="531222"/>
            <a:chOff x="9810206" y="5809699"/>
            <a:chExt cx="531222" cy="53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橢圓 17">
                  <a:extLst>
                    <a:ext uri="{FF2B5EF4-FFF2-40B4-BE49-F238E27FC236}">
                      <a16:creationId xmlns:a16="http://schemas.microsoft.com/office/drawing/2014/main" id="{A3C2E51B-4FFD-310C-39B5-97DABA7F838B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橢圓 17">
                  <a:extLst>
                    <a:ext uri="{FF2B5EF4-FFF2-40B4-BE49-F238E27FC236}">
                      <a16:creationId xmlns:a16="http://schemas.microsoft.com/office/drawing/2014/main" id="{A3C2E51B-4FFD-310C-39B5-97DABA7F8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3AFF43EE-B738-0BF1-55C5-291192EE0B02}"/>
                    </a:ext>
                  </a:extLst>
                </p:cNvPr>
                <p:cNvSpPr txBox="1"/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𝐸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3AFF43EE-B738-0BF1-55C5-291192EE0B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F54FF699-FC67-B378-BB29-155C7065C744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510901" y="2737761"/>
            <a:ext cx="162414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8360FE1E-F3AB-26D5-74A0-D75633B0819F}"/>
              </a:ext>
            </a:extLst>
          </p:cNvPr>
          <p:cNvCxnSpPr>
            <a:cxnSpLocks/>
            <a:stCxn id="9" idx="6"/>
            <a:endCxn id="18" idx="1"/>
          </p:cNvCxnSpPr>
          <p:nvPr/>
        </p:nvCxnSpPr>
        <p:spPr>
          <a:xfrm>
            <a:off x="3666272" y="2737761"/>
            <a:ext cx="826699" cy="10065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95FE1532-E3FE-ADD3-94CB-51F9873BAB82}"/>
              </a:ext>
            </a:extLst>
          </p:cNvPr>
          <p:cNvCxnSpPr>
            <a:cxnSpLocks/>
            <a:stCxn id="15" idx="6"/>
            <a:endCxn id="18" idx="3"/>
          </p:cNvCxnSpPr>
          <p:nvPr/>
        </p:nvCxnSpPr>
        <p:spPr>
          <a:xfrm flipV="1">
            <a:off x="3666272" y="4119964"/>
            <a:ext cx="826699" cy="9473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6E9FC9C8-36D8-372B-8411-7542841A829F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>
            <a:off x="1510900" y="5067304"/>
            <a:ext cx="16241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42C4382B-C83B-A6AE-1C12-258E0AF0F45F}"/>
              </a:ext>
            </a:extLst>
          </p:cNvPr>
          <p:cNvCxnSpPr>
            <a:cxnSpLocks/>
            <a:stCxn id="6" idx="4"/>
            <a:endCxn id="12" idx="0"/>
          </p:cNvCxnSpPr>
          <p:nvPr/>
        </p:nvCxnSpPr>
        <p:spPr>
          <a:xfrm flipH="1">
            <a:off x="1245289" y="3003372"/>
            <a:ext cx="1" cy="179832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B07C9AE8-209D-1D4C-80E8-EF3EADC54438}"/>
              </a:ext>
            </a:extLst>
          </p:cNvPr>
          <p:cNvGrpSpPr/>
          <p:nvPr/>
        </p:nvGrpSpPr>
        <p:grpSpPr>
          <a:xfrm>
            <a:off x="7131635" y="2472149"/>
            <a:ext cx="531222" cy="531223"/>
            <a:chOff x="9810206" y="5809698"/>
            <a:chExt cx="531222" cy="5312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橢圓 39">
                  <a:extLst>
                    <a:ext uri="{FF2B5EF4-FFF2-40B4-BE49-F238E27FC236}">
                      <a16:creationId xmlns:a16="http://schemas.microsoft.com/office/drawing/2014/main" id="{4CBB6CCA-2981-DBE6-A57E-4E189ED35FD0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橢圓 39">
                  <a:extLst>
                    <a:ext uri="{FF2B5EF4-FFF2-40B4-BE49-F238E27FC236}">
                      <a16:creationId xmlns:a16="http://schemas.microsoft.com/office/drawing/2014/main" id="{4CBB6CCA-2981-DBE6-A57E-4E189ED35F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23A5E87A-5146-3289-DF61-2A1795DC8B49}"/>
                    </a:ext>
                  </a:extLst>
                </p:cNvPr>
                <p:cNvSpPr txBox="1"/>
                <p:nvPr/>
              </p:nvSpPr>
              <p:spPr>
                <a:xfrm>
                  <a:off x="9858102" y="5809698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𝐴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23A5E87A-5146-3289-DF61-2A1795DC8B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8102" y="5809698"/>
                  <a:ext cx="435429" cy="46166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AF495A9C-E1DE-CAE5-B645-33A74F72352C}"/>
              </a:ext>
            </a:extLst>
          </p:cNvPr>
          <p:cNvGrpSpPr/>
          <p:nvPr/>
        </p:nvGrpSpPr>
        <p:grpSpPr>
          <a:xfrm>
            <a:off x="9287006" y="2472150"/>
            <a:ext cx="531222" cy="531222"/>
            <a:chOff x="9810206" y="5809699"/>
            <a:chExt cx="531222" cy="53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橢圓 42">
                  <a:extLst>
                    <a:ext uri="{FF2B5EF4-FFF2-40B4-BE49-F238E27FC236}">
                      <a16:creationId xmlns:a16="http://schemas.microsoft.com/office/drawing/2014/main" id="{590D4DED-477F-1BE2-D6B8-F1D12EBF150A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橢圓 42">
                  <a:extLst>
                    <a:ext uri="{FF2B5EF4-FFF2-40B4-BE49-F238E27FC236}">
                      <a16:creationId xmlns:a16="http://schemas.microsoft.com/office/drawing/2014/main" id="{590D4DED-477F-1BE2-D6B8-F1D12EBF15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0DC1D307-FD10-4E5C-63BD-2E5E8ACCEE19}"/>
                    </a:ext>
                  </a:extLst>
                </p:cNvPr>
                <p:cNvSpPr txBox="1"/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𝐵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0DC1D307-FD10-4E5C-63BD-2E5E8ACCE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38B7D5BE-4EB4-D8E2-7141-CB0AF5865475}"/>
              </a:ext>
            </a:extLst>
          </p:cNvPr>
          <p:cNvGrpSpPr/>
          <p:nvPr/>
        </p:nvGrpSpPr>
        <p:grpSpPr>
          <a:xfrm>
            <a:off x="7131634" y="4801693"/>
            <a:ext cx="531222" cy="531222"/>
            <a:chOff x="9810206" y="5809699"/>
            <a:chExt cx="531222" cy="53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橢圓 45">
                  <a:extLst>
                    <a:ext uri="{FF2B5EF4-FFF2-40B4-BE49-F238E27FC236}">
                      <a16:creationId xmlns:a16="http://schemas.microsoft.com/office/drawing/2014/main" id="{96E63716-E9C3-B02E-8414-7F9704021145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6" name="橢圓 45">
                  <a:extLst>
                    <a:ext uri="{FF2B5EF4-FFF2-40B4-BE49-F238E27FC236}">
                      <a16:creationId xmlns:a16="http://schemas.microsoft.com/office/drawing/2014/main" id="{96E63716-E9C3-B02E-8414-7F97040211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1FA01398-DFD4-9A2C-8E2F-0683131C1B25}"/>
                    </a:ext>
                  </a:extLst>
                </p:cNvPr>
                <p:cNvSpPr txBox="1"/>
                <p:nvPr/>
              </p:nvSpPr>
              <p:spPr>
                <a:xfrm>
                  <a:off x="9862421" y="5844477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𝐶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1FA01398-DFD4-9A2C-8E2F-0683131C1B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2421" y="5844477"/>
                  <a:ext cx="435429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FBB46BDA-EAC8-3711-1EB5-D8680592BCAF}"/>
              </a:ext>
            </a:extLst>
          </p:cNvPr>
          <p:cNvGrpSpPr/>
          <p:nvPr/>
        </p:nvGrpSpPr>
        <p:grpSpPr>
          <a:xfrm>
            <a:off x="9287006" y="4801693"/>
            <a:ext cx="531222" cy="531222"/>
            <a:chOff x="9810206" y="5809699"/>
            <a:chExt cx="531222" cy="53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橢圓 48">
                  <a:extLst>
                    <a:ext uri="{FF2B5EF4-FFF2-40B4-BE49-F238E27FC236}">
                      <a16:creationId xmlns:a16="http://schemas.microsoft.com/office/drawing/2014/main" id="{C8C41E0A-44C2-F456-4B54-F608E09D49D1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橢圓 48">
                  <a:extLst>
                    <a:ext uri="{FF2B5EF4-FFF2-40B4-BE49-F238E27FC236}">
                      <a16:creationId xmlns:a16="http://schemas.microsoft.com/office/drawing/2014/main" id="{C8C41E0A-44C2-F456-4B54-F608E09D49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1448FCD5-989A-32DE-EFCD-D655B064632F}"/>
                    </a:ext>
                  </a:extLst>
                </p:cNvPr>
                <p:cNvSpPr txBox="1"/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𝐷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1448FCD5-989A-32DE-EFCD-D655B06463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64BFC8FB-0B1F-2394-87D0-2CAD533E1393}"/>
              </a:ext>
            </a:extLst>
          </p:cNvPr>
          <p:cNvGrpSpPr/>
          <p:nvPr/>
        </p:nvGrpSpPr>
        <p:grpSpPr>
          <a:xfrm>
            <a:off x="10567131" y="3666538"/>
            <a:ext cx="531222" cy="531222"/>
            <a:chOff x="9810206" y="5809699"/>
            <a:chExt cx="531222" cy="53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橢圓 51">
                  <a:extLst>
                    <a:ext uri="{FF2B5EF4-FFF2-40B4-BE49-F238E27FC236}">
                      <a16:creationId xmlns:a16="http://schemas.microsoft.com/office/drawing/2014/main" id="{BC6A32E7-E307-2487-3E26-1586C10CC7DA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2" name="橢圓 51">
                  <a:extLst>
                    <a:ext uri="{FF2B5EF4-FFF2-40B4-BE49-F238E27FC236}">
                      <a16:creationId xmlns:a16="http://schemas.microsoft.com/office/drawing/2014/main" id="{BC6A32E7-E307-2487-3E26-1586C10CC7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455F9C4C-D213-6A28-07E5-6A7350B77F2B}"/>
                    </a:ext>
                  </a:extLst>
                </p:cNvPr>
                <p:cNvSpPr txBox="1"/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𝐸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455F9C4C-D213-6A28-07E5-6A7350B77F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D07BBDC2-0749-26A1-A777-4869BD3115C4}"/>
              </a:ext>
            </a:extLst>
          </p:cNvPr>
          <p:cNvCxnSpPr>
            <a:stCxn id="40" idx="6"/>
            <a:endCxn id="43" idx="2"/>
          </p:cNvCxnSpPr>
          <p:nvPr/>
        </p:nvCxnSpPr>
        <p:spPr>
          <a:xfrm>
            <a:off x="7662857" y="2737761"/>
            <a:ext cx="1624149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1915DF4D-CA34-BAF8-857A-76022F5414F8}"/>
              </a:ext>
            </a:extLst>
          </p:cNvPr>
          <p:cNvCxnSpPr>
            <a:cxnSpLocks/>
            <a:stCxn id="43" idx="6"/>
            <a:endCxn id="52" idx="1"/>
          </p:cNvCxnSpPr>
          <p:nvPr/>
        </p:nvCxnSpPr>
        <p:spPr>
          <a:xfrm>
            <a:off x="9818228" y="2737761"/>
            <a:ext cx="826699" cy="1006573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ED7F9B3E-D11F-F2DA-0BEC-38909F0B0FF3}"/>
              </a:ext>
            </a:extLst>
          </p:cNvPr>
          <p:cNvCxnSpPr>
            <a:cxnSpLocks/>
            <a:stCxn id="49" idx="6"/>
            <a:endCxn id="52" idx="3"/>
          </p:cNvCxnSpPr>
          <p:nvPr/>
        </p:nvCxnSpPr>
        <p:spPr>
          <a:xfrm flipV="1">
            <a:off x="9818228" y="4119964"/>
            <a:ext cx="826699" cy="94734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DBD85ECE-8627-848B-1F5E-0585E84414E5}"/>
              </a:ext>
            </a:extLst>
          </p:cNvPr>
          <p:cNvCxnSpPr>
            <a:cxnSpLocks/>
            <a:stCxn id="46" idx="6"/>
            <a:endCxn id="49" idx="2"/>
          </p:cNvCxnSpPr>
          <p:nvPr/>
        </p:nvCxnSpPr>
        <p:spPr>
          <a:xfrm>
            <a:off x="7662856" y="5067304"/>
            <a:ext cx="1624150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4613485A-E1C6-830C-15F3-7D2423C9670A}"/>
              </a:ext>
            </a:extLst>
          </p:cNvPr>
          <p:cNvCxnSpPr>
            <a:cxnSpLocks/>
            <a:stCxn id="40" idx="4"/>
            <a:endCxn id="46" idx="0"/>
          </p:cNvCxnSpPr>
          <p:nvPr/>
        </p:nvCxnSpPr>
        <p:spPr>
          <a:xfrm flipH="1">
            <a:off x="7397245" y="3003372"/>
            <a:ext cx="1" cy="1798321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33785DCF-A135-D82E-97A0-253E6BBEFF0B}"/>
              </a:ext>
            </a:extLst>
          </p:cNvPr>
          <p:cNvSpPr txBox="1"/>
          <p:nvPr/>
        </p:nvSpPr>
        <p:spPr>
          <a:xfrm>
            <a:off x="7529832" y="6073876"/>
            <a:ext cx="2858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dirty="0"/>
              <a:t>Directed graph </a:t>
            </a:r>
            <a:r>
              <a:rPr kumimoji="1" lang="en-US" altLang="zh-TW" dirty="0"/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有向圖</a:t>
            </a:r>
            <a:r>
              <a:rPr kumimoji="1" lang="en-US" altLang="zh-TW" dirty="0"/>
              <a:t>)</a:t>
            </a:r>
            <a:r>
              <a:rPr kumimoji="1" lang="en" altLang="zh-TW" dirty="0"/>
              <a:t> </a:t>
            </a:r>
            <a:endParaRPr kumimoji="1" lang="zh-TW" altLang="en-US" dirty="0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9AD9040E-4531-16D7-EA74-EB4D88144E54}"/>
              </a:ext>
            </a:extLst>
          </p:cNvPr>
          <p:cNvSpPr txBox="1"/>
          <p:nvPr/>
        </p:nvSpPr>
        <p:spPr>
          <a:xfrm>
            <a:off x="1245289" y="6073876"/>
            <a:ext cx="2858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dirty="0"/>
              <a:t>Undirected graph </a:t>
            </a:r>
            <a:r>
              <a:rPr kumimoji="1" lang="en-US" altLang="zh-TW" dirty="0"/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無向圖</a:t>
            </a:r>
            <a:r>
              <a:rPr kumimoji="1" lang="en-US" altLang="zh-TW" dirty="0"/>
              <a:t>)</a:t>
            </a:r>
            <a:r>
              <a:rPr kumimoji="1" lang="en" altLang="zh-TW" dirty="0"/>
              <a:t> </a:t>
            </a:r>
            <a:endParaRPr kumimoji="1" lang="zh-TW" altLang="en-US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2A98F5D0-3EC5-395F-C997-E7E3C42C0FE3}"/>
              </a:ext>
            </a:extLst>
          </p:cNvPr>
          <p:cNvSpPr txBox="1"/>
          <p:nvPr/>
        </p:nvSpPr>
        <p:spPr>
          <a:xfrm>
            <a:off x="7957072" y="811950"/>
            <a:ext cx="1454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Node 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節點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橢圓 62">
                <a:extLst>
                  <a:ext uri="{FF2B5EF4-FFF2-40B4-BE49-F238E27FC236}">
                    <a16:creationId xmlns:a16="http://schemas.microsoft.com/office/drawing/2014/main" id="{753CE327-21E7-2031-1171-1B02907C2D9E}"/>
                  </a:ext>
                </a:extLst>
              </p:cNvPr>
              <p:cNvSpPr/>
              <p:nvPr/>
            </p:nvSpPr>
            <p:spPr>
              <a:xfrm>
                <a:off x="7436295" y="716704"/>
                <a:ext cx="531222" cy="53122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zh-TW" altLang="zh-TW" sz="18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橢圓 62">
                <a:extLst>
                  <a:ext uri="{FF2B5EF4-FFF2-40B4-BE49-F238E27FC236}">
                    <a16:creationId xmlns:a16="http://schemas.microsoft.com/office/drawing/2014/main" id="{753CE327-21E7-2031-1171-1B02907C2D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295" y="716704"/>
                <a:ext cx="531222" cy="531222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CA864538-4243-9575-9B02-D6A8CC84FC96}"/>
              </a:ext>
            </a:extLst>
          </p:cNvPr>
          <p:cNvCxnSpPr>
            <a:cxnSpLocks/>
          </p:cNvCxnSpPr>
          <p:nvPr/>
        </p:nvCxnSpPr>
        <p:spPr>
          <a:xfrm>
            <a:off x="9605832" y="913464"/>
            <a:ext cx="583781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AEA044AC-D7C5-3E76-D78A-BF3742ABB784}"/>
              </a:ext>
            </a:extLst>
          </p:cNvPr>
          <p:cNvCxnSpPr>
            <a:cxnSpLocks/>
          </p:cNvCxnSpPr>
          <p:nvPr/>
        </p:nvCxnSpPr>
        <p:spPr>
          <a:xfrm>
            <a:off x="9606766" y="1158560"/>
            <a:ext cx="57342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FFB3EBFA-B8F1-CCAF-7FA8-58B1C09C2AB0}"/>
              </a:ext>
            </a:extLst>
          </p:cNvPr>
          <p:cNvSpPr txBox="1"/>
          <p:nvPr/>
        </p:nvSpPr>
        <p:spPr>
          <a:xfrm>
            <a:off x="10252474" y="811950"/>
            <a:ext cx="1286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Edge 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邊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8649FDD-A357-DF7D-FD37-6DE06779278F}"/>
              </a:ext>
            </a:extLst>
          </p:cNvPr>
          <p:cNvSpPr txBox="1"/>
          <p:nvPr/>
        </p:nvSpPr>
        <p:spPr>
          <a:xfrm>
            <a:off x="2138883" y="5704544"/>
            <a:ext cx="876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>
                <a:solidFill>
                  <a:schemeClr val="accent1"/>
                </a:solidFill>
              </a:rPr>
              <a:t>cyclic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F389FA8-4BA4-7B05-F1AD-71CF13BD93D6}"/>
              </a:ext>
            </a:extLst>
          </p:cNvPr>
          <p:cNvSpPr txBox="1"/>
          <p:nvPr/>
        </p:nvSpPr>
        <p:spPr>
          <a:xfrm>
            <a:off x="8245892" y="5709558"/>
            <a:ext cx="876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solidFill>
                  <a:schemeClr val="accent1"/>
                </a:solidFill>
              </a:rPr>
              <a:t>a</a:t>
            </a:r>
            <a:r>
              <a:rPr kumimoji="1" lang="en" altLang="zh-TW" dirty="0">
                <a:solidFill>
                  <a:schemeClr val="accent1"/>
                </a:solidFill>
              </a:rPr>
              <a:t>cyclic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62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3E0D8-58D9-B66C-C8B9-F4F9F739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A410EA-F234-1B1A-9792-70EF72C83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Graph examples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A6E7A54-D357-5AF9-C395-D2567949D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997ACBD7-BA4F-FE21-93DD-28E90D40FCE5}"/>
              </a:ext>
            </a:extLst>
          </p:cNvPr>
          <p:cNvGrpSpPr/>
          <p:nvPr/>
        </p:nvGrpSpPr>
        <p:grpSpPr>
          <a:xfrm>
            <a:off x="979679" y="2472149"/>
            <a:ext cx="531222" cy="531223"/>
            <a:chOff x="9810206" y="5809698"/>
            <a:chExt cx="531222" cy="5312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橢圓 5">
                  <a:extLst>
                    <a:ext uri="{FF2B5EF4-FFF2-40B4-BE49-F238E27FC236}">
                      <a16:creationId xmlns:a16="http://schemas.microsoft.com/office/drawing/2014/main" id="{A7524137-1E97-A929-84AB-4F2DCC707426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橢圓 5">
                  <a:extLst>
                    <a:ext uri="{FF2B5EF4-FFF2-40B4-BE49-F238E27FC236}">
                      <a16:creationId xmlns:a16="http://schemas.microsoft.com/office/drawing/2014/main" id="{C2F8B044-0AE7-9831-B9E4-A13D373BCE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89E956A3-B816-1D3D-753D-B3DB30416FAC}"/>
                    </a:ext>
                  </a:extLst>
                </p:cNvPr>
                <p:cNvSpPr txBox="1"/>
                <p:nvPr/>
              </p:nvSpPr>
              <p:spPr>
                <a:xfrm>
                  <a:off x="9858102" y="5809698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𝐴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B62FAAB2-D52A-3673-FB66-D5FBD3B0A7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8102" y="5809698"/>
                  <a:ext cx="435429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CDD53504-39F2-0590-3959-FF5DF6BC5022}"/>
              </a:ext>
            </a:extLst>
          </p:cNvPr>
          <p:cNvGrpSpPr/>
          <p:nvPr/>
        </p:nvGrpSpPr>
        <p:grpSpPr>
          <a:xfrm>
            <a:off x="3135050" y="2472150"/>
            <a:ext cx="531222" cy="531222"/>
            <a:chOff x="9810206" y="5809699"/>
            <a:chExt cx="531222" cy="53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橢圓 8">
                  <a:extLst>
                    <a:ext uri="{FF2B5EF4-FFF2-40B4-BE49-F238E27FC236}">
                      <a16:creationId xmlns:a16="http://schemas.microsoft.com/office/drawing/2014/main" id="{3E1825AB-1772-AC8B-A063-8BD811462636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" name="橢圓 8">
                  <a:extLst>
                    <a:ext uri="{FF2B5EF4-FFF2-40B4-BE49-F238E27FC236}">
                      <a16:creationId xmlns:a16="http://schemas.microsoft.com/office/drawing/2014/main" id="{298B4402-A9EF-7952-766F-2D7D4C64FA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6F2E810F-F5CA-859C-397C-9E5F8D51582F}"/>
                    </a:ext>
                  </a:extLst>
                </p:cNvPr>
                <p:cNvSpPr txBox="1"/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𝐵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37E080DF-B64E-AD1A-82DC-CFFE623E91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67178D97-F217-C346-4436-5CDE569A5772}"/>
              </a:ext>
            </a:extLst>
          </p:cNvPr>
          <p:cNvGrpSpPr/>
          <p:nvPr/>
        </p:nvGrpSpPr>
        <p:grpSpPr>
          <a:xfrm>
            <a:off x="979678" y="4801693"/>
            <a:ext cx="531222" cy="531222"/>
            <a:chOff x="9810206" y="5809699"/>
            <a:chExt cx="531222" cy="53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橢圓 11">
                  <a:extLst>
                    <a:ext uri="{FF2B5EF4-FFF2-40B4-BE49-F238E27FC236}">
                      <a16:creationId xmlns:a16="http://schemas.microsoft.com/office/drawing/2014/main" id="{3A7020EB-94B4-A648-EED7-B6974A539955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橢圓 11">
                  <a:extLst>
                    <a:ext uri="{FF2B5EF4-FFF2-40B4-BE49-F238E27FC236}">
                      <a16:creationId xmlns:a16="http://schemas.microsoft.com/office/drawing/2014/main" id="{704FFF07-AAAF-B2D1-1199-9F3E0AD06FC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869EE59C-04A8-8F55-2440-C0DC6FA7619F}"/>
                    </a:ext>
                  </a:extLst>
                </p:cNvPr>
                <p:cNvSpPr txBox="1"/>
                <p:nvPr/>
              </p:nvSpPr>
              <p:spPr>
                <a:xfrm>
                  <a:off x="9862421" y="5844477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𝐶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25AE95D4-FE69-3A34-764C-C0614A7A65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2421" y="5844477"/>
                  <a:ext cx="435429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84BD3816-80DB-2744-0D00-67CCF9165961}"/>
              </a:ext>
            </a:extLst>
          </p:cNvPr>
          <p:cNvGrpSpPr/>
          <p:nvPr/>
        </p:nvGrpSpPr>
        <p:grpSpPr>
          <a:xfrm>
            <a:off x="3135050" y="4801693"/>
            <a:ext cx="531222" cy="531222"/>
            <a:chOff x="9810206" y="5809699"/>
            <a:chExt cx="531222" cy="53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8644CC53-98E3-891D-6E8B-5967105022EF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C1CB7231-C701-7EC5-1572-69528D5E842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42DDE431-5F54-FD47-9C1F-2BE1359B4FD0}"/>
                    </a:ext>
                  </a:extLst>
                </p:cNvPr>
                <p:cNvSpPr txBox="1"/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𝐷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832166C1-1B9D-5FDB-4454-8195112B0B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97074050-2480-BD52-D346-B2643680F9E3}"/>
              </a:ext>
            </a:extLst>
          </p:cNvPr>
          <p:cNvGrpSpPr/>
          <p:nvPr/>
        </p:nvGrpSpPr>
        <p:grpSpPr>
          <a:xfrm>
            <a:off x="4415175" y="3666538"/>
            <a:ext cx="531222" cy="531222"/>
            <a:chOff x="9810206" y="5809699"/>
            <a:chExt cx="531222" cy="53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橢圓 17">
                  <a:extLst>
                    <a:ext uri="{FF2B5EF4-FFF2-40B4-BE49-F238E27FC236}">
                      <a16:creationId xmlns:a16="http://schemas.microsoft.com/office/drawing/2014/main" id="{E580AD04-9835-0723-6DD7-9555CCBC6F94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8" name="橢圓 17">
                  <a:extLst>
                    <a:ext uri="{FF2B5EF4-FFF2-40B4-BE49-F238E27FC236}">
                      <a16:creationId xmlns:a16="http://schemas.microsoft.com/office/drawing/2014/main" id="{A3C2E51B-4FFD-310C-39B5-97DABA7F838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D3C8DF67-B76A-B1E0-6E01-2AD58C25C770}"/>
                    </a:ext>
                  </a:extLst>
                </p:cNvPr>
                <p:cNvSpPr txBox="1"/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𝐸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3AFF43EE-B738-0BF1-55C5-291192EE0B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893A1B20-8E84-1DB9-DAB6-F6CD18F354E3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510901" y="2737761"/>
            <a:ext cx="162414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39DDEE1B-7380-ED55-A2EF-8A3E2AD1F0A2}"/>
              </a:ext>
            </a:extLst>
          </p:cNvPr>
          <p:cNvCxnSpPr>
            <a:cxnSpLocks/>
            <a:stCxn id="15" idx="6"/>
            <a:endCxn id="18" idx="3"/>
          </p:cNvCxnSpPr>
          <p:nvPr/>
        </p:nvCxnSpPr>
        <p:spPr>
          <a:xfrm flipV="1">
            <a:off x="3666272" y="4119964"/>
            <a:ext cx="826699" cy="9473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56E46855-19FD-9C9B-BB4B-05E991A5B595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>
            <a:off x="1510900" y="5067304"/>
            <a:ext cx="16241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C6138954-9D7F-0DA8-6B2F-757A5F83C306}"/>
              </a:ext>
            </a:extLst>
          </p:cNvPr>
          <p:cNvCxnSpPr>
            <a:cxnSpLocks/>
            <a:stCxn id="6" idx="4"/>
            <a:endCxn id="12" idx="0"/>
          </p:cNvCxnSpPr>
          <p:nvPr/>
        </p:nvCxnSpPr>
        <p:spPr>
          <a:xfrm flipH="1">
            <a:off x="1245289" y="3003372"/>
            <a:ext cx="1" cy="179832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EAF52EE0-7AF5-6B07-9BCD-2E57894D2568}"/>
              </a:ext>
            </a:extLst>
          </p:cNvPr>
          <p:cNvGrpSpPr/>
          <p:nvPr/>
        </p:nvGrpSpPr>
        <p:grpSpPr>
          <a:xfrm>
            <a:off x="7131635" y="2472149"/>
            <a:ext cx="531222" cy="531223"/>
            <a:chOff x="9810206" y="5809698"/>
            <a:chExt cx="531222" cy="5312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橢圓 39">
                  <a:extLst>
                    <a:ext uri="{FF2B5EF4-FFF2-40B4-BE49-F238E27FC236}">
                      <a16:creationId xmlns:a16="http://schemas.microsoft.com/office/drawing/2014/main" id="{10CBC640-2EB9-7C74-9A5F-9154A00131A0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0" name="橢圓 39">
                  <a:extLst>
                    <a:ext uri="{FF2B5EF4-FFF2-40B4-BE49-F238E27FC236}">
                      <a16:creationId xmlns:a16="http://schemas.microsoft.com/office/drawing/2014/main" id="{4CBB6CCA-2981-DBE6-A57E-4E189ED35FD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F897E112-CDC5-57FA-D9BE-2D9A9B7442A3}"/>
                    </a:ext>
                  </a:extLst>
                </p:cNvPr>
                <p:cNvSpPr txBox="1"/>
                <p:nvPr/>
              </p:nvSpPr>
              <p:spPr>
                <a:xfrm>
                  <a:off x="9858102" y="5809698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𝐴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23A5E87A-5146-3289-DF61-2A1795DC8B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8102" y="5809698"/>
                  <a:ext cx="435429" cy="46166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2" name="群組 41">
            <a:extLst>
              <a:ext uri="{FF2B5EF4-FFF2-40B4-BE49-F238E27FC236}">
                <a16:creationId xmlns:a16="http://schemas.microsoft.com/office/drawing/2014/main" id="{308E76D4-9560-5670-AAA0-5D19ED98774B}"/>
              </a:ext>
            </a:extLst>
          </p:cNvPr>
          <p:cNvGrpSpPr/>
          <p:nvPr/>
        </p:nvGrpSpPr>
        <p:grpSpPr>
          <a:xfrm>
            <a:off x="9287006" y="2472150"/>
            <a:ext cx="531222" cy="531222"/>
            <a:chOff x="9810206" y="5809699"/>
            <a:chExt cx="531222" cy="53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橢圓 42">
                  <a:extLst>
                    <a:ext uri="{FF2B5EF4-FFF2-40B4-BE49-F238E27FC236}">
                      <a16:creationId xmlns:a16="http://schemas.microsoft.com/office/drawing/2014/main" id="{BDC39601-4DE8-AF28-2F45-D52B0C44CD77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橢圓 42">
                  <a:extLst>
                    <a:ext uri="{FF2B5EF4-FFF2-40B4-BE49-F238E27FC236}">
                      <a16:creationId xmlns:a16="http://schemas.microsoft.com/office/drawing/2014/main" id="{590D4DED-477F-1BE2-D6B8-F1D12EBF15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9E58D050-4E2B-FD25-0F37-7AB2EDCBC608}"/>
                    </a:ext>
                  </a:extLst>
                </p:cNvPr>
                <p:cNvSpPr txBox="1"/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𝐵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0DC1D307-FD10-4E5C-63BD-2E5E8ACCEE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4C0510FB-4AFB-C183-15FC-6608D17F8587}"/>
              </a:ext>
            </a:extLst>
          </p:cNvPr>
          <p:cNvGrpSpPr/>
          <p:nvPr/>
        </p:nvGrpSpPr>
        <p:grpSpPr>
          <a:xfrm>
            <a:off x="7131634" y="4801693"/>
            <a:ext cx="531222" cy="531222"/>
            <a:chOff x="9810206" y="5809699"/>
            <a:chExt cx="531222" cy="53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橢圓 45">
                  <a:extLst>
                    <a:ext uri="{FF2B5EF4-FFF2-40B4-BE49-F238E27FC236}">
                      <a16:creationId xmlns:a16="http://schemas.microsoft.com/office/drawing/2014/main" id="{4541B1BD-8CDB-A94D-947D-3C9FA5258FFC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6" name="橢圓 45">
                  <a:extLst>
                    <a:ext uri="{FF2B5EF4-FFF2-40B4-BE49-F238E27FC236}">
                      <a16:creationId xmlns:a16="http://schemas.microsoft.com/office/drawing/2014/main" id="{96E63716-E9C3-B02E-8414-7F97040211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02FAEB2B-7100-B853-00F8-9CC72C74E2D7}"/>
                    </a:ext>
                  </a:extLst>
                </p:cNvPr>
                <p:cNvSpPr txBox="1"/>
                <p:nvPr/>
              </p:nvSpPr>
              <p:spPr>
                <a:xfrm>
                  <a:off x="9862421" y="5844477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𝐶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1FA01398-DFD4-9A2C-8E2F-0683131C1B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2421" y="5844477"/>
                  <a:ext cx="435429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C2C81399-6ED5-C17A-CA86-99E920925997}"/>
              </a:ext>
            </a:extLst>
          </p:cNvPr>
          <p:cNvGrpSpPr/>
          <p:nvPr/>
        </p:nvGrpSpPr>
        <p:grpSpPr>
          <a:xfrm>
            <a:off x="9287006" y="4801693"/>
            <a:ext cx="531222" cy="531222"/>
            <a:chOff x="9810206" y="5809699"/>
            <a:chExt cx="531222" cy="53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橢圓 48">
                  <a:extLst>
                    <a:ext uri="{FF2B5EF4-FFF2-40B4-BE49-F238E27FC236}">
                      <a16:creationId xmlns:a16="http://schemas.microsoft.com/office/drawing/2014/main" id="{8E8D8339-68A5-895F-85DB-6516ACF1F8D6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9" name="橢圓 48">
                  <a:extLst>
                    <a:ext uri="{FF2B5EF4-FFF2-40B4-BE49-F238E27FC236}">
                      <a16:creationId xmlns:a16="http://schemas.microsoft.com/office/drawing/2014/main" id="{C8C41E0A-44C2-F456-4B54-F608E09D49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BD3FC88C-B881-47A8-5F39-9BDCD6939369}"/>
                    </a:ext>
                  </a:extLst>
                </p:cNvPr>
                <p:cNvSpPr txBox="1"/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𝐷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1448FCD5-989A-32DE-EFCD-D655B06463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4C1F99A9-0B8F-E52E-0051-9E66077746F1}"/>
              </a:ext>
            </a:extLst>
          </p:cNvPr>
          <p:cNvGrpSpPr/>
          <p:nvPr/>
        </p:nvGrpSpPr>
        <p:grpSpPr>
          <a:xfrm>
            <a:off x="10567131" y="3666538"/>
            <a:ext cx="531222" cy="531222"/>
            <a:chOff x="9810206" y="5809699"/>
            <a:chExt cx="531222" cy="53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橢圓 51">
                  <a:extLst>
                    <a:ext uri="{FF2B5EF4-FFF2-40B4-BE49-F238E27FC236}">
                      <a16:creationId xmlns:a16="http://schemas.microsoft.com/office/drawing/2014/main" id="{1E88E753-3A6E-E0AC-C039-D49916B09F3E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2" name="橢圓 51">
                  <a:extLst>
                    <a:ext uri="{FF2B5EF4-FFF2-40B4-BE49-F238E27FC236}">
                      <a16:creationId xmlns:a16="http://schemas.microsoft.com/office/drawing/2014/main" id="{BC6A32E7-E307-2487-3E26-1586C10CC7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E5C47FA7-5C17-C743-907D-8C07F7CA079A}"/>
                    </a:ext>
                  </a:extLst>
                </p:cNvPr>
                <p:cNvSpPr txBox="1"/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𝐸</m:t>
                        </m:r>
                      </m:oMath>
                    </m:oMathPara>
                  </a14:m>
                  <a:endParaRPr lang="zh-TW" altLang="zh-TW" sz="24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3" name="文字方塊 52">
                  <a:extLst>
                    <a:ext uri="{FF2B5EF4-FFF2-40B4-BE49-F238E27FC236}">
                      <a16:creationId xmlns:a16="http://schemas.microsoft.com/office/drawing/2014/main" id="{455F9C4C-D213-6A28-07E5-6A7350B77F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8102" y="5844477"/>
                  <a:ext cx="435429" cy="461665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4" name="直線接點 53">
            <a:extLst>
              <a:ext uri="{FF2B5EF4-FFF2-40B4-BE49-F238E27FC236}">
                <a16:creationId xmlns:a16="http://schemas.microsoft.com/office/drawing/2014/main" id="{851B35AF-FF47-0822-8CD2-12D48E816D6F}"/>
              </a:ext>
            </a:extLst>
          </p:cNvPr>
          <p:cNvCxnSpPr>
            <a:stCxn id="40" idx="6"/>
            <a:endCxn id="43" idx="2"/>
          </p:cNvCxnSpPr>
          <p:nvPr/>
        </p:nvCxnSpPr>
        <p:spPr>
          <a:xfrm>
            <a:off x="7662857" y="2737761"/>
            <a:ext cx="1624149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接點 54">
            <a:extLst>
              <a:ext uri="{FF2B5EF4-FFF2-40B4-BE49-F238E27FC236}">
                <a16:creationId xmlns:a16="http://schemas.microsoft.com/office/drawing/2014/main" id="{EAB79D1F-0AA9-1368-031D-4DC13484CBA4}"/>
              </a:ext>
            </a:extLst>
          </p:cNvPr>
          <p:cNvCxnSpPr>
            <a:cxnSpLocks/>
            <a:stCxn id="43" idx="6"/>
            <a:endCxn id="52" idx="1"/>
          </p:cNvCxnSpPr>
          <p:nvPr/>
        </p:nvCxnSpPr>
        <p:spPr>
          <a:xfrm>
            <a:off x="9818228" y="2737761"/>
            <a:ext cx="826699" cy="1006573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720D9AA9-6AAD-CFE0-F07A-5FC690256112}"/>
              </a:ext>
            </a:extLst>
          </p:cNvPr>
          <p:cNvCxnSpPr>
            <a:cxnSpLocks/>
          </p:cNvCxnSpPr>
          <p:nvPr/>
        </p:nvCxnSpPr>
        <p:spPr>
          <a:xfrm rot="10800000" flipV="1">
            <a:off x="9818228" y="4119964"/>
            <a:ext cx="826699" cy="947340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2589DB7E-7100-78E7-B6F2-29FB28E55233}"/>
              </a:ext>
            </a:extLst>
          </p:cNvPr>
          <p:cNvCxnSpPr>
            <a:cxnSpLocks/>
          </p:cNvCxnSpPr>
          <p:nvPr/>
        </p:nvCxnSpPr>
        <p:spPr>
          <a:xfrm flipH="1">
            <a:off x="7662856" y="5067304"/>
            <a:ext cx="1624150" cy="0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EC684FAC-AF6A-1811-95DD-7AC94EA9BE49}"/>
              </a:ext>
            </a:extLst>
          </p:cNvPr>
          <p:cNvCxnSpPr>
            <a:cxnSpLocks/>
          </p:cNvCxnSpPr>
          <p:nvPr/>
        </p:nvCxnSpPr>
        <p:spPr>
          <a:xfrm flipH="1" flipV="1">
            <a:off x="7397245" y="3003372"/>
            <a:ext cx="1" cy="1798321"/>
          </a:xfrm>
          <a:prstGeom prst="line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698D93D6-517A-78CC-A82A-63DF9CE8DF4F}"/>
              </a:ext>
            </a:extLst>
          </p:cNvPr>
          <p:cNvSpPr txBox="1"/>
          <p:nvPr/>
        </p:nvSpPr>
        <p:spPr>
          <a:xfrm>
            <a:off x="7529832" y="6073876"/>
            <a:ext cx="2858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dirty="0"/>
              <a:t>Directed graph </a:t>
            </a:r>
            <a:r>
              <a:rPr kumimoji="1" lang="en-US" altLang="zh-TW" dirty="0"/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有向圖</a:t>
            </a:r>
            <a:r>
              <a:rPr kumimoji="1" lang="en-US" altLang="zh-TW" dirty="0"/>
              <a:t>)</a:t>
            </a:r>
            <a:r>
              <a:rPr kumimoji="1" lang="en" altLang="zh-TW" dirty="0"/>
              <a:t> </a:t>
            </a:r>
            <a:endParaRPr kumimoji="1" lang="zh-TW" altLang="en-US" dirty="0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75321C99-DABE-BDFF-F00C-59C9DB83984D}"/>
              </a:ext>
            </a:extLst>
          </p:cNvPr>
          <p:cNvSpPr txBox="1"/>
          <p:nvPr/>
        </p:nvSpPr>
        <p:spPr>
          <a:xfrm>
            <a:off x="1245289" y="6073876"/>
            <a:ext cx="2858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dirty="0"/>
              <a:t>Undirected graph </a:t>
            </a:r>
            <a:r>
              <a:rPr kumimoji="1" lang="en-US" altLang="zh-TW" dirty="0"/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無向圖</a:t>
            </a:r>
            <a:r>
              <a:rPr kumimoji="1" lang="en-US" altLang="zh-TW" dirty="0"/>
              <a:t>)</a:t>
            </a:r>
            <a:r>
              <a:rPr kumimoji="1" lang="en" altLang="zh-TW" dirty="0"/>
              <a:t> </a:t>
            </a:r>
            <a:endParaRPr kumimoji="1" lang="zh-TW" altLang="en-US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6319875C-D7EC-192E-0183-DED04CEF3FF8}"/>
              </a:ext>
            </a:extLst>
          </p:cNvPr>
          <p:cNvSpPr txBox="1"/>
          <p:nvPr/>
        </p:nvSpPr>
        <p:spPr>
          <a:xfrm>
            <a:off x="7957072" y="811950"/>
            <a:ext cx="1454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Node 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節點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橢圓 62">
                <a:extLst>
                  <a:ext uri="{FF2B5EF4-FFF2-40B4-BE49-F238E27FC236}">
                    <a16:creationId xmlns:a16="http://schemas.microsoft.com/office/drawing/2014/main" id="{C7A866D8-BC77-5479-B357-A334F9A33803}"/>
                  </a:ext>
                </a:extLst>
              </p:cNvPr>
              <p:cNvSpPr/>
              <p:nvPr/>
            </p:nvSpPr>
            <p:spPr>
              <a:xfrm>
                <a:off x="7436295" y="716704"/>
                <a:ext cx="531222" cy="53122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zh-TW" altLang="zh-TW" sz="18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橢圓 62">
                <a:extLst>
                  <a:ext uri="{FF2B5EF4-FFF2-40B4-BE49-F238E27FC236}">
                    <a16:creationId xmlns:a16="http://schemas.microsoft.com/office/drawing/2014/main" id="{753CE327-21E7-2031-1171-1B02907C2D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6295" y="716704"/>
                <a:ext cx="531222" cy="531222"/>
              </a:xfrm>
              <a:prstGeom prst="ellipse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16535034-A546-82EE-45C3-5B1ABAB4D930}"/>
              </a:ext>
            </a:extLst>
          </p:cNvPr>
          <p:cNvCxnSpPr>
            <a:cxnSpLocks/>
          </p:cNvCxnSpPr>
          <p:nvPr/>
        </p:nvCxnSpPr>
        <p:spPr>
          <a:xfrm>
            <a:off x="9605832" y="913464"/>
            <a:ext cx="583781" cy="0"/>
          </a:xfrm>
          <a:prstGeom prst="line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接點 68">
            <a:extLst>
              <a:ext uri="{FF2B5EF4-FFF2-40B4-BE49-F238E27FC236}">
                <a16:creationId xmlns:a16="http://schemas.microsoft.com/office/drawing/2014/main" id="{C9A47DEF-6CD6-DAB5-B957-69F871E0F27D}"/>
              </a:ext>
            </a:extLst>
          </p:cNvPr>
          <p:cNvCxnSpPr>
            <a:cxnSpLocks/>
          </p:cNvCxnSpPr>
          <p:nvPr/>
        </p:nvCxnSpPr>
        <p:spPr>
          <a:xfrm>
            <a:off x="9606766" y="1158560"/>
            <a:ext cx="57342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78950923-F1AE-236E-A611-A656A4BAA3A4}"/>
              </a:ext>
            </a:extLst>
          </p:cNvPr>
          <p:cNvSpPr txBox="1"/>
          <p:nvPr/>
        </p:nvSpPr>
        <p:spPr>
          <a:xfrm>
            <a:off x="10252474" y="811950"/>
            <a:ext cx="1286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Edge 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邊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1FA1854-81E9-C070-2281-5FB1862BF91E}"/>
              </a:ext>
            </a:extLst>
          </p:cNvPr>
          <p:cNvSpPr txBox="1"/>
          <p:nvPr/>
        </p:nvSpPr>
        <p:spPr>
          <a:xfrm>
            <a:off x="2138883" y="5704544"/>
            <a:ext cx="876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>
                <a:solidFill>
                  <a:schemeClr val="accent1"/>
                </a:solidFill>
              </a:rPr>
              <a:t>acyclic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19098BA-74E8-DAD2-5A91-3363E373E056}"/>
              </a:ext>
            </a:extLst>
          </p:cNvPr>
          <p:cNvSpPr txBox="1"/>
          <p:nvPr/>
        </p:nvSpPr>
        <p:spPr>
          <a:xfrm>
            <a:off x="8245892" y="5709558"/>
            <a:ext cx="876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>
                <a:solidFill>
                  <a:schemeClr val="accent1"/>
                </a:solidFill>
              </a:rPr>
              <a:t>cyclic</a:t>
            </a:r>
            <a:endParaRPr kumimoji="1" lang="zh-TW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785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D3E360-F5BF-D9C6-4671-6712ADC4B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Graph </a:t>
            </a:r>
            <a:r>
              <a:rPr kumimoji="1" lang="zh-TW" altLang="en-US" dirty="0"/>
              <a:t>的應用例子</a:t>
            </a:r>
            <a:r>
              <a:rPr kumimoji="1" lang="en-US" altLang="zh-TW" dirty="0"/>
              <a:t> (</a:t>
            </a:r>
            <a:r>
              <a:rPr kumimoji="1" lang="zh-TW" altLang="en-US" dirty="0"/>
              <a:t>推薦系統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D9BE3AB-5F14-92A1-E00C-14871BC6C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A241FBB-28EE-24C1-F32D-C7FDAC77F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47" y="1689759"/>
            <a:ext cx="6338048" cy="490836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DE5DE2A-7BB0-96DF-5594-0DA8D96EC7C6}"/>
              </a:ext>
            </a:extLst>
          </p:cNvPr>
          <p:cNvSpPr txBox="1"/>
          <p:nvPr/>
        </p:nvSpPr>
        <p:spPr>
          <a:xfrm>
            <a:off x="7078824" y="5868842"/>
            <a:ext cx="44926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" altLang="zh-TW" sz="1200" dirty="0"/>
              <a:t>Figure source: Huang, </a:t>
            </a:r>
            <a:r>
              <a:rPr kumimoji="1" lang="en" altLang="zh-TW" sz="1200" dirty="0" err="1"/>
              <a:t>Xiaoli</a:t>
            </a:r>
            <a:r>
              <a:rPr kumimoji="1" lang="en" altLang="zh-TW" sz="1200" dirty="0"/>
              <a:t>, </a:t>
            </a:r>
            <a:r>
              <a:rPr kumimoji="1" lang="en" altLang="zh-TW" sz="1200" dirty="0" err="1"/>
              <a:t>Junjie</a:t>
            </a:r>
            <a:r>
              <a:rPr kumimoji="1" lang="en" altLang="zh-TW" sz="1200" dirty="0"/>
              <a:t> Wang, and </a:t>
            </a:r>
            <a:r>
              <a:rPr kumimoji="1" lang="en" altLang="zh-TW" sz="1200" dirty="0" err="1"/>
              <a:t>Junying</a:t>
            </a:r>
            <a:r>
              <a:rPr kumimoji="1" lang="en" altLang="zh-TW" sz="1200" dirty="0"/>
              <a:t> Cui. "A Personalized Collaborative Filtering Recommendation System Based on Bi-Graph Embedding and Causal Reasoning." Entropy 26.5 (2024): 371.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76962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A6FAC5-A9AF-199B-72BC-C1B8F3AEE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Graph </a:t>
            </a:r>
            <a:r>
              <a:rPr kumimoji="1" lang="zh-TW" altLang="en-US" dirty="0"/>
              <a:t>的應用例子 </a:t>
            </a:r>
            <a:r>
              <a:rPr kumimoji="1" lang="en-US" altLang="zh-TW" dirty="0"/>
              <a:t>(</a:t>
            </a:r>
            <a:r>
              <a:rPr kumimoji="1" lang="zh-TW" altLang="en-US" dirty="0"/>
              <a:t>基因關聯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E0C616-FB5A-07DE-27F6-957D20DD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F84B5EE-B8B9-6C9D-02FB-2A77BC5B2D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359" y="1648325"/>
            <a:ext cx="6203301" cy="5113698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BF1CF64-52AC-2C23-163D-C78181A9EFC4}"/>
              </a:ext>
            </a:extLst>
          </p:cNvPr>
          <p:cNvSpPr txBox="1"/>
          <p:nvPr/>
        </p:nvSpPr>
        <p:spPr>
          <a:xfrm>
            <a:off x="7078824" y="1473480"/>
            <a:ext cx="44926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" altLang="zh-TW" sz="1200" dirty="0"/>
              <a:t>Figure source: Zhou, Cong-</a:t>
            </a:r>
            <a:r>
              <a:rPr kumimoji="1" lang="en" altLang="zh-TW" sz="1200" dirty="0" err="1"/>
              <a:t>Ya</a:t>
            </a:r>
            <a:r>
              <a:rPr kumimoji="1" lang="en" altLang="zh-TW" sz="1200" dirty="0"/>
              <a:t>, et al. "Evaluation of the target genes of arsenic trioxide in pancreatic cancer by bioinformatics analysis." Oncology Letters 18.5 (2019): 5163-5172.</a:t>
            </a:r>
            <a:endParaRPr kumimoji="1"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74509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4FA823-98C8-0D62-D711-718A3F113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圖常見任務 </a:t>
            </a:r>
            <a:r>
              <a:rPr kumimoji="1" lang="en-US" altLang="zh-TW" dirty="0"/>
              <a:t>(1)</a:t>
            </a:r>
            <a:r>
              <a:rPr kumimoji="1" lang="zh-TW" altLang="en-US" dirty="0"/>
              <a:t>：</a:t>
            </a:r>
            <a:r>
              <a:rPr kumimoji="1" lang="en-US" altLang="zh-TW" dirty="0"/>
              <a:t>Node Classification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B99803-A97D-C7EE-C6FC-34D455A57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48BC35A2-648D-D1AF-0930-5AEB54BCBED1}"/>
              </a:ext>
            </a:extLst>
          </p:cNvPr>
          <p:cNvSpPr/>
          <p:nvPr/>
        </p:nvSpPr>
        <p:spPr>
          <a:xfrm>
            <a:off x="722342" y="2684818"/>
            <a:ext cx="1194318" cy="6904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gene1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D9364944-1946-5AD3-85C3-4F59DCBB3155}"/>
              </a:ext>
            </a:extLst>
          </p:cNvPr>
          <p:cNvSpPr/>
          <p:nvPr/>
        </p:nvSpPr>
        <p:spPr>
          <a:xfrm>
            <a:off x="1683395" y="3683951"/>
            <a:ext cx="1194318" cy="6904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gene2</a:t>
            </a:r>
          </a:p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❌</a:t>
            </a: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E1C2A1C8-3A3B-68EE-AF8C-A0C26B0281C5}"/>
              </a:ext>
            </a:extLst>
          </p:cNvPr>
          <p:cNvSpPr/>
          <p:nvPr/>
        </p:nvSpPr>
        <p:spPr>
          <a:xfrm>
            <a:off x="1086236" y="4881379"/>
            <a:ext cx="1194318" cy="6904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gene3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7C41F907-8ABA-9A6C-D8FD-34805F9E0760}"/>
              </a:ext>
            </a:extLst>
          </p:cNvPr>
          <p:cNvSpPr/>
          <p:nvPr/>
        </p:nvSpPr>
        <p:spPr>
          <a:xfrm>
            <a:off x="3250937" y="3191787"/>
            <a:ext cx="1194318" cy="6904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gene4</a:t>
            </a:r>
            <a:r>
              <a:rPr kumimoji="1" lang="zh-TW" altLang="en-US" dirty="0">
                <a:solidFill>
                  <a:schemeClr val="tx1"/>
                </a:solidFill>
              </a:rPr>
              <a:t>❌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2BB237EF-3BF6-AA16-35B7-D6D59682B325}"/>
              </a:ext>
            </a:extLst>
          </p:cNvPr>
          <p:cNvSpPr/>
          <p:nvPr/>
        </p:nvSpPr>
        <p:spPr>
          <a:xfrm>
            <a:off x="2877713" y="4452194"/>
            <a:ext cx="1194318" cy="6904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gene5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81005323-08B5-D7DD-AF7E-F3B02DB26593}"/>
              </a:ext>
            </a:extLst>
          </p:cNvPr>
          <p:cNvSpPr/>
          <p:nvPr/>
        </p:nvSpPr>
        <p:spPr>
          <a:xfrm>
            <a:off x="4625647" y="3966204"/>
            <a:ext cx="1194318" cy="6904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gene6</a:t>
            </a:r>
          </a:p>
          <a:p>
            <a:pPr algn="ctr"/>
            <a:r>
              <a:rPr kumimoji="1" lang="zh-TW" altLang="en-US" dirty="0">
                <a:solidFill>
                  <a:schemeClr val="tx1"/>
                </a:solidFill>
              </a:rPr>
              <a:t>❌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53BD8C71-BF26-E415-7756-71D1DAB02B99}"/>
              </a:ext>
            </a:extLst>
          </p:cNvPr>
          <p:cNvSpPr/>
          <p:nvPr/>
        </p:nvSpPr>
        <p:spPr>
          <a:xfrm>
            <a:off x="4345729" y="5157357"/>
            <a:ext cx="1194318" cy="6904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gene7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6CA25D52-EBB0-D0DF-3D51-E62CA3204D84}"/>
              </a:ext>
            </a:extLst>
          </p:cNvPr>
          <p:cNvSpPr/>
          <p:nvPr/>
        </p:nvSpPr>
        <p:spPr>
          <a:xfrm>
            <a:off x="5446741" y="3051029"/>
            <a:ext cx="1194318" cy="6904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gene8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B91E1040-B0C8-9660-37B1-114DF8A22080}"/>
              </a:ext>
            </a:extLst>
          </p:cNvPr>
          <p:cNvSpPr/>
          <p:nvPr/>
        </p:nvSpPr>
        <p:spPr>
          <a:xfrm>
            <a:off x="5981699" y="4761605"/>
            <a:ext cx="1194318" cy="6904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gene9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BD1B4A9D-4C48-5B94-D35C-3212871CD04F}"/>
              </a:ext>
            </a:extLst>
          </p:cNvPr>
          <p:cNvCxnSpPr>
            <a:cxnSpLocks/>
            <a:stCxn id="5" idx="5"/>
            <a:endCxn id="6" idx="0"/>
          </p:cNvCxnSpPr>
          <p:nvPr/>
        </p:nvCxnSpPr>
        <p:spPr>
          <a:xfrm>
            <a:off x="1741756" y="3274167"/>
            <a:ext cx="538798" cy="4097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B27811ED-850F-E888-0AE5-21BB0A7D9CAD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 flipV="1">
            <a:off x="2877713" y="3537020"/>
            <a:ext cx="373224" cy="49216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E0149890-08AF-ECB9-82ED-387707D8DAE7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 flipV="1">
            <a:off x="2280554" y="4797427"/>
            <a:ext cx="597159" cy="4291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CA5946C4-90C9-ADD0-B4B2-F1AB76D5EA02}"/>
              </a:ext>
            </a:extLst>
          </p:cNvPr>
          <p:cNvCxnSpPr>
            <a:cxnSpLocks/>
            <a:stCxn id="11" idx="1"/>
            <a:endCxn id="9" idx="5"/>
          </p:cNvCxnSpPr>
          <p:nvPr/>
        </p:nvCxnSpPr>
        <p:spPr>
          <a:xfrm flipH="1" flipV="1">
            <a:off x="3897127" y="5041543"/>
            <a:ext cx="623506" cy="2169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F0F1F16A-E9C2-2A3E-D434-A714DF501B3C}"/>
              </a:ext>
            </a:extLst>
          </p:cNvPr>
          <p:cNvCxnSpPr>
            <a:cxnSpLocks/>
            <a:stCxn id="11" idx="0"/>
            <a:endCxn id="10" idx="4"/>
          </p:cNvCxnSpPr>
          <p:nvPr/>
        </p:nvCxnSpPr>
        <p:spPr>
          <a:xfrm flipV="1">
            <a:off x="4942888" y="4656669"/>
            <a:ext cx="279918" cy="50068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9F8B5BDD-F0FB-3B82-ED08-903886B2B8D8}"/>
              </a:ext>
            </a:extLst>
          </p:cNvPr>
          <p:cNvCxnSpPr>
            <a:cxnSpLocks/>
            <a:stCxn id="11" idx="7"/>
            <a:endCxn id="13" idx="2"/>
          </p:cNvCxnSpPr>
          <p:nvPr/>
        </p:nvCxnSpPr>
        <p:spPr>
          <a:xfrm flipV="1">
            <a:off x="5365143" y="5106838"/>
            <a:ext cx="616556" cy="15163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38949B02-F076-BE9C-A4A8-B1860988718C}"/>
              </a:ext>
            </a:extLst>
          </p:cNvPr>
          <p:cNvCxnSpPr>
            <a:cxnSpLocks/>
            <a:stCxn id="13" idx="0"/>
            <a:endCxn id="12" idx="4"/>
          </p:cNvCxnSpPr>
          <p:nvPr/>
        </p:nvCxnSpPr>
        <p:spPr>
          <a:xfrm flipH="1" flipV="1">
            <a:off x="6043900" y="3741494"/>
            <a:ext cx="534958" cy="102011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7ED6716F-30DE-47EE-BFA5-FD79A2562C0D}"/>
              </a:ext>
            </a:extLst>
          </p:cNvPr>
          <p:cNvCxnSpPr>
            <a:cxnSpLocks/>
            <a:stCxn id="6" idx="5"/>
            <a:endCxn id="9" idx="1"/>
          </p:cNvCxnSpPr>
          <p:nvPr/>
        </p:nvCxnSpPr>
        <p:spPr>
          <a:xfrm>
            <a:off x="2702809" y="4273300"/>
            <a:ext cx="349808" cy="2800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3C4814A-C539-A4C2-3D3E-0302B5E989B3}"/>
              </a:ext>
            </a:extLst>
          </p:cNvPr>
          <p:cNvSpPr txBox="1"/>
          <p:nvPr/>
        </p:nvSpPr>
        <p:spPr>
          <a:xfrm>
            <a:off x="7139777" y="4080603"/>
            <a:ext cx="709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/>
              <a:t>...</a:t>
            </a:r>
            <a:endParaRPr kumimoji="1" lang="zh-TW" altLang="en-US" sz="2400" dirty="0"/>
          </a:p>
        </p:txBody>
      </p:sp>
      <p:sp>
        <p:nvSpPr>
          <p:cNvPr id="41" name="橢圓 40">
            <a:extLst>
              <a:ext uri="{FF2B5EF4-FFF2-40B4-BE49-F238E27FC236}">
                <a16:creationId xmlns:a16="http://schemas.microsoft.com/office/drawing/2014/main" id="{A09A834F-741F-AF9D-882B-31483660C3D6}"/>
              </a:ext>
            </a:extLst>
          </p:cNvPr>
          <p:cNvSpPr/>
          <p:nvPr/>
        </p:nvSpPr>
        <p:spPr>
          <a:xfrm>
            <a:off x="8315435" y="3453862"/>
            <a:ext cx="1528050" cy="690465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gene100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2" name="橢圓 41">
            <a:extLst>
              <a:ext uri="{FF2B5EF4-FFF2-40B4-BE49-F238E27FC236}">
                <a16:creationId xmlns:a16="http://schemas.microsoft.com/office/drawing/2014/main" id="{C00B1F6D-A743-CE3E-FACC-DDA1A6A41D52}"/>
              </a:ext>
            </a:extLst>
          </p:cNvPr>
          <p:cNvSpPr/>
          <p:nvPr/>
        </p:nvSpPr>
        <p:spPr>
          <a:xfrm>
            <a:off x="7795018" y="4416372"/>
            <a:ext cx="1528050" cy="690465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gene99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C384F6E5-E8EC-4D2A-7BB8-7E0131E052C2}"/>
              </a:ext>
            </a:extLst>
          </p:cNvPr>
          <p:cNvCxnSpPr>
            <a:cxnSpLocks/>
            <a:stCxn id="42" idx="0"/>
            <a:endCxn id="41" idx="4"/>
          </p:cNvCxnSpPr>
          <p:nvPr/>
        </p:nvCxnSpPr>
        <p:spPr>
          <a:xfrm flipV="1">
            <a:off x="8559043" y="4144327"/>
            <a:ext cx="520417" cy="27204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F7181243-6D13-2297-8C7D-8C64A68A4721}"/>
              </a:ext>
            </a:extLst>
          </p:cNvPr>
          <p:cNvSpPr txBox="1"/>
          <p:nvPr/>
        </p:nvSpPr>
        <p:spPr>
          <a:xfrm>
            <a:off x="10400283" y="3474044"/>
            <a:ext cx="1312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Cancer-relevant?</a:t>
            </a:r>
            <a:endParaRPr kumimoji="1" lang="zh-TW" altLang="en-US" dirty="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07D6C696-69B5-729B-26ED-82678E1FC80F}"/>
              </a:ext>
            </a:extLst>
          </p:cNvPr>
          <p:cNvSpPr txBox="1"/>
          <p:nvPr/>
        </p:nvSpPr>
        <p:spPr>
          <a:xfrm>
            <a:off x="9973810" y="4438438"/>
            <a:ext cx="1312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Cancer-relevant?</a:t>
            </a:r>
            <a:endParaRPr kumimoji="1" lang="zh-TW" altLang="en-US" dirty="0"/>
          </a:p>
        </p:txBody>
      </p:sp>
      <p:sp>
        <p:nvSpPr>
          <p:cNvPr id="50" name="向右箭號 49">
            <a:extLst>
              <a:ext uri="{FF2B5EF4-FFF2-40B4-BE49-F238E27FC236}">
                <a16:creationId xmlns:a16="http://schemas.microsoft.com/office/drawing/2014/main" id="{5D90729D-6BCC-A5DE-54D4-AD9E2537BAEF}"/>
              </a:ext>
            </a:extLst>
          </p:cNvPr>
          <p:cNvSpPr/>
          <p:nvPr/>
        </p:nvSpPr>
        <p:spPr>
          <a:xfrm>
            <a:off x="9979798" y="3728715"/>
            <a:ext cx="284172" cy="1407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1" name="向右箭號 50">
            <a:extLst>
              <a:ext uri="{FF2B5EF4-FFF2-40B4-BE49-F238E27FC236}">
                <a16:creationId xmlns:a16="http://schemas.microsoft.com/office/drawing/2014/main" id="{E70F6789-49A5-F3EF-E9EB-F2103824F2E6}"/>
              </a:ext>
            </a:extLst>
          </p:cNvPr>
          <p:cNvSpPr/>
          <p:nvPr/>
        </p:nvSpPr>
        <p:spPr>
          <a:xfrm>
            <a:off x="9543863" y="4691225"/>
            <a:ext cx="284172" cy="1407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D69D91EB-6478-6EE3-409A-59C5F2546B7B}"/>
              </a:ext>
            </a:extLst>
          </p:cNvPr>
          <p:cNvSpPr txBox="1"/>
          <p:nvPr/>
        </p:nvSpPr>
        <p:spPr>
          <a:xfrm>
            <a:off x="9685949" y="1483071"/>
            <a:ext cx="2047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Nodes for training</a:t>
            </a:r>
            <a:endParaRPr kumimoji="1" lang="zh-TW" altLang="en-US" sz="1400" dirty="0"/>
          </a:p>
        </p:txBody>
      </p: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8D410064-52C3-8A6F-F436-4E549B0AA130}"/>
              </a:ext>
            </a:extLst>
          </p:cNvPr>
          <p:cNvSpPr txBox="1"/>
          <p:nvPr/>
        </p:nvSpPr>
        <p:spPr>
          <a:xfrm>
            <a:off x="9685949" y="1813510"/>
            <a:ext cx="2047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Nodes for test</a:t>
            </a:r>
            <a:endParaRPr kumimoji="1" lang="zh-TW" altLang="en-US" sz="1400" dirty="0"/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AEF5AD7E-15AE-19FC-5BBD-4A8636E4641D}"/>
              </a:ext>
            </a:extLst>
          </p:cNvPr>
          <p:cNvSpPr/>
          <p:nvPr/>
        </p:nvSpPr>
        <p:spPr>
          <a:xfrm>
            <a:off x="9173539" y="1494911"/>
            <a:ext cx="512410" cy="280021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1C10E58A-A8B2-C0E9-D09E-35767227A10F}"/>
              </a:ext>
            </a:extLst>
          </p:cNvPr>
          <p:cNvSpPr/>
          <p:nvPr/>
        </p:nvSpPr>
        <p:spPr>
          <a:xfrm>
            <a:off x="9173539" y="1829425"/>
            <a:ext cx="512410" cy="280021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1A559E6F-2F97-72EE-52F4-8CEFD839490E}"/>
              </a:ext>
            </a:extLst>
          </p:cNvPr>
          <p:cNvSpPr txBox="1"/>
          <p:nvPr/>
        </p:nvSpPr>
        <p:spPr>
          <a:xfrm>
            <a:off x="8967373" y="2175175"/>
            <a:ext cx="9683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1600" dirty="0">
                <a:solidFill>
                  <a:schemeClr val="tx1"/>
                </a:solidFill>
              </a:rPr>
              <a:t>❌</a:t>
            </a: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63890A2F-FF55-073E-B104-0606F0FF0C6E}"/>
              </a:ext>
            </a:extLst>
          </p:cNvPr>
          <p:cNvSpPr txBox="1"/>
          <p:nvPr/>
        </p:nvSpPr>
        <p:spPr>
          <a:xfrm>
            <a:off x="9685949" y="2135775"/>
            <a:ext cx="2047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Cancer-relevant gene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91938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40" grpId="0"/>
      <p:bldP spid="41" grpId="0" animBg="1"/>
      <p:bldP spid="42" grpId="0" animBg="1"/>
      <p:bldP spid="48" grpId="0"/>
      <p:bldP spid="49" grpId="0"/>
      <p:bldP spid="50" grpId="0" animBg="1"/>
      <p:bldP spid="51" grpId="0" animBg="1"/>
      <p:bldP spid="52" grpId="0"/>
      <p:bldP spid="53" grpId="0"/>
      <p:bldP spid="54" grpId="0" animBg="1"/>
      <p:bldP spid="55" grpId="0" animBg="1"/>
      <p:bldP spid="59" grpId="0"/>
      <p:bldP spid="6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AADB7F-870F-8580-4542-C54127C8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圖常見任務 </a:t>
            </a:r>
            <a:r>
              <a:rPr kumimoji="1" lang="en-US" altLang="zh-TW" dirty="0"/>
              <a:t>(2)</a:t>
            </a:r>
            <a:r>
              <a:rPr kumimoji="1" lang="zh-TW" altLang="en-US" dirty="0"/>
              <a:t>：</a:t>
            </a:r>
            <a:r>
              <a:rPr kumimoji="1" lang="en-US" altLang="zh-TW" dirty="0"/>
              <a:t>Graph Classification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A46A09-CC82-0472-DD49-2A55324B7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B854A2E-2067-2C6D-BFB3-19AC8EFD180E}"/>
              </a:ext>
            </a:extLst>
          </p:cNvPr>
          <p:cNvSpPr txBox="1"/>
          <p:nvPr/>
        </p:nvSpPr>
        <p:spPr>
          <a:xfrm>
            <a:off x="5477069" y="6271079"/>
            <a:ext cx="5990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200" dirty="0"/>
              <a:t>Hu, </a:t>
            </a:r>
            <a:r>
              <a:rPr kumimoji="1" lang="en" altLang="zh-TW" sz="1200" dirty="0" err="1"/>
              <a:t>Weihua</a:t>
            </a:r>
            <a:r>
              <a:rPr kumimoji="1" lang="en" altLang="zh-TW" sz="1200" dirty="0"/>
              <a:t>, et al. "Open graph benchmark: Datasets for machine learning on graphs." Advances in neural information processing systems 33 (2020): 22118-22133.</a:t>
            </a:r>
            <a:endParaRPr kumimoji="1" lang="zh-TW" altLang="en-US" sz="12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A64F345-FD9B-1298-5036-A74C5BB5E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929" y="2001416"/>
            <a:ext cx="2955256" cy="285516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62FFAC4-FFD7-433D-0A74-1C3E19064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1167" y="2246394"/>
            <a:ext cx="2622068" cy="270587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D4CF7DE-BFD0-32E3-3BEB-67C0E1284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4218" y="2400350"/>
            <a:ext cx="2302546" cy="2397967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2D0BA23-5239-02C4-C7DD-F8A440B415AB}"/>
              </a:ext>
            </a:extLst>
          </p:cNvPr>
          <p:cNvSpPr txBox="1"/>
          <p:nvPr/>
        </p:nvSpPr>
        <p:spPr>
          <a:xfrm>
            <a:off x="2015684" y="5468495"/>
            <a:ext cx="1013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Toxic</a:t>
            </a:r>
            <a:endParaRPr kumimoji="1" lang="zh-TW" altLang="en-US" sz="2000" b="1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9C82643-E8DD-184D-B741-095BA3F686F2}"/>
              </a:ext>
            </a:extLst>
          </p:cNvPr>
          <p:cNvSpPr txBox="1"/>
          <p:nvPr/>
        </p:nvSpPr>
        <p:spPr>
          <a:xfrm>
            <a:off x="5492955" y="5468495"/>
            <a:ext cx="1658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Not Toxic</a:t>
            </a:r>
            <a:endParaRPr kumimoji="1" lang="zh-TW" altLang="en-US" sz="2000" b="1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0E4B3AE-8ABD-FF98-3FD4-2F2738B58BD0}"/>
              </a:ext>
            </a:extLst>
          </p:cNvPr>
          <p:cNvSpPr txBox="1"/>
          <p:nvPr/>
        </p:nvSpPr>
        <p:spPr>
          <a:xfrm>
            <a:off x="8966245" y="5468495"/>
            <a:ext cx="16584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/>
              <a:t>?</a:t>
            </a:r>
            <a:endParaRPr kumimoji="1" lang="zh-TW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70031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555F78-36F0-C73D-2B70-CAE909EAB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Graph Terminology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ED16FA-38F2-6B1B-2439-312D0CC37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EA5CC0FD-8432-F28F-941E-864FA51C8413}"/>
              </a:ext>
            </a:extLst>
          </p:cNvPr>
          <p:cNvGrpSpPr/>
          <p:nvPr/>
        </p:nvGrpSpPr>
        <p:grpSpPr>
          <a:xfrm>
            <a:off x="1461053" y="2547093"/>
            <a:ext cx="531222" cy="531222"/>
            <a:chOff x="9810206" y="5809699"/>
            <a:chExt cx="531222" cy="5312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橢圓 5">
                  <a:extLst>
                    <a:ext uri="{FF2B5EF4-FFF2-40B4-BE49-F238E27FC236}">
                      <a16:creationId xmlns:a16="http://schemas.microsoft.com/office/drawing/2014/main" id="{D4645EF9-C4F2-2C5E-1320-713DE9F6A383}"/>
                    </a:ext>
                  </a:extLst>
                </p:cNvPr>
                <p:cNvSpPr/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>
                    <a:lnSpc>
                      <a:spcPct val="115000"/>
                    </a:lnSpc>
                    <a:spcAft>
                      <a:spcPts val="8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1800" i="1" kern="100" smtClean="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zh-TW" sz="1800" kern="100" dirty="0">
                    <a:effectLst/>
                    <a:latin typeface="Aptos" panose="020B000402020202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橢圓 5">
                  <a:extLst>
                    <a:ext uri="{FF2B5EF4-FFF2-40B4-BE49-F238E27FC236}">
                      <a16:creationId xmlns:a16="http://schemas.microsoft.com/office/drawing/2014/main" id="{C2F8B044-0AE7-9831-B9E4-A13D373BCEB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10206" y="5809699"/>
                  <a:ext cx="531222" cy="531222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63EEA0A5-008D-E2EC-D943-37AA3E4990B7}"/>
                    </a:ext>
                  </a:extLst>
                </p:cNvPr>
                <p:cNvSpPr txBox="1"/>
                <p:nvPr/>
              </p:nvSpPr>
              <p:spPr>
                <a:xfrm>
                  <a:off x="9869863" y="5844477"/>
                  <a:ext cx="43542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zh-TW" sz="2000" dirty="0"/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63EEA0A5-008D-E2EC-D943-37AA3E4990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9863" y="5844477"/>
                  <a:ext cx="435429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312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橢圓 8">
                <a:extLst>
                  <a:ext uri="{FF2B5EF4-FFF2-40B4-BE49-F238E27FC236}">
                    <a16:creationId xmlns:a16="http://schemas.microsoft.com/office/drawing/2014/main" id="{52FBE4D7-4EF8-73DA-7737-F72E65047A99}"/>
                  </a:ext>
                </a:extLst>
              </p:cNvPr>
              <p:cNvSpPr/>
              <p:nvPr/>
            </p:nvSpPr>
            <p:spPr>
              <a:xfrm>
                <a:off x="3616424" y="2547093"/>
                <a:ext cx="531222" cy="53122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zh-TW" altLang="zh-TW" sz="18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橢圓 8">
                <a:extLst>
                  <a:ext uri="{FF2B5EF4-FFF2-40B4-BE49-F238E27FC236}">
                    <a16:creationId xmlns:a16="http://schemas.microsoft.com/office/drawing/2014/main" id="{52FBE4D7-4EF8-73DA-7737-F72E65047A9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424" y="2547093"/>
                <a:ext cx="531222" cy="531222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橢圓 11">
                <a:extLst>
                  <a:ext uri="{FF2B5EF4-FFF2-40B4-BE49-F238E27FC236}">
                    <a16:creationId xmlns:a16="http://schemas.microsoft.com/office/drawing/2014/main" id="{CDEE75A0-78E8-6ED1-BAA5-14F56DDFA983}"/>
                  </a:ext>
                </a:extLst>
              </p:cNvPr>
              <p:cNvSpPr/>
              <p:nvPr/>
            </p:nvSpPr>
            <p:spPr>
              <a:xfrm>
                <a:off x="1461052" y="4876636"/>
                <a:ext cx="531222" cy="53122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zh-TW" altLang="zh-TW" sz="18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橢圓 11">
                <a:extLst>
                  <a:ext uri="{FF2B5EF4-FFF2-40B4-BE49-F238E27FC236}">
                    <a16:creationId xmlns:a16="http://schemas.microsoft.com/office/drawing/2014/main" id="{CDEE75A0-78E8-6ED1-BAA5-14F56DDFA9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052" y="4876636"/>
                <a:ext cx="531222" cy="531222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橢圓 14">
                <a:extLst>
                  <a:ext uri="{FF2B5EF4-FFF2-40B4-BE49-F238E27FC236}">
                    <a16:creationId xmlns:a16="http://schemas.microsoft.com/office/drawing/2014/main" id="{9C7FBBEB-426F-4F45-CB7A-875D9CADF390}"/>
                  </a:ext>
                </a:extLst>
              </p:cNvPr>
              <p:cNvSpPr/>
              <p:nvPr/>
            </p:nvSpPr>
            <p:spPr>
              <a:xfrm>
                <a:off x="3616424" y="4876636"/>
                <a:ext cx="531222" cy="53122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zh-TW" altLang="zh-TW" sz="18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橢圓 14">
                <a:extLst>
                  <a:ext uri="{FF2B5EF4-FFF2-40B4-BE49-F238E27FC236}">
                    <a16:creationId xmlns:a16="http://schemas.microsoft.com/office/drawing/2014/main" id="{9C7FBBEB-426F-4F45-CB7A-875D9CADF3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6424" y="4876636"/>
                <a:ext cx="531222" cy="531222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橢圓 17">
                <a:extLst>
                  <a:ext uri="{FF2B5EF4-FFF2-40B4-BE49-F238E27FC236}">
                    <a16:creationId xmlns:a16="http://schemas.microsoft.com/office/drawing/2014/main" id="{375D51DC-0AD9-8FA6-BB46-638BF40A2E48}"/>
                  </a:ext>
                </a:extLst>
              </p:cNvPr>
              <p:cNvSpPr/>
              <p:nvPr/>
            </p:nvSpPr>
            <p:spPr>
              <a:xfrm>
                <a:off x="4896549" y="3741481"/>
                <a:ext cx="531222" cy="531222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80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zh-TW" altLang="zh-TW" sz="18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橢圓 17">
                <a:extLst>
                  <a:ext uri="{FF2B5EF4-FFF2-40B4-BE49-F238E27FC236}">
                    <a16:creationId xmlns:a16="http://schemas.microsoft.com/office/drawing/2014/main" id="{375D51DC-0AD9-8FA6-BB46-638BF40A2E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549" y="3741481"/>
                <a:ext cx="531222" cy="531222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0910FC68-4A58-B7F1-F4D7-497E924F1C68}"/>
              </a:ext>
            </a:extLst>
          </p:cNvPr>
          <p:cNvCxnSpPr>
            <a:stCxn id="6" idx="6"/>
            <a:endCxn id="9" idx="2"/>
          </p:cNvCxnSpPr>
          <p:nvPr/>
        </p:nvCxnSpPr>
        <p:spPr>
          <a:xfrm>
            <a:off x="1992275" y="2812704"/>
            <a:ext cx="162414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671C0F4E-4C95-DE38-F198-1F46743D4698}"/>
              </a:ext>
            </a:extLst>
          </p:cNvPr>
          <p:cNvCxnSpPr>
            <a:cxnSpLocks/>
            <a:stCxn id="9" idx="6"/>
            <a:endCxn id="18" idx="1"/>
          </p:cNvCxnSpPr>
          <p:nvPr/>
        </p:nvCxnSpPr>
        <p:spPr>
          <a:xfrm>
            <a:off x="4147646" y="2812704"/>
            <a:ext cx="826699" cy="10065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6CD1BF3C-55A0-74E8-EC25-F32F01013987}"/>
              </a:ext>
            </a:extLst>
          </p:cNvPr>
          <p:cNvCxnSpPr>
            <a:cxnSpLocks/>
            <a:stCxn id="15" idx="6"/>
            <a:endCxn id="18" idx="3"/>
          </p:cNvCxnSpPr>
          <p:nvPr/>
        </p:nvCxnSpPr>
        <p:spPr>
          <a:xfrm flipV="1">
            <a:off x="4147646" y="4194907"/>
            <a:ext cx="826699" cy="94734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47463186-236E-06CF-AEDF-A0F0E25AA4D3}"/>
              </a:ext>
            </a:extLst>
          </p:cNvPr>
          <p:cNvCxnSpPr>
            <a:cxnSpLocks/>
            <a:stCxn id="12" idx="6"/>
            <a:endCxn id="15" idx="2"/>
          </p:cNvCxnSpPr>
          <p:nvPr/>
        </p:nvCxnSpPr>
        <p:spPr>
          <a:xfrm>
            <a:off x="1992274" y="5142247"/>
            <a:ext cx="16241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5F296EAA-4535-6F9D-0D27-783FE7E7FA2D}"/>
              </a:ext>
            </a:extLst>
          </p:cNvPr>
          <p:cNvCxnSpPr>
            <a:cxnSpLocks/>
            <a:stCxn id="6" idx="4"/>
            <a:endCxn id="12" idx="0"/>
          </p:cNvCxnSpPr>
          <p:nvPr/>
        </p:nvCxnSpPr>
        <p:spPr>
          <a:xfrm flipH="1">
            <a:off x="1726663" y="3078315"/>
            <a:ext cx="1" cy="179832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9614789-CEFA-C619-AA2A-86B28357B5D3}"/>
              </a:ext>
            </a:extLst>
          </p:cNvPr>
          <p:cNvSpPr txBox="1"/>
          <p:nvPr/>
        </p:nvSpPr>
        <p:spPr>
          <a:xfrm>
            <a:off x="1702489" y="6046228"/>
            <a:ext cx="2858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dirty="0"/>
              <a:t>Undirected graph </a:t>
            </a:r>
            <a:r>
              <a:rPr kumimoji="1" lang="en-US" altLang="zh-TW" dirty="0"/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無向圖</a:t>
            </a:r>
            <a:r>
              <a:rPr kumimoji="1" lang="en-US" altLang="zh-TW" dirty="0"/>
              <a:t>)</a:t>
            </a:r>
            <a:r>
              <a:rPr kumimoji="1" lang="en" altLang="zh-TW" dirty="0"/>
              <a:t> 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AEB3A890-10D8-4774-C1A8-6BE93AE47B10}"/>
                  </a:ext>
                </a:extLst>
              </p:cNvPr>
              <p:cNvSpPr txBox="1"/>
              <p:nvPr/>
            </p:nvSpPr>
            <p:spPr>
              <a:xfrm>
                <a:off x="3681050" y="2581871"/>
                <a:ext cx="4354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zh-TW" sz="2000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AEB3A890-10D8-4774-C1A8-6BE93AE47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050" y="2581871"/>
                <a:ext cx="43542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23951C2-8417-A9BE-9B70-32CDE6EC1862}"/>
                  </a:ext>
                </a:extLst>
              </p:cNvPr>
              <p:cNvSpPr txBox="1"/>
              <p:nvPr/>
            </p:nvSpPr>
            <p:spPr>
              <a:xfrm>
                <a:off x="1508949" y="4930717"/>
                <a:ext cx="4354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zh-TW" sz="2000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23951C2-8417-A9BE-9B70-32CDE6EC1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949" y="4930717"/>
                <a:ext cx="435429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AF4013B8-087E-6497-D8F6-37A877EC8CDF}"/>
                  </a:ext>
                </a:extLst>
              </p:cNvPr>
              <p:cNvSpPr txBox="1"/>
              <p:nvPr/>
            </p:nvSpPr>
            <p:spPr>
              <a:xfrm>
                <a:off x="3681050" y="4930717"/>
                <a:ext cx="4354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zh-TW" sz="2000" dirty="0"/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AF4013B8-087E-6497-D8F6-37A877EC8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1050" y="4930717"/>
                <a:ext cx="435429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8B362B45-33E4-2858-9869-1B47367740BF}"/>
                  </a:ext>
                </a:extLst>
              </p:cNvPr>
              <p:cNvSpPr txBox="1"/>
              <p:nvPr/>
            </p:nvSpPr>
            <p:spPr>
              <a:xfrm>
                <a:off x="4946347" y="3785466"/>
                <a:ext cx="4354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zh-TW" sz="20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8B362B45-33E4-2858-9869-1B4736774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347" y="3785466"/>
                <a:ext cx="435429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0F764DD0-827E-A400-B7AB-EC5B0133CEA1}"/>
                  </a:ext>
                </a:extLst>
              </p:cNvPr>
              <p:cNvSpPr txBox="1"/>
              <p:nvPr/>
            </p:nvSpPr>
            <p:spPr>
              <a:xfrm>
                <a:off x="2306948" y="2397206"/>
                <a:ext cx="11900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/>
                  <a:t>,</a:t>
                </a:r>
                <a:r>
                  <a:rPr lang="zh-TW" altLang="zh-TW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zh-TW" sz="2000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0F764DD0-827E-A400-B7AB-EC5B0133CE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948" y="2397206"/>
                <a:ext cx="1190001" cy="400110"/>
              </a:xfrm>
              <a:prstGeom prst="rect">
                <a:avLst/>
              </a:prstGeom>
              <a:blipFill>
                <a:blip r:embed="rId13"/>
                <a:stretch>
                  <a:fillRect l="-2105" t="-6061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FF89FF2-6C93-EFC6-F75A-40BC6E239300}"/>
                  </a:ext>
                </a:extLst>
              </p:cNvPr>
              <p:cNvSpPr txBox="1"/>
              <p:nvPr/>
            </p:nvSpPr>
            <p:spPr>
              <a:xfrm>
                <a:off x="744018" y="3773185"/>
                <a:ext cx="11900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000" dirty="0"/>
                  <a:t>,</a:t>
                </a:r>
                <a:r>
                  <a:rPr lang="zh-TW" altLang="zh-TW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zh-TW" sz="2000" dirty="0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FF89FF2-6C93-EFC6-F75A-40BC6E239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018" y="3773185"/>
                <a:ext cx="1190001" cy="400110"/>
              </a:xfrm>
              <a:prstGeom prst="rect">
                <a:avLst/>
              </a:prstGeom>
              <a:blipFill>
                <a:blip r:embed="rId14"/>
                <a:stretch>
                  <a:fillRect l="-2105" t="-9375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5A4E4D6-4EB2-F900-4992-D8A25BE610BE}"/>
                  </a:ext>
                </a:extLst>
              </p:cNvPr>
              <p:cNvSpPr txBox="1"/>
              <p:nvPr/>
            </p:nvSpPr>
            <p:spPr>
              <a:xfrm>
                <a:off x="2306947" y="4726748"/>
                <a:ext cx="11900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2000" dirty="0"/>
                  <a:t>,</a:t>
                </a:r>
                <a:r>
                  <a:rPr lang="zh-TW" altLang="zh-TW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zh-TW" sz="20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5A4E4D6-4EB2-F900-4992-D8A25BE61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947" y="4726748"/>
                <a:ext cx="1190001" cy="400110"/>
              </a:xfrm>
              <a:prstGeom prst="rect">
                <a:avLst/>
              </a:prstGeom>
              <a:blipFill>
                <a:blip r:embed="rId15"/>
                <a:stretch>
                  <a:fillRect l="-2105" t="-9375" b="-2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2BA7F9E2-65B8-1542-54EB-CCF81208F047}"/>
                  </a:ext>
                </a:extLst>
              </p:cNvPr>
              <p:cNvSpPr txBox="1"/>
              <p:nvPr/>
            </p:nvSpPr>
            <p:spPr>
              <a:xfrm>
                <a:off x="4526097" y="4613554"/>
                <a:ext cx="11900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2000" dirty="0"/>
                  <a:t>,</a:t>
                </a:r>
                <a:r>
                  <a:rPr lang="zh-TW" altLang="zh-TW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zh-TW" sz="20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2BA7F9E2-65B8-1542-54EB-CCF81208F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097" y="4613554"/>
                <a:ext cx="1190001" cy="400110"/>
              </a:xfrm>
              <a:prstGeom prst="rect">
                <a:avLst/>
              </a:prstGeom>
              <a:blipFill>
                <a:blip r:embed="rId16"/>
                <a:stretch>
                  <a:fillRect l="-2105" t="-9375" b="-281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64FD5C45-1E22-2D49-6644-EA6E055AD876}"/>
                  </a:ext>
                </a:extLst>
              </p:cNvPr>
              <p:cNvSpPr txBox="1"/>
              <p:nvPr/>
            </p:nvSpPr>
            <p:spPr>
              <a:xfrm>
                <a:off x="4566229" y="2983107"/>
                <a:ext cx="119000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000" dirty="0"/>
                  <a:t>,</a:t>
                </a:r>
                <a:r>
                  <a:rPr lang="zh-TW" altLang="zh-TW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zh-TW" sz="20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64FD5C45-1E22-2D49-6644-EA6E055AD8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6229" y="2983107"/>
                <a:ext cx="1190001" cy="400110"/>
              </a:xfrm>
              <a:prstGeom prst="rect">
                <a:avLst/>
              </a:prstGeom>
              <a:blipFill>
                <a:blip r:embed="rId17"/>
                <a:stretch>
                  <a:fillRect l="-2105" t="-6061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87C56AA-26E9-66EA-5954-23174265E759}"/>
                  </a:ext>
                </a:extLst>
              </p:cNvPr>
              <p:cNvSpPr txBox="1"/>
              <p:nvPr/>
            </p:nvSpPr>
            <p:spPr>
              <a:xfrm>
                <a:off x="6568628" y="2490269"/>
                <a:ext cx="4291026" cy="34891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TW" altLang="en-US" sz="2400" dirty="0">
                    <a:latin typeface="Cambria Math" panose="02040503050406030204" pitchFamily="18" charset="0"/>
                  </a:rPr>
                  <a:t>一張圖 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TW" altLang="en-US" sz="2400" dirty="0">
                    <a:latin typeface="Cambria Math" panose="02040503050406030204" pitchFamily="18" charset="0"/>
                  </a:rPr>
                  <a:t> 寫作 </a:t>
                </a:r>
                <a14:m>
                  <m:oMath xmlns:m="http://schemas.openxmlformats.org/officeDocument/2006/math">
                    <m:r>
                      <a:rPr lang="zh-TW" alt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zh-TW" altLang="en-US" sz="24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dirty="0">
                    <a:solidFill>
                      <a:schemeClr val="tx1"/>
                    </a:solidFill>
                  </a:rPr>
                  <a:t>，</a:t>
                </a:r>
                <a:endParaRPr lang="en-US" altLang="zh-TW" sz="2400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sz="2400" dirty="0">
                    <a:solidFill>
                      <a:schemeClr val="tx1"/>
                    </a:solidFill>
                  </a:rPr>
                  <a:t>其中</a:t>
                </a:r>
                <a:r>
                  <a:rPr lang="zh-TW" altLang="en-US" sz="2400" dirty="0"/>
                  <a:t>：</a:t>
                </a:r>
                <a:endParaRPr lang="en-US" altLang="zh-TW" sz="2400" dirty="0">
                  <a:solidFill>
                    <a:schemeClr val="tx1"/>
                  </a:solidFill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altLang="zh-TW" sz="200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={</m:t>
                    </m:r>
                    <m:sSub>
                      <m:sSubPr>
                        <m:ctrlPr>
                          <a:rPr lang="zh-TW" altLang="zh-TW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TW" altLang="zh-TW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, ..., </m:t>
                    </m:r>
                    <m:sSub>
                      <m:sSubPr>
                        <m:ctrlPr>
                          <a:rPr lang="zh-TW" altLang="zh-TW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TW" sz="2000" i="1" kern="10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endParaRPr lang="en-US" altLang="zh-TW" sz="2000" kern="100" dirty="0"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180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zh-TW" sz="180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⊆</m:t>
                    </m:r>
                    <m:r>
                      <a:rPr lang="en-US" altLang="zh-TW" sz="180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altLang="zh-TW" sz="180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zh-TW" sz="180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zh-TW" altLang="en-US" kern="100" dirty="0">
                    <a:latin typeface="+mn-ea"/>
                    <a:cs typeface="Times New Roman" panose="02020603050405020304" pitchFamily="18" charset="0"/>
                  </a:rPr>
                  <a:t>，如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sz="2000" dirty="0"/>
                  <a:t>,</a:t>
                </a:r>
                <a:r>
                  <a:rPr lang="zh-TW" altLang="zh-TW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 kern="100" dirty="0">
                    <a:effectLst/>
                    <a:latin typeface="+mn-ea"/>
                    <a:cs typeface="Times New Roman" panose="02020603050405020304" pitchFamily="18" charset="0"/>
                  </a:rPr>
                  <a:t>，</a:t>
                </a:r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TW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000" kern="100" dirty="0">
                    <a:effectLst/>
                    <a:latin typeface="+mn-ea"/>
                    <a:cs typeface="Times New Roman" panose="02020603050405020304" pitchFamily="18" charset="0"/>
                  </a:rPr>
                  <a:t>為</a:t>
                </a:r>
                <a:r>
                  <a:rPr lang="en-US" altLang="zh-TW" sz="2000" kern="100" dirty="0">
                    <a:effectLst/>
                    <a:latin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TW" altLang="en-US" sz="20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zh-TW" altLang="en-US" sz="2000" kern="100" dirty="0">
                    <a:effectLst/>
                    <a:latin typeface="+mn-ea"/>
                    <a:cs typeface="Times New Roman" panose="02020603050405020304" pitchFamily="18" charset="0"/>
                  </a:rPr>
                  <a:t> 中任意相鄰的兩個節點 </a:t>
                </a:r>
                <a:r>
                  <a:rPr lang="en-US" altLang="zh-TW" sz="2000" kern="100" dirty="0">
                    <a:effectLst/>
                    <a:latin typeface="+mn-ea"/>
                    <a:cs typeface="Times New Roman" panose="02020603050405020304" pitchFamily="18" charset="0"/>
                  </a:rPr>
                  <a:t>(node)</a:t>
                </a: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sz="2000" kern="100" dirty="0">
                    <a:effectLst/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lang="zh-TW" altLang="en-US" sz="2000" kern="100" dirty="0">
                    <a:effectLst/>
                    <a:latin typeface="+mn-ea"/>
                    <a:cs typeface="Times New Roman" panose="02020603050405020304" pitchFamily="18" charset="0"/>
                  </a:rPr>
                  <a:t>通常代表起點；</a:t>
                </a:r>
                <a:endParaRPr lang="en-US" altLang="zh-TW" sz="20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marL="800100" lvl="1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TW" sz="2000" kern="100" dirty="0">
                    <a:effectLst/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lang="zh-TW" altLang="en-US" sz="2000" kern="100" dirty="0">
                    <a:effectLst/>
                    <a:latin typeface="+mn-ea"/>
                    <a:cs typeface="Times New Roman" panose="02020603050405020304" pitchFamily="18" charset="0"/>
                  </a:rPr>
                  <a:t>通常代表終點</a:t>
                </a:r>
                <a:endParaRPr lang="zh-TW" altLang="zh-TW" sz="20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87C56AA-26E9-66EA-5954-23174265E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628" y="2490269"/>
                <a:ext cx="4291026" cy="3489160"/>
              </a:xfrm>
              <a:prstGeom prst="rect">
                <a:avLst/>
              </a:prstGeom>
              <a:blipFill>
                <a:blip r:embed="rId18"/>
                <a:stretch>
                  <a:fillRect l="-2367" b="-2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0923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5" grpId="0" animBg="1"/>
      <p:bldP spid="18" grpId="0" animBg="1"/>
      <p:bldP spid="25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7A1848-10C7-7C80-CB06-A40229DC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Adjacency Matrix and Degree Matrix</a:t>
            </a:r>
            <a:endParaRPr kumimoji="1"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E1E083E8-77F0-F7D4-4EC4-AD7D519C4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480290"/>
              </p:ext>
            </p:extLst>
          </p:nvPr>
        </p:nvGraphicFramePr>
        <p:xfrm>
          <a:off x="1009756" y="1987634"/>
          <a:ext cx="10151706" cy="4198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1076">
                  <a:extLst>
                    <a:ext uri="{9D8B030D-6E8A-4147-A177-3AD203B41FA5}">
                      <a16:colId xmlns:a16="http://schemas.microsoft.com/office/drawing/2014/main" val="2440107910"/>
                    </a:ext>
                  </a:extLst>
                </a:gridCol>
                <a:gridCol w="3650315">
                  <a:extLst>
                    <a:ext uri="{9D8B030D-6E8A-4147-A177-3AD203B41FA5}">
                      <a16:colId xmlns:a16="http://schemas.microsoft.com/office/drawing/2014/main" val="1579439024"/>
                    </a:ext>
                  </a:extLst>
                </a:gridCol>
                <a:gridCol w="3650315">
                  <a:extLst>
                    <a:ext uri="{9D8B030D-6E8A-4147-A177-3AD203B41FA5}">
                      <a16:colId xmlns:a16="http://schemas.microsoft.com/office/drawing/2014/main" val="288951779"/>
                    </a:ext>
                  </a:extLst>
                </a:gridCol>
              </a:tblGrid>
              <a:tr h="786134">
                <a:tc>
                  <a:txBody>
                    <a:bodyPr/>
                    <a:lstStyle/>
                    <a:p>
                      <a:pPr algn="ctr"/>
                      <a:r>
                        <a:rPr lang="en" altLang="zh-TW" sz="2000" dirty="0">
                          <a:solidFill>
                            <a:schemeClr val="tx1"/>
                          </a:solidFill>
                        </a:rPr>
                        <a:t>Vertex labeled graph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2000" dirty="0">
                          <a:solidFill>
                            <a:schemeClr val="tx1"/>
                          </a:solidFill>
                        </a:rPr>
                        <a:t>Degree matrix </a:t>
                      </a:r>
                    </a:p>
                    <a:p>
                      <a:pPr algn="ctr"/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TW" altLang="en-US" sz="2000" dirty="0">
                          <a:solidFill>
                            <a:schemeClr val="tx1"/>
                          </a:solidFill>
                        </a:rPr>
                        <a:t>度矩陣</a:t>
                      </a:r>
                      <a:r>
                        <a:rPr lang="en-US" altLang="zh-TW" sz="2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altLang="zh-TW" sz="2000" dirty="0">
                          <a:solidFill>
                            <a:schemeClr val="tx1"/>
                          </a:solidFill>
                        </a:rPr>
                        <a:t>Adjacency matrix</a:t>
                      </a:r>
                    </a:p>
                    <a:p>
                      <a:pPr algn="ctr"/>
                      <a:r>
                        <a:rPr lang="en" altLang="zh-TW" sz="20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TW" altLang="en-US" sz="2000" dirty="0">
                          <a:solidFill>
                            <a:schemeClr val="tx1"/>
                          </a:solidFill>
                        </a:rPr>
                        <a:t>鄰接矩陣</a:t>
                      </a:r>
                      <a:r>
                        <a:rPr lang="en" altLang="zh-TW" sz="2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939345"/>
                  </a:ext>
                </a:extLst>
              </a:tr>
              <a:tr h="341264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589317"/>
                  </a:ext>
                </a:extLst>
              </a:tr>
            </a:tbl>
          </a:graphicData>
        </a:graphic>
      </p:graphicFrame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714CE50-D8EC-4958-A3E9-908DD1E50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B601DA41-A85E-F8A1-5CC8-E0DF5911C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756" y="2941107"/>
            <a:ext cx="2790493" cy="3051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1A53D16-1A60-E91C-9043-99AFBE2487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6458" y="3284172"/>
            <a:ext cx="3432430" cy="235487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9E8C72D-336F-384B-BAD6-092CD74830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1480" y="3284172"/>
            <a:ext cx="3432429" cy="2431052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D761CEF2-482D-653D-E261-EB100C33BF63}"/>
              </a:ext>
            </a:extLst>
          </p:cNvPr>
          <p:cNvSpPr txBox="1"/>
          <p:nvPr/>
        </p:nvSpPr>
        <p:spPr>
          <a:xfrm>
            <a:off x="5325164" y="5722164"/>
            <a:ext cx="1520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對角矩陣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9F9E3EA1-0750-8B6E-D0FE-0BF74ED10B14}"/>
              </a:ext>
            </a:extLst>
          </p:cNvPr>
          <p:cNvSpPr txBox="1"/>
          <p:nvPr/>
        </p:nvSpPr>
        <p:spPr>
          <a:xfrm>
            <a:off x="2405002" y="5346661"/>
            <a:ext cx="12413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1600" dirty="0"/>
              <a:t>自環</a:t>
            </a:r>
            <a:endParaRPr kumimoji="1" lang="en-US" altLang="zh-TW" sz="1600" dirty="0"/>
          </a:p>
          <a:p>
            <a:pPr algn="ctr"/>
            <a:r>
              <a:rPr kumimoji="1" lang="en" altLang="zh-TW" sz="1600" dirty="0">
                <a:solidFill>
                  <a:srgbClr val="FF0000"/>
                </a:solidFill>
              </a:rPr>
              <a:t>degree +2</a:t>
            </a:r>
            <a:endParaRPr kumimoji="1" lang="zh-TW" altLang="en-US" sz="1600" dirty="0">
              <a:solidFill>
                <a:srgbClr val="FF0000"/>
              </a:solidFill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37927580-40CF-1C5E-6992-06D4AFBA8CD6}"/>
              </a:ext>
            </a:extLst>
          </p:cNvPr>
          <p:cNvSpPr/>
          <p:nvPr/>
        </p:nvSpPr>
        <p:spPr>
          <a:xfrm>
            <a:off x="4738254" y="3263390"/>
            <a:ext cx="419491" cy="4194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A47865BC-D498-1262-2D57-E2B04DB6028E}"/>
              </a:ext>
            </a:extLst>
          </p:cNvPr>
          <p:cNvSpPr/>
          <p:nvPr/>
        </p:nvSpPr>
        <p:spPr>
          <a:xfrm>
            <a:off x="8391010" y="3263390"/>
            <a:ext cx="419491" cy="4194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8D18A11-C100-87A7-2482-7C93F721E291}"/>
              </a:ext>
            </a:extLst>
          </p:cNvPr>
          <p:cNvSpPr txBox="1"/>
          <p:nvPr/>
        </p:nvSpPr>
        <p:spPr>
          <a:xfrm>
            <a:off x="4969030" y="1523388"/>
            <a:ext cx="4799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Rows </a:t>
            </a:r>
            <a:r>
              <a:rPr kumimoji="1" lang="zh-TW" altLang="en-US" dirty="0"/>
              <a:t>代表 </a:t>
            </a:r>
            <a:r>
              <a:rPr kumimoji="1" lang="en-US" altLang="zh-TW" dirty="0"/>
              <a:t>node </a:t>
            </a:r>
            <a:r>
              <a:rPr kumimoji="1" lang="en-US" altLang="zh-TW" dirty="0" err="1"/>
              <a:t>i</a:t>
            </a:r>
            <a:r>
              <a:rPr kumimoji="1" lang="zh-TW" altLang="en-US" dirty="0"/>
              <a:t>；</a:t>
            </a:r>
            <a:r>
              <a:rPr kumimoji="1" lang="en-US" altLang="zh-TW" dirty="0"/>
              <a:t>Columns </a:t>
            </a:r>
            <a:r>
              <a:rPr kumimoji="1" lang="zh-TW" altLang="en-US" dirty="0"/>
              <a:t>代表 </a:t>
            </a:r>
            <a:r>
              <a:rPr kumimoji="1" lang="en-US" altLang="zh-TW" dirty="0"/>
              <a:t>nodes j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65276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31495-287E-DCE7-8038-0A5604843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11FB943F-EC47-FF17-B766-B4BE815CD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193" y="2286000"/>
            <a:ext cx="3531476" cy="2286000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Graph Neural Networks (GNN)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8C649A-D209-1A08-F382-C91453754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094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34896-9914-0A58-59B0-1DEDA7702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E853E2-EFC7-C35D-D99D-B1EDB153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GNN </a:t>
            </a:r>
            <a:r>
              <a:rPr kumimoji="1" lang="zh-TW" altLang="en-US" dirty="0"/>
              <a:t>核心步驟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C9EC38-3F0D-3E89-4328-9BCD680E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791D4A64-5266-8CE0-446F-0604906617E2}"/>
              </a:ext>
            </a:extLst>
          </p:cNvPr>
          <p:cNvSpPr txBox="1"/>
          <p:nvPr/>
        </p:nvSpPr>
        <p:spPr>
          <a:xfrm>
            <a:off x="653143" y="1552904"/>
            <a:ext cx="300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以 </a:t>
            </a:r>
            <a:r>
              <a:rPr kumimoji="1" lang="en-US" altLang="zh-TW" dirty="0"/>
              <a:t>Node classification </a:t>
            </a:r>
            <a:r>
              <a:rPr kumimoji="1" lang="zh-TW" altLang="en-US" dirty="0"/>
              <a:t>為例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6619B8C0-99E5-225C-C676-B8423D8DFAF6}"/>
              </a:ext>
            </a:extLst>
          </p:cNvPr>
          <p:cNvSpPr/>
          <p:nvPr/>
        </p:nvSpPr>
        <p:spPr>
          <a:xfrm>
            <a:off x="3888826" y="2610455"/>
            <a:ext cx="4414345" cy="70156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Step1: </a:t>
            </a:r>
            <a:r>
              <a:rPr kumimoji="1" lang="zh-TW" altLang="en-US" dirty="0">
                <a:solidFill>
                  <a:schemeClr val="tx1"/>
                </a:solidFill>
              </a:rPr>
              <a:t>聚合鄰居節點資訊 </a:t>
            </a:r>
            <a:r>
              <a:rPr kumimoji="1" lang="en" altLang="zh-TW" dirty="0">
                <a:solidFill>
                  <a:schemeClr val="tx1"/>
                </a:solidFill>
              </a:rPr>
              <a:t>AGGREGATE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4F3A5EF0-FB4C-DC19-2C50-4A700C59F425}"/>
              </a:ext>
            </a:extLst>
          </p:cNvPr>
          <p:cNvSpPr/>
          <p:nvPr/>
        </p:nvSpPr>
        <p:spPr>
          <a:xfrm>
            <a:off x="3888827" y="4476660"/>
            <a:ext cx="4414345" cy="70156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dirty="0">
                <a:solidFill>
                  <a:schemeClr val="tx1"/>
                </a:solidFill>
              </a:rPr>
              <a:t>Step2: </a:t>
            </a:r>
            <a:r>
              <a:rPr kumimoji="1" lang="zh-TW" altLang="en-US" dirty="0">
                <a:solidFill>
                  <a:schemeClr val="tx1"/>
                </a:solidFill>
              </a:rPr>
              <a:t>更新自身節點資訊 </a:t>
            </a:r>
            <a:r>
              <a:rPr kumimoji="1" lang="en" altLang="zh-TW" dirty="0">
                <a:solidFill>
                  <a:schemeClr val="tx1"/>
                </a:solidFill>
              </a:rPr>
              <a:t>UPDATE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2222CE50-14DD-5C55-60B8-560CC253F472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095999" y="3312020"/>
            <a:ext cx="1" cy="1164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750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48C292-F458-D344-B6F0-00C2BB62B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solidFill>
                  <a:schemeClr val="tx1"/>
                </a:solidFill>
              </a:rPr>
              <a:t>GNN </a:t>
            </a:r>
            <a:r>
              <a:rPr kumimoji="1" lang="zh-TW" altLang="en-US" dirty="0">
                <a:solidFill>
                  <a:schemeClr val="tx1"/>
                </a:solidFill>
              </a:rPr>
              <a:t>的核心步驟</a:t>
            </a:r>
            <a:r>
              <a:rPr kumimoji="1" lang="en-US" altLang="zh-TW" dirty="0">
                <a:solidFill>
                  <a:schemeClr val="tx1"/>
                </a:solidFill>
              </a:rPr>
              <a:t> (1)</a:t>
            </a:r>
            <a:r>
              <a:rPr kumimoji="1" lang="zh-TW" altLang="en-US" dirty="0">
                <a:solidFill>
                  <a:schemeClr val="tx1"/>
                </a:solidFill>
              </a:rPr>
              <a:t>：聚合 </a:t>
            </a:r>
            <a:r>
              <a:rPr kumimoji="1" lang="en-US" altLang="zh-TW" dirty="0">
                <a:solidFill>
                  <a:schemeClr val="tx1"/>
                </a:solidFill>
              </a:rPr>
              <a:t>(Aggregate)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768807-38F7-46A0-405B-A79748810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BD01ED0-EBBE-7909-95D0-6AE13D156D59}"/>
              </a:ext>
            </a:extLst>
          </p:cNvPr>
          <p:cNvSpPr txBox="1"/>
          <p:nvPr/>
        </p:nvSpPr>
        <p:spPr>
          <a:xfrm>
            <a:off x="653143" y="1586847"/>
            <a:ext cx="10918370" cy="591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💡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Aggregate: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收集鄰居資訊</a:t>
            </a:r>
            <a:endParaRPr kumimoji="1" lang="zh-TW" altLang="en-US" sz="2400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76F3CC07-3D72-61B0-1E59-A99EB73EC37F}"/>
              </a:ext>
            </a:extLst>
          </p:cNvPr>
          <p:cNvSpPr/>
          <p:nvPr/>
        </p:nvSpPr>
        <p:spPr>
          <a:xfrm>
            <a:off x="2052298" y="5032824"/>
            <a:ext cx="550507" cy="5505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1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F8703338-3AE0-2923-9B55-D457CD980031}"/>
              </a:ext>
            </a:extLst>
          </p:cNvPr>
          <p:cNvSpPr/>
          <p:nvPr/>
        </p:nvSpPr>
        <p:spPr>
          <a:xfrm>
            <a:off x="1673568" y="4202249"/>
            <a:ext cx="550507" cy="550507"/>
          </a:xfrm>
          <a:prstGeom prst="ellipse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2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F1F51681-21E7-70F7-9E25-D45E81FE1B8D}"/>
              </a:ext>
            </a:extLst>
          </p:cNvPr>
          <p:cNvSpPr/>
          <p:nvPr/>
        </p:nvSpPr>
        <p:spPr>
          <a:xfrm>
            <a:off x="2678165" y="4202249"/>
            <a:ext cx="550507" cy="5505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5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755DF411-6ECC-676A-B5DB-8C6FCDE70FCC}"/>
              </a:ext>
            </a:extLst>
          </p:cNvPr>
          <p:cNvSpPr/>
          <p:nvPr/>
        </p:nvSpPr>
        <p:spPr>
          <a:xfrm>
            <a:off x="1815996" y="3248777"/>
            <a:ext cx="550507" cy="5505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3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B11F6C9B-A161-3690-E49B-F71292F07CE8}"/>
              </a:ext>
            </a:extLst>
          </p:cNvPr>
          <p:cNvSpPr/>
          <p:nvPr/>
        </p:nvSpPr>
        <p:spPr>
          <a:xfrm>
            <a:off x="2820593" y="3248777"/>
            <a:ext cx="550507" cy="550507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4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C76E5B25-EBE1-E2B2-0AD6-716E4593EEA1}"/>
              </a:ext>
            </a:extLst>
          </p:cNvPr>
          <p:cNvSpPr/>
          <p:nvPr/>
        </p:nvSpPr>
        <p:spPr>
          <a:xfrm>
            <a:off x="3371100" y="2624402"/>
            <a:ext cx="550507" cy="550507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6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A3F31152-D0F7-0523-58DD-3A35446AD659}"/>
              </a:ext>
            </a:extLst>
          </p:cNvPr>
          <p:cNvCxnSpPr>
            <a:stCxn id="13" idx="3"/>
            <a:endCxn id="12" idx="7"/>
          </p:cNvCxnSpPr>
          <p:nvPr/>
        </p:nvCxnSpPr>
        <p:spPr>
          <a:xfrm flipH="1">
            <a:off x="3290480" y="3094289"/>
            <a:ext cx="161240" cy="23510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09C2391F-6D81-2BB7-C562-4D737815C3A7}"/>
              </a:ext>
            </a:extLst>
          </p:cNvPr>
          <p:cNvCxnSpPr>
            <a:cxnSpLocks/>
            <a:stCxn id="12" idx="2"/>
            <a:endCxn id="11" idx="6"/>
          </p:cNvCxnSpPr>
          <p:nvPr/>
        </p:nvCxnSpPr>
        <p:spPr>
          <a:xfrm flipH="1">
            <a:off x="2366503" y="3524031"/>
            <a:ext cx="45409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A4204CF-4CDD-AB90-F551-8639002DAF38}"/>
              </a:ext>
            </a:extLst>
          </p:cNvPr>
          <p:cNvCxnSpPr>
            <a:cxnSpLocks/>
            <a:stCxn id="9" idx="2"/>
            <a:endCxn id="8" idx="6"/>
          </p:cNvCxnSpPr>
          <p:nvPr/>
        </p:nvCxnSpPr>
        <p:spPr>
          <a:xfrm flipH="1">
            <a:off x="2224075" y="4477503"/>
            <a:ext cx="45409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1F69E1DB-CDFB-D6B6-53AC-812CF329CD61}"/>
              </a:ext>
            </a:extLst>
          </p:cNvPr>
          <p:cNvCxnSpPr>
            <a:cxnSpLocks/>
            <a:stCxn id="9" idx="0"/>
            <a:endCxn id="12" idx="4"/>
          </p:cNvCxnSpPr>
          <p:nvPr/>
        </p:nvCxnSpPr>
        <p:spPr>
          <a:xfrm flipV="1">
            <a:off x="2953419" y="3799284"/>
            <a:ext cx="142428" cy="40296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E1BBBFDE-3EE8-C2F6-BBBD-D1A14C74D0A5}"/>
              </a:ext>
            </a:extLst>
          </p:cNvPr>
          <p:cNvCxnSpPr>
            <a:cxnSpLocks/>
            <a:stCxn id="8" idx="0"/>
            <a:endCxn id="11" idx="4"/>
          </p:cNvCxnSpPr>
          <p:nvPr/>
        </p:nvCxnSpPr>
        <p:spPr>
          <a:xfrm flipV="1">
            <a:off x="1948822" y="3799284"/>
            <a:ext cx="142428" cy="40296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C4473C47-EAC7-F5FA-99E0-931FE2B0B758}"/>
              </a:ext>
            </a:extLst>
          </p:cNvPr>
          <p:cNvCxnSpPr>
            <a:cxnSpLocks/>
            <a:stCxn id="7" idx="7"/>
            <a:endCxn id="9" idx="3"/>
          </p:cNvCxnSpPr>
          <p:nvPr/>
        </p:nvCxnSpPr>
        <p:spPr>
          <a:xfrm flipV="1">
            <a:off x="2522185" y="4672136"/>
            <a:ext cx="236600" cy="44130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4E9EF0E4-6008-7E80-1D78-0495F196C616}"/>
              </a:ext>
            </a:extLst>
          </p:cNvPr>
          <p:cNvCxnSpPr>
            <a:cxnSpLocks/>
            <a:stCxn id="8" idx="4"/>
            <a:endCxn id="7" idx="1"/>
          </p:cNvCxnSpPr>
          <p:nvPr/>
        </p:nvCxnSpPr>
        <p:spPr>
          <a:xfrm>
            <a:off x="1948822" y="4752756"/>
            <a:ext cx="184096" cy="36068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3AB45A1F-34B8-2FBB-2DF0-61425E7D356B}"/>
                  </a:ext>
                </a:extLst>
              </p:cNvPr>
              <p:cNvSpPr txBox="1"/>
              <p:nvPr/>
            </p:nvSpPr>
            <p:spPr>
              <a:xfrm>
                <a:off x="1356394" y="5084145"/>
                <a:ext cx="9192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3AB45A1F-34B8-2FBB-2DF0-61425E7D3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394" y="5084145"/>
                <a:ext cx="919203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3280E901-8662-33DA-F309-02F705338619}"/>
                  </a:ext>
                </a:extLst>
              </p:cNvPr>
              <p:cNvSpPr txBox="1"/>
              <p:nvPr/>
            </p:nvSpPr>
            <p:spPr>
              <a:xfrm>
                <a:off x="1020087" y="4277447"/>
                <a:ext cx="9192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3280E901-8662-33DA-F309-02F705338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087" y="4277447"/>
                <a:ext cx="91920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08D92939-3D62-762C-9782-BE324FD1CEF0}"/>
                  </a:ext>
                </a:extLst>
              </p:cNvPr>
              <p:cNvSpPr txBox="1"/>
              <p:nvPr/>
            </p:nvSpPr>
            <p:spPr>
              <a:xfrm>
                <a:off x="2975258" y="4279344"/>
                <a:ext cx="9192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08D92939-3D62-762C-9782-BE324FD1C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258" y="4279344"/>
                <a:ext cx="919203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5B93AB3E-A9FB-C677-C3A7-9C9288581CA5}"/>
                  </a:ext>
                </a:extLst>
              </p:cNvPr>
              <p:cNvSpPr txBox="1"/>
              <p:nvPr/>
            </p:nvSpPr>
            <p:spPr>
              <a:xfrm>
                <a:off x="3095846" y="3328751"/>
                <a:ext cx="9192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5B93AB3E-A9FB-C677-C3A7-9C9288581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846" y="3328751"/>
                <a:ext cx="919203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A44EF409-47FD-6D0F-6DEF-0F9E29B47F72}"/>
                  </a:ext>
                </a:extLst>
              </p:cNvPr>
              <p:cNvSpPr txBox="1"/>
              <p:nvPr/>
            </p:nvSpPr>
            <p:spPr>
              <a:xfrm>
                <a:off x="2710960" y="2643518"/>
                <a:ext cx="9192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A44EF409-47FD-6D0F-6DEF-0F9E29B47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960" y="2643518"/>
                <a:ext cx="919203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88278B2E-BE1F-4ABD-66C6-5ED3DE07A971}"/>
                  </a:ext>
                </a:extLst>
              </p:cNvPr>
              <p:cNvSpPr txBox="1"/>
              <p:nvPr/>
            </p:nvSpPr>
            <p:spPr>
              <a:xfrm>
                <a:off x="1171992" y="3319161"/>
                <a:ext cx="9192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88278B2E-BE1F-4ABD-66C6-5ED3DE07A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992" y="3319161"/>
                <a:ext cx="919203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513C1D70-8234-E642-29CF-653DDB074F35}"/>
                  </a:ext>
                </a:extLst>
              </p:cNvPr>
              <p:cNvSpPr txBox="1"/>
              <p:nvPr/>
            </p:nvSpPr>
            <p:spPr>
              <a:xfrm>
                <a:off x="1020087" y="6242517"/>
                <a:ext cx="309694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</a:rPr>
                  <a:t>: </a:t>
                </a:r>
                <a:r>
                  <a:rPr lang="zh-TW" altLang="en-US" sz="2000" dirty="0"/>
                  <a:t>節點</a:t>
                </a:r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TW" altLang="en-US" sz="2000" dirty="0"/>
                  <a:t> 的特徵表示</a:t>
                </a:r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513C1D70-8234-E642-29CF-653DDB074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087" y="6242517"/>
                <a:ext cx="3096943" cy="400110"/>
              </a:xfrm>
              <a:prstGeom prst="rect">
                <a:avLst/>
              </a:prstGeom>
              <a:blipFill>
                <a:blip r:embed="rId9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BB4D3993-EE93-5860-9F88-7348BD0432A8}"/>
                  </a:ext>
                </a:extLst>
              </p:cNvPr>
              <p:cNvSpPr txBox="1"/>
              <p:nvPr/>
            </p:nvSpPr>
            <p:spPr>
              <a:xfrm>
                <a:off x="5166245" y="3537674"/>
                <a:ext cx="6021416" cy="557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8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AGGREGATE</m:t>
                      </m:r>
                      <m:r>
                        <a:rPr lang="en-US" altLang="zh-TW" sz="28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({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28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})</m:t>
                      </m:r>
                    </m:oMath>
                  </m:oMathPara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BB4D3993-EE93-5860-9F88-7348BD043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245" y="3537674"/>
                <a:ext cx="6021416" cy="557910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橢圓 2">
                <a:extLst>
                  <a:ext uri="{FF2B5EF4-FFF2-40B4-BE49-F238E27FC236}">
                    <a16:creationId xmlns:a16="http://schemas.microsoft.com/office/drawing/2014/main" id="{8F9BA76F-94D0-668F-2499-6FD06EFDADF9}"/>
                  </a:ext>
                </a:extLst>
              </p:cNvPr>
              <p:cNvSpPr/>
              <p:nvPr/>
            </p:nvSpPr>
            <p:spPr>
              <a:xfrm>
                <a:off x="10157168" y="1493305"/>
                <a:ext cx="550507" cy="55050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TW" alt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橢圓 2">
                <a:extLst>
                  <a:ext uri="{FF2B5EF4-FFF2-40B4-BE49-F238E27FC236}">
                    <a16:creationId xmlns:a16="http://schemas.microsoft.com/office/drawing/2014/main" id="{8F9BA76F-94D0-668F-2499-6FD06EFDAD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168" y="1493305"/>
                <a:ext cx="550507" cy="550507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橢圓 4">
                <a:extLst>
                  <a:ext uri="{FF2B5EF4-FFF2-40B4-BE49-F238E27FC236}">
                    <a16:creationId xmlns:a16="http://schemas.microsoft.com/office/drawing/2014/main" id="{878DAC1F-2E66-6253-28DA-59A118210EED}"/>
                  </a:ext>
                </a:extLst>
              </p:cNvPr>
              <p:cNvSpPr/>
              <p:nvPr/>
            </p:nvSpPr>
            <p:spPr>
              <a:xfrm>
                <a:off x="10864340" y="1493305"/>
                <a:ext cx="550507" cy="550507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kumimoji="1" lang="zh-TW" alt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橢圓 4">
                <a:extLst>
                  <a:ext uri="{FF2B5EF4-FFF2-40B4-BE49-F238E27FC236}">
                    <a16:creationId xmlns:a16="http://schemas.microsoft.com/office/drawing/2014/main" id="{878DAC1F-2E66-6253-28DA-59A118210E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4340" y="1493305"/>
                <a:ext cx="550507" cy="550507"/>
              </a:xfrm>
              <a:prstGeom prst="ellipse">
                <a:avLst/>
              </a:prstGeom>
              <a:blipFill>
                <a:blip r:embed="rId12"/>
                <a:stretch>
                  <a:fillRect b="-4444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4A968E7-99FF-96A7-FC5B-E79D284E1C13}"/>
                  </a:ext>
                </a:extLst>
              </p:cNvPr>
              <p:cNvSpPr txBox="1"/>
              <p:nvPr/>
            </p:nvSpPr>
            <p:spPr>
              <a:xfrm>
                <a:off x="5334000" y="2641095"/>
                <a:ext cx="373888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800" i="1" smtClean="0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altLang="zh-TW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altLang="zh-TW" sz="28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4A968E7-99FF-96A7-FC5B-E79D284E1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2641095"/>
                <a:ext cx="3738880" cy="523220"/>
              </a:xfrm>
              <a:prstGeom prst="rect">
                <a:avLst/>
              </a:prstGeom>
              <a:blipFill>
                <a:blip r:embed="rId13"/>
                <a:stretch>
                  <a:fillRect l="-1017" b="-186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2374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48C292-F458-D344-B6F0-00C2BB62B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solidFill>
                  <a:schemeClr val="tx1"/>
                </a:solidFill>
              </a:rPr>
              <a:t>GNN </a:t>
            </a:r>
            <a:r>
              <a:rPr kumimoji="1" lang="zh-TW" altLang="en-US" dirty="0">
                <a:solidFill>
                  <a:schemeClr val="tx1"/>
                </a:solidFill>
              </a:rPr>
              <a:t>的核心步驟</a:t>
            </a:r>
            <a:r>
              <a:rPr kumimoji="1" lang="en-US" altLang="zh-TW" dirty="0">
                <a:solidFill>
                  <a:schemeClr val="tx1"/>
                </a:solidFill>
              </a:rPr>
              <a:t> (1)</a:t>
            </a:r>
            <a:r>
              <a:rPr kumimoji="1" lang="zh-TW" altLang="en-US" dirty="0">
                <a:solidFill>
                  <a:schemeClr val="tx1"/>
                </a:solidFill>
              </a:rPr>
              <a:t>：聚合 </a:t>
            </a:r>
            <a:r>
              <a:rPr kumimoji="1" lang="en-US" altLang="zh-TW" dirty="0">
                <a:solidFill>
                  <a:schemeClr val="tx1"/>
                </a:solidFill>
              </a:rPr>
              <a:t>(Aggregate)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768807-38F7-46A0-405B-A79748810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BD01ED0-EBBE-7909-95D0-6AE13D156D59}"/>
              </a:ext>
            </a:extLst>
          </p:cNvPr>
          <p:cNvSpPr txBox="1"/>
          <p:nvPr/>
        </p:nvSpPr>
        <p:spPr>
          <a:xfrm>
            <a:off x="653143" y="1586847"/>
            <a:ext cx="10918370" cy="591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💡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Aggregate: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收集鄰居資訊</a:t>
            </a:r>
            <a:endParaRPr kumimoji="1" lang="zh-TW" altLang="en-US" sz="2400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76F3CC07-3D72-61B0-1E59-A99EB73EC37F}"/>
              </a:ext>
            </a:extLst>
          </p:cNvPr>
          <p:cNvSpPr/>
          <p:nvPr/>
        </p:nvSpPr>
        <p:spPr>
          <a:xfrm>
            <a:off x="2052298" y="5032824"/>
            <a:ext cx="550507" cy="5505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1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F8703338-3AE0-2923-9B55-D457CD980031}"/>
              </a:ext>
            </a:extLst>
          </p:cNvPr>
          <p:cNvSpPr/>
          <p:nvPr/>
        </p:nvSpPr>
        <p:spPr>
          <a:xfrm>
            <a:off x="1673568" y="4202249"/>
            <a:ext cx="550507" cy="550507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2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F1F51681-21E7-70F7-9E25-D45E81FE1B8D}"/>
              </a:ext>
            </a:extLst>
          </p:cNvPr>
          <p:cNvSpPr/>
          <p:nvPr/>
        </p:nvSpPr>
        <p:spPr>
          <a:xfrm>
            <a:off x="2678165" y="4202249"/>
            <a:ext cx="550507" cy="5505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5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755DF411-6ECC-676A-B5DB-8C6FCDE70FCC}"/>
              </a:ext>
            </a:extLst>
          </p:cNvPr>
          <p:cNvSpPr/>
          <p:nvPr/>
        </p:nvSpPr>
        <p:spPr>
          <a:xfrm>
            <a:off x="1815996" y="3248777"/>
            <a:ext cx="550507" cy="5505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3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B11F6C9B-A161-3690-E49B-F71292F07CE8}"/>
              </a:ext>
            </a:extLst>
          </p:cNvPr>
          <p:cNvSpPr/>
          <p:nvPr/>
        </p:nvSpPr>
        <p:spPr>
          <a:xfrm>
            <a:off x="2820593" y="3248777"/>
            <a:ext cx="550507" cy="550507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4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C76E5B25-EBE1-E2B2-0AD6-716E4593EEA1}"/>
              </a:ext>
            </a:extLst>
          </p:cNvPr>
          <p:cNvSpPr/>
          <p:nvPr/>
        </p:nvSpPr>
        <p:spPr>
          <a:xfrm>
            <a:off x="3371100" y="2624402"/>
            <a:ext cx="550507" cy="550507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6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A3F31152-D0F7-0523-58DD-3A35446AD659}"/>
              </a:ext>
            </a:extLst>
          </p:cNvPr>
          <p:cNvCxnSpPr>
            <a:stCxn id="13" idx="3"/>
            <a:endCxn id="12" idx="7"/>
          </p:cNvCxnSpPr>
          <p:nvPr/>
        </p:nvCxnSpPr>
        <p:spPr>
          <a:xfrm flipH="1">
            <a:off x="3290480" y="3094289"/>
            <a:ext cx="161240" cy="23510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09C2391F-6D81-2BB7-C562-4D737815C3A7}"/>
              </a:ext>
            </a:extLst>
          </p:cNvPr>
          <p:cNvCxnSpPr>
            <a:cxnSpLocks/>
            <a:stCxn id="12" idx="2"/>
            <a:endCxn id="11" idx="6"/>
          </p:cNvCxnSpPr>
          <p:nvPr/>
        </p:nvCxnSpPr>
        <p:spPr>
          <a:xfrm flipH="1">
            <a:off x="2366503" y="3524031"/>
            <a:ext cx="45409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DA4204CF-4CDD-AB90-F551-8639002DAF38}"/>
              </a:ext>
            </a:extLst>
          </p:cNvPr>
          <p:cNvCxnSpPr>
            <a:cxnSpLocks/>
            <a:stCxn id="9" idx="2"/>
            <a:endCxn id="8" idx="6"/>
          </p:cNvCxnSpPr>
          <p:nvPr/>
        </p:nvCxnSpPr>
        <p:spPr>
          <a:xfrm flipH="1">
            <a:off x="2224075" y="4477503"/>
            <a:ext cx="45409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1F69E1DB-CDFB-D6B6-53AC-812CF329CD61}"/>
              </a:ext>
            </a:extLst>
          </p:cNvPr>
          <p:cNvCxnSpPr>
            <a:cxnSpLocks/>
            <a:stCxn id="9" idx="0"/>
            <a:endCxn id="12" idx="4"/>
          </p:cNvCxnSpPr>
          <p:nvPr/>
        </p:nvCxnSpPr>
        <p:spPr>
          <a:xfrm flipV="1">
            <a:off x="2953419" y="3799284"/>
            <a:ext cx="142428" cy="40296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E1BBBFDE-3EE8-C2F6-BBBD-D1A14C74D0A5}"/>
              </a:ext>
            </a:extLst>
          </p:cNvPr>
          <p:cNvCxnSpPr>
            <a:cxnSpLocks/>
            <a:stCxn id="8" idx="0"/>
            <a:endCxn id="11" idx="4"/>
          </p:cNvCxnSpPr>
          <p:nvPr/>
        </p:nvCxnSpPr>
        <p:spPr>
          <a:xfrm flipV="1">
            <a:off x="1948822" y="3799284"/>
            <a:ext cx="142428" cy="40296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C4473C47-EAC7-F5FA-99E0-931FE2B0B758}"/>
              </a:ext>
            </a:extLst>
          </p:cNvPr>
          <p:cNvCxnSpPr>
            <a:cxnSpLocks/>
            <a:stCxn id="7" idx="7"/>
            <a:endCxn id="9" idx="3"/>
          </p:cNvCxnSpPr>
          <p:nvPr/>
        </p:nvCxnSpPr>
        <p:spPr>
          <a:xfrm flipV="1">
            <a:off x="2522185" y="4672136"/>
            <a:ext cx="236600" cy="44130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4E9EF0E4-6008-7E80-1D78-0495F196C616}"/>
              </a:ext>
            </a:extLst>
          </p:cNvPr>
          <p:cNvCxnSpPr>
            <a:cxnSpLocks/>
            <a:stCxn id="8" idx="4"/>
            <a:endCxn id="7" idx="1"/>
          </p:cNvCxnSpPr>
          <p:nvPr/>
        </p:nvCxnSpPr>
        <p:spPr>
          <a:xfrm>
            <a:off x="1948822" y="4752756"/>
            <a:ext cx="184096" cy="36068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3AB45A1F-34B8-2FBB-2DF0-61425E7D356B}"/>
                  </a:ext>
                </a:extLst>
              </p:cNvPr>
              <p:cNvSpPr txBox="1"/>
              <p:nvPr/>
            </p:nvSpPr>
            <p:spPr>
              <a:xfrm>
                <a:off x="1356394" y="5084145"/>
                <a:ext cx="919203" cy="4131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3AB45A1F-34B8-2FBB-2DF0-61425E7D3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6394" y="5084145"/>
                <a:ext cx="919203" cy="4131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3280E901-8662-33DA-F309-02F705338619}"/>
                  </a:ext>
                </a:extLst>
              </p:cNvPr>
              <p:cNvSpPr txBox="1"/>
              <p:nvPr/>
            </p:nvSpPr>
            <p:spPr>
              <a:xfrm>
                <a:off x="1020087" y="4277447"/>
                <a:ext cx="919203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3280E901-8662-33DA-F309-02F7053386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087" y="4277447"/>
                <a:ext cx="919203" cy="4116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08D92939-3D62-762C-9782-BE324FD1CEF0}"/>
                  </a:ext>
                </a:extLst>
              </p:cNvPr>
              <p:cNvSpPr txBox="1"/>
              <p:nvPr/>
            </p:nvSpPr>
            <p:spPr>
              <a:xfrm>
                <a:off x="2975258" y="4279344"/>
                <a:ext cx="919203" cy="4186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08D92939-3D62-762C-9782-BE324FD1C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5258" y="4279344"/>
                <a:ext cx="919203" cy="418641"/>
              </a:xfrm>
              <a:prstGeom prst="rect">
                <a:avLst/>
              </a:prstGeom>
              <a:blipFill>
                <a:blip r:embed="rId5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5B93AB3E-A9FB-C677-C3A7-9C9288581CA5}"/>
                  </a:ext>
                </a:extLst>
              </p:cNvPr>
              <p:cNvSpPr txBox="1"/>
              <p:nvPr/>
            </p:nvSpPr>
            <p:spPr>
              <a:xfrm>
                <a:off x="3095846" y="3328751"/>
                <a:ext cx="919203" cy="4138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5B93AB3E-A9FB-C677-C3A7-9C9288581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846" y="3328751"/>
                <a:ext cx="919203" cy="413896"/>
              </a:xfrm>
              <a:prstGeom prst="rect">
                <a:avLst/>
              </a:prstGeom>
              <a:blipFill>
                <a:blip r:embed="rId6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A44EF409-47FD-6D0F-6DEF-0F9E29B47F72}"/>
                  </a:ext>
                </a:extLst>
              </p:cNvPr>
              <p:cNvSpPr txBox="1"/>
              <p:nvPr/>
            </p:nvSpPr>
            <p:spPr>
              <a:xfrm>
                <a:off x="2710960" y="2643518"/>
                <a:ext cx="919203" cy="4110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A44EF409-47FD-6D0F-6DEF-0F9E29B47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960" y="2643518"/>
                <a:ext cx="919203" cy="411010"/>
              </a:xfrm>
              <a:prstGeom prst="rect">
                <a:avLst/>
              </a:prstGeom>
              <a:blipFill>
                <a:blip r:embed="rId7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88278B2E-BE1F-4ABD-66C6-5ED3DE07A971}"/>
                  </a:ext>
                </a:extLst>
              </p:cNvPr>
              <p:cNvSpPr txBox="1"/>
              <p:nvPr/>
            </p:nvSpPr>
            <p:spPr>
              <a:xfrm>
                <a:off x="1162661" y="3319161"/>
                <a:ext cx="919203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88278B2E-BE1F-4ABD-66C6-5ED3DE07A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661" y="3319161"/>
                <a:ext cx="919203" cy="411651"/>
              </a:xfrm>
              <a:prstGeom prst="rect">
                <a:avLst/>
              </a:prstGeom>
              <a:blipFill>
                <a:blip r:embed="rId8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513C1D70-8234-E642-29CF-653DDB074F35}"/>
                  </a:ext>
                </a:extLst>
              </p:cNvPr>
              <p:cNvSpPr txBox="1"/>
              <p:nvPr/>
            </p:nvSpPr>
            <p:spPr>
              <a:xfrm>
                <a:off x="1020087" y="6242517"/>
                <a:ext cx="4146158" cy="4056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zh-TW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altLang="zh-TW" sz="2000" dirty="0"/>
                  <a:t>: </a:t>
                </a:r>
                <a:r>
                  <a:rPr lang="zh-TW" altLang="en-US" sz="2000" b="1" dirty="0">
                    <a:solidFill>
                      <a:schemeClr val="accent6"/>
                    </a:solidFill>
                  </a:rPr>
                  <a:t>第</a:t>
                </a:r>
                <a:r>
                  <a:rPr lang="en-US" altLang="zh-TW" sz="2000" b="1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b="1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n-US" altLang="zh-TW" sz="2000" b="1" dirty="0">
                    <a:solidFill>
                      <a:schemeClr val="accent6"/>
                    </a:solidFill>
                  </a:rPr>
                  <a:t> </a:t>
                </a:r>
                <a:r>
                  <a:rPr lang="zh-TW" altLang="en-US" sz="2000" b="1" dirty="0">
                    <a:solidFill>
                      <a:schemeClr val="accent6"/>
                    </a:solidFill>
                  </a:rPr>
                  <a:t>層中</a:t>
                </a:r>
                <a:r>
                  <a:rPr lang="zh-TW" altLang="en-US" sz="2000" dirty="0"/>
                  <a:t>，節點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sz="2000" dirty="0"/>
                  <a:t> </a:t>
                </a:r>
                <a:r>
                  <a:rPr lang="zh-TW" altLang="en-US" sz="2000" dirty="0"/>
                  <a:t>的特徵表示</a:t>
                </a: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513C1D70-8234-E642-29CF-653DDB074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087" y="6242517"/>
                <a:ext cx="4146158" cy="405624"/>
              </a:xfrm>
              <a:prstGeom prst="rect">
                <a:avLst/>
              </a:prstGeom>
              <a:blipFill>
                <a:blip r:embed="rId9"/>
                <a:stretch>
                  <a:fillRect t="-3030" r="-306" b="-27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BB4D3993-EE93-5860-9F88-7348BD0432A8}"/>
                  </a:ext>
                </a:extLst>
              </p:cNvPr>
              <p:cNvSpPr txBox="1"/>
              <p:nvPr/>
            </p:nvSpPr>
            <p:spPr>
              <a:xfrm>
                <a:off x="5166245" y="3537674"/>
                <a:ext cx="6021416" cy="606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8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AGGREGATE</m:t>
                      </m:r>
                      <m:r>
                        <a:rPr lang="en-US" altLang="zh-TW" sz="28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({</m:t>
                      </m:r>
                      <m:sSubSup>
                        <m:sSub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80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28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})</m:t>
                      </m:r>
                    </m:oMath>
                  </m:oMathPara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BB4D3993-EE93-5860-9F88-7348BD043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245" y="3537674"/>
                <a:ext cx="6021416" cy="606576"/>
              </a:xfrm>
              <a:prstGeom prst="rect">
                <a:avLst/>
              </a:prstGeom>
              <a:blipFill>
                <a:blip r:embed="rId10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橢圓 9">
                <a:extLst>
                  <a:ext uri="{FF2B5EF4-FFF2-40B4-BE49-F238E27FC236}">
                    <a16:creationId xmlns:a16="http://schemas.microsoft.com/office/drawing/2014/main" id="{8CDA0E3B-3FC8-F5D4-5658-E50EB3B53917}"/>
                  </a:ext>
                </a:extLst>
              </p:cNvPr>
              <p:cNvSpPr/>
              <p:nvPr/>
            </p:nvSpPr>
            <p:spPr>
              <a:xfrm>
                <a:off x="10157168" y="1493305"/>
                <a:ext cx="550507" cy="55050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1" lang="zh-TW" alt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橢圓 9">
                <a:extLst>
                  <a:ext uri="{FF2B5EF4-FFF2-40B4-BE49-F238E27FC236}">
                    <a16:creationId xmlns:a16="http://schemas.microsoft.com/office/drawing/2014/main" id="{8CDA0E3B-3FC8-F5D4-5658-E50EB3B539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7168" y="1493305"/>
                <a:ext cx="550507" cy="550507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橢圓 13">
                <a:extLst>
                  <a:ext uri="{FF2B5EF4-FFF2-40B4-BE49-F238E27FC236}">
                    <a16:creationId xmlns:a16="http://schemas.microsoft.com/office/drawing/2014/main" id="{76B93549-03A2-7209-FAF6-F4EED22D37A6}"/>
                  </a:ext>
                </a:extLst>
              </p:cNvPr>
              <p:cNvSpPr/>
              <p:nvPr/>
            </p:nvSpPr>
            <p:spPr>
              <a:xfrm>
                <a:off x="10864340" y="1493305"/>
                <a:ext cx="550507" cy="550507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TW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kumimoji="1" lang="zh-TW" altLang="en-US" sz="240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橢圓 13">
                <a:extLst>
                  <a:ext uri="{FF2B5EF4-FFF2-40B4-BE49-F238E27FC236}">
                    <a16:creationId xmlns:a16="http://schemas.microsoft.com/office/drawing/2014/main" id="{76B93549-03A2-7209-FAF6-F4EED22D37A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4340" y="1493305"/>
                <a:ext cx="550507" cy="550507"/>
              </a:xfrm>
              <a:prstGeom prst="ellipse">
                <a:avLst/>
              </a:prstGeom>
              <a:blipFill>
                <a:blip r:embed="rId4"/>
                <a:stretch>
                  <a:fillRect b="-4444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8485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48C292-F458-D344-B6F0-00C2BB62B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solidFill>
                  <a:schemeClr val="tx1"/>
                </a:solidFill>
              </a:rPr>
              <a:t>GNN </a:t>
            </a:r>
            <a:r>
              <a:rPr kumimoji="1" lang="zh-TW" altLang="en-US" dirty="0">
                <a:solidFill>
                  <a:schemeClr val="tx1"/>
                </a:solidFill>
              </a:rPr>
              <a:t>的核心步驟</a:t>
            </a:r>
            <a:r>
              <a:rPr kumimoji="1" lang="en-US" altLang="zh-TW" dirty="0">
                <a:solidFill>
                  <a:schemeClr val="tx1"/>
                </a:solidFill>
              </a:rPr>
              <a:t> (2)</a:t>
            </a:r>
            <a:r>
              <a:rPr kumimoji="1" lang="zh-TW" altLang="en-US" dirty="0">
                <a:solidFill>
                  <a:schemeClr val="tx1"/>
                </a:solidFill>
              </a:rPr>
              <a:t>：更新</a:t>
            </a:r>
            <a:r>
              <a:rPr kumimoji="1" lang="zh-TW" altLang="en-US" dirty="0"/>
              <a:t> </a:t>
            </a:r>
            <a:r>
              <a:rPr kumimoji="1" lang="en-US" altLang="zh-TW" dirty="0"/>
              <a:t>(Update)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2768807-38F7-46A0-405B-A79748810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BD01ED0-EBBE-7909-95D0-6AE13D156D59}"/>
              </a:ext>
            </a:extLst>
          </p:cNvPr>
          <p:cNvSpPr txBox="1"/>
          <p:nvPr/>
        </p:nvSpPr>
        <p:spPr>
          <a:xfrm>
            <a:off x="6095999" y="1586847"/>
            <a:ext cx="5475513" cy="1132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💡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Combine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收集到鄰居訊息後，節點會根據這些資訊更新自己的特徵表示</a:t>
            </a: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513C1D70-8234-E642-29CF-653DDB074F35}"/>
                  </a:ext>
                </a:extLst>
              </p:cNvPr>
              <p:cNvSpPr txBox="1"/>
              <p:nvPr/>
            </p:nvSpPr>
            <p:spPr>
              <a:xfrm>
                <a:off x="6095999" y="6301857"/>
                <a:ext cx="414615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zh-TW" altLang="zh-TW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bSup>
                  </m:oMath>
                </a14:m>
                <a:r>
                  <a:rPr lang="en-US" altLang="zh-TW" sz="2000" dirty="0">
                    <a:solidFill>
                      <a:schemeClr val="tx1"/>
                    </a:solidFill>
                  </a:rPr>
                  <a:t>: </a:t>
                </a:r>
                <a:r>
                  <a:rPr lang="zh-TW" altLang="en-US" sz="2000" b="1" dirty="0">
                    <a:solidFill>
                      <a:schemeClr val="accent6"/>
                    </a:solidFill>
                  </a:rPr>
                  <a:t>第</a:t>
                </a:r>
                <a:r>
                  <a:rPr lang="en-US" altLang="zh-TW" sz="2000" b="1" dirty="0">
                    <a:solidFill>
                      <a:schemeClr val="accent6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000" b="1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n-US" altLang="zh-TW" sz="2000" b="1" dirty="0">
                    <a:solidFill>
                      <a:schemeClr val="accent6"/>
                    </a:solidFill>
                  </a:rPr>
                  <a:t> </a:t>
                </a:r>
                <a:r>
                  <a:rPr lang="zh-TW" altLang="en-US" sz="2000" b="1" dirty="0">
                    <a:solidFill>
                      <a:schemeClr val="accent6"/>
                    </a:solidFill>
                  </a:rPr>
                  <a:t>層中</a:t>
                </a:r>
                <a:r>
                  <a:rPr lang="zh-TW" altLang="en-US" sz="2000" dirty="0"/>
                  <a:t>，節點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TW" sz="2000" dirty="0"/>
                  <a:t> </a:t>
                </a:r>
                <a:r>
                  <a:rPr lang="zh-TW" altLang="en-US" sz="2000" dirty="0"/>
                  <a:t>的特徵表示</a:t>
                </a:r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513C1D70-8234-E642-29CF-653DDB074F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6301857"/>
                <a:ext cx="4146158" cy="400110"/>
              </a:xfrm>
              <a:prstGeom prst="rect">
                <a:avLst/>
              </a:prstGeom>
              <a:blipFill>
                <a:blip r:embed="rId3"/>
                <a:stretch>
                  <a:fillRect t="-9375" b="-281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BB4D3993-EE93-5860-9F88-7348BD0432A8}"/>
                  </a:ext>
                </a:extLst>
              </p:cNvPr>
              <p:cNvSpPr txBox="1"/>
              <p:nvPr/>
            </p:nvSpPr>
            <p:spPr>
              <a:xfrm>
                <a:off x="5166245" y="3537674"/>
                <a:ext cx="6021416" cy="557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bSup>
                      <m:r>
                        <a:rPr lang="en-US" altLang="zh-TW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28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UPDATE</m:t>
                      </m:r>
                      <m:r>
                        <a:rPr lang="en-US" altLang="zh-TW" sz="28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zh-TW" sz="2800" b="0" i="1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zh-TW" altLang="zh-TW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zh-TW" sz="2800" b="0" i="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zh-TW" altLang="en-US" sz="2800" dirty="0"/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BB4D3993-EE93-5860-9F88-7348BD043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245" y="3537674"/>
                <a:ext cx="6021416" cy="557781"/>
              </a:xfrm>
              <a:prstGeom prst="rect">
                <a:avLst/>
              </a:prstGeom>
              <a:blipFill>
                <a:blip r:embed="rId4"/>
                <a:stretch>
                  <a:fillRect b="-177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曲線接點 52">
            <a:extLst>
              <a:ext uri="{FF2B5EF4-FFF2-40B4-BE49-F238E27FC236}">
                <a16:creationId xmlns:a16="http://schemas.microsoft.com/office/drawing/2014/main" id="{28AC11CF-654A-8665-3E80-BAFD2455EE87}"/>
              </a:ext>
            </a:extLst>
          </p:cNvPr>
          <p:cNvCxnSpPr>
            <a:cxnSpLocks/>
            <a:stCxn id="8" idx="1"/>
            <a:endCxn id="5" idx="2"/>
          </p:cNvCxnSpPr>
          <p:nvPr/>
        </p:nvCxnSpPr>
        <p:spPr>
          <a:xfrm rot="16200000" flipV="1">
            <a:off x="758021" y="4325438"/>
            <a:ext cx="2322261" cy="80620"/>
          </a:xfrm>
          <a:prstGeom prst="curvedConnector4">
            <a:avLst>
              <a:gd name="adj1" fmla="val 18632"/>
              <a:gd name="adj2" fmla="val 869643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6" name="群組 65">
            <a:extLst>
              <a:ext uri="{FF2B5EF4-FFF2-40B4-BE49-F238E27FC236}">
                <a16:creationId xmlns:a16="http://schemas.microsoft.com/office/drawing/2014/main" id="{60056EFD-875C-5A0B-0D30-282864988575}"/>
              </a:ext>
            </a:extLst>
          </p:cNvPr>
          <p:cNvGrpSpPr/>
          <p:nvPr/>
        </p:nvGrpSpPr>
        <p:grpSpPr>
          <a:xfrm>
            <a:off x="897831" y="1351516"/>
            <a:ext cx="4780486" cy="2958929"/>
            <a:chOff x="897831" y="1351516"/>
            <a:chExt cx="4780486" cy="2958929"/>
          </a:xfrm>
        </p:grpSpPr>
        <p:sp>
          <p:nvSpPr>
            <p:cNvPr id="3" name="橢圓 2">
              <a:extLst>
                <a:ext uri="{FF2B5EF4-FFF2-40B4-BE49-F238E27FC236}">
                  <a16:creationId xmlns:a16="http://schemas.microsoft.com/office/drawing/2014/main" id="{46FA49FC-29EE-BA43-CCA9-03FAD49C077E}"/>
                </a:ext>
              </a:extLst>
            </p:cNvPr>
            <p:cNvSpPr/>
            <p:nvPr/>
          </p:nvSpPr>
          <p:spPr>
            <a:xfrm>
              <a:off x="2257571" y="3759938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DF02954F-5438-CC42-DEBC-78083D9FBDCB}"/>
                </a:ext>
              </a:extLst>
            </p:cNvPr>
            <p:cNvSpPr/>
            <p:nvPr/>
          </p:nvSpPr>
          <p:spPr>
            <a:xfrm>
              <a:off x="1878841" y="2929363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3D5A1BE0-4510-AF88-3310-DCDA25A9ECFF}"/>
                </a:ext>
              </a:extLst>
            </p:cNvPr>
            <p:cNvSpPr/>
            <p:nvPr/>
          </p:nvSpPr>
          <p:spPr>
            <a:xfrm>
              <a:off x="2883438" y="2929363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5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7D2E4E65-0B32-42D0-7F8E-6922CF2E5DF9}"/>
                </a:ext>
              </a:extLst>
            </p:cNvPr>
            <p:cNvSpPr/>
            <p:nvPr/>
          </p:nvSpPr>
          <p:spPr>
            <a:xfrm>
              <a:off x="2021269" y="1975891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99D257A5-F879-3C7C-A11E-550D4B046BD7}"/>
                </a:ext>
              </a:extLst>
            </p:cNvPr>
            <p:cNvSpPr/>
            <p:nvPr/>
          </p:nvSpPr>
          <p:spPr>
            <a:xfrm>
              <a:off x="3025866" y="1975891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4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93135DF3-FCA4-1195-7795-AEDDFFC33DB9}"/>
                </a:ext>
              </a:extLst>
            </p:cNvPr>
            <p:cNvSpPr/>
            <p:nvPr/>
          </p:nvSpPr>
          <p:spPr>
            <a:xfrm>
              <a:off x="3576373" y="1351516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6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F191EE2B-55FB-1D87-4CE3-37182F971D88}"/>
                </a:ext>
              </a:extLst>
            </p:cNvPr>
            <p:cNvCxnSpPr>
              <a:stCxn id="18" idx="3"/>
              <a:endCxn id="17" idx="7"/>
            </p:cNvCxnSpPr>
            <p:nvPr/>
          </p:nvCxnSpPr>
          <p:spPr>
            <a:xfrm flipH="1">
              <a:off x="3495753" y="1821403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0AA21426-9C40-E9A8-C083-64205D551DD8}"/>
                </a:ext>
              </a:extLst>
            </p:cNvPr>
            <p:cNvCxnSpPr>
              <a:cxnSpLocks/>
              <a:stCxn id="17" idx="2"/>
              <a:endCxn id="14" idx="6"/>
            </p:cNvCxnSpPr>
            <p:nvPr/>
          </p:nvCxnSpPr>
          <p:spPr>
            <a:xfrm flipH="1">
              <a:off x="2571776" y="2251145"/>
              <a:ext cx="45409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>
              <a:extLst>
                <a:ext uri="{FF2B5EF4-FFF2-40B4-BE49-F238E27FC236}">
                  <a16:creationId xmlns:a16="http://schemas.microsoft.com/office/drawing/2014/main" id="{67DFA590-A7C0-CF83-C444-95345322158F}"/>
                </a:ext>
              </a:extLst>
            </p:cNvPr>
            <p:cNvCxnSpPr>
              <a:cxnSpLocks/>
              <a:stCxn id="10" idx="2"/>
              <a:endCxn id="5" idx="6"/>
            </p:cNvCxnSpPr>
            <p:nvPr/>
          </p:nvCxnSpPr>
          <p:spPr>
            <a:xfrm flipH="1">
              <a:off x="2429348" y="3204617"/>
              <a:ext cx="45409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>
              <a:extLst>
                <a:ext uri="{FF2B5EF4-FFF2-40B4-BE49-F238E27FC236}">
                  <a16:creationId xmlns:a16="http://schemas.microsoft.com/office/drawing/2014/main" id="{81AA1AE4-7875-9D5A-E395-E05BA86DDCB3}"/>
                </a:ext>
              </a:extLst>
            </p:cNvPr>
            <p:cNvCxnSpPr>
              <a:cxnSpLocks/>
              <a:stCxn id="10" idx="0"/>
              <a:endCxn id="17" idx="4"/>
            </p:cNvCxnSpPr>
            <p:nvPr/>
          </p:nvCxnSpPr>
          <p:spPr>
            <a:xfrm flipV="1">
              <a:off x="3158692" y="2526398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766CD54E-F602-67DB-8AEB-5A3ABDC9B5BC}"/>
                </a:ext>
              </a:extLst>
            </p:cNvPr>
            <p:cNvCxnSpPr>
              <a:cxnSpLocks/>
              <a:stCxn id="5" idx="0"/>
              <a:endCxn id="14" idx="4"/>
            </p:cNvCxnSpPr>
            <p:nvPr/>
          </p:nvCxnSpPr>
          <p:spPr>
            <a:xfrm flipV="1">
              <a:off x="2154095" y="2526398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接點 26">
              <a:extLst>
                <a:ext uri="{FF2B5EF4-FFF2-40B4-BE49-F238E27FC236}">
                  <a16:creationId xmlns:a16="http://schemas.microsoft.com/office/drawing/2014/main" id="{19B6352A-720D-69EF-F67D-F16DBD79EBF6}"/>
                </a:ext>
              </a:extLst>
            </p:cNvPr>
            <p:cNvCxnSpPr>
              <a:cxnSpLocks/>
              <a:stCxn id="3" idx="7"/>
              <a:endCxn id="10" idx="3"/>
            </p:cNvCxnSpPr>
            <p:nvPr/>
          </p:nvCxnSpPr>
          <p:spPr>
            <a:xfrm flipV="1">
              <a:off x="2727458" y="3399250"/>
              <a:ext cx="236600" cy="4413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F02EE2E1-7B9C-70AF-E8E4-A715785A842F}"/>
                </a:ext>
              </a:extLst>
            </p:cNvPr>
            <p:cNvCxnSpPr>
              <a:cxnSpLocks/>
              <a:stCxn id="5" idx="4"/>
              <a:endCxn id="3" idx="1"/>
            </p:cNvCxnSpPr>
            <p:nvPr/>
          </p:nvCxnSpPr>
          <p:spPr>
            <a:xfrm>
              <a:off x="2154095" y="3479870"/>
              <a:ext cx="184096" cy="36068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1E6C6922-E8B0-4217-CDD1-41A501664AF7}"/>
                    </a:ext>
                  </a:extLst>
                </p:cNvPr>
                <p:cNvSpPr txBox="1"/>
                <p:nvPr/>
              </p:nvSpPr>
              <p:spPr>
                <a:xfrm>
                  <a:off x="1561667" y="3811259"/>
                  <a:ext cx="919203" cy="4131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1E6C6922-E8B0-4217-CDD1-41A501664A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1667" y="3811259"/>
                  <a:ext cx="919203" cy="413190"/>
                </a:xfrm>
                <a:prstGeom prst="rect">
                  <a:avLst/>
                </a:prstGeom>
                <a:blipFill>
                  <a:blip r:embed="rId5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40CDF33D-5099-7600-C643-DAEBF9E64BAB}"/>
                    </a:ext>
                  </a:extLst>
                </p:cNvPr>
                <p:cNvSpPr txBox="1"/>
                <p:nvPr/>
              </p:nvSpPr>
              <p:spPr>
                <a:xfrm>
                  <a:off x="897831" y="2987599"/>
                  <a:ext cx="919203" cy="4116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40CDF33D-5099-7600-C643-DAEBF9E64B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831" y="2987599"/>
                  <a:ext cx="919203" cy="411651"/>
                </a:xfrm>
                <a:prstGeom prst="rect">
                  <a:avLst/>
                </a:prstGeom>
                <a:blipFill>
                  <a:blip r:embed="rId6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3432F9DC-C813-3FB8-4326-4602ABADE4A5}"/>
                    </a:ext>
                  </a:extLst>
                </p:cNvPr>
                <p:cNvSpPr txBox="1"/>
                <p:nvPr/>
              </p:nvSpPr>
              <p:spPr>
                <a:xfrm>
                  <a:off x="3180531" y="3006458"/>
                  <a:ext cx="919203" cy="4186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3432F9DC-C813-3FB8-4326-4602ABADE4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0531" y="3006458"/>
                  <a:ext cx="919203" cy="418641"/>
                </a:xfrm>
                <a:prstGeom prst="rect">
                  <a:avLst/>
                </a:prstGeom>
                <a:blipFill>
                  <a:blip r:embed="rId7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D0BF57E9-7AA2-B887-E973-E54B8D2A74AD}"/>
                    </a:ext>
                  </a:extLst>
                </p:cNvPr>
                <p:cNvSpPr txBox="1"/>
                <p:nvPr/>
              </p:nvSpPr>
              <p:spPr>
                <a:xfrm>
                  <a:off x="3301119" y="2055865"/>
                  <a:ext cx="919203" cy="4138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D0BF57E9-7AA2-B887-E973-E54B8D2A74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1119" y="2055865"/>
                  <a:ext cx="919203" cy="413896"/>
                </a:xfrm>
                <a:prstGeom prst="rect">
                  <a:avLst/>
                </a:prstGeom>
                <a:blipFill>
                  <a:blip r:embed="rId8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DC1E064D-AAA5-EE68-F600-07BB110A1768}"/>
                    </a:ext>
                  </a:extLst>
                </p:cNvPr>
                <p:cNvSpPr txBox="1"/>
                <p:nvPr/>
              </p:nvSpPr>
              <p:spPr>
                <a:xfrm>
                  <a:off x="2970027" y="1399902"/>
                  <a:ext cx="919203" cy="4110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DC1E064D-AAA5-EE68-F600-07BB110A17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0027" y="1399902"/>
                  <a:ext cx="919203" cy="411010"/>
                </a:xfrm>
                <a:prstGeom prst="rect">
                  <a:avLst/>
                </a:prstGeom>
                <a:blipFill>
                  <a:blip r:embed="rId9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3254760B-A845-3196-A207-FA1ED58C0E20}"/>
                    </a:ext>
                  </a:extLst>
                </p:cNvPr>
                <p:cNvSpPr txBox="1"/>
                <p:nvPr/>
              </p:nvSpPr>
              <p:spPr>
                <a:xfrm>
                  <a:off x="1293287" y="2046275"/>
                  <a:ext cx="919203" cy="4116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文字方塊 35">
                  <a:extLst>
                    <a:ext uri="{FF2B5EF4-FFF2-40B4-BE49-F238E27FC236}">
                      <a16:creationId xmlns:a16="http://schemas.microsoft.com/office/drawing/2014/main" id="{3254760B-A845-3196-A207-FA1ED58C0E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3287" y="2046275"/>
                  <a:ext cx="919203" cy="411651"/>
                </a:xfrm>
                <a:prstGeom prst="rect">
                  <a:avLst/>
                </a:prstGeom>
                <a:blipFill>
                  <a:blip r:embed="rId10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4DC2A82A-2A43-3E75-0819-BA492EBCF5F7}"/>
                    </a:ext>
                  </a:extLst>
                </p:cNvPr>
                <p:cNvSpPr txBox="1"/>
                <p:nvPr/>
              </p:nvSpPr>
              <p:spPr>
                <a:xfrm>
                  <a:off x="4163289" y="2623154"/>
                  <a:ext cx="15150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TW" dirty="0"/>
                    <a:t>(</a:t>
                  </a:r>
                  <a:r>
                    <a:rPr kumimoji="1" lang="zh-TW" altLang="en-US" dirty="0"/>
                    <a:t>第 </a:t>
                  </a:r>
                  <a14:m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a14:m>
                  <a:r>
                    <a:rPr kumimoji="1" lang="zh-TW" altLang="en-US" dirty="0"/>
                    <a:t> 層</a:t>
                  </a:r>
                  <a:r>
                    <a:rPr kumimoji="1" lang="en-US" altLang="zh-TW" dirty="0"/>
                    <a:t>)</a:t>
                  </a:r>
                  <a:endParaRPr kumimoji="1" lang="zh-TW" altLang="en-US" dirty="0"/>
                </a:p>
              </p:txBody>
            </p:sp>
          </mc:Choice>
          <mc:Fallback xmlns="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4DC2A82A-2A43-3E75-0819-BA492EBCF5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3289" y="2623154"/>
                  <a:ext cx="1515028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2500" t="-10000" b="-2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群組 64">
            <a:extLst>
              <a:ext uri="{FF2B5EF4-FFF2-40B4-BE49-F238E27FC236}">
                <a16:creationId xmlns:a16="http://schemas.microsoft.com/office/drawing/2014/main" id="{92167CFC-12F4-6559-52C9-A762CF099E72}"/>
              </a:ext>
            </a:extLst>
          </p:cNvPr>
          <p:cNvGrpSpPr/>
          <p:nvPr/>
        </p:nvGrpSpPr>
        <p:grpSpPr>
          <a:xfrm>
            <a:off x="1158102" y="3868411"/>
            <a:ext cx="4243477" cy="2958929"/>
            <a:chOff x="1158102" y="3868411"/>
            <a:chExt cx="4243477" cy="2958929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76F3CC07-3D72-61B0-1E59-A99EB73EC37F}"/>
                </a:ext>
              </a:extLst>
            </p:cNvPr>
            <p:cNvSpPr/>
            <p:nvPr/>
          </p:nvSpPr>
          <p:spPr>
            <a:xfrm>
              <a:off x="2257571" y="6276833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F8703338-3AE0-2923-9B55-D457CD980031}"/>
                </a:ext>
              </a:extLst>
            </p:cNvPr>
            <p:cNvSpPr/>
            <p:nvPr/>
          </p:nvSpPr>
          <p:spPr>
            <a:xfrm>
              <a:off x="1878841" y="5446258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F1F51681-21E7-70F7-9E25-D45E81FE1B8D}"/>
                </a:ext>
              </a:extLst>
            </p:cNvPr>
            <p:cNvSpPr/>
            <p:nvPr/>
          </p:nvSpPr>
          <p:spPr>
            <a:xfrm>
              <a:off x="2883438" y="5446258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5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755DF411-6ECC-676A-B5DB-8C6FCDE70FCC}"/>
                </a:ext>
              </a:extLst>
            </p:cNvPr>
            <p:cNvSpPr/>
            <p:nvPr/>
          </p:nvSpPr>
          <p:spPr>
            <a:xfrm>
              <a:off x="2021269" y="4492786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B11F6C9B-A161-3690-E49B-F71292F07CE8}"/>
                </a:ext>
              </a:extLst>
            </p:cNvPr>
            <p:cNvSpPr/>
            <p:nvPr/>
          </p:nvSpPr>
          <p:spPr>
            <a:xfrm>
              <a:off x="3025866" y="4492786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4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C76E5B25-EBE1-E2B2-0AD6-716E4593EEA1}"/>
                </a:ext>
              </a:extLst>
            </p:cNvPr>
            <p:cNvSpPr/>
            <p:nvPr/>
          </p:nvSpPr>
          <p:spPr>
            <a:xfrm>
              <a:off x="3576373" y="3868411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6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A3F31152-D0F7-0523-58DD-3A35446AD659}"/>
                </a:ext>
              </a:extLst>
            </p:cNvPr>
            <p:cNvCxnSpPr>
              <a:stCxn id="13" idx="3"/>
              <a:endCxn id="12" idx="7"/>
            </p:cNvCxnSpPr>
            <p:nvPr/>
          </p:nvCxnSpPr>
          <p:spPr>
            <a:xfrm flipH="1">
              <a:off x="3495753" y="433829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09C2391F-6D81-2BB7-C562-4D737815C3A7}"/>
                </a:ext>
              </a:extLst>
            </p:cNvPr>
            <p:cNvCxnSpPr>
              <a:cxnSpLocks/>
              <a:stCxn id="12" idx="2"/>
              <a:endCxn id="11" idx="6"/>
            </p:cNvCxnSpPr>
            <p:nvPr/>
          </p:nvCxnSpPr>
          <p:spPr>
            <a:xfrm flipH="1">
              <a:off x="2571776" y="4768040"/>
              <a:ext cx="45409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DA4204CF-4CDD-AB90-F551-8639002DAF38}"/>
                </a:ext>
              </a:extLst>
            </p:cNvPr>
            <p:cNvCxnSpPr>
              <a:cxnSpLocks/>
              <a:stCxn id="9" idx="2"/>
              <a:endCxn id="8" idx="6"/>
            </p:cNvCxnSpPr>
            <p:nvPr/>
          </p:nvCxnSpPr>
          <p:spPr>
            <a:xfrm flipH="1">
              <a:off x="2429348" y="5721512"/>
              <a:ext cx="45409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1F69E1DB-CDFB-D6B6-53AC-812CF329CD61}"/>
                </a:ext>
              </a:extLst>
            </p:cNvPr>
            <p:cNvCxnSpPr>
              <a:cxnSpLocks/>
              <a:stCxn id="9" idx="0"/>
              <a:endCxn id="12" idx="4"/>
            </p:cNvCxnSpPr>
            <p:nvPr/>
          </p:nvCxnSpPr>
          <p:spPr>
            <a:xfrm flipV="1">
              <a:off x="3158692" y="504329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E1BBBFDE-3EE8-C2F6-BBBD-D1A14C74D0A5}"/>
                </a:ext>
              </a:extLst>
            </p:cNvPr>
            <p:cNvCxnSpPr>
              <a:cxnSpLocks/>
              <a:stCxn id="8" idx="0"/>
              <a:endCxn id="11" idx="4"/>
            </p:cNvCxnSpPr>
            <p:nvPr/>
          </p:nvCxnSpPr>
          <p:spPr>
            <a:xfrm flipV="1">
              <a:off x="2154095" y="504329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C4473C47-EAC7-F5FA-99E0-931FE2B0B758}"/>
                </a:ext>
              </a:extLst>
            </p:cNvPr>
            <p:cNvCxnSpPr>
              <a:cxnSpLocks/>
              <a:stCxn id="7" idx="7"/>
              <a:endCxn id="9" idx="3"/>
            </p:cNvCxnSpPr>
            <p:nvPr/>
          </p:nvCxnSpPr>
          <p:spPr>
            <a:xfrm flipV="1">
              <a:off x="2727458" y="5916145"/>
              <a:ext cx="236600" cy="4413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4E9EF0E4-6008-7E80-1D78-0495F196C616}"/>
                </a:ext>
              </a:extLst>
            </p:cNvPr>
            <p:cNvCxnSpPr>
              <a:cxnSpLocks/>
              <a:stCxn id="8" idx="4"/>
              <a:endCxn id="7" idx="1"/>
            </p:cNvCxnSpPr>
            <p:nvPr/>
          </p:nvCxnSpPr>
          <p:spPr>
            <a:xfrm>
              <a:off x="2154095" y="5996765"/>
              <a:ext cx="184096" cy="36068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3AB45A1F-34B8-2FBB-2DF0-61425E7D356B}"/>
                    </a:ext>
                  </a:extLst>
                </p:cNvPr>
                <p:cNvSpPr txBox="1"/>
                <p:nvPr/>
              </p:nvSpPr>
              <p:spPr>
                <a:xfrm>
                  <a:off x="1561667" y="6328154"/>
                  <a:ext cx="919203" cy="4131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3AB45A1F-34B8-2FBB-2DF0-61425E7D3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1667" y="6328154"/>
                  <a:ext cx="919203" cy="41319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3280E901-8662-33DA-F309-02F705338619}"/>
                    </a:ext>
                  </a:extLst>
                </p:cNvPr>
                <p:cNvSpPr txBox="1"/>
                <p:nvPr/>
              </p:nvSpPr>
              <p:spPr>
                <a:xfrm>
                  <a:off x="1158102" y="5533039"/>
                  <a:ext cx="919203" cy="4116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3280E901-8662-33DA-F309-02F7053386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8102" y="5533039"/>
                  <a:ext cx="919203" cy="411651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08D92939-3D62-762C-9782-BE324FD1CEF0}"/>
                    </a:ext>
                  </a:extLst>
                </p:cNvPr>
                <p:cNvSpPr txBox="1"/>
                <p:nvPr/>
              </p:nvSpPr>
              <p:spPr>
                <a:xfrm>
                  <a:off x="3180531" y="5523353"/>
                  <a:ext cx="919203" cy="4186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08D92939-3D62-762C-9782-BE324FD1CE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0531" y="5523353"/>
                  <a:ext cx="919203" cy="41864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5B93AB3E-A9FB-C677-C3A7-9C9288581CA5}"/>
                    </a:ext>
                  </a:extLst>
                </p:cNvPr>
                <p:cNvSpPr txBox="1"/>
                <p:nvPr/>
              </p:nvSpPr>
              <p:spPr>
                <a:xfrm>
                  <a:off x="3301119" y="4572760"/>
                  <a:ext cx="919203" cy="4138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5B93AB3E-A9FB-C677-C3A7-9C9288581C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1119" y="4572760"/>
                  <a:ext cx="919203" cy="413896"/>
                </a:xfrm>
                <a:prstGeom prst="rect">
                  <a:avLst/>
                </a:prstGeom>
                <a:blipFill>
                  <a:blip r:embed="rId15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A44EF409-47FD-6D0F-6DEF-0F9E29B47F72}"/>
                    </a:ext>
                  </a:extLst>
                </p:cNvPr>
                <p:cNvSpPr txBox="1"/>
                <p:nvPr/>
              </p:nvSpPr>
              <p:spPr>
                <a:xfrm>
                  <a:off x="2914041" y="3906283"/>
                  <a:ext cx="919203" cy="4110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A44EF409-47FD-6D0F-6DEF-0F9E29B47F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4041" y="3906283"/>
                  <a:ext cx="919203" cy="411010"/>
                </a:xfrm>
                <a:prstGeom prst="rect">
                  <a:avLst/>
                </a:prstGeom>
                <a:blipFill>
                  <a:blip r:embed="rId16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88278B2E-BE1F-4ABD-66C6-5ED3DE07A971}"/>
                    </a:ext>
                  </a:extLst>
                </p:cNvPr>
                <p:cNvSpPr txBox="1"/>
                <p:nvPr/>
              </p:nvSpPr>
              <p:spPr>
                <a:xfrm>
                  <a:off x="1367934" y="4563170"/>
                  <a:ext cx="919203" cy="4116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88278B2E-BE1F-4ABD-66C6-5ED3DE07A9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7934" y="4563170"/>
                  <a:ext cx="919203" cy="411651"/>
                </a:xfrm>
                <a:prstGeom prst="rect">
                  <a:avLst/>
                </a:prstGeom>
                <a:blipFill>
                  <a:blip r:embed="rId17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A82B7F2D-E8A3-4FD5-6A8F-F24F7C378B82}"/>
                    </a:ext>
                  </a:extLst>
                </p:cNvPr>
                <p:cNvSpPr txBox="1"/>
                <p:nvPr/>
              </p:nvSpPr>
              <p:spPr>
                <a:xfrm>
                  <a:off x="4126880" y="5095485"/>
                  <a:ext cx="12746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TW" dirty="0"/>
                    <a:t>(</a:t>
                  </a:r>
                  <a:r>
                    <a:rPr kumimoji="1" lang="zh-TW" altLang="en-US" dirty="0"/>
                    <a:t>第 </a:t>
                  </a:r>
                  <a14:m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a14:m>
                  <a:r>
                    <a:rPr kumimoji="1" lang="zh-TW" altLang="en-US" dirty="0"/>
                    <a:t> 層</a:t>
                  </a:r>
                  <a:r>
                    <a:rPr kumimoji="1" lang="en-US" altLang="zh-TW" dirty="0"/>
                    <a:t>)</a:t>
                  </a:r>
                  <a:endParaRPr kumimoji="1" lang="zh-TW" altLang="en-US" dirty="0"/>
                </a:p>
              </p:txBody>
            </p:sp>
          </mc:Choice>
          <mc:Fallback xmlns=""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A82B7F2D-E8A3-4FD5-6A8F-F24F7C378B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6880" y="5095485"/>
                  <a:ext cx="1274699" cy="369332"/>
                </a:xfrm>
                <a:prstGeom prst="rect">
                  <a:avLst/>
                </a:prstGeom>
                <a:blipFill>
                  <a:blip r:embed="rId18"/>
                  <a:stretch>
                    <a:fillRect l="-2941" t="-13333" b="-2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6599B1A5-2604-466D-F5A5-B38588AF72C9}"/>
                  </a:ext>
                </a:extLst>
              </p:cNvPr>
              <p:cNvSpPr txBox="1"/>
              <p:nvPr/>
            </p:nvSpPr>
            <p:spPr>
              <a:xfrm>
                <a:off x="227992" y="4153632"/>
                <a:ext cx="10870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UPDATE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6599B1A5-2604-466D-F5A5-B38588AF7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92" y="4153632"/>
                <a:ext cx="1087087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6849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6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66F4D-194B-A9C7-5B94-1AE8A7952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Message Passing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C76A82-5139-15C7-90BE-3A79148E1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173C7DC-DC16-C845-BE47-94E44E39528B}"/>
              </a:ext>
            </a:extLst>
          </p:cNvPr>
          <p:cNvSpPr txBox="1"/>
          <p:nvPr/>
        </p:nvSpPr>
        <p:spPr>
          <a:xfrm>
            <a:off x="653143" y="1586847"/>
            <a:ext cx="10918370" cy="1132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💡一個節點的特徵，應該由它自身的特徵以及它所有鄰居的特徵共同決定。</a:t>
            </a:r>
            <a:r>
              <a:rPr kumimoji="1" lang="zh-TW" altLang="en-US" sz="2400" dirty="0"/>
              <a:t>透過多層 </a:t>
            </a:r>
            <a:r>
              <a:rPr kumimoji="1" lang="en-US" altLang="zh-TW" sz="2400" dirty="0"/>
              <a:t>(</a:t>
            </a:r>
            <a:r>
              <a:rPr kumimoji="1" lang="en" altLang="zh-TW" sz="2400" dirty="0"/>
              <a:t>Layers) </a:t>
            </a:r>
            <a:r>
              <a:rPr kumimoji="1" lang="zh-TW" altLang="en-US" sz="2400" dirty="0"/>
              <a:t>的訊息傳遞，節點可以獲取更遠距離的資訊</a:t>
            </a:r>
          </a:p>
        </p:txBody>
      </p:sp>
    </p:spTree>
    <p:extLst>
      <p:ext uri="{BB962C8B-B14F-4D97-AF65-F5344CB8AC3E}">
        <p14:creationId xmlns:p14="http://schemas.microsoft.com/office/powerpoint/2010/main" val="1601765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66F4D-194B-A9C7-5B94-1AE8A7952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Message Passing</a:t>
            </a:r>
            <a:r>
              <a:rPr kumimoji="1" lang="zh-TW" altLang="en-US" dirty="0"/>
              <a:t> 說明範例</a:t>
            </a:r>
            <a:r>
              <a:rPr kumimoji="1" lang="en-US" altLang="zh-TW" dirty="0"/>
              <a:t> (1)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C76A82-5139-15C7-90BE-3A79148E1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A8E1FB93-F60B-1625-2A2B-A12C0CE32722}"/>
              </a:ext>
            </a:extLst>
          </p:cNvPr>
          <p:cNvGrpSpPr/>
          <p:nvPr/>
        </p:nvGrpSpPr>
        <p:grpSpPr>
          <a:xfrm>
            <a:off x="4126721" y="2108091"/>
            <a:ext cx="3154534" cy="3787974"/>
            <a:chOff x="1065788" y="1351516"/>
            <a:chExt cx="3154534" cy="3787974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8AC1FC39-901F-E473-B35D-3F16C69AD72C}"/>
                </a:ext>
              </a:extLst>
            </p:cNvPr>
            <p:cNvSpPr/>
            <p:nvPr/>
          </p:nvSpPr>
          <p:spPr>
            <a:xfrm>
              <a:off x="2257571" y="3759938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0B360D6-DC81-C5A3-91AF-E3165EF3C037}"/>
                </a:ext>
              </a:extLst>
            </p:cNvPr>
            <p:cNvSpPr/>
            <p:nvPr/>
          </p:nvSpPr>
          <p:spPr>
            <a:xfrm>
              <a:off x="1878841" y="2929363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00E8EBB6-670E-CFBF-E629-73656DD8060C}"/>
                </a:ext>
              </a:extLst>
            </p:cNvPr>
            <p:cNvSpPr/>
            <p:nvPr/>
          </p:nvSpPr>
          <p:spPr>
            <a:xfrm>
              <a:off x="2883438" y="2929363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5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6D9EA9F9-F09A-0ACB-0575-3F5F4F7F2F06}"/>
                </a:ext>
              </a:extLst>
            </p:cNvPr>
            <p:cNvSpPr/>
            <p:nvPr/>
          </p:nvSpPr>
          <p:spPr>
            <a:xfrm>
              <a:off x="2021269" y="1975891"/>
              <a:ext cx="550507" cy="550507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F9C149E1-C27C-DF1C-1434-AA55D9DE776B}"/>
                </a:ext>
              </a:extLst>
            </p:cNvPr>
            <p:cNvSpPr/>
            <p:nvPr/>
          </p:nvSpPr>
          <p:spPr>
            <a:xfrm>
              <a:off x="3025866" y="1975891"/>
              <a:ext cx="550507" cy="550507"/>
            </a:xfrm>
            <a:prstGeom prst="ellipse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4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1941E4F7-8239-8DAB-6DAA-7D0C18166660}"/>
                </a:ext>
              </a:extLst>
            </p:cNvPr>
            <p:cNvSpPr/>
            <p:nvPr/>
          </p:nvSpPr>
          <p:spPr>
            <a:xfrm>
              <a:off x="3576373" y="1351516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6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C9A1A9A0-EF35-12DD-FDFE-ED36C8D7628B}"/>
                </a:ext>
              </a:extLst>
            </p:cNvPr>
            <p:cNvCxnSpPr>
              <a:stCxn id="12" idx="3"/>
              <a:endCxn id="11" idx="7"/>
            </p:cNvCxnSpPr>
            <p:nvPr/>
          </p:nvCxnSpPr>
          <p:spPr>
            <a:xfrm flipH="1">
              <a:off x="3495753" y="1821403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E1A4AB16-5C41-4CD5-2380-E508B89A9CB4}"/>
                </a:ext>
              </a:extLst>
            </p:cNvPr>
            <p:cNvCxnSpPr>
              <a:cxnSpLocks/>
              <a:stCxn id="11" idx="2"/>
              <a:endCxn id="10" idx="6"/>
            </p:cNvCxnSpPr>
            <p:nvPr/>
          </p:nvCxnSpPr>
          <p:spPr>
            <a:xfrm flipH="1">
              <a:off x="2571776" y="2251145"/>
              <a:ext cx="45409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191B88C7-B3BF-1B05-CE65-EB6D02AF766E}"/>
                </a:ext>
              </a:extLst>
            </p:cNvPr>
            <p:cNvCxnSpPr>
              <a:cxnSpLocks/>
              <a:stCxn id="9" idx="2"/>
              <a:endCxn id="8" idx="6"/>
            </p:cNvCxnSpPr>
            <p:nvPr/>
          </p:nvCxnSpPr>
          <p:spPr>
            <a:xfrm flipH="1">
              <a:off x="2429348" y="3204617"/>
              <a:ext cx="45409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210FAB55-CAC1-7363-C9E8-1D20049055B4}"/>
                </a:ext>
              </a:extLst>
            </p:cNvPr>
            <p:cNvCxnSpPr>
              <a:cxnSpLocks/>
              <a:stCxn id="9" idx="0"/>
              <a:endCxn id="11" idx="4"/>
            </p:cNvCxnSpPr>
            <p:nvPr/>
          </p:nvCxnSpPr>
          <p:spPr>
            <a:xfrm flipV="1">
              <a:off x="3158692" y="2526398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05F70D2F-240F-2711-33E6-4BD14ECAF1EF}"/>
                </a:ext>
              </a:extLst>
            </p:cNvPr>
            <p:cNvCxnSpPr>
              <a:cxnSpLocks/>
              <a:stCxn id="8" idx="0"/>
              <a:endCxn id="10" idx="4"/>
            </p:cNvCxnSpPr>
            <p:nvPr/>
          </p:nvCxnSpPr>
          <p:spPr>
            <a:xfrm flipV="1">
              <a:off x="2154095" y="2526398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2F60AF2A-1FAC-7654-1552-31602F003FDB}"/>
                </a:ext>
              </a:extLst>
            </p:cNvPr>
            <p:cNvCxnSpPr>
              <a:cxnSpLocks/>
              <a:stCxn id="7" idx="7"/>
              <a:endCxn id="9" idx="3"/>
            </p:cNvCxnSpPr>
            <p:nvPr/>
          </p:nvCxnSpPr>
          <p:spPr>
            <a:xfrm flipV="1">
              <a:off x="2727458" y="3399250"/>
              <a:ext cx="236600" cy="4413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F8FF7817-C331-2D59-42D6-65C42D7E4A79}"/>
                </a:ext>
              </a:extLst>
            </p:cNvPr>
            <p:cNvCxnSpPr>
              <a:cxnSpLocks/>
              <a:stCxn id="8" idx="4"/>
              <a:endCxn id="7" idx="1"/>
            </p:cNvCxnSpPr>
            <p:nvPr/>
          </p:nvCxnSpPr>
          <p:spPr>
            <a:xfrm>
              <a:off x="2154095" y="3479870"/>
              <a:ext cx="184096" cy="36068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8889D0BB-E63E-32B2-E708-173BCD78E10C}"/>
                    </a:ext>
                  </a:extLst>
                </p:cNvPr>
                <p:cNvSpPr txBox="1"/>
                <p:nvPr/>
              </p:nvSpPr>
              <p:spPr>
                <a:xfrm>
                  <a:off x="1561667" y="3811259"/>
                  <a:ext cx="919203" cy="4131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8889D0BB-E63E-32B2-E708-173BCD78E1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1667" y="3811259"/>
                  <a:ext cx="919203" cy="41319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FDEFEC1D-8184-5096-3A33-BB461EDF574B}"/>
                    </a:ext>
                  </a:extLst>
                </p:cNvPr>
                <p:cNvSpPr txBox="1"/>
                <p:nvPr/>
              </p:nvSpPr>
              <p:spPr>
                <a:xfrm>
                  <a:off x="1065788" y="2987599"/>
                  <a:ext cx="919203" cy="4116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FDEFEC1D-8184-5096-3A33-BB461EDF57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788" y="2987599"/>
                  <a:ext cx="919203" cy="41165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3C873356-7691-C7EE-6EBA-FC4547D3CA13}"/>
                    </a:ext>
                  </a:extLst>
                </p:cNvPr>
                <p:cNvSpPr txBox="1"/>
                <p:nvPr/>
              </p:nvSpPr>
              <p:spPr>
                <a:xfrm>
                  <a:off x="3180531" y="3006458"/>
                  <a:ext cx="919203" cy="4186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3C873356-7691-C7EE-6EBA-FC4547D3CA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0531" y="3006458"/>
                  <a:ext cx="919203" cy="418641"/>
                </a:xfrm>
                <a:prstGeom prst="rect">
                  <a:avLst/>
                </a:prstGeom>
                <a:blipFill>
                  <a:blip r:embed="rId5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6EEBC385-15D9-E862-1525-072CE1B5D743}"/>
                    </a:ext>
                  </a:extLst>
                </p:cNvPr>
                <p:cNvSpPr txBox="1"/>
                <p:nvPr/>
              </p:nvSpPr>
              <p:spPr>
                <a:xfrm>
                  <a:off x="3301119" y="2055865"/>
                  <a:ext cx="919203" cy="4138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6EEBC385-15D9-E862-1525-072CE1B5D7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1119" y="2055865"/>
                  <a:ext cx="919203" cy="413896"/>
                </a:xfrm>
                <a:prstGeom prst="rect">
                  <a:avLst/>
                </a:prstGeom>
                <a:blipFill>
                  <a:blip r:embed="rId6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E38C0EE3-6AC6-4305-9620-0574DE37A662}"/>
                    </a:ext>
                  </a:extLst>
                </p:cNvPr>
                <p:cNvSpPr txBox="1"/>
                <p:nvPr/>
              </p:nvSpPr>
              <p:spPr>
                <a:xfrm>
                  <a:off x="2970027" y="1399902"/>
                  <a:ext cx="919203" cy="4110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E38C0EE3-6AC6-4305-9620-0574DE37A6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0027" y="1399902"/>
                  <a:ext cx="919203" cy="411010"/>
                </a:xfrm>
                <a:prstGeom prst="rect">
                  <a:avLst/>
                </a:prstGeom>
                <a:blipFill>
                  <a:blip r:embed="rId7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38093DFD-2688-4265-AEAE-C1CC42FAA6D1}"/>
                    </a:ext>
                  </a:extLst>
                </p:cNvPr>
                <p:cNvSpPr txBox="1"/>
                <p:nvPr/>
              </p:nvSpPr>
              <p:spPr>
                <a:xfrm>
                  <a:off x="1293287" y="2046275"/>
                  <a:ext cx="919203" cy="4116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38093DFD-2688-4265-AEAE-C1CC42FAA6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3287" y="2046275"/>
                  <a:ext cx="919203" cy="411651"/>
                </a:xfrm>
                <a:prstGeom prst="rect">
                  <a:avLst/>
                </a:prstGeom>
                <a:blipFill>
                  <a:blip r:embed="rId8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D135C130-9E11-17D9-FAC2-6814662E2C90}"/>
                    </a:ext>
                  </a:extLst>
                </p:cNvPr>
                <p:cNvSpPr txBox="1"/>
                <p:nvPr/>
              </p:nvSpPr>
              <p:spPr>
                <a:xfrm>
                  <a:off x="1898879" y="4770158"/>
                  <a:ext cx="15150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TW" dirty="0"/>
                    <a:t>(</a:t>
                  </a:r>
                  <a:r>
                    <a:rPr kumimoji="1" lang="zh-TW" altLang="en-US" dirty="0"/>
                    <a:t>第 </a:t>
                  </a:r>
                  <a14:m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a14:m>
                  <a:r>
                    <a:rPr kumimoji="1" lang="zh-TW" altLang="en-US" dirty="0"/>
                    <a:t> 層</a:t>
                  </a:r>
                  <a:r>
                    <a:rPr kumimoji="1" lang="en-US" altLang="zh-TW" dirty="0"/>
                    <a:t>)</a:t>
                  </a:r>
                  <a:endParaRPr kumimoji="1" lang="zh-TW" altLang="en-US" dirty="0"/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D135C130-9E11-17D9-FAC2-6814662E2C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8879" y="4770158"/>
                  <a:ext cx="1515028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3333" t="-10000" b="-2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D67792AA-CDB5-E07A-B39F-3AF05DC9B323}"/>
              </a:ext>
            </a:extLst>
          </p:cNvPr>
          <p:cNvGrpSpPr/>
          <p:nvPr/>
        </p:nvGrpSpPr>
        <p:grpSpPr>
          <a:xfrm>
            <a:off x="554278" y="2106965"/>
            <a:ext cx="3062220" cy="3789100"/>
            <a:chOff x="1158102" y="3868411"/>
            <a:chExt cx="3062220" cy="3789100"/>
          </a:xfrm>
        </p:grpSpPr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055FB859-DBBE-ECBF-17B3-DFDFE1AD5CDF}"/>
                </a:ext>
              </a:extLst>
            </p:cNvPr>
            <p:cNvSpPr/>
            <p:nvPr/>
          </p:nvSpPr>
          <p:spPr>
            <a:xfrm>
              <a:off x="2257571" y="6276833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BDB8087D-3AE9-9B32-1BD3-4E15EBD2C3DD}"/>
                </a:ext>
              </a:extLst>
            </p:cNvPr>
            <p:cNvSpPr/>
            <p:nvPr/>
          </p:nvSpPr>
          <p:spPr>
            <a:xfrm>
              <a:off x="1878841" y="5446258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01940F3E-5F2F-473E-8B0D-CAA4207A8CAA}"/>
                </a:ext>
              </a:extLst>
            </p:cNvPr>
            <p:cNvSpPr/>
            <p:nvPr/>
          </p:nvSpPr>
          <p:spPr>
            <a:xfrm>
              <a:off x="2883438" y="5446258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5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E918B8C6-5BFA-6968-FE78-522E2B37543A}"/>
                </a:ext>
              </a:extLst>
            </p:cNvPr>
            <p:cNvSpPr/>
            <p:nvPr/>
          </p:nvSpPr>
          <p:spPr>
            <a:xfrm>
              <a:off x="2021269" y="4492786"/>
              <a:ext cx="550507" cy="550507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22CD1BFF-496A-CF39-0BC1-C11926C5B1F7}"/>
                </a:ext>
              </a:extLst>
            </p:cNvPr>
            <p:cNvSpPr/>
            <p:nvPr/>
          </p:nvSpPr>
          <p:spPr>
            <a:xfrm>
              <a:off x="3025866" y="4492786"/>
              <a:ext cx="550507" cy="550507"/>
            </a:xfrm>
            <a:prstGeom prst="ellipse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4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95CAA4A4-09D6-F461-E629-5810CB977160}"/>
                </a:ext>
              </a:extLst>
            </p:cNvPr>
            <p:cNvSpPr/>
            <p:nvPr/>
          </p:nvSpPr>
          <p:spPr>
            <a:xfrm>
              <a:off x="3576373" y="3868411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6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EEE8A1C6-CF04-7AB9-7822-9490FB5FFA51}"/>
                </a:ext>
              </a:extLst>
            </p:cNvPr>
            <p:cNvCxnSpPr>
              <a:stCxn id="33" idx="3"/>
              <a:endCxn id="32" idx="7"/>
            </p:cNvCxnSpPr>
            <p:nvPr/>
          </p:nvCxnSpPr>
          <p:spPr>
            <a:xfrm flipH="1">
              <a:off x="3495753" y="433829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0F69EAD3-1392-9870-4942-6B49ED7A67B9}"/>
                </a:ext>
              </a:extLst>
            </p:cNvPr>
            <p:cNvCxnSpPr>
              <a:cxnSpLocks/>
              <a:stCxn id="32" idx="2"/>
              <a:endCxn id="31" idx="6"/>
            </p:cNvCxnSpPr>
            <p:nvPr/>
          </p:nvCxnSpPr>
          <p:spPr>
            <a:xfrm flipH="1">
              <a:off x="2571776" y="4768040"/>
              <a:ext cx="45409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D6765E54-B95D-0AED-475F-55E5F48583AE}"/>
                </a:ext>
              </a:extLst>
            </p:cNvPr>
            <p:cNvCxnSpPr>
              <a:cxnSpLocks/>
              <a:stCxn id="30" idx="2"/>
              <a:endCxn id="29" idx="6"/>
            </p:cNvCxnSpPr>
            <p:nvPr/>
          </p:nvCxnSpPr>
          <p:spPr>
            <a:xfrm flipH="1">
              <a:off x="2429348" y="5721512"/>
              <a:ext cx="45409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99878ADE-7C21-87B4-468E-9D46C154F06E}"/>
                </a:ext>
              </a:extLst>
            </p:cNvPr>
            <p:cNvCxnSpPr>
              <a:cxnSpLocks/>
              <a:stCxn id="30" idx="0"/>
              <a:endCxn id="32" idx="4"/>
            </p:cNvCxnSpPr>
            <p:nvPr/>
          </p:nvCxnSpPr>
          <p:spPr>
            <a:xfrm flipV="1">
              <a:off x="3158692" y="504329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6149665A-EB66-DCC7-76CC-0518EAFB32DC}"/>
                </a:ext>
              </a:extLst>
            </p:cNvPr>
            <p:cNvCxnSpPr>
              <a:cxnSpLocks/>
              <a:stCxn id="29" idx="0"/>
              <a:endCxn id="31" idx="4"/>
            </p:cNvCxnSpPr>
            <p:nvPr/>
          </p:nvCxnSpPr>
          <p:spPr>
            <a:xfrm flipV="1">
              <a:off x="2154095" y="504329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9DA26703-F144-EF32-3416-4551787C75E5}"/>
                </a:ext>
              </a:extLst>
            </p:cNvPr>
            <p:cNvCxnSpPr>
              <a:cxnSpLocks/>
              <a:stCxn id="28" idx="7"/>
              <a:endCxn id="30" idx="3"/>
            </p:cNvCxnSpPr>
            <p:nvPr/>
          </p:nvCxnSpPr>
          <p:spPr>
            <a:xfrm flipV="1">
              <a:off x="2727458" y="5916145"/>
              <a:ext cx="236600" cy="4413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42C8E27F-B734-4172-3FA8-3E050B118D80}"/>
                </a:ext>
              </a:extLst>
            </p:cNvPr>
            <p:cNvCxnSpPr>
              <a:cxnSpLocks/>
              <a:stCxn id="29" idx="4"/>
              <a:endCxn id="28" idx="1"/>
            </p:cNvCxnSpPr>
            <p:nvPr/>
          </p:nvCxnSpPr>
          <p:spPr>
            <a:xfrm>
              <a:off x="2154095" y="5996765"/>
              <a:ext cx="184096" cy="36068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0BBF5705-6CB1-3B90-8E5B-066F1DE2FF74}"/>
                    </a:ext>
                  </a:extLst>
                </p:cNvPr>
                <p:cNvSpPr txBox="1"/>
                <p:nvPr/>
              </p:nvSpPr>
              <p:spPr>
                <a:xfrm>
                  <a:off x="1561667" y="6328154"/>
                  <a:ext cx="919203" cy="4131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0BBF5705-6CB1-3B90-8E5B-066F1DE2FF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1667" y="6328154"/>
                  <a:ext cx="919203" cy="41319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844C010E-1134-A3BF-F701-A572C47243E4}"/>
                    </a:ext>
                  </a:extLst>
                </p:cNvPr>
                <p:cNvSpPr txBox="1"/>
                <p:nvPr/>
              </p:nvSpPr>
              <p:spPr>
                <a:xfrm>
                  <a:off x="1158102" y="5533039"/>
                  <a:ext cx="919203" cy="4116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844C010E-1134-A3BF-F701-A572C47243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8102" y="5533039"/>
                  <a:ext cx="919203" cy="41165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0D4D0E7D-1D81-04E9-8118-8E75A6A0A45A}"/>
                    </a:ext>
                  </a:extLst>
                </p:cNvPr>
                <p:cNvSpPr txBox="1"/>
                <p:nvPr/>
              </p:nvSpPr>
              <p:spPr>
                <a:xfrm>
                  <a:off x="3180531" y="5523353"/>
                  <a:ext cx="919203" cy="4186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0D4D0E7D-1D81-04E9-8118-8E75A6A0A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0531" y="5523353"/>
                  <a:ext cx="919203" cy="418641"/>
                </a:xfrm>
                <a:prstGeom prst="rect">
                  <a:avLst/>
                </a:prstGeom>
                <a:blipFill>
                  <a:blip r:embed="rId12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DEA7F626-1A38-C451-20E3-9F2EDB7058A9}"/>
                    </a:ext>
                  </a:extLst>
                </p:cNvPr>
                <p:cNvSpPr txBox="1"/>
                <p:nvPr/>
              </p:nvSpPr>
              <p:spPr>
                <a:xfrm>
                  <a:off x="3301119" y="4572760"/>
                  <a:ext cx="919203" cy="4138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DEA7F626-1A38-C451-20E3-9F2EDB7058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1119" y="4572760"/>
                  <a:ext cx="919203" cy="413896"/>
                </a:xfrm>
                <a:prstGeom prst="rect">
                  <a:avLst/>
                </a:prstGeom>
                <a:blipFill>
                  <a:blip r:embed="rId1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32927DF1-9A4C-1AFC-D10F-5CB513EA48BE}"/>
                    </a:ext>
                  </a:extLst>
                </p:cNvPr>
                <p:cNvSpPr txBox="1"/>
                <p:nvPr/>
              </p:nvSpPr>
              <p:spPr>
                <a:xfrm>
                  <a:off x="2914041" y="3906283"/>
                  <a:ext cx="919203" cy="4110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32927DF1-9A4C-1AFC-D10F-5CB513EA48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4041" y="3906283"/>
                  <a:ext cx="919203" cy="411010"/>
                </a:xfrm>
                <a:prstGeom prst="rect">
                  <a:avLst/>
                </a:prstGeom>
                <a:blipFill>
                  <a:blip r:embed="rId14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E4E095DC-5060-B644-1792-FB673E64D28D}"/>
                    </a:ext>
                  </a:extLst>
                </p:cNvPr>
                <p:cNvSpPr txBox="1"/>
                <p:nvPr/>
              </p:nvSpPr>
              <p:spPr>
                <a:xfrm>
                  <a:off x="1367934" y="4563170"/>
                  <a:ext cx="919203" cy="4116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E4E095DC-5060-B644-1792-FB673E64D2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7934" y="4563170"/>
                  <a:ext cx="919203" cy="411651"/>
                </a:xfrm>
                <a:prstGeom prst="rect">
                  <a:avLst/>
                </a:prstGeom>
                <a:blipFill>
                  <a:blip r:embed="rId15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15D12D27-3036-EE2F-D10E-B00ED6FE4EF1}"/>
                    </a:ext>
                  </a:extLst>
                </p:cNvPr>
                <p:cNvSpPr txBox="1"/>
                <p:nvPr/>
              </p:nvSpPr>
              <p:spPr>
                <a:xfrm>
                  <a:off x="2098943" y="7288179"/>
                  <a:ext cx="12746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TW" dirty="0"/>
                    <a:t>(</a:t>
                  </a:r>
                  <a:r>
                    <a:rPr kumimoji="1" lang="zh-TW" altLang="en-US" dirty="0"/>
                    <a:t>第 </a:t>
                  </a:r>
                  <a14:m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a14:m>
                  <a:r>
                    <a:rPr kumimoji="1" lang="zh-TW" altLang="en-US" dirty="0"/>
                    <a:t> 層</a:t>
                  </a:r>
                  <a:r>
                    <a:rPr kumimoji="1" lang="en-US" altLang="zh-TW" dirty="0"/>
                    <a:t>)</a:t>
                  </a:r>
                  <a:endParaRPr kumimoji="1" lang="zh-TW" altLang="en-US" dirty="0"/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15D12D27-3036-EE2F-D10E-B00ED6FE4E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8943" y="7288179"/>
                  <a:ext cx="1274699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3960" t="-10000" b="-2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550B6395-B980-EC3E-044E-38428409924F}"/>
              </a:ext>
            </a:extLst>
          </p:cNvPr>
          <p:cNvGrpSpPr/>
          <p:nvPr/>
        </p:nvGrpSpPr>
        <p:grpSpPr>
          <a:xfrm>
            <a:off x="8125469" y="2056012"/>
            <a:ext cx="3133051" cy="3787974"/>
            <a:chOff x="1087271" y="1351516"/>
            <a:chExt cx="3133051" cy="3787974"/>
          </a:xfrm>
        </p:grpSpPr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A5C9D014-4235-B665-6B0A-4A2CE053D7D3}"/>
                </a:ext>
              </a:extLst>
            </p:cNvPr>
            <p:cNvSpPr/>
            <p:nvPr/>
          </p:nvSpPr>
          <p:spPr>
            <a:xfrm>
              <a:off x="2257571" y="3759938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190F5E5E-1FD1-5C8B-7ACF-3CFB9AEB7108}"/>
                </a:ext>
              </a:extLst>
            </p:cNvPr>
            <p:cNvSpPr/>
            <p:nvPr/>
          </p:nvSpPr>
          <p:spPr>
            <a:xfrm>
              <a:off x="1878841" y="2929363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2223E98A-3137-AF8A-A94C-EB250452E8B7}"/>
                </a:ext>
              </a:extLst>
            </p:cNvPr>
            <p:cNvSpPr/>
            <p:nvPr/>
          </p:nvSpPr>
          <p:spPr>
            <a:xfrm>
              <a:off x="2883438" y="2929363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5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14656B53-E5DD-1101-6D98-B138CD9DC810}"/>
                </a:ext>
              </a:extLst>
            </p:cNvPr>
            <p:cNvSpPr/>
            <p:nvPr/>
          </p:nvSpPr>
          <p:spPr>
            <a:xfrm>
              <a:off x="2021269" y="1975891"/>
              <a:ext cx="550507" cy="550507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35448697-9D49-C706-61F1-BCF380AABFF6}"/>
                </a:ext>
              </a:extLst>
            </p:cNvPr>
            <p:cNvSpPr/>
            <p:nvPr/>
          </p:nvSpPr>
          <p:spPr>
            <a:xfrm>
              <a:off x="3025866" y="1975891"/>
              <a:ext cx="550507" cy="550507"/>
            </a:xfrm>
            <a:prstGeom prst="ellipse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4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33CF589D-EE09-D11B-5F2F-73045829FC73}"/>
                </a:ext>
              </a:extLst>
            </p:cNvPr>
            <p:cNvSpPr/>
            <p:nvPr/>
          </p:nvSpPr>
          <p:spPr>
            <a:xfrm>
              <a:off x="3576373" y="1351516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6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55" name="直線接點 54">
              <a:extLst>
                <a:ext uri="{FF2B5EF4-FFF2-40B4-BE49-F238E27FC236}">
                  <a16:creationId xmlns:a16="http://schemas.microsoft.com/office/drawing/2014/main" id="{C41A9DDF-9D2A-4C96-1CD1-E06204EAC67F}"/>
                </a:ext>
              </a:extLst>
            </p:cNvPr>
            <p:cNvCxnSpPr>
              <a:stCxn id="54" idx="3"/>
              <a:endCxn id="53" idx="7"/>
            </p:cNvCxnSpPr>
            <p:nvPr/>
          </p:nvCxnSpPr>
          <p:spPr>
            <a:xfrm flipH="1">
              <a:off x="3495753" y="1821403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>
              <a:extLst>
                <a:ext uri="{FF2B5EF4-FFF2-40B4-BE49-F238E27FC236}">
                  <a16:creationId xmlns:a16="http://schemas.microsoft.com/office/drawing/2014/main" id="{8890AE13-C9F0-2C21-1B2C-F7CEF73BA1AD}"/>
                </a:ext>
              </a:extLst>
            </p:cNvPr>
            <p:cNvCxnSpPr>
              <a:cxnSpLocks/>
              <a:stCxn id="53" idx="2"/>
              <a:endCxn id="52" idx="6"/>
            </p:cNvCxnSpPr>
            <p:nvPr/>
          </p:nvCxnSpPr>
          <p:spPr>
            <a:xfrm flipH="1">
              <a:off x="2571776" y="2251145"/>
              <a:ext cx="45409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E35603A5-147E-D4D0-FEC5-0479EB738D13}"/>
                </a:ext>
              </a:extLst>
            </p:cNvPr>
            <p:cNvCxnSpPr>
              <a:cxnSpLocks/>
              <a:stCxn id="51" idx="2"/>
              <a:endCxn id="50" idx="6"/>
            </p:cNvCxnSpPr>
            <p:nvPr/>
          </p:nvCxnSpPr>
          <p:spPr>
            <a:xfrm flipH="1">
              <a:off x="2429348" y="3204617"/>
              <a:ext cx="45409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接點 57">
              <a:extLst>
                <a:ext uri="{FF2B5EF4-FFF2-40B4-BE49-F238E27FC236}">
                  <a16:creationId xmlns:a16="http://schemas.microsoft.com/office/drawing/2014/main" id="{3F1282E5-760B-3B16-F28F-F8BB84E20F1D}"/>
                </a:ext>
              </a:extLst>
            </p:cNvPr>
            <p:cNvCxnSpPr>
              <a:cxnSpLocks/>
              <a:stCxn id="51" idx="0"/>
              <a:endCxn id="53" idx="4"/>
            </p:cNvCxnSpPr>
            <p:nvPr/>
          </p:nvCxnSpPr>
          <p:spPr>
            <a:xfrm flipV="1">
              <a:off x="3158692" y="2526398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接點 58">
              <a:extLst>
                <a:ext uri="{FF2B5EF4-FFF2-40B4-BE49-F238E27FC236}">
                  <a16:creationId xmlns:a16="http://schemas.microsoft.com/office/drawing/2014/main" id="{FFE51506-DA8E-B973-706B-A1DD4628ADA5}"/>
                </a:ext>
              </a:extLst>
            </p:cNvPr>
            <p:cNvCxnSpPr>
              <a:cxnSpLocks/>
              <a:stCxn id="50" idx="0"/>
              <a:endCxn id="52" idx="4"/>
            </p:cNvCxnSpPr>
            <p:nvPr/>
          </p:nvCxnSpPr>
          <p:spPr>
            <a:xfrm flipV="1">
              <a:off x="2154095" y="2526398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接點 59">
              <a:extLst>
                <a:ext uri="{FF2B5EF4-FFF2-40B4-BE49-F238E27FC236}">
                  <a16:creationId xmlns:a16="http://schemas.microsoft.com/office/drawing/2014/main" id="{60CB6CEA-0CF1-569A-EA10-D3047AF7AC95}"/>
                </a:ext>
              </a:extLst>
            </p:cNvPr>
            <p:cNvCxnSpPr>
              <a:cxnSpLocks/>
              <a:stCxn id="49" idx="7"/>
              <a:endCxn id="51" idx="3"/>
            </p:cNvCxnSpPr>
            <p:nvPr/>
          </p:nvCxnSpPr>
          <p:spPr>
            <a:xfrm flipV="1">
              <a:off x="2727458" y="3399250"/>
              <a:ext cx="236600" cy="4413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接點 60">
              <a:extLst>
                <a:ext uri="{FF2B5EF4-FFF2-40B4-BE49-F238E27FC236}">
                  <a16:creationId xmlns:a16="http://schemas.microsoft.com/office/drawing/2014/main" id="{6183A21D-4046-8180-0B5C-3ECA06936E95}"/>
                </a:ext>
              </a:extLst>
            </p:cNvPr>
            <p:cNvCxnSpPr>
              <a:cxnSpLocks/>
              <a:stCxn id="50" idx="4"/>
              <a:endCxn id="49" idx="1"/>
            </p:cNvCxnSpPr>
            <p:nvPr/>
          </p:nvCxnSpPr>
          <p:spPr>
            <a:xfrm>
              <a:off x="2154095" y="3479870"/>
              <a:ext cx="184096" cy="36068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09AE9870-2C05-C77A-A2BB-FE08E2DF02F9}"/>
                    </a:ext>
                  </a:extLst>
                </p:cNvPr>
                <p:cNvSpPr txBox="1"/>
                <p:nvPr/>
              </p:nvSpPr>
              <p:spPr>
                <a:xfrm>
                  <a:off x="1561667" y="3811259"/>
                  <a:ext cx="919203" cy="4131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09AE9870-2C05-C77A-A2BB-FE08E2DF02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1667" y="3811259"/>
                  <a:ext cx="919203" cy="41319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ACEB05D2-4BBE-3052-B3A2-340F2A320161}"/>
                    </a:ext>
                  </a:extLst>
                </p:cNvPr>
                <p:cNvSpPr txBox="1"/>
                <p:nvPr/>
              </p:nvSpPr>
              <p:spPr>
                <a:xfrm>
                  <a:off x="1087271" y="2996882"/>
                  <a:ext cx="919203" cy="4116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ACEB05D2-4BBE-3052-B3A2-340F2A3201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271" y="2996882"/>
                  <a:ext cx="919203" cy="411651"/>
                </a:xfrm>
                <a:prstGeom prst="rect">
                  <a:avLst/>
                </a:prstGeom>
                <a:blipFill>
                  <a:blip r:embed="rId18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1E2A6B1B-9B35-0550-2508-AD834E9C7ED9}"/>
                    </a:ext>
                  </a:extLst>
                </p:cNvPr>
                <p:cNvSpPr txBox="1"/>
                <p:nvPr/>
              </p:nvSpPr>
              <p:spPr>
                <a:xfrm>
                  <a:off x="3180531" y="3006458"/>
                  <a:ext cx="919203" cy="4186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1E2A6B1B-9B35-0550-2508-AD834E9C7E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0531" y="3006458"/>
                  <a:ext cx="919203" cy="418641"/>
                </a:xfrm>
                <a:prstGeom prst="rect">
                  <a:avLst/>
                </a:prstGeom>
                <a:blipFill>
                  <a:blip r:embed="rId19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459AAF52-5117-A347-3E8A-D92EB8FDC99E}"/>
                    </a:ext>
                  </a:extLst>
                </p:cNvPr>
                <p:cNvSpPr txBox="1"/>
                <p:nvPr/>
              </p:nvSpPr>
              <p:spPr>
                <a:xfrm>
                  <a:off x="3301119" y="2055865"/>
                  <a:ext cx="919203" cy="4138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459AAF52-5117-A347-3E8A-D92EB8FDC9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1119" y="2055865"/>
                  <a:ext cx="919203" cy="413896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EAFC0C24-B5FC-3A42-EBEC-7A2B1EEE607D}"/>
                    </a:ext>
                  </a:extLst>
                </p:cNvPr>
                <p:cNvSpPr txBox="1"/>
                <p:nvPr/>
              </p:nvSpPr>
              <p:spPr>
                <a:xfrm>
                  <a:off x="2970027" y="1399902"/>
                  <a:ext cx="919203" cy="4110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EAFC0C24-B5FC-3A42-EBEC-7A2B1EEE60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0027" y="1399902"/>
                  <a:ext cx="919203" cy="411010"/>
                </a:xfrm>
                <a:prstGeom prst="rect">
                  <a:avLst/>
                </a:prstGeom>
                <a:blipFill>
                  <a:blip r:embed="rId21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B95DDD32-39C3-F7CC-BA32-23D21C94A8B5}"/>
                    </a:ext>
                  </a:extLst>
                </p:cNvPr>
                <p:cNvSpPr txBox="1"/>
                <p:nvPr/>
              </p:nvSpPr>
              <p:spPr>
                <a:xfrm>
                  <a:off x="1293287" y="2046275"/>
                  <a:ext cx="919203" cy="4116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B95DDD32-39C3-F7CC-BA32-23D21C94A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3287" y="2046275"/>
                  <a:ext cx="919203" cy="411651"/>
                </a:xfrm>
                <a:prstGeom prst="rect">
                  <a:avLst/>
                </a:prstGeom>
                <a:blipFill>
                  <a:blip r:embed="rId22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4CF16607-8431-FB45-9255-E716F91C68A7}"/>
                    </a:ext>
                  </a:extLst>
                </p:cNvPr>
                <p:cNvSpPr txBox="1"/>
                <p:nvPr/>
              </p:nvSpPr>
              <p:spPr>
                <a:xfrm>
                  <a:off x="1898879" y="4770158"/>
                  <a:ext cx="15150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TW" dirty="0"/>
                    <a:t>(</a:t>
                  </a:r>
                  <a:r>
                    <a:rPr kumimoji="1" lang="zh-TW" altLang="en-US" dirty="0"/>
                    <a:t>第 </a:t>
                  </a:r>
                  <a14:m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a14:m>
                  <a:r>
                    <a:rPr kumimoji="1" lang="zh-TW" altLang="en-US" dirty="0"/>
                    <a:t> 層</a:t>
                  </a:r>
                  <a:r>
                    <a:rPr kumimoji="1" lang="en-US" altLang="zh-TW" dirty="0"/>
                    <a:t>)</a:t>
                  </a:r>
                  <a:endParaRPr kumimoji="1" lang="zh-TW" altLang="en-US" dirty="0"/>
                </a:p>
              </p:txBody>
            </p:sp>
          </mc:Choice>
          <mc:Fallback xmlns="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4CF16607-8431-FB45-9255-E716F91C68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8879" y="4770158"/>
                  <a:ext cx="1515028" cy="369332"/>
                </a:xfrm>
                <a:prstGeom prst="rect">
                  <a:avLst/>
                </a:prstGeom>
                <a:blipFill>
                  <a:blip r:embed="rId23"/>
                  <a:stretch>
                    <a:fillRect l="-3306" t="-10000" b="-2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D252DD50-B445-3C56-4DDF-22D908BCA19A}"/>
              </a:ext>
            </a:extLst>
          </p:cNvPr>
          <p:cNvSpPr txBox="1"/>
          <p:nvPr/>
        </p:nvSpPr>
        <p:spPr>
          <a:xfrm>
            <a:off x="914990" y="5971077"/>
            <a:ext cx="2028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2</a:t>
            </a:r>
            <a:r>
              <a:rPr kumimoji="1" lang="zh-TW" altLang="en-US" dirty="0">
                <a:solidFill>
                  <a:srgbClr val="FF0000"/>
                </a:solidFill>
              </a:rPr>
              <a:t>號</a:t>
            </a:r>
            <a:r>
              <a:rPr kumimoji="1" lang="en-US" altLang="zh-TW" dirty="0">
                <a:solidFill>
                  <a:srgbClr val="FF0000"/>
                </a:solidFill>
              </a:rPr>
              <a:t>node</a:t>
            </a:r>
            <a:r>
              <a:rPr kumimoji="1" lang="zh-TW" altLang="en-US" dirty="0"/>
              <a:t>無法接觸到</a:t>
            </a:r>
            <a:r>
              <a:rPr kumimoji="1" lang="en-US" altLang="zh-TW" dirty="0">
                <a:solidFill>
                  <a:schemeClr val="accent6"/>
                </a:solidFill>
              </a:rPr>
              <a:t>4</a:t>
            </a:r>
            <a:r>
              <a:rPr kumimoji="1" lang="zh-TW" altLang="en-US" dirty="0">
                <a:solidFill>
                  <a:schemeClr val="accent6"/>
                </a:solidFill>
              </a:rPr>
              <a:t>號</a:t>
            </a:r>
            <a:r>
              <a:rPr kumimoji="1" lang="en-US" altLang="zh-TW" dirty="0">
                <a:solidFill>
                  <a:schemeClr val="accent6"/>
                </a:solidFill>
              </a:rPr>
              <a:t>node</a:t>
            </a:r>
            <a:endParaRPr kumimoji="1" lang="zh-TW" altLang="en-US" dirty="0">
              <a:solidFill>
                <a:schemeClr val="accent6"/>
              </a:solidFill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582233B2-755C-0618-0703-C50D7B15F963}"/>
              </a:ext>
            </a:extLst>
          </p:cNvPr>
          <p:cNvSpPr txBox="1"/>
          <p:nvPr/>
        </p:nvSpPr>
        <p:spPr>
          <a:xfrm>
            <a:off x="4579747" y="5975574"/>
            <a:ext cx="2370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2"/>
                </a:solidFill>
              </a:rPr>
              <a:t>3</a:t>
            </a:r>
            <a:r>
              <a:rPr kumimoji="1" lang="zh-TW" altLang="en-US" dirty="0">
                <a:solidFill>
                  <a:schemeClr val="accent2"/>
                </a:solidFill>
              </a:rPr>
              <a:t>號</a:t>
            </a:r>
            <a:r>
              <a:rPr kumimoji="1" lang="en-US" altLang="zh-TW" dirty="0">
                <a:solidFill>
                  <a:schemeClr val="accent2"/>
                </a:solidFill>
              </a:rPr>
              <a:t>node</a:t>
            </a:r>
            <a:r>
              <a:rPr kumimoji="1" lang="zh-TW" altLang="en-US" dirty="0"/>
              <a:t>帶有</a:t>
            </a:r>
            <a:r>
              <a:rPr kumimoji="1" lang="en-US" altLang="zh-TW" dirty="0">
                <a:solidFill>
                  <a:schemeClr val="accent6"/>
                </a:solidFill>
              </a:rPr>
              <a:t>4</a:t>
            </a:r>
            <a:r>
              <a:rPr kumimoji="1" lang="zh-TW" altLang="en-US" dirty="0">
                <a:solidFill>
                  <a:schemeClr val="accent6"/>
                </a:solidFill>
              </a:rPr>
              <a:t>號</a:t>
            </a:r>
            <a:r>
              <a:rPr kumimoji="1" lang="en-US" altLang="zh-TW" dirty="0">
                <a:solidFill>
                  <a:schemeClr val="accent6"/>
                </a:solidFill>
              </a:rPr>
              <a:t>node</a:t>
            </a:r>
            <a:r>
              <a:rPr kumimoji="1" lang="zh-TW" altLang="en-US" dirty="0"/>
              <a:t>和</a:t>
            </a:r>
            <a:r>
              <a:rPr kumimoji="1" lang="en-US" altLang="zh-TW" dirty="0">
                <a:solidFill>
                  <a:srgbClr val="FF0000"/>
                </a:solidFill>
              </a:rPr>
              <a:t>2</a:t>
            </a:r>
            <a:r>
              <a:rPr kumimoji="1" lang="zh-TW" altLang="en-US" dirty="0">
                <a:solidFill>
                  <a:srgbClr val="FF0000"/>
                </a:solidFill>
              </a:rPr>
              <a:t>號</a:t>
            </a:r>
            <a:r>
              <a:rPr kumimoji="1" lang="en-US" altLang="zh-TW" dirty="0">
                <a:solidFill>
                  <a:srgbClr val="FF0000"/>
                </a:solidFill>
              </a:rPr>
              <a:t>node</a:t>
            </a:r>
            <a:r>
              <a:rPr kumimoji="1" lang="zh-TW" altLang="en-US" dirty="0"/>
              <a:t>的資訊</a:t>
            </a:r>
          </a:p>
        </p:txBody>
      </p:sp>
      <p:cxnSp>
        <p:nvCxnSpPr>
          <p:cNvPr id="72" name="曲線接點 71">
            <a:extLst>
              <a:ext uri="{FF2B5EF4-FFF2-40B4-BE49-F238E27FC236}">
                <a16:creationId xmlns:a16="http://schemas.microsoft.com/office/drawing/2014/main" id="{AA550AEB-D847-9E06-9542-E49A8828DAA1}"/>
              </a:ext>
            </a:extLst>
          </p:cNvPr>
          <p:cNvCxnSpPr>
            <a:stCxn id="29" idx="0"/>
          </p:cNvCxnSpPr>
          <p:nvPr/>
        </p:nvCxnSpPr>
        <p:spPr>
          <a:xfrm rot="5400000" flipH="1" flipV="1">
            <a:off x="3146931" y="1616716"/>
            <a:ext cx="471437" cy="3664756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曲線接點 72">
            <a:extLst>
              <a:ext uri="{FF2B5EF4-FFF2-40B4-BE49-F238E27FC236}">
                <a16:creationId xmlns:a16="http://schemas.microsoft.com/office/drawing/2014/main" id="{B876AE4C-7CAC-4BD6-566B-BDB83BD5EAB5}"/>
              </a:ext>
            </a:extLst>
          </p:cNvPr>
          <p:cNvCxnSpPr>
            <a:cxnSpLocks/>
            <a:stCxn id="32" idx="0"/>
            <a:endCxn id="10" idx="0"/>
          </p:cNvCxnSpPr>
          <p:nvPr/>
        </p:nvCxnSpPr>
        <p:spPr>
          <a:xfrm rot="16200000" flipH="1">
            <a:off x="4026813" y="1401823"/>
            <a:ext cx="1126" cy="2660160"/>
          </a:xfrm>
          <a:prstGeom prst="curvedConnector3">
            <a:avLst>
              <a:gd name="adj1" fmla="val -203019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曲線接點 76">
            <a:extLst>
              <a:ext uri="{FF2B5EF4-FFF2-40B4-BE49-F238E27FC236}">
                <a16:creationId xmlns:a16="http://schemas.microsoft.com/office/drawing/2014/main" id="{6E914610-2AA8-F520-B1A2-FBE91D8D6CED}"/>
              </a:ext>
            </a:extLst>
          </p:cNvPr>
          <p:cNvCxnSpPr>
            <a:cxnSpLocks/>
            <a:stCxn id="8" idx="0"/>
            <a:endCxn id="50" idx="0"/>
          </p:cNvCxnSpPr>
          <p:nvPr/>
        </p:nvCxnSpPr>
        <p:spPr>
          <a:xfrm rot="5400000" flipH="1" flipV="1">
            <a:off x="7177621" y="1671267"/>
            <a:ext cx="52079" cy="3977265"/>
          </a:xfrm>
          <a:prstGeom prst="curvedConnector3">
            <a:avLst>
              <a:gd name="adj1" fmla="val 53894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CA2CCE4C-5A19-313A-1CC7-83A928BB0E4E}"/>
              </a:ext>
            </a:extLst>
          </p:cNvPr>
          <p:cNvSpPr txBox="1"/>
          <p:nvPr/>
        </p:nvSpPr>
        <p:spPr>
          <a:xfrm>
            <a:off x="8557012" y="5980533"/>
            <a:ext cx="2028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2</a:t>
            </a:r>
            <a:r>
              <a:rPr kumimoji="1" lang="zh-TW" altLang="en-US" dirty="0">
                <a:solidFill>
                  <a:srgbClr val="FF0000"/>
                </a:solidFill>
              </a:rPr>
              <a:t>號</a:t>
            </a:r>
            <a:r>
              <a:rPr kumimoji="1" lang="en-US" altLang="zh-TW" dirty="0">
                <a:solidFill>
                  <a:srgbClr val="FF0000"/>
                </a:solidFill>
              </a:rPr>
              <a:t>node</a:t>
            </a:r>
            <a:r>
              <a:rPr kumimoji="1" lang="zh-TW" altLang="en-US" dirty="0"/>
              <a:t>帶有</a:t>
            </a:r>
            <a:r>
              <a:rPr kumimoji="1" lang="en-US" altLang="zh-TW" dirty="0">
                <a:solidFill>
                  <a:schemeClr val="accent6"/>
                </a:solidFill>
              </a:rPr>
              <a:t>4</a:t>
            </a:r>
            <a:r>
              <a:rPr kumimoji="1" lang="zh-TW" altLang="en-US" dirty="0">
                <a:solidFill>
                  <a:schemeClr val="accent6"/>
                </a:solidFill>
              </a:rPr>
              <a:t>號</a:t>
            </a:r>
            <a:r>
              <a:rPr kumimoji="1" lang="en-US" altLang="zh-TW" dirty="0">
                <a:solidFill>
                  <a:schemeClr val="accent6"/>
                </a:solidFill>
              </a:rPr>
              <a:t>node</a:t>
            </a:r>
            <a:r>
              <a:rPr kumimoji="1" lang="zh-TW" altLang="en-US" dirty="0"/>
              <a:t>的資訊</a:t>
            </a:r>
          </a:p>
        </p:txBody>
      </p:sp>
    </p:spTree>
    <p:extLst>
      <p:ext uri="{BB962C8B-B14F-4D97-AF65-F5344CB8AC3E}">
        <p14:creationId xmlns:p14="http://schemas.microsoft.com/office/powerpoint/2010/main" val="130077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/>
      <p:bldP spid="70" grpId="0"/>
      <p:bldP spid="8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766F4D-194B-A9C7-5B94-1AE8A7952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Message Passing</a:t>
            </a:r>
            <a:r>
              <a:rPr kumimoji="1" lang="zh-TW" altLang="en-US" dirty="0"/>
              <a:t> 說明範例</a:t>
            </a:r>
            <a:r>
              <a:rPr kumimoji="1" lang="en-US" altLang="zh-TW" dirty="0"/>
              <a:t> (2)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1C76A82-5139-15C7-90BE-3A79148E1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A8E1FB93-F60B-1625-2A2B-A12C0CE32722}"/>
              </a:ext>
            </a:extLst>
          </p:cNvPr>
          <p:cNvGrpSpPr/>
          <p:nvPr/>
        </p:nvGrpSpPr>
        <p:grpSpPr>
          <a:xfrm>
            <a:off x="4126721" y="2108091"/>
            <a:ext cx="3154534" cy="3787974"/>
            <a:chOff x="1065788" y="1351516"/>
            <a:chExt cx="3154534" cy="3787974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8AC1FC39-901F-E473-B35D-3F16C69AD72C}"/>
                </a:ext>
              </a:extLst>
            </p:cNvPr>
            <p:cNvSpPr/>
            <p:nvPr/>
          </p:nvSpPr>
          <p:spPr>
            <a:xfrm>
              <a:off x="2257571" y="3759938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0B360D6-DC81-C5A3-91AF-E3165EF3C037}"/>
                </a:ext>
              </a:extLst>
            </p:cNvPr>
            <p:cNvSpPr/>
            <p:nvPr/>
          </p:nvSpPr>
          <p:spPr>
            <a:xfrm>
              <a:off x="1878841" y="2929363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00E8EBB6-670E-CFBF-E629-73656DD8060C}"/>
                </a:ext>
              </a:extLst>
            </p:cNvPr>
            <p:cNvSpPr/>
            <p:nvPr/>
          </p:nvSpPr>
          <p:spPr>
            <a:xfrm>
              <a:off x="2883438" y="2929363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5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6D9EA9F9-F09A-0ACB-0575-3F5F4F7F2F06}"/>
                </a:ext>
              </a:extLst>
            </p:cNvPr>
            <p:cNvSpPr/>
            <p:nvPr/>
          </p:nvSpPr>
          <p:spPr>
            <a:xfrm>
              <a:off x="2021269" y="1975891"/>
              <a:ext cx="550507" cy="550507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F9C149E1-C27C-DF1C-1434-AA55D9DE776B}"/>
                </a:ext>
              </a:extLst>
            </p:cNvPr>
            <p:cNvSpPr/>
            <p:nvPr/>
          </p:nvSpPr>
          <p:spPr>
            <a:xfrm>
              <a:off x="3025866" y="1975891"/>
              <a:ext cx="550507" cy="550507"/>
            </a:xfrm>
            <a:prstGeom prst="ellipse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4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1941E4F7-8239-8DAB-6DAA-7D0C18166660}"/>
                </a:ext>
              </a:extLst>
            </p:cNvPr>
            <p:cNvSpPr/>
            <p:nvPr/>
          </p:nvSpPr>
          <p:spPr>
            <a:xfrm>
              <a:off x="3576373" y="1351516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6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C9A1A9A0-EF35-12DD-FDFE-ED36C8D7628B}"/>
                </a:ext>
              </a:extLst>
            </p:cNvPr>
            <p:cNvCxnSpPr>
              <a:stCxn id="12" idx="3"/>
              <a:endCxn id="11" idx="7"/>
            </p:cNvCxnSpPr>
            <p:nvPr/>
          </p:nvCxnSpPr>
          <p:spPr>
            <a:xfrm flipH="1">
              <a:off x="3495753" y="1821403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E1A4AB16-5C41-4CD5-2380-E508B89A9CB4}"/>
                </a:ext>
              </a:extLst>
            </p:cNvPr>
            <p:cNvCxnSpPr>
              <a:cxnSpLocks/>
              <a:stCxn id="11" idx="2"/>
              <a:endCxn id="10" idx="6"/>
            </p:cNvCxnSpPr>
            <p:nvPr/>
          </p:nvCxnSpPr>
          <p:spPr>
            <a:xfrm flipH="1">
              <a:off x="2571776" y="2251145"/>
              <a:ext cx="45409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191B88C7-B3BF-1B05-CE65-EB6D02AF766E}"/>
                </a:ext>
              </a:extLst>
            </p:cNvPr>
            <p:cNvCxnSpPr>
              <a:cxnSpLocks/>
              <a:stCxn id="9" idx="2"/>
              <a:endCxn id="8" idx="6"/>
            </p:cNvCxnSpPr>
            <p:nvPr/>
          </p:nvCxnSpPr>
          <p:spPr>
            <a:xfrm flipH="1">
              <a:off x="2429348" y="3204617"/>
              <a:ext cx="45409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210FAB55-CAC1-7363-C9E8-1D20049055B4}"/>
                </a:ext>
              </a:extLst>
            </p:cNvPr>
            <p:cNvCxnSpPr>
              <a:cxnSpLocks/>
              <a:stCxn id="9" idx="0"/>
              <a:endCxn id="11" idx="4"/>
            </p:cNvCxnSpPr>
            <p:nvPr/>
          </p:nvCxnSpPr>
          <p:spPr>
            <a:xfrm flipV="1">
              <a:off x="3158692" y="2526398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05F70D2F-240F-2711-33E6-4BD14ECAF1EF}"/>
                </a:ext>
              </a:extLst>
            </p:cNvPr>
            <p:cNvCxnSpPr>
              <a:cxnSpLocks/>
              <a:stCxn id="8" idx="0"/>
              <a:endCxn id="10" idx="4"/>
            </p:cNvCxnSpPr>
            <p:nvPr/>
          </p:nvCxnSpPr>
          <p:spPr>
            <a:xfrm flipV="1">
              <a:off x="2154095" y="2526398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2F60AF2A-1FAC-7654-1552-31602F003FDB}"/>
                </a:ext>
              </a:extLst>
            </p:cNvPr>
            <p:cNvCxnSpPr>
              <a:cxnSpLocks/>
              <a:stCxn id="7" idx="7"/>
              <a:endCxn id="9" idx="3"/>
            </p:cNvCxnSpPr>
            <p:nvPr/>
          </p:nvCxnSpPr>
          <p:spPr>
            <a:xfrm flipV="1">
              <a:off x="2727458" y="3399250"/>
              <a:ext cx="236600" cy="4413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>
              <a:extLst>
                <a:ext uri="{FF2B5EF4-FFF2-40B4-BE49-F238E27FC236}">
                  <a16:creationId xmlns:a16="http://schemas.microsoft.com/office/drawing/2014/main" id="{F8FF7817-C331-2D59-42D6-65C42D7E4A79}"/>
                </a:ext>
              </a:extLst>
            </p:cNvPr>
            <p:cNvCxnSpPr>
              <a:cxnSpLocks/>
              <a:stCxn id="8" idx="4"/>
              <a:endCxn id="7" idx="1"/>
            </p:cNvCxnSpPr>
            <p:nvPr/>
          </p:nvCxnSpPr>
          <p:spPr>
            <a:xfrm>
              <a:off x="2154095" y="3479870"/>
              <a:ext cx="184096" cy="36068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8889D0BB-E63E-32B2-E708-173BCD78E10C}"/>
                    </a:ext>
                  </a:extLst>
                </p:cNvPr>
                <p:cNvSpPr txBox="1"/>
                <p:nvPr/>
              </p:nvSpPr>
              <p:spPr>
                <a:xfrm>
                  <a:off x="1561667" y="3811259"/>
                  <a:ext cx="919203" cy="4131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8889D0BB-E63E-32B2-E708-173BCD78E1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1667" y="3811259"/>
                  <a:ext cx="919203" cy="41319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FDEFEC1D-8184-5096-3A33-BB461EDF574B}"/>
                    </a:ext>
                  </a:extLst>
                </p:cNvPr>
                <p:cNvSpPr txBox="1"/>
                <p:nvPr/>
              </p:nvSpPr>
              <p:spPr>
                <a:xfrm>
                  <a:off x="1065788" y="2987599"/>
                  <a:ext cx="919203" cy="4116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FDEFEC1D-8184-5096-3A33-BB461EDF57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788" y="2987599"/>
                  <a:ext cx="919203" cy="41165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3C873356-7691-C7EE-6EBA-FC4547D3CA13}"/>
                    </a:ext>
                  </a:extLst>
                </p:cNvPr>
                <p:cNvSpPr txBox="1"/>
                <p:nvPr/>
              </p:nvSpPr>
              <p:spPr>
                <a:xfrm>
                  <a:off x="3180531" y="3006458"/>
                  <a:ext cx="919203" cy="4186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3C873356-7691-C7EE-6EBA-FC4547D3CA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0531" y="3006458"/>
                  <a:ext cx="919203" cy="418641"/>
                </a:xfrm>
                <a:prstGeom prst="rect">
                  <a:avLst/>
                </a:prstGeom>
                <a:blipFill>
                  <a:blip r:embed="rId5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6EEBC385-15D9-E862-1525-072CE1B5D743}"/>
                    </a:ext>
                  </a:extLst>
                </p:cNvPr>
                <p:cNvSpPr txBox="1"/>
                <p:nvPr/>
              </p:nvSpPr>
              <p:spPr>
                <a:xfrm>
                  <a:off x="3301119" y="2055865"/>
                  <a:ext cx="919203" cy="4138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6EEBC385-15D9-E862-1525-072CE1B5D7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1119" y="2055865"/>
                  <a:ext cx="919203" cy="413896"/>
                </a:xfrm>
                <a:prstGeom prst="rect">
                  <a:avLst/>
                </a:prstGeom>
                <a:blipFill>
                  <a:blip r:embed="rId6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E38C0EE3-6AC6-4305-9620-0574DE37A662}"/>
                    </a:ext>
                  </a:extLst>
                </p:cNvPr>
                <p:cNvSpPr txBox="1"/>
                <p:nvPr/>
              </p:nvSpPr>
              <p:spPr>
                <a:xfrm>
                  <a:off x="2970027" y="1399902"/>
                  <a:ext cx="919203" cy="4110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E38C0EE3-6AC6-4305-9620-0574DE37A6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0027" y="1399902"/>
                  <a:ext cx="919203" cy="411010"/>
                </a:xfrm>
                <a:prstGeom prst="rect">
                  <a:avLst/>
                </a:prstGeom>
                <a:blipFill>
                  <a:blip r:embed="rId7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38093DFD-2688-4265-AEAE-C1CC42FAA6D1}"/>
                    </a:ext>
                  </a:extLst>
                </p:cNvPr>
                <p:cNvSpPr txBox="1"/>
                <p:nvPr/>
              </p:nvSpPr>
              <p:spPr>
                <a:xfrm>
                  <a:off x="1293287" y="2046275"/>
                  <a:ext cx="919203" cy="4116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38093DFD-2688-4265-AEAE-C1CC42FAA6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3287" y="2046275"/>
                  <a:ext cx="919203" cy="411651"/>
                </a:xfrm>
                <a:prstGeom prst="rect">
                  <a:avLst/>
                </a:prstGeom>
                <a:blipFill>
                  <a:blip r:embed="rId8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D135C130-9E11-17D9-FAC2-6814662E2C90}"/>
                    </a:ext>
                  </a:extLst>
                </p:cNvPr>
                <p:cNvSpPr txBox="1"/>
                <p:nvPr/>
              </p:nvSpPr>
              <p:spPr>
                <a:xfrm>
                  <a:off x="1898879" y="4770158"/>
                  <a:ext cx="15150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TW" dirty="0"/>
                    <a:t>(</a:t>
                  </a:r>
                  <a:r>
                    <a:rPr kumimoji="1" lang="zh-TW" altLang="en-US" dirty="0"/>
                    <a:t>第 </a:t>
                  </a:r>
                  <a14:m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a14:m>
                  <a:r>
                    <a:rPr kumimoji="1" lang="zh-TW" altLang="en-US" dirty="0"/>
                    <a:t> 層</a:t>
                  </a:r>
                  <a:r>
                    <a:rPr kumimoji="1" lang="en-US" altLang="zh-TW" dirty="0"/>
                    <a:t>)</a:t>
                  </a:r>
                  <a:endParaRPr kumimoji="1" lang="zh-TW" altLang="en-US" dirty="0"/>
                </a:p>
              </p:txBody>
            </p:sp>
          </mc:Choice>
          <mc:Fallback xmlns="">
            <p:sp>
              <p:nvSpPr>
                <p:cNvPr id="26" name="文字方塊 25">
                  <a:extLst>
                    <a:ext uri="{FF2B5EF4-FFF2-40B4-BE49-F238E27FC236}">
                      <a16:creationId xmlns:a16="http://schemas.microsoft.com/office/drawing/2014/main" id="{D135C130-9E11-17D9-FAC2-6814662E2C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8879" y="4770158"/>
                  <a:ext cx="1515028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3333" t="-10000" b="-2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D67792AA-CDB5-E07A-B39F-3AF05DC9B323}"/>
              </a:ext>
            </a:extLst>
          </p:cNvPr>
          <p:cNvGrpSpPr/>
          <p:nvPr/>
        </p:nvGrpSpPr>
        <p:grpSpPr>
          <a:xfrm>
            <a:off x="554278" y="2106965"/>
            <a:ext cx="3062220" cy="3789100"/>
            <a:chOff x="1158102" y="3868411"/>
            <a:chExt cx="3062220" cy="3789100"/>
          </a:xfrm>
        </p:grpSpPr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055FB859-DBBE-ECBF-17B3-DFDFE1AD5CDF}"/>
                </a:ext>
              </a:extLst>
            </p:cNvPr>
            <p:cNvSpPr/>
            <p:nvPr/>
          </p:nvSpPr>
          <p:spPr>
            <a:xfrm>
              <a:off x="2257571" y="6276833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BDB8087D-3AE9-9B32-1BD3-4E15EBD2C3DD}"/>
                </a:ext>
              </a:extLst>
            </p:cNvPr>
            <p:cNvSpPr/>
            <p:nvPr/>
          </p:nvSpPr>
          <p:spPr>
            <a:xfrm>
              <a:off x="1878841" y="5446258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01940F3E-5F2F-473E-8B0D-CAA4207A8CAA}"/>
                </a:ext>
              </a:extLst>
            </p:cNvPr>
            <p:cNvSpPr/>
            <p:nvPr/>
          </p:nvSpPr>
          <p:spPr>
            <a:xfrm>
              <a:off x="2883438" y="5446258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5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E918B8C6-5BFA-6968-FE78-522E2B37543A}"/>
                </a:ext>
              </a:extLst>
            </p:cNvPr>
            <p:cNvSpPr/>
            <p:nvPr/>
          </p:nvSpPr>
          <p:spPr>
            <a:xfrm>
              <a:off x="2021269" y="4492786"/>
              <a:ext cx="550507" cy="550507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22CD1BFF-496A-CF39-0BC1-C11926C5B1F7}"/>
                </a:ext>
              </a:extLst>
            </p:cNvPr>
            <p:cNvSpPr/>
            <p:nvPr/>
          </p:nvSpPr>
          <p:spPr>
            <a:xfrm>
              <a:off x="3025866" y="4492786"/>
              <a:ext cx="550507" cy="550507"/>
            </a:xfrm>
            <a:prstGeom prst="ellipse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4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95CAA4A4-09D6-F461-E629-5810CB977160}"/>
                </a:ext>
              </a:extLst>
            </p:cNvPr>
            <p:cNvSpPr/>
            <p:nvPr/>
          </p:nvSpPr>
          <p:spPr>
            <a:xfrm>
              <a:off x="3576373" y="3868411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6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EEE8A1C6-CF04-7AB9-7822-9490FB5FFA51}"/>
                </a:ext>
              </a:extLst>
            </p:cNvPr>
            <p:cNvCxnSpPr>
              <a:stCxn id="33" idx="3"/>
              <a:endCxn id="32" idx="7"/>
            </p:cNvCxnSpPr>
            <p:nvPr/>
          </p:nvCxnSpPr>
          <p:spPr>
            <a:xfrm flipH="1">
              <a:off x="3495753" y="433829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線接點 34">
              <a:extLst>
                <a:ext uri="{FF2B5EF4-FFF2-40B4-BE49-F238E27FC236}">
                  <a16:creationId xmlns:a16="http://schemas.microsoft.com/office/drawing/2014/main" id="{0F69EAD3-1392-9870-4942-6B49ED7A67B9}"/>
                </a:ext>
              </a:extLst>
            </p:cNvPr>
            <p:cNvCxnSpPr>
              <a:cxnSpLocks/>
              <a:stCxn id="32" idx="2"/>
              <a:endCxn id="31" idx="6"/>
            </p:cNvCxnSpPr>
            <p:nvPr/>
          </p:nvCxnSpPr>
          <p:spPr>
            <a:xfrm flipH="1">
              <a:off x="2571776" y="4768040"/>
              <a:ext cx="45409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D6765E54-B95D-0AED-475F-55E5F48583AE}"/>
                </a:ext>
              </a:extLst>
            </p:cNvPr>
            <p:cNvCxnSpPr>
              <a:cxnSpLocks/>
              <a:stCxn id="30" idx="2"/>
              <a:endCxn id="29" idx="6"/>
            </p:cNvCxnSpPr>
            <p:nvPr/>
          </p:nvCxnSpPr>
          <p:spPr>
            <a:xfrm flipH="1">
              <a:off x="2429348" y="5721512"/>
              <a:ext cx="45409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99878ADE-7C21-87B4-468E-9D46C154F06E}"/>
                </a:ext>
              </a:extLst>
            </p:cNvPr>
            <p:cNvCxnSpPr>
              <a:cxnSpLocks/>
              <a:stCxn id="30" idx="0"/>
              <a:endCxn id="32" idx="4"/>
            </p:cNvCxnSpPr>
            <p:nvPr/>
          </p:nvCxnSpPr>
          <p:spPr>
            <a:xfrm flipV="1">
              <a:off x="3158692" y="504329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線接點 37">
              <a:extLst>
                <a:ext uri="{FF2B5EF4-FFF2-40B4-BE49-F238E27FC236}">
                  <a16:creationId xmlns:a16="http://schemas.microsoft.com/office/drawing/2014/main" id="{6149665A-EB66-DCC7-76CC-0518EAFB32DC}"/>
                </a:ext>
              </a:extLst>
            </p:cNvPr>
            <p:cNvCxnSpPr>
              <a:cxnSpLocks/>
              <a:stCxn id="29" idx="0"/>
              <a:endCxn id="31" idx="4"/>
            </p:cNvCxnSpPr>
            <p:nvPr/>
          </p:nvCxnSpPr>
          <p:spPr>
            <a:xfrm flipV="1">
              <a:off x="2154095" y="504329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>
              <a:extLst>
                <a:ext uri="{FF2B5EF4-FFF2-40B4-BE49-F238E27FC236}">
                  <a16:creationId xmlns:a16="http://schemas.microsoft.com/office/drawing/2014/main" id="{9DA26703-F144-EF32-3416-4551787C75E5}"/>
                </a:ext>
              </a:extLst>
            </p:cNvPr>
            <p:cNvCxnSpPr>
              <a:cxnSpLocks/>
              <a:stCxn id="28" idx="7"/>
              <a:endCxn id="30" idx="3"/>
            </p:cNvCxnSpPr>
            <p:nvPr/>
          </p:nvCxnSpPr>
          <p:spPr>
            <a:xfrm flipV="1">
              <a:off x="2727458" y="5916145"/>
              <a:ext cx="236600" cy="4413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42C8E27F-B734-4172-3FA8-3E050B118D80}"/>
                </a:ext>
              </a:extLst>
            </p:cNvPr>
            <p:cNvCxnSpPr>
              <a:cxnSpLocks/>
              <a:stCxn id="29" idx="4"/>
              <a:endCxn id="28" idx="1"/>
            </p:cNvCxnSpPr>
            <p:nvPr/>
          </p:nvCxnSpPr>
          <p:spPr>
            <a:xfrm>
              <a:off x="2154095" y="5996765"/>
              <a:ext cx="184096" cy="36068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0BBF5705-6CB1-3B90-8E5B-066F1DE2FF74}"/>
                    </a:ext>
                  </a:extLst>
                </p:cNvPr>
                <p:cNvSpPr txBox="1"/>
                <p:nvPr/>
              </p:nvSpPr>
              <p:spPr>
                <a:xfrm>
                  <a:off x="1561667" y="6328154"/>
                  <a:ext cx="919203" cy="4131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1" name="文字方塊 40">
                  <a:extLst>
                    <a:ext uri="{FF2B5EF4-FFF2-40B4-BE49-F238E27FC236}">
                      <a16:creationId xmlns:a16="http://schemas.microsoft.com/office/drawing/2014/main" id="{0BBF5705-6CB1-3B90-8E5B-066F1DE2FF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1667" y="6328154"/>
                  <a:ext cx="919203" cy="41319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844C010E-1134-A3BF-F701-A572C47243E4}"/>
                    </a:ext>
                  </a:extLst>
                </p:cNvPr>
                <p:cNvSpPr txBox="1"/>
                <p:nvPr/>
              </p:nvSpPr>
              <p:spPr>
                <a:xfrm>
                  <a:off x="1158102" y="5533039"/>
                  <a:ext cx="919203" cy="4116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844C010E-1134-A3BF-F701-A572C47243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8102" y="5533039"/>
                  <a:ext cx="919203" cy="411651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0D4D0E7D-1D81-04E9-8118-8E75A6A0A45A}"/>
                    </a:ext>
                  </a:extLst>
                </p:cNvPr>
                <p:cNvSpPr txBox="1"/>
                <p:nvPr/>
              </p:nvSpPr>
              <p:spPr>
                <a:xfrm>
                  <a:off x="3180531" y="5523353"/>
                  <a:ext cx="919203" cy="4186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0D4D0E7D-1D81-04E9-8118-8E75A6A0A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0531" y="5523353"/>
                  <a:ext cx="919203" cy="418641"/>
                </a:xfrm>
                <a:prstGeom prst="rect">
                  <a:avLst/>
                </a:prstGeom>
                <a:blipFill>
                  <a:blip r:embed="rId12"/>
                  <a:stretch>
                    <a:fillRect b="-294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DEA7F626-1A38-C451-20E3-9F2EDB7058A9}"/>
                    </a:ext>
                  </a:extLst>
                </p:cNvPr>
                <p:cNvSpPr txBox="1"/>
                <p:nvPr/>
              </p:nvSpPr>
              <p:spPr>
                <a:xfrm>
                  <a:off x="3301119" y="4572760"/>
                  <a:ext cx="919203" cy="4138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4" name="文字方塊 43">
                  <a:extLst>
                    <a:ext uri="{FF2B5EF4-FFF2-40B4-BE49-F238E27FC236}">
                      <a16:creationId xmlns:a16="http://schemas.microsoft.com/office/drawing/2014/main" id="{DEA7F626-1A38-C451-20E3-9F2EDB7058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1119" y="4572760"/>
                  <a:ext cx="919203" cy="413896"/>
                </a:xfrm>
                <a:prstGeom prst="rect">
                  <a:avLst/>
                </a:prstGeom>
                <a:blipFill>
                  <a:blip r:embed="rId1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32927DF1-9A4C-1AFC-D10F-5CB513EA48BE}"/>
                    </a:ext>
                  </a:extLst>
                </p:cNvPr>
                <p:cNvSpPr txBox="1"/>
                <p:nvPr/>
              </p:nvSpPr>
              <p:spPr>
                <a:xfrm>
                  <a:off x="2914041" y="3906283"/>
                  <a:ext cx="919203" cy="4110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文字方塊 44">
                  <a:extLst>
                    <a:ext uri="{FF2B5EF4-FFF2-40B4-BE49-F238E27FC236}">
                      <a16:creationId xmlns:a16="http://schemas.microsoft.com/office/drawing/2014/main" id="{32927DF1-9A4C-1AFC-D10F-5CB513EA48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4041" y="3906283"/>
                  <a:ext cx="919203" cy="411010"/>
                </a:xfrm>
                <a:prstGeom prst="rect">
                  <a:avLst/>
                </a:prstGeom>
                <a:blipFill>
                  <a:blip r:embed="rId14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E4E095DC-5060-B644-1792-FB673E64D28D}"/>
                    </a:ext>
                  </a:extLst>
                </p:cNvPr>
                <p:cNvSpPr txBox="1"/>
                <p:nvPr/>
              </p:nvSpPr>
              <p:spPr>
                <a:xfrm>
                  <a:off x="1367934" y="4563170"/>
                  <a:ext cx="919203" cy="4116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E4E095DC-5060-B644-1792-FB673E64D2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7934" y="4563170"/>
                  <a:ext cx="919203" cy="411651"/>
                </a:xfrm>
                <a:prstGeom prst="rect">
                  <a:avLst/>
                </a:prstGeom>
                <a:blipFill>
                  <a:blip r:embed="rId15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15D12D27-3036-EE2F-D10E-B00ED6FE4EF1}"/>
                    </a:ext>
                  </a:extLst>
                </p:cNvPr>
                <p:cNvSpPr txBox="1"/>
                <p:nvPr/>
              </p:nvSpPr>
              <p:spPr>
                <a:xfrm>
                  <a:off x="2098943" y="7288179"/>
                  <a:ext cx="12746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TW" dirty="0"/>
                    <a:t>(</a:t>
                  </a:r>
                  <a:r>
                    <a:rPr kumimoji="1" lang="zh-TW" altLang="en-US" dirty="0"/>
                    <a:t>第 </a:t>
                  </a:r>
                  <a14:m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a14:m>
                  <a:r>
                    <a:rPr kumimoji="1" lang="zh-TW" altLang="en-US" dirty="0"/>
                    <a:t> 層</a:t>
                  </a:r>
                  <a:r>
                    <a:rPr kumimoji="1" lang="en-US" altLang="zh-TW" dirty="0"/>
                    <a:t>)</a:t>
                  </a:r>
                  <a:endParaRPr kumimoji="1" lang="zh-TW" altLang="en-US" dirty="0"/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15D12D27-3036-EE2F-D10E-B00ED6FE4E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8943" y="7288179"/>
                  <a:ext cx="1274699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3960" t="-10000" b="-2000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550B6395-B980-EC3E-044E-38428409924F}"/>
              </a:ext>
            </a:extLst>
          </p:cNvPr>
          <p:cNvGrpSpPr/>
          <p:nvPr/>
        </p:nvGrpSpPr>
        <p:grpSpPr>
          <a:xfrm>
            <a:off x="8125469" y="2056012"/>
            <a:ext cx="3133051" cy="3787974"/>
            <a:chOff x="1087271" y="1351516"/>
            <a:chExt cx="3133051" cy="3787974"/>
          </a:xfrm>
        </p:grpSpPr>
        <p:sp>
          <p:nvSpPr>
            <p:cNvPr id="49" name="橢圓 48">
              <a:extLst>
                <a:ext uri="{FF2B5EF4-FFF2-40B4-BE49-F238E27FC236}">
                  <a16:creationId xmlns:a16="http://schemas.microsoft.com/office/drawing/2014/main" id="{A5C9D014-4235-B665-6B0A-4A2CE053D7D3}"/>
                </a:ext>
              </a:extLst>
            </p:cNvPr>
            <p:cNvSpPr/>
            <p:nvPr/>
          </p:nvSpPr>
          <p:spPr>
            <a:xfrm>
              <a:off x="2257571" y="3759938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0" name="橢圓 49">
              <a:extLst>
                <a:ext uri="{FF2B5EF4-FFF2-40B4-BE49-F238E27FC236}">
                  <a16:creationId xmlns:a16="http://schemas.microsoft.com/office/drawing/2014/main" id="{190F5E5E-1FD1-5C8B-7ACF-3CFB9AEB7108}"/>
                </a:ext>
              </a:extLst>
            </p:cNvPr>
            <p:cNvSpPr/>
            <p:nvPr/>
          </p:nvSpPr>
          <p:spPr>
            <a:xfrm>
              <a:off x="1878841" y="2929363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2223E98A-3137-AF8A-A94C-EB250452E8B7}"/>
                </a:ext>
              </a:extLst>
            </p:cNvPr>
            <p:cNvSpPr/>
            <p:nvPr/>
          </p:nvSpPr>
          <p:spPr>
            <a:xfrm>
              <a:off x="2883438" y="2929363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5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14656B53-E5DD-1101-6D98-B138CD9DC810}"/>
                </a:ext>
              </a:extLst>
            </p:cNvPr>
            <p:cNvSpPr/>
            <p:nvPr/>
          </p:nvSpPr>
          <p:spPr>
            <a:xfrm>
              <a:off x="2021269" y="1975891"/>
              <a:ext cx="550507" cy="550507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35448697-9D49-C706-61F1-BCF380AABFF6}"/>
                </a:ext>
              </a:extLst>
            </p:cNvPr>
            <p:cNvSpPr/>
            <p:nvPr/>
          </p:nvSpPr>
          <p:spPr>
            <a:xfrm>
              <a:off x="3025866" y="1975891"/>
              <a:ext cx="550507" cy="550507"/>
            </a:xfrm>
            <a:prstGeom prst="ellipse">
              <a:avLst/>
            </a:prstGeom>
            <a:noFill/>
            <a:ln w="28575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4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33CF589D-EE09-D11B-5F2F-73045829FC73}"/>
                </a:ext>
              </a:extLst>
            </p:cNvPr>
            <p:cNvSpPr/>
            <p:nvPr/>
          </p:nvSpPr>
          <p:spPr>
            <a:xfrm>
              <a:off x="3576373" y="1351516"/>
              <a:ext cx="550507" cy="550507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6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55" name="直線接點 54">
              <a:extLst>
                <a:ext uri="{FF2B5EF4-FFF2-40B4-BE49-F238E27FC236}">
                  <a16:creationId xmlns:a16="http://schemas.microsoft.com/office/drawing/2014/main" id="{C41A9DDF-9D2A-4C96-1CD1-E06204EAC67F}"/>
                </a:ext>
              </a:extLst>
            </p:cNvPr>
            <p:cNvCxnSpPr>
              <a:stCxn id="54" idx="3"/>
              <a:endCxn id="53" idx="7"/>
            </p:cNvCxnSpPr>
            <p:nvPr/>
          </p:nvCxnSpPr>
          <p:spPr>
            <a:xfrm flipH="1">
              <a:off x="3495753" y="1821403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>
              <a:extLst>
                <a:ext uri="{FF2B5EF4-FFF2-40B4-BE49-F238E27FC236}">
                  <a16:creationId xmlns:a16="http://schemas.microsoft.com/office/drawing/2014/main" id="{8890AE13-C9F0-2C21-1B2C-F7CEF73BA1AD}"/>
                </a:ext>
              </a:extLst>
            </p:cNvPr>
            <p:cNvCxnSpPr>
              <a:cxnSpLocks/>
              <a:stCxn id="53" idx="2"/>
              <a:endCxn id="52" idx="6"/>
            </p:cNvCxnSpPr>
            <p:nvPr/>
          </p:nvCxnSpPr>
          <p:spPr>
            <a:xfrm flipH="1">
              <a:off x="2571776" y="2251145"/>
              <a:ext cx="45409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E35603A5-147E-D4D0-FEC5-0479EB738D13}"/>
                </a:ext>
              </a:extLst>
            </p:cNvPr>
            <p:cNvCxnSpPr>
              <a:cxnSpLocks/>
              <a:stCxn id="51" idx="2"/>
              <a:endCxn id="50" idx="6"/>
            </p:cNvCxnSpPr>
            <p:nvPr/>
          </p:nvCxnSpPr>
          <p:spPr>
            <a:xfrm flipH="1">
              <a:off x="2429348" y="3204617"/>
              <a:ext cx="454090" cy="0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接點 57">
              <a:extLst>
                <a:ext uri="{FF2B5EF4-FFF2-40B4-BE49-F238E27FC236}">
                  <a16:creationId xmlns:a16="http://schemas.microsoft.com/office/drawing/2014/main" id="{3F1282E5-760B-3B16-F28F-F8BB84E20F1D}"/>
                </a:ext>
              </a:extLst>
            </p:cNvPr>
            <p:cNvCxnSpPr>
              <a:cxnSpLocks/>
              <a:stCxn id="51" idx="0"/>
              <a:endCxn id="53" idx="4"/>
            </p:cNvCxnSpPr>
            <p:nvPr/>
          </p:nvCxnSpPr>
          <p:spPr>
            <a:xfrm flipV="1">
              <a:off x="3158692" y="2526398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接點 58">
              <a:extLst>
                <a:ext uri="{FF2B5EF4-FFF2-40B4-BE49-F238E27FC236}">
                  <a16:creationId xmlns:a16="http://schemas.microsoft.com/office/drawing/2014/main" id="{FFE51506-DA8E-B973-706B-A1DD4628ADA5}"/>
                </a:ext>
              </a:extLst>
            </p:cNvPr>
            <p:cNvCxnSpPr>
              <a:cxnSpLocks/>
              <a:stCxn id="50" idx="0"/>
              <a:endCxn id="52" idx="4"/>
            </p:cNvCxnSpPr>
            <p:nvPr/>
          </p:nvCxnSpPr>
          <p:spPr>
            <a:xfrm flipV="1">
              <a:off x="2154095" y="2526398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接點 59">
              <a:extLst>
                <a:ext uri="{FF2B5EF4-FFF2-40B4-BE49-F238E27FC236}">
                  <a16:creationId xmlns:a16="http://schemas.microsoft.com/office/drawing/2014/main" id="{60CB6CEA-0CF1-569A-EA10-D3047AF7AC95}"/>
                </a:ext>
              </a:extLst>
            </p:cNvPr>
            <p:cNvCxnSpPr>
              <a:cxnSpLocks/>
              <a:stCxn id="49" idx="7"/>
              <a:endCxn id="51" idx="3"/>
            </p:cNvCxnSpPr>
            <p:nvPr/>
          </p:nvCxnSpPr>
          <p:spPr>
            <a:xfrm flipV="1">
              <a:off x="2727458" y="3399250"/>
              <a:ext cx="236600" cy="4413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線接點 60">
              <a:extLst>
                <a:ext uri="{FF2B5EF4-FFF2-40B4-BE49-F238E27FC236}">
                  <a16:creationId xmlns:a16="http://schemas.microsoft.com/office/drawing/2014/main" id="{6183A21D-4046-8180-0B5C-3ECA06936E95}"/>
                </a:ext>
              </a:extLst>
            </p:cNvPr>
            <p:cNvCxnSpPr>
              <a:cxnSpLocks/>
              <a:stCxn id="50" idx="4"/>
              <a:endCxn id="49" idx="1"/>
            </p:cNvCxnSpPr>
            <p:nvPr/>
          </p:nvCxnSpPr>
          <p:spPr>
            <a:xfrm>
              <a:off x="2154095" y="3479870"/>
              <a:ext cx="184096" cy="36068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09AE9870-2C05-C77A-A2BB-FE08E2DF02F9}"/>
                    </a:ext>
                  </a:extLst>
                </p:cNvPr>
                <p:cNvSpPr txBox="1"/>
                <p:nvPr/>
              </p:nvSpPr>
              <p:spPr>
                <a:xfrm>
                  <a:off x="1561667" y="3811259"/>
                  <a:ext cx="919203" cy="41319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09AE9870-2C05-C77A-A2BB-FE08E2DF02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61667" y="3811259"/>
                  <a:ext cx="919203" cy="41319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ACEB05D2-4BBE-3052-B3A2-340F2A320161}"/>
                    </a:ext>
                  </a:extLst>
                </p:cNvPr>
                <p:cNvSpPr txBox="1"/>
                <p:nvPr/>
              </p:nvSpPr>
              <p:spPr>
                <a:xfrm>
                  <a:off x="1087271" y="2996882"/>
                  <a:ext cx="919203" cy="4116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ACEB05D2-4BBE-3052-B3A2-340F2A3201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271" y="2996882"/>
                  <a:ext cx="919203" cy="411651"/>
                </a:xfrm>
                <a:prstGeom prst="rect">
                  <a:avLst/>
                </a:prstGeom>
                <a:blipFill>
                  <a:blip r:embed="rId18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1E2A6B1B-9B35-0550-2508-AD834E9C7ED9}"/>
                    </a:ext>
                  </a:extLst>
                </p:cNvPr>
                <p:cNvSpPr txBox="1"/>
                <p:nvPr/>
              </p:nvSpPr>
              <p:spPr>
                <a:xfrm>
                  <a:off x="3180531" y="3006458"/>
                  <a:ext cx="919203" cy="41864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文字方塊 63">
                  <a:extLst>
                    <a:ext uri="{FF2B5EF4-FFF2-40B4-BE49-F238E27FC236}">
                      <a16:creationId xmlns:a16="http://schemas.microsoft.com/office/drawing/2014/main" id="{1E2A6B1B-9B35-0550-2508-AD834E9C7E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80531" y="3006458"/>
                  <a:ext cx="919203" cy="418641"/>
                </a:xfrm>
                <a:prstGeom prst="rect">
                  <a:avLst/>
                </a:prstGeom>
                <a:blipFill>
                  <a:blip r:embed="rId19"/>
                  <a:stretch>
                    <a:fillRect b="-606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459AAF52-5117-A347-3E8A-D92EB8FDC99E}"/>
                    </a:ext>
                  </a:extLst>
                </p:cNvPr>
                <p:cNvSpPr txBox="1"/>
                <p:nvPr/>
              </p:nvSpPr>
              <p:spPr>
                <a:xfrm>
                  <a:off x="3301119" y="2055865"/>
                  <a:ext cx="919203" cy="41389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文字方塊 64">
                  <a:extLst>
                    <a:ext uri="{FF2B5EF4-FFF2-40B4-BE49-F238E27FC236}">
                      <a16:creationId xmlns:a16="http://schemas.microsoft.com/office/drawing/2014/main" id="{459AAF52-5117-A347-3E8A-D92EB8FDC9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1119" y="2055865"/>
                  <a:ext cx="919203" cy="413896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EAFC0C24-B5FC-3A42-EBEC-7A2B1EEE607D}"/>
                    </a:ext>
                  </a:extLst>
                </p:cNvPr>
                <p:cNvSpPr txBox="1"/>
                <p:nvPr/>
              </p:nvSpPr>
              <p:spPr>
                <a:xfrm>
                  <a:off x="2970027" y="1399902"/>
                  <a:ext cx="919203" cy="4110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文字方塊 65">
                  <a:extLst>
                    <a:ext uri="{FF2B5EF4-FFF2-40B4-BE49-F238E27FC236}">
                      <a16:creationId xmlns:a16="http://schemas.microsoft.com/office/drawing/2014/main" id="{EAFC0C24-B5FC-3A42-EBEC-7A2B1EEE60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0027" y="1399902"/>
                  <a:ext cx="919203" cy="411010"/>
                </a:xfrm>
                <a:prstGeom prst="rect">
                  <a:avLst/>
                </a:prstGeom>
                <a:blipFill>
                  <a:blip r:embed="rId21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B95DDD32-39C3-F7CC-BA32-23D21C94A8B5}"/>
                    </a:ext>
                  </a:extLst>
                </p:cNvPr>
                <p:cNvSpPr txBox="1"/>
                <p:nvPr/>
              </p:nvSpPr>
              <p:spPr>
                <a:xfrm>
                  <a:off x="1293287" y="2046275"/>
                  <a:ext cx="919203" cy="4116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p>
                        </m:sSubSup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文字方塊 66">
                  <a:extLst>
                    <a:ext uri="{FF2B5EF4-FFF2-40B4-BE49-F238E27FC236}">
                      <a16:creationId xmlns:a16="http://schemas.microsoft.com/office/drawing/2014/main" id="{B95DDD32-39C3-F7CC-BA32-23D21C94A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3287" y="2046275"/>
                  <a:ext cx="919203" cy="411651"/>
                </a:xfrm>
                <a:prstGeom prst="rect">
                  <a:avLst/>
                </a:prstGeom>
                <a:blipFill>
                  <a:blip r:embed="rId22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4CF16607-8431-FB45-9255-E716F91C68A7}"/>
                    </a:ext>
                  </a:extLst>
                </p:cNvPr>
                <p:cNvSpPr txBox="1"/>
                <p:nvPr/>
              </p:nvSpPr>
              <p:spPr>
                <a:xfrm>
                  <a:off x="1898879" y="4770158"/>
                  <a:ext cx="151502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TW" dirty="0"/>
                    <a:t>(</a:t>
                  </a:r>
                  <a:r>
                    <a:rPr kumimoji="1" lang="zh-TW" altLang="en-US" dirty="0"/>
                    <a:t>第 </a:t>
                  </a:r>
                  <a14:m>
                    <m:oMath xmlns:m="http://schemas.openxmlformats.org/officeDocument/2006/math">
                      <m:r>
                        <a:rPr lang="en-US" altLang="zh-TW" sz="180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altLang="zh-TW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a14:m>
                  <a:r>
                    <a:rPr kumimoji="1" lang="zh-TW" altLang="en-US" dirty="0"/>
                    <a:t> 層</a:t>
                  </a:r>
                  <a:r>
                    <a:rPr kumimoji="1" lang="en-US" altLang="zh-TW" dirty="0"/>
                    <a:t>)</a:t>
                  </a:r>
                  <a:endParaRPr kumimoji="1" lang="zh-TW" altLang="en-US" dirty="0"/>
                </a:p>
              </p:txBody>
            </p:sp>
          </mc:Choice>
          <mc:Fallback xmlns="">
            <p:sp>
              <p:nvSpPr>
                <p:cNvPr id="68" name="文字方塊 67">
                  <a:extLst>
                    <a:ext uri="{FF2B5EF4-FFF2-40B4-BE49-F238E27FC236}">
                      <a16:creationId xmlns:a16="http://schemas.microsoft.com/office/drawing/2014/main" id="{4CF16607-8431-FB45-9255-E716F91C68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8879" y="4770158"/>
                  <a:ext cx="1515028" cy="369332"/>
                </a:xfrm>
                <a:prstGeom prst="rect">
                  <a:avLst/>
                </a:prstGeom>
                <a:blipFill>
                  <a:blip r:embed="rId23"/>
                  <a:stretch>
                    <a:fillRect l="-3306" t="-10000" b="-2333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D252DD50-B445-3C56-4DDF-22D908BCA19A}"/>
              </a:ext>
            </a:extLst>
          </p:cNvPr>
          <p:cNvSpPr txBox="1"/>
          <p:nvPr/>
        </p:nvSpPr>
        <p:spPr>
          <a:xfrm>
            <a:off x="914990" y="5971077"/>
            <a:ext cx="2028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rgbClr val="FF0000"/>
                </a:solidFill>
              </a:rPr>
              <a:t>2</a:t>
            </a:r>
            <a:r>
              <a:rPr kumimoji="1" lang="zh-TW" altLang="en-US" dirty="0">
                <a:solidFill>
                  <a:srgbClr val="FF0000"/>
                </a:solidFill>
              </a:rPr>
              <a:t>號</a:t>
            </a:r>
            <a:r>
              <a:rPr kumimoji="1" lang="en-US" altLang="zh-TW" dirty="0">
                <a:solidFill>
                  <a:srgbClr val="FF0000"/>
                </a:solidFill>
              </a:rPr>
              <a:t>node</a:t>
            </a:r>
            <a:r>
              <a:rPr kumimoji="1" lang="zh-TW" altLang="en-US" dirty="0"/>
              <a:t>無法接觸到</a:t>
            </a:r>
            <a:r>
              <a:rPr kumimoji="1" lang="en-US" altLang="zh-TW" dirty="0">
                <a:solidFill>
                  <a:schemeClr val="accent6"/>
                </a:solidFill>
              </a:rPr>
              <a:t>4</a:t>
            </a:r>
            <a:r>
              <a:rPr kumimoji="1" lang="zh-TW" altLang="en-US" dirty="0">
                <a:solidFill>
                  <a:schemeClr val="accent6"/>
                </a:solidFill>
              </a:rPr>
              <a:t>號</a:t>
            </a:r>
            <a:r>
              <a:rPr kumimoji="1" lang="en-US" altLang="zh-TW" dirty="0">
                <a:solidFill>
                  <a:schemeClr val="accent6"/>
                </a:solidFill>
              </a:rPr>
              <a:t>node</a:t>
            </a:r>
            <a:endParaRPr kumimoji="1" lang="zh-TW" altLang="en-US" dirty="0">
              <a:solidFill>
                <a:schemeClr val="accent6"/>
              </a:solidFill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582233B2-755C-0618-0703-C50D7B15F963}"/>
              </a:ext>
            </a:extLst>
          </p:cNvPr>
          <p:cNvSpPr txBox="1"/>
          <p:nvPr/>
        </p:nvSpPr>
        <p:spPr>
          <a:xfrm>
            <a:off x="4579747" y="5975574"/>
            <a:ext cx="2370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2"/>
                </a:solidFill>
              </a:rPr>
              <a:t>3</a:t>
            </a:r>
            <a:r>
              <a:rPr kumimoji="1" lang="zh-TW" altLang="en-US" dirty="0">
                <a:solidFill>
                  <a:schemeClr val="accent2"/>
                </a:solidFill>
              </a:rPr>
              <a:t>號</a:t>
            </a:r>
            <a:r>
              <a:rPr kumimoji="1" lang="en-US" altLang="zh-TW" dirty="0">
                <a:solidFill>
                  <a:schemeClr val="accent2"/>
                </a:solidFill>
              </a:rPr>
              <a:t>node</a:t>
            </a:r>
            <a:r>
              <a:rPr kumimoji="1" lang="zh-TW" altLang="en-US" dirty="0"/>
              <a:t>帶有</a:t>
            </a:r>
            <a:r>
              <a:rPr kumimoji="1" lang="en-US" altLang="zh-TW" dirty="0">
                <a:solidFill>
                  <a:schemeClr val="accent6"/>
                </a:solidFill>
              </a:rPr>
              <a:t>4</a:t>
            </a:r>
            <a:r>
              <a:rPr kumimoji="1" lang="zh-TW" altLang="en-US" dirty="0">
                <a:solidFill>
                  <a:schemeClr val="accent6"/>
                </a:solidFill>
              </a:rPr>
              <a:t>號</a:t>
            </a:r>
            <a:r>
              <a:rPr kumimoji="1" lang="en-US" altLang="zh-TW" dirty="0">
                <a:solidFill>
                  <a:schemeClr val="accent6"/>
                </a:solidFill>
              </a:rPr>
              <a:t>node</a:t>
            </a:r>
            <a:r>
              <a:rPr kumimoji="1" lang="zh-TW" altLang="en-US" dirty="0"/>
              <a:t>和</a:t>
            </a:r>
            <a:r>
              <a:rPr kumimoji="1" lang="en-US" altLang="zh-TW" dirty="0">
                <a:solidFill>
                  <a:srgbClr val="FF0000"/>
                </a:solidFill>
              </a:rPr>
              <a:t>2</a:t>
            </a:r>
            <a:r>
              <a:rPr kumimoji="1" lang="zh-TW" altLang="en-US" dirty="0">
                <a:solidFill>
                  <a:srgbClr val="FF0000"/>
                </a:solidFill>
              </a:rPr>
              <a:t>號</a:t>
            </a:r>
            <a:r>
              <a:rPr kumimoji="1" lang="en-US" altLang="zh-TW" dirty="0">
                <a:solidFill>
                  <a:srgbClr val="FF0000"/>
                </a:solidFill>
              </a:rPr>
              <a:t>node</a:t>
            </a:r>
            <a:r>
              <a:rPr kumimoji="1" lang="zh-TW" altLang="en-US" dirty="0"/>
              <a:t>的資訊</a:t>
            </a:r>
          </a:p>
        </p:txBody>
      </p:sp>
      <p:cxnSp>
        <p:nvCxnSpPr>
          <p:cNvPr id="72" name="曲線接點 71">
            <a:extLst>
              <a:ext uri="{FF2B5EF4-FFF2-40B4-BE49-F238E27FC236}">
                <a16:creationId xmlns:a16="http://schemas.microsoft.com/office/drawing/2014/main" id="{AA550AEB-D847-9E06-9542-E49A8828DAA1}"/>
              </a:ext>
            </a:extLst>
          </p:cNvPr>
          <p:cNvCxnSpPr>
            <a:stCxn id="29" idx="0"/>
          </p:cNvCxnSpPr>
          <p:nvPr/>
        </p:nvCxnSpPr>
        <p:spPr>
          <a:xfrm rot="5400000" flipH="1" flipV="1">
            <a:off x="3146931" y="1616716"/>
            <a:ext cx="471437" cy="3664756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曲線接點 72">
            <a:extLst>
              <a:ext uri="{FF2B5EF4-FFF2-40B4-BE49-F238E27FC236}">
                <a16:creationId xmlns:a16="http://schemas.microsoft.com/office/drawing/2014/main" id="{B876AE4C-7CAC-4BD6-566B-BDB83BD5EAB5}"/>
              </a:ext>
            </a:extLst>
          </p:cNvPr>
          <p:cNvCxnSpPr>
            <a:cxnSpLocks/>
            <a:stCxn id="32" idx="0"/>
            <a:endCxn id="10" idx="0"/>
          </p:cNvCxnSpPr>
          <p:nvPr/>
        </p:nvCxnSpPr>
        <p:spPr>
          <a:xfrm rot="16200000" flipH="1">
            <a:off x="4026813" y="1401823"/>
            <a:ext cx="1126" cy="2660160"/>
          </a:xfrm>
          <a:prstGeom prst="curvedConnector3">
            <a:avLst>
              <a:gd name="adj1" fmla="val -2030195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曲線接點 76">
            <a:extLst>
              <a:ext uri="{FF2B5EF4-FFF2-40B4-BE49-F238E27FC236}">
                <a16:creationId xmlns:a16="http://schemas.microsoft.com/office/drawing/2014/main" id="{6E914610-2AA8-F520-B1A2-FBE91D8D6CED}"/>
              </a:ext>
            </a:extLst>
          </p:cNvPr>
          <p:cNvCxnSpPr>
            <a:cxnSpLocks/>
            <a:stCxn id="10" idx="0"/>
            <a:endCxn id="53" idx="0"/>
          </p:cNvCxnSpPr>
          <p:nvPr/>
        </p:nvCxnSpPr>
        <p:spPr>
          <a:xfrm rot="5400000" flipH="1" flipV="1">
            <a:off x="7822348" y="215496"/>
            <a:ext cx="52079" cy="4981862"/>
          </a:xfrm>
          <a:prstGeom prst="curvedConnector3">
            <a:avLst>
              <a:gd name="adj1" fmla="val 170350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CA2CCE4C-5A19-313A-1CC7-83A928BB0E4E}"/>
              </a:ext>
            </a:extLst>
          </p:cNvPr>
          <p:cNvSpPr txBox="1"/>
          <p:nvPr/>
        </p:nvSpPr>
        <p:spPr>
          <a:xfrm>
            <a:off x="8557012" y="5980533"/>
            <a:ext cx="20280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solidFill>
                  <a:schemeClr val="accent6"/>
                </a:solidFill>
              </a:rPr>
              <a:t>4</a:t>
            </a:r>
            <a:r>
              <a:rPr kumimoji="1" lang="zh-TW" altLang="en-US" dirty="0">
                <a:solidFill>
                  <a:schemeClr val="accent6"/>
                </a:solidFill>
              </a:rPr>
              <a:t>號</a:t>
            </a:r>
            <a:r>
              <a:rPr kumimoji="1" lang="en-US" altLang="zh-TW" dirty="0">
                <a:solidFill>
                  <a:schemeClr val="accent6"/>
                </a:solidFill>
              </a:rPr>
              <a:t>node</a:t>
            </a:r>
            <a:r>
              <a:rPr kumimoji="1" lang="zh-TW" altLang="en-US" dirty="0"/>
              <a:t>帶有</a:t>
            </a:r>
            <a:r>
              <a:rPr kumimoji="1" lang="en-US" altLang="zh-TW" dirty="0">
                <a:solidFill>
                  <a:srgbClr val="FF0000"/>
                </a:solidFill>
              </a:rPr>
              <a:t>2</a:t>
            </a:r>
            <a:r>
              <a:rPr kumimoji="1" lang="zh-TW" altLang="en-US" dirty="0">
                <a:solidFill>
                  <a:srgbClr val="FF0000"/>
                </a:solidFill>
              </a:rPr>
              <a:t>號</a:t>
            </a:r>
            <a:r>
              <a:rPr kumimoji="1" lang="en-US" altLang="zh-TW" dirty="0">
                <a:solidFill>
                  <a:srgbClr val="FF0000"/>
                </a:solidFill>
              </a:rPr>
              <a:t>node</a:t>
            </a:r>
            <a:r>
              <a:rPr kumimoji="1" lang="zh-TW" altLang="en-US" dirty="0"/>
              <a:t>的資訊</a:t>
            </a:r>
          </a:p>
        </p:txBody>
      </p:sp>
    </p:spTree>
    <p:extLst>
      <p:ext uri="{BB962C8B-B14F-4D97-AF65-F5344CB8AC3E}">
        <p14:creationId xmlns:p14="http://schemas.microsoft.com/office/powerpoint/2010/main" val="35547423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363E7692-54C8-77F7-2343-5A6C4015E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193" y="2286000"/>
            <a:ext cx="3531476" cy="2286000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Graph Convolutional Networks (GCN)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386D869-05E9-DABF-FC37-62C60334F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0243" y="3063240"/>
            <a:ext cx="6492240" cy="731520"/>
          </a:xfrm>
        </p:spPr>
        <p:txBody>
          <a:bodyPr anchor="ctr">
            <a:normAutofit fontScale="85000" lnSpcReduction="10000"/>
          </a:bodyPr>
          <a:lstStyle/>
          <a:p>
            <a:r>
              <a:rPr lang="en" altLang="zh-TW" dirty="0"/>
              <a:t>Thomas N. Kipf, , Max Welling. "Semi-Supervised Classification with Graph Convolutional Networks." International Conference on Learning Representations. 2017.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99DA95F-F3E7-ED40-084B-342FF931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033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DA5034-B148-C871-6F63-8FB5146F4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(Recap) GNN </a:t>
            </a:r>
            <a:r>
              <a:rPr kumimoji="1" lang="zh-TW" altLang="en-US" dirty="0"/>
              <a:t>核心步驟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62FF46-00A1-BF04-B990-D8695E76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D4521E7-A3DE-62C9-DE07-9E4EF951D3C3}"/>
              </a:ext>
            </a:extLst>
          </p:cNvPr>
          <p:cNvSpPr txBox="1"/>
          <p:nvPr/>
        </p:nvSpPr>
        <p:spPr>
          <a:xfrm>
            <a:off x="653143" y="1552904"/>
            <a:ext cx="300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以 </a:t>
            </a:r>
            <a:r>
              <a:rPr kumimoji="1" lang="en-US" altLang="zh-TW" dirty="0"/>
              <a:t>Node classification </a:t>
            </a:r>
            <a:r>
              <a:rPr kumimoji="1" lang="zh-TW" altLang="en-US" dirty="0"/>
              <a:t>為例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25359B5-6BBC-D45F-E2FD-4FE21977C681}"/>
              </a:ext>
            </a:extLst>
          </p:cNvPr>
          <p:cNvSpPr/>
          <p:nvPr/>
        </p:nvSpPr>
        <p:spPr>
          <a:xfrm>
            <a:off x="3888826" y="2610455"/>
            <a:ext cx="4414345" cy="70156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Step1: </a:t>
            </a:r>
            <a:r>
              <a:rPr kumimoji="1" lang="zh-TW" altLang="en-US" dirty="0">
                <a:solidFill>
                  <a:schemeClr val="tx1"/>
                </a:solidFill>
              </a:rPr>
              <a:t>聚合鄰居節點資訊 </a:t>
            </a:r>
            <a:r>
              <a:rPr kumimoji="1" lang="en" altLang="zh-TW" dirty="0">
                <a:solidFill>
                  <a:schemeClr val="tx1"/>
                </a:solidFill>
              </a:rPr>
              <a:t>AGGREGATE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030F1B8A-7BE8-4E6A-C156-87992173C71F}"/>
              </a:ext>
            </a:extLst>
          </p:cNvPr>
          <p:cNvSpPr/>
          <p:nvPr/>
        </p:nvSpPr>
        <p:spPr>
          <a:xfrm>
            <a:off x="3888827" y="4476660"/>
            <a:ext cx="4414345" cy="70156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dirty="0">
                <a:solidFill>
                  <a:schemeClr val="tx1"/>
                </a:solidFill>
              </a:rPr>
              <a:t>Step2: </a:t>
            </a:r>
            <a:r>
              <a:rPr kumimoji="1" lang="zh-TW" altLang="en-US" dirty="0">
                <a:solidFill>
                  <a:schemeClr val="tx1"/>
                </a:solidFill>
              </a:rPr>
              <a:t>更新自身節點資訊 </a:t>
            </a:r>
            <a:r>
              <a:rPr kumimoji="1" lang="en" altLang="zh-TW" dirty="0">
                <a:solidFill>
                  <a:schemeClr val="tx1"/>
                </a:solidFill>
              </a:rPr>
              <a:t>UPDATE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B564CC95-4D66-A5A1-FA4C-1CB5CC8A820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095999" y="3312020"/>
            <a:ext cx="1" cy="1164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6484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569205-63D9-64C5-0C42-1C3E4F8C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(Recap) Examples of Convolutions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FCF5FA-EC83-05C3-775E-65B473FD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E6F0030-E68A-DDBB-99FA-D1DFE6D61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722" y="2385098"/>
            <a:ext cx="2951648" cy="313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AF486A9-BF46-1329-334D-B2B4E35A8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312" y="2385098"/>
            <a:ext cx="3037771" cy="297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BE43F88-9EA0-84C5-D73C-0F9AF8E4E1AF}"/>
              </a:ext>
            </a:extLst>
          </p:cNvPr>
          <p:cNvSpPr txBox="1"/>
          <p:nvPr/>
        </p:nvSpPr>
        <p:spPr>
          <a:xfrm>
            <a:off x="2621706" y="6194135"/>
            <a:ext cx="69812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hannibunny.github.io</a:t>
            </a:r>
            <a:r>
              <a:rPr kumimoji="1" lang="en-US" altLang="zh-TW" sz="1400" dirty="0"/>
              <a:t>/</a:t>
            </a:r>
            <a:r>
              <a:rPr kumimoji="1" lang="en-US" altLang="zh-TW" sz="1400" dirty="0" err="1"/>
              <a:t>mlbook</a:t>
            </a:r>
            <a:r>
              <a:rPr kumimoji="1" lang="en-US" altLang="zh-TW" sz="1400" dirty="0"/>
              <a:t>/</a:t>
            </a:r>
            <a:r>
              <a:rPr kumimoji="1" lang="en-US" altLang="zh-TW" sz="1400" dirty="0" err="1"/>
              <a:t>neuralnetworks</a:t>
            </a:r>
            <a:r>
              <a:rPr kumimoji="1" lang="en-US" altLang="zh-TW" sz="1400" dirty="0"/>
              <a:t>/</a:t>
            </a:r>
            <a:r>
              <a:rPr kumimoji="1" lang="en-US" altLang="zh-TW" sz="1400" dirty="0" err="1"/>
              <a:t>convolutionDemos.html</a:t>
            </a:r>
            <a:endParaRPr kumimoji="1" lang="zh-TW" altLang="en-US" sz="1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74A77AF-F6B2-2136-8350-A0484A9E702A}"/>
              </a:ext>
            </a:extLst>
          </p:cNvPr>
          <p:cNvSpPr txBox="1"/>
          <p:nvPr/>
        </p:nvSpPr>
        <p:spPr>
          <a:xfrm>
            <a:off x="2324917" y="1798857"/>
            <a:ext cx="2783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Padding = 0, stride = 1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A5E5B8E-A401-53A7-E71F-6DB53B84B665}"/>
              </a:ext>
            </a:extLst>
          </p:cNvPr>
          <p:cNvSpPr txBox="1"/>
          <p:nvPr/>
        </p:nvSpPr>
        <p:spPr>
          <a:xfrm>
            <a:off x="6179540" y="1798857"/>
            <a:ext cx="275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Padding = 0, stride = 2</a:t>
            </a:r>
            <a:endParaRPr kumimoji="1"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E49BE81-4D96-2725-4090-0B6FCE482927}"/>
              </a:ext>
            </a:extLst>
          </p:cNvPr>
          <p:cNvSpPr txBox="1"/>
          <p:nvPr/>
        </p:nvSpPr>
        <p:spPr>
          <a:xfrm>
            <a:off x="3815255" y="5533002"/>
            <a:ext cx="77562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💡</a:t>
            </a:r>
            <a:r>
              <a:rPr kumimoji="1" lang="zh-TW" altLang="en-US" dirty="0"/>
              <a:t>卷積</a:t>
            </a:r>
            <a:r>
              <a:rPr kumimoji="1" lang="en-US" altLang="zh-TW" dirty="0"/>
              <a:t> (</a:t>
            </a:r>
            <a:r>
              <a:rPr kumimoji="1" lang="en" altLang="zh-TW" dirty="0"/>
              <a:t>convolution</a:t>
            </a:r>
            <a:r>
              <a:rPr kumimoji="1" lang="en-US" altLang="zh-TW" dirty="0"/>
              <a:t>)</a:t>
            </a:r>
            <a:r>
              <a:rPr kumimoji="1" lang="en" altLang="zh-TW" dirty="0"/>
              <a:t> </a:t>
            </a:r>
            <a:r>
              <a:rPr kumimoji="1" lang="zh-TW" altLang="en-US" dirty="0"/>
              <a:t>就是讓一個「小的矩陣」</a:t>
            </a:r>
            <a:r>
              <a:rPr kumimoji="1" lang="en-US" altLang="zh-TW" dirty="0"/>
              <a:t>(filter) </a:t>
            </a:r>
            <a:r>
              <a:rPr kumimoji="1" lang="zh-TW" altLang="en-US" dirty="0"/>
              <a:t>在影像上滑動，進行局部加權平均 </a:t>
            </a:r>
            <a:r>
              <a:rPr kumimoji="1" lang="en-US" altLang="zh-TW" dirty="0"/>
              <a:t>(</a:t>
            </a:r>
            <a:r>
              <a:rPr kumimoji="1" lang="zh-TW" altLang="en-US" dirty="0"/>
              <a:t>局部區域的內積</a:t>
            </a:r>
            <a:r>
              <a:rPr kumimoji="1" lang="en-US" altLang="zh-TW" dirty="0"/>
              <a:t>)</a:t>
            </a:r>
            <a:r>
              <a:rPr kumimoji="1" lang="zh-TW" altLang="en-US" dirty="0"/>
              <a:t>，產生新的影像 </a:t>
            </a:r>
            <a:r>
              <a:rPr kumimoji="1" lang="en-US" altLang="zh-TW" dirty="0"/>
              <a:t>(</a:t>
            </a:r>
            <a:r>
              <a:rPr kumimoji="1" lang="zh-TW" altLang="en-US" dirty="0"/>
              <a:t>特徵圖，</a:t>
            </a:r>
            <a:r>
              <a:rPr kumimoji="1" lang="en-US" altLang="zh-TW" dirty="0"/>
              <a:t>feature map)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9443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B7186-2DAB-6C2F-51E6-16D28D169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>
            <a:extLst>
              <a:ext uri="{FF2B5EF4-FFF2-40B4-BE49-F238E27FC236}">
                <a16:creationId xmlns:a16="http://schemas.microsoft.com/office/drawing/2014/main" id="{CFED8F77-7C68-4902-9830-346FBE6FC8FF}"/>
              </a:ext>
            </a:extLst>
          </p:cNvPr>
          <p:cNvGrpSpPr/>
          <p:nvPr/>
        </p:nvGrpSpPr>
        <p:grpSpPr>
          <a:xfrm>
            <a:off x="1858413" y="2529371"/>
            <a:ext cx="1243442" cy="2128354"/>
            <a:chOff x="2010813" y="2681771"/>
            <a:chExt cx="1243442" cy="2128354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65E6F881-D87E-4B14-BFD6-FBE03FFCCAAF}"/>
                </a:ext>
              </a:extLst>
            </p:cNvPr>
            <p:cNvSpPr/>
            <p:nvPr/>
          </p:nvSpPr>
          <p:spPr>
            <a:xfrm>
              <a:off x="2010813" y="4259618"/>
              <a:ext cx="550507" cy="550507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76635B78-7F8F-7CB1-11A6-F620B12EA2B4}"/>
                </a:ext>
              </a:extLst>
            </p:cNvPr>
            <p:cNvSpPr/>
            <p:nvPr/>
          </p:nvSpPr>
          <p:spPr>
            <a:xfrm>
              <a:off x="2153241" y="3306146"/>
              <a:ext cx="550507" cy="550507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A95CCC76-D4FE-CB3E-CCC4-6BE5BB230D7A}"/>
                </a:ext>
              </a:extLst>
            </p:cNvPr>
            <p:cNvSpPr/>
            <p:nvPr/>
          </p:nvSpPr>
          <p:spPr>
            <a:xfrm>
              <a:off x="2703748" y="2681771"/>
              <a:ext cx="550507" cy="550507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6DF6B62B-EED4-9E80-DD2C-5FA92821B914}"/>
                </a:ext>
              </a:extLst>
            </p:cNvPr>
            <p:cNvCxnSpPr>
              <a:cxnSpLocks/>
              <a:stCxn id="19" idx="3"/>
              <a:endCxn id="18" idx="7"/>
            </p:cNvCxnSpPr>
            <p:nvPr/>
          </p:nvCxnSpPr>
          <p:spPr>
            <a:xfrm flipH="1">
              <a:off x="2623128" y="315165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56D38F2F-3878-EBDC-78A1-279F9E79B7FF}"/>
                </a:ext>
              </a:extLst>
            </p:cNvPr>
            <p:cNvCxnSpPr>
              <a:cxnSpLocks/>
              <a:stCxn id="17" idx="0"/>
              <a:endCxn id="18" idx="4"/>
            </p:cNvCxnSpPr>
            <p:nvPr/>
          </p:nvCxnSpPr>
          <p:spPr>
            <a:xfrm flipV="1">
              <a:off x="2286067" y="385665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9A9CDE17-BF1C-60AA-7F01-3359D5900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GCN </a:t>
            </a:r>
            <a:r>
              <a:rPr kumimoji="1" lang="zh-TW" altLang="en-US" dirty="0"/>
              <a:t>會先對鄰居收集資訊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9771B1-FBB9-C3E3-E9EF-C9F811C9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C4CD95EB-948E-984A-34A5-A93C3A885C4B}"/>
              </a:ext>
            </a:extLst>
          </p:cNvPr>
          <p:cNvGrpSpPr/>
          <p:nvPr/>
        </p:nvGrpSpPr>
        <p:grpSpPr>
          <a:xfrm>
            <a:off x="1858413" y="2529371"/>
            <a:ext cx="1243442" cy="2128354"/>
            <a:chOff x="1858413" y="2529371"/>
            <a:chExt cx="1243442" cy="2128354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4AE09089-BCC5-1DE2-36FB-7B30C71876DA}"/>
                </a:ext>
              </a:extLst>
            </p:cNvPr>
            <p:cNvSpPr/>
            <p:nvPr/>
          </p:nvSpPr>
          <p:spPr>
            <a:xfrm>
              <a:off x="1858413" y="4107218"/>
              <a:ext cx="550507" cy="550507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8AE470D9-F979-75D4-3687-99A64D75D297}"/>
                </a:ext>
              </a:extLst>
            </p:cNvPr>
            <p:cNvSpPr/>
            <p:nvPr/>
          </p:nvSpPr>
          <p:spPr>
            <a:xfrm>
              <a:off x="2000841" y="3153746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0FC28F14-401D-C841-088C-BF2D2F3DAB22}"/>
                </a:ext>
              </a:extLst>
            </p:cNvPr>
            <p:cNvSpPr/>
            <p:nvPr/>
          </p:nvSpPr>
          <p:spPr>
            <a:xfrm>
              <a:off x="2551348" y="2529371"/>
              <a:ext cx="550507" cy="55050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5EDAF40E-1FF7-D236-B69E-C0317B029D17}"/>
                </a:ext>
              </a:extLst>
            </p:cNvPr>
            <p:cNvCxnSpPr>
              <a:cxnSpLocks/>
              <a:stCxn id="10" idx="3"/>
              <a:endCxn id="9" idx="7"/>
            </p:cNvCxnSpPr>
            <p:nvPr/>
          </p:nvCxnSpPr>
          <p:spPr>
            <a:xfrm flipH="1">
              <a:off x="2470728" y="299925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6885841B-480D-5B8E-0D3A-F375F20B5BB8}"/>
                </a:ext>
              </a:extLst>
            </p:cNvPr>
            <p:cNvCxnSpPr>
              <a:cxnSpLocks/>
              <a:stCxn id="7" idx="0"/>
              <a:endCxn id="9" idx="4"/>
            </p:cNvCxnSpPr>
            <p:nvPr/>
          </p:nvCxnSpPr>
          <p:spPr>
            <a:xfrm flipV="1">
              <a:off x="2133667" y="370425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440C7B2A-3FF5-6F0A-F9BE-6A7C55935D53}"/>
              </a:ext>
            </a:extLst>
          </p:cNvPr>
          <p:cNvSpPr txBox="1"/>
          <p:nvPr/>
        </p:nvSpPr>
        <p:spPr>
          <a:xfrm>
            <a:off x="653143" y="1586847"/>
            <a:ext cx="10918370" cy="591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💡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Aggregate: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收集鄰居資訊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B5A3A2A-EC62-629A-961D-1F49F9AFDF57}"/>
              </a:ext>
            </a:extLst>
          </p:cNvPr>
          <p:cNvSpPr txBox="1"/>
          <p:nvPr/>
        </p:nvSpPr>
        <p:spPr>
          <a:xfrm>
            <a:off x="1284373" y="4958559"/>
            <a:ext cx="2372710" cy="87203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dirty="0"/>
              <a:t>Source node: </a:t>
            </a:r>
            <a:r>
              <a:rPr kumimoji="1" lang="en-US" altLang="zh-TW" b="1" dirty="0">
                <a:solidFill>
                  <a:srgbClr val="0070C0"/>
                </a:solidFill>
              </a:rPr>
              <a:t>1</a:t>
            </a:r>
          </a:p>
          <a:p>
            <a:pPr>
              <a:lnSpc>
                <a:spcPct val="150000"/>
              </a:lnSpc>
            </a:pPr>
            <a:r>
              <a:rPr kumimoji="1" lang="en-US" altLang="zh-TW" dirty="0"/>
              <a:t>Neighbor node: </a:t>
            </a:r>
            <a:r>
              <a:rPr kumimoji="1" lang="en-US" altLang="zh-TW" b="1" dirty="0">
                <a:solidFill>
                  <a:srgbClr val="FF0000"/>
                </a:solidFill>
              </a:rPr>
              <a:t>2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28BAABAC-E279-FB76-E77D-FCEAAD5F6CE7}"/>
              </a:ext>
            </a:extLst>
          </p:cNvPr>
          <p:cNvGrpSpPr/>
          <p:nvPr/>
        </p:nvGrpSpPr>
        <p:grpSpPr>
          <a:xfrm>
            <a:off x="5474279" y="2529371"/>
            <a:ext cx="1243442" cy="2128354"/>
            <a:chOff x="1858413" y="2529371"/>
            <a:chExt cx="1243442" cy="2128354"/>
          </a:xfrm>
        </p:grpSpPr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FB096FA2-9956-0AC1-73F5-A25CA7083A32}"/>
                </a:ext>
              </a:extLst>
            </p:cNvPr>
            <p:cNvSpPr/>
            <p:nvPr/>
          </p:nvSpPr>
          <p:spPr>
            <a:xfrm>
              <a:off x="1858413" y="4107218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33410E70-D790-88B6-8FDE-77929EDBFFD6}"/>
                </a:ext>
              </a:extLst>
            </p:cNvPr>
            <p:cNvSpPr/>
            <p:nvPr/>
          </p:nvSpPr>
          <p:spPr>
            <a:xfrm>
              <a:off x="2000841" y="3153746"/>
              <a:ext cx="550507" cy="550507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E95F7845-15B2-D1B6-83CA-8783C275E986}"/>
                </a:ext>
              </a:extLst>
            </p:cNvPr>
            <p:cNvSpPr/>
            <p:nvPr/>
          </p:nvSpPr>
          <p:spPr>
            <a:xfrm>
              <a:off x="2551348" y="2529371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D67FD421-E27F-3927-AD4C-53338FD68A97}"/>
                </a:ext>
              </a:extLst>
            </p:cNvPr>
            <p:cNvCxnSpPr>
              <a:cxnSpLocks/>
              <a:stCxn id="42" idx="3"/>
              <a:endCxn id="41" idx="7"/>
            </p:cNvCxnSpPr>
            <p:nvPr/>
          </p:nvCxnSpPr>
          <p:spPr>
            <a:xfrm flipH="1">
              <a:off x="2470728" y="299925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CF4B2BC2-872E-2BE6-233B-D844B55EEFA2}"/>
                </a:ext>
              </a:extLst>
            </p:cNvPr>
            <p:cNvCxnSpPr>
              <a:cxnSpLocks/>
              <a:stCxn id="40" idx="0"/>
              <a:endCxn id="41" idx="4"/>
            </p:cNvCxnSpPr>
            <p:nvPr/>
          </p:nvCxnSpPr>
          <p:spPr>
            <a:xfrm flipV="1">
              <a:off x="2133667" y="370425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69CC3D7B-B5BD-18DA-1DEF-50D9AE849A1F}"/>
              </a:ext>
            </a:extLst>
          </p:cNvPr>
          <p:cNvGrpSpPr/>
          <p:nvPr/>
        </p:nvGrpSpPr>
        <p:grpSpPr>
          <a:xfrm>
            <a:off x="9018931" y="2529371"/>
            <a:ext cx="1243442" cy="2128354"/>
            <a:chOff x="1858413" y="2529371"/>
            <a:chExt cx="1243442" cy="2128354"/>
          </a:xfrm>
        </p:grpSpPr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AC02E795-7A22-9B6D-7C12-1B123E646458}"/>
                </a:ext>
              </a:extLst>
            </p:cNvPr>
            <p:cNvSpPr/>
            <p:nvPr/>
          </p:nvSpPr>
          <p:spPr>
            <a:xfrm>
              <a:off x="1858413" y="4107218"/>
              <a:ext cx="550507" cy="550507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0AD42589-05E8-E6EF-3591-F34A5DF8D299}"/>
                </a:ext>
              </a:extLst>
            </p:cNvPr>
            <p:cNvSpPr/>
            <p:nvPr/>
          </p:nvSpPr>
          <p:spPr>
            <a:xfrm>
              <a:off x="2000841" y="3153746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7C587D3D-7A81-5415-AC32-055E6A353A04}"/>
                </a:ext>
              </a:extLst>
            </p:cNvPr>
            <p:cNvSpPr/>
            <p:nvPr/>
          </p:nvSpPr>
          <p:spPr>
            <a:xfrm>
              <a:off x="2551348" y="2529371"/>
              <a:ext cx="550507" cy="550507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99CFCF07-38F3-17F6-9ACC-C844ABD5DB76}"/>
                </a:ext>
              </a:extLst>
            </p:cNvPr>
            <p:cNvCxnSpPr>
              <a:cxnSpLocks/>
              <a:stCxn id="48" idx="3"/>
              <a:endCxn id="47" idx="7"/>
            </p:cNvCxnSpPr>
            <p:nvPr/>
          </p:nvCxnSpPr>
          <p:spPr>
            <a:xfrm flipH="1">
              <a:off x="2470728" y="299925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83995DF8-044A-51C9-79D8-1816CB14BB30}"/>
                </a:ext>
              </a:extLst>
            </p:cNvPr>
            <p:cNvCxnSpPr>
              <a:cxnSpLocks/>
              <a:stCxn id="46" idx="0"/>
              <a:endCxn id="47" idx="4"/>
            </p:cNvCxnSpPr>
            <p:nvPr/>
          </p:nvCxnSpPr>
          <p:spPr>
            <a:xfrm flipV="1">
              <a:off x="2133667" y="370425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6DF56158-6BDF-E007-7B89-18C95E52C6C9}"/>
              </a:ext>
            </a:extLst>
          </p:cNvPr>
          <p:cNvSpPr txBox="1"/>
          <p:nvPr/>
        </p:nvSpPr>
        <p:spPr>
          <a:xfrm>
            <a:off x="4838431" y="4958559"/>
            <a:ext cx="2372710" cy="87203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dirty="0"/>
              <a:t>Source node: </a:t>
            </a:r>
            <a:r>
              <a:rPr kumimoji="1" lang="en-US" altLang="zh-TW" b="1" dirty="0">
                <a:solidFill>
                  <a:srgbClr val="0070C0"/>
                </a:solidFill>
              </a:rPr>
              <a:t>2</a:t>
            </a:r>
          </a:p>
          <a:p>
            <a:pPr>
              <a:lnSpc>
                <a:spcPct val="150000"/>
              </a:lnSpc>
            </a:pPr>
            <a:r>
              <a:rPr kumimoji="1" lang="en-US" altLang="zh-TW" dirty="0"/>
              <a:t>Neighbor node: </a:t>
            </a:r>
            <a:r>
              <a:rPr kumimoji="1" lang="en-US" altLang="zh-TW" b="1" dirty="0">
                <a:solidFill>
                  <a:srgbClr val="FF0000"/>
                </a:solidFill>
              </a:rPr>
              <a:t>1, 3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F4D873D3-A465-CB6C-23E6-AF55365D3316}"/>
              </a:ext>
            </a:extLst>
          </p:cNvPr>
          <p:cNvSpPr txBox="1"/>
          <p:nvPr/>
        </p:nvSpPr>
        <p:spPr>
          <a:xfrm>
            <a:off x="8380936" y="4958559"/>
            <a:ext cx="2372710" cy="87203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dirty="0"/>
              <a:t>Source node: </a:t>
            </a:r>
            <a:r>
              <a:rPr kumimoji="1" lang="en-US" altLang="zh-TW" b="1" dirty="0">
                <a:solidFill>
                  <a:srgbClr val="0070C0"/>
                </a:solidFill>
              </a:rPr>
              <a:t>3</a:t>
            </a:r>
          </a:p>
          <a:p>
            <a:pPr>
              <a:lnSpc>
                <a:spcPct val="150000"/>
              </a:lnSpc>
            </a:pPr>
            <a:r>
              <a:rPr kumimoji="1" lang="en-US" altLang="zh-TW" dirty="0"/>
              <a:t>Neighbor node: </a:t>
            </a:r>
            <a:r>
              <a:rPr kumimoji="1" lang="en-US" altLang="zh-TW" b="1" dirty="0">
                <a:solidFill>
                  <a:srgbClr val="FF0000"/>
                </a:solidFill>
              </a:rPr>
              <a:t>2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2893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1" grpId="0"/>
      <p:bldP spid="5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567C6-4992-DE8B-19EF-E550E89B2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EB0A5C-93C7-E885-1137-056DCA8513F2}"/>
              </a:ext>
            </a:extLst>
          </p:cNvPr>
          <p:cNvGrpSpPr/>
          <p:nvPr/>
        </p:nvGrpSpPr>
        <p:grpSpPr>
          <a:xfrm>
            <a:off x="1858413" y="2529371"/>
            <a:ext cx="1243442" cy="2128354"/>
            <a:chOff x="2010813" y="2681771"/>
            <a:chExt cx="1243442" cy="2128354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C70EBB2E-6E16-95F7-A91D-709E3ABD67A4}"/>
                </a:ext>
              </a:extLst>
            </p:cNvPr>
            <p:cNvSpPr/>
            <p:nvPr/>
          </p:nvSpPr>
          <p:spPr>
            <a:xfrm>
              <a:off x="2010813" y="4259618"/>
              <a:ext cx="550507" cy="550507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3E1668D0-F63E-4966-583A-55F469B47631}"/>
                </a:ext>
              </a:extLst>
            </p:cNvPr>
            <p:cNvSpPr/>
            <p:nvPr/>
          </p:nvSpPr>
          <p:spPr>
            <a:xfrm>
              <a:off x="2153241" y="3306146"/>
              <a:ext cx="550507" cy="550507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811E4483-4066-CC67-D973-E95155244F61}"/>
                </a:ext>
              </a:extLst>
            </p:cNvPr>
            <p:cNvSpPr/>
            <p:nvPr/>
          </p:nvSpPr>
          <p:spPr>
            <a:xfrm>
              <a:off x="2703748" y="2681771"/>
              <a:ext cx="550507" cy="550507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E8A460C5-77FB-37A9-306A-D32E1364A231}"/>
                </a:ext>
              </a:extLst>
            </p:cNvPr>
            <p:cNvCxnSpPr>
              <a:cxnSpLocks/>
              <a:stCxn id="19" idx="3"/>
              <a:endCxn id="18" idx="7"/>
            </p:cNvCxnSpPr>
            <p:nvPr/>
          </p:nvCxnSpPr>
          <p:spPr>
            <a:xfrm flipH="1">
              <a:off x="2623128" y="315165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182ED403-CBC7-5678-0E6C-2DA778C77D16}"/>
                </a:ext>
              </a:extLst>
            </p:cNvPr>
            <p:cNvCxnSpPr>
              <a:cxnSpLocks/>
              <a:stCxn id="17" idx="0"/>
              <a:endCxn id="18" idx="4"/>
            </p:cNvCxnSpPr>
            <p:nvPr/>
          </p:nvCxnSpPr>
          <p:spPr>
            <a:xfrm flipV="1">
              <a:off x="2286067" y="385665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BBE044C0-201F-CD8A-9141-4B2BD6F71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GCN </a:t>
            </a:r>
            <a:r>
              <a:rPr kumimoji="1" lang="zh-TW" altLang="en-US" dirty="0"/>
              <a:t>如何做 </a:t>
            </a:r>
            <a:r>
              <a:rPr kumimoji="1" lang="en" altLang="zh-TW" dirty="0"/>
              <a:t>AGGREGATE</a:t>
            </a:r>
            <a:r>
              <a:rPr kumimoji="1" lang="zh-TW" altLang="en" dirty="0"/>
              <a:t>？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19F573-593C-0CDF-10A2-8CA8B7D4B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7528D41C-D019-77F9-53CF-C00EC33C1605}"/>
              </a:ext>
            </a:extLst>
          </p:cNvPr>
          <p:cNvGrpSpPr/>
          <p:nvPr/>
        </p:nvGrpSpPr>
        <p:grpSpPr>
          <a:xfrm>
            <a:off x="1858413" y="2529371"/>
            <a:ext cx="1243442" cy="2128354"/>
            <a:chOff x="1858413" y="2529371"/>
            <a:chExt cx="1243442" cy="2128354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12232947-715B-6DF5-48BF-F41A7D8750BC}"/>
                </a:ext>
              </a:extLst>
            </p:cNvPr>
            <p:cNvSpPr/>
            <p:nvPr/>
          </p:nvSpPr>
          <p:spPr>
            <a:xfrm>
              <a:off x="1858413" y="4107218"/>
              <a:ext cx="550507" cy="550507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A2666F25-F4B9-9680-476B-FE941FAD9615}"/>
                </a:ext>
              </a:extLst>
            </p:cNvPr>
            <p:cNvSpPr/>
            <p:nvPr/>
          </p:nvSpPr>
          <p:spPr>
            <a:xfrm>
              <a:off x="2000841" y="3153746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85BAD389-6E10-1A0F-7BAD-6D6233516181}"/>
                </a:ext>
              </a:extLst>
            </p:cNvPr>
            <p:cNvSpPr/>
            <p:nvPr/>
          </p:nvSpPr>
          <p:spPr>
            <a:xfrm>
              <a:off x="2551348" y="2529371"/>
              <a:ext cx="550507" cy="55050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A0385C75-C4F2-5201-8399-D90D16C626B2}"/>
                </a:ext>
              </a:extLst>
            </p:cNvPr>
            <p:cNvCxnSpPr>
              <a:cxnSpLocks/>
              <a:stCxn id="10" idx="3"/>
              <a:endCxn id="9" idx="7"/>
            </p:cNvCxnSpPr>
            <p:nvPr/>
          </p:nvCxnSpPr>
          <p:spPr>
            <a:xfrm flipH="1">
              <a:off x="2470728" y="299925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2325C27A-CF33-CE88-F5EF-D4DE8E53FC8C}"/>
                </a:ext>
              </a:extLst>
            </p:cNvPr>
            <p:cNvCxnSpPr>
              <a:cxnSpLocks/>
              <a:stCxn id="7" idx="0"/>
              <a:endCxn id="9" idx="4"/>
            </p:cNvCxnSpPr>
            <p:nvPr/>
          </p:nvCxnSpPr>
          <p:spPr>
            <a:xfrm flipV="1">
              <a:off x="2133667" y="370425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BB5CC6D8-87A6-E942-A555-657616DB0B07}"/>
              </a:ext>
            </a:extLst>
          </p:cNvPr>
          <p:cNvSpPr txBox="1"/>
          <p:nvPr/>
        </p:nvSpPr>
        <p:spPr>
          <a:xfrm>
            <a:off x="653143" y="1586847"/>
            <a:ext cx="10918370" cy="591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💡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GCN 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使用相加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來收集鄰居資訊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EE2ABBD-EEC1-B1EA-3B0A-30F564839588}"/>
              </a:ext>
            </a:extLst>
          </p:cNvPr>
          <p:cNvSpPr txBox="1"/>
          <p:nvPr/>
        </p:nvSpPr>
        <p:spPr>
          <a:xfrm>
            <a:off x="1284373" y="4958559"/>
            <a:ext cx="2372710" cy="87203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dirty="0"/>
              <a:t>Source node: </a:t>
            </a:r>
            <a:r>
              <a:rPr kumimoji="1" lang="en-US" altLang="zh-TW" b="1" dirty="0">
                <a:solidFill>
                  <a:srgbClr val="0070C0"/>
                </a:solidFill>
              </a:rPr>
              <a:t>1</a:t>
            </a:r>
          </a:p>
          <a:p>
            <a:pPr>
              <a:lnSpc>
                <a:spcPct val="150000"/>
              </a:lnSpc>
            </a:pPr>
            <a:r>
              <a:rPr kumimoji="1" lang="en-US" altLang="zh-TW" dirty="0"/>
              <a:t>Neighbor node: </a:t>
            </a:r>
            <a:r>
              <a:rPr kumimoji="1" lang="en-US" altLang="zh-TW" b="1" dirty="0">
                <a:solidFill>
                  <a:srgbClr val="FF0000"/>
                </a:solidFill>
              </a:rPr>
              <a:t>2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487BBA4D-2933-07F1-4B7C-A72E0821AC2D}"/>
              </a:ext>
            </a:extLst>
          </p:cNvPr>
          <p:cNvGrpSpPr/>
          <p:nvPr/>
        </p:nvGrpSpPr>
        <p:grpSpPr>
          <a:xfrm>
            <a:off x="5474279" y="2529371"/>
            <a:ext cx="1243442" cy="2128354"/>
            <a:chOff x="1858413" y="2529371"/>
            <a:chExt cx="1243442" cy="2128354"/>
          </a:xfrm>
        </p:grpSpPr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B57C2558-542E-0CB6-0E60-D47AE0D60C5F}"/>
                </a:ext>
              </a:extLst>
            </p:cNvPr>
            <p:cNvSpPr/>
            <p:nvPr/>
          </p:nvSpPr>
          <p:spPr>
            <a:xfrm>
              <a:off x="1858413" y="4107218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D54D5FE1-513A-C4D1-8245-C1B096237CB1}"/>
                </a:ext>
              </a:extLst>
            </p:cNvPr>
            <p:cNvSpPr/>
            <p:nvPr/>
          </p:nvSpPr>
          <p:spPr>
            <a:xfrm>
              <a:off x="2000841" y="3153746"/>
              <a:ext cx="550507" cy="550507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83F863E3-97E7-41C3-61DA-4FB2017AF6B6}"/>
                </a:ext>
              </a:extLst>
            </p:cNvPr>
            <p:cNvSpPr/>
            <p:nvPr/>
          </p:nvSpPr>
          <p:spPr>
            <a:xfrm>
              <a:off x="2551348" y="2529371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E5C27381-5A08-C0C2-C57F-6CD6CBC4ED35}"/>
                </a:ext>
              </a:extLst>
            </p:cNvPr>
            <p:cNvCxnSpPr>
              <a:cxnSpLocks/>
              <a:stCxn id="42" idx="3"/>
              <a:endCxn id="41" idx="7"/>
            </p:cNvCxnSpPr>
            <p:nvPr/>
          </p:nvCxnSpPr>
          <p:spPr>
            <a:xfrm flipH="1">
              <a:off x="2470728" y="299925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BF892101-1BD3-C460-6D1C-8BCC4B44A577}"/>
                </a:ext>
              </a:extLst>
            </p:cNvPr>
            <p:cNvCxnSpPr>
              <a:cxnSpLocks/>
              <a:stCxn id="40" idx="0"/>
              <a:endCxn id="41" idx="4"/>
            </p:cNvCxnSpPr>
            <p:nvPr/>
          </p:nvCxnSpPr>
          <p:spPr>
            <a:xfrm flipV="1">
              <a:off x="2133667" y="370425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群組 44">
            <a:extLst>
              <a:ext uri="{FF2B5EF4-FFF2-40B4-BE49-F238E27FC236}">
                <a16:creationId xmlns:a16="http://schemas.microsoft.com/office/drawing/2014/main" id="{0234505D-3ED6-AB7C-6A3E-B62B0A758ED5}"/>
              </a:ext>
            </a:extLst>
          </p:cNvPr>
          <p:cNvGrpSpPr/>
          <p:nvPr/>
        </p:nvGrpSpPr>
        <p:grpSpPr>
          <a:xfrm>
            <a:off x="9018931" y="2529371"/>
            <a:ext cx="1243442" cy="2128354"/>
            <a:chOff x="1858413" y="2529371"/>
            <a:chExt cx="1243442" cy="2128354"/>
          </a:xfrm>
        </p:grpSpPr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4892160F-9D53-AC35-182C-C4CC883FFB74}"/>
                </a:ext>
              </a:extLst>
            </p:cNvPr>
            <p:cNvSpPr/>
            <p:nvPr/>
          </p:nvSpPr>
          <p:spPr>
            <a:xfrm>
              <a:off x="1858413" y="4107218"/>
              <a:ext cx="550507" cy="550507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399E2B4B-1245-515B-E6C3-EC9320DF7E23}"/>
                </a:ext>
              </a:extLst>
            </p:cNvPr>
            <p:cNvSpPr/>
            <p:nvPr/>
          </p:nvSpPr>
          <p:spPr>
            <a:xfrm>
              <a:off x="2000841" y="3153746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8" name="橢圓 47">
              <a:extLst>
                <a:ext uri="{FF2B5EF4-FFF2-40B4-BE49-F238E27FC236}">
                  <a16:creationId xmlns:a16="http://schemas.microsoft.com/office/drawing/2014/main" id="{5A6BB552-5E12-3683-AA81-AA77CB02BD09}"/>
                </a:ext>
              </a:extLst>
            </p:cNvPr>
            <p:cNvSpPr/>
            <p:nvPr/>
          </p:nvSpPr>
          <p:spPr>
            <a:xfrm>
              <a:off x="2551348" y="2529371"/>
              <a:ext cx="550507" cy="550507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49" name="直線接點 48">
              <a:extLst>
                <a:ext uri="{FF2B5EF4-FFF2-40B4-BE49-F238E27FC236}">
                  <a16:creationId xmlns:a16="http://schemas.microsoft.com/office/drawing/2014/main" id="{6D86BE7F-E376-6EA8-5915-D138D926DBAE}"/>
                </a:ext>
              </a:extLst>
            </p:cNvPr>
            <p:cNvCxnSpPr>
              <a:cxnSpLocks/>
              <a:stCxn id="48" idx="3"/>
              <a:endCxn id="47" idx="7"/>
            </p:cNvCxnSpPr>
            <p:nvPr/>
          </p:nvCxnSpPr>
          <p:spPr>
            <a:xfrm flipH="1">
              <a:off x="2470728" y="299925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D5EC70ED-A46B-EC73-8370-B282E3EDAD07}"/>
                </a:ext>
              </a:extLst>
            </p:cNvPr>
            <p:cNvCxnSpPr>
              <a:cxnSpLocks/>
              <a:stCxn id="46" idx="0"/>
              <a:endCxn id="47" idx="4"/>
            </p:cNvCxnSpPr>
            <p:nvPr/>
          </p:nvCxnSpPr>
          <p:spPr>
            <a:xfrm flipV="1">
              <a:off x="2133667" y="370425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F9F0822C-474D-65CB-918C-E5805FB395F4}"/>
              </a:ext>
            </a:extLst>
          </p:cNvPr>
          <p:cNvSpPr txBox="1"/>
          <p:nvPr/>
        </p:nvSpPr>
        <p:spPr>
          <a:xfrm>
            <a:off x="4838431" y="4958559"/>
            <a:ext cx="2372710" cy="87203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dirty="0"/>
              <a:t>Source node: </a:t>
            </a:r>
            <a:r>
              <a:rPr kumimoji="1" lang="en-US" altLang="zh-TW" b="1" dirty="0">
                <a:solidFill>
                  <a:srgbClr val="0070C0"/>
                </a:solidFill>
              </a:rPr>
              <a:t>2</a:t>
            </a:r>
          </a:p>
          <a:p>
            <a:pPr>
              <a:lnSpc>
                <a:spcPct val="150000"/>
              </a:lnSpc>
            </a:pPr>
            <a:r>
              <a:rPr kumimoji="1" lang="en-US" altLang="zh-TW" dirty="0"/>
              <a:t>Neighbor node: </a:t>
            </a:r>
            <a:r>
              <a:rPr kumimoji="1" lang="en-US" altLang="zh-TW" b="1" dirty="0">
                <a:solidFill>
                  <a:srgbClr val="FF0000"/>
                </a:solidFill>
              </a:rPr>
              <a:t>1, 3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A6C186A4-221B-EB07-429E-35E6FB76FD39}"/>
              </a:ext>
            </a:extLst>
          </p:cNvPr>
          <p:cNvSpPr txBox="1"/>
          <p:nvPr/>
        </p:nvSpPr>
        <p:spPr>
          <a:xfrm>
            <a:off x="8380936" y="4958559"/>
            <a:ext cx="2372710" cy="87203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dirty="0"/>
              <a:t>Source node: </a:t>
            </a:r>
            <a:r>
              <a:rPr kumimoji="1" lang="en-US" altLang="zh-TW" b="1" dirty="0">
                <a:solidFill>
                  <a:srgbClr val="0070C0"/>
                </a:solidFill>
              </a:rPr>
              <a:t>3</a:t>
            </a:r>
          </a:p>
          <a:p>
            <a:pPr>
              <a:lnSpc>
                <a:spcPct val="150000"/>
              </a:lnSpc>
            </a:pPr>
            <a:r>
              <a:rPr kumimoji="1" lang="en-US" altLang="zh-TW" dirty="0"/>
              <a:t>Neighbor node: </a:t>
            </a:r>
            <a:r>
              <a:rPr kumimoji="1" lang="en-US" altLang="zh-TW" b="1" dirty="0">
                <a:solidFill>
                  <a:srgbClr val="FF0000"/>
                </a:solidFill>
              </a:rPr>
              <a:t>2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FFA571E-66FF-8C38-1F8B-A8A274229B12}"/>
                  </a:ext>
                </a:extLst>
              </p:cNvPr>
              <p:cNvSpPr txBox="1"/>
              <p:nvPr/>
            </p:nvSpPr>
            <p:spPr>
              <a:xfrm>
                <a:off x="1293287" y="2587607"/>
                <a:ext cx="1338681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FFA571E-66FF-8C38-1F8B-A8A274229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3287" y="2587607"/>
                <a:ext cx="1338681" cy="4116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E22C087-31C6-6041-D69F-4D148F5463D6}"/>
                  </a:ext>
                </a:extLst>
              </p:cNvPr>
              <p:cNvSpPr txBox="1"/>
              <p:nvPr/>
            </p:nvSpPr>
            <p:spPr>
              <a:xfrm>
                <a:off x="761431" y="3223173"/>
                <a:ext cx="1338681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2E22C087-31C6-6041-D69F-4D148F546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31" y="3223173"/>
                <a:ext cx="1338681" cy="4116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4D9E2DD-2BD4-2E4D-843D-BA2A246BD2BF}"/>
                  </a:ext>
                </a:extLst>
              </p:cNvPr>
              <p:cNvSpPr txBox="1"/>
              <p:nvPr/>
            </p:nvSpPr>
            <p:spPr>
              <a:xfrm>
                <a:off x="662160" y="4176645"/>
                <a:ext cx="1338681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84D9E2DD-2BD4-2E4D-843D-BA2A246BD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60" y="4176645"/>
                <a:ext cx="1338681" cy="411651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275E91E2-B624-C6F3-8D54-58740E8B563E}"/>
                  </a:ext>
                </a:extLst>
              </p:cNvPr>
              <p:cNvSpPr txBox="1"/>
              <p:nvPr/>
            </p:nvSpPr>
            <p:spPr>
              <a:xfrm>
                <a:off x="3069364" y="2598798"/>
                <a:ext cx="797419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275E91E2-B624-C6F3-8D54-58740E8B5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364" y="2598798"/>
                <a:ext cx="797419" cy="4116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DB22381-A6B9-50FF-ED0F-C9500F878C53}"/>
                  </a:ext>
                </a:extLst>
              </p:cNvPr>
              <p:cNvSpPr txBox="1"/>
              <p:nvPr/>
            </p:nvSpPr>
            <p:spPr>
              <a:xfrm>
                <a:off x="6074171" y="3230023"/>
                <a:ext cx="797419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40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ADB22381-A6B9-50FF-ED0F-C9500F878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4171" y="3230023"/>
                <a:ext cx="797419" cy="4116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5F57348E-2295-BFA7-8139-E8E27D0859A8}"/>
                  </a:ext>
                </a:extLst>
              </p:cNvPr>
              <p:cNvSpPr txBox="1"/>
              <p:nvPr/>
            </p:nvSpPr>
            <p:spPr>
              <a:xfrm>
                <a:off x="9450746" y="4209565"/>
                <a:ext cx="797419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5F57348E-2295-BFA7-8139-E8E27D085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746" y="4209565"/>
                <a:ext cx="797419" cy="4116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3C4086E9-1100-B959-0DA9-2BE4511182B5}"/>
              </a:ext>
            </a:extLst>
          </p:cNvPr>
          <p:cNvSpPr txBox="1"/>
          <p:nvPr/>
        </p:nvSpPr>
        <p:spPr>
          <a:xfrm>
            <a:off x="788649" y="6247258"/>
            <a:ext cx="6260221" cy="508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000" dirty="0"/>
              <a:t>⚠️ </a:t>
            </a:r>
            <a:r>
              <a:rPr kumimoji="1" lang="zh-TW" altLang="en-US" sz="2000" dirty="0"/>
              <a:t>此頁</a:t>
            </a:r>
            <a:r>
              <a:rPr kumimoji="1" lang="en-US" altLang="zh-TW" sz="2000" dirty="0"/>
              <a:t>slide</a:t>
            </a:r>
            <a:r>
              <a:rPr kumimoji="1" lang="zh-TW" altLang="en-US" sz="2000" dirty="0"/>
              <a:t>為求簡潔，每個</a:t>
            </a:r>
            <a:r>
              <a:rPr kumimoji="1" lang="en-US" altLang="zh-TW" sz="2000" dirty="0"/>
              <a:t>node</a:t>
            </a:r>
            <a:r>
              <a:rPr kumimoji="1" lang="zh-TW" altLang="en-US" sz="2000" dirty="0"/>
              <a:t>僅使用 </a:t>
            </a:r>
            <a:r>
              <a:rPr kumimoji="1" lang="en-US" altLang="zh-TW" sz="2000" dirty="0"/>
              <a:t>1 </a:t>
            </a:r>
            <a:r>
              <a:rPr kumimoji="1" lang="zh-TW" altLang="en-US" sz="2000" dirty="0"/>
              <a:t>個</a:t>
            </a:r>
            <a:r>
              <a:rPr kumimoji="1" lang="en-US" altLang="zh-TW" sz="2000" dirty="0"/>
              <a:t>feature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00812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2" grpId="0"/>
      <p:bldP spid="13" grpId="0"/>
      <p:bldP spid="15" grpId="0"/>
      <p:bldP spid="22" grpId="0"/>
      <p:bldP spid="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8CB6D-C523-5CD8-76BD-A8DCB06B8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3BA501-856C-B073-F446-FA96381DB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實作上 </a:t>
            </a:r>
            <a:r>
              <a:rPr kumimoji="1" lang="en" altLang="zh-TW" dirty="0"/>
              <a:t>GCN </a:t>
            </a:r>
            <a:r>
              <a:rPr kumimoji="1" lang="zh-TW" altLang="en-US" dirty="0"/>
              <a:t>如何做 </a:t>
            </a:r>
            <a:r>
              <a:rPr kumimoji="1" lang="en" altLang="zh-TW" dirty="0"/>
              <a:t>AGGREGATE</a:t>
            </a:r>
            <a:r>
              <a:rPr kumimoji="1" lang="zh-TW" altLang="en" dirty="0"/>
              <a:t>？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1A2159F-3DD3-1311-9773-740BD03C7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CB1D7718-8ADC-D4E2-74E7-D48AA5DC6CC8}"/>
              </a:ext>
            </a:extLst>
          </p:cNvPr>
          <p:cNvSpPr/>
          <p:nvPr/>
        </p:nvSpPr>
        <p:spPr>
          <a:xfrm>
            <a:off x="1858413" y="4107218"/>
            <a:ext cx="550507" cy="550507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3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7F3915A4-FD50-1BA3-1E4B-74B233FB53C7}"/>
              </a:ext>
            </a:extLst>
          </p:cNvPr>
          <p:cNvSpPr/>
          <p:nvPr/>
        </p:nvSpPr>
        <p:spPr>
          <a:xfrm>
            <a:off x="2000841" y="3153746"/>
            <a:ext cx="550507" cy="550507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2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2333DA0F-7A94-A8E7-EE21-F16B49EF059D}"/>
              </a:ext>
            </a:extLst>
          </p:cNvPr>
          <p:cNvSpPr/>
          <p:nvPr/>
        </p:nvSpPr>
        <p:spPr>
          <a:xfrm>
            <a:off x="2551348" y="2529371"/>
            <a:ext cx="550507" cy="550507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1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68BBCB71-4174-2216-7BB6-E69E0A0E9BA1}"/>
              </a:ext>
            </a:extLst>
          </p:cNvPr>
          <p:cNvCxnSpPr>
            <a:cxnSpLocks/>
            <a:stCxn id="10" idx="3"/>
            <a:endCxn id="9" idx="7"/>
          </p:cNvCxnSpPr>
          <p:nvPr/>
        </p:nvCxnSpPr>
        <p:spPr>
          <a:xfrm flipH="1">
            <a:off x="2470728" y="2999258"/>
            <a:ext cx="161240" cy="23510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329916D0-2059-809F-C0F2-C2CA9865B697}"/>
              </a:ext>
            </a:extLst>
          </p:cNvPr>
          <p:cNvCxnSpPr>
            <a:cxnSpLocks/>
            <a:stCxn id="7" idx="0"/>
            <a:endCxn id="9" idx="4"/>
          </p:cNvCxnSpPr>
          <p:nvPr/>
        </p:nvCxnSpPr>
        <p:spPr>
          <a:xfrm flipV="1">
            <a:off x="2133667" y="3704253"/>
            <a:ext cx="142428" cy="40296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FDAF8083-8CD4-AC67-63E8-9E46BD92F369}"/>
                  </a:ext>
                </a:extLst>
              </p:cNvPr>
              <p:cNvSpPr txBox="1"/>
              <p:nvPr/>
            </p:nvSpPr>
            <p:spPr>
              <a:xfrm>
                <a:off x="1293287" y="2587607"/>
                <a:ext cx="1338681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FDAF8083-8CD4-AC67-63E8-9E46BD92F3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3287" y="2587607"/>
                <a:ext cx="1338681" cy="4116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3EDDCE18-F855-E1FB-B11E-561DBA8C677C}"/>
                  </a:ext>
                </a:extLst>
              </p:cNvPr>
              <p:cNvSpPr txBox="1"/>
              <p:nvPr/>
            </p:nvSpPr>
            <p:spPr>
              <a:xfrm>
                <a:off x="761431" y="3223173"/>
                <a:ext cx="1338681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3EDDCE18-F855-E1FB-B11E-561DBA8C6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31" y="3223173"/>
                <a:ext cx="1338681" cy="4116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D0A66DA1-6036-4F5E-9B65-8DCA6495CC06}"/>
                  </a:ext>
                </a:extLst>
              </p:cNvPr>
              <p:cNvSpPr txBox="1"/>
              <p:nvPr/>
            </p:nvSpPr>
            <p:spPr>
              <a:xfrm>
                <a:off x="662160" y="4176645"/>
                <a:ext cx="1338681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D0A66DA1-6036-4F5E-9B65-8DCA6495C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60" y="4176645"/>
                <a:ext cx="1338681" cy="411651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圖片 25">
            <a:extLst>
              <a:ext uri="{FF2B5EF4-FFF2-40B4-BE49-F238E27FC236}">
                <a16:creationId xmlns:a16="http://schemas.microsoft.com/office/drawing/2014/main" id="{7500EEDE-4572-3340-F455-32A4C29FD3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4460" y="2914403"/>
            <a:ext cx="2596329" cy="150941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8C572DD7-53FB-AD1F-1B01-2C01937C80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394" y="5162514"/>
            <a:ext cx="1561237" cy="125945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625EDBF-FC53-62C5-6778-15074F80BC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4460" y="4992233"/>
            <a:ext cx="2048752" cy="150941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16F207F-6F8F-AE17-AE66-541F92120CE8}"/>
              </a:ext>
            </a:extLst>
          </p:cNvPr>
          <p:cNvSpPr txBox="1"/>
          <p:nvPr/>
        </p:nvSpPr>
        <p:spPr>
          <a:xfrm>
            <a:off x="4754967" y="2326293"/>
            <a:ext cx="23654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TW" sz="1800" dirty="0">
                <a:solidFill>
                  <a:schemeClr val="tx1"/>
                </a:solidFill>
              </a:rPr>
              <a:t>Adjacency matrix</a:t>
            </a:r>
          </a:p>
          <a:p>
            <a:pPr algn="ctr"/>
            <a:r>
              <a:rPr lang="en" altLang="zh-TW" sz="1800" dirty="0">
                <a:solidFill>
                  <a:schemeClr val="tx1"/>
                </a:solidFill>
              </a:rPr>
              <a:t>(</a:t>
            </a:r>
            <a:r>
              <a:rPr lang="zh-TW" altLang="en-US" sz="1800" dirty="0">
                <a:solidFill>
                  <a:schemeClr val="tx1"/>
                </a:solidFill>
              </a:rPr>
              <a:t>鄰接矩陣</a:t>
            </a:r>
            <a:r>
              <a:rPr lang="en" altLang="zh-TW" sz="1800" dirty="0">
                <a:solidFill>
                  <a:schemeClr val="tx1"/>
                </a:solidFill>
              </a:rPr>
              <a:t>)</a:t>
            </a:r>
            <a:endParaRPr lang="zh-TW" alt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89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9F8C8-191A-4824-0DF2-BE14A457C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D3FDB0-0837-E731-CA55-495331A05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實作上 </a:t>
            </a:r>
            <a:r>
              <a:rPr kumimoji="1" lang="en" altLang="zh-TW" dirty="0"/>
              <a:t>GCN </a:t>
            </a:r>
            <a:r>
              <a:rPr kumimoji="1" lang="zh-TW" altLang="en-US" dirty="0"/>
              <a:t>如何做 </a:t>
            </a:r>
            <a:r>
              <a:rPr kumimoji="1" lang="en" altLang="zh-TW" dirty="0"/>
              <a:t>AGGREGATE</a:t>
            </a:r>
            <a:r>
              <a:rPr kumimoji="1" lang="zh-TW" altLang="en" dirty="0"/>
              <a:t>？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6CD5DC-2CB6-17E9-FD87-F5592C6C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DD8D9E50-BDCF-8373-EEDD-7F419F4F3D6B}"/>
              </a:ext>
            </a:extLst>
          </p:cNvPr>
          <p:cNvSpPr/>
          <p:nvPr/>
        </p:nvSpPr>
        <p:spPr>
          <a:xfrm>
            <a:off x="1858413" y="4107218"/>
            <a:ext cx="550507" cy="550507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3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895E1FCD-7B13-384B-ABED-EFF16DEA0AEB}"/>
              </a:ext>
            </a:extLst>
          </p:cNvPr>
          <p:cNvSpPr/>
          <p:nvPr/>
        </p:nvSpPr>
        <p:spPr>
          <a:xfrm>
            <a:off x="2000841" y="3153746"/>
            <a:ext cx="550507" cy="550507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2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A48DC757-2131-63B0-6042-578B579B5D57}"/>
              </a:ext>
            </a:extLst>
          </p:cNvPr>
          <p:cNvSpPr/>
          <p:nvPr/>
        </p:nvSpPr>
        <p:spPr>
          <a:xfrm>
            <a:off x="2551348" y="2529371"/>
            <a:ext cx="550507" cy="550507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1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A3BE586F-0E6B-31D1-FBD8-797521F7A639}"/>
              </a:ext>
            </a:extLst>
          </p:cNvPr>
          <p:cNvCxnSpPr>
            <a:cxnSpLocks/>
            <a:stCxn id="10" idx="3"/>
            <a:endCxn id="9" idx="7"/>
          </p:cNvCxnSpPr>
          <p:nvPr/>
        </p:nvCxnSpPr>
        <p:spPr>
          <a:xfrm flipH="1">
            <a:off x="2470728" y="2999258"/>
            <a:ext cx="161240" cy="23510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72BE793C-F36D-73C9-42AA-F7E1F140387F}"/>
              </a:ext>
            </a:extLst>
          </p:cNvPr>
          <p:cNvCxnSpPr>
            <a:cxnSpLocks/>
            <a:stCxn id="7" idx="0"/>
            <a:endCxn id="9" idx="4"/>
          </p:cNvCxnSpPr>
          <p:nvPr/>
        </p:nvCxnSpPr>
        <p:spPr>
          <a:xfrm flipV="1">
            <a:off x="2133667" y="3704253"/>
            <a:ext cx="142428" cy="40296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29978EC-E503-01BF-C886-ACC8BD3E0353}"/>
                  </a:ext>
                </a:extLst>
              </p:cNvPr>
              <p:cNvSpPr txBox="1"/>
              <p:nvPr/>
            </p:nvSpPr>
            <p:spPr>
              <a:xfrm>
                <a:off x="1293287" y="2587607"/>
                <a:ext cx="1338681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29978EC-E503-01BF-C886-ACC8BD3E0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3287" y="2587607"/>
                <a:ext cx="1338681" cy="4116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1E78EF75-9A1D-0624-60DF-033C0CB0E887}"/>
                  </a:ext>
                </a:extLst>
              </p:cNvPr>
              <p:cNvSpPr txBox="1"/>
              <p:nvPr/>
            </p:nvSpPr>
            <p:spPr>
              <a:xfrm>
                <a:off x="761431" y="3223173"/>
                <a:ext cx="1338681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1E78EF75-9A1D-0624-60DF-033C0CB0E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31" y="3223173"/>
                <a:ext cx="1338681" cy="4116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46E47FD3-E23F-FB85-82EC-0A8E0A313B6F}"/>
                  </a:ext>
                </a:extLst>
              </p:cNvPr>
              <p:cNvSpPr txBox="1"/>
              <p:nvPr/>
            </p:nvSpPr>
            <p:spPr>
              <a:xfrm>
                <a:off x="662160" y="4176645"/>
                <a:ext cx="1338681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46E47FD3-E23F-FB85-82EC-0A8E0A313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60" y="4176645"/>
                <a:ext cx="1338681" cy="411651"/>
              </a:xfrm>
              <a:prstGeom prst="rect">
                <a:avLst/>
              </a:prstGeom>
              <a:blipFill>
                <a:blip r:embed="rId4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圖片 24">
            <a:extLst>
              <a:ext uri="{FF2B5EF4-FFF2-40B4-BE49-F238E27FC236}">
                <a16:creationId xmlns:a16="http://schemas.microsoft.com/office/drawing/2014/main" id="{8B582BEF-8FCD-9F7D-40F5-66C932BC7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2365" y="2999258"/>
            <a:ext cx="2477814" cy="1426724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2321F659-3426-BB05-E34D-9EBBA4B677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4460" y="2914403"/>
            <a:ext cx="2596329" cy="1509410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90550271-E86A-1CA9-DE01-540D47883AC7}"/>
              </a:ext>
            </a:extLst>
          </p:cNvPr>
          <p:cNvSpPr txBox="1"/>
          <p:nvPr/>
        </p:nvSpPr>
        <p:spPr>
          <a:xfrm>
            <a:off x="6944710" y="3299776"/>
            <a:ext cx="11508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加入</a:t>
            </a:r>
            <a:r>
              <a:rPr kumimoji="1" lang="zh-TW" altLang="en-US" dirty="0">
                <a:solidFill>
                  <a:srgbClr val="FF0000"/>
                </a:solidFill>
              </a:rPr>
              <a:t>自環</a:t>
            </a:r>
          </a:p>
        </p:txBody>
      </p: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516BA208-796B-8A3C-D27B-24E54D9E0380}"/>
              </a:ext>
            </a:extLst>
          </p:cNvPr>
          <p:cNvCxnSpPr/>
          <p:nvPr/>
        </p:nvCxnSpPr>
        <p:spPr>
          <a:xfrm>
            <a:off x="6913181" y="3688487"/>
            <a:ext cx="13085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曲線接點 30">
            <a:extLst>
              <a:ext uri="{FF2B5EF4-FFF2-40B4-BE49-F238E27FC236}">
                <a16:creationId xmlns:a16="http://schemas.microsoft.com/office/drawing/2014/main" id="{A3BEAE47-7417-2BEF-D61F-A331326651EC}"/>
              </a:ext>
            </a:extLst>
          </p:cNvPr>
          <p:cNvCxnSpPr>
            <a:cxnSpLocks/>
            <a:stCxn id="10" idx="0"/>
            <a:endCxn id="10" idx="6"/>
          </p:cNvCxnSpPr>
          <p:nvPr/>
        </p:nvCxnSpPr>
        <p:spPr>
          <a:xfrm rot="16200000" flipH="1">
            <a:off x="2826601" y="2529372"/>
            <a:ext cx="275254" cy="275253"/>
          </a:xfrm>
          <a:prstGeom prst="curvedConnector4">
            <a:avLst>
              <a:gd name="adj1" fmla="val -51549"/>
              <a:gd name="adj2" fmla="val 151549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曲線接點 31">
            <a:extLst>
              <a:ext uri="{FF2B5EF4-FFF2-40B4-BE49-F238E27FC236}">
                <a16:creationId xmlns:a16="http://schemas.microsoft.com/office/drawing/2014/main" id="{8DFB5E3D-5DB3-BD4E-4710-8177E252D5DE}"/>
              </a:ext>
            </a:extLst>
          </p:cNvPr>
          <p:cNvCxnSpPr>
            <a:cxnSpLocks/>
            <a:stCxn id="9" idx="6"/>
            <a:endCxn id="9" idx="5"/>
          </p:cNvCxnSpPr>
          <p:nvPr/>
        </p:nvCxnSpPr>
        <p:spPr>
          <a:xfrm flipH="1">
            <a:off x="2470728" y="3429000"/>
            <a:ext cx="80620" cy="194633"/>
          </a:xfrm>
          <a:prstGeom prst="curvedConnector4">
            <a:avLst>
              <a:gd name="adj1" fmla="val -391106"/>
              <a:gd name="adj2" fmla="val 165722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曲線接點 35">
            <a:extLst>
              <a:ext uri="{FF2B5EF4-FFF2-40B4-BE49-F238E27FC236}">
                <a16:creationId xmlns:a16="http://schemas.microsoft.com/office/drawing/2014/main" id="{A3634FE6-5F0B-BD3B-5214-9A196462C17B}"/>
              </a:ext>
            </a:extLst>
          </p:cNvPr>
          <p:cNvCxnSpPr>
            <a:cxnSpLocks/>
            <a:stCxn id="7" idx="7"/>
            <a:endCxn id="7" idx="5"/>
          </p:cNvCxnSpPr>
          <p:nvPr/>
        </p:nvCxnSpPr>
        <p:spPr>
          <a:xfrm rot="16200000" flipH="1">
            <a:off x="2133666" y="4382471"/>
            <a:ext cx="389267" cy="12700"/>
          </a:xfrm>
          <a:prstGeom prst="curvedConnector5">
            <a:avLst>
              <a:gd name="adj1" fmla="val -10125"/>
              <a:gd name="adj2" fmla="val 3017126"/>
              <a:gd name="adj3" fmla="val 106076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735918AA-1F61-39D3-36A5-17DB11BB641B}"/>
              </a:ext>
            </a:extLst>
          </p:cNvPr>
          <p:cNvSpPr txBox="1"/>
          <p:nvPr/>
        </p:nvSpPr>
        <p:spPr>
          <a:xfrm>
            <a:off x="4204460" y="4987680"/>
            <a:ext cx="5489956" cy="508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💡不僅要看鄰居，也要保留自己的資訊。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75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347D6265-F6BD-D2B2-6706-7E511963A97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zh-TW" altLang="en-US" dirty="0"/>
                  <a:t>每個</a:t>
                </a:r>
                <a:r>
                  <a:rPr lang="en-US" altLang="zh-TW" sz="4800" dirty="0"/>
                  <a:t> </a:t>
                </a:r>
                <a14:m>
                  <m:oMath xmlns:m="http://schemas.openxmlformats.org/officeDocument/2006/math">
                    <m:r>
                      <a:rPr lang="en-US" altLang="zh-TW" sz="48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kumimoji="1" lang="zh-TW" altLang="en-US" dirty="0"/>
                  <a:t> 有什麼內容物</a:t>
                </a:r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347D6265-F6BD-D2B2-6706-7E511963A9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555" t="-8434" b="-156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A261381-ECFF-817C-8AE7-37D2FCCA8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2D7026B-A014-0565-371A-FAD114F1A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046" y="2305984"/>
            <a:ext cx="8973879" cy="251339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A0ED992E-02B9-76C3-3C90-817E7F9E01E5}"/>
              </a:ext>
            </a:extLst>
          </p:cNvPr>
          <p:cNvSpPr txBox="1"/>
          <p:nvPr/>
        </p:nvSpPr>
        <p:spPr>
          <a:xfrm>
            <a:off x="1955074" y="6365133"/>
            <a:ext cx="82818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600" dirty="0"/>
              <a:t>https://</a:t>
            </a:r>
            <a:r>
              <a:rPr kumimoji="1" lang="en" altLang="zh-TW" sz="1600" dirty="0" err="1"/>
              <a:t>github.com</a:t>
            </a:r>
            <a:r>
              <a:rPr kumimoji="1" lang="en" altLang="zh-TW" sz="1600" dirty="0"/>
              <a:t>/mcps5601/CGUDL_2025_fall/blob/main/code/</a:t>
            </a:r>
            <a:r>
              <a:rPr kumimoji="1" lang="en" altLang="zh-TW" sz="1600" dirty="0" err="1"/>
              <a:t>gnn.ipynb</a:t>
            </a:r>
            <a:endParaRPr kumimoji="1" lang="zh-TW" altLang="en-US" sz="1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EB35DF-3EC9-B300-3491-46CF046FDE61}"/>
              </a:ext>
            </a:extLst>
          </p:cNvPr>
          <p:cNvSpPr/>
          <p:nvPr/>
        </p:nvSpPr>
        <p:spPr>
          <a:xfrm>
            <a:off x="3592286" y="4049485"/>
            <a:ext cx="4728754" cy="3004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583488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DA5034-B148-C871-6F63-8FB5146F4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(Recap) GNN </a:t>
            </a:r>
            <a:r>
              <a:rPr kumimoji="1" lang="zh-TW" altLang="en-US" dirty="0"/>
              <a:t>核心步驟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62FF46-00A1-BF04-B990-D8695E76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D4521E7-A3DE-62C9-DE07-9E4EF951D3C3}"/>
              </a:ext>
            </a:extLst>
          </p:cNvPr>
          <p:cNvSpPr txBox="1"/>
          <p:nvPr/>
        </p:nvSpPr>
        <p:spPr>
          <a:xfrm>
            <a:off x="653143" y="1552904"/>
            <a:ext cx="3003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以 </a:t>
            </a:r>
            <a:r>
              <a:rPr kumimoji="1" lang="en-US" altLang="zh-TW" dirty="0"/>
              <a:t>Node classification </a:t>
            </a:r>
            <a:r>
              <a:rPr kumimoji="1" lang="zh-TW" altLang="en-US" dirty="0"/>
              <a:t>為例</a:t>
            </a:r>
          </a:p>
        </p:txBody>
      </p:sp>
      <p:sp>
        <p:nvSpPr>
          <p:cNvPr id="6" name="圓角矩形 5">
            <a:extLst>
              <a:ext uri="{FF2B5EF4-FFF2-40B4-BE49-F238E27FC236}">
                <a16:creationId xmlns:a16="http://schemas.microsoft.com/office/drawing/2014/main" id="{F25359B5-6BBC-D45F-E2FD-4FE21977C681}"/>
              </a:ext>
            </a:extLst>
          </p:cNvPr>
          <p:cNvSpPr/>
          <p:nvPr/>
        </p:nvSpPr>
        <p:spPr>
          <a:xfrm>
            <a:off x="3888826" y="2610455"/>
            <a:ext cx="4414345" cy="70156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Step1: </a:t>
            </a:r>
            <a:r>
              <a:rPr kumimoji="1" lang="zh-TW" altLang="en-US" dirty="0">
                <a:solidFill>
                  <a:schemeClr val="tx1"/>
                </a:solidFill>
              </a:rPr>
              <a:t>聚合鄰居節點資訊 </a:t>
            </a:r>
            <a:r>
              <a:rPr kumimoji="1" lang="en" altLang="zh-TW" dirty="0">
                <a:solidFill>
                  <a:schemeClr val="tx1"/>
                </a:solidFill>
              </a:rPr>
              <a:t>AGGREGATE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030F1B8A-7BE8-4E6A-C156-87992173C71F}"/>
              </a:ext>
            </a:extLst>
          </p:cNvPr>
          <p:cNvSpPr/>
          <p:nvPr/>
        </p:nvSpPr>
        <p:spPr>
          <a:xfrm>
            <a:off x="3888827" y="4476660"/>
            <a:ext cx="4414345" cy="70156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TW" dirty="0">
                <a:solidFill>
                  <a:schemeClr val="tx1"/>
                </a:solidFill>
              </a:rPr>
              <a:t>Step2: </a:t>
            </a:r>
            <a:r>
              <a:rPr kumimoji="1" lang="zh-TW" altLang="en-US" dirty="0">
                <a:solidFill>
                  <a:schemeClr val="tx1"/>
                </a:solidFill>
              </a:rPr>
              <a:t>更新自身節點資訊 </a:t>
            </a:r>
            <a:r>
              <a:rPr kumimoji="1" lang="en" altLang="zh-TW" dirty="0">
                <a:solidFill>
                  <a:schemeClr val="tx1"/>
                </a:solidFill>
              </a:rPr>
              <a:t>UPDATE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B564CC95-4D66-A5A1-FA4C-1CB5CC8A820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6095999" y="3312020"/>
            <a:ext cx="1" cy="1164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5479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779741-472B-2D9E-5D1C-9A6C1A996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GCN </a:t>
            </a:r>
            <a:r>
              <a:rPr kumimoji="1" lang="zh-TW" altLang="en-US" dirty="0"/>
              <a:t>的 </a:t>
            </a:r>
            <a:r>
              <a:rPr kumimoji="1" lang="en-US" altLang="zh-TW" dirty="0"/>
              <a:t>weights (UPDATE)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74A0EE-796A-6152-2086-A0399C6F7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524BD99-B309-3310-B052-7438A6F2383D}"/>
                  </a:ext>
                </a:extLst>
              </p:cNvPr>
              <p:cNvSpPr txBox="1"/>
              <p:nvPr/>
            </p:nvSpPr>
            <p:spPr>
              <a:xfrm>
                <a:off x="3883349" y="2702163"/>
                <a:ext cx="1205144" cy="594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zh-TW" alt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zh-TW" alt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524BD99-B309-3310-B052-7438A6F23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349" y="2702163"/>
                <a:ext cx="1205144" cy="5949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36C29DE-64A7-3D7C-8A11-F9F5D9314D7B}"/>
                  </a:ext>
                </a:extLst>
              </p:cNvPr>
              <p:cNvSpPr txBox="1"/>
              <p:nvPr/>
            </p:nvSpPr>
            <p:spPr>
              <a:xfrm>
                <a:off x="4671243" y="2711041"/>
                <a:ext cx="692458" cy="594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36C29DE-64A7-3D7C-8A11-F9F5D9314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243" y="2711041"/>
                <a:ext cx="692458" cy="5949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7F42553-090D-A6C0-1C99-E483DF5F105D}"/>
                  </a:ext>
                </a:extLst>
              </p:cNvPr>
              <p:cNvSpPr txBox="1"/>
              <p:nvPr/>
            </p:nvSpPr>
            <p:spPr>
              <a:xfrm>
                <a:off x="3791717" y="4605102"/>
                <a:ext cx="1205144" cy="594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zh-TW" alt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zh-TW" alt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7F42553-090D-A6C0-1C99-E483DF5F1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717" y="4605102"/>
                <a:ext cx="1205144" cy="5949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8631A44F-A8F1-903B-F379-EA332F759D7B}"/>
                  </a:ext>
                </a:extLst>
              </p:cNvPr>
              <p:cNvSpPr txBox="1"/>
              <p:nvPr/>
            </p:nvSpPr>
            <p:spPr>
              <a:xfrm>
                <a:off x="4579611" y="4613980"/>
                <a:ext cx="692458" cy="594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8631A44F-A8F1-903B-F379-EA332F759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611" y="4613980"/>
                <a:ext cx="692458" cy="5949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68DB1B8C-3D51-640B-E575-41559ED1BD92}"/>
              </a:ext>
            </a:extLst>
          </p:cNvPr>
          <p:cNvSpPr txBox="1"/>
          <p:nvPr/>
        </p:nvSpPr>
        <p:spPr>
          <a:xfrm>
            <a:off x="653142" y="1704513"/>
            <a:ext cx="8322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/>
              <a:t>假設有一張圖的 </a:t>
            </a:r>
            <a:r>
              <a:rPr kumimoji="1" lang="en-US" altLang="zh-TW" sz="2000" dirty="0"/>
              <a:t>nodes</a:t>
            </a:r>
            <a:r>
              <a:rPr kumimoji="1" lang="zh-TW" altLang="en-US" sz="2000" dirty="0"/>
              <a:t> 有</a:t>
            </a:r>
            <a:r>
              <a:rPr kumimoji="1" lang="en-US" altLang="zh-TW" sz="2000" dirty="0"/>
              <a:t>3</a:t>
            </a:r>
            <a:r>
              <a:rPr kumimoji="1" lang="zh-TW" altLang="en-US" sz="2000" dirty="0"/>
              <a:t>個，且每個 </a:t>
            </a:r>
            <a:r>
              <a:rPr kumimoji="1" lang="en-US" altLang="zh-TW" sz="2000" dirty="0"/>
              <a:t>node</a:t>
            </a:r>
            <a:r>
              <a:rPr kumimoji="1" lang="zh-TW" altLang="en-US" sz="2000" dirty="0"/>
              <a:t> 的 </a:t>
            </a:r>
            <a:r>
              <a:rPr kumimoji="1" lang="en-US" altLang="zh-TW" sz="2000" dirty="0"/>
              <a:t>feature</a:t>
            </a:r>
            <a:r>
              <a:rPr kumimoji="1" lang="zh-TW" altLang="en-US" sz="2000" dirty="0"/>
              <a:t> 數目為</a:t>
            </a:r>
            <a:r>
              <a:rPr kumimoji="1" lang="en-US" altLang="zh-TW" sz="2000" dirty="0"/>
              <a:t>10</a:t>
            </a:r>
            <a:r>
              <a:rPr kumimoji="1" lang="zh-TW" altLang="en-US" sz="2000" dirty="0"/>
              <a:t>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1A2B4F47-C17E-6FA7-4F96-A14B46FAFA48}"/>
                  </a:ext>
                </a:extLst>
              </p:cNvPr>
              <p:cNvSpPr txBox="1"/>
              <p:nvPr/>
            </p:nvSpPr>
            <p:spPr>
              <a:xfrm>
                <a:off x="3791717" y="3457800"/>
                <a:ext cx="10364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TW" altLang="en-US" i="0">
                          <a:latin typeface="Cambria Math" panose="02040503050406030204" pitchFamily="18" charset="0"/>
                        </a:rPr>
                        <m:t>×3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1A2B4F47-C17E-6FA7-4F96-A14B46FAF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717" y="3457800"/>
                <a:ext cx="103646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BBF44F2-ED4F-80E1-D019-B1366A78F91B}"/>
                  </a:ext>
                </a:extLst>
              </p:cNvPr>
              <p:cNvSpPr txBox="1"/>
              <p:nvPr/>
            </p:nvSpPr>
            <p:spPr>
              <a:xfrm>
                <a:off x="4034269" y="3936438"/>
                <a:ext cx="10364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TW" altLang="en-US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DBBF44F2-ED4F-80E1-D019-B1366A78F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269" y="3936438"/>
                <a:ext cx="103646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E8839D3B-A3DF-18E1-D36D-527F21E41824}"/>
              </a:ext>
            </a:extLst>
          </p:cNvPr>
          <p:cNvCxnSpPr>
            <a:stCxn id="12" idx="0"/>
          </p:cNvCxnSpPr>
          <p:nvPr/>
        </p:nvCxnSpPr>
        <p:spPr>
          <a:xfrm flipV="1">
            <a:off x="4309951" y="3233639"/>
            <a:ext cx="0" cy="224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FABA9189-0255-535A-2D80-6529CA246D0F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4552503" y="3233639"/>
            <a:ext cx="0" cy="702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9EFA3586-C2C9-E20B-096F-94835771871E}"/>
                  </a:ext>
                </a:extLst>
              </p:cNvPr>
              <p:cNvSpPr txBox="1"/>
              <p:nvPr/>
            </p:nvSpPr>
            <p:spPr>
              <a:xfrm>
                <a:off x="5174884" y="3338227"/>
                <a:ext cx="186382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10 </m:t>
                      </m:r>
                      <m:r>
                        <a:rPr lang="zh-TW" altLang="en-US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hidden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size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9EFA3586-C2C9-E20B-096F-948357718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884" y="3338227"/>
                <a:ext cx="1863825" cy="369332"/>
              </a:xfrm>
              <a:prstGeom prst="rect">
                <a:avLst/>
              </a:prstGeom>
              <a:blipFill>
                <a:blip r:embed="rId9"/>
                <a:stretch>
                  <a:fillRect b="-206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肘形接點 22">
            <a:extLst>
              <a:ext uri="{FF2B5EF4-FFF2-40B4-BE49-F238E27FC236}">
                <a16:creationId xmlns:a16="http://schemas.microsoft.com/office/drawing/2014/main" id="{37B860AD-3106-49C7-35F7-4800AB385259}"/>
              </a:ext>
            </a:extLst>
          </p:cNvPr>
          <p:cNvCxnSpPr>
            <a:cxnSpLocks/>
          </p:cNvCxnSpPr>
          <p:nvPr/>
        </p:nvCxnSpPr>
        <p:spPr>
          <a:xfrm rot="10800000">
            <a:off x="4973082" y="3234988"/>
            <a:ext cx="201802" cy="2790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AEC844E-8427-4E9A-E922-74D96FDE6AD3}"/>
              </a:ext>
            </a:extLst>
          </p:cNvPr>
          <p:cNvSpPr txBox="1"/>
          <p:nvPr/>
        </p:nvSpPr>
        <p:spPr>
          <a:xfrm>
            <a:off x="1040480" y="4711411"/>
            <a:ext cx="1809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solidFill>
                  <a:srgbClr val="0070C0"/>
                </a:solidFill>
              </a:rPr>
              <a:t>GCN_layer2</a:t>
            </a:r>
            <a:endParaRPr kumimoji="1" lang="zh-TW" altLang="en-US" sz="2000" b="1" dirty="0">
              <a:solidFill>
                <a:srgbClr val="0070C0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E0FCB0C-0CBE-634B-FEF3-5AC99AAF5D7C}"/>
              </a:ext>
            </a:extLst>
          </p:cNvPr>
          <p:cNvSpPr txBox="1"/>
          <p:nvPr/>
        </p:nvSpPr>
        <p:spPr>
          <a:xfrm>
            <a:off x="1040481" y="2808471"/>
            <a:ext cx="1809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solidFill>
                  <a:srgbClr val="0070C0"/>
                </a:solidFill>
              </a:rPr>
              <a:t>GCN_layer1</a:t>
            </a:r>
            <a:endParaRPr kumimoji="1" lang="zh-TW" altLang="en-US" sz="20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A634D8CC-9D05-F489-7B08-18EFE62C4928}"/>
                  </a:ext>
                </a:extLst>
              </p:cNvPr>
              <p:cNvSpPr txBox="1"/>
              <p:nvPr/>
            </p:nvSpPr>
            <p:spPr>
              <a:xfrm>
                <a:off x="3705326" y="5368467"/>
                <a:ext cx="10364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TW" altLang="en-US" i="0">
                          <a:latin typeface="Cambria Math" panose="02040503050406030204" pitchFamily="18" charset="0"/>
                        </a:rPr>
                        <m:t>×3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A634D8CC-9D05-F489-7B08-18EFE62C49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326" y="5368467"/>
                <a:ext cx="103646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CE2576C-09B3-3A49-5C2F-8B3D37B5BB98}"/>
                  </a:ext>
                </a:extLst>
              </p:cNvPr>
              <p:cNvSpPr txBox="1"/>
              <p:nvPr/>
            </p:nvSpPr>
            <p:spPr>
              <a:xfrm>
                <a:off x="3739962" y="5887048"/>
                <a:ext cx="16792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TW" altLang="en-US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hidden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size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CE2576C-09B3-3A49-5C2F-8B3D37B5B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962" y="5887048"/>
                <a:ext cx="167929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線箭頭接點 30">
            <a:extLst>
              <a:ext uri="{FF2B5EF4-FFF2-40B4-BE49-F238E27FC236}">
                <a16:creationId xmlns:a16="http://schemas.microsoft.com/office/drawing/2014/main" id="{CBBD0652-8CAD-7260-49E9-4F8ED542A7AE}"/>
              </a:ext>
            </a:extLst>
          </p:cNvPr>
          <p:cNvCxnSpPr>
            <a:stCxn id="29" idx="0"/>
          </p:cNvCxnSpPr>
          <p:nvPr/>
        </p:nvCxnSpPr>
        <p:spPr>
          <a:xfrm flipV="1">
            <a:off x="4223560" y="5144306"/>
            <a:ext cx="0" cy="224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736164B1-4627-C86A-677A-4BC2D8084911}"/>
                  </a:ext>
                </a:extLst>
              </p:cNvPr>
              <p:cNvSpPr txBox="1"/>
              <p:nvPr/>
            </p:nvSpPr>
            <p:spPr>
              <a:xfrm>
                <a:off x="5088493" y="5248894"/>
                <a:ext cx="28286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latin typeface="Cambria Math" panose="02040503050406030204" pitchFamily="18" charset="0"/>
                        </a:rPr>
                        <m:t>hidden</m:t>
                      </m:r>
                      <m:r>
                        <a:rPr lang="en-US" altLang="zh-TW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zh-TW" smtClean="0">
                          <a:latin typeface="Cambria Math" panose="02040503050406030204" pitchFamily="18" charset="0"/>
                        </a:rPr>
                        <m:t>size</m:t>
                      </m:r>
                      <m:r>
                        <a:rPr lang="zh-TW" altLang="en-US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num</m:t>
                      </m:r>
                      <m:r>
                        <a:rPr lang="en-US" altLang="zh-TW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zh-TW" b="0" i="0" smtClean="0">
                          <a:latin typeface="Cambria Math" panose="02040503050406030204" pitchFamily="18" charset="0"/>
                        </a:rPr>
                        <m:t>classes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736164B1-4627-C86A-677A-4BC2D8084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8493" y="5248894"/>
                <a:ext cx="2828694" cy="369332"/>
              </a:xfrm>
              <a:prstGeom prst="rect">
                <a:avLst/>
              </a:prstGeom>
              <a:blipFill>
                <a:blip r:embed="rId12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肘形接點 33">
            <a:extLst>
              <a:ext uri="{FF2B5EF4-FFF2-40B4-BE49-F238E27FC236}">
                <a16:creationId xmlns:a16="http://schemas.microsoft.com/office/drawing/2014/main" id="{27060EF2-007F-308D-99E2-9516912927FF}"/>
              </a:ext>
            </a:extLst>
          </p:cNvPr>
          <p:cNvCxnSpPr>
            <a:cxnSpLocks/>
          </p:cNvCxnSpPr>
          <p:nvPr/>
        </p:nvCxnSpPr>
        <p:spPr>
          <a:xfrm rot="10800000">
            <a:off x="4886691" y="5145655"/>
            <a:ext cx="201802" cy="2790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6F41F6DE-6F99-440A-90C3-586879B831F2}"/>
              </a:ext>
            </a:extLst>
          </p:cNvPr>
          <p:cNvCxnSpPr>
            <a:cxnSpLocks/>
          </p:cNvCxnSpPr>
          <p:nvPr/>
        </p:nvCxnSpPr>
        <p:spPr>
          <a:xfrm flipV="1">
            <a:off x="4494799" y="5144306"/>
            <a:ext cx="0" cy="702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51117D9D-0436-E0DA-0E04-D89CF0584402}"/>
              </a:ext>
            </a:extLst>
          </p:cNvPr>
          <p:cNvSpPr txBox="1"/>
          <p:nvPr/>
        </p:nvSpPr>
        <p:spPr>
          <a:xfrm>
            <a:off x="7752211" y="4828787"/>
            <a:ext cx="282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solidFill>
                  <a:srgbClr val="0070C0"/>
                </a:solidFill>
              </a:rPr>
              <a:t>Node Classification</a:t>
            </a:r>
            <a:endParaRPr kumimoji="1" lang="zh-TW" altLang="en-US" sz="2000" b="1" dirty="0">
              <a:solidFill>
                <a:srgbClr val="0070C0"/>
              </a:solidFill>
            </a:endParaRPr>
          </a:p>
        </p:txBody>
      </p:sp>
      <p:sp>
        <p:nvSpPr>
          <p:cNvPr id="40" name="向右箭號 39">
            <a:extLst>
              <a:ext uri="{FF2B5EF4-FFF2-40B4-BE49-F238E27FC236}">
                <a16:creationId xmlns:a16="http://schemas.microsoft.com/office/drawing/2014/main" id="{5F1CA8F5-12E0-E5FE-48F9-515FD95CAADC}"/>
              </a:ext>
            </a:extLst>
          </p:cNvPr>
          <p:cNvSpPr/>
          <p:nvPr/>
        </p:nvSpPr>
        <p:spPr>
          <a:xfrm>
            <a:off x="7038709" y="4861572"/>
            <a:ext cx="372862" cy="2827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FEA1A17-F2F6-1138-7DEA-24A14BEF8351}"/>
                  </a:ext>
                </a:extLst>
              </p:cNvPr>
              <p:cNvSpPr txBox="1"/>
              <p:nvPr/>
            </p:nvSpPr>
            <p:spPr>
              <a:xfrm>
                <a:off x="1373431" y="2694396"/>
                <a:ext cx="4247760" cy="605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TW" sz="3200" b="0" i="0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p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FEA1A17-F2F6-1138-7DEA-24A14BEF8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3431" y="2694396"/>
                <a:ext cx="4247760" cy="60529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11321642-67B6-476E-45FA-1E2240FF63CE}"/>
                  </a:ext>
                </a:extLst>
              </p:cNvPr>
              <p:cNvSpPr txBox="1"/>
              <p:nvPr/>
            </p:nvSpPr>
            <p:spPr>
              <a:xfrm>
                <a:off x="1320605" y="4591537"/>
                <a:ext cx="4247760" cy="605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3200" b="0" i="0" smtClean="0">
                              <a:latin typeface="Cambria Math" panose="02040503050406030204" pitchFamily="18" charset="0"/>
                            </a:rPr>
                            <m:t>3)</m:t>
                          </m:r>
                        </m:sup>
                      </m:sSup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11321642-67B6-476E-45FA-1E2240FF6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605" y="4591537"/>
                <a:ext cx="4247760" cy="6052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CF7BDDF0-CE7B-6A26-0700-18E27ED911EC}"/>
                  </a:ext>
                </a:extLst>
              </p:cNvPr>
              <p:cNvSpPr txBox="1"/>
              <p:nvPr/>
            </p:nvSpPr>
            <p:spPr>
              <a:xfrm>
                <a:off x="4464733" y="4599108"/>
                <a:ext cx="55412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0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CF7BDDF0-CE7B-6A26-0700-18E27ED91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733" y="4599108"/>
                <a:ext cx="554121" cy="307777"/>
              </a:xfrm>
              <a:prstGeom prst="rect">
                <a:avLst/>
              </a:prstGeom>
              <a:blipFill>
                <a:blip r:embed="rId15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02CBFB5A-69E4-5E16-64F9-F32878F14381}"/>
                  </a:ext>
                </a:extLst>
              </p:cNvPr>
              <p:cNvSpPr txBox="1"/>
              <p:nvPr/>
            </p:nvSpPr>
            <p:spPr>
              <a:xfrm>
                <a:off x="4552503" y="2689790"/>
                <a:ext cx="55412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0" smtClean="0">
                          <a:latin typeface="Cambria Math" panose="02040503050406030204" pitchFamily="18" charset="0"/>
                        </a:rPr>
                        <m:t>(1)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02CBFB5A-69E4-5E16-64F9-F32878F14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503" y="2689790"/>
                <a:ext cx="554121" cy="307777"/>
              </a:xfrm>
              <a:prstGeom prst="rect">
                <a:avLst/>
              </a:prstGeom>
              <a:blipFill>
                <a:blip r:embed="rId16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0587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2" grpId="0"/>
      <p:bldP spid="13" grpId="0"/>
      <p:bldP spid="21" grpId="0"/>
      <p:bldP spid="27" grpId="0"/>
      <p:bldP spid="28" grpId="0"/>
      <p:bldP spid="29" grpId="0"/>
      <p:bldP spid="30" grpId="0"/>
      <p:bldP spid="33" grpId="0"/>
      <p:bldP spid="39" grpId="0"/>
      <p:bldP spid="40" grpId="0" animBg="1"/>
      <p:bldP spid="11" grpId="0"/>
      <p:bldP spid="14" grpId="0"/>
      <p:bldP spid="18" grpId="0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4F143-F312-E352-8E65-8F29CC48E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>
            <a:extLst>
              <a:ext uri="{FF2B5EF4-FFF2-40B4-BE49-F238E27FC236}">
                <a16:creationId xmlns:a16="http://schemas.microsoft.com/office/drawing/2014/main" id="{93DA5F60-B844-AF78-A95F-027A6748FE92}"/>
              </a:ext>
            </a:extLst>
          </p:cNvPr>
          <p:cNvGrpSpPr/>
          <p:nvPr/>
        </p:nvGrpSpPr>
        <p:grpSpPr>
          <a:xfrm>
            <a:off x="1858413" y="2529371"/>
            <a:ext cx="1243442" cy="2128354"/>
            <a:chOff x="2010813" y="2681771"/>
            <a:chExt cx="1243442" cy="2128354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2DB33680-6F64-8530-A2FA-389CC28D67C2}"/>
                </a:ext>
              </a:extLst>
            </p:cNvPr>
            <p:cNvSpPr/>
            <p:nvPr/>
          </p:nvSpPr>
          <p:spPr>
            <a:xfrm>
              <a:off x="2010813" y="4259618"/>
              <a:ext cx="550507" cy="550507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E3EFD90F-F045-DFE5-CB2A-7247046ED4AC}"/>
                </a:ext>
              </a:extLst>
            </p:cNvPr>
            <p:cNvSpPr/>
            <p:nvPr/>
          </p:nvSpPr>
          <p:spPr>
            <a:xfrm>
              <a:off x="2153241" y="3306146"/>
              <a:ext cx="550507" cy="550507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D8BBDB0D-23A2-C247-4AD3-9E4396B21260}"/>
                </a:ext>
              </a:extLst>
            </p:cNvPr>
            <p:cNvSpPr/>
            <p:nvPr/>
          </p:nvSpPr>
          <p:spPr>
            <a:xfrm>
              <a:off x="2703748" y="2681771"/>
              <a:ext cx="550507" cy="550507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直線接點 19">
              <a:extLst>
                <a:ext uri="{FF2B5EF4-FFF2-40B4-BE49-F238E27FC236}">
                  <a16:creationId xmlns:a16="http://schemas.microsoft.com/office/drawing/2014/main" id="{325A1963-C542-333D-33E6-C65EE3F9A53E}"/>
                </a:ext>
              </a:extLst>
            </p:cNvPr>
            <p:cNvCxnSpPr>
              <a:cxnSpLocks/>
              <a:stCxn id="19" idx="3"/>
              <a:endCxn id="18" idx="7"/>
            </p:cNvCxnSpPr>
            <p:nvPr/>
          </p:nvCxnSpPr>
          <p:spPr>
            <a:xfrm flipH="1">
              <a:off x="2623128" y="315165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>
              <a:extLst>
                <a:ext uri="{FF2B5EF4-FFF2-40B4-BE49-F238E27FC236}">
                  <a16:creationId xmlns:a16="http://schemas.microsoft.com/office/drawing/2014/main" id="{02D30A11-B8E4-D783-C06B-35066A54F0CF}"/>
                </a:ext>
              </a:extLst>
            </p:cNvPr>
            <p:cNvCxnSpPr>
              <a:cxnSpLocks/>
              <a:stCxn id="17" idx="0"/>
              <a:endCxn id="18" idx="4"/>
            </p:cNvCxnSpPr>
            <p:nvPr/>
          </p:nvCxnSpPr>
          <p:spPr>
            <a:xfrm flipV="1">
              <a:off x="2286067" y="385665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44856215-2ED5-D7A9-2321-0E7FC830E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可能有些 </a:t>
            </a:r>
            <a:r>
              <a:rPr kumimoji="1" lang="en-US" altLang="zh-TW" dirty="0"/>
              <a:t>node(s)</a:t>
            </a:r>
            <a:r>
              <a:rPr kumimoji="1" lang="zh-TW" altLang="en-US" dirty="0"/>
              <a:t> 的鄰居特別多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BC121C-3C3F-B878-6063-1981437E8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D42ECBE5-DB2B-F79F-A222-A5715C0291DA}"/>
              </a:ext>
            </a:extLst>
          </p:cNvPr>
          <p:cNvGrpSpPr/>
          <p:nvPr/>
        </p:nvGrpSpPr>
        <p:grpSpPr>
          <a:xfrm>
            <a:off x="1858413" y="2529371"/>
            <a:ext cx="1243442" cy="2128354"/>
            <a:chOff x="1858413" y="2529371"/>
            <a:chExt cx="1243442" cy="2128354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03075A2C-E1CE-D301-483F-52C5E87B3374}"/>
                </a:ext>
              </a:extLst>
            </p:cNvPr>
            <p:cNvSpPr/>
            <p:nvPr/>
          </p:nvSpPr>
          <p:spPr>
            <a:xfrm>
              <a:off x="1858413" y="4107218"/>
              <a:ext cx="550507" cy="550507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048D3032-BC89-6712-C58A-F4206227DF16}"/>
                </a:ext>
              </a:extLst>
            </p:cNvPr>
            <p:cNvSpPr/>
            <p:nvPr/>
          </p:nvSpPr>
          <p:spPr>
            <a:xfrm>
              <a:off x="2000841" y="3153746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8DE68044-E0CA-3352-3FD4-AE18D2DC4BDA}"/>
                </a:ext>
              </a:extLst>
            </p:cNvPr>
            <p:cNvSpPr/>
            <p:nvPr/>
          </p:nvSpPr>
          <p:spPr>
            <a:xfrm>
              <a:off x="2551348" y="2529371"/>
              <a:ext cx="550507" cy="55050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31A2E272-3D2B-B2D0-7379-EFAA8757BF0A}"/>
                </a:ext>
              </a:extLst>
            </p:cNvPr>
            <p:cNvCxnSpPr>
              <a:cxnSpLocks/>
              <a:stCxn id="10" idx="3"/>
              <a:endCxn id="9" idx="7"/>
            </p:cNvCxnSpPr>
            <p:nvPr/>
          </p:nvCxnSpPr>
          <p:spPr>
            <a:xfrm flipH="1">
              <a:off x="2470728" y="299925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9CC50DF9-F85E-ED23-1563-8E93DE59E89A}"/>
                </a:ext>
              </a:extLst>
            </p:cNvPr>
            <p:cNvCxnSpPr>
              <a:cxnSpLocks/>
              <a:stCxn id="7" idx="0"/>
              <a:endCxn id="9" idx="4"/>
            </p:cNvCxnSpPr>
            <p:nvPr/>
          </p:nvCxnSpPr>
          <p:spPr>
            <a:xfrm flipV="1">
              <a:off x="2133667" y="370425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F071C603-9512-14BD-5373-DBC90AAA809C}"/>
              </a:ext>
            </a:extLst>
          </p:cNvPr>
          <p:cNvSpPr txBox="1"/>
          <p:nvPr/>
        </p:nvSpPr>
        <p:spPr>
          <a:xfrm>
            <a:off x="653143" y="1586847"/>
            <a:ext cx="10918370" cy="591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💡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GCN 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使用相加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來收集鄰居資訊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F3BC11B-370D-12CD-70DD-9022F5B5304F}"/>
              </a:ext>
            </a:extLst>
          </p:cNvPr>
          <p:cNvSpPr txBox="1"/>
          <p:nvPr/>
        </p:nvSpPr>
        <p:spPr>
          <a:xfrm>
            <a:off x="1284373" y="4958559"/>
            <a:ext cx="2372710" cy="87203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dirty="0"/>
              <a:t>Source node: </a:t>
            </a:r>
            <a:r>
              <a:rPr kumimoji="1" lang="en-US" altLang="zh-TW" b="1" dirty="0">
                <a:solidFill>
                  <a:srgbClr val="0070C0"/>
                </a:solidFill>
              </a:rPr>
              <a:t>1</a:t>
            </a:r>
          </a:p>
          <a:p>
            <a:pPr>
              <a:lnSpc>
                <a:spcPct val="150000"/>
              </a:lnSpc>
            </a:pPr>
            <a:r>
              <a:rPr kumimoji="1" lang="en-US" altLang="zh-TW" dirty="0"/>
              <a:t>Neighbor node: </a:t>
            </a:r>
            <a:r>
              <a:rPr kumimoji="1" lang="en-US" altLang="zh-TW" b="1" dirty="0">
                <a:solidFill>
                  <a:srgbClr val="FF0000"/>
                </a:solidFill>
              </a:rPr>
              <a:t>2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1910A1A8-4241-418C-8749-FC96FE9A7874}"/>
              </a:ext>
            </a:extLst>
          </p:cNvPr>
          <p:cNvSpPr txBox="1"/>
          <p:nvPr/>
        </p:nvSpPr>
        <p:spPr>
          <a:xfrm>
            <a:off x="4110461" y="4958559"/>
            <a:ext cx="2503402" cy="87203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dirty="0"/>
              <a:t>Source node: </a:t>
            </a:r>
            <a:r>
              <a:rPr kumimoji="1" lang="en-US" altLang="zh-TW" b="1" dirty="0">
                <a:solidFill>
                  <a:srgbClr val="0070C0"/>
                </a:solidFill>
              </a:rPr>
              <a:t>2</a:t>
            </a:r>
          </a:p>
          <a:p>
            <a:pPr>
              <a:lnSpc>
                <a:spcPct val="150000"/>
              </a:lnSpc>
            </a:pPr>
            <a:r>
              <a:rPr kumimoji="1" lang="en-US" altLang="zh-TW" dirty="0"/>
              <a:t>Neighbor node: </a:t>
            </a:r>
            <a:r>
              <a:rPr kumimoji="1" lang="en-US" altLang="zh-TW" b="1" dirty="0">
                <a:solidFill>
                  <a:srgbClr val="FF0000"/>
                </a:solidFill>
              </a:rPr>
              <a:t>1, 3, 4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18A03A5-F40C-91EA-22ED-614AF6C21812}"/>
                  </a:ext>
                </a:extLst>
              </p:cNvPr>
              <p:cNvSpPr txBox="1"/>
              <p:nvPr/>
            </p:nvSpPr>
            <p:spPr>
              <a:xfrm>
                <a:off x="1293287" y="2587607"/>
                <a:ext cx="1338681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18A03A5-F40C-91EA-22ED-614AF6C21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3287" y="2587607"/>
                <a:ext cx="1338681" cy="4116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C5B3724-CFD5-42A6-6790-ACF779C43572}"/>
                  </a:ext>
                </a:extLst>
              </p:cNvPr>
              <p:cNvSpPr txBox="1"/>
              <p:nvPr/>
            </p:nvSpPr>
            <p:spPr>
              <a:xfrm>
                <a:off x="761431" y="3223173"/>
                <a:ext cx="1338681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C5B3724-CFD5-42A6-6790-ACF779C43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431" y="3223173"/>
                <a:ext cx="1338681" cy="4116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69BA211-628F-6146-CF27-C2D98F5C0E34}"/>
                  </a:ext>
                </a:extLst>
              </p:cNvPr>
              <p:cNvSpPr txBox="1"/>
              <p:nvPr/>
            </p:nvSpPr>
            <p:spPr>
              <a:xfrm>
                <a:off x="662160" y="4176645"/>
                <a:ext cx="1338681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=30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269BA211-628F-6146-CF27-C2D98F5C0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160" y="4176645"/>
                <a:ext cx="1338681" cy="411651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5263998-6526-22F1-A44C-525714DF567E}"/>
                  </a:ext>
                </a:extLst>
              </p:cNvPr>
              <p:cNvSpPr txBox="1"/>
              <p:nvPr/>
            </p:nvSpPr>
            <p:spPr>
              <a:xfrm>
                <a:off x="3069364" y="2598798"/>
                <a:ext cx="797419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85263998-6526-22F1-A44C-525714DF5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364" y="2598798"/>
                <a:ext cx="797419" cy="4116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8ECA66AC-7839-DA53-5252-C88E97157213}"/>
              </a:ext>
            </a:extLst>
          </p:cNvPr>
          <p:cNvSpPr txBox="1"/>
          <p:nvPr/>
        </p:nvSpPr>
        <p:spPr>
          <a:xfrm>
            <a:off x="788649" y="6247258"/>
            <a:ext cx="6260221" cy="508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TW" sz="2000" dirty="0"/>
              <a:t>⚠️ </a:t>
            </a:r>
            <a:r>
              <a:rPr kumimoji="1" lang="zh-TW" altLang="en-US" sz="2000" dirty="0"/>
              <a:t>此頁</a:t>
            </a:r>
            <a:r>
              <a:rPr kumimoji="1" lang="en-US" altLang="zh-TW" sz="2000" dirty="0"/>
              <a:t>slide</a:t>
            </a:r>
            <a:r>
              <a:rPr kumimoji="1" lang="zh-TW" altLang="en-US" sz="2000" dirty="0"/>
              <a:t>為求簡潔，每個</a:t>
            </a:r>
            <a:r>
              <a:rPr kumimoji="1" lang="en-US" altLang="zh-TW" sz="2000" dirty="0"/>
              <a:t>node</a:t>
            </a:r>
            <a:r>
              <a:rPr kumimoji="1" lang="zh-TW" altLang="en-US" sz="2000" dirty="0"/>
              <a:t>僅使用 </a:t>
            </a:r>
            <a:r>
              <a:rPr kumimoji="1" lang="en-US" altLang="zh-TW" sz="2000" dirty="0"/>
              <a:t>1 </a:t>
            </a:r>
            <a:r>
              <a:rPr kumimoji="1" lang="zh-TW" altLang="en-US" sz="2000" dirty="0"/>
              <a:t>個</a:t>
            </a:r>
            <a:r>
              <a:rPr kumimoji="1" lang="en-US" altLang="zh-TW" sz="2000" dirty="0"/>
              <a:t>feature</a:t>
            </a:r>
            <a:endParaRPr kumimoji="1" lang="zh-TW" altLang="en-US" sz="2000" dirty="0"/>
          </a:p>
        </p:txBody>
      </p: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929F07BA-CACC-1D57-2863-9308C5530883}"/>
              </a:ext>
            </a:extLst>
          </p:cNvPr>
          <p:cNvCxnSpPr>
            <a:cxnSpLocks/>
            <a:endCxn id="9" idx="6"/>
          </p:cNvCxnSpPr>
          <p:nvPr/>
        </p:nvCxnSpPr>
        <p:spPr>
          <a:xfrm flipH="1" flipV="1">
            <a:off x="2551348" y="3429000"/>
            <a:ext cx="342772" cy="212674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橢圓 28">
            <a:extLst>
              <a:ext uri="{FF2B5EF4-FFF2-40B4-BE49-F238E27FC236}">
                <a16:creationId xmlns:a16="http://schemas.microsoft.com/office/drawing/2014/main" id="{14522C2A-60EF-BAC8-E686-CF65E5F8AD62}"/>
              </a:ext>
            </a:extLst>
          </p:cNvPr>
          <p:cNvSpPr/>
          <p:nvPr/>
        </p:nvSpPr>
        <p:spPr>
          <a:xfrm>
            <a:off x="2870472" y="3495432"/>
            <a:ext cx="550507" cy="550507"/>
          </a:xfrm>
          <a:prstGeom prst="ellips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4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BA41772E-0E61-C8A3-F33F-440A513F4370}"/>
                  </a:ext>
                </a:extLst>
              </p:cNvPr>
              <p:cNvSpPr txBox="1"/>
              <p:nvPr/>
            </p:nvSpPr>
            <p:spPr>
              <a:xfrm>
                <a:off x="2500898" y="4058929"/>
                <a:ext cx="1338681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BA41772E-0E61-C8A3-F33F-440A513F4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0898" y="4058929"/>
                <a:ext cx="1338681" cy="411651"/>
              </a:xfrm>
              <a:prstGeom prst="rect">
                <a:avLst/>
              </a:prstGeom>
              <a:blipFill>
                <a:blip r:embed="rId7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群組 31">
            <a:extLst>
              <a:ext uri="{FF2B5EF4-FFF2-40B4-BE49-F238E27FC236}">
                <a16:creationId xmlns:a16="http://schemas.microsoft.com/office/drawing/2014/main" id="{226AD645-2E1B-1E0C-D196-32CCA134D90A}"/>
              </a:ext>
            </a:extLst>
          </p:cNvPr>
          <p:cNvGrpSpPr/>
          <p:nvPr/>
        </p:nvGrpSpPr>
        <p:grpSpPr>
          <a:xfrm>
            <a:off x="4697500" y="2535197"/>
            <a:ext cx="1243442" cy="2128354"/>
            <a:chOff x="2010813" y="2681771"/>
            <a:chExt cx="1243442" cy="2128354"/>
          </a:xfrm>
        </p:grpSpPr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04609857-A8C1-F7EA-41A4-232B687D7B9F}"/>
                </a:ext>
              </a:extLst>
            </p:cNvPr>
            <p:cNvSpPr/>
            <p:nvPr/>
          </p:nvSpPr>
          <p:spPr>
            <a:xfrm>
              <a:off x="2010813" y="4259618"/>
              <a:ext cx="550507" cy="550507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0F990F09-D6A0-F5C2-6EA6-63F9BF4D591F}"/>
                </a:ext>
              </a:extLst>
            </p:cNvPr>
            <p:cNvSpPr/>
            <p:nvPr/>
          </p:nvSpPr>
          <p:spPr>
            <a:xfrm>
              <a:off x="2153241" y="3306146"/>
              <a:ext cx="550507" cy="550507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7BE9BB84-064D-1088-5C17-DF6F14CF4E39}"/>
                </a:ext>
              </a:extLst>
            </p:cNvPr>
            <p:cNvSpPr/>
            <p:nvPr/>
          </p:nvSpPr>
          <p:spPr>
            <a:xfrm>
              <a:off x="2703748" y="2681771"/>
              <a:ext cx="550507" cy="550507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D5F2C064-E025-1B8A-A63D-B494918DE05F}"/>
                </a:ext>
              </a:extLst>
            </p:cNvPr>
            <p:cNvCxnSpPr>
              <a:cxnSpLocks/>
              <a:stCxn id="35" idx="3"/>
              <a:endCxn id="34" idx="7"/>
            </p:cNvCxnSpPr>
            <p:nvPr/>
          </p:nvCxnSpPr>
          <p:spPr>
            <a:xfrm flipH="1">
              <a:off x="2623128" y="315165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684F6323-2179-9047-27F3-A6993ADD87B1}"/>
                </a:ext>
              </a:extLst>
            </p:cNvPr>
            <p:cNvCxnSpPr>
              <a:cxnSpLocks/>
              <a:stCxn id="33" idx="0"/>
              <a:endCxn id="34" idx="4"/>
            </p:cNvCxnSpPr>
            <p:nvPr/>
          </p:nvCxnSpPr>
          <p:spPr>
            <a:xfrm flipV="1">
              <a:off x="2286067" y="385665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9E527938-5F98-C43E-A4B1-328E8C535F82}"/>
              </a:ext>
            </a:extLst>
          </p:cNvPr>
          <p:cNvGrpSpPr/>
          <p:nvPr/>
        </p:nvGrpSpPr>
        <p:grpSpPr>
          <a:xfrm>
            <a:off x="4697500" y="2535197"/>
            <a:ext cx="1243442" cy="2128354"/>
            <a:chOff x="1858413" y="2529371"/>
            <a:chExt cx="1243442" cy="2128354"/>
          </a:xfrm>
        </p:grpSpPr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B1643BA2-FE92-D33D-FA22-A0C2595F2354}"/>
                </a:ext>
              </a:extLst>
            </p:cNvPr>
            <p:cNvSpPr/>
            <p:nvPr/>
          </p:nvSpPr>
          <p:spPr>
            <a:xfrm>
              <a:off x="1858413" y="4107218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012EF0CD-E9BB-40E0-B19E-9440397BDB97}"/>
                </a:ext>
              </a:extLst>
            </p:cNvPr>
            <p:cNvSpPr/>
            <p:nvPr/>
          </p:nvSpPr>
          <p:spPr>
            <a:xfrm>
              <a:off x="2000841" y="3153746"/>
              <a:ext cx="550507" cy="550507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55" name="橢圓 54">
              <a:extLst>
                <a:ext uri="{FF2B5EF4-FFF2-40B4-BE49-F238E27FC236}">
                  <a16:creationId xmlns:a16="http://schemas.microsoft.com/office/drawing/2014/main" id="{215EBE41-9AF2-6168-FE35-33DCE64506CF}"/>
                </a:ext>
              </a:extLst>
            </p:cNvPr>
            <p:cNvSpPr/>
            <p:nvPr/>
          </p:nvSpPr>
          <p:spPr>
            <a:xfrm>
              <a:off x="2551348" y="2529371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56" name="直線接點 55">
              <a:extLst>
                <a:ext uri="{FF2B5EF4-FFF2-40B4-BE49-F238E27FC236}">
                  <a16:creationId xmlns:a16="http://schemas.microsoft.com/office/drawing/2014/main" id="{A173D359-3A74-0B2C-4D0E-685B8164ABE9}"/>
                </a:ext>
              </a:extLst>
            </p:cNvPr>
            <p:cNvCxnSpPr>
              <a:cxnSpLocks/>
              <a:stCxn id="55" idx="3"/>
              <a:endCxn id="54" idx="7"/>
            </p:cNvCxnSpPr>
            <p:nvPr/>
          </p:nvCxnSpPr>
          <p:spPr>
            <a:xfrm flipH="1">
              <a:off x="2470728" y="299925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接點 56">
              <a:extLst>
                <a:ext uri="{FF2B5EF4-FFF2-40B4-BE49-F238E27FC236}">
                  <a16:creationId xmlns:a16="http://schemas.microsoft.com/office/drawing/2014/main" id="{78875E05-1589-F192-C13C-00DFFF301814}"/>
                </a:ext>
              </a:extLst>
            </p:cNvPr>
            <p:cNvCxnSpPr>
              <a:cxnSpLocks/>
              <a:stCxn id="53" idx="0"/>
              <a:endCxn id="54" idx="4"/>
            </p:cNvCxnSpPr>
            <p:nvPr/>
          </p:nvCxnSpPr>
          <p:spPr>
            <a:xfrm flipV="1">
              <a:off x="2133667" y="370425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CC3F8A72-5034-ABF4-AF1F-443C19AC23AE}"/>
              </a:ext>
            </a:extLst>
          </p:cNvPr>
          <p:cNvCxnSpPr>
            <a:cxnSpLocks/>
            <a:endCxn id="54" idx="6"/>
          </p:cNvCxnSpPr>
          <p:nvPr/>
        </p:nvCxnSpPr>
        <p:spPr>
          <a:xfrm flipH="1" flipV="1">
            <a:off x="5390435" y="3434826"/>
            <a:ext cx="342772" cy="212674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橢圓 62">
            <a:extLst>
              <a:ext uri="{FF2B5EF4-FFF2-40B4-BE49-F238E27FC236}">
                <a16:creationId xmlns:a16="http://schemas.microsoft.com/office/drawing/2014/main" id="{2A09FA91-6175-4230-2AAB-37CFD90FB32C}"/>
              </a:ext>
            </a:extLst>
          </p:cNvPr>
          <p:cNvSpPr/>
          <p:nvPr/>
        </p:nvSpPr>
        <p:spPr>
          <a:xfrm>
            <a:off x="5709559" y="3501258"/>
            <a:ext cx="550507" cy="55050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4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6D1F3DC8-F044-6186-BC50-FC925345C798}"/>
                  </a:ext>
                </a:extLst>
              </p:cNvPr>
              <p:cNvSpPr txBox="1"/>
              <p:nvPr/>
            </p:nvSpPr>
            <p:spPr>
              <a:xfrm>
                <a:off x="5035469" y="3656857"/>
                <a:ext cx="600957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6D1F3DC8-F044-6186-BC50-FC925345C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469" y="3656857"/>
                <a:ext cx="600957" cy="4116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群組 98">
            <a:extLst>
              <a:ext uri="{FF2B5EF4-FFF2-40B4-BE49-F238E27FC236}">
                <a16:creationId xmlns:a16="http://schemas.microsoft.com/office/drawing/2014/main" id="{948D2273-DA05-6694-2958-BFD5375C6431}"/>
              </a:ext>
            </a:extLst>
          </p:cNvPr>
          <p:cNvGrpSpPr/>
          <p:nvPr/>
        </p:nvGrpSpPr>
        <p:grpSpPr>
          <a:xfrm>
            <a:off x="7025353" y="2519034"/>
            <a:ext cx="2372710" cy="3300645"/>
            <a:chOff x="7229540" y="2519034"/>
            <a:chExt cx="2372710" cy="3300645"/>
          </a:xfrm>
        </p:grpSpPr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1D4588D6-56D1-0303-A973-D2D6448E38BB}"/>
                </a:ext>
              </a:extLst>
            </p:cNvPr>
            <p:cNvGrpSpPr/>
            <p:nvPr/>
          </p:nvGrpSpPr>
          <p:grpSpPr>
            <a:xfrm>
              <a:off x="7548744" y="2519034"/>
              <a:ext cx="1243442" cy="2128354"/>
              <a:chOff x="1858413" y="2529371"/>
              <a:chExt cx="1243442" cy="2128354"/>
            </a:xfrm>
          </p:grpSpPr>
          <p:sp>
            <p:nvSpPr>
              <p:cNvPr id="46" name="橢圓 45">
                <a:extLst>
                  <a:ext uri="{FF2B5EF4-FFF2-40B4-BE49-F238E27FC236}">
                    <a16:creationId xmlns:a16="http://schemas.microsoft.com/office/drawing/2014/main" id="{9A80A18F-3556-0228-F92D-1D6F8AAEB405}"/>
                  </a:ext>
                </a:extLst>
              </p:cNvPr>
              <p:cNvSpPr/>
              <p:nvPr/>
            </p:nvSpPr>
            <p:spPr>
              <a:xfrm>
                <a:off x="1858413" y="4107218"/>
                <a:ext cx="550507" cy="550507"/>
              </a:xfrm>
              <a:prstGeom prst="ellipse">
                <a:avLst/>
              </a:prstGeom>
              <a:noFill/>
              <a:ln w="3810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2400" dirty="0">
                    <a:solidFill>
                      <a:schemeClr val="tx1"/>
                    </a:solidFill>
                  </a:rPr>
                  <a:t>3</a:t>
                </a:r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橢圓 46">
                <a:extLst>
                  <a:ext uri="{FF2B5EF4-FFF2-40B4-BE49-F238E27FC236}">
                    <a16:creationId xmlns:a16="http://schemas.microsoft.com/office/drawing/2014/main" id="{3B4ABFDA-A771-D339-11ED-A562AFC89C8E}"/>
                  </a:ext>
                </a:extLst>
              </p:cNvPr>
              <p:cNvSpPr/>
              <p:nvPr/>
            </p:nvSpPr>
            <p:spPr>
              <a:xfrm>
                <a:off x="2000841" y="3153746"/>
                <a:ext cx="550507" cy="550507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2400" dirty="0">
                    <a:solidFill>
                      <a:schemeClr val="tx1"/>
                    </a:solidFill>
                  </a:rPr>
                  <a:t>2</a:t>
                </a:r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橢圓 47">
                <a:extLst>
                  <a:ext uri="{FF2B5EF4-FFF2-40B4-BE49-F238E27FC236}">
                    <a16:creationId xmlns:a16="http://schemas.microsoft.com/office/drawing/2014/main" id="{4570A03B-DBA4-8541-2115-40CA1B36E5E7}"/>
                  </a:ext>
                </a:extLst>
              </p:cNvPr>
              <p:cNvSpPr/>
              <p:nvPr/>
            </p:nvSpPr>
            <p:spPr>
              <a:xfrm>
                <a:off x="2551348" y="2529371"/>
                <a:ext cx="550507" cy="550507"/>
              </a:xfrm>
              <a:prstGeom prst="ellipse">
                <a:avLst/>
              </a:prstGeom>
              <a:noFill/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2400" dirty="0">
                    <a:solidFill>
                      <a:schemeClr val="tx1"/>
                    </a:solidFill>
                  </a:rPr>
                  <a:t>1</a:t>
                </a:r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9" name="直線接點 48">
                <a:extLst>
                  <a:ext uri="{FF2B5EF4-FFF2-40B4-BE49-F238E27FC236}">
                    <a16:creationId xmlns:a16="http://schemas.microsoft.com/office/drawing/2014/main" id="{5D7A0003-345B-8E32-D345-7525E3FFD1CC}"/>
                  </a:ext>
                </a:extLst>
              </p:cNvPr>
              <p:cNvCxnSpPr>
                <a:cxnSpLocks/>
                <a:stCxn id="48" idx="3"/>
                <a:endCxn id="47" idx="7"/>
              </p:cNvCxnSpPr>
              <p:nvPr/>
            </p:nvCxnSpPr>
            <p:spPr>
              <a:xfrm flipH="1">
                <a:off x="2470728" y="2999258"/>
                <a:ext cx="161240" cy="235108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線接點 49">
                <a:extLst>
                  <a:ext uri="{FF2B5EF4-FFF2-40B4-BE49-F238E27FC236}">
                    <a16:creationId xmlns:a16="http://schemas.microsoft.com/office/drawing/2014/main" id="{C7ACEC46-3263-30C7-6760-909C80C0449B}"/>
                  </a:ext>
                </a:extLst>
              </p:cNvPr>
              <p:cNvCxnSpPr>
                <a:cxnSpLocks/>
                <a:stCxn id="46" idx="0"/>
                <a:endCxn id="47" idx="4"/>
              </p:cNvCxnSpPr>
              <p:nvPr/>
            </p:nvCxnSpPr>
            <p:spPr>
              <a:xfrm flipV="1">
                <a:off x="2133667" y="3704253"/>
                <a:ext cx="142428" cy="402965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12B19677-A6A2-3825-73F0-EBC8181D7385}"/>
                </a:ext>
              </a:extLst>
            </p:cNvPr>
            <p:cNvSpPr txBox="1"/>
            <p:nvPr/>
          </p:nvSpPr>
          <p:spPr>
            <a:xfrm>
              <a:off x="7229540" y="4947645"/>
              <a:ext cx="2372710" cy="87203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en-US" altLang="zh-TW" dirty="0"/>
                <a:t>Source node: </a:t>
              </a:r>
              <a:r>
                <a:rPr kumimoji="1" lang="en-US" altLang="zh-TW" b="1" dirty="0">
                  <a:solidFill>
                    <a:srgbClr val="0070C0"/>
                  </a:solidFill>
                </a:rPr>
                <a:t>3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zh-TW" dirty="0"/>
                <a:t>Neighbor node: </a:t>
              </a:r>
              <a:r>
                <a:rPr kumimoji="1" lang="en-US" altLang="zh-TW" b="1" dirty="0">
                  <a:solidFill>
                    <a:srgbClr val="FF0000"/>
                  </a:solidFill>
                </a:rPr>
                <a:t>2</a:t>
              </a:r>
              <a:endParaRPr kumimoji="1" lang="zh-TW" altLang="en-US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DB3E5C65-799C-9929-1D21-34CDFCDD24F5}"/>
                    </a:ext>
                  </a:extLst>
                </p:cNvPr>
                <p:cNvSpPr txBox="1"/>
                <p:nvPr/>
              </p:nvSpPr>
              <p:spPr>
                <a:xfrm>
                  <a:off x="7980559" y="4199228"/>
                  <a:ext cx="797419" cy="4116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DB3E5C65-799C-9929-1D21-34CDFCDD24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0559" y="4199228"/>
                  <a:ext cx="797419" cy="41165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直線接點 65">
              <a:extLst>
                <a:ext uri="{FF2B5EF4-FFF2-40B4-BE49-F238E27FC236}">
                  <a16:creationId xmlns:a16="http://schemas.microsoft.com/office/drawing/2014/main" id="{5B09972F-2CDF-29A1-CB84-C009C88C8BE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44509" y="3411499"/>
              <a:ext cx="342772" cy="212674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橢圓 66">
              <a:extLst>
                <a:ext uri="{FF2B5EF4-FFF2-40B4-BE49-F238E27FC236}">
                  <a16:creationId xmlns:a16="http://schemas.microsoft.com/office/drawing/2014/main" id="{7D9255B5-F3BD-ECB4-5015-E8DA6AEC004F}"/>
                </a:ext>
              </a:extLst>
            </p:cNvPr>
            <p:cNvSpPr/>
            <p:nvPr/>
          </p:nvSpPr>
          <p:spPr>
            <a:xfrm>
              <a:off x="8563633" y="3477931"/>
              <a:ext cx="550507" cy="550507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4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0" name="群組 99">
            <a:extLst>
              <a:ext uri="{FF2B5EF4-FFF2-40B4-BE49-F238E27FC236}">
                <a16:creationId xmlns:a16="http://schemas.microsoft.com/office/drawing/2014/main" id="{439FCD89-9471-7D1B-88D1-4ADAEE9026F2}"/>
              </a:ext>
            </a:extLst>
          </p:cNvPr>
          <p:cNvGrpSpPr/>
          <p:nvPr/>
        </p:nvGrpSpPr>
        <p:grpSpPr>
          <a:xfrm>
            <a:off x="9410249" y="2540167"/>
            <a:ext cx="2412197" cy="3283214"/>
            <a:chOff x="7330577" y="2519034"/>
            <a:chExt cx="2412197" cy="3283214"/>
          </a:xfrm>
        </p:grpSpPr>
        <p:grpSp>
          <p:nvGrpSpPr>
            <p:cNvPr id="101" name="群組 100">
              <a:extLst>
                <a:ext uri="{FF2B5EF4-FFF2-40B4-BE49-F238E27FC236}">
                  <a16:creationId xmlns:a16="http://schemas.microsoft.com/office/drawing/2014/main" id="{E07921DB-503D-8DB1-2734-5276BC030BE8}"/>
                </a:ext>
              </a:extLst>
            </p:cNvPr>
            <p:cNvGrpSpPr/>
            <p:nvPr/>
          </p:nvGrpSpPr>
          <p:grpSpPr>
            <a:xfrm>
              <a:off x="7548744" y="2519034"/>
              <a:ext cx="1243442" cy="2128354"/>
              <a:chOff x="1858413" y="2529371"/>
              <a:chExt cx="1243442" cy="2128354"/>
            </a:xfrm>
          </p:grpSpPr>
          <p:sp>
            <p:nvSpPr>
              <p:cNvPr id="106" name="橢圓 105">
                <a:extLst>
                  <a:ext uri="{FF2B5EF4-FFF2-40B4-BE49-F238E27FC236}">
                    <a16:creationId xmlns:a16="http://schemas.microsoft.com/office/drawing/2014/main" id="{E850C986-F293-A8E5-5568-D6B5935650BB}"/>
                  </a:ext>
                </a:extLst>
              </p:cNvPr>
              <p:cNvSpPr/>
              <p:nvPr/>
            </p:nvSpPr>
            <p:spPr>
              <a:xfrm>
                <a:off x="1858413" y="4107218"/>
                <a:ext cx="550507" cy="550507"/>
              </a:xfrm>
              <a:prstGeom prst="ellipse">
                <a:avLst/>
              </a:prstGeom>
              <a:noFill/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2400" dirty="0">
                    <a:solidFill>
                      <a:schemeClr val="tx1"/>
                    </a:solidFill>
                  </a:rPr>
                  <a:t>3</a:t>
                </a:r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橢圓 106">
                <a:extLst>
                  <a:ext uri="{FF2B5EF4-FFF2-40B4-BE49-F238E27FC236}">
                    <a16:creationId xmlns:a16="http://schemas.microsoft.com/office/drawing/2014/main" id="{E17187DE-16A1-29F4-9B27-96B700A71B95}"/>
                  </a:ext>
                </a:extLst>
              </p:cNvPr>
              <p:cNvSpPr/>
              <p:nvPr/>
            </p:nvSpPr>
            <p:spPr>
              <a:xfrm>
                <a:off x="2000841" y="3153746"/>
                <a:ext cx="550507" cy="550507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2400" dirty="0">
                    <a:solidFill>
                      <a:schemeClr val="tx1"/>
                    </a:solidFill>
                  </a:rPr>
                  <a:t>2</a:t>
                </a:r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橢圓 107">
                <a:extLst>
                  <a:ext uri="{FF2B5EF4-FFF2-40B4-BE49-F238E27FC236}">
                    <a16:creationId xmlns:a16="http://schemas.microsoft.com/office/drawing/2014/main" id="{93B27570-D456-6394-17EA-8E8A120616C4}"/>
                  </a:ext>
                </a:extLst>
              </p:cNvPr>
              <p:cNvSpPr/>
              <p:nvPr/>
            </p:nvSpPr>
            <p:spPr>
              <a:xfrm>
                <a:off x="2551348" y="2529371"/>
                <a:ext cx="550507" cy="550507"/>
              </a:xfrm>
              <a:prstGeom prst="ellipse">
                <a:avLst/>
              </a:prstGeom>
              <a:noFill/>
              <a:ln w="19050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TW" sz="2400" dirty="0">
                    <a:solidFill>
                      <a:schemeClr val="tx1"/>
                    </a:solidFill>
                  </a:rPr>
                  <a:t>1</a:t>
                </a:r>
                <a:endParaRPr kumimoji="1" lang="zh-TW" altLang="en-US" sz="2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9" name="直線接點 108">
                <a:extLst>
                  <a:ext uri="{FF2B5EF4-FFF2-40B4-BE49-F238E27FC236}">
                    <a16:creationId xmlns:a16="http://schemas.microsoft.com/office/drawing/2014/main" id="{D39AEE33-8F09-4163-2C39-EA6266E057E8}"/>
                  </a:ext>
                </a:extLst>
              </p:cNvPr>
              <p:cNvCxnSpPr>
                <a:cxnSpLocks/>
                <a:stCxn id="108" idx="3"/>
                <a:endCxn id="107" idx="7"/>
              </p:cNvCxnSpPr>
              <p:nvPr/>
            </p:nvCxnSpPr>
            <p:spPr>
              <a:xfrm flipH="1">
                <a:off x="2470728" y="2999258"/>
                <a:ext cx="161240" cy="235108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線接點 109">
                <a:extLst>
                  <a:ext uri="{FF2B5EF4-FFF2-40B4-BE49-F238E27FC236}">
                    <a16:creationId xmlns:a16="http://schemas.microsoft.com/office/drawing/2014/main" id="{3F75F1A9-26B7-015C-0C27-96FAF70D853F}"/>
                  </a:ext>
                </a:extLst>
              </p:cNvPr>
              <p:cNvCxnSpPr>
                <a:cxnSpLocks/>
                <a:stCxn id="106" idx="0"/>
                <a:endCxn id="107" idx="4"/>
              </p:cNvCxnSpPr>
              <p:nvPr/>
            </p:nvCxnSpPr>
            <p:spPr>
              <a:xfrm flipV="1">
                <a:off x="2133667" y="3704253"/>
                <a:ext cx="142428" cy="402965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字方塊 101">
              <a:extLst>
                <a:ext uri="{FF2B5EF4-FFF2-40B4-BE49-F238E27FC236}">
                  <a16:creationId xmlns:a16="http://schemas.microsoft.com/office/drawing/2014/main" id="{19E0650E-FFFF-EF91-09E3-A79F5978B18C}"/>
                </a:ext>
              </a:extLst>
            </p:cNvPr>
            <p:cNvSpPr txBox="1"/>
            <p:nvPr/>
          </p:nvSpPr>
          <p:spPr>
            <a:xfrm>
              <a:off x="7330577" y="4930214"/>
              <a:ext cx="2372710" cy="87203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kumimoji="1" lang="en-US" altLang="zh-TW" dirty="0"/>
                <a:t>Source node: </a:t>
              </a:r>
              <a:r>
                <a:rPr kumimoji="1" lang="en-US" altLang="zh-TW" b="1" dirty="0">
                  <a:solidFill>
                    <a:srgbClr val="0070C0"/>
                  </a:solidFill>
                </a:rPr>
                <a:t>4</a:t>
              </a:r>
            </a:p>
            <a:p>
              <a:pPr>
                <a:lnSpc>
                  <a:spcPct val="150000"/>
                </a:lnSpc>
              </a:pPr>
              <a:r>
                <a:rPr kumimoji="1" lang="en-US" altLang="zh-TW" dirty="0"/>
                <a:t>Neighbor node: </a:t>
              </a:r>
              <a:r>
                <a:rPr kumimoji="1" lang="en-US" altLang="zh-TW" b="1" dirty="0">
                  <a:solidFill>
                    <a:srgbClr val="FF0000"/>
                  </a:solidFill>
                </a:rPr>
                <a:t>2</a:t>
              </a:r>
              <a:endParaRPr kumimoji="1" lang="zh-TW" altLang="en-US" b="1" dirty="0">
                <a:solidFill>
                  <a:srgbClr val="FF0000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字方塊 102">
                  <a:extLst>
                    <a:ext uri="{FF2B5EF4-FFF2-40B4-BE49-F238E27FC236}">
                      <a16:creationId xmlns:a16="http://schemas.microsoft.com/office/drawing/2014/main" id="{0D048E1E-C065-43A1-152E-01B522BB7FB1}"/>
                    </a:ext>
                  </a:extLst>
                </p:cNvPr>
                <p:cNvSpPr txBox="1"/>
                <p:nvPr/>
              </p:nvSpPr>
              <p:spPr>
                <a:xfrm>
                  <a:off x="8945355" y="3543726"/>
                  <a:ext cx="797419" cy="41165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oMath>
                    </m:oMathPara>
                  </a14:m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字方塊 102">
                  <a:extLst>
                    <a:ext uri="{FF2B5EF4-FFF2-40B4-BE49-F238E27FC236}">
                      <a16:creationId xmlns:a16="http://schemas.microsoft.com/office/drawing/2014/main" id="{0D048E1E-C065-43A1-152E-01B522BB7F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5355" y="3543726"/>
                  <a:ext cx="797419" cy="411651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4" name="直線接點 103">
              <a:extLst>
                <a:ext uri="{FF2B5EF4-FFF2-40B4-BE49-F238E27FC236}">
                  <a16:creationId xmlns:a16="http://schemas.microsoft.com/office/drawing/2014/main" id="{63DACAF1-854B-F1CA-FA44-CCA0EBEFFA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44509" y="3411499"/>
              <a:ext cx="342772" cy="212674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橢圓 104">
              <a:extLst>
                <a:ext uri="{FF2B5EF4-FFF2-40B4-BE49-F238E27FC236}">
                  <a16:creationId xmlns:a16="http://schemas.microsoft.com/office/drawing/2014/main" id="{9E0110A3-0837-99B6-B72B-1CB12FA78D57}"/>
                </a:ext>
              </a:extLst>
            </p:cNvPr>
            <p:cNvSpPr/>
            <p:nvPr/>
          </p:nvSpPr>
          <p:spPr>
            <a:xfrm>
              <a:off x="8563633" y="3477931"/>
              <a:ext cx="550507" cy="550507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4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453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63" grpId="0" animBg="1"/>
      <p:bldP spid="6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530BE6-ADCE-3946-DD3D-83FEF5239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GCN </a:t>
            </a:r>
            <a:r>
              <a:rPr kumimoji="1" lang="zh-TW" altLang="en-US" dirty="0"/>
              <a:t>對鄰接矩陣做標準化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F6AD8C-077E-B65C-B08D-AF38919C0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2910623-6075-EB29-3FE1-A22BD07109DF}"/>
                  </a:ext>
                </a:extLst>
              </p:cNvPr>
              <p:cNvSpPr txBox="1"/>
              <p:nvPr/>
            </p:nvSpPr>
            <p:spPr>
              <a:xfrm>
                <a:off x="941132" y="4745496"/>
                <a:ext cx="3107085" cy="87203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en-US" altLang="zh-TW" dirty="0"/>
                  <a:t>Source node (</a:t>
                </a:r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zh-TW" dirty="0"/>
                  <a:t>): </a:t>
                </a:r>
                <a:r>
                  <a:rPr kumimoji="1" lang="en-US" altLang="zh-TW" b="1" dirty="0">
                    <a:solidFill>
                      <a:srgbClr val="0070C0"/>
                    </a:solidFill>
                  </a:rPr>
                  <a:t>2</a:t>
                </a:r>
              </a:p>
              <a:p>
                <a:pPr>
                  <a:lnSpc>
                    <a:spcPct val="150000"/>
                  </a:lnSpc>
                </a:pPr>
                <a:r>
                  <a:rPr kumimoji="1" lang="en-US" altLang="zh-TW" dirty="0"/>
                  <a:t>Neighbor node (</a:t>
                </a:r>
                <a14:m>
                  <m:oMath xmlns:m="http://schemas.openxmlformats.org/officeDocument/2006/math"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kumimoji="1" lang="en-US" altLang="zh-TW" dirty="0"/>
                  <a:t>): </a:t>
                </a:r>
                <a:r>
                  <a:rPr kumimoji="1" lang="en-US" altLang="zh-TW" b="1" dirty="0">
                    <a:solidFill>
                      <a:srgbClr val="FF0000"/>
                    </a:solidFill>
                  </a:rPr>
                  <a:t>1, 3, 4</a:t>
                </a:r>
                <a:endParaRPr kumimoji="1" lang="zh-TW" altLang="en-US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2910623-6075-EB29-3FE1-A22BD0710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132" y="4745496"/>
                <a:ext cx="3107085" cy="872034"/>
              </a:xfrm>
              <a:prstGeom prst="rect">
                <a:avLst/>
              </a:prstGeom>
              <a:blipFill>
                <a:blip r:embed="rId2"/>
                <a:stretch>
                  <a:fillRect l="-1220" b="-1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群組 5">
            <a:extLst>
              <a:ext uri="{FF2B5EF4-FFF2-40B4-BE49-F238E27FC236}">
                <a16:creationId xmlns:a16="http://schemas.microsoft.com/office/drawing/2014/main" id="{0411ED90-0A8E-E87A-0308-9D59E4E1A5C8}"/>
              </a:ext>
            </a:extLst>
          </p:cNvPr>
          <p:cNvGrpSpPr/>
          <p:nvPr/>
        </p:nvGrpSpPr>
        <p:grpSpPr>
          <a:xfrm>
            <a:off x="1528172" y="2322133"/>
            <a:ext cx="1243442" cy="2128354"/>
            <a:chOff x="2010813" y="2681771"/>
            <a:chExt cx="1243442" cy="2128354"/>
          </a:xfrm>
        </p:grpSpPr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7E2475BC-5417-5822-DEAC-EAB040C4A397}"/>
                </a:ext>
              </a:extLst>
            </p:cNvPr>
            <p:cNvSpPr/>
            <p:nvPr/>
          </p:nvSpPr>
          <p:spPr>
            <a:xfrm>
              <a:off x="2010813" y="4259618"/>
              <a:ext cx="550507" cy="550507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968CF89F-E104-7A09-0792-8BB924B37BBB}"/>
                </a:ext>
              </a:extLst>
            </p:cNvPr>
            <p:cNvSpPr/>
            <p:nvPr/>
          </p:nvSpPr>
          <p:spPr>
            <a:xfrm>
              <a:off x="2153241" y="3306146"/>
              <a:ext cx="550507" cy="550507"/>
            </a:xfrm>
            <a:prstGeom prst="ellipse">
              <a:avLst/>
            </a:prstGeom>
            <a:noFill/>
            <a:ln w="190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9" name="橢圓 8">
              <a:extLst>
                <a:ext uri="{FF2B5EF4-FFF2-40B4-BE49-F238E27FC236}">
                  <a16:creationId xmlns:a16="http://schemas.microsoft.com/office/drawing/2014/main" id="{ACCF4BDB-0270-3DF6-C06F-8720BA976140}"/>
                </a:ext>
              </a:extLst>
            </p:cNvPr>
            <p:cNvSpPr/>
            <p:nvPr/>
          </p:nvSpPr>
          <p:spPr>
            <a:xfrm>
              <a:off x="2703748" y="2681771"/>
              <a:ext cx="550507" cy="550507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681EE5C7-F814-0A8D-DA7D-33764F7AFA35}"/>
                </a:ext>
              </a:extLst>
            </p:cNvPr>
            <p:cNvCxnSpPr>
              <a:cxnSpLocks/>
              <a:stCxn id="9" idx="3"/>
              <a:endCxn id="8" idx="7"/>
            </p:cNvCxnSpPr>
            <p:nvPr/>
          </p:nvCxnSpPr>
          <p:spPr>
            <a:xfrm flipH="1">
              <a:off x="2623128" y="315165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C0419869-4023-387A-5148-2F288874DABE}"/>
                </a:ext>
              </a:extLst>
            </p:cNvPr>
            <p:cNvCxnSpPr>
              <a:cxnSpLocks/>
              <a:stCxn id="7" idx="0"/>
              <a:endCxn id="8" idx="4"/>
            </p:cNvCxnSpPr>
            <p:nvPr/>
          </p:nvCxnSpPr>
          <p:spPr>
            <a:xfrm flipV="1">
              <a:off x="2286067" y="385665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591F49C0-20E3-6D4F-72F2-8997DE8AB197}"/>
              </a:ext>
            </a:extLst>
          </p:cNvPr>
          <p:cNvGrpSpPr/>
          <p:nvPr/>
        </p:nvGrpSpPr>
        <p:grpSpPr>
          <a:xfrm>
            <a:off x="1528172" y="2322133"/>
            <a:ext cx="1243442" cy="2128354"/>
            <a:chOff x="1858413" y="2529371"/>
            <a:chExt cx="1243442" cy="2128354"/>
          </a:xfrm>
        </p:grpSpPr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1AC471FC-6E48-E079-75B6-5365D787EFF8}"/>
                </a:ext>
              </a:extLst>
            </p:cNvPr>
            <p:cNvSpPr/>
            <p:nvPr/>
          </p:nvSpPr>
          <p:spPr>
            <a:xfrm>
              <a:off x="1858413" y="4107218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8D913DBB-8A87-26DB-0E62-8217C97B43E5}"/>
                </a:ext>
              </a:extLst>
            </p:cNvPr>
            <p:cNvSpPr/>
            <p:nvPr/>
          </p:nvSpPr>
          <p:spPr>
            <a:xfrm>
              <a:off x="2000841" y="3153746"/>
              <a:ext cx="550507" cy="550507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DFC402A9-C9CC-A095-DAB9-BADB62E88895}"/>
                </a:ext>
              </a:extLst>
            </p:cNvPr>
            <p:cNvSpPr/>
            <p:nvPr/>
          </p:nvSpPr>
          <p:spPr>
            <a:xfrm>
              <a:off x="2551348" y="2529371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BE9F33E2-FD08-6424-04BA-FA1F1DBC6F35}"/>
                </a:ext>
              </a:extLst>
            </p:cNvPr>
            <p:cNvCxnSpPr>
              <a:cxnSpLocks/>
              <a:stCxn id="15" idx="3"/>
              <a:endCxn id="14" idx="7"/>
            </p:cNvCxnSpPr>
            <p:nvPr/>
          </p:nvCxnSpPr>
          <p:spPr>
            <a:xfrm flipH="1">
              <a:off x="2470728" y="299925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27AC2E76-5454-CA69-AFF1-40835AB7C61A}"/>
                </a:ext>
              </a:extLst>
            </p:cNvPr>
            <p:cNvCxnSpPr>
              <a:cxnSpLocks/>
              <a:stCxn id="13" idx="0"/>
              <a:endCxn id="14" idx="4"/>
            </p:cNvCxnSpPr>
            <p:nvPr/>
          </p:nvCxnSpPr>
          <p:spPr>
            <a:xfrm flipV="1">
              <a:off x="2133667" y="370425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DD45C42D-C863-CE97-A8A8-5B31FABB65C1}"/>
              </a:ext>
            </a:extLst>
          </p:cNvPr>
          <p:cNvCxnSpPr>
            <a:cxnSpLocks/>
            <a:endCxn id="14" idx="6"/>
          </p:cNvCxnSpPr>
          <p:nvPr/>
        </p:nvCxnSpPr>
        <p:spPr>
          <a:xfrm flipH="1" flipV="1">
            <a:off x="2221107" y="3221762"/>
            <a:ext cx="342772" cy="212674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橢圓 18">
            <a:extLst>
              <a:ext uri="{FF2B5EF4-FFF2-40B4-BE49-F238E27FC236}">
                <a16:creationId xmlns:a16="http://schemas.microsoft.com/office/drawing/2014/main" id="{460E04C4-2780-8AF7-3B2D-A454398ADD89}"/>
              </a:ext>
            </a:extLst>
          </p:cNvPr>
          <p:cNvSpPr/>
          <p:nvPr/>
        </p:nvSpPr>
        <p:spPr>
          <a:xfrm>
            <a:off x="2540231" y="3288194"/>
            <a:ext cx="550507" cy="55050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400" dirty="0">
                <a:solidFill>
                  <a:schemeClr val="tx1"/>
                </a:solidFill>
              </a:rPr>
              <a:t>4</a:t>
            </a:r>
            <a:endParaRPr kumimoji="1" lang="zh-TW" altLang="en-US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BCB392D-C4C8-888D-7D0A-74B14AD2421A}"/>
                  </a:ext>
                </a:extLst>
              </p:cNvPr>
              <p:cNvSpPr txBox="1"/>
              <p:nvPr/>
            </p:nvSpPr>
            <p:spPr>
              <a:xfrm>
                <a:off x="1866141" y="3443793"/>
                <a:ext cx="600957" cy="4116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BCB392D-C4C8-888D-7D0A-74B14AD24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6141" y="3443793"/>
                <a:ext cx="600957" cy="4116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F73487EA-9FD4-109E-3930-865739F90704}"/>
                  </a:ext>
                </a:extLst>
              </p:cNvPr>
              <p:cNvSpPr txBox="1"/>
              <p:nvPr/>
            </p:nvSpPr>
            <p:spPr>
              <a:xfrm>
                <a:off x="3680923" y="3086342"/>
                <a:ext cx="6094520" cy="12500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32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zh-TW" altLang="zh-TW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32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TW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sz="32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zh-TW" altLang="zh-TW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2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TW" altLang="zh-TW" sz="32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altLang="zh-TW" sz="3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degree</m:t>
                              </m:r>
                              <m:r>
                                <a:rPr lang="en-US" altLang="zh-TW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TW" altLang="en-US" sz="32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zh-TW" altLang="zh-TW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m:rPr>
                                  <m:sty m:val="p"/>
                                </m:rPr>
                                <a:rPr lang="en-US" altLang="zh-TW" sz="320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degree</m:t>
                              </m:r>
                              <m:r>
                                <a:rPr lang="en-US" altLang="zh-TW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TW" altLang="en-US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32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TW" sz="32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en-US" altLang="zh-TW" sz="32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zh-TW" altLang="zh-TW" sz="32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F73487EA-9FD4-109E-3930-865739F90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923" y="3086342"/>
                <a:ext cx="6094520" cy="1250086"/>
              </a:xfrm>
              <a:prstGeom prst="rect">
                <a:avLst/>
              </a:prstGeom>
              <a:blipFill>
                <a:blip r:embed="rId4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3AD59D8B-BC4A-603D-6A0B-ACE3F9B1AFFB}"/>
              </a:ext>
            </a:extLst>
          </p:cNvPr>
          <p:cNvSpPr txBox="1"/>
          <p:nvPr/>
        </p:nvSpPr>
        <p:spPr>
          <a:xfrm>
            <a:off x="9405178" y="3855444"/>
            <a:ext cx="1509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>
                <a:solidFill>
                  <a:srgbClr val="FF0000"/>
                </a:solidFill>
              </a:rPr>
              <a:t>⬅️ 標準化</a:t>
            </a:r>
          </a:p>
        </p:txBody>
      </p:sp>
    </p:spTree>
    <p:extLst>
      <p:ext uri="{BB962C8B-B14F-4D97-AF65-F5344CB8AC3E}">
        <p14:creationId xmlns:p14="http://schemas.microsoft.com/office/powerpoint/2010/main" val="3076451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AFD49-FA12-578D-8C22-AC3F47C94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A9EFE178-986C-C393-3E06-BF66B1896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193" y="2286000"/>
            <a:ext cx="3531476" cy="2286000"/>
          </a:xfrm>
        </p:spPr>
        <p:txBody>
          <a:bodyPr anchor="ctr">
            <a:normAutofit/>
          </a:bodyPr>
          <a:lstStyle/>
          <a:p>
            <a:r>
              <a:rPr lang="en-US" altLang="zh-TW" dirty="0"/>
              <a:t>Graph Attention Networks (GAT)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B285647-0B9C-819B-B545-0230F9A24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0243" y="3063240"/>
            <a:ext cx="6492240" cy="731520"/>
          </a:xfrm>
        </p:spPr>
        <p:txBody>
          <a:bodyPr anchor="ctr">
            <a:normAutofit fontScale="85000" lnSpcReduction="10000"/>
          </a:bodyPr>
          <a:lstStyle/>
          <a:p>
            <a:r>
              <a:rPr lang="en" altLang="zh-TW" dirty="0"/>
              <a:t>Petar </a:t>
            </a:r>
            <a:r>
              <a:rPr lang="en" altLang="zh-TW" dirty="0" err="1"/>
              <a:t>Veličković</a:t>
            </a:r>
            <a:r>
              <a:rPr lang="en" altLang="zh-TW" dirty="0"/>
              <a:t>, , Guillem </a:t>
            </a:r>
            <a:r>
              <a:rPr lang="en" altLang="zh-TW" dirty="0" err="1"/>
              <a:t>Cucurull</a:t>
            </a:r>
            <a:r>
              <a:rPr lang="en" altLang="zh-TW" dirty="0"/>
              <a:t>, Arantxa Casanova, Adriana Romero, Pietro </a:t>
            </a:r>
            <a:r>
              <a:rPr lang="en" altLang="zh-TW" dirty="0" err="1"/>
              <a:t>Liò</a:t>
            </a:r>
            <a:r>
              <a:rPr lang="en" altLang="zh-TW" dirty="0"/>
              <a:t>, Yoshua Bengio. "Graph Attention Networks." International Conference on Learning Representations. 2018.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424731-7B2A-5C1E-7739-C1A0EBE1D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816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5432B7-EA9D-7035-7CAB-FEA3E87D1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GAT </a:t>
            </a:r>
            <a:r>
              <a:rPr kumimoji="1" lang="zh-TW" altLang="en-US" dirty="0"/>
              <a:t>核心概念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2300333-C70F-72C6-BF2D-960D725EA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grpSp>
        <p:nvGrpSpPr>
          <p:cNvPr id="5" name="群組 4">
            <a:extLst>
              <a:ext uri="{FF2B5EF4-FFF2-40B4-BE49-F238E27FC236}">
                <a16:creationId xmlns:a16="http://schemas.microsoft.com/office/drawing/2014/main" id="{440F70F5-2FFB-D94E-BF83-7B4323E63412}"/>
              </a:ext>
            </a:extLst>
          </p:cNvPr>
          <p:cNvGrpSpPr/>
          <p:nvPr/>
        </p:nvGrpSpPr>
        <p:grpSpPr>
          <a:xfrm>
            <a:off x="1880303" y="2364823"/>
            <a:ext cx="1243442" cy="2128354"/>
            <a:chOff x="1858413" y="2529371"/>
            <a:chExt cx="1243442" cy="2128354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FA558674-F674-53B6-C9C8-A11DA9F787DA}"/>
                </a:ext>
              </a:extLst>
            </p:cNvPr>
            <p:cNvSpPr/>
            <p:nvPr/>
          </p:nvSpPr>
          <p:spPr>
            <a:xfrm>
              <a:off x="1858413" y="4107218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7" name="橢圓 6">
              <a:extLst>
                <a:ext uri="{FF2B5EF4-FFF2-40B4-BE49-F238E27FC236}">
                  <a16:creationId xmlns:a16="http://schemas.microsoft.com/office/drawing/2014/main" id="{149FB10E-0DEE-7065-269A-96343FC38958}"/>
                </a:ext>
              </a:extLst>
            </p:cNvPr>
            <p:cNvSpPr/>
            <p:nvPr/>
          </p:nvSpPr>
          <p:spPr>
            <a:xfrm>
              <a:off x="2000841" y="3153746"/>
              <a:ext cx="550507" cy="550507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0B4B0B0F-4501-C635-ED0B-5908DF5812AA}"/>
                </a:ext>
              </a:extLst>
            </p:cNvPr>
            <p:cNvSpPr/>
            <p:nvPr/>
          </p:nvSpPr>
          <p:spPr>
            <a:xfrm>
              <a:off x="2551348" y="2529371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EFED7328-4FE4-65B6-D962-4B4295233C66}"/>
                </a:ext>
              </a:extLst>
            </p:cNvPr>
            <p:cNvCxnSpPr>
              <a:cxnSpLocks/>
              <a:stCxn id="8" idx="3"/>
              <a:endCxn id="7" idx="7"/>
            </p:cNvCxnSpPr>
            <p:nvPr/>
          </p:nvCxnSpPr>
          <p:spPr>
            <a:xfrm flipH="1">
              <a:off x="2470728" y="299925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1C48058A-E31D-B44B-6FE5-8B5D97BFB0B0}"/>
                </a:ext>
              </a:extLst>
            </p:cNvPr>
            <p:cNvCxnSpPr>
              <a:cxnSpLocks/>
              <a:stCxn id="6" idx="0"/>
              <a:endCxn id="7" idx="4"/>
            </p:cNvCxnSpPr>
            <p:nvPr/>
          </p:nvCxnSpPr>
          <p:spPr>
            <a:xfrm flipV="1">
              <a:off x="2133667" y="370425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BF4AA62-7C28-AA40-8912-61A548616149}"/>
              </a:ext>
            </a:extLst>
          </p:cNvPr>
          <p:cNvSpPr txBox="1"/>
          <p:nvPr/>
        </p:nvSpPr>
        <p:spPr>
          <a:xfrm>
            <a:off x="3413235" y="2481421"/>
            <a:ext cx="357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node1 </a:t>
            </a:r>
            <a:r>
              <a:rPr kumimoji="1" lang="zh-TW" altLang="en-US" dirty="0"/>
              <a:t>對</a:t>
            </a:r>
            <a:r>
              <a:rPr kumimoji="1" lang="en-US" altLang="zh-TW" dirty="0"/>
              <a:t> node2</a:t>
            </a:r>
            <a:r>
              <a:rPr kumimoji="1" lang="zh-TW" altLang="en-US" dirty="0"/>
              <a:t> 的影響有多大？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539123-C2F7-098F-46AA-192742245142}"/>
              </a:ext>
            </a:extLst>
          </p:cNvPr>
          <p:cNvSpPr txBox="1"/>
          <p:nvPr/>
        </p:nvSpPr>
        <p:spPr>
          <a:xfrm>
            <a:off x="3413235" y="4033257"/>
            <a:ext cx="3578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node3 </a:t>
            </a:r>
            <a:r>
              <a:rPr kumimoji="1" lang="zh-TW" altLang="en-US" dirty="0"/>
              <a:t>對</a:t>
            </a:r>
            <a:r>
              <a:rPr kumimoji="1" lang="en-US" altLang="zh-TW" dirty="0"/>
              <a:t> node2</a:t>
            </a:r>
            <a:r>
              <a:rPr kumimoji="1" lang="zh-TW" altLang="en-US" dirty="0"/>
              <a:t> 的影響有多大？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ECCC68D-C2F1-BD29-C42A-002A231421B1}"/>
              </a:ext>
            </a:extLst>
          </p:cNvPr>
          <p:cNvSpPr txBox="1"/>
          <p:nvPr/>
        </p:nvSpPr>
        <p:spPr>
          <a:xfrm>
            <a:off x="3413235" y="5155792"/>
            <a:ext cx="52217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/>
              <a:t>GCN </a:t>
            </a:r>
            <a:r>
              <a:rPr kumimoji="1" lang="zh-TW" altLang="en-US" sz="2000" dirty="0"/>
              <a:t>直接用相加來計算鄰居的重要性 ➡️ </a:t>
            </a:r>
            <a:endParaRPr kumimoji="1" lang="en-US" altLang="zh-TW" sz="2000" dirty="0"/>
          </a:p>
          <a:p>
            <a:r>
              <a:rPr kumimoji="1" lang="zh-TW" altLang="en-US" sz="2000" dirty="0"/>
              <a:t>🤔 重要性可不可以讓模型自己學？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AB7AE15-9D84-CBC4-0F06-D2200D61AC9F}"/>
                  </a:ext>
                </a:extLst>
              </p:cNvPr>
              <p:cNvSpPr txBox="1"/>
              <p:nvPr/>
            </p:nvSpPr>
            <p:spPr>
              <a:xfrm>
                <a:off x="1697909" y="2438691"/>
                <a:ext cx="1200150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2,1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4AB7AE15-9D84-CBC4-0F06-D2200D61A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7909" y="2438691"/>
                <a:ext cx="1200150" cy="4778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F6CFCE9-90D0-8D5C-14EC-7ABB52FC72A4}"/>
                  </a:ext>
                </a:extLst>
              </p:cNvPr>
              <p:cNvSpPr txBox="1"/>
              <p:nvPr/>
            </p:nvSpPr>
            <p:spPr>
              <a:xfrm>
                <a:off x="1280228" y="3424644"/>
                <a:ext cx="1200150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zh-TW" altLang="en-US" sz="2400" i="0">
                              <a:latin typeface="Cambria Math" panose="02040503050406030204" pitchFamily="18" charset="0"/>
                            </a:rPr>
                            <m:t>2,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F6CFCE9-90D0-8D5C-14EC-7ABB52FC7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228" y="3424644"/>
                <a:ext cx="1200150" cy="4778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F9A36D7-E9C8-D928-3D19-E07CB3AD144B}"/>
                  </a:ext>
                </a:extLst>
              </p:cNvPr>
              <p:cNvSpPr txBox="1"/>
              <p:nvPr/>
            </p:nvSpPr>
            <p:spPr>
              <a:xfrm>
                <a:off x="7602582" y="1452367"/>
                <a:ext cx="4234693" cy="424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zh-TW" altLang="en-US" sz="2000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000" dirty="0"/>
                  <a:t> </a:t>
                </a:r>
                <a:r>
                  <a:rPr lang="zh-TW" altLang="en-US" sz="2000" dirty="0"/>
                  <a:t>代表</a:t>
                </a:r>
                <a:r>
                  <a:rPr lang="en-US" altLang="zh-TW" sz="2000" dirty="0"/>
                  <a:t> node j</a:t>
                </a:r>
                <a:r>
                  <a:rPr lang="zh-TW" altLang="en-US" sz="2000" dirty="0"/>
                  <a:t> 對</a:t>
                </a:r>
                <a:r>
                  <a:rPr lang="en-US" altLang="zh-TW" sz="2000" dirty="0"/>
                  <a:t>node </a:t>
                </a:r>
                <a:r>
                  <a:rPr lang="en-US" altLang="zh-TW" sz="2000" dirty="0" err="1"/>
                  <a:t>i</a:t>
                </a:r>
                <a:r>
                  <a:rPr lang="zh-TW" altLang="en-US" sz="2000" dirty="0"/>
                  <a:t> 的重要性</a:t>
                </a:r>
                <a:endParaRPr lang="en-US" altLang="zh-TW" sz="20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F9A36D7-E9C8-D928-3D19-E07CB3AD1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2582" y="1452367"/>
                <a:ext cx="4234693" cy="424796"/>
              </a:xfrm>
              <a:prstGeom prst="rect">
                <a:avLst/>
              </a:prstGeom>
              <a:blipFill>
                <a:blip r:embed="rId5"/>
                <a:stretch>
                  <a:fillRect t="-8824" b="-2058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297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  <p:bldP spid="13" grpId="0"/>
      <p:bldP spid="15" grpId="0"/>
      <p:bldP spid="1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B7186-2DAB-6C2F-51E6-16D28D169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9CDE17-BF1C-60AA-7F01-3359D5900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Attention Mechanism in </a:t>
            </a:r>
            <a:r>
              <a:rPr kumimoji="1" lang="en" altLang="zh-TW" dirty="0"/>
              <a:t>G</a:t>
            </a:r>
            <a:r>
              <a:rPr kumimoji="1" lang="en-US" altLang="zh-TW" dirty="0"/>
              <a:t>AT (1)</a:t>
            </a:r>
            <a:r>
              <a:rPr kumimoji="1" lang="en" altLang="zh-TW" dirty="0"/>
              <a:t> 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9771B1-FBB9-C3E3-E9EF-C9F811C9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40C7B2A-3FF5-6F0A-F9BE-6A7C55935D53}"/>
                  </a:ext>
                </a:extLst>
              </p:cNvPr>
              <p:cNvSpPr txBox="1"/>
              <p:nvPr/>
            </p:nvSpPr>
            <p:spPr>
              <a:xfrm>
                <a:off x="3692625" y="3607226"/>
                <a:ext cx="2758449" cy="971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1" lang="zh-TW" altLang="en-US" sz="2000" dirty="0"/>
                  <a:t>每個節點都會經過線性</a:t>
                </a:r>
                <a:r>
                  <a:rPr kumimoji="1" lang="zh-TW" altLang="en-US" sz="2000" dirty="0">
                    <a:solidFill>
                      <a:schemeClr val="tx1"/>
                    </a:solidFill>
                  </a:rPr>
                  <a:t>轉換</a:t>
                </a:r>
                <a:r>
                  <a:rPr kumimoji="1" lang="en-US" altLang="zh-TW" sz="20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kumimoji="1" lang="en-US" altLang="zh-TW" sz="2000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sz="2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altLang="zh-TW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zh-TW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kumimoji="1" lang="en-US" altLang="zh-TW" sz="2000" dirty="0">
                    <a:solidFill>
                      <a:schemeClr val="tx1"/>
                    </a:solidFill>
                  </a:rPr>
                  <a:t>)</a:t>
                </a:r>
                <a:r>
                  <a:rPr kumimoji="1" lang="zh-TW" altLang="en-US" sz="2000" dirty="0">
                    <a:solidFill>
                      <a:schemeClr val="tx1"/>
                    </a:solidFill>
                  </a:rPr>
                  <a:t> </a:t>
                </a:r>
                <a:endParaRPr kumimoji="1"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40C7B2A-3FF5-6F0A-F9BE-6A7C55935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2625" y="3607226"/>
                <a:ext cx="2758449" cy="971356"/>
              </a:xfrm>
              <a:prstGeom prst="rect">
                <a:avLst/>
              </a:prstGeom>
              <a:blipFill>
                <a:blip r:embed="rId3"/>
                <a:stretch>
                  <a:fillRect l="-2294" r="-1376" b="-103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群組 38">
            <a:extLst>
              <a:ext uri="{FF2B5EF4-FFF2-40B4-BE49-F238E27FC236}">
                <a16:creationId xmlns:a16="http://schemas.microsoft.com/office/drawing/2014/main" id="{28BAABAC-E279-FB76-E77D-FCEAAD5F6CE7}"/>
              </a:ext>
            </a:extLst>
          </p:cNvPr>
          <p:cNvGrpSpPr/>
          <p:nvPr/>
        </p:nvGrpSpPr>
        <p:grpSpPr>
          <a:xfrm>
            <a:off x="2178587" y="3189783"/>
            <a:ext cx="1243442" cy="2128354"/>
            <a:chOff x="1858413" y="2529371"/>
            <a:chExt cx="1243442" cy="2128354"/>
          </a:xfrm>
        </p:grpSpPr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FB096FA2-9956-0AC1-73F5-A25CA7083A32}"/>
                </a:ext>
              </a:extLst>
            </p:cNvPr>
            <p:cNvSpPr/>
            <p:nvPr/>
          </p:nvSpPr>
          <p:spPr>
            <a:xfrm>
              <a:off x="1858413" y="4107218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33410E70-D790-88B6-8FDE-77929EDBFFD6}"/>
                </a:ext>
              </a:extLst>
            </p:cNvPr>
            <p:cNvSpPr/>
            <p:nvPr/>
          </p:nvSpPr>
          <p:spPr>
            <a:xfrm>
              <a:off x="2000841" y="3153746"/>
              <a:ext cx="550507" cy="550507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E95F7845-15B2-D1B6-83CA-8783C275E986}"/>
                </a:ext>
              </a:extLst>
            </p:cNvPr>
            <p:cNvSpPr/>
            <p:nvPr/>
          </p:nvSpPr>
          <p:spPr>
            <a:xfrm>
              <a:off x="2551348" y="2529371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D67FD421-E27F-3927-AD4C-53338FD68A97}"/>
                </a:ext>
              </a:extLst>
            </p:cNvPr>
            <p:cNvCxnSpPr>
              <a:cxnSpLocks/>
              <a:stCxn id="42" idx="3"/>
              <a:endCxn id="41" idx="7"/>
            </p:cNvCxnSpPr>
            <p:nvPr/>
          </p:nvCxnSpPr>
          <p:spPr>
            <a:xfrm flipH="1">
              <a:off x="2470728" y="299925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CF4B2BC2-872E-2BE6-233B-D844B55EEFA2}"/>
                </a:ext>
              </a:extLst>
            </p:cNvPr>
            <p:cNvCxnSpPr>
              <a:cxnSpLocks/>
              <a:stCxn id="40" idx="0"/>
              <a:endCxn id="41" idx="4"/>
            </p:cNvCxnSpPr>
            <p:nvPr/>
          </p:nvCxnSpPr>
          <p:spPr>
            <a:xfrm flipV="1">
              <a:off x="2133667" y="370425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8E718E8-1EEB-5BF1-C40F-A8EF2EBFD910}"/>
                  </a:ext>
                </a:extLst>
              </p:cNvPr>
              <p:cNvSpPr txBox="1"/>
              <p:nvPr/>
            </p:nvSpPr>
            <p:spPr>
              <a:xfrm>
                <a:off x="1448916" y="3164598"/>
                <a:ext cx="1621697" cy="540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TW" alt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TW" altLang="en-US" sz="20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e>
                    </m:acc>
                  </m:oMath>
                </a14:m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zh-TW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TW" sz="200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A8E718E8-1EEB-5BF1-C40F-A8EF2EBFD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916" y="3164598"/>
                <a:ext cx="1621697" cy="540212"/>
              </a:xfrm>
              <a:prstGeom prst="rect">
                <a:avLst/>
              </a:prstGeom>
              <a:blipFill>
                <a:blip r:embed="rId4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3931F3F-BA29-BAAD-0389-0C225843E7E8}"/>
                  </a:ext>
                </a:extLst>
              </p:cNvPr>
              <p:cNvSpPr txBox="1"/>
              <p:nvPr/>
            </p:nvSpPr>
            <p:spPr>
              <a:xfrm>
                <a:off x="812415" y="3836713"/>
                <a:ext cx="1686518" cy="505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zh-TW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bSup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3931F3F-BA29-BAAD-0389-0C225843E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15" y="3836713"/>
                <a:ext cx="1686518" cy="505395"/>
              </a:xfrm>
              <a:prstGeom prst="rect">
                <a:avLst/>
              </a:prstGeom>
              <a:blipFill>
                <a:blip r:embed="rId5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068622E-1C1E-2A2F-A059-BEFF336AD601}"/>
                  </a:ext>
                </a:extLst>
              </p:cNvPr>
              <p:cNvSpPr txBox="1"/>
              <p:nvPr/>
            </p:nvSpPr>
            <p:spPr>
              <a:xfrm>
                <a:off x="653143" y="4745073"/>
                <a:ext cx="1744463" cy="540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zh-TW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20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bSup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068622E-1C1E-2A2F-A059-BEFF336AD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4745073"/>
                <a:ext cx="1744463" cy="540212"/>
              </a:xfrm>
              <a:prstGeom prst="rect">
                <a:avLst/>
              </a:prstGeom>
              <a:blipFill>
                <a:blip r:embed="rId6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615CA06E-7A39-4C8F-F926-314FB695C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937186"/>
              </p:ext>
            </p:extLst>
          </p:nvPr>
        </p:nvGraphicFramePr>
        <p:xfrm>
          <a:off x="7644295" y="3607226"/>
          <a:ext cx="25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">
                  <a:extLst>
                    <a:ext uri="{9D8B030D-6E8A-4147-A177-3AD203B41FA5}">
                      <a16:colId xmlns:a16="http://schemas.microsoft.com/office/drawing/2014/main" val="887711955"/>
                    </a:ext>
                  </a:extLst>
                </a:gridCol>
              </a:tblGrid>
              <a:tr h="32225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024990"/>
                  </a:ext>
                </a:extLst>
              </a:tr>
              <a:tr h="32225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152354"/>
                  </a:ext>
                </a:extLst>
              </a:tr>
              <a:tr h="32225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118514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1CC4A258-2E97-43AD-270A-D48438060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182375"/>
              </p:ext>
            </p:extLst>
          </p:nvPr>
        </p:nvGraphicFramePr>
        <p:xfrm>
          <a:off x="9066478" y="3607226"/>
          <a:ext cx="25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">
                  <a:extLst>
                    <a:ext uri="{9D8B030D-6E8A-4147-A177-3AD203B41FA5}">
                      <a16:colId xmlns:a16="http://schemas.microsoft.com/office/drawing/2014/main" val="887711955"/>
                    </a:ext>
                  </a:extLst>
                </a:gridCol>
              </a:tblGrid>
              <a:tr h="32225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024990"/>
                  </a:ext>
                </a:extLst>
              </a:tr>
              <a:tr h="32225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152354"/>
                  </a:ext>
                </a:extLst>
              </a:tr>
              <a:tr h="32225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118514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6D6BD4B3-4EC5-2C45-8383-E775BC1FA5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473457"/>
              </p:ext>
            </p:extLst>
          </p:nvPr>
        </p:nvGraphicFramePr>
        <p:xfrm>
          <a:off x="10594319" y="3607226"/>
          <a:ext cx="25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">
                  <a:extLst>
                    <a:ext uri="{9D8B030D-6E8A-4147-A177-3AD203B41FA5}">
                      <a16:colId xmlns:a16="http://schemas.microsoft.com/office/drawing/2014/main" val="887711955"/>
                    </a:ext>
                  </a:extLst>
                </a:gridCol>
              </a:tblGrid>
              <a:tr h="32225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024990"/>
                  </a:ext>
                </a:extLst>
              </a:tr>
              <a:tr h="32225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152354"/>
                  </a:ext>
                </a:extLst>
              </a:tr>
              <a:tr h="32225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1185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9F546470-2EAB-5A19-0A08-270C91D89F6A}"/>
                  </a:ext>
                </a:extLst>
              </p:cNvPr>
              <p:cNvSpPr txBox="1"/>
              <p:nvPr/>
            </p:nvSpPr>
            <p:spPr>
              <a:xfrm>
                <a:off x="6895603" y="3885760"/>
                <a:ext cx="748692" cy="540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>
                          <a:latin typeface="Cambria Math" panose="02040503050406030204" pitchFamily="18" charset="0"/>
                        </a:rPr>
                        <m:t>W</m:t>
                      </m:r>
                      <m:acc>
                        <m:accPr>
                          <m:chr m:val="⃗"/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9F546470-2EAB-5A19-0A08-270C91D89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603" y="3885760"/>
                <a:ext cx="748692" cy="540212"/>
              </a:xfrm>
              <a:prstGeom prst="rect">
                <a:avLst/>
              </a:prstGeom>
              <a:blipFill>
                <a:blip r:embed="rId7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929850E-890B-F7E9-5AFA-AB2BF93E2C99}"/>
                  </a:ext>
                </a:extLst>
              </p:cNvPr>
              <p:cNvSpPr txBox="1"/>
              <p:nvPr/>
            </p:nvSpPr>
            <p:spPr>
              <a:xfrm>
                <a:off x="8317786" y="3880472"/>
                <a:ext cx="748692" cy="505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>
                          <a:latin typeface="Cambria Math" panose="02040503050406030204" pitchFamily="18" charset="0"/>
                        </a:rPr>
                        <m:t>W</m:t>
                      </m:r>
                      <m:acc>
                        <m:accPr>
                          <m:chr m:val="⃗"/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7929850E-890B-F7E9-5AFA-AB2BF93E2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7786" y="3880472"/>
                <a:ext cx="748692" cy="505395"/>
              </a:xfrm>
              <a:prstGeom prst="rect">
                <a:avLst/>
              </a:prstGeom>
              <a:blipFill>
                <a:blip r:embed="rId8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A5054A5C-3702-20E5-39F0-3ACA207C4BEC}"/>
                  </a:ext>
                </a:extLst>
              </p:cNvPr>
              <p:cNvSpPr txBox="1"/>
              <p:nvPr/>
            </p:nvSpPr>
            <p:spPr>
              <a:xfrm>
                <a:off x="9845627" y="3880472"/>
                <a:ext cx="748692" cy="540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>
                          <a:latin typeface="Cambria Math" panose="02040503050406030204" pitchFamily="18" charset="0"/>
                        </a:rPr>
                        <m:t>W</m:t>
                      </m:r>
                      <m:acc>
                        <m:accPr>
                          <m:chr m:val="⃗"/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A5054A5C-3702-20E5-39F0-3ACA207C4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5627" y="3880472"/>
                <a:ext cx="748692" cy="540212"/>
              </a:xfrm>
              <a:prstGeom prst="rect">
                <a:avLst/>
              </a:prstGeom>
              <a:blipFill>
                <a:blip r:embed="rId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圓角矩形 21">
            <a:extLst>
              <a:ext uri="{FF2B5EF4-FFF2-40B4-BE49-F238E27FC236}">
                <a16:creationId xmlns:a16="http://schemas.microsoft.com/office/drawing/2014/main" id="{8F511B71-ED72-F2AB-290B-30BB26711EAB}"/>
              </a:ext>
            </a:extLst>
          </p:cNvPr>
          <p:cNvSpPr/>
          <p:nvPr/>
        </p:nvSpPr>
        <p:spPr>
          <a:xfrm>
            <a:off x="653143" y="1521407"/>
            <a:ext cx="2658278" cy="36134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Step1: </a:t>
            </a:r>
            <a:r>
              <a:rPr kumimoji="1" lang="en" altLang="zh-TW" dirty="0">
                <a:solidFill>
                  <a:schemeClr val="tx1"/>
                </a:solidFill>
              </a:rPr>
              <a:t>AGGREGATE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9" grpId="0"/>
      <p:bldP spid="10" grpId="0"/>
      <p:bldP spid="18" grpId="0"/>
      <p:bldP spid="19" grpId="0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4FB42-C9B6-480A-A705-C1A487D8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E6233E-7F3D-4485-8E89-7A8960A99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Attention Mechanism in </a:t>
            </a:r>
            <a:r>
              <a:rPr kumimoji="1" lang="en" altLang="zh-TW" dirty="0"/>
              <a:t>G</a:t>
            </a:r>
            <a:r>
              <a:rPr kumimoji="1" lang="en-US" altLang="zh-TW" dirty="0"/>
              <a:t>AT (2)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4F427F-47C9-CC22-F594-BFE296341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EF12E34D-F39A-795A-919C-165118278B06}"/>
              </a:ext>
            </a:extLst>
          </p:cNvPr>
          <p:cNvGrpSpPr/>
          <p:nvPr/>
        </p:nvGrpSpPr>
        <p:grpSpPr>
          <a:xfrm>
            <a:off x="2178587" y="3189783"/>
            <a:ext cx="1243442" cy="2128354"/>
            <a:chOff x="1858413" y="2529371"/>
            <a:chExt cx="1243442" cy="2128354"/>
          </a:xfrm>
        </p:grpSpPr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99782920-5734-B8FF-EDA7-BAC95B3B4765}"/>
                </a:ext>
              </a:extLst>
            </p:cNvPr>
            <p:cNvSpPr/>
            <p:nvPr/>
          </p:nvSpPr>
          <p:spPr>
            <a:xfrm>
              <a:off x="1858413" y="4107218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508DA948-BCF8-0A11-B827-326255905AF7}"/>
                </a:ext>
              </a:extLst>
            </p:cNvPr>
            <p:cNvSpPr/>
            <p:nvPr/>
          </p:nvSpPr>
          <p:spPr>
            <a:xfrm>
              <a:off x="2000841" y="3153746"/>
              <a:ext cx="550507" cy="550507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91FAC2C3-214F-7B6E-166B-32FD3070E87C}"/>
                </a:ext>
              </a:extLst>
            </p:cNvPr>
            <p:cNvSpPr/>
            <p:nvPr/>
          </p:nvSpPr>
          <p:spPr>
            <a:xfrm>
              <a:off x="2551348" y="2529371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2675630A-9F3A-8F60-C7AE-C6F2D0CF1830}"/>
                </a:ext>
              </a:extLst>
            </p:cNvPr>
            <p:cNvCxnSpPr>
              <a:cxnSpLocks/>
              <a:stCxn id="42" idx="3"/>
              <a:endCxn id="41" idx="7"/>
            </p:cNvCxnSpPr>
            <p:nvPr/>
          </p:nvCxnSpPr>
          <p:spPr>
            <a:xfrm flipH="1">
              <a:off x="2470728" y="299925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F9E6F559-0592-845D-A954-8EB43979F4CF}"/>
                </a:ext>
              </a:extLst>
            </p:cNvPr>
            <p:cNvCxnSpPr>
              <a:cxnSpLocks/>
              <a:stCxn id="40" idx="0"/>
              <a:endCxn id="41" idx="4"/>
            </p:cNvCxnSpPr>
            <p:nvPr/>
          </p:nvCxnSpPr>
          <p:spPr>
            <a:xfrm flipV="1">
              <a:off x="2133667" y="370425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AEAE8D2-D3C7-00FE-732A-944ACAD4D239}"/>
                  </a:ext>
                </a:extLst>
              </p:cNvPr>
              <p:cNvSpPr txBox="1"/>
              <p:nvPr/>
            </p:nvSpPr>
            <p:spPr>
              <a:xfrm>
                <a:off x="1448916" y="3164598"/>
                <a:ext cx="1621697" cy="540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TW" alt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TW" altLang="en-US" sz="20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e>
                    </m:acc>
                  </m:oMath>
                </a14:m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zh-TW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5AEAE8D2-D3C7-00FE-732A-944ACAD4D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916" y="3164598"/>
                <a:ext cx="1621697" cy="540212"/>
              </a:xfrm>
              <a:prstGeom prst="rect">
                <a:avLst/>
              </a:prstGeom>
              <a:blipFill>
                <a:blip r:embed="rId3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9191820-2F4F-4010-F95D-5BD9D86440F9}"/>
                  </a:ext>
                </a:extLst>
              </p:cNvPr>
              <p:cNvSpPr txBox="1"/>
              <p:nvPr/>
            </p:nvSpPr>
            <p:spPr>
              <a:xfrm>
                <a:off x="812415" y="3836713"/>
                <a:ext cx="1686518" cy="505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zh-TW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bSup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9191820-2F4F-4010-F95D-5BD9D8644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15" y="3836713"/>
                <a:ext cx="1686518" cy="505395"/>
              </a:xfrm>
              <a:prstGeom prst="rect">
                <a:avLst/>
              </a:prstGeom>
              <a:blipFill>
                <a:blip r:embed="rId4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3DA1322-6B78-97DB-6BCF-BAC0C64BECCA}"/>
                  </a:ext>
                </a:extLst>
              </p:cNvPr>
              <p:cNvSpPr txBox="1"/>
              <p:nvPr/>
            </p:nvSpPr>
            <p:spPr>
              <a:xfrm>
                <a:off x="653143" y="4745073"/>
                <a:ext cx="1744463" cy="540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zh-TW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20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bSup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D3DA1322-6B78-97DB-6BCF-BAC0C64BE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4745073"/>
                <a:ext cx="1744463" cy="540212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AB1A19B8-4679-545B-BA1B-84F83AE78A62}"/>
                  </a:ext>
                </a:extLst>
              </p:cNvPr>
              <p:cNvSpPr txBox="1"/>
              <p:nvPr/>
            </p:nvSpPr>
            <p:spPr>
              <a:xfrm>
                <a:off x="6650195" y="4259319"/>
                <a:ext cx="748692" cy="540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>
                          <a:latin typeface="Cambria Math" panose="02040503050406030204" pitchFamily="18" charset="0"/>
                        </a:rPr>
                        <m:t>W</m:t>
                      </m:r>
                      <m:acc>
                        <m:accPr>
                          <m:chr m:val="⃗"/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AB1A19B8-4679-545B-BA1B-84F83AE78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195" y="4259319"/>
                <a:ext cx="748692" cy="540212"/>
              </a:xfrm>
              <a:prstGeom prst="rect">
                <a:avLst/>
              </a:prstGeom>
              <a:blipFill>
                <a:blip r:embed="rId6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EFB09F88-EA43-2078-96B1-8E8F702B0915}"/>
                  </a:ext>
                </a:extLst>
              </p:cNvPr>
              <p:cNvSpPr txBox="1"/>
              <p:nvPr/>
            </p:nvSpPr>
            <p:spPr>
              <a:xfrm>
                <a:off x="5374402" y="4276727"/>
                <a:ext cx="748692" cy="505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2000">
                          <a:latin typeface="Cambria Math" panose="02040503050406030204" pitchFamily="18" charset="0"/>
                        </a:rPr>
                        <m:t>W</m:t>
                      </m:r>
                      <m:acc>
                        <m:accPr>
                          <m:chr m:val="⃗"/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bSup>
                        </m:e>
                      </m:acc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EFB09F88-EA43-2078-96B1-8E8F702B0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402" y="4276727"/>
                <a:ext cx="748692" cy="505395"/>
              </a:xfrm>
              <a:prstGeom prst="rect">
                <a:avLst/>
              </a:prstGeom>
              <a:blipFill>
                <a:blip r:embed="rId7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圓角矩形 21">
            <a:extLst>
              <a:ext uri="{FF2B5EF4-FFF2-40B4-BE49-F238E27FC236}">
                <a16:creationId xmlns:a16="http://schemas.microsoft.com/office/drawing/2014/main" id="{D6484436-8FA6-B904-573C-C09E83CEB08A}"/>
              </a:ext>
            </a:extLst>
          </p:cNvPr>
          <p:cNvSpPr/>
          <p:nvPr/>
        </p:nvSpPr>
        <p:spPr>
          <a:xfrm>
            <a:off x="653143" y="1521407"/>
            <a:ext cx="2658278" cy="36134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Step1: </a:t>
            </a:r>
            <a:r>
              <a:rPr kumimoji="1" lang="en" altLang="zh-TW" dirty="0">
                <a:solidFill>
                  <a:schemeClr val="tx1"/>
                </a:solidFill>
              </a:rPr>
              <a:t>AGGREGATE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A965A75-3563-ED58-A3BA-82D78EC4A6D7}"/>
                  </a:ext>
                </a:extLst>
              </p:cNvPr>
              <p:cNvSpPr txBox="1"/>
              <p:nvPr/>
            </p:nvSpPr>
            <p:spPr>
              <a:xfrm>
                <a:off x="570704" y="2154343"/>
                <a:ext cx="6267050" cy="384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/>
                  <a:t>假設我們正在算</a:t>
                </a:r>
                <a:r>
                  <a:rPr kumimoji="1" lang="en-US" altLang="zh-TW" dirty="0"/>
                  <a:t> </a:t>
                </a:r>
                <a14:m>
                  <m:oMath xmlns:m="http://schemas.openxmlformats.org/officeDocument/2006/math">
                    <m:r>
                      <a:rPr lang="zh-TW" altLang="en-US" sz="180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對</a:t>
                </a:r>
                <a:r>
                  <a:rPr kumimoji="1"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的重要性，</a:t>
                </a:r>
                <a:r>
                  <a:rPr lang="zh-TW" alt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zh-TW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zh-TW" altLang="en-US"/>
                          <m:t> </m:t>
                        </m:r>
                      </m:e>
                    </m:acc>
                  </m:oMath>
                </a14:m>
                <a:r>
                  <a:rPr kumimoji="1" lang="zh-TW" altLang="en-US" dirty="0"/>
                  <a:t> 是可以被訓練的參數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7A965A75-3563-ED58-A3BA-82D78EC4A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04" y="2154343"/>
                <a:ext cx="6267050" cy="384721"/>
              </a:xfrm>
              <a:prstGeom prst="rect">
                <a:avLst/>
              </a:prstGeom>
              <a:blipFill>
                <a:blip r:embed="rId8"/>
                <a:stretch>
                  <a:fillRect l="-1012" b="-218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05275B6-30D9-1C05-DF76-46429652F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507082"/>
              </p:ext>
            </p:extLst>
          </p:nvPr>
        </p:nvGraphicFramePr>
        <p:xfrm>
          <a:off x="5108834" y="3973147"/>
          <a:ext cx="126579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30">
                  <a:extLst>
                    <a:ext uri="{9D8B030D-6E8A-4147-A177-3AD203B41FA5}">
                      <a16:colId xmlns:a16="http://schemas.microsoft.com/office/drawing/2014/main" val="294918357"/>
                    </a:ext>
                  </a:extLst>
                </a:gridCol>
                <a:gridCol w="421930">
                  <a:extLst>
                    <a:ext uri="{9D8B030D-6E8A-4147-A177-3AD203B41FA5}">
                      <a16:colId xmlns:a16="http://schemas.microsoft.com/office/drawing/2014/main" val="2570513948"/>
                    </a:ext>
                  </a:extLst>
                </a:gridCol>
                <a:gridCol w="421930">
                  <a:extLst>
                    <a:ext uri="{9D8B030D-6E8A-4147-A177-3AD203B41FA5}">
                      <a16:colId xmlns:a16="http://schemas.microsoft.com/office/drawing/2014/main" val="38365966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98568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BC00DCA1-376B-9C61-1496-047AAC746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40173"/>
              </p:ext>
            </p:extLst>
          </p:nvPr>
        </p:nvGraphicFramePr>
        <p:xfrm>
          <a:off x="6373358" y="3973147"/>
          <a:ext cx="1265790" cy="27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930">
                  <a:extLst>
                    <a:ext uri="{9D8B030D-6E8A-4147-A177-3AD203B41FA5}">
                      <a16:colId xmlns:a16="http://schemas.microsoft.com/office/drawing/2014/main" val="294918357"/>
                    </a:ext>
                  </a:extLst>
                </a:gridCol>
                <a:gridCol w="421930">
                  <a:extLst>
                    <a:ext uri="{9D8B030D-6E8A-4147-A177-3AD203B41FA5}">
                      <a16:colId xmlns:a16="http://schemas.microsoft.com/office/drawing/2014/main" val="2570513948"/>
                    </a:ext>
                  </a:extLst>
                </a:gridCol>
                <a:gridCol w="421930">
                  <a:extLst>
                    <a:ext uri="{9D8B030D-6E8A-4147-A177-3AD203B41FA5}">
                      <a16:colId xmlns:a16="http://schemas.microsoft.com/office/drawing/2014/main" val="38365966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98568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2C4195E1-912F-E077-9834-F5175CDDEA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546420"/>
              </p:ext>
            </p:extLst>
          </p:nvPr>
        </p:nvGraphicFramePr>
        <p:xfrm>
          <a:off x="8470700" y="3013027"/>
          <a:ext cx="25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">
                  <a:extLst>
                    <a:ext uri="{9D8B030D-6E8A-4147-A177-3AD203B41FA5}">
                      <a16:colId xmlns:a16="http://schemas.microsoft.com/office/drawing/2014/main" val="887711955"/>
                    </a:ext>
                  </a:extLst>
                </a:gridCol>
              </a:tblGrid>
              <a:tr h="32225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024990"/>
                  </a:ext>
                </a:extLst>
              </a:tr>
              <a:tr h="32225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152354"/>
                  </a:ext>
                </a:extLst>
              </a:tr>
              <a:tr h="32225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118514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0A6C112F-F819-6159-E5CC-A0AF67F11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384897"/>
              </p:ext>
            </p:extLst>
          </p:nvPr>
        </p:nvGraphicFramePr>
        <p:xfrm>
          <a:off x="8470700" y="4101163"/>
          <a:ext cx="254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">
                  <a:extLst>
                    <a:ext uri="{9D8B030D-6E8A-4147-A177-3AD203B41FA5}">
                      <a16:colId xmlns:a16="http://schemas.microsoft.com/office/drawing/2014/main" val="887711955"/>
                    </a:ext>
                  </a:extLst>
                </a:gridCol>
              </a:tblGrid>
              <a:tr h="322252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9024990"/>
                  </a:ext>
                </a:extLst>
              </a:tr>
              <a:tr h="32225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152354"/>
                  </a:ext>
                </a:extLst>
              </a:tr>
              <a:tr h="322252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118514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DA033B4-06DB-4A14-CBBF-D9D1648AF653}"/>
                  </a:ext>
                </a:extLst>
              </p:cNvPr>
              <p:cNvSpPr txBox="1"/>
              <p:nvPr/>
            </p:nvSpPr>
            <p:spPr>
              <a:xfrm>
                <a:off x="8223353" y="2481331"/>
                <a:ext cx="1965805" cy="4821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nor/>
                            </m:rPr>
                            <a:rPr lang="en-US" altLang="zh-TW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m:rPr>
                              <m:nor/>
                            </m:rPr>
                            <a:rPr lang="zh-TW" altLang="en-US" sz="2400" smtClean="0"/>
                            <m:t> </m:t>
                          </m:r>
                        </m:e>
                      </m:acc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DA033B4-06DB-4A14-CBBF-D9D1648AF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3353" y="2481331"/>
                <a:ext cx="1965805" cy="482120"/>
              </a:xfrm>
              <a:prstGeom prst="rect">
                <a:avLst/>
              </a:prstGeom>
              <a:blipFill>
                <a:blip r:embed="rId9"/>
                <a:stretch>
                  <a:fillRect b="-205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64B4D5A2-C5FA-B97A-54A5-8A8BFFE34A43}"/>
                  </a:ext>
                </a:extLst>
              </p:cNvPr>
              <p:cNvSpPr txBox="1"/>
              <p:nvPr/>
            </p:nvSpPr>
            <p:spPr>
              <a:xfrm>
                <a:off x="7701891" y="3856318"/>
                <a:ext cx="70180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64B4D5A2-C5FA-B97A-54A5-8A8BFFE34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1891" y="3856318"/>
                <a:ext cx="701802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群組 35">
            <a:extLst>
              <a:ext uri="{FF2B5EF4-FFF2-40B4-BE49-F238E27FC236}">
                <a16:creationId xmlns:a16="http://schemas.microsoft.com/office/drawing/2014/main" id="{1905DD3F-827C-515F-7F34-F6CC75CD4F29}"/>
              </a:ext>
            </a:extLst>
          </p:cNvPr>
          <p:cNvGrpSpPr/>
          <p:nvPr/>
        </p:nvGrpSpPr>
        <p:grpSpPr>
          <a:xfrm>
            <a:off x="8855354" y="3740290"/>
            <a:ext cx="1517465" cy="680123"/>
            <a:chOff x="7986674" y="3728537"/>
            <a:chExt cx="1517465" cy="6801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1E7D1285-97A9-B7B6-286E-06AB7F40B480}"/>
                    </a:ext>
                  </a:extLst>
                </p:cNvPr>
                <p:cNvSpPr txBox="1"/>
                <p:nvPr/>
              </p:nvSpPr>
              <p:spPr>
                <a:xfrm>
                  <a:off x="7986674" y="3844564"/>
                  <a:ext cx="701802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zh-TW" altLang="en-US" sz="24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1E7D1285-97A9-B7B6-286E-06AB7F40B4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86674" y="3844564"/>
                  <a:ext cx="701802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FDE69EE5-459F-7996-29A7-292F02BBEB35}"/>
                    </a:ext>
                  </a:extLst>
                </p:cNvPr>
                <p:cNvSpPr txBox="1"/>
                <p:nvPr/>
              </p:nvSpPr>
              <p:spPr>
                <a:xfrm>
                  <a:off x="8653073" y="3728537"/>
                  <a:ext cx="851066" cy="6801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zh-TW" altLang="en-US" sz="320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TW" sz="3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TW" sz="3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zh-TW" altLang="en-US" sz="32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oMath>
                    </m:oMathPara>
                  </a14:m>
                  <a:endParaRPr lang="zh-TW" altLang="en-US" sz="3200" i="1" dirty="0"/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FDE69EE5-459F-7996-29A7-292F02BBEB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3073" y="3728537"/>
                  <a:ext cx="851066" cy="680123"/>
                </a:xfrm>
                <a:prstGeom prst="rect">
                  <a:avLst/>
                </a:prstGeom>
                <a:blipFill>
                  <a:blip r:embed="rId12"/>
                  <a:stretch>
                    <a:fillRect b="-1296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6F37DC4-8946-BF57-9981-9AC760A83BA6}"/>
                  </a:ext>
                </a:extLst>
              </p:cNvPr>
              <p:cNvSpPr txBox="1"/>
              <p:nvPr/>
            </p:nvSpPr>
            <p:spPr>
              <a:xfrm>
                <a:off x="3443062" y="3135204"/>
                <a:ext cx="851066" cy="6065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zh-TW" altLang="en-US" sz="2800" i="1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6F37DC4-8946-BF57-9981-9AC760A83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062" y="3135204"/>
                <a:ext cx="851066" cy="606576"/>
              </a:xfrm>
              <a:prstGeom prst="rect">
                <a:avLst/>
              </a:prstGeom>
              <a:blipFill>
                <a:blip r:embed="rId13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D4270BA-4BE3-C881-0D42-AF1DFC3F43D9}"/>
                  </a:ext>
                </a:extLst>
              </p:cNvPr>
              <p:cNvSpPr txBox="1"/>
              <p:nvPr/>
            </p:nvSpPr>
            <p:spPr>
              <a:xfrm>
                <a:off x="2738582" y="4739595"/>
                <a:ext cx="851066" cy="6065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zh-TW" altLang="en-US" sz="2800" i="1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D4270BA-4BE3-C881-0D42-AF1DFC3F4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582" y="4739595"/>
                <a:ext cx="851066" cy="606576"/>
              </a:xfrm>
              <a:prstGeom prst="rect">
                <a:avLst/>
              </a:prstGeom>
              <a:blipFill>
                <a:blip r:embed="rId14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5E4532AE-054A-5D60-2258-BA9EA7F5AC60}"/>
                  </a:ext>
                </a:extLst>
              </p:cNvPr>
              <p:cNvSpPr txBox="1"/>
              <p:nvPr/>
            </p:nvSpPr>
            <p:spPr>
              <a:xfrm>
                <a:off x="3108082" y="4020000"/>
                <a:ext cx="851066" cy="5908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zh-TW" altLang="en-US" sz="2800" i="1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5E4532AE-054A-5D60-2258-BA9EA7F5AC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082" y="4020000"/>
                <a:ext cx="851066" cy="590803"/>
              </a:xfrm>
              <a:prstGeom prst="rect">
                <a:avLst/>
              </a:prstGeom>
              <a:blipFill>
                <a:blip r:embed="rId15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曲線接點 31">
            <a:extLst>
              <a:ext uri="{FF2B5EF4-FFF2-40B4-BE49-F238E27FC236}">
                <a16:creationId xmlns:a16="http://schemas.microsoft.com/office/drawing/2014/main" id="{E493E82C-1579-CDC9-E8D4-581C3DC5A184}"/>
              </a:ext>
            </a:extLst>
          </p:cNvPr>
          <p:cNvCxnSpPr>
            <a:stCxn id="41" idx="7"/>
            <a:endCxn id="41" idx="5"/>
          </p:cNvCxnSpPr>
          <p:nvPr/>
        </p:nvCxnSpPr>
        <p:spPr>
          <a:xfrm rot="16200000" flipH="1">
            <a:off x="2596268" y="4089411"/>
            <a:ext cx="389267" cy="12700"/>
          </a:xfrm>
          <a:prstGeom prst="curvedConnector5">
            <a:avLst>
              <a:gd name="adj1" fmla="val -16443"/>
              <a:gd name="adj2" fmla="val 3483898"/>
              <a:gd name="adj3" fmla="val 158726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ECA200D5-92B2-02AB-9423-6006F24A8908}"/>
              </a:ext>
            </a:extLst>
          </p:cNvPr>
          <p:cNvSpPr txBox="1"/>
          <p:nvPr/>
        </p:nvSpPr>
        <p:spPr>
          <a:xfrm>
            <a:off x="7272222" y="5329890"/>
            <a:ext cx="2650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讓模型自己去學習哪些鄰居比較重要 </a:t>
            </a:r>
            <a:r>
              <a:rPr kumimoji="1" lang="en-US" altLang="zh-TW" dirty="0"/>
              <a:t>(attention)</a:t>
            </a:r>
            <a:endParaRPr kumimoji="1" lang="zh-TW" altLang="en-US" dirty="0"/>
          </a:p>
        </p:txBody>
      </p: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40E0863B-2E8F-37DF-0B6D-7CB210BAC0A7}"/>
              </a:ext>
            </a:extLst>
          </p:cNvPr>
          <p:cNvSpPr/>
          <p:nvPr/>
        </p:nvSpPr>
        <p:spPr>
          <a:xfrm rot="1447956">
            <a:off x="3177730" y="3003873"/>
            <a:ext cx="641484" cy="2660904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CFFF7234-80F7-48D2-2908-A4B35835B512}"/>
              </a:ext>
            </a:extLst>
          </p:cNvPr>
          <p:cNvSpPr txBox="1"/>
          <p:nvPr/>
        </p:nvSpPr>
        <p:spPr>
          <a:xfrm>
            <a:off x="2703292" y="2644081"/>
            <a:ext cx="2650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 err="1">
                <a:solidFill>
                  <a:schemeClr val="accent6"/>
                </a:solidFill>
              </a:rPr>
              <a:t>Softmax</a:t>
            </a:r>
            <a:endParaRPr kumimoji="1" lang="zh-TW" altLang="en-US" sz="2000" b="1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6FEA33CD-4825-FABA-FFCA-F3C3DF4A0B34}"/>
                  </a:ext>
                </a:extLst>
              </p:cNvPr>
              <p:cNvSpPr txBox="1"/>
              <p:nvPr/>
            </p:nvSpPr>
            <p:spPr>
              <a:xfrm>
                <a:off x="4113622" y="3220700"/>
                <a:ext cx="8510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.7</m:t>
                      </m:r>
                    </m:oMath>
                  </m:oMathPara>
                </a14:m>
                <a:endParaRPr lang="zh-TW" alt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6FEA33CD-4825-FABA-FFCA-F3C3DF4A0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622" y="3220700"/>
                <a:ext cx="851066" cy="4616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B9EBADFE-9628-4690-C1E2-E04D7E347912}"/>
                  </a:ext>
                </a:extLst>
              </p:cNvPr>
              <p:cNvSpPr txBox="1"/>
              <p:nvPr/>
            </p:nvSpPr>
            <p:spPr>
              <a:xfrm>
                <a:off x="3672066" y="4133832"/>
                <a:ext cx="8510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.1</m:t>
                      </m:r>
                    </m:oMath>
                  </m:oMathPara>
                </a14:m>
                <a:endParaRPr lang="zh-TW" alt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B9EBADFE-9628-4690-C1E2-E04D7E347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066" y="4133832"/>
                <a:ext cx="851066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CD43FA80-19C4-42E6-3AFA-61C40738132C}"/>
                  </a:ext>
                </a:extLst>
              </p:cNvPr>
              <p:cNvSpPr txBox="1"/>
              <p:nvPr/>
            </p:nvSpPr>
            <p:spPr>
              <a:xfrm>
                <a:off x="3375374" y="4856472"/>
                <a:ext cx="8510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.2</m:t>
                      </m:r>
                    </m:oMath>
                  </m:oMathPara>
                </a14:m>
                <a:endParaRPr lang="zh-TW" alt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CD43FA80-19C4-42E6-3AFA-61C407381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374" y="4856472"/>
                <a:ext cx="851066" cy="46166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4871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4" grpId="0"/>
      <p:bldP spid="28" grpId="0"/>
      <p:bldP spid="29" grpId="0"/>
      <p:bldP spid="30" grpId="0"/>
      <p:bldP spid="35" grpId="0"/>
      <p:bldP spid="38" grpId="0" animBg="1"/>
      <p:bldP spid="45" grpId="0"/>
      <p:bldP spid="47" grpId="0"/>
      <p:bldP spid="48" grpId="0"/>
      <p:bldP spid="4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E76B5-15C0-F915-77C8-7BC432272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286445-0E26-6936-85AF-8A36DEFF5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9292512A-1F90-BF50-D62F-BFB75E24AEAB}"/>
              </a:ext>
            </a:extLst>
          </p:cNvPr>
          <p:cNvGrpSpPr/>
          <p:nvPr/>
        </p:nvGrpSpPr>
        <p:grpSpPr>
          <a:xfrm>
            <a:off x="2178587" y="3189783"/>
            <a:ext cx="1243442" cy="2128354"/>
            <a:chOff x="1858413" y="2529371"/>
            <a:chExt cx="1243442" cy="2128354"/>
          </a:xfrm>
        </p:grpSpPr>
        <p:sp>
          <p:nvSpPr>
            <p:cNvPr id="40" name="橢圓 39">
              <a:extLst>
                <a:ext uri="{FF2B5EF4-FFF2-40B4-BE49-F238E27FC236}">
                  <a16:creationId xmlns:a16="http://schemas.microsoft.com/office/drawing/2014/main" id="{BEB489B3-DA67-ADE1-05AC-B7871BC39546}"/>
                </a:ext>
              </a:extLst>
            </p:cNvPr>
            <p:cNvSpPr/>
            <p:nvPr/>
          </p:nvSpPr>
          <p:spPr>
            <a:xfrm>
              <a:off x="1858413" y="4107218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3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1" name="橢圓 40">
              <a:extLst>
                <a:ext uri="{FF2B5EF4-FFF2-40B4-BE49-F238E27FC236}">
                  <a16:creationId xmlns:a16="http://schemas.microsoft.com/office/drawing/2014/main" id="{15FDD66F-DE13-6C6F-2694-216CB65DC5AE}"/>
                </a:ext>
              </a:extLst>
            </p:cNvPr>
            <p:cNvSpPr/>
            <p:nvPr/>
          </p:nvSpPr>
          <p:spPr>
            <a:xfrm>
              <a:off x="2000841" y="3153746"/>
              <a:ext cx="550507" cy="550507"/>
            </a:xfrm>
            <a:prstGeom prst="ellipse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2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2" name="橢圓 41">
              <a:extLst>
                <a:ext uri="{FF2B5EF4-FFF2-40B4-BE49-F238E27FC236}">
                  <a16:creationId xmlns:a16="http://schemas.microsoft.com/office/drawing/2014/main" id="{680C2CA4-208F-628F-247D-4458844FF14B}"/>
                </a:ext>
              </a:extLst>
            </p:cNvPr>
            <p:cNvSpPr/>
            <p:nvPr/>
          </p:nvSpPr>
          <p:spPr>
            <a:xfrm>
              <a:off x="2551348" y="2529371"/>
              <a:ext cx="550507" cy="55050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TW" sz="2400" dirty="0">
                  <a:solidFill>
                    <a:schemeClr val="tx1"/>
                  </a:solidFill>
                </a:rPr>
                <a:t>1</a:t>
              </a:r>
              <a:endParaRPr kumimoji="1" lang="zh-TW" altLang="en-US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43" name="直線接點 42">
              <a:extLst>
                <a:ext uri="{FF2B5EF4-FFF2-40B4-BE49-F238E27FC236}">
                  <a16:creationId xmlns:a16="http://schemas.microsoft.com/office/drawing/2014/main" id="{4FAD6F7A-331D-E1C7-2DB5-35D2B68393D4}"/>
                </a:ext>
              </a:extLst>
            </p:cNvPr>
            <p:cNvCxnSpPr>
              <a:cxnSpLocks/>
              <a:stCxn id="42" idx="3"/>
              <a:endCxn id="41" idx="7"/>
            </p:cNvCxnSpPr>
            <p:nvPr/>
          </p:nvCxnSpPr>
          <p:spPr>
            <a:xfrm flipH="1">
              <a:off x="2470728" y="2999258"/>
              <a:ext cx="161240" cy="235108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39741791-9E9A-22EA-71BA-87002E7933AF}"/>
                </a:ext>
              </a:extLst>
            </p:cNvPr>
            <p:cNvCxnSpPr>
              <a:cxnSpLocks/>
              <a:stCxn id="40" idx="0"/>
              <a:endCxn id="41" idx="4"/>
            </p:cNvCxnSpPr>
            <p:nvPr/>
          </p:nvCxnSpPr>
          <p:spPr>
            <a:xfrm flipV="1">
              <a:off x="2133667" y="3704253"/>
              <a:ext cx="142428" cy="402965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4C4C41D-CE29-2ED3-2D80-96E864B1AAA9}"/>
                  </a:ext>
                </a:extLst>
              </p:cNvPr>
              <p:cNvSpPr txBox="1"/>
              <p:nvPr/>
            </p:nvSpPr>
            <p:spPr>
              <a:xfrm>
                <a:off x="1448916" y="3164598"/>
                <a:ext cx="1621697" cy="540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TW" altLang="en-US" sz="2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TW" altLang="en-US" sz="20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e>
                    </m:acc>
                  </m:oMath>
                </a14:m>
                <a:r>
                  <a:rPr lang="en-US" altLang="zh-TW" sz="20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0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zh-TW" altLang="zh-TW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D4C4C41D-CE29-2ED3-2D80-96E864B1A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8916" y="3164598"/>
                <a:ext cx="1621697" cy="540212"/>
              </a:xfrm>
              <a:prstGeom prst="rect">
                <a:avLst/>
              </a:prstGeom>
              <a:blipFill>
                <a:blip r:embed="rId3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8BE7595-B451-18EE-EF5C-22A3B94024AA}"/>
                  </a:ext>
                </a:extLst>
              </p:cNvPr>
              <p:cNvSpPr txBox="1"/>
              <p:nvPr/>
            </p:nvSpPr>
            <p:spPr>
              <a:xfrm>
                <a:off x="812415" y="3836713"/>
                <a:ext cx="1686518" cy="505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zh-TW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bSup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F8BE7595-B451-18EE-EF5C-22A3B9402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15" y="3836713"/>
                <a:ext cx="1686518" cy="505395"/>
              </a:xfrm>
              <a:prstGeom prst="rect">
                <a:avLst/>
              </a:prstGeom>
              <a:blipFill>
                <a:blip r:embed="rId4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AA644AF-E594-E958-2D20-F2EEF0CB8315}"/>
                  </a:ext>
                </a:extLst>
              </p:cNvPr>
              <p:cNvSpPr txBox="1"/>
              <p:nvPr/>
            </p:nvSpPr>
            <p:spPr>
              <a:xfrm>
                <a:off x="653143" y="4745073"/>
                <a:ext cx="1744463" cy="5402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Sup>
                            <m:sSubSupPr>
                              <m:ctrlPr>
                                <a:rPr lang="zh-TW" alt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sz="2000" b="0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p>
                          </m:sSubSup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1AA644AF-E594-E958-2D20-F2EEF0CB8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4745073"/>
                <a:ext cx="1744463" cy="540212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5128EAA2-249E-607E-BCA0-CD43BBCC38CB}"/>
                  </a:ext>
                </a:extLst>
              </p:cNvPr>
              <p:cNvSpPr txBox="1"/>
              <p:nvPr/>
            </p:nvSpPr>
            <p:spPr>
              <a:xfrm>
                <a:off x="3443062" y="3135204"/>
                <a:ext cx="851066" cy="6065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zh-TW" altLang="en-US" sz="2800" i="1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5128EAA2-249E-607E-BCA0-CD43BBCC3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062" y="3135204"/>
                <a:ext cx="851066" cy="606576"/>
              </a:xfrm>
              <a:prstGeom prst="rect">
                <a:avLst/>
              </a:prstGeom>
              <a:blipFill>
                <a:blip r:embed="rId6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A6616A12-8510-EE96-C8E2-5DE2F6441E00}"/>
                  </a:ext>
                </a:extLst>
              </p:cNvPr>
              <p:cNvSpPr txBox="1"/>
              <p:nvPr/>
            </p:nvSpPr>
            <p:spPr>
              <a:xfrm>
                <a:off x="2738582" y="4739595"/>
                <a:ext cx="851066" cy="6065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zh-TW" altLang="en-US" sz="2800" i="1" dirty="0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A6616A12-8510-EE96-C8E2-5DE2F6441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8582" y="4739595"/>
                <a:ext cx="851066" cy="606576"/>
              </a:xfrm>
              <a:prstGeom prst="rect">
                <a:avLst/>
              </a:prstGeom>
              <a:blipFill>
                <a:blip r:embed="rId7"/>
                <a:stretch>
                  <a:fillRect b="-102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2BC26650-7715-56BA-1379-6B131265090C}"/>
                  </a:ext>
                </a:extLst>
              </p:cNvPr>
              <p:cNvSpPr txBox="1"/>
              <p:nvPr/>
            </p:nvSpPr>
            <p:spPr>
              <a:xfrm>
                <a:off x="3108082" y="4020000"/>
                <a:ext cx="851066" cy="5908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</m:oMath>
                  </m:oMathPara>
                </a14:m>
                <a:endParaRPr lang="zh-TW" altLang="en-US" sz="2800" i="1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2BC26650-7715-56BA-1379-6B1312650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082" y="4020000"/>
                <a:ext cx="851066" cy="590803"/>
              </a:xfrm>
              <a:prstGeom prst="rect">
                <a:avLst/>
              </a:prstGeom>
              <a:blipFill>
                <a:blip r:embed="rId8"/>
                <a:stretch>
                  <a:fillRect b="-21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曲線接點 31">
            <a:extLst>
              <a:ext uri="{FF2B5EF4-FFF2-40B4-BE49-F238E27FC236}">
                <a16:creationId xmlns:a16="http://schemas.microsoft.com/office/drawing/2014/main" id="{1106DC63-5759-8BC3-66F1-93C3F60B4B90}"/>
              </a:ext>
            </a:extLst>
          </p:cNvPr>
          <p:cNvCxnSpPr>
            <a:cxnSpLocks/>
            <a:stCxn id="41" idx="7"/>
            <a:endCxn id="41" idx="5"/>
          </p:cNvCxnSpPr>
          <p:nvPr/>
        </p:nvCxnSpPr>
        <p:spPr>
          <a:xfrm rot="16200000" flipH="1">
            <a:off x="2596268" y="4089411"/>
            <a:ext cx="389267" cy="12700"/>
          </a:xfrm>
          <a:prstGeom prst="curvedConnector5">
            <a:avLst>
              <a:gd name="adj1" fmla="val -16443"/>
              <a:gd name="adj2" fmla="val 3483898"/>
              <a:gd name="adj3" fmla="val 158726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圓角矩形 37">
            <a:extLst>
              <a:ext uri="{FF2B5EF4-FFF2-40B4-BE49-F238E27FC236}">
                <a16:creationId xmlns:a16="http://schemas.microsoft.com/office/drawing/2014/main" id="{6C76AFD0-FF37-B160-A6F2-E2FA50C7E1B9}"/>
              </a:ext>
            </a:extLst>
          </p:cNvPr>
          <p:cNvSpPr/>
          <p:nvPr/>
        </p:nvSpPr>
        <p:spPr>
          <a:xfrm rot="1447956">
            <a:off x="3177730" y="3003873"/>
            <a:ext cx="641484" cy="2660904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2AFB247D-FB2F-0552-B5E5-2B88CF7DD333}"/>
              </a:ext>
            </a:extLst>
          </p:cNvPr>
          <p:cNvSpPr txBox="1"/>
          <p:nvPr/>
        </p:nvSpPr>
        <p:spPr>
          <a:xfrm>
            <a:off x="2703292" y="2644081"/>
            <a:ext cx="26509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b="1" dirty="0" err="1">
                <a:solidFill>
                  <a:schemeClr val="accent6"/>
                </a:solidFill>
              </a:rPr>
              <a:t>Softmax</a:t>
            </a:r>
            <a:endParaRPr kumimoji="1" lang="zh-TW" altLang="en-US" sz="2000" b="1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238A8479-8157-F81E-6E9F-E69B6B28432F}"/>
                  </a:ext>
                </a:extLst>
              </p:cNvPr>
              <p:cNvSpPr txBox="1"/>
              <p:nvPr/>
            </p:nvSpPr>
            <p:spPr>
              <a:xfrm>
                <a:off x="4113622" y="3220700"/>
                <a:ext cx="8510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.7</m:t>
                      </m:r>
                    </m:oMath>
                  </m:oMathPara>
                </a14:m>
                <a:endParaRPr lang="zh-TW" alt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238A8479-8157-F81E-6E9F-E69B6B284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3622" y="3220700"/>
                <a:ext cx="851066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083BD31F-6AEE-86E4-A5F1-7C61F28CB600}"/>
                  </a:ext>
                </a:extLst>
              </p:cNvPr>
              <p:cNvSpPr txBox="1"/>
              <p:nvPr/>
            </p:nvSpPr>
            <p:spPr>
              <a:xfrm>
                <a:off x="3672066" y="4133832"/>
                <a:ext cx="8510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.1</m:t>
                      </m:r>
                    </m:oMath>
                  </m:oMathPara>
                </a14:m>
                <a:endParaRPr lang="zh-TW" alt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083BD31F-6AEE-86E4-A5F1-7C61F28CB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2066" y="4133832"/>
                <a:ext cx="851066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C556D31B-96A1-AA51-3645-58C337EFD78D}"/>
                  </a:ext>
                </a:extLst>
              </p:cNvPr>
              <p:cNvSpPr txBox="1"/>
              <p:nvPr/>
            </p:nvSpPr>
            <p:spPr>
              <a:xfrm>
                <a:off x="3375374" y="4856472"/>
                <a:ext cx="85106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TW" sz="2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.2</m:t>
                      </m:r>
                    </m:oMath>
                  </m:oMathPara>
                </a14:m>
                <a:endParaRPr lang="zh-TW" altLang="en-US" sz="2400" i="1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C556D31B-96A1-AA51-3645-58C337EFD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5374" y="4856472"/>
                <a:ext cx="851066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圓角矩形 2">
            <a:extLst>
              <a:ext uri="{FF2B5EF4-FFF2-40B4-BE49-F238E27FC236}">
                <a16:creationId xmlns:a16="http://schemas.microsoft.com/office/drawing/2014/main" id="{BBF31D63-AE32-8626-91A3-450D574479DC}"/>
              </a:ext>
            </a:extLst>
          </p:cNvPr>
          <p:cNvSpPr/>
          <p:nvPr/>
        </p:nvSpPr>
        <p:spPr>
          <a:xfrm>
            <a:off x="653143" y="1521407"/>
            <a:ext cx="2658278" cy="36134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Step2: </a:t>
            </a:r>
            <a:r>
              <a:rPr kumimoji="1" lang="en" altLang="zh-TW" dirty="0">
                <a:solidFill>
                  <a:schemeClr val="tx1"/>
                </a:solidFill>
              </a:rPr>
              <a:t>UPDATE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3ED63AC-1147-53F0-3736-60ECB6B6EEBF}"/>
                  </a:ext>
                </a:extLst>
              </p:cNvPr>
              <p:cNvSpPr txBox="1"/>
              <p:nvPr/>
            </p:nvSpPr>
            <p:spPr>
              <a:xfrm>
                <a:off x="5388756" y="3894778"/>
                <a:ext cx="5990829" cy="6297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TW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bSup>
                      </m:e>
                    </m:acc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zh-TW" alt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sz="2400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0.7</m:t>
                    </m:r>
                    <m:r>
                      <a:rPr lang="en-US" altLang="zh-TW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altLang="zh-TW" sz="2400">
                        <a:latin typeface="Cambria Math" panose="02040503050406030204" pitchFamily="18" charset="0"/>
                      </a:rPr>
                      <m:t>W</m:t>
                    </m:r>
                    <m:acc>
                      <m:accPr>
                        <m:chr m:val="⃗"/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zh-TW" altLang="en-US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e>
                    </m:acc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0.1</m:t>
                    </m:r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altLang="zh-TW" sz="2400">
                        <a:latin typeface="Cambria Math" panose="02040503050406030204" pitchFamily="18" charset="0"/>
                      </a:rPr>
                      <m:t>W</m:t>
                    </m:r>
                    <m:acc>
                      <m:accPr>
                        <m:chr m:val="⃗"/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TW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e>
                    </m:acc>
                    <m:r>
                      <a:rPr lang="en-US" altLang="zh-TW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TW" sz="2400" b="0" i="0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0.2</m:t>
                    </m:r>
                    <m:r>
                      <a:rPr lang="en-US" altLang="zh-TW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altLang="zh-TW" sz="2400">
                        <a:latin typeface="Cambria Math" panose="02040503050406030204" pitchFamily="18" charset="0"/>
                      </a:rPr>
                      <m:t>W</m:t>
                    </m:r>
                    <m:acc>
                      <m:accPr>
                        <m:chr m:val="⃗"/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zh-TW" alt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bSup>
                      </m:e>
                    </m:acc>
                  </m:oMath>
                </a14:m>
                <a:endParaRPr lang="zh-TW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C3ED63AC-1147-53F0-3736-60ECB6B6E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8756" y="3894778"/>
                <a:ext cx="5990829" cy="629724"/>
              </a:xfrm>
              <a:prstGeom prst="rect">
                <a:avLst/>
              </a:prstGeom>
              <a:blipFill>
                <a:blip r:embed="rId12"/>
                <a:stretch>
                  <a:fillRect l="-423" b="-98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標題 1">
            <a:extLst>
              <a:ext uri="{FF2B5EF4-FFF2-40B4-BE49-F238E27FC236}">
                <a16:creationId xmlns:a16="http://schemas.microsoft.com/office/drawing/2014/main" id="{8F273382-62A6-8BB3-7FF1-F31A58AD1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en-US" altLang="zh-TW" dirty="0"/>
              <a:t>GAT </a:t>
            </a:r>
            <a:r>
              <a:rPr kumimoji="1" lang="zh-TW" altLang="en-US" dirty="0"/>
              <a:t>更新節點狀態的方式 </a:t>
            </a:r>
            <a:r>
              <a:rPr kumimoji="1" lang="en-US" altLang="zh-TW" dirty="0"/>
              <a:t>(UPDATE)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236282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64D3FF-04E0-7A0D-4D37-01A9A7AE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圖任務 </a:t>
            </a:r>
            <a:r>
              <a:rPr kumimoji="1" lang="en-US" altLang="zh-TW" dirty="0"/>
              <a:t>Summary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CBD436-3039-7E3D-99C2-B61498862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F923145-A164-1AD5-55BD-4E1B81725690}"/>
                  </a:ext>
                </a:extLst>
              </p:cNvPr>
              <p:cNvSpPr txBox="1"/>
              <p:nvPr/>
            </p:nvSpPr>
            <p:spPr>
              <a:xfrm>
                <a:off x="3526541" y="2433197"/>
                <a:ext cx="1205144" cy="594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zh-TW" alt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zh-TW" alt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zh-TW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2F923145-A164-1AD5-55BD-4E1B81725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6541" y="2433197"/>
                <a:ext cx="1205144" cy="5949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C40CBF2-8C35-6DD3-0CF4-00B286831C72}"/>
                  </a:ext>
                </a:extLst>
              </p:cNvPr>
              <p:cNvSpPr txBox="1"/>
              <p:nvPr/>
            </p:nvSpPr>
            <p:spPr>
              <a:xfrm>
                <a:off x="4314435" y="2442075"/>
                <a:ext cx="692458" cy="5949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32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</m:oMath>
                  </m:oMathPara>
                </a14:m>
                <a:endParaRPr lang="zh-TW" alt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FC40CBF2-8C35-6DD3-0CF4-00B286831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435" y="2442075"/>
                <a:ext cx="692458" cy="59497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E97F85BF-83E0-061F-BB3B-0DB7B7654692}"/>
              </a:ext>
            </a:extLst>
          </p:cNvPr>
          <p:cNvSpPr txBox="1"/>
          <p:nvPr/>
        </p:nvSpPr>
        <p:spPr>
          <a:xfrm>
            <a:off x="653142" y="1704513"/>
            <a:ext cx="83221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/>
              <a:t>假設有一張圖的 </a:t>
            </a:r>
            <a:r>
              <a:rPr kumimoji="1" lang="en-US" altLang="zh-TW" sz="2000" dirty="0"/>
              <a:t>nodes</a:t>
            </a:r>
            <a:r>
              <a:rPr kumimoji="1" lang="zh-TW" altLang="en-US" sz="2000" dirty="0"/>
              <a:t> 有</a:t>
            </a:r>
            <a:r>
              <a:rPr kumimoji="1" lang="en-US" altLang="zh-TW" sz="2000" dirty="0"/>
              <a:t>3</a:t>
            </a:r>
            <a:r>
              <a:rPr kumimoji="1" lang="zh-TW" altLang="en-US" sz="2000" dirty="0"/>
              <a:t>個，且每個 </a:t>
            </a:r>
            <a:r>
              <a:rPr kumimoji="1" lang="en-US" altLang="zh-TW" sz="2000" dirty="0"/>
              <a:t>node</a:t>
            </a:r>
            <a:r>
              <a:rPr kumimoji="1" lang="zh-TW" altLang="en-US" sz="2000" dirty="0"/>
              <a:t> 的 </a:t>
            </a:r>
            <a:r>
              <a:rPr kumimoji="1" lang="en-US" altLang="zh-TW" sz="2000" dirty="0"/>
              <a:t>feature</a:t>
            </a:r>
            <a:r>
              <a:rPr kumimoji="1" lang="zh-TW" altLang="en-US" sz="2000" dirty="0"/>
              <a:t> 數目為</a:t>
            </a:r>
            <a:r>
              <a:rPr kumimoji="1" lang="en-US" altLang="zh-TW" sz="2000" dirty="0"/>
              <a:t>10</a:t>
            </a:r>
            <a:r>
              <a:rPr kumimoji="1" lang="zh-TW" altLang="en-US" sz="2000" dirty="0"/>
              <a:t>個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9988568-E8B7-51A6-AAD4-D993C47C9F5C}"/>
              </a:ext>
            </a:extLst>
          </p:cNvPr>
          <p:cNvSpPr txBox="1"/>
          <p:nvPr/>
        </p:nvSpPr>
        <p:spPr>
          <a:xfrm>
            <a:off x="775304" y="2539506"/>
            <a:ext cx="1809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solidFill>
                  <a:srgbClr val="0070C0"/>
                </a:solidFill>
              </a:rPr>
              <a:t>GCN_layer2</a:t>
            </a:r>
            <a:endParaRPr kumimoji="1" lang="zh-TW" altLang="en-US" sz="20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E5FBBE0-15CB-3027-4F29-84F3F77FEF8C}"/>
                  </a:ext>
                </a:extLst>
              </p:cNvPr>
              <p:cNvSpPr txBox="1"/>
              <p:nvPr/>
            </p:nvSpPr>
            <p:spPr>
              <a:xfrm>
                <a:off x="3440150" y="3196562"/>
                <a:ext cx="103646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TW" altLang="en-US" i="0">
                          <a:latin typeface="Cambria Math" panose="02040503050406030204" pitchFamily="18" charset="0"/>
                        </a:rPr>
                        <m:t>×3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E5FBBE0-15CB-3027-4F29-84F3F77FE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0150" y="3196562"/>
                <a:ext cx="103646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89CCB5D2-828D-F8F3-E23B-76F1D8902486}"/>
                  </a:ext>
                </a:extLst>
              </p:cNvPr>
              <p:cNvSpPr txBox="1"/>
              <p:nvPr/>
            </p:nvSpPr>
            <p:spPr>
              <a:xfrm>
                <a:off x="3474786" y="3715143"/>
                <a:ext cx="16792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TW" altLang="en-US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hidden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size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89CCB5D2-828D-F8F3-E23B-76F1D8902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4786" y="3715143"/>
                <a:ext cx="167929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DCC6F119-8E9A-00DC-3C2F-B38085E0B900}"/>
              </a:ext>
            </a:extLst>
          </p:cNvPr>
          <p:cNvCxnSpPr>
            <a:stCxn id="18" idx="0"/>
          </p:cNvCxnSpPr>
          <p:nvPr/>
        </p:nvCxnSpPr>
        <p:spPr>
          <a:xfrm flipV="1">
            <a:off x="3958384" y="2972401"/>
            <a:ext cx="0" cy="2241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170E453-2B56-5F81-D673-BA102F521D29}"/>
                  </a:ext>
                </a:extLst>
              </p:cNvPr>
              <p:cNvSpPr txBox="1"/>
              <p:nvPr/>
            </p:nvSpPr>
            <p:spPr>
              <a:xfrm>
                <a:off x="4823318" y="3076989"/>
                <a:ext cx="28287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mtClean="0">
                          <a:latin typeface="Cambria Math" panose="02040503050406030204" pitchFamily="18" charset="0"/>
                        </a:rPr>
                        <m:t>hidden</m:t>
                      </m:r>
                      <m:r>
                        <a:rPr lang="en-US" altLang="zh-TW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zh-TW" smtClean="0">
                          <a:latin typeface="Cambria Math" panose="02040503050406030204" pitchFamily="18" charset="0"/>
                        </a:rPr>
                        <m:t>size</m:t>
                      </m:r>
                      <m:r>
                        <a:rPr lang="zh-TW" altLang="en-US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num</m:t>
                      </m:r>
                      <m:r>
                        <a:rPr lang="en-US" altLang="zh-TW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altLang="zh-TW">
                          <a:latin typeface="Cambria Math" panose="02040503050406030204" pitchFamily="18" charset="0"/>
                        </a:rPr>
                        <m:t>classes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170E453-2B56-5F81-D673-BA102F521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318" y="3076989"/>
                <a:ext cx="28287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肘形接點 21">
            <a:extLst>
              <a:ext uri="{FF2B5EF4-FFF2-40B4-BE49-F238E27FC236}">
                <a16:creationId xmlns:a16="http://schemas.microsoft.com/office/drawing/2014/main" id="{C3CFE66F-91C7-3AA4-BE36-66B6AED5F530}"/>
              </a:ext>
            </a:extLst>
          </p:cNvPr>
          <p:cNvCxnSpPr>
            <a:cxnSpLocks/>
          </p:cNvCxnSpPr>
          <p:nvPr/>
        </p:nvCxnSpPr>
        <p:spPr>
          <a:xfrm rot="10800000">
            <a:off x="4621515" y="2973750"/>
            <a:ext cx="201802" cy="27902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B469FAE8-9D5C-F8EC-0681-2BD2884E362A}"/>
              </a:ext>
            </a:extLst>
          </p:cNvPr>
          <p:cNvCxnSpPr>
            <a:cxnSpLocks/>
          </p:cNvCxnSpPr>
          <p:nvPr/>
        </p:nvCxnSpPr>
        <p:spPr>
          <a:xfrm flipV="1">
            <a:off x="4229623" y="2972401"/>
            <a:ext cx="0" cy="702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45F6D439-C1B9-79ED-BAE7-4F935AF4FE17}"/>
              </a:ext>
            </a:extLst>
          </p:cNvPr>
          <p:cNvSpPr txBox="1"/>
          <p:nvPr/>
        </p:nvSpPr>
        <p:spPr>
          <a:xfrm>
            <a:off x="7487035" y="2656882"/>
            <a:ext cx="282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solidFill>
                  <a:srgbClr val="0070C0"/>
                </a:solidFill>
              </a:rPr>
              <a:t>Node Classification</a:t>
            </a:r>
            <a:endParaRPr kumimoji="1" lang="zh-TW" altLang="en-US" sz="2000" b="1" dirty="0">
              <a:solidFill>
                <a:srgbClr val="0070C0"/>
              </a:solidFill>
            </a:endParaRPr>
          </a:p>
        </p:txBody>
      </p:sp>
      <p:sp>
        <p:nvSpPr>
          <p:cNvPr id="25" name="向右箭號 24">
            <a:extLst>
              <a:ext uri="{FF2B5EF4-FFF2-40B4-BE49-F238E27FC236}">
                <a16:creationId xmlns:a16="http://schemas.microsoft.com/office/drawing/2014/main" id="{5AFE8F70-F991-8614-BB9A-BB89541C6EF9}"/>
              </a:ext>
            </a:extLst>
          </p:cNvPr>
          <p:cNvSpPr/>
          <p:nvPr/>
        </p:nvSpPr>
        <p:spPr>
          <a:xfrm>
            <a:off x="6773533" y="2689667"/>
            <a:ext cx="372862" cy="2827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6D7FA68F-F74A-8FF7-7A5B-8E14BDC3193C}"/>
                  </a:ext>
                </a:extLst>
              </p:cNvPr>
              <p:cNvSpPr txBox="1"/>
              <p:nvPr/>
            </p:nvSpPr>
            <p:spPr>
              <a:xfrm>
                <a:off x="1055429" y="2419632"/>
                <a:ext cx="4247760" cy="605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3200" b="0" i="0" smtClean="0">
                              <a:latin typeface="Cambria Math" panose="02040503050406030204" pitchFamily="18" charset="0"/>
                            </a:rPr>
                            <m:t>3)</m:t>
                          </m:r>
                        </m:sup>
                      </m:sSup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6D7FA68F-F74A-8FF7-7A5B-8E14BDC31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429" y="2419632"/>
                <a:ext cx="4247760" cy="6052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D7A3B3BB-4EBB-34EE-C4DE-73F75EAC0DA4}"/>
                  </a:ext>
                </a:extLst>
              </p:cNvPr>
              <p:cNvSpPr txBox="1"/>
              <p:nvPr/>
            </p:nvSpPr>
            <p:spPr>
              <a:xfrm>
                <a:off x="4199557" y="2427203"/>
                <a:ext cx="55412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0" smtClean="0">
                          <a:latin typeface="Cambria Math" panose="02040503050406030204" pitchFamily="18" charset="0"/>
                        </a:rPr>
                        <m:t>(2)</m:t>
                      </m:r>
                    </m:oMath>
                  </m:oMathPara>
                </a14:m>
                <a:endParaRPr lang="zh-TW" altLang="en-US" sz="1400" dirty="0"/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D7A3B3BB-4EBB-34EE-C4DE-73F75EAC0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557" y="2427203"/>
                <a:ext cx="554121" cy="307777"/>
              </a:xfrm>
              <a:prstGeom prst="rect">
                <a:avLst/>
              </a:prstGeom>
              <a:blipFill>
                <a:blip r:embed="rId9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字方塊 30">
            <a:extLst>
              <a:ext uri="{FF2B5EF4-FFF2-40B4-BE49-F238E27FC236}">
                <a16:creationId xmlns:a16="http://schemas.microsoft.com/office/drawing/2014/main" id="{6C46B64A-B8FB-D672-8DB3-CCC2694F417B}"/>
              </a:ext>
            </a:extLst>
          </p:cNvPr>
          <p:cNvSpPr txBox="1"/>
          <p:nvPr/>
        </p:nvSpPr>
        <p:spPr>
          <a:xfrm>
            <a:off x="775304" y="4735469"/>
            <a:ext cx="1809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solidFill>
                  <a:schemeClr val="accent2"/>
                </a:solidFill>
              </a:rPr>
              <a:t>READOUT</a:t>
            </a:r>
            <a:endParaRPr kumimoji="1" lang="zh-TW" altLang="en-US" sz="2000" b="1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61A80FA8-39DB-813D-8224-84C02F9CDE69}"/>
                  </a:ext>
                </a:extLst>
              </p:cNvPr>
              <p:cNvSpPr txBox="1"/>
              <p:nvPr/>
            </p:nvSpPr>
            <p:spPr>
              <a:xfrm>
                <a:off x="2491037" y="4647566"/>
                <a:ext cx="3708596" cy="605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r>
                            <a:rPr lang="en-US" altLang="zh-TW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TW" sz="3200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  <m:r>
                            <a:rPr lang="en-US" altLang="zh-TW" sz="3200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𝑀𝐸𝐴𝑁</m:t>
                      </m:r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zh-TW" altLang="en-US" sz="3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32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altLang="zh-TW" sz="3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3200">
                              <a:latin typeface="Cambria Math" panose="02040503050406030204" pitchFamily="18" charset="0"/>
                            </a:rPr>
                            <m:t>3)</m:t>
                          </m:r>
                        </m:sup>
                      </m:sSup>
                      <m:r>
                        <a:rPr lang="en-US" altLang="zh-TW" sz="3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3200" dirty="0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61A80FA8-39DB-813D-8224-84C02F9CD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1037" y="4647566"/>
                <a:ext cx="3708596" cy="605294"/>
              </a:xfrm>
              <a:prstGeom prst="rect">
                <a:avLst/>
              </a:prstGeom>
              <a:blipFill>
                <a:blip r:embed="rId10"/>
                <a:stretch>
                  <a:fillRect l="-1365" r="-1365" b="-224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>
            <a:extLst>
              <a:ext uri="{FF2B5EF4-FFF2-40B4-BE49-F238E27FC236}">
                <a16:creationId xmlns:a16="http://schemas.microsoft.com/office/drawing/2014/main" id="{DDE8FD9D-8794-B0ED-74D3-8631FE1DEB30}"/>
              </a:ext>
            </a:extLst>
          </p:cNvPr>
          <p:cNvSpPr txBox="1"/>
          <p:nvPr/>
        </p:nvSpPr>
        <p:spPr>
          <a:xfrm>
            <a:off x="7487035" y="4797886"/>
            <a:ext cx="282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solidFill>
                  <a:srgbClr val="0070C0"/>
                </a:solidFill>
              </a:rPr>
              <a:t>Graph Classification</a:t>
            </a:r>
            <a:endParaRPr kumimoji="1" lang="zh-TW" altLang="en-US" sz="2000" b="1" dirty="0">
              <a:solidFill>
                <a:srgbClr val="0070C0"/>
              </a:solidFill>
            </a:endParaRPr>
          </a:p>
        </p:txBody>
      </p:sp>
      <p:sp>
        <p:nvSpPr>
          <p:cNvPr id="34" name="向右箭號 33">
            <a:extLst>
              <a:ext uri="{FF2B5EF4-FFF2-40B4-BE49-F238E27FC236}">
                <a16:creationId xmlns:a16="http://schemas.microsoft.com/office/drawing/2014/main" id="{F2FC32F1-724D-EBF2-DF9E-BDBF8DB22AB0}"/>
              </a:ext>
            </a:extLst>
          </p:cNvPr>
          <p:cNvSpPr/>
          <p:nvPr/>
        </p:nvSpPr>
        <p:spPr>
          <a:xfrm>
            <a:off x="6773533" y="4830671"/>
            <a:ext cx="372862" cy="28273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01569B8-3AE7-7FC6-52F3-892A9B8BA594}"/>
              </a:ext>
            </a:extLst>
          </p:cNvPr>
          <p:cNvSpPr txBox="1"/>
          <p:nvPr/>
        </p:nvSpPr>
        <p:spPr>
          <a:xfrm>
            <a:off x="827224" y="5837984"/>
            <a:ext cx="63191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鄰居重要性差很多 </a:t>
            </a:r>
            <a:r>
              <a:rPr kumimoji="1" lang="en-US" altLang="zh-TW" sz="2000" dirty="0"/>
              <a:t>(</a:t>
            </a:r>
            <a:r>
              <a:rPr kumimoji="1" lang="zh-TW" altLang="en-US" sz="2000" dirty="0"/>
              <a:t>例如推薦系統</a:t>
            </a:r>
            <a:r>
              <a:rPr kumimoji="1" lang="en-US" altLang="zh-TW" sz="2000" dirty="0"/>
              <a:t>)</a:t>
            </a:r>
            <a:r>
              <a:rPr kumimoji="1" lang="zh-TW" altLang="en-US" sz="2000" dirty="0"/>
              <a:t>：優先嘗試 </a:t>
            </a:r>
            <a:r>
              <a:rPr kumimoji="1" lang="en-US" altLang="zh-TW" sz="2000" dirty="0"/>
              <a:t>GAT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圖很大張：優先嘗試 </a:t>
            </a:r>
            <a:r>
              <a:rPr kumimoji="1" lang="en-US" altLang="zh-TW" sz="2000" dirty="0"/>
              <a:t>GCN</a:t>
            </a:r>
            <a:endParaRPr kumimoji="1"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4460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 animBg="1"/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1317D-6B8E-608A-975B-4A7AF5E6E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97B3D1-1FF5-FD7A-82B4-C9D9C8C8E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延伸學習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932F4B-C913-AFC2-804F-9B4F5AD13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5E7602B-5AE9-EED1-4DF0-5C5EBFFCF95F}"/>
              </a:ext>
            </a:extLst>
          </p:cNvPr>
          <p:cNvSpPr txBox="1"/>
          <p:nvPr/>
        </p:nvSpPr>
        <p:spPr>
          <a:xfrm>
            <a:off x="669392" y="1484543"/>
            <a:ext cx="10599575" cy="5113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李宏毅老師助教課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>
                <a:ea typeface="Microsoft JhengHei" panose="020B0604030504040204" pitchFamily="34" charset="-120"/>
                <a:hlinkClick r:id="rId2"/>
              </a:rPr>
              <a:t>https://youtu.be/eybCCtNKwzA?si=bCBjHODKbrxGiGlz</a:t>
            </a:r>
            <a:endParaRPr kumimoji="1" lang="en" altLang="zh-TW" sz="20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>
                <a:ea typeface="Microsoft JhengHei" panose="020B0604030504040204" pitchFamily="34" charset="-120"/>
                <a:hlinkClick r:id="rId3"/>
              </a:rPr>
              <a:t>https://youtu.be/M9ht8vsVEw8?si=qYy2ggGIuF8lEsE-</a:t>
            </a:r>
            <a:endParaRPr kumimoji="1" lang="en" altLang="zh-TW" sz="20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友善網誌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>
                <a:ea typeface="Microsoft JhengHei" panose="020B0604030504040204" pitchFamily="34" charset="-120"/>
                <a:hlinkClick r:id="rId4"/>
              </a:rPr>
              <a:t>https://jacky-18008.medium.com/</a:t>
            </a:r>
            <a:r>
              <a:rPr kumimoji="1" lang="zh-TW" altLang="en-US" sz="2000" dirty="0">
                <a:ea typeface="Microsoft JhengHei" panose="020B0604030504040204" pitchFamily="34" charset="-120"/>
                <a:hlinkClick r:id="rId4"/>
              </a:rPr>
              <a:t>圖神經網路怎麼這麽棒</a:t>
            </a:r>
            <a:r>
              <a:rPr kumimoji="1" lang="en-US" altLang="zh-TW" sz="2000" dirty="0">
                <a:ea typeface="Microsoft JhengHei" panose="020B0604030504040204" pitchFamily="34" charset="-120"/>
                <a:hlinkClick r:id="rId4"/>
              </a:rPr>
              <a:t>-</a:t>
            </a:r>
            <a:r>
              <a:rPr kumimoji="1" lang="en" altLang="zh-TW" sz="2000" dirty="0">
                <a:ea typeface="Microsoft JhengHei" panose="020B0604030504040204" pitchFamily="34" charset="-120"/>
                <a:hlinkClick r:id="rId4"/>
              </a:rPr>
              <a:t>how-powerful-are-graph-neural-networks-42bbfd640e68</a:t>
            </a:r>
            <a:endParaRPr kumimoji="1" lang="en" altLang="zh-TW" sz="20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>
                <a:ea typeface="Microsoft JhengHei" panose="020B0604030504040204" pitchFamily="34" charset="-120"/>
                <a:hlinkClick r:id="rId5"/>
              </a:rPr>
              <a:t>https://medium.com/data-science/graph-convolutional-networks-introduction-to-gnns-24b3f60d6c95</a:t>
            </a:r>
            <a:endParaRPr kumimoji="1" lang="en" altLang="zh-TW" sz="20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王佑中老師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slide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000" dirty="0">
                <a:ea typeface="Microsoft JhengHei" panose="020B0604030504040204" pitchFamily="34" charset="-120"/>
                <a:hlinkClick r:id="rId6"/>
              </a:rPr>
              <a:t>https://docs.google.com/presentation/d/1Xt_DThN7dd7w5Oay6RikgUhPx5wWw24xTQp7fQdEznA/edit?usp=sharing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62790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C2DB8D-FB34-E3BD-0CDD-276E352F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802" y="2769461"/>
            <a:ext cx="4071257" cy="2046786"/>
          </a:xfrm>
        </p:spPr>
        <p:txBody>
          <a:bodyPr>
            <a:normAutofit fontScale="85000" lnSpcReduction="10000"/>
          </a:bodyPr>
          <a:lstStyle/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劉美辰</a:t>
            </a:r>
          </a:p>
          <a:p>
            <a:pPr marL="0" indent="0">
              <a:buNone/>
            </a:pP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m1461014@cgu.edu.tw</a:t>
            </a:r>
          </a:p>
          <a:p>
            <a:pPr marL="0" indent="0">
              <a:buNone/>
            </a:pP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365187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10066</TotalTime>
  <Words>2139</Words>
  <Application>Microsoft Macintosh PowerPoint</Application>
  <PresentationFormat>寬螢幕</PresentationFormat>
  <Paragraphs>631</Paragraphs>
  <Slides>39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39</vt:i4>
      </vt:variant>
    </vt:vector>
  </HeadingPairs>
  <TitlesOfParts>
    <vt:vector size="45" baseType="lpstr">
      <vt:lpstr>Microsoft JhengHei</vt:lpstr>
      <vt:lpstr>Aptos</vt:lpstr>
      <vt:lpstr>Arial</vt:lpstr>
      <vt:lpstr>Calibri</vt:lpstr>
      <vt:lpstr>Cambria Math</vt:lpstr>
      <vt:lpstr>回顧</vt:lpstr>
      <vt:lpstr>深度學習 Deep Learning</vt:lpstr>
      <vt:lpstr>Outline</vt:lpstr>
      <vt:lpstr>深度學習課程地圖</vt:lpstr>
      <vt:lpstr>Graph examples</vt:lpstr>
      <vt:lpstr>Graph examples</vt:lpstr>
      <vt:lpstr>Graph 的應用例子 (推薦系統)</vt:lpstr>
      <vt:lpstr>Graph 的應用例子 (基因關聯)</vt:lpstr>
      <vt:lpstr>圖常見任務 (1)：Node Classification</vt:lpstr>
      <vt:lpstr>圖常見任務 (2)：Graph Classification</vt:lpstr>
      <vt:lpstr>Graph Terminology</vt:lpstr>
      <vt:lpstr>Adjacency Matrix and Degree Matrix</vt:lpstr>
      <vt:lpstr>Graph Neural Networks (GNN)</vt:lpstr>
      <vt:lpstr>GNN 核心步驟</vt:lpstr>
      <vt:lpstr>GNN 的核心步驟 (1)：聚合 (Aggregate)</vt:lpstr>
      <vt:lpstr>GNN 的核心步驟 (1)：聚合 (Aggregate)</vt:lpstr>
      <vt:lpstr>GNN 的核心步驟 (2)：更新 (Update)</vt:lpstr>
      <vt:lpstr>Message Passing</vt:lpstr>
      <vt:lpstr>Message Passing 說明範例 (1)</vt:lpstr>
      <vt:lpstr>Message Passing 說明範例 (2)</vt:lpstr>
      <vt:lpstr>Graph Convolutional Networks (GCN)</vt:lpstr>
      <vt:lpstr>(Recap) GNN 核心步驟</vt:lpstr>
      <vt:lpstr>(Recap) Examples of Convolutions</vt:lpstr>
      <vt:lpstr>GCN 會先對鄰居收集資訊</vt:lpstr>
      <vt:lpstr>GCN 如何做 AGGREGATE？</vt:lpstr>
      <vt:lpstr>實作上 GCN 如何做 AGGREGATE？</vt:lpstr>
      <vt:lpstr>實作上 GCN 如何做 AGGREGATE？</vt:lpstr>
      <vt:lpstr>每個 h 有什麼內容物</vt:lpstr>
      <vt:lpstr>(Recap) GNN 核心步驟</vt:lpstr>
      <vt:lpstr>GCN 的 weights (UPDATE)</vt:lpstr>
      <vt:lpstr>可能有些 node(s) 的鄰居特別多</vt:lpstr>
      <vt:lpstr>GCN 對鄰接矩陣做標準化</vt:lpstr>
      <vt:lpstr>Graph Attention Networks (GAT)</vt:lpstr>
      <vt:lpstr>GAT 核心概念</vt:lpstr>
      <vt:lpstr>Attention Mechanism in GAT (1) </vt:lpstr>
      <vt:lpstr>Attention Mechanism in GAT (2)</vt:lpstr>
      <vt:lpstr>GAT 更新節點狀態的方式 (UPDATE)</vt:lpstr>
      <vt:lpstr>圖任務 Summary</vt:lpstr>
      <vt:lpstr>延伸學習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英嘉 林</cp:lastModifiedBy>
  <cp:revision>1910</cp:revision>
  <dcterms:created xsi:type="dcterms:W3CDTF">2025-02-06T07:16:08Z</dcterms:created>
  <dcterms:modified xsi:type="dcterms:W3CDTF">2025-12-03T02:32:36Z</dcterms:modified>
</cp:coreProperties>
</file>