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0"/>
  </p:notesMasterIdLst>
  <p:sldIdLst>
    <p:sldId id="264" r:id="rId2"/>
    <p:sldId id="720" r:id="rId3"/>
    <p:sldId id="722" r:id="rId4"/>
    <p:sldId id="678" r:id="rId5"/>
    <p:sldId id="669" r:id="rId6"/>
    <p:sldId id="677" r:id="rId7"/>
    <p:sldId id="631" r:id="rId8"/>
    <p:sldId id="334" r:id="rId9"/>
    <p:sldId id="714" r:id="rId10"/>
    <p:sldId id="717" r:id="rId11"/>
    <p:sldId id="671" r:id="rId12"/>
    <p:sldId id="670" r:id="rId13"/>
    <p:sldId id="265" r:id="rId14"/>
    <p:sldId id="725" r:id="rId15"/>
    <p:sldId id="527" r:id="rId16"/>
    <p:sldId id="687" r:id="rId17"/>
    <p:sldId id="727" r:id="rId18"/>
    <p:sldId id="743" r:id="rId19"/>
    <p:sldId id="744" r:id="rId20"/>
    <p:sldId id="291" r:id="rId21"/>
    <p:sldId id="517" r:id="rId22"/>
    <p:sldId id="726" r:id="rId23"/>
    <p:sldId id="742" r:id="rId24"/>
    <p:sldId id="736" r:id="rId25"/>
    <p:sldId id="741" r:id="rId26"/>
    <p:sldId id="312" r:id="rId27"/>
    <p:sldId id="688" r:id="rId28"/>
    <p:sldId id="740" r:id="rId29"/>
    <p:sldId id="738" r:id="rId30"/>
    <p:sldId id="739" r:id="rId31"/>
    <p:sldId id="681" r:id="rId32"/>
    <p:sldId id="712" r:id="rId33"/>
    <p:sldId id="313" r:id="rId34"/>
    <p:sldId id="532" r:id="rId35"/>
    <p:sldId id="510" r:id="rId36"/>
    <p:sldId id="746" r:id="rId37"/>
    <p:sldId id="285" r:id="rId38"/>
    <p:sldId id="473" r:id="rId39"/>
    <p:sldId id="321" r:id="rId40"/>
    <p:sldId id="538" r:id="rId41"/>
    <p:sldId id="478" r:id="rId42"/>
    <p:sldId id="745" r:id="rId43"/>
    <p:sldId id="685" r:id="rId44"/>
    <p:sldId id="713" r:id="rId45"/>
    <p:sldId id="674" r:id="rId46"/>
    <p:sldId id="718" r:id="rId47"/>
    <p:sldId id="682" r:id="rId48"/>
    <p:sldId id="610" r:id="rId4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9EF5EA"/>
    <a:srgbClr val="CDD5DE"/>
    <a:srgbClr val="FCE7D7"/>
    <a:srgbClr val="F9EDC6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2"/>
    <p:restoredTop sz="90886"/>
  </p:normalViewPr>
  <p:slideViewPr>
    <p:cSldViewPr snapToGrid="0">
      <p:cViewPr varScale="1">
        <p:scale>
          <a:sx n="123" d="100"/>
          <a:sy n="123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81769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K, V uses the output from encoder as their X; 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Q uses the decoder’s information as X. 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5751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9068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9187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3513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0301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8921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6982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27688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8781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7232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96744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119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2885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2691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fall" TargetMode="External"/><Relationship Id="rId5" Type="http://schemas.openxmlformats.org/officeDocument/2006/relationships/hyperlink" Target="https://app.sli.do/event/8snWo8fi4tc3ZqAH5B3KEy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10.04805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1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71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10.04805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pic>
        <p:nvPicPr>
          <p:cNvPr id="8" name="圖片 7" descr="一張含有 螢幕擷取畫面, 樣式, 圓形, 圖形 的圖片&#10;&#10;AI 產生的內容可能不正確。">
            <a:extLst>
              <a:ext uri="{FF2B5EF4-FFF2-40B4-BE49-F238E27FC236}">
                <a16:creationId xmlns:a16="http://schemas.microsoft.com/office/drawing/2014/main" id="{22F76685-E2D2-0BC7-76BB-5BDBC9DCF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75" y="4533398"/>
            <a:ext cx="1960729" cy="1960729"/>
          </a:xfrm>
          <a:prstGeom prst="rect">
            <a:avLst/>
          </a:prstGeom>
        </p:spPr>
      </p:pic>
      <p:sp>
        <p:nvSpPr>
          <p:cNvPr id="11" name="文字方塊 10">
            <a:hlinkClick r:id="rId5"/>
            <a:extLst>
              <a:ext uri="{FF2B5EF4-FFF2-40B4-BE49-F238E27FC236}">
                <a16:creationId xmlns:a16="http://schemas.microsoft.com/office/drawing/2014/main" id="{8F823108-2692-7850-78FB-371EE4D6F4E9}"/>
              </a:ext>
            </a:extLst>
          </p:cNvPr>
          <p:cNvSpPr txBox="1"/>
          <p:nvPr/>
        </p:nvSpPr>
        <p:spPr>
          <a:xfrm>
            <a:off x="9181606" y="6296804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# DL1119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C6CA94-AF36-F0D4-5089-5AA183D3CA39}"/>
              </a:ext>
            </a:extLst>
          </p:cNvPr>
          <p:cNvSpPr txBox="1"/>
          <p:nvPr/>
        </p:nvSpPr>
        <p:spPr>
          <a:xfrm>
            <a:off x="6388165" y="6296804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C54666-0C58-F99D-556B-7D8163B991AA}"/>
              </a:ext>
            </a:extLst>
          </p:cNvPr>
          <p:cNvSpPr txBox="1"/>
          <p:nvPr/>
        </p:nvSpPr>
        <p:spPr>
          <a:xfrm>
            <a:off x="901959" y="4749453"/>
            <a:ext cx="5080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200" b="1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大型語言模型</a:t>
            </a:r>
            <a:endParaRPr kumimoji="1" lang="en-US" altLang="zh-TW" sz="3200" b="1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4A82EC-22FA-ABE2-B4AF-6FCD7356A734}"/>
              </a:ext>
            </a:extLst>
          </p:cNvPr>
          <p:cNvSpPr txBox="1"/>
          <p:nvPr/>
        </p:nvSpPr>
        <p:spPr>
          <a:xfrm>
            <a:off x="901959" y="5851998"/>
            <a:ext cx="4453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2025/11/19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A8AA589-505C-932F-3481-23F77E6D3D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0932" y="4689981"/>
            <a:ext cx="1626779" cy="162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Announcements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F8333C8-CA8D-E1F0-F37D-D27318425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67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12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要繳交什麼？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53143" y="1586847"/>
            <a:ext cx="10918370" cy="4659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清晰易懂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的簡報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頁，一組繳交一份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介紹競賽任務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舉例說明資料的長相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做簡單的資料分析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可以參考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Kaggle Code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，關鍵字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: EDA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(Exploratory Data Analysis)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請附上來源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!!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預期的實作方法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預期實作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/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使用的模型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可以參考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Kaggle Code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，請附上來源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!!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預期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分工模式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6116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12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繳交注意事項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36815" y="1731932"/>
            <a:ext cx="10918370" cy="2351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5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頁是最低需求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不包含首頁跟最後一頁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可以多於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!!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一組繳交一份，請上傳至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E-Learning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Deadline: 2025/11/21 23:59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檔名：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DL_teamN_checkpoint1.pdf</a:t>
            </a:r>
          </a:p>
        </p:txBody>
      </p:sp>
    </p:spTree>
    <p:extLst>
      <p:ext uri="{BB962C8B-B14F-4D97-AF65-F5344CB8AC3E}">
        <p14:creationId xmlns:p14="http://schemas.microsoft.com/office/powerpoint/2010/main" val="1292131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586847"/>
            <a:ext cx="10918370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自然語言處理</a:t>
            </a:r>
            <a:r>
              <a:rPr kumimoji="1" lang="en-US" altLang="zh-TW" sz="2400" dirty="0"/>
              <a:t>SSL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BERT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Introduction to large language models (LLMs)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LLM applications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What LLMs can do?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449483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自然語言處理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dirty="0"/>
              <a:t>SSL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0F77D2-841E-08C1-4A09-5AE447429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66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8AE9C-1909-B974-E8C8-9807CE1A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Encoder and Decoder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106C75-A795-3924-7F0C-B509934C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BA383E56-D04D-340B-A396-C1FF6DCBC646}"/>
              </a:ext>
            </a:extLst>
          </p:cNvPr>
          <p:cNvSpPr/>
          <p:nvPr/>
        </p:nvSpPr>
        <p:spPr>
          <a:xfrm>
            <a:off x="6777738" y="4052638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CD4D7DE-FEA6-5EAD-BA7D-0E9B63A81999}"/>
              </a:ext>
            </a:extLst>
          </p:cNvPr>
          <p:cNvSpPr txBox="1"/>
          <p:nvPr/>
        </p:nvSpPr>
        <p:spPr>
          <a:xfrm>
            <a:off x="6848723" y="5855027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21F30ECC-84F2-5D18-362E-5D5B043F7E7B}"/>
              </a:ext>
            </a:extLst>
          </p:cNvPr>
          <p:cNvCxnSpPr>
            <a:cxnSpLocks/>
          </p:cNvCxnSpPr>
          <p:nvPr/>
        </p:nvCxnSpPr>
        <p:spPr>
          <a:xfrm flipV="1">
            <a:off x="7141779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DFBBA531-BE7B-F9F3-E719-5242A0B9E4BD}"/>
              </a:ext>
            </a:extLst>
          </p:cNvPr>
          <p:cNvCxnSpPr>
            <a:cxnSpLocks/>
          </p:cNvCxnSpPr>
          <p:nvPr/>
        </p:nvCxnSpPr>
        <p:spPr>
          <a:xfrm flipV="1">
            <a:off x="7864194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5213826B-7FF7-F9EA-A9F9-445F4081DE0B}"/>
              </a:ext>
            </a:extLst>
          </p:cNvPr>
          <p:cNvCxnSpPr>
            <a:cxnSpLocks/>
          </p:cNvCxnSpPr>
          <p:nvPr/>
        </p:nvCxnSpPr>
        <p:spPr>
          <a:xfrm flipV="1">
            <a:off x="10791469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252A1EFC-B9A1-E9B9-C671-FC420A3A4AAD}"/>
              </a:ext>
            </a:extLst>
          </p:cNvPr>
          <p:cNvCxnSpPr>
            <a:cxnSpLocks/>
          </p:cNvCxnSpPr>
          <p:nvPr/>
        </p:nvCxnSpPr>
        <p:spPr>
          <a:xfrm flipV="1">
            <a:off x="10069054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A8FFAB12-7688-B996-CE29-CCFBB2E29E54}"/>
              </a:ext>
            </a:extLst>
          </p:cNvPr>
          <p:cNvCxnSpPr>
            <a:cxnSpLocks/>
          </p:cNvCxnSpPr>
          <p:nvPr/>
        </p:nvCxnSpPr>
        <p:spPr>
          <a:xfrm flipV="1">
            <a:off x="7141779" y="50954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A3271C6B-2A38-B65E-147B-30B6DBA820E4}"/>
              </a:ext>
            </a:extLst>
          </p:cNvPr>
          <p:cNvCxnSpPr>
            <a:cxnSpLocks/>
          </p:cNvCxnSpPr>
          <p:nvPr/>
        </p:nvCxnSpPr>
        <p:spPr>
          <a:xfrm flipV="1">
            <a:off x="7864193" y="50954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7DB29C07-EE45-FDF3-50C5-462B179F554D}"/>
              </a:ext>
            </a:extLst>
          </p:cNvPr>
          <p:cNvCxnSpPr>
            <a:cxnSpLocks/>
          </p:cNvCxnSpPr>
          <p:nvPr/>
        </p:nvCxnSpPr>
        <p:spPr>
          <a:xfrm flipV="1">
            <a:off x="10069053" y="509199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E80F3625-6DB5-7DD1-C50D-5733EC81F434}"/>
              </a:ext>
            </a:extLst>
          </p:cNvPr>
          <p:cNvCxnSpPr>
            <a:cxnSpLocks/>
          </p:cNvCxnSpPr>
          <p:nvPr/>
        </p:nvCxnSpPr>
        <p:spPr>
          <a:xfrm flipV="1">
            <a:off x="10791467" y="509199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DBE63A-42BD-8531-2AE3-FBE67A0DD8F9}"/>
              </a:ext>
            </a:extLst>
          </p:cNvPr>
          <p:cNvSpPr txBox="1"/>
          <p:nvPr/>
        </p:nvSpPr>
        <p:spPr>
          <a:xfrm>
            <a:off x="8643134" y="5288270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CC40672F-B910-D24E-72DA-0F22F07E9DA9}"/>
                  </a:ext>
                </a:extLst>
              </p:cNvPr>
              <p:cNvSpPr/>
              <p:nvPr/>
            </p:nvSpPr>
            <p:spPr>
              <a:xfrm>
                <a:off x="9794143" y="2529790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CC40672F-B910-D24E-72DA-0F22F07E9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143" y="2529790"/>
                <a:ext cx="555203" cy="465105"/>
              </a:xfrm>
              <a:prstGeom prst="roundRect">
                <a:avLst/>
              </a:prstGeom>
              <a:blipFill>
                <a:blip r:embed="rId2"/>
                <a:stretch>
                  <a:fillRect l="-638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E1C6C418-46CC-12F4-672C-B6855778DDE5}"/>
                  </a:ext>
                </a:extLst>
              </p:cNvPr>
              <p:cNvSpPr/>
              <p:nvPr/>
            </p:nvSpPr>
            <p:spPr>
              <a:xfrm>
                <a:off x="10516557" y="2527725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E1C6C418-46CC-12F4-672C-B6855778D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557" y="2527725"/>
                <a:ext cx="555203" cy="4651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C0A43D43-98FF-A85D-04B6-07EBBD0002F4}"/>
                  </a:ext>
                </a:extLst>
              </p:cNvPr>
              <p:cNvSpPr/>
              <p:nvPr/>
            </p:nvSpPr>
            <p:spPr>
              <a:xfrm>
                <a:off x="6864175" y="2517133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C0A43D43-98FF-A85D-04B6-07EBBD000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175" y="2517133"/>
                <a:ext cx="555203" cy="46510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8DFC2C4-6948-C430-C594-C839C38C8914}"/>
                  </a:ext>
                </a:extLst>
              </p:cNvPr>
              <p:cNvSpPr/>
              <p:nvPr/>
            </p:nvSpPr>
            <p:spPr>
              <a:xfrm>
                <a:off x="7593229" y="2526949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8DFC2C4-6948-C430-C594-C839C38C8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29" y="2526949"/>
                <a:ext cx="555203" cy="4651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2A5367A-AD7E-8CDF-135E-95FD34743972}"/>
                  </a:ext>
                </a:extLst>
              </p:cNvPr>
              <p:cNvSpPr/>
              <p:nvPr/>
            </p:nvSpPr>
            <p:spPr>
              <a:xfrm>
                <a:off x="7583370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2A5367A-AD7E-8CDF-135E-95FD347439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370" y="5397054"/>
                <a:ext cx="555203" cy="46510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22C1FB2-0AE1-FE9A-2ADD-E02D1F9F24AF}"/>
                  </a:ext>
                </a:extLst>
              </p:cNvPr>
              <p:cNvSpPr/>
              <p:nvPr/>
            </p:nvSpPr>
            <p:spPr>
              <a:xfrm>
                <a:off x="9786336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22C1FB2-0AE1-FE9A-2ADD-E02D1F9F2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336" y="5397054"/>
                <a:ext cx="555203" cy="465105"/>
              </a:xfrm>
              <a:prstGeom prst="roundRect">
                <a:avLst/>
              </a:prstGeom>
              <a:blipFill>
                <a:blip r:embed="rId7"/>
                <a:stretch>
                  <a:fillRect l="-425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2CFB6DE4-298A-6478-84DC-2C4D458C4382}"/>
                  </a:ext>
                </a:extLst>
              </p:cNvPr>
              <p:cNvSpPr/>
              <p:nvPr/>
            </p:nvSpPr>
            <p:spPr>
              <a:xfrm>
                <a:off x="10508748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2CFB6DE4-298A-6478-84DC-2C4D458C43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8748" y="5397054"/>
                <a:ext cx="555203" cy="465105"/>
              </a:xfrm>
              <a:prstGeom prst="roundRect">
                <a:avLst/>
              </a:prstGeom>
              <a:blipFill>
                <a:blip r:embed="rId8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17DF5A0E-5598-F2D7-42EB-37949F9013C8}"/>
              </a:ext>
            </a:extLst>
          </p:cNvPr>
          <p:cNvSpPr txBox="1"/>
          <p:nvPr/>
        </p:nvSpPr>
        <p:spPr>
          <a:xfrm>
            <a:off x="8640752" y="2450264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91C10AD-0D04-2B3F-B88B-1109E98C804F}"/>
              </a:ext>
            </a:extLst>
          </p:cNvPr>
          <p:cNvSpPr txBox="1"/>
          <p:nvPr/>
        </p:nvSpPr>
        <p:spPr>
          <a:xfrm>
            <a:off x="7716416" y="1835327"/>
            <a:ext cx="263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輸出是</a:t>
            </a:r>
            <a:r>
              <a:rPr kumimoji="1" lang="en-US" altLang="zh-TW" b="1" dirty="0"/>
              <a:t> sequence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(</a:t>
            </a:r>
            <a:r>
              <a:rPr kumimoji="1" lang="zh-TW" altLang="en-US" b="1" dirty="0"/>
              <a:t>文字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FE795842-E8E8-E357-93AF-80C6CBCBD5A4}"/>
              </a:ext>
            </a:extLst>
          </p:cNvPr>
          <p:cNvSpPr/>
          <p:nvPr/>
        </p:nvSpPr>
        <p:spPr>
          <a:xfrm>
            <a:off x="1443211" y="4100635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Encoder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8CD6FE4-CA94-843B-C904-8FB743CE2756}"/>
              </a:ext>
            </a:extLst>
          </p:cNvPr>
          <p:cNvSpPr txBox="1"/>
          <p:nvPr/>
        </p:nvSpPr>
        <p:spPr>
          <a:xfrm>
            <a:off x="1494740" y="5903024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DDBAC394-6EE5-2FC2-0AFE-A713E61495B0}"/>
              </a:ext>
            </a:extLst>
          </p:cNvPr>
          <p:cNvCxnSpPr>
            <a:cxnSpLocks/>
          </p:cNvCxnSpPr>
          <p:nvPr/>
        </p:nvCxnSpPr>
        <p:spPr>
          <a:xfrm flipV="1">
            <a:off x="5456942" y="378730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B349A6FB-CF9B-DA91-CB56-8692C92F97F5}"/>
              </a:ext>
            </a:extLst>
          </p:cNvPr>
          <p:cNvCxnSpPr>
            <a:cxnSpLocks/>
          </p:cNvCxnSpPr>
          <p:nvPr/>
        </p:nvCxnSpPr>
        <p:spPr>
          <a:xfrm flipV="1">
            <a:off x="4734527" y="378730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39036F0C-DCCB-713A-C8B2-0BEBB6436E03}"/>
              </a:ext>
            </a:extLst>
          </p:cNvPr>
          <p:cNvSpPr/>
          <p:nvPr/>
        </p:nvSpPr>
        <p:spPr>
          <a:xfrm>
            <a:off x="1529648" y="5445051"/>
            <a:ext cx="555205" cy="4651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D6255ADE-8DF4-9330-0FFD-EC385724AA4E}"/>
              </a:ext>
            </a:extLst>
          </p:cNvPr>
          <p:cNvCxnSpPr>
            <a:cxnSpLocks/>
          </p:cNvCxnSpPr>
          <p:nvPr/>
        </p:nvCxnSpPr>
        <p:spPr>
          <a:xfrm flipV="1">
            <a:off x="1807252" y="514348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A551582A-C5A2-5592-1221-7E161A40C794}"/>
              </a:ext>
            </a:extLst>
          </p:cNvPr>
          <p:cNvCxnSpPr>
            <a:cxnSpLocks/>
          </p:cNvCxnSpPr>
          <p:nvPr/>
        </p:nvCxnSpPr>
        <p:spPr>
          <a:xfrm flipV="1">
            <a:off x="2529666" y="514348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439D5CC1-5EA9-6E67-7ED0-8CF169A9CD0E}"/>
              </a:ext>
            </a:extLst>
          </p:cNvPr>
          <p:cNvCxnSpPr>
            <a:cxnSpLocks/>
          </p:cNvCxnSpPr>
          <p:nvPr/>
        </p:nvCxnSpPr>
        <p:spPr>
          <a:xfrm flipV="1">
            <a:off x="4734526" y="513999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BE18513-56CA-7723-A853-A59FE538F500}"/>
              </a:ext>
            </a:extLst>
          </p:cNvPr>
          <p:cNvCxnSpPr>
            <a:cxnSpLocks/>
          </p:cNvCxnSpPr>
          <p:nvPr/>
        </p:nvCxnSpPr>
        <p:spPr>
          <a:xfrm flipV="1">
            <a:off x="5456940" y="513999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A108D4A-2D70-D2F4-BA03-472F6B0C8135}"/>
              </a:ext>
            </a:extLst>
          </p:cNvPr>
          <p:cNvSpPr txBox="1"/>
          <p:nvPr/>
        </p:nvSpPr>
        <p:spPr>
          <a:xfrm>
            <a:off x="3308607" y="5336267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6E92D372-707B-990C-5677-ABFB0EDD2AC2}"/>
                  </a:ext>
                </a:extLst>
              </p:cNvPr>
              <p:cNvSpPr/>
              <p:nvPr/>
            </p:nvSpPr>
            <p:spPr>
              <a:xfrm>
                <a:off x="5182030" y="3273307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6E92D372-707B-990C-5677-ABFB0EDD2A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030" y="3273307"/>
                <a:ext cx="555203" cy="46510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208F923A-C07F-9336-2A8D-148DF86F32EF}"/>
                  </a:ext>
                </a:extLst>
              </p:cNvPr>
              <p:cNvSpPr/>
              <p:nvPr/>
            </p:nvSpPr>
            <p:spPr>
              <a:xfrm>
                <a:off x="2248843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TW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TW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208F923A-C07F-9336-2A8D-148DF86F3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843" y="5445051"/>
                <a:ext cx="555203" cy="465105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3AAFEB0B-670C-44F4-929F-FF77BFF36766}"/>
                  </a:ext>
                </a:extLst>
              </p:cNvPr>
              <p:cNvSpPr/>
              <p:nvPr/>
            </p:nvSpPr>
            <p:spPr>
              <a:xfrm>
                <a:off x="4451809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3AAFEB0B-670C-44F4-929F-FF77BFF36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809" y="5445051"/>
                <a:ext cx="555203" cy="465105"/>
              </a:xfrm>
              <a:prstGeom prst="roundRect">
                <a:avLst/>
              </a:prstGeom>
              <a:blipFill>
                <a:blip r:embed="rId11"/>
                <a:stretch>
                  <a:fillRect l="-425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59EE0DFB-89F9-3CC1-5DC1-D108E8C73741}"/>
                  </a:ext>
                </a:extLst>
              </p:cNvPr>
              <p:cNvSpPr/>
              <p:nvPr/>
            </p:nvSpPr>
            <p:spPr>
              <a:xfrm>
                <a:off x="5174221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59EE0DFB-89F9-3CC1-5DC1-D108E8C737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21" y="5445051"/>
                <a:ext cx="555203" cy="465105"/>
              </a:xfrm>
              <a:prstGeom prst="roundRect">
                <a:avLst/>
              </a:prstGeom>
              <a:blipFill>
                <a:blip r:embed="rId12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4782AF22-6890-C7C6-11B4-E49023BCC087}"/>
              </a:ext>
            </a:extLst>
          </p:cNvPr>
          <p:cNvSpPr txBox="1"/>
          <p:nvPr/>
        </p:nvSpPr>
        <p:spPr>
          <a:xfrm>
            <a:off x="3306225" y="3195846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85894FF-15D2-4990-41DC-3797CEBC41B5}"/>
              </a:ext>
            </a:extLst>
          </p:cNvPr>
          <p:cNvSpPr txBox="1"/>
          <p:nvPr/>
        </p:nvSpPr>
        <p:spPr>
          <a:xfrm>
            <a:off x="2778842" y="6129446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Input sequence</a:t>
            </a:r>
            <a:endParaRPr kumimoji="1" lang="zh-TW" altLang="en-US" b="1" dirty="0"/>
          </a:p>
        </p:txBody>
      </p: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C9EE1A76-88B2-97B8-52E6-5D10FC82A873}"/>
              </a:ext>
            </a:extLst>
          </p:cNvPr>
          <p:cNvCxnSpPr>
            <a:cxnSpLocks/>
          </p:cNvCxnSpPr>
          <p:nvPr/>
        </p:nvCxnSpPr>
        <p:spPr>
          <a:xfrm flipV="1">
            <a:off x="2526444" y="380404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72CEF067-EC75-D88C-AA69-CCB9C35A8DBF}"/>
              </a:ext>
            </a:extLst>
          </p:cNvPr>
          <p:cNvCxnSpPr>
            <a:cxnSpLocks/>
          </p:cNvCxnSpPr>
          <p:nvPr/>
        </p:nvCxnSpPr>
        <p:spPr>
          <a:xfrm flipV="1">
            <a:off x="1828042" y="380404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1E3ABA0E-0F56-BA7F-4F49-6550375C6564}"/>
              </a:ext>
            </a:extLst>
          </p:cNvPr>
          <p:cNvSpPr/>
          <p:nvPr/>
        </p:nvSpPr>
        <p:spPr>
          <a:xfrm>
            <a:off x="6860958" y="5397054"/>
            <a:ext cx="555203" cy="4651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D02ED2D0-D980-8C22-C056-B89AFB0087E6}"/>
              </a:ext>
            </a:extLst>
          </p:cNvPr>
          <p:cNvSpPr/>
          <p:nvPr/>
        </p:nvSpPr>
        <p:spPr>
          <a:xfrm>
            <a:off x="6777737" y="3345490"/>
            <a:ext cx="4433985" cy="33678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FFN</a:t>
            </a:r>
            <a:r>
              <a:rPr kumimoji="1" lang="zh-TW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TW" sz="2000" dirty="0">
                <a:solidFill>
                  <a:schemeClr val="tx1"/>
                </a:solidFill>
              </a:rPr>
              <a:t>(linear layer(s))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16D9C1FE-8A91-B03A-2377-8B83EC0DE09D}"/>
              </a:ext>
            </a:extLst>
          </p:cNvPr>
          <p:cNvCxnSpPr>
            <a:cxnSpLocks/>
          </p:cNvCxnSpPr>
          <p:nvPr/>
        </p:nvCxnSpPr>
        <p:spPr>
          <a:xfrm flipV="1">
            <a:off x="7135747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62086DA5-5290-A670-AC1A-38D2A56FE1A2}"/>
              </a:ext>
            </a:extLst>
          </p:cNvPr>
          <p:cNvCxnSpPr>
            <a:cxnSpLocks/>
          </p:cNvCxnSpPr>
          <p:nvPr/>
        </p:nvCxnSpPr>
        <p:spPr>
          <a:xfrm flipV="1">
            <a:off x="7858162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5A918736-41AC-8EE9-E232-C16FDD90E533}"/>
              </a:ext>
            </a:extLst>
          </p:cNvPr>
          <p:cNvCxnSpPr>
            <a:cxnSpLocks/>
          </p:cNvCxnSpPr>
          <p:nvPr/>
        </p:nvCxnSpPr>
        <p:spPr>
          <a:xfrm flipV="1">
            <a:off x="10785437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CE5F32AD-EAE1-A054-DFF3-5593839A3D00}"/>
              </a:ext>
            </a:extLst>
          </p:cNvPr>
          <p:cNvCxnSpPr>
            <a:cxnSpLocks/>
          </p:cNvCxnSpPr>
          <p:nvPr/>
        </p:nvCxnSpPr>
        <p:spPr>
          <a:xfrm flipV="1">
            <a:off x="10063022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圓角矩形 61">
                <a:extLst>
                  <a:ext uri="{FF2B5EF4-FFF2-40B4-BE49-F238E27FC236}">
                    <a16:creationId xmlns:a16="http://schemas.microsoft.com/office/drawing/2014/main" id="{71810DFC-9484-4F06-0116-C8859C9ABBF2}"/>
                  </a:ext>
                </a:extLst>
              </p:cNvPr>
              <p:cNvSpPr/>
              <p:nvPr/>
            </p:nvSpPr>
            <p:spPr>
              <a:xfrm>
                <a:off x="4459559" y="3270703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圓角矩形 61">
                <a:extLst>
                  <a:ext uri="{FF2B5EF4-FFF2-40B4-BE49-F238E27FC236}">
                    <a16:creationId xmlns:a16="http://schemas.microsoft.com/office/drawing/2014/main" id="{71810DFC-9484-4F06-0116-C8859C9AB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559" y="3270703"/>
                <a:ext cx="555203" cy="465105"/>
              </a:xfrm>
              <a:prstGeom prst="roundRect">
                <a:avLst/>
              </a:prstGeom>
              <a:blipFill>
                <a:blip r:embed="rId13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圓角矩形 62">
                <a:extLst>
                  <a:ext uri="{FF2B5EF4-FFF2-40B4-BE49-F238E27FC236}">
                    <a16:creationId xmlns:a16="http://schemas.microsoft.com/office/drawing/2014/main" id="{8C29360F-E395-BEC8-9AF5-ECF378961DA5}"/>
                  </a:ext>
                </a:extLst>
              </p:cNvPr>
              <p:cNvSpPr/>
              <p:nvPr/>
            </p:nvSpPr>
            <p:spPr>
              <a:xfrm>
                <a:off x="2248941" y="3281329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圓角矩形 62">
                <a:extLst>
                  <a:ext uri="{FF2B5EF4-FFF2-40B4-BE49-F238E27FC236}">
                    <a16:creationId xmlns:a16="http://schemas.microsoft.com/office/drawing/2014/main" id="{8C29360F-E395-BEC8-9AF5-ECF378961D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941" y="3281329"/>
                <a:ext cx="555203" cy="46510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B2575567-B447-B8EC-E46E-582ED19CA356}"/>
                  </a:ext>
                </a:extLst>
              </p:cNvPr>
              <p:cNvSpPr/>
              <p:nvPr/>
            </p:nvSpPr>
            <p:spPr>
              <a:xfrm>
                <a:off x="1535835" y="3273307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B2575567-B447-B8EC-E46E-582ED19CA3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835" y="3273307"/>
                <a:ext cx="555203" cy="46510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4C90679A-B23D-0A3F-2D94-6DDF798DBDCA}"/>
                  </a:ext>
                </a:extLst>
              </p:cNvPr>
              <p:cNvSpPr/>
              <p:nvPr/>
            </p:nvSpPr>
            <p:spPr>
              <a:xfrm>
                <a:off x="433242" y="4335480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4C90679A-B23D-0A3F-2D94-6DDF798DB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42" y="4335480"/>
                <a:ext cx="555203" cy="465105"/>
              </a:xfrm>
              <a:prstGeom prst="roundRect">
                <a:avLst/>
              </a:prstGeom>
              <a:blipFill>
                <a:blip r:embed="rId16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F9645189-5848-7448-BF59-C9E3DAD0EA6A}"/>
              </a:ext>
            </a:extLst>
          </p:cNvPr>
          <p:cNvCxnSpPr>
            <a:cxnSpLocks/>
          </p:cNvCxnSpPr>
          <p:nvPr/>
        </p:nvCxnSpPr>
        <p:spPr>
          <a:xfrm>
            <a:off x="1045007" y="4590483"/>
            <a:ext cx="33815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CF5AD8-03CD-B0B9-652B-DF4DB8FE9238}"/>
              </a:ext>
            </a:extLst>
          </p:cNvPr>
          <p:cNvSpPr txBox="1"/>
          <p:nvPr/>
        </p:nvSpPr>
        <p:spPr>
          <a:xfrm>
            <a:off x="2526444" y="1835327"/>
            <a:ext cx="252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輸出是</a:t>
            </a:r>
            <a:r>
              <a:rPr kumimoji="1" lang="en-US" altLang="zh-TW" b="1" dirty="0"/>
              <a:t> hidden states</a:t>
            </a:r>
            <a:endParaRPr kumimoji="1" lang="zh-TW" altLang="en-US" b="1" dirty="0"/>
          </a:p>
        </p:txBody>
      </p:sp>
      <p:cxnSp>
        <p:nvCxnSpPr>
          <p:cNvPr id="12" name="肘形接點 11">
            <a:extLst>
              <a:ext uri="{FF2B5EF4-FFF2-40B4-BE49-F238E27FC236}">
                <a16:creationId xmlns:a16="http://schemas.microsoft.com/office/drawing/2014/main" id="{F7BCD1C7-82B8-FFA2-09EC-A4BC0337536B}"/>
              </a:ext>
            </a:extLst>
          </p:cNvPr>
          <p:cNvCxnSpPr>
            <a:cxnSpLocks/>
            <a:stCxn id="44" idx="3"/>
            <a:endCxn id="6" idx="1"/>
          </p:cNvCxnSpPr>
          <p:nvPr/>
        </p:nvCxnSpPr>
        <p:spPr>
          <a:xfrm>
            <a:off x="5737233" y="3505860"/>
            <a:ext cx="1040505" cy="104245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19C8A55-A2F5-4A64-598E-FCB4A79275C2}"/>
              </a:ext>
            </a:extLst>
          </p:cNvPr>
          <p:cNvSpPr txBox="1"/>
          <p:nvPr/>
        </p:nvSpPr>
        <p:spPr>
          <a:xfrm>
            <a:off x="5368375" y="6195910"/>
            <a:ext cx="2502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solidFill>
                  <a:srgbClr val="FF0000"/>
                </a:solidFill>
              </a:rPr>
              <a:t>(Encoder </a:t>
            </a:r>
            <a:r>
              <a:rPr kumimoji="1" lang="zh-TW" altLang="en-US" sz="1600" dirty="0">
                <a:solidFill>
                  <a:srgbClr val="FF0000"/>
                </a:solidFill>
              </a:rPr>
              <a:t>的輸出有很多種被</a:t>
            </a:r>
            <a:r>
              <a:rPr kumimoji="1" lang="en-US" altLang="zh-TW" sz="1600" dirty="0">
                <a:solidFill>
                  <a:srgbClr val="FF0000"/>
                </a:solidFill>
              </a:rPr>
              <a:t>Decoder</a:t>
            </a:r>
            <a:r>
              <a:rPr kumimoji="1" lang="zh-TW" altLang="en-US" sz="1600" dirty="0">
                <a:solidFill>
                  <a:srgbClr val="FF0000"/>
                </a:solidFill>
              </a:rPr>
              <a:t>運用的方式</a:t>
            </a:r>
            <a:r>
              <a:rPr kumimoji="1" lang="en-US" altLang="zh-TW" sz="1600" dirty="0">
                <a:solidFill>
                  <a:srgbClr val="FF0000"/>
                </a:solidFill>
              </a:rPr>
              <a:t>)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24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/>
      <p:bldP spid="37" grpId="0" animBg="1"/>
      <p:bldP spid="42" grpId="0"/>
      <p:bldP spid="44" grpId="0" animBg="1"/>
      <p:bldP spid="47" grpId="0" animBg="1"/>
      <p:bldP spid="48" grpId="0" animBg="1"/>
      <p:bldP spid="49" grpId="0" animBg="1"/>
      <p:bldP spid="50" grpId="0"/>
      <p:bldP spid="51" grpId="0"/>
      <p:bldP spid="62" grpId="0" animBg="1"/>
      <p:bldP spid="63" grpId="0" animBg="1"/>
      <p:bldP spid="64" grpId="0" animBg="1"/>
      <p:bldP spid="65" grpId="0" animBg="1"/>
      <p:bldP spid="3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96EC5-5532-DA44-297E-A58EA4C9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[Recap] Encoder-Decoder</a:t>
            </a:r>
            <a:r>
              <a:rPr kumimoji="1" lang="zh-TW" altLang="en-US" dirty="0">
                <a:cs typeface="Calibri" panose="020F0502020204030204" pitchFamily="34" charset="0"/>
              </a:rPr>
              <a:t> 橋樑</a:t>
            </a:r>
            <a:r>
              <a:rPr kumimoji="1" lang="en-US" altLang="zh-TW" dirty="0">
                <a:cs typeface="Calibri" panose="020F0502020204030204" pitchFamily="34" charset="0"/>
              </a:rPr>
              <a:t>: Cross-Attention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68F626-3EFA-CCD9-2F9E-28233A46C231}"/>
              </a:ext>
            </a:extLst>
          </p:cNvPr>
          <p:cNvSpPr txBox="1"/>
          <p:nvPr/>
        </p:nvSpPr>
        <p:spPr>
          <a:xfrm>
            <a:off x="2520778" y="3797346"/>
            <a:ext cx="6098058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K, V uses the output from encoder as their X; 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Q uses the decoder’s information as X. 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This is 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E7C3D80-D57C-1557-2C48-EE4EE6EDA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778" y="1011981"/>
            <a:ext cx="8810326" cy="790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C7C21DC-31DB-E831-86F3-CD4FF1E94951}"/>
              </a:ext>
            </a:extLst>
          </p:cNvPr>
          <p:cNvSpPr/>
          <p:nvPr/>
        </p:nvSpPr>
        <p:spPr>
          <a:xfrm>
            <a:off x="2520778" y="4500563"/>
            <a:ext cx="951085" cy="2714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25DD7B-D812-7B41-1ED3-2B76B17E4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155" y="5872381"/>
            <a:ext cx="2972804" cy="54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8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E6448A1-8B39-1A28-B6AC-06E8DB0CBE24}"/>
              </a:ext>
            </a:extLst>
          </p:cNvPr>
          <p:cNvSpPr/>
          <p:nvPr/>
        </p:nvSpPr>
        <p:spPr>
          <a:xfrm>
            <a:off x="1231641" y="1810139"/>
            <a:ext cx="6792686" cy="48985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[Recap] </a:t>
            </a:r>
            <a:r>
              <a:rPr kumimoji="1" lang="en-US" altLang="zh-TW" dirty="0"/>
              <a:t>Cross-attention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1732106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6FADA9CA-5DE9-26C4-D855-0AED0A46A53A}"/>
              </a:ext>
            </a:extLst>
          </p:cNvPr>
          <p:cNvSpPr/>
          <p:nvPr/>
        </p:nvSpPr>
        <p:spPr>
          <a:xfrm>
            <a:off x="1724700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B9D2B63A-3EA1-04FE-E87D-84D6E4169992}"/>
              </a:ext>
            </a:extLst>
          </p:cNvPr>
          <p:cNvSpPr/>
          <p:nvPr/>
        </p:nvSpPr>
        <p:spPr>
          <a:xfrm>
            <a:off x="2396514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2B6A4EB6-343C-670B-45B7-C93A6F414213}"/>
              </a:ext>
            </a:extLst>
          </p:cNvPr>
          <p:cNvSpPr/>
          <p:nvPr/>
        </p:nvSpPr>
        <p:spPr>
          <a:xfrm>
            <a:off x="406123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5EA15339-C78F-8309-2C6C-75B90A6E8C32}"/>
              </a:ext>
            </a:extLst>
          </p:cNvPr>
          <p:cNvSpPr/>
          <p:nvPr/>
        </p:nvSpPr>
        <p:spPr>
          <a:xfrm>
            <a:off x="473304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61B502CB-659A-2795-155B-F2F23C5E4500}"/>
              </a:ext>
            </a:extLst>
          </p:cNvPr>
          <p:cNvSpPr/>
          <p:nvPr/>
        </p:nvSpPr>
        <p:spPr>
          <a:xfrm>
            <a:off x="653773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5DB972C-5D18-3A55-15DE-D2C1647AF5D6}"/>
              </a:ext>
            </a:extLst>
          </p:cNvPr>
          <p:cNvSpPr/>
          <p:nvPr/>
        </p:nvSpPr>
        <p:spPr>
          <a:xfrm>
            <a:off x="720954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D4D9EDEF-A9EE-002E-CA82-EF618B88EF7D}"/>
              </a:ext>
            </a:extLst>
          </p:cNvPr>
          <p:cNvSpPr/>
          <p:nvPr/>
        </p:nvSpPr>
        <p:spPr>
          <a:xfrm>
            <a:off x="9233080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/>
              <a:t>q</a:t>
            </a:r>
            <a:r>
              <a:rPr kumimoji="1" lang="en-US" altLang="zh-TW" sz="2000" baseline="-25000"/>
              <a:t>1</a:t>
            </a:r>
            <a:endParaRPr kumimoji="1" lang="zh-TW" altLang="en-US" sz="2000" baseline="-25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8597358" y="5652179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0247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649351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19274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1703420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a'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1678924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03995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a'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651256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a'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307249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06864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4594635" y="611384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654514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107580" y="611332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247892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9806801" y="61205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BOS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stCxn id="36" idx="3"/>
            <a:endCxn id="19" idx="0"/>
          </p:cNvCxnSpPr>
          <p:nvPr/>
        </p:nvCxnSpPr>
        <p:spPr>
          <a:xfrm>
            <a:off x="2236820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  <a:endCxn id="22" idx="0"/>
          </p:cNvCxnSpPr>
          <p:nvPr/>
        </p:nvCxnSpPr>
        <p:spPr>
          <a:xfrm>
            <a:off x="457335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>
            <a:off x="704596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7E6D7-06F2-F9E2-2962-8A4B5F94371F}"/>
              </a:ext>
            </a:extLst>
          </p:cNvPr>
          <p:cNvSpPr txBox="1"/>
          <p:nvPr/>
        </p:nvSpPr>
        <p:spPr>
          <a:xfrm>
            <a:off x="3729721" y="1413289"/>
            <a:ext cx="1796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Encoder</a:t>
            </a:r>
            <a:endParaRPr kumimoji="1" lang="zh-TW" altLang="en-US" sz="2000" b="1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D0B05900-430A-61A5-54B3-10167885F80D}"/>
              </a:ext>
            </a:extLst>
          </p:cNvPr>
          <p:cNvSpPr/>
          <p:nvPr/>
        </p:nvSpPr>
        <p:spPr>
          <a:xfrm>
            <a:off x="9233080" y="1983370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h'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BE6C3D03-4055-4556-6F8C-9498C1DA9B0C}"/>
              </a:ext>
            </a:extLst>
          </p:cNvPr>
          <p:cNvCxnSpPr>
            <a:stCxn id="36" idx="0"/>
            <a:endCxn id="39" idx="0"/>
          </p:cNvCxnSpPr>
          <p:nvPr/>
        </p:nvCxnSpPr>
        <p:spPr>
          <a:xfrm rot="5400000" flipH="1" flipV="1">
            <a:off x="3138387" y="1936883"/>
            <a:ext cx="1" cy="2336535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接點 10">
            <a:extLst>
              <a:ext uri="{FF2B5EF4-FFF2-40B4-BE49-F238E27FC236}">
                <a16:creationId xmlns:a16="http://schemas.microsoft.com/office/drawing/2014/main" id="{7CE2DE16-F127-88EE-FF5B-3599AC4D7B61}"/>
              </a:ext>
            </a:extLst>
          </p:cNvPr>
          <p:cNvCxnSpPr>
            <a:cxnSpLocks/>
            <a:stCxn id="39" idx="0"/>
            <a:endCxn id="40" idx="0"/>
          </p:cNvCxnSpPr>
          <p:nvPr/>
        </p:nvCxnSpPr>
        <p:spPr>
          <a:xfrm rot="5400000" flipH="1" flipV="1">
            <a:off x="5542962" y="1868842"/>
            <a:ext cx="12700" cy="2472614"/>
          </a:xfrm>
          <a:prstGeom prst="bentConnector3">
            <a:avLst>
              <a:gd name="adj1" fmla="val 187347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接點 37">
            <a:extLst>
              <a:ext uri="{FF2B5EF4-FFF2-40B4-BE49-F238E27FC236}">
                <a16:creationId xmlns:a16="http://schemas.microsoft.com/office/drawing/2014/main" id="{66EC57B1-65AC-6393-1C96-63746C3C0F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41576" y="423933"/>
            <a:ext cx="346122" cy="457028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AD1873D6-DB42-69CC-9FB4-00D36A05E0B0}"/>
              </a:ext>
            </a:extLst>
          </p:cNvPr>
          <p:cNvSpPr txBox="1"/>
          <p:nvPr/>
        </p:nvSpPr>
        <p:spPr>
          <a:xfrm>
            <a:off x="6940334" y="2380753"/>
            <a:ext cx="209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17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6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2EEEA3-0BCC-9E2B-66DF-C3F22B19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Transformer </a:t>
            </a:r>
            <a:r>
              <a:rPr kumimoji="1" lang="zh-TW" altLang="en-US" dirty="0"/>
              <a:t>架構的後續應用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38ECEB-E461-F405-08AF-BBD30D6F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5F2EB2-6F05-E173-ADF7-F273D8A8C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041" y="3595254"/>
            <a:ext cx="1213026" cy="201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DCC39C4-31D1-7D67-F204-9A314EF294B9}"/>
              </a:ext>
            </a:extLst>
          </p:cNvPr>
          <p:cNvSpPr txBox="1"/>
          <p:nvPr/>
        </p:nvSpPr>
        <p:spPr>
          <a:xfrm>
            <a:off x="653143" y="2257205"/>
            <a:ext cx="4472474" cy="234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Generative Pre-training (GPT) series</a:t>
            </a:r>
            <a:endParaRPr kumimoji="1" lang="en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BERT (Bidirectional encoder representations from transformers)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hlinkClick r:id="rId3"/>
              </a:rPr>
              <a:t>Devlin et al., 2018</a:t>
            </a:r>
            <a:endParaRPr kumimoji="1" lang="en-US" altLang="zh-TW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0A49A49-DDFB-27EB-4B47-7324B570C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249" y="1517710"/>
            <a:ext cx="3619047" cy="51598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2D3EF54-78A3-9F8F-16DB-7E94E0724720}"/>
              </a:ext>
            </a:extLst>
          </p:cNvPr>
          <p:cNvSpPr/>
          <p:nvPr/>
        </p:nvSpPr>
        <p:spPr>
          <a:xfrm>
            <a:off x="7133249" y="3206554"/>
            <a:ext cx="1793196" cy="33310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8EEEA7-230D-3111-16CC-0F5AE58AFFE6}"/>
              </a:ext>
            </a:extLst>
          </p:cNvPr>
          <p:cNvSpPr txBox="1"/>
          <p:nvPr/>
        </p:nvSpPr>
        <p:spPr>
          <a:xfrm>
            <a:off x="5963410" y="4631416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9300"/>
                </a:solidFill>
              </a:rPr>
              <a:t>Encoder</a:t>
            </a:r>
            <a:endParaRPr kumimoji="1" lang="zh-TW" altLang="en-US" b="1" dirty="0">
              <a:solidFill>
                <a:srgbClr val="FF93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D20F2A0-3E29-A390-9125-9D6796EB4891}"/>
              </a:ext>
            </a:extLst>
          </p:cNvPr>
          <p:cNvSpPr txBox="1"/>
          <p:nvPr/>
        </p:nvSpPr>
        <p:spPr>
          <a:xfrm>
            <a:off x="6183268" y="4220820"/>
            <a:ext cx="102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N=12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6BD3EBD-5F95-B31A-8A6B-4624EC80C199}"/>
              </a:ext>
            </a:extLst>
          </p:cNvPr>
          <p:cNvSpPr txBox="1"/>
          <p:nvPr/>
        </p:nvSpPr>
        <p:spPr>
          <a:xfrm>
            <a:off x="5125617" y="5636957"/>
            <a:ext cx="97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en" altLang="zh-TW" sz="1600" dirty="0"/>
              <a:t>BERT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AFD07D-B889-E41D-7ACB-7E25CEC09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061" y="3385823"/>
            <a:ext cx="1033417" cy="103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1849A13-09D9-27F1-4679-34F927EA4E08}"/>
              </a:ext>
            </a:extLst>
          </p:cNvPr>
          <p:cNvSpPr txBox="1"/>
          <p:nvPr/>
        </p:nvSpPr>
        <p:spPr>
          <a:xfrm>
            <a:off x="10746577" y="4431518"/>
            <a:ext cx="97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en" altLang="zh-TW" sz="1600" dirty="0"/>
              <a:t>GPT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C5BC747-9024-1C96-9925-BCD93FE85666}"/>
              </a:ext>
            </a:extLst>
          </p:cNvPr>
          <p:cNvSpPr/>
          <p:nvPr/>
        </p:nvSpPr>
        <p:spPr>
          <a:xfrm>
            <a:off x="10290720" y="3190931"/>
            <a:ext cx="1791580" cy="16187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699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5A419-B761-9BA4-581D-37DFCD0B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條件機率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C51E99-2D91-19D1-B39D-AB454E0D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2018C91-37CB-A2B2-79CA-EC5FFAB55E0F}"/>
              </a:ext>
            </a:extLst>
          </p:cNvPr>
          <p:cNvSpPr txBox="1"/>
          <p:nvPr/>
        </p:nvSpPr>
        <p:spPr>
          <a:xfrm>
            <a:off x="653143" y="1840468"/>
            <a:ext cx="6567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假設要讓模型生成一個句子：「天氣真好」</a:t>
            </a:r>
            <a:endParaRPr lang="zh-TW" altLang="en-US" sz="24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2C7A621-54CF-982A-208F-EE81E01E7288}"/>
              </a:ext>
            </a:extLst>
          </p:cNvPr>
          <p:cNvSpPr/>
          <p:nvPr/>
        </p:nvSpPr>
        <p:spPr>
          <a:xfrm>
            <a:off x="1604122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5C1DE3-DC42-33D4-CE31-8D11570F4A81}"/>
              </a:ext>
            </a:extLst>
          </p:cNvPr>
          <p:cNvSpPr txBox="1"/>
          <p:nvPr/>
        </p:nvSpPr>
        <p:spPr>
          <a:xfrm>
            <a:off x="1682049" y="5126057"/>
            <a:ext cx="1130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開始字詞</a:t>
            </a:r>
            <a:r>
              <a:rPr kumimoji="1" lang="en-US" altLang="zh-TW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(BOS)</a:t>
            </a:r>
            <a:endParaRPr kumimoji="1" lang="zh-TW" altLang="en-US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AD1BDD19-1075-76A8-6E65-68F8118BE849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2247404" y="4485753"/>
            <a:ext cx="0" cy="64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155EFC6-2B86-11EF-39D3-35EDE7E47E2D}"/>
              </a:ext>
            </a:extLst>
          </p:cNvPr>
          <p:cNvSpPr txBox="1"/>
          <p:nvPr/>
        </p:nvSpPr>
        <p:spPr>
          <a:xfrm>
            <a:off x="1682049" y="2761484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</a:t>
            </a: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5CB132C1-055E-7095-06CA-38B86405887D}"/>
              </a:ext>
            </a:extLst>
          </p:cNvPr>
          <p:cNvCxnSpPr>
            <a:cxnSpLocks/>
            <a:stCxn id="7" idx="0"/>
            <a:endCxn id="15" idx="2"/>
          </p:cNvCxnSpPr>
          <p:nvPr/>
        </p:nvCxnSpPr>
        <p:spPr>
          <a:xfrm flipV="1">
            <a:off x="2247404" y="3130816"/>
            <a:ext cx="0" cy="6377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9EE703D-F67E-A0AB-871A-2F6F6E4AF9B6}"/>
              </a:ext>
            </a:extLst>
          </p:cNvPr>
          <p:cNvSpPr txBox="1"/>
          <p:nvPr/>
        </p:nvSpPr>
        <p:spPr>
          <a:xfrm>
            <a:off x="1221914" y="5920302"/>
            <a:ext cx="213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|BOS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922FE676-B0FA-15A7-0031-BEBD41D62E19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2890686" y="4127146"/>
            <a:ext cx="9094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E7EA5C7D-9C49-A98D-5274-1571DEEC40CB}"/>
              </a:ext>
            </a:extLst>
          </p:cNvPr>
          <p:cNvSpPr/>
          <p:nvPr/>
        </p:nvSpPr>
        <p:spPr>
          <a:xfrm>
            <a:off x="3800167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DB6AF11-82C4-1E97-98EE-6AC7126E682C}"/>
              </a:ext>
            </a:extLst>
          </p:cNvPr>
          <p:cNvSpPr txBox="1"/>
          <p:nvPr/>
        </p:nvSpPr>
        <p:spPr>
          <a:xfrm>
            <a:off x="3878094" y="5126057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A19049F-0FF1-AB3A-FDC8-F3F293724580}"/>
              </a:ext>
            </a:extLst>
          </p:cNvPr>
          <p:cNvSpPr txBox="1"/>
          <p:nvPr/>
        </p:nvSpPr>
        <p:spPr>
          <a:xfrm>
            <a:off x="3878094" y="2758905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</a:t>
            </a:r>
          </a:p>
        </p:txBody>
      </p: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A13E147C-1DA0-AD82-96AC-B031AE550A5A}"/>
              </a:ext>
            </a:extLst>
          </p:cNvPr>
          <p:cNvCxnSpPr>
            <a:cxnSpLocks/>
            <a:stCxn id="22" idx="0"/>
            <a:endCxn id="24" idx="2"/>
          </p:cNvCxnSpPr>
          <p:nvPr/>
        </p:nvCxnSpPr>
        <p:spPr>
          <a:xfrm flipV="1">
            <a:off x="4443449" y="3128237"/>
            <a:ext cx="0" cy="6403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DC69554F-D75A-750C-7A18-A7EBE85F7EC8}"/>
              </a:ext>
            </a:extLst>
          </p:cNvPr>
          <p:cNvCxnSpPr>
            <a:cxnSpLocks/>
            <a:stCxn id="23" idx="0"/>
            <a:endCxn id="22" idx="2"/>
          </p:cNvCxnSpPr>
          <p:nvPr/>
        </p:nvCxnSpPr>
        <p:spPr>
          <a:xfrm flipV="1">
            <a:off x="4443449" y="4485753"/>
            <a:ext cx="0" cy="64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7E8106A-BFA7-53F1-F296-0E15721F3F02}"/>
              </a:ext>
            </a:extLst>
          </p:cNvPr>
          <p:cNvSpPr txBox="1"/>
          <p:nvPr/>
        </p:nvSpPr>
        <p:spPr>
          <a:xfrm>
            <a:off x="3386370" y="5920301"/>
            <a:ext cx="21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開始字詞、天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F29898A4-E724-801A-4ED3-705BA56AEF46}"/>
              </a:ext>
            </a:extLst>
          </p:cNvPr>
          <p:cNvSpPr/>
          <p:nvPr/>
        </p:nvSpPr>
        <p:spPr>
          <a:xfrm>
            <a:off x="6002385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8B29917-9A66-3D14-6F3C-007D4CF26B34}"/>
              </a:ext>
            </a:extLst>
          </p:cNvPr>
          <p:cNvSpPr txBox="1"/>
          <p:nvPr/>
        </p:nvSpPr>
        <p:spPr>
          <a:xfrm>
            <a:off x="6080312" y="5126056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ADF297B-286A-8A22-3C9B-48FC4F21EE7B}"/>
              </a:ext>
            </a:extLst>
          </p:cNvPr>
          <p:cNvSpPr txBox="1"/>
          <p:nvPr/>
        </p:nvSpPr>
        <p:spPr>
          <a:xfrm>
            <a:off x="6074138" y="2758905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</a:p>
        </p:txBody>
      </p: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61A6D5EA-E957-EAF2-AC03-E4572F974BC0}"/>
              </a:ext>
            </a:extLst>
          </p:cNvPr>
          <p:cNvCxnSpPr>
            <a:cxnSpLocks/>
            <a:stCxn id="35" idx="0"/>
            <a:endCxn id="37" idx="2"/>
          </p:cNvCxnSpPr>
          <p:nvPr/>
        </p:nvCxnSpPr>
        <p:spPr>
          <a:xfrm flipH="1" flipV="1">
            <a:off x="6639493" y="3128237"/>
            <a:ext cx="6174" cy="6403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8A81AF69-85EE-C2DF-4C21-B07FA59315BC}"/>
              </a:ext>
            </a:extLst>
          </p:cNvPr>
          <p:cNvCxnSpPr>
            <a:cxnSpLocks/>
            <a:stCxn id="36" idx="0"/>
            <a:endCxn id="35" idx="2"/>
          </p:cNvCxnSpPr>
          <p:nvPr/>
        </p:nvCxnSpPr>
        <p:spPr>
          <a:xfrm flipV="1">
            <a:off x="6645667" y="4485753"/>
            <a:ext cx="0" cy="6403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3377379D-D458-0D44-9C13-56B9B1B34C37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5086731" y="4127146"/>
            <a:ext cx="9156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85FDD9DB-56C8-07A9-76EF-53DB5285B974}"/>
              </a:ext>
            </a:extLst>
          </p:cNvPr>
          <p:cNvSpPr/>
          <p:nvPr/>
        </p:nvSpPr>
        <p:spPr>
          <a:xfrm>
            <a:off x="8198428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43BD6734-4B6C-26FD-7B7A-1EAD0C8185D3}"/>
              </a:ext>
            </a:extLst>
          </p:cNvPr>
          <p:cNvCxnSpPr>
            <a:cxnSpLocks/>
          </p:cNvCxnSpPr>
          <p:nvPr/>
        </p:nvCxnSpPr>
        <p:spPr>
          <a:xfrm flipH="1" flipV="1">
            <a:off x="8847884" y="3128237"/>
            <a:ext cx="6174" cy="6403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1101420D-6B2E-5618-5999-7A3A7CD75C65}"/>
              </a:ext>
            </a:extLst>
          </p:cNvPr>
          <p:cNvCxnSpPr>
            <a:cxnSpLocks/>
          </p:cNvCxnSpPr>
          <p:nvPr/>
        </p:nvCxnSpPr>
        <p:spPr>
          <a:xfrm flipV="1">
            <a:off x="8850971" y="4485754"/>
            <a:ext cx="0" cy="6403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E4BACEFE-0207-D316-3A2F-E1C863F85555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7288949" y="4127146"/>
            <a:ext cx="90947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36AD2FB-21CA-664B-71AB-AE9D26823743}"/>
              </a:ext>
            </a:extLst>
          </p:cNvPr>
          <p:cNvSpPr txBox="1"/>
          <p:nvPr/>
        </p:nvSpPr>
        <p:spPr>
          <a:xfrm>
            <a:off x="8270181" y="2758905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好</a:t>
            </a: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20709223-573E-2E2D-0B1F-65BB2C71AF1D}"/>
              </a:ext>
            </a:extLst>
          </p:cNvPr>
          <p:cNvCxnSpPr>
            <a:cxnSpLocks/>
          </p:cNvCxnSpPr>
          <p:nvPr/>
        </p:nvCxnSpPr>
        <p:spPr>
          <a:xfrm>
            <a:off x="9484992" y="4127145"/>
            <a:ext cx="90947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9ED38F24-8837-CBEE-C182-41D690AAB9BF}"/>
              </a:ext>
            </a:extLst>
          </p:cNvPr>
          <p:cNvSpPr txBox="1"/>
          <p:nvPr/>
        </p:nvSpPr>
        <p:spPr>
          <a:xfrm>
            <a:off x="8282530" y="5126054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58B91F5C-7965-097C-E52A-539DE10DADCA}"/>
              </a:ext>
            </a:extLst>
          </p:cNvPr>
          <p:cNvSpPr txBox="1"/>
          <p:nvPr/>
        </p:nvSpPr>
        <p:spPr>
          <a:xfrm>
            <a:off x="5688219" y="5920300"/>
            <a:ext cx="21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開始字詞、天、氣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FB95BBE-2291-A897-E588-501B79736D88}"/>
              </a:ext>
            </a:extLst>
          </p:cNvPr>
          <p:cNvSpPr txBox="1"/>
          <p:nvPr/>
        </p:nvSpPr>
        <p:spPr>
          <a:xfrm>
            <a:off x="7944152" y="5897611"/>
            <a:ext cx="21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好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開始字詞、天、氣、真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779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5" grpId="0"/>
      <p:bldP spid="19" grpId="0"/>
      <p:bldP spid="22" grpId="0" animBg="1"/>
      <p:bldP spid="23" grpId="0"/>
      <p:bldP spid="24" grpId="0"/>
      <p:bldP spid="34" grpId="0"/>
      <p:bldP spid="35" grpId="0" animBg="1"/>
      <p:bldP spid="36" grpId="0"/>
      <p:bldP spid="37" grpId="0"/>
      <p:bldP spid="48" grpId="0" animBg="1"/>
      <p:bldP spid="54" grpId="0"/>
      <p:bldP spid="56" grpId="0"/>
      <p:bldP spid="57" grpId="0"/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9702-4B56-D69D-2044-8BE4C20E6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A4BF69-E3A1-CFA7-C259-1A536571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12</a:t>
            </a:fld>
            <a:endParaRPr lang="zh-TW" altLang="en-US"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D1D48EE6-20D2-AE58-A92C-3FEF9374D106}"/>
              </a:ext>
            </a:extLst>
          </p:cNvPr>
          <p:cNvSpPr/>
          <p:nvPr/>
        </p:nvSpPr>
        <p:spPr>
          <a:xfrm>
            <a:off x="1053516" y="3815457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Language Model (e.g., RNN)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9C18138D-2F9E-B7AC-AF31-80200C74547D}"/>
              </a:ext>
            </a:extLst>
          </p:cNvPr>
          <p:cNvSpPr/>
          <p:nvPr/>
        </p:nvSpPr>
        <p:spPr>
          <a:xfrm>
            <a:off x="113524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78CE1AC-6581-98CA-E3AF-FDC7DC085BA2}"/>
              </a:ext>
            </a:extLst>
          </p:cNvPr>
          <p:cNvSpPr/>
          <p:nvPr/>
        </p:nvSpPr>
        <p:spPr>
          <a:xfrm>
            <a:off x="404982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A94D4E7F-2167-5556-2AE6-AAD132578C77}"/>
              </a:ext>
            </a:extLst>
          </p:cNvPr>
          <p:cNvSpPr/>
          <p:nvPr/>
        </p:nvSpPr>
        <p:spPr>
          <a:xfrm>
            <a:off x="4632739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56865D3-702C-99A1-21E0-8E293251D0AC}"/>
              </a:ext>
            </a:extLst>
          </p:cNvPr>
          <p:cNvSpPr/>
          <p:nvPr/>
        </p:nvSpPr>
        <p:spPr>
          <a:xfrm>
            <a:off x="171816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EB1BACAC-83CE-05B9-5D0E-65AB22BBE5D7}"/>
              </a:ext>
            </a:extLst>
          </p:cNvPr>
          <p:cNvSpPr/>
          <p:nvPr/>
        </p:nvSpPr>
        <p:spPr>
          <a:xfrm>
            <a:off x="230107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38C12175-BF3B-26F0-442C-8C812F63CDD5}"/>
              </a:ext>
            </a:extLst>
          </p:cNvPr>
          <p:cNvSpPr/>
          <p:nvPr/>
        </p:nvSpPr>
        <p:spPr>
          <a:xfrm>
            <a:off x="288399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1637828-BC44-4F38-8885-7241FC84491C}"/>
              </a:ext>
            </a:extLst>
          </p:cNvPr>
          <p:cNvSpPr/>
          <p:nvPr/>
        </p:nvSpPr>
        <p:spPr>
          <a:xfrm>
            <a:off x="346690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67EB8953-6E87-F058-6FB5-C549DC65EDED}"/>
              </a:ext>
            </a:extLst>
          </p:cNvPr>
          <p:cNvCxnSpPr>
            <a:cxnSpLocks/>
          </p:cNvCxnSpPr>
          <p:nvPr/>
        </p:nvCxnSpPr>
        <p:spPr>
          <a:xfrm flipV="1">
            <a:off x="1367175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A8D7ACB2-CF6F-909E-624F-EDA7FDEA36C7}"/>
              </a:ext>
            </a:extLst>
          </p:cNvPr>
          <p:cNvCxnSpPr>
            <a:cxnSpLocks/>
          </p:cNvCxnSpPr>
          <p:nvPr/>
        </p:nvCxnSpPr>
        <p:spPr>
          <a:xfrm flipV="1">
            <a:off x="1947369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BEB00621-3702-A861-C67F-D1D813014439}"/>
              </a:ext>
            </a:extLst>
          </p:cNvPr>
          <p:cNvCxnSpPr>
            <a:cxnSpLocks/>
          </p:cNvCxnSpPr>
          <p:nvPr/>
        </p:nvCxnSpPr>
        <p:spPr>
          <a:xfrm flipV="1">
            <a:off x="2527563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C3550D86-337D-E2F8-1DD8-2C4BA36FB6FB}"/>
              </a:ext>
            </a:extLst>
          </p:cNvPr>
          <p:cNvCxnSpPr>
            <a:cxnSpLocks/>
          </p:cNvCxnSpPr>
          <p:nvPr/>
        </p:nvCxnSpPr>
        <p:spPr>
          <a:xfrm flipV="1">
            <a:off x="3107757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169E96C9-57A7-3729-3E7B-59236EF0E4D7}"/>
              </a:ext>
            </a:extLst>
          </p:cNvPr>
          <p:cNvCxnSpPr>
            <a:cxnSpLocks/>
          </p:cNvCxnSpPr>
          <p:nvPr/>
        </p:nvCxnSpPr>
        <p:spPr>
          <a:xfrm flipV="1">
            <a:off x="3687951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0D78BC7F-4D4A-8F22-240D-AA52AF35C1CE}"/>
              </a:ext>
            </a:extLst>
          </p:cNvPr>
          <p:cNvCxnSpPr>
            <a:cxnSpLocks/>
          </p:cNvCxnSpPr>
          <p:nvPr/>
        </p:nvCxnSpPr>
        <p:spPr>
          <a:xfrm flipV="1">
            <a:off x="4268145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62375D72-99C4-D87B-1E32-0BAF45E9C920}"/>
              </a:ext>
            </a:extLst>
          </p:cNvPr>
          <p:cNvCxnSpPr>
            <a:cxnSpLocks/>
          </p:cNvCxnSpPr>
          <p:nvPr/>
        </p:nvCxnSpPr>
        <p:spPr>
          <a:xfrm flipV="1">
            <a:off x="4848338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477AF822-A44C-ACDC-E3C7-E2F3DBD90267}"/>
              </a:ext>
            </a:extLst>
          </p:cNvPr>
          <p:cNvSpPr/>
          <p:nvPr/>
        </p:nvSpPr>
        <p:spPr>
          <a:xfrm>
            <a:off x="4632739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838753-A9EA-AEEF-042D-5FECD656FA81}"/>
              </a:ext>
            </a:extLst>
          </p:cNvPr>
          <p:cNvCxnSpPr>
            <a:cxnSpLocks/>
          </p:cNvCxnSpPr>
          <p:nvPr/>
        </p:nvCxnSpPr>
        <p:spPr>
          <a:xfrm flipV="1">
            <a:off x="486194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2">
                <a:extLst>
                  <a:ext uri="{FF2B5EF4-FFF2-40B4-BE49-F238E27FC236}">
                    <a16:creationId xmlns:a16="http://schemas.microsoft.com/office/drawing/2014/main" id="{DD8B3EBD-C615-5F42-A649-971C106C244E}"/>
                  </a:ext>
                </a:extLst>
              </p:cNvPr>
              <p:cNvSpPr txBox="1"/>
              <p:nvPr/>
            </p:nvSpPr>
            <p:spPr>
              <a:xfrm>
                <a:off x="992545" y="1928141"/>
                <a:ext cx="69296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Next-token prediction: </a:t>
                </a:r>
                <a:r>
                  <a:rPr kumimoji="1" lang="zh-TW" altLang="en-US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在給定上下文序列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zh-TW" altLang="en-US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，模型在第</a:t>
                </a:r>
                <a:r>
                  <a:rPr kumimoji="1" lang="en-US" altLang="zh-TW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個時間點會預測下一個字生成的機率值</a:t>
                </a:r>
              </a:p>
            </p:txBody>
          </p:sp>
        </mc:Choice>
        <mc:Fallback xmlns="">
          <p:sp>
            <p:nvSpPr>
              <p:cNvPr id="37" name="文字方塊 2">
                <a:extLst>
                  <a:ext uri="{FF2B5EF4-FFF2-40B4-BE49-F238E27FC236}">
                    <a16:creationId xmlns:a16="http://schemas.microsoft.com/office/drawing/2014/main" id="{DD8B3EBD-C615-5F42-A649-971C106C2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45" y="1928141"/>
                <a:ext cx="6929627" cy="707886"/>
              </a:xfrm>
              <a:prstGeom prst="rect">
                <a:avLst/>
              </a:prstGeom>
              <a:blipFill>
                <a:blip r:embed="rId3"/>
                <a:stretch>
                  <a:fillRect l="-1099" t="-3509" b="-140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26795B6-8EB0-D302-0AEA-9D9649F16B6A}"/>
                  </a:ext>
                </a:extLst>
              </p:cNvPr>
              <p:cNvSpPr txBox="1"/>
              <p:nvPr/>
            </p:nvSpPr>
            <p:spPr>
              <a:xfrm>
                <a:off x="6007512" y="3054557"/>
                <a:ext cx="34622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26795B6-8EB0-D302-0AEA-9D9649F16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512" y="3054557"/>
                <a:ext cx="3462292" cy="523220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11432707-D649-B997-664F-93368CC7C22F}"/>
              </a:ext>
            </a:extLst>
          </p:cNvPr>
          <p:cNvSpPr txBox="1"/>
          <p:nvPr/>
        </p:nvSpPr>
        <p:spPr>
          <a:xfrm>
            <a:off x="5661711" y="3911254"/>
            <a:ext cx="60298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200" dirty="0"/>
              <a:t>The task involving predictions of upcoming words is next-token prediction.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DED921C8-7419-4C07-9E33-602B7773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Next-token prediction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34CE8D2B-A8F9-A1D3-61F6-6BBAEC0A4A07}"/>
              </a:ext>
            </a:extLst>
          </p:cNvPr>
          <p:cNvSpPr/>
          <p:nvPr/>
        </p:nvSpPr>
        <p:spPr>
          <a:xfrm>
            <a:off x="112918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D120AC46-9C15-E055-C137-062E787E8040}"/>
              </a:ext>
            </a:extLst>
          </p:cNvPr>
          <p:cNvSpPr/>
          <p:nvPr/>
        </p:nvSpPr>
        <p:spPr>
          <a:xfrm>
            <a:off x="404375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E87610D5-617C-0366-DADA-C43F8DFD5CBA}"/>
              </a:ext>
            </a:extLst>
          </p:cNvPr>
          <p:cNvSpPr/>
          <p:nvPr/>
        </p:nvSpPr>
        <p:spPr>
          <a:xfrm>
            <a:off x="171209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32693CAE-84D3-AF4F-D456-2D3CD8571044}"/>
              </a:ext>
            </a:extLst>
          </p:cNvPr>
          <p:cNvSpPr/>
          <p:nvPr/>
        </p:nvSpPr>
        <p:spPr>
          <a:xfrm>
            <a:off x="229501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F1476C82-D526-C26D-EAB0-D10ED46FB798}"/>
              </a:ext>
            </a:extLst>
          </p:cNvPr>
          <p:cNvSpPr/>
          <p:nvPr/>
        </p:nvSpPr>
        <p:spPr>
          <a:xfrm>
            <a:off x="287792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AEE52965-1951-B0D9-AF66-DC8F52321F40}"/>
              </a:ext>
            </a:extLst>
          </p:cNvPr>
          <p:cNvSpPr/>
          <p:nvPr/>
        </p:nvSpPr>
        <p:spPr>
          <a:xfrm>
            <a:off x="346084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F9DEE172-E84E-C14F-8366-675152B4B209}"/>
              </a:ext>
            </a:extLst>
          </p:cNvPr>
          <p:cNvCxnSpPr>
            <a:cxnSpLocks/>
          </p:cNvCxnSpPr>
          <p:nvPr/>
        </p:nvCxnSpPr>
        <p:spPr>
          <a:xfrm flipV="1">
            <a:off x="136717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692EF03F-E56D-1EF0-21F4-F2E486842E00}"/>
              </a:ext>
            </a:extLst>
          </p:cNvPr>
          <p:cNvCxnSpPr>
            <a:cxnSpLocks/>
          </p:cNvCxnSpPr>
          <p:nvPr/>
        </p:nvCxnSpPr>
        <p:spPr>
          <a:xfrm flipV="1">
            <a:off x="1947369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810DCA2-5311-1AE0-8D97-1C6D60777426}"/>
              </a:ext>
            </a:extLst>
          </p:cNvPr>
          <p:cNvCxnSpPr>
            <a:cxnSpLocks/>
          </p:cNvCxnSpPr>
          <p:nvPr/>
        </p:nvCxnSpPr>
        <p:spPr>
          <a:xfrm flipV="1">
            <a:off x="2527563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04F382F-032D-0706-5759-C0BB83A892F1}"/>
              </a:ext>
            </a:extLst>
          </p:cNvPr>
          <p:cNvCxnSpPr>
            <a:cxnSpLocks/>
          </p:cNvCxnSpPr>
          <p:nvPr/>
        </p:nvCxnSpPr>
        <p:spPr>
          <a:xfrm flipV="1">
            <a:off x="3107757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5B198EA9-AC44-E217-D216-83B9A99B0E80}"/>
              </a:ext>
            </a:extLst>
          </p:cNvPr>
          <p:cNvCxnSpPr>
            <a:cxnSpLocks/>
          </p:cNvCxnSpPr>
          <p:nvPr/>
        </p:nvCxnSpPr>
        <p:spPr>
          <a:xfrm flipV="1">
            <a:off x="3687951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A36CCC39-D953-1216-9943-E39507AEE0DD}"/>
              </a:ext>
            </a:extLst>
          </p:cNvPr>
          <p:cNvCxnSpPr>
            <a:cxnSpLocks/>
          </p:cNvCxnSpPr>
          <p:nvPr/>
        </p:nvCxnSpPr>
        <p:spPr>
          <a:xfrm flipV="1">
            <a:off x="426814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40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35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9702-4B56-D69D-2044-8BE4C20E6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A4BF69-E3A1-CFA7-C259-1A536571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13</a:t>
            </a:fld>
            <a:endParaRPr lang="zh-TW" altLang="en-US"/>
          </a:p>
        </p:txBody>
      </p:sp>
      <p:sp>
        <p:nvSpPr>
          <p:cNvPr id="37" name="文字方塊 2">
            <a:extLst>
              <a:ext uri="{FF2B5EF4-FFF2-40B4-BE49-F238E27FC236}">
                <a16:creationId xmlns:a16="http://schemas.microsoft.com/office/drawing/2014/main" id="{DD8B3EBD-C615-5F42-A649-971C106C244E}"/>
              </a:ext>
            </a:extLst>
          </p:cNvPr>
          <p:cNvSpPr txBox="1"/>
          <p:nvPr/>
        </p:nvSpPr>
        <p:spPr>
          <a:xfrm>
            <a:off x="653143" y="1906131"/>
            <a:ext cx="10485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💡 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Modeling: 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綜和每個時間點預測的聯合機率分佈 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(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每個時間點的機率值相乘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)</a:t>
            </a:r>
            <a:endParaRPr kumimoji="1" lang="zh-TW" altLang="en-US" sz="2000" b="1" dirty="0">
              <a:solidFill>
                <a:srgbClr val="00B050"/>
              </a:solidFill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26795B6-8EB0-D302-0AEA-9D9649F16B6A}"/>
                  </a:ext>
                </a:extLst>
              </p:cNvPr>
              <p:cNvSpPr txBox="1"/>
              <p:nvPr/>
            </p:nvSpPr>
            <p:spPr>
              <a:xfrm>
                <a:off x="6096000" y="2416559"/>
                <a:ext cx="4295405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TW" altLang="zh-TW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26795B6-8EB0-D302-0AEA-9D9649F16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16559"/>
                <a:ext cx="4295405" cy="1268552"/>
              </a:xfrm>
              <a:prstGeom prst="rect">
                <a:avLst/>
              </a:prstGeom>
              <a:blipFill>
                <a:blip r:embed="rId3"/>
                <a:stretch>
                  <a:fillRect l="-23894" t="-106931" b="-162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11432707-D649-B997-664F-93368CC7C22F}"/>
              </a:ext>
            </a:extLst>
          </p:cNvPr>
          <p:cNvSpPr txBox="1"/>
          <p:nvPr/>
        </p:nvSpPr>
        <p:spPr>
          <a:xfrm>
            <a:off x="5689582" y="3987617"/>
            <a:ext cx="5881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語言模型：能預測語言序列生成之機率分布的模型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DED921C8-7419-4C07-9E33-602B7773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模型如何進行訓練？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B4FE676D-10AF-13AD-4F64-2D8F5D356F1E}"/>
              </a:ext>
            </a:extLst>
          </p:cNvPr>
          <p:cNvSpPr/>
          <p:nvPr/>
        </p:nvSpPr>
        <p:spPr>
          <a:xfrm>
            <a:off x="1053516" y="3815457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Language Model (e.g., RNN)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A89CEB8C-238C-15F2-80B7-7D08F10E427F}"/>
              </a:ext>
            </a:extLst>
          </p:cNvPr>
          <p:cNvSpPr/>
          <p:nvPr/>
        </p:nvSpPr>
        <p:spPr>
          <a:xfrm>
            <a:off x="113524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26CF96F2-E3D3-0588-6807-4A660C5730B1}"/>
              </a:ext>
            </a:extLst>
          </p:cNvPr>
          <p:cNvSpPr/>
          <p:nvPr/>
        </p:nvSpPr>
        <p:spPr>
          <a:xfrm>
            <a:off x="404982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BC881DDB-7386-9C76-A6DD-49C758E71727}"/>
              </a:ext>
            </a:extLst>
          </p:cNvPr>
          <p:cNvSpPr/>
          <p:nvPr/>
        </p:nvSpPr>
        <p:spPr>
          <a:xfrm>
            <a:off x="4632739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614A0C2C-1F97-983B-76A9-2CC1331D5DEC}"/>
              </a:ext>
            </a:extLst>
          </p:cNvPr>
          <p:cNvSpPr/>
          <p:nvPr/>
        </p:nvSpPr>
        <p:spPr>
          <a:xfrm>
            <a:off x="171816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51515603-E866-7550-7E7E-EDB4324E21FF}"/>
              </a:ext>
            </a:extLst>
          </p:cNvPr>
          <p:cNvSpPr/>
          <p:nvPr/>
        </p:nvSpPr>
        <p:spPr>
          <a:xfrm>
            <a:off x="230107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C6E1056E-A7A1-8033-1875-9457F1C650C0}"/>
              </a:ext>
            </a:extLst>
          </p:cNvPr>
          <p:cNvSpPr/>
          <p:nvPr/>
        </p:nvSpPr>
        <p:spPr>
          <a:xfrm>
            <a:off x="288399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03C31A42-D281-D54D-C532-A0800B6455C6}"/>
              </a:ext>
            </a:extLst>
          </p:cNvPr>
          <p:cNvSpPr/>
          <p:nvPr/>
        </p:nvSpPr>
        <p:spPr>
          <a:xfrm>
            <a:off x="346690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E92C223C-E2D8-9AD3-4A9C-FD3A1194305E}"/>
              </a:ext>
            </a:extLst>
          </p:cNvPr>
          <p:cNvCxnSpPr>
            <a:cxnSpLocks/>
          </p:cNvCxnSpPr>
          <p:nvPr/>
        </p:nvCxnSpPr>
        <p:spPr>
          <a:xfrm flipV="1">
            <a:off x="1367175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C761F68C-D897-A0C9-203F-EA55156B9017}"/>
              </a:ext>
            </a:extLst>
          </p:cNvPr>
          <p:cNvCxnSpPr>
            <a:cxnSpLocks/>
          </p:cNvCxnSpPr>
          <p:nvPr/>
        </p:nvCxnSpPr>
        <p:spPr>
          <a:xfrm flipV="1">
            <a:off x="1947369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7996C5A9-9F12-EFA9-C0A7-E83098113C0C}"/>
              </a:ext>
            </a:extLst>
          </p:cNvPr>
          <p:cNvCxnSpPr>
            <a:cxnSpLocks/>
          </p:cNvCxnSpPr>
          <p:nvPr/>
        </p:nvCxnSpPr>
        <p:spPr>
          <a:xfrm flipV="1">
            <a:off x="2527563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49072187-9CB9-EDCD-2259-1735FDF569A4}"/>
              </a:ext>
            </a:extLst>
          </p:cNvPr>
          <p:cNvCxnSpPr>
            <a:cxnSpLocks/>
          </p:cNvCxnSpPr>
          <p:nvPr/>
        </p:nvCxnSpPr>
        <p:spPr>
          <a:xfrm flipV="1">
            <a:off x="3107757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D06BF9B6-7619-4A0F-CC03-723C26EF465B}"/>
              </a:ext>
            </a:extLst>
          </p:cNvPr>
          <p:cNvCxnSpPr>
            <a:cxnSpLocks/>
          </p:cNvCxnSpPr>
          <p:nvPr/>
        </p:nvCxnSpPr>
        <p:spPr>
          <a:xfrm flipV="1">
            <a:off x="3687951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CF1D7353-A03D-4CA4-6A29-A83B7EAB6B30}"/>
              </a:ext>
            </a:extLst>
          </p:cNvPr>
          <p:cNvCxnSpPr>
            <a:cxnSpLocks/>
          </p:cNvCxnSpPr>
          <p:nvPr/>
        </p:nvCxnSpPr>
        <p:spPr>
          <a:xfrm flipV="1">
            <a:off x="4268145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51767266-B3DA-D954-36E8-8C352938FAC5}"/>
              </a:ext>
            </a:extLst>
          </p:cNvPr>
          <p:cNvCxnSpPr>
            <a:cxnSpLocks/>
          </p:cNvCxnSpPr>
          <p:nvPr/>
        </p:nvCxnSpPr>
        <p:spPr>
          <a:xfrm flipV="1">
            <a:off x="4848338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83B2216B-64BA-8E11-AA5F-AD51A534DC9E}"/>
              </a:ext>
            </a:extLst>
          </p:cNvPr>
          <p:cNvSpPr/>
          <p:nvPr/>
        </p:nvSpPr>
        <p:spPr>
          <a:xfrm>
            <a:off x="4632739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E09DBE71-A04A-D9F2-4953-3B0F828871A8}"/>
              </a:ext>
            </a:extLst>
          </p:cNvPr>
          <p:cNvCxnSpPr>
            <a:cxnSpLocks/>
          </p:cNvCxnSpPr>
          <p:nvPr/>
        </p:nvCxnSpPr>
        <p:spPr>
          <a:xfrm flipV="1">
            <a:off x="486194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4C4BA6E2-8F1D-AF0D-67F8-605B3948167E}"/>
              </a:ext>
            </a:extLst>
          </p:cNvPr>
          <p:cNvSpPr/>
          <p:nvPr/>
        </p:nvSpPr>
        <p:spPr>
          <a:xfrm>
            <a:off x="112918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FEB73C0D-151A-A4CE-16EF-23E60233DBB8}"/>
              </a:ext>
            </a:extLst>
          </p:cNvPr>
          <p:cNvSpPr/>
          <p:nvPr/>
        </p:nvSpPr>
        <p:spPr>
          <a:xfrm>
            <a:off x="404375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BB60766F-1E60-C09E-B76D-CA57F2D488FD}"/>
              </a:ext>
            </a:extLst>
          </p:cNvPr>
          <p:cNvSpPr/>
          <p:nvPr/>
        </p:nvSpPr>
        <p:spPr>
          <a:xfrm>
            <a:off x="171209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A29333FE-7E68-9F9D-875D-A6B5CFD85021}"/>
              </a:ext>
            </a:extLst>
          </p:cNvPr>
          <p:cNvSpPr/>
          <p:nvPr/>
        </p:nvSpPr>
        <p:spPr>
          <a:xfrm>
            <a:off x="229501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F88E6B07-D145-2025-4AD4-BE2A817FB901}"/>
              </a:ext>
            </a:extLst>
          </p:cNvPr>
          <p:cNvSpPr/>
          <p:nvPr/>
        </p:nvSpPr>
        <p:spPr>
          <a:xfrm>
            <a:off x="287792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EC2A5B88-F2A5-5927-B7C1-C6A7DE1BBC23}"/>
              </a:ext>
            </a:extLst>
          </p:cNvPr>
          <p:cNvSpPr/>
          <p:nvPr/>
        </p:nvSpPr>
        <p:spPr>
          <a:xfrm>
            <a:off x="346084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46D1EB3C-5B83-6869-6723-7AB3B2DA51CC}"/>
              </a:ext>
            </a:extLst>
          </p:cNvPr>
          <p:cNvCxnSpPr>
            <a:cxnSpLocks/>
          </p:cNvCxnSpPr>
          <p:nvPr/>
        </p:nvCxnSpPr>
        <p:spPr>
          <a:xfrm flipV="1">
            <a:off x="136717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1F5C6148-0E02-539B-8A36-8E15975EBF4C}"/>
              </a:ext>
            </a:extLst>
          </p:cNvPr>
          <p:cNvCxnSpPr>
            <a:cxnSpLocks/>
          </p:cNvCxnSpPr>
          <p:nvPr/>
        </p:nvCxnSpPr>
        <p:spPr>
          <a:xfrm flipV="1">
            <a:off x="1947369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F679A9D9-591C-C057-8B90-1D4E5094B601}"/>
              </a:ext>
            </a:extLst>
          </p:cNvPr>
          <p:cNvCxnSpPr>
            <a:cxnSpLocks/>
          </p:cNvCxnSpPr>
          <p:nvPr/>
        </p:nvCxnSpPr>
        <p:spPr>
          <a:xfrm flipV="1">
            <a:off x="2527563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295239C7-2F0E-B90A-3F84-9FD38889F7FA}"/>
              </a:ext>
            </a:extLst>
          </p:cNvPr>
          <p:cNvCxnSpPr>
            <a:cxnSpLocks/>
          </p:cNvCxnSpPr>
          <p:nvPr/>
        </p:nvCxnSpPr>
        <p:spPr>
          <a:xfrm flipV="1">
            <a:off x="3107757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76211BA7-37A1-7E19-6A51-B3854209472F}"/>
              </a:ext>
            </a:extLst>
          </p:cNvPr>
          <p:cNvCxnSpPr>
            <a:cxnSpLocks/>
          </p:cNvCxnSpPr>
          <p:nvPr/>
        </p:nvCxnSpPr>
        <p:spPr>
          <a:xfrm flipV="1">
            <a:off x="3687951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DC0D1BE6-013B-9D49-7FF6-0E7375F55C7D}"/>
              </a:ext>
            </a:extLst>
          </p:cNvPr>
          <p:cNvCxnSpPr>
            <a:cxnSpLocks/>
          </p:cNvCxnSpPr>
          <p:nvPr/>
        </p:nvCxnSpPr>
        <p:spPr>
          <a:xfrm flipV="1">
            <a:off x="426814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11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20EFC-5444-6AB2-4FC5-873C0611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and Cross-entropy (1)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DAF791-CFF8-2020-C906-318AAF7F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/>
              <p:nvPr/>
            </p:nvSpPr>
            <p:spPr>
              <a:xfrm>
                <a:off x="739219" y="2496318"/>
                <a:ext cx="4713427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⁡(</m:t>
                      </m:r>
                      <m:nary>
                        <m:naryPr>
                          <m:chr m:val="∏"/>
                          <m:ctrlPr>
                            <a:rPr lang="zh-TW" altLang="zh-TW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9" y="2496318"/>
                <a:ext cx="4713427" cy="1268552"/>
              </a:xfrm>
              <a:prstGeom prst="rect">
                <a:avLst/>
              </a:prstGeom>
              <a:blipFill>
                <a:blip r:embed="rId2"/>
                <a:stretch>
                  <a:fillRect l="-12366" t="-106931" r="-269" b="-162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5720D097-1B5B-639C-CB67-AE896FBF1E44}"/>
              </a:ext>
            </a:extLst>
          </p:cNvPr>
          <p:cNvCxnSpPr>
            <a:cxnSpLocks/>
          </p:cNvCxnSpPr>
          <p:nvPr/>
        </p:nvCxnSpPr>
        <p:spPr>
          <a:xfrm flipH="1">
            <a:off x="5445026" y="4616328"/>
            <a:ext cx="52438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內容版面配置區 2">
            <a:extLst>
              <a:ext uri="{FF2B5EF4-FFF2-40B4-BE49-F238E27FC236}">
                <a16:creationId xmlns:a16="http://schemas.microsoft.com/office/drawing/2014/main" id="{3997A10C-8705-FBE2-829C-2D256E3636C8}"/>
              </a:ext>
            </a:extLst>
          </p:cNvPr>
          <p:cNvSpPr txBox="1">
            <a:spLocks/>
          </p:cNvSpPr>
          <p:nvPr/>
        </p:nvSpPr>
        <p:spPr>
          <a:xfrm>
            <a:off x="739218" y="1646839"/>
            <a:ext cx="7498002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dirty="0">
                <a:ea typeface="Microsoft JhengHei" panose="020B0604030504040204" pitchFamily="34" charset="-120"/>
                <a:cs typeface="+mn-lt"/>
              </a:rPr>
              <a:t>為了使語言模型能夠以分類的形式被訓練，</a:t>
            </a: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通常會取</a:t>
            </a:r>
            <a:r>
              <a:rPr kumimoji="1" lang="en-US" altLang="zh-TW" sz="2400" b="1" dirty="0">
                <a:ea typeface="Microsoft JhengHei" panose="020B0604030504040204" pitchFamily="34" charset="-120"/>
                <a:cs typeface="+mn-lt"/>
              </a:rPr>
              <a:t>log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F93492-D1CE-6B84-6ECE-31C4695CF094}"/>
                  </a:ext>
                </a:extLst>
              </p:cNvPr>
              <p:cNvSpPr txBox="1"/>
              <p:nvPr/>
            </p:nvSpPr>
            <p:spPr>
              <a:xfrm>
                <a:off x="739219" y="3949021"/>
                <a:ext cx="4713427" cy="1262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F93492-D1CE-6B84-6ECE-31C4695CF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9" y="3949021"/>
                <a:ext cx="4713427" cy="1262140"/>
              </a:xfrm>
              <a:prstGeom prst="rect">
                <a:avLst/>
              </a:prstGeom>
              <a:blipFill>
                <a:blip r:embed="rId3"/>
                <a:stretch>
                  <a:fillRect l="-17473" t="-109000" b="-163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E1423BFA-DAA7-5DF8-183E-651D744A69A9}"/>
              </a:ext>
            </a:extLst>
          </p:cNvPr>
          <p:cNvSpPr txBox="1">
            <a:spLocks/>
          </p:cNvSpPr>
          <p:nvPr/>
        </p:nvSpPr>
        <p:spPr>
          <a:xfrm>
            <a:off x="6117634" y="4206828"/>
            <a:ext cx="4894580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加上負號之後就是</a:t>
            </a:r>
            <a:r>
              <a:rPr kumimoji="1" lang="en-US" altLang="zh-TW" sz="2400" b="1" dirty="0">
                <a:ea typeface="Microsoft JhengHei" panose="020B0604030504040204" pitchFamily="34" charset="-120"/>
                <a:cs typeface="+mn-lt"/>
              </a:rPr>
              <a:t> Cross-entropy</a:t>
            </a:r>
            <a:endParaRPr kumimoji="1"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8663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8" grpId="0"/>
      <p:bldP spid="7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20EFC-5444-6AB2-4FC5-873C0611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訓練模型最大化每個時間點的機率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C266E7-8C96-D72A-C97B-6DD841961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489722"/>
            <a:ext cx="10918371" cy="523220"/>
          </a:xfrm>
        </p:spPr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模型如何進行預先訓練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(pre-training)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DAF791-CFF8-2020-C906-318AAF7F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8C5ADD0-74A0-B2E3-B730-FD1574E152CB}"/>
                  </a:ext>
                </a:extLst>
              </p:cNvPr>
              <p:cNvSpPr txBox="1"/>
              <p:nvPr/>
            </p:nvSpPr>
            <p:spPr>
              <a:xfrm>
                <a:off x="653143" y="2110457"/>
                <a:ext cx="34622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8C5ADD0-74A0-B2E3-B730-FD1574E15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2110457"/>
                <a:ext cx="3462292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F14336D-83DC-A905-F876-9A3E5FDBAE8E}"/>
              </a:ext>
            </a:extLst>
          </p:cNvPr>
          <p:cNvSpPr txBox="1">
            <a:spLocks/>
          </p:cNvSpPr>
          <p:nvPr/>
        </p:nvSpPr>
        <p:spPr>
          <a:xfrm>
            <a:off x="5349207" y="2110457"/>
            <a:ext cx="3236628" cy="52322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  <a:cs typeface="+mn-lt"/>
              </a:rPr>
              <a:t> Next-token prediction</a:t>
            </a:r>
            <a:endParaRPr kumimoji="1" lang="zh-TW" altLang="en-US" sz="24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F0BA14F9-E598-C667-DADA-D04B774C0E25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4115435" y="2372067"/>
            <a:ext cx="1233772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/>
              <p:nvPr/>
            </p:nvSpPr>
            <p:spPr>
              <a:xfrm>
                <a:off x="5413553" y="4545323"/>
                <a:ext cx="4295405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TW" altLang="zh-TW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553" y="4545323"/>
                <a:ext cx="4295405" cy="1268552"/>
              </a:xfrm>
              <a:prstGeom prst="rect">
                <a:avLst/>
              </a:prstGeom>
              <a:blipFill>
                <a:blip r:embed="rId4"/>
                <a:stretch>
                  <a:fillRect l="-23894" t="-108000" b="-16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圓角矩形 52">
            <a:extLst>
              <a:ext uri="{FF2B5EF4-FFF2-40B4-BE49-F238E27FC236}">
                <a16:creationId xmlns:a16="http://schemas.microsoft.com/office/drawing/2014/main" id="{E56B081F-94D2-3D44-AEF7-145771883E0A}"/>
              </a:ext>
            </a:extLst>
          </p:cNvPr>
          <p:cNvSpPr/>
          <p:nvPr/>
        </p:nvSpPr>
        <p:spPr>
          <a:xfrm>
            <a:off x="1008995" y="4095499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Language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2AD5746E-79B9-5EC8-5A1A-42B5950F4FB0}"/>
              </a:ext>
            </a:extLst>
          </p:cNvPr>
          <p:cNvSpPr/>
          <p:nvPr/>
        </p:nvSpPr>
        <p:spPr>
          <a:xfrm>
            <a:off x="1090726" y="5410117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849165CB-B39B-4A35-B189-73AD09AFA6F4}"/>
              </a:ext>
            </a:extLst>
          </p:cNvPr>
          <p:cNvSpPr/>
          <p:nvPr/>
        </p:nvSpPr>
        <p:spPr>
          <a:xfrm>
            <a:off x="4005301" y="5410117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04D28F7A-BB87-E420-B4A6-87EFAE58B573}"/>
              </a:ext>
            </a:extLst>
          </p:cNvPr>
          <p:cNvSpPr/>
          <p:nvPr/>
        </p:nvSpPr>
        <p:spPr>
          <a:xfrm>
            <a:off x="4588218" y="5410117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E0A05F72-2010-0A18-AFF5-AC3392353FC2}"/>
              </a:ext>
            </a:extLst>
          </p:cNvPr>
          <p:cNvSpPr/>
          <p:nvPr/>
        </p:nvSpPr>
        <p:spPr>
          <a:xfrm>
            <a:off x="1673641" y="5410117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E82AF96C-EBF2-D5AB-042A-BE3BEAB30F97}"/>
              </a:ext>
            </a:extLst>
          </p:cNvPr>
          <p:cNvSpPr/>
          <p:nvPr/>
        </p:nvSpPr>
        <p:spPr>
          <a:xfrm>
            <a:off x="2256556" y="5410117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9" name="圓角矩形 58">
            <a:extLst>
              <a:ext uri="{FF2B5EF4-FFF2-40B4-BE49-F238E27FC236}">
                <a16:creationId xmlns:a16="http://schemas.microsoft.com/office/drawing/2014/main" id="{E8D812A7-35BC-59E9-6233-BFBBF2ED6EF1}"/>
              </a:ext>
            </a:extLst>
          </p:cNvPr>
          <p:cNvSpPr/>
          <p:nvPr/>
        </p:nvSpPr>
        <p:spPr>
          <a:xfrm>
            <a:off x="2839471" y="5410117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E71E0BBC-F3F9-9B35-A02F-D6904A072013}"/>
              </a:ext>
            </a:extLst>
          </p:cNvPr>
          <p:cNvSpPr/>
          <p:nvPr/>
        </p:nvSpPr>
        <p:spPr>
          <a:xfrm>
            <a:off x="3422386" y="5410117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556BF7F5-E500-D813-7FF7-4EFCAB97C5E3}"/>
              </a:ext>
            </a:extLst>
          </p:cNvPr>
          <p:cNvCxnSpPr>
            <a:cxnSpLocks/>
          </p:cNvCxnSpPr>
          <p:nvPr/>
        </p:nvCxnSpPr>
        <p:spPr>
          <a:xfrm flipV="1">
            <a:off x="1322654" y="509865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FD6FD892-97D8-8EE6-71A3-A157EBD96579}"/>
              </a:ext>
            </a:extLst>
          </p:cNvPr>
          <p:cNvCxnSpPr>
            <a:cxnSpLocks/>
          </p:cNvCxnSpPr>
          <p:nvPr/>
        </p:nvCxnSpPr>
        <p:spPr>
          <a:xfrm flipV="1">
            <a:off x="1902848" y="509865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2CD4A9B7-D7FE-006C-23CC-CFF1E26DFB64}"/>
              </a:ext>
            </a:extLst>
          </p:cNvPr>
          <p:cNvCxnSpPr>
            <a:cxnSpLocks/>
          </p:cNvCxnSpPr>
          <p:nvPr/>
        </p:nvCxnSpPr>
        <p:spPr>
          <a:xfrm flipV="1">
            <a:off x="2483042" y="509865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38F6DEDC-905F-25F0-F182-8E0D496CA00A}"/>
              </a:ext>
            </a:extLst>
          </p:cNvPr>
          <p:cNvCxnSpPr>
            <a:cxnSpLocks/>
          </p:cNvCxnSpPr>
          <p:nvPr/>
        </p:nvCxnSpPr>
        <p:spPr>
          <a:xfrm flipV="1">
            <a:off x="3063236" y="509865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箭頭接點 64">
            <a:extLst>
              <a:ext uri="{FF2B5EF4-FFF2-40B4-BE49-F238E27FC236}">
                <a16:creationId xmlns:a16="http://schemas.microsoft.com/office/drawing/2014/main" id="{3D815DC0-BB63-272B-AA96-09D34C71DE3D}"/>
              </a:ext>
            </a:extLst>
          </p:cNvPr>
          <p:cNvCxnSpPr>
            <a:cxnSpLocks/>
          </p:cNvCxnSpPr>
          <p:nvPr/>
        </p:nvCxnSpPr>
        <p:spPr>
          <a:xfrm flipV="1">
            <a:off x="3643430" y="509865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70225065-1F78-FF9F-4C28-6FCED4B9E399}"/>
              </a:ext>
            </a:extLst>
          </p:cNvPr>
          <p:cNvCxnSpPr>
            <a:cxnSpLocks/>
          </p:cNvCxnSpPr>
          <p:nvPr/>
        </p:nvCxnSpPr>
        <p:spPr>
          <a:xfrm flipV="1">
            <a:off x="4223624" y="509865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955ACEB5-1C85-0E86-2524-AB0F52D9EA43}"/>
              </a:ext>
            </a:extLst>
          </p:cNvPr>
          <p:cNvCxnSpPr>
            <a:cxnSpLocks/>
          </p:cNvCxnSpPr>
          <p:nvPr/>
        </p:nvCxnSpPr>
        <p:spPr>
          <a:xfrm flipV="1">
            <a:off x="4803817" y="509865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31AE56F-4DF3-4AD7-786F-E2213B06A924}"/>
              </a:ext>
            </a:extLst>
          </p:cNvPr>
          <p:cNvCxnSpPr>
            <a:cxnSpLocks/>
          </p:cNvCxnSpPr>
          <p:nvPr/>
        </p:nvCxnSpPr>
        <p:spPr>
          <a:xfrm flipV="1">
            <a:off x="1322654" y="3791029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圓角矩形 68">
            <a:extLst>
              <a:ext uri="{FF2B5EF4-FFF2-40B4-BE49-F238E27FC236}">
                <a16:creationId xmlns:a16="http://schemas.microsoft.com/office/drawing/2014/main" id="{0E92661B-C188-9EC9-B913-1F48F8DA8429}"/>
              </a:ext>
            </a:extLst>
          </p:cNvPr>
          <p:cNvSpPr/>
          <p:nvPr/>
        </p:nvSpPr>
        <p:spPr>
          <a:xfrm>
            <a:off x="1090726" y="33644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0" name="圓角矩形 69">
            <a:extLst>
              <a:ext uri="{FF2B5EF4-FFF2-40B4-BE49-F238E27FC236}">
                <a16:creationId xmlns:a16="http://schemas.microsoft.com/office/drawing/2014/main" id="{29AF26AF-3DC4-E24D-233C-C7A4FB5621EC}"/>
              </a:ext>
            </a:extLst>
          </p:cNvPr>
          <p:cNvSpPr/>
          <p:nvPr/>
        </p:nvSpPr>
        <p:spPr>
          <a:xfrm>
            <a:off x="1090726" y="6214016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1" name="內容版面配置區 2">
            <a:extLst>
              <a:ext uri="{FF2B5EF4-FFF2-40B4-BE49-F238E27FC236}">
                <a16:creationId xmlns:a16="http://schemas.microsoft.com/office/drawing/2014/main" id="{0040D001-58C5-5A13-A865-799BECABAD6F}"/>
              </a:ext>
            </a:extLst>
          </p:cNvPr>
          <p:cNvSpPr txBox="1">
            <a:spLocks/>
          </p:cNvSpPr>
          <p:nvPr/>
        </p:nvSpPr>
        <p:spPr>
          <a:xfrm>
            <a:off x="1666103" y="6259597"/>
            <a:ext cx="3734811" cy="331176"/>
          </a:xfrm>
          <a:prstGeom prst="rect">
            <a:avLst/>
          </a:prstGeom>
        </p:spPr>
        <p:txBody>
          <a:bodyPr vert="horz" lIns="0" tIns="45720" rIns="0" bIns="45720" rtlCol="0" anchor="t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lang="en-US" altLang="zh-TW" sz="1800" dirty="0">
                <a:ea typeface="新細明體" panose="02020500000000000000" pitchFamily="18" charset="-120"/>
                <a:cs typeface="+mn-lt"/>
              </a:rPr>
              <a:t>Self-attention 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n-lt"/>
              </a:rPr>
              <a:t>不可及的範圍</a:t>
            </a:r>
            <a:endParaRPr lang="en-US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1E75FE5-D583-EC56-31A3-971EFDFD13C4}"/>
                  </a:ext>
                </a:extLst>
              </p:cNvPr>
              <p:cNvSpPr txBox="1"/>
              <p:nvPr/>
            </p:nvSpPr>
            <p:spPr>
              <a:xfrm>
                <a:off x="683564" y="2905567"/>
                <a:ext cx="1278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 </m:t>
                      </m:r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1E75FE5-D583-EC56-31A3-971EFDFD1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4" y="2905567"/>
                <a:ext cx="127818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圓角矩形 72">
            <a:extLst>
              <a:ext uri="{FF2B5EF4-FFF2-40B4-BE49-F238E27FC236}">
                <a16:creationId xmlns:a16="http://schemas.microsoft.com/office/drawing/2014/main" id="{9CED9391-FE04-72A7-D6D4-53AB83C3BEEB}"/>
              </a:ext>
            </a:extLst>
          </p:cNvPr>
          <p:cNvSpPr/>
          <p:nvPr/>
        </p:nvSpPr>
        <p:spPr>
          <a:xfrm>
            <a:off x="1673639" y="541011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6F143B5D-ACE6-12E7-A6D9-787589415032}"/>
              </a:ext>
            </a:extLst>
          </p:cNvPr>
          <p:cNvCxnSpPr>
            <a:cxnSpLocks/>
          </p:cNvCxnSpPr>
          <p:nvPr/>
        </p:nvCxnSpPr>
        <p:spPr>
          <a:xfrm flipV="1">
            <a:off x="1893471" y="3791029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>
            <a:extLst>
              <a:ext uri="{FF2B5EF4-FFF2-40B4-BE49-F238E27FC236}">
                <a16:creationId xmlns:a16="http://schemas.microsoft.com/office/drawing/2014/main" id="{14DE862D-D50D-A681-2164-B5ED8C85E464}"/>
              </a:ext>
            </a:extLst>
          </p:cNvPr>
          <p:cNvSpPr/>
          <p:nvPr/>
        </p:nvSpPr>
        <p:spPr>
          <a:xfrm>
            <a:off x="1674571" y="33644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BD29828-76DF-C37D-2E67-B1AF885CF2EF}"/>
                  </a:ext>
                </a:extLst>
              </p:cNvPr>
              <p:cNvSpPr txBox="1"/>
              <p:nvPr/>
            </p:nvSpPr>
            <p:spPr>
              <a:xfrm>
                <a:off x="1685372" y="2905566"/>
                <a:ext cx="14728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BD29828-76DF-C37D-2E67-B1AF885CF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372" y="2905566"/>
                <a:ext cx="1472889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圓角矩形 76">
            <a:extLst>
              <a:ext uri="{FF2B5EF4-FFF2-40B4-BE49-F238E27FC236}">
                <a16:creationId xmlns:a16="http://schemas.microsoft.com/office/drawing/2014/main" id="{FF9E136E-A7C5-ADE1-0C73-456E9CDFE916}"/>
              </a:ext>
            </a:extLst>
          </p:cNvPr>
          <p:cNvSpPr/>
          <p:nvPr/>
        </p:nvSpPr>
        <p:spPr>
          <a:xfrm>
            <a:off x="2256556" y="541011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8" name="圓角矩形 77">
            <a:extLst>
              <a:ext uri="{FF2B5EF4-FFF2-40B4-BE49-F238E27FC236}">
                <a16:creationId xmlns:a16="http://schemas.microsoft.com/office/drawing/2014/main" id="{952DD999-E7EC-AD11-474F-B8C47BC90016}"/>
              </a:ext>
            </a:extLst>
          </p:cNvPr>
          <p:cNvSpPr/>
          <p:nvPr/>
        </p:nvSpPr>
        <p:spPr>
          <a:xfrm>
            <a:off x="2838846" y="54101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9" name="圓角矩形 78">
            <a:extLst>
              <a:ext uri="{FF2B5EF4-FFF2-40B4-BE49-F238E27FC236}">
                <a16:creationId xmlns:a16="http://schemas.microsoft.com/office/drawing/2014/main" id="{B605CB7C-E6AE-0CAF-13C5-00670FDB2978}"/>
              </a:ext>
            </a:extLst>
          </p:cNvPr>
          <p:cNvSpPr/>
          <p:nvPr/>
        </p:nvSpPr>
        <p:spPr>
          <a:xfrm>
            <a:off x="3422384" y="541011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0" name="圓角矩形 79">
            <a:extLst>
              <a:ext uri="{FF2B5EF4-FFF2-40B4-BE49-F238E27FC236}">
                <a16:creationId xmlns:a16="http://schemas.microsoft.com/office/drawing/2014/main" id="{25DDC4EA-9043-2978-C576-33ADFFE2D3E8}"/>
              </a:ext>
            </a:extLst>
          </p:cNvPr>
          <p:cNvSpPr/>
          <p:nvPr/>
        </p:nvSpPr>
        <p:spPr>
          <a:xfrm>
            <a:off x="4005301" y="5410113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1" name="圓角矩形 80">
            <a:extLst>
              <a:ext uri="{FF2B5EF4-FFF2-40B4-BE49-F238E27FC236}">
                <a16:creationId xmlns:a16="http://schemas.microsoft.com/office/drawing/2014/main" id="{98069929-4DEE-2C40-3A84-7E509EC69AE2}"/>
              </a:ext>
            </a:extLst>
          </p:cNvPr>
          <p:cNvSpPr/>
          <p:nvPr/>
        </p:nvSpPr>
        <p:spPr>
          <a:xfrm>
            <a:off x="4588218" y="541011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2" name="圓角矩形 81">
            <a:extLst>
              <a:ext uri="{FF2B5EF4-FFF2-40B4-BE49-F238E27FC236}">
                <a16:creationId xmlns:a16="http://schemas.microsoft.com/office/drawing/2014/main" id="{A4246D34-2A8F-D0B3-6834-6545334F2639}"/>
              </a:ext>
            </a:extLst>
          </p:cNvPr>
          <p:cNvSpPr/>
          <p:nvPr/>
        </p:nvSpPr>
        <p:spPr>
          <a:xfrm>
            <a:off x="2255308" y="33644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3" name="圓角矩形 82">
            <a:extLst>
              <a:ext uri="{FF2B5EF4-FFF2-40B4-BE49-F238E27FC236}">
                <a16:creationId xmlns:a16="http://schemas.microsoft.com/office/drawing/2014/main" id="{22454C6F-BDE4-5EA8-63BA-32323A48E083}"/>
              </a:ext>
            </a:extLst>
          </p:cNvPr>
          <p:cNvSpPr/>
          <p:nvPr/>
        </p:nvSpPr>
        <p:spPr>
          <a:xfrm>
            <a:off x="2838846" y="33644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4" name="圓角矩形 83">
            <a:extLst>
              <a:ext uri="{FF2B5EF4-FFF2-40B4-BE49-F238E27FC236}">
                <a16:creationId xmlns:a16="http://schemas.microsoft.com/office/drawing/2014/main" id="{C454FCB8-917B-4EE3-9D38-FE0379C871F1}"/>
              </a:ext>
            </a:extLst>
          </p:cNvPr>
          <p:cNvSpPr/>
          <p:nvPr/>
        </p:nvSpPr>
        <p:spPr>
          <a:xfrm>
            <a:off x="3421763" y="33644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5" name="圓角矩形 84">
            <a:extLst>
              <a:ext uri="{FF2B5EF4-FFF2-40B4-BE49-F238E27FC236}">
                <a16:creationId xmlns:a16="http://schemas.microsoft.com/office/drawing/2014/main" id="{5CBF80E2-B535-E860-7610-68FE567E8B14}"/>
              </a:ext>
            </a:extLst>
          </p:cNvPr>
          <p:cNvSpPr/>
          <p:nvPr/>
        </p:nvSpPr>
        <p:spPr>
          <a:xfrm>
            <a:off x="4004680" y="33644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6" name="圓角矩形 85">
            <a:extLst>
              <a:ext uri="{FF2B5EF4-FFF2-40B4-BE49-F238E27FC236}">
                <a16:creationId xmlns:a16="http://schemas.microsoft.com/office/drawing/2014/main" id="{09F4531D-C74B-8FD2-1A18-05B0B52CEC4C}"/>
              </a:ext>
            </a:extLst>
          </p:cNvPr>
          <p:cNvSpPr/>
          <p:nvPr/>
        </p:nvSpPr>
        <p:spPr>
          <a:xfrm>
            <a:off x="4579427" y="33644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7" name="直線箭頭接點 86">
            <a:extLst>
              <a:ext uri="{FF2B5EF4-FFF2-40B4-BE49-F238E27FC236}">
                <a16:creationId xmlns:a16="http://schemas.microsoft.com/office/drawing/2014/main" id="{16DDA635-18C5-E473-8AB5-387CA224E482}"/>
              </a:ext>
            </a:extLst>
          </p:cNvPr>
          <p:cNvCxnSpPr>
            <a:cxnSpLocks/>
          </p:cNvCxnSpPr>
          <p:nvPr/>
        </p:nvCxnSpPr>
        <p:spPr>
          <a:xfrm flipV="1">
            <a:off x="2483042" y="3791029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箭頭接點 87">
            <a:extLst>
              <a:ext uri="{FF2B5EF4-FFF2-40B4-BE49-F238E27FC236}">
                <a16:creationId xmlns:a16="http://schemas.microsoft.com/office/drawing/2014/main" id="{82799154-4C2E-FC22-3319-D26D3CDF2D68}"/>
              </a:ext>
            </a:extLst>
          </p:cNvPr>
          <p:cNvCxnSpPr>
            <a:cxnSpLocks/>
          </p:cNvCxnSpPr>
          <p:nvPr/>
        </p:nvCxnSpPr>
        <p:spPr>
          <a:xfrm flipV="1">
            <a:off x="3063236" y="3791029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2FA96EF0-C3F2-247C-225E-81049202E10D}"/>
              </a:ext>
            </a:extLst>
          </p:cNvPr>
          <p:cNvCxnSpPr>
            <a:cxnSpLocks/>
          </p:cNvCxnSpPr>
          <p:nvPr/>
        </p:nvCxnSpPr>
        <p:spPr>
          <a:xfrm flipV="1">
            <a:off x="3643430" y="3791029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8EE1F8A5-8E8F-28C6-68B7-BFFF8A8AF15F}"/>
              </a:ext>
            </a:extLst>
          </p:cNvPr>
          <p:cNvCxnSpPr>
            <a:cxnSpLocks/>
          </p:cNvCxnSpPr>
          <p:nvPr/>
        </p:nvCxnSpPr>
        <p:spPr>
          <a:xfrm flipV="1">
            <a:off x="4223624" y="3791029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箭頭接點 90">
            <a:extLst>
              <a:ext uri="{FF2B5EF4-FFF2-40B4-BE49-F238E27FC236}">
                <a16:creationId xmlns:a16="http://schemas.microsoft.com/office/drawing/2014/main" id="{1E11C61A-444F-4842-1CEB-2B1EE08075B4}"/>
              </a:ext>
            </a:extLst>
          </p:cNvPr>
          <p:cNvCxnSpPr>
            <a:cxnSpLocks/>
          </p:cNvCxnSpPr>
          <p:nvPr/>
        </p:nvCxnSpPr>
        <p:spPr>
          <a:xfrm flipV="1">
            <a:off x="4803817" y="3791029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25954B22-0429-C987-DAD1-A834876404E3}"/>
                  </a:ext>
                </a:extLst>
              </p:cNvPr>
              <p:cNvSpPr txBox="1"/>
              <p:nvPr/>
            </p:nvSpPr>
            <p:spPr>
              <a:xfrm>
                <a:off x="4142626" y="2905566"/>
                <a:ext cx="14728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25954B22-0429-C987-DAD1-A83487640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626" y="2905566"/>
                <a:ext cx="1472889" cy="369332"/>
              </a:xfrm>
              <a:prstGeom prst="rect">
                <a:avLst/>
              </a:prstGeom>
              <a:blipFill>
                <a:blip r:embed="rId7"/>
                <a:stretch>
                  <a:fillRect r="-98291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08102A85-73E7-79C7-0BC6-92C2064B442C}"/>
                  </a:ext>
                </a:extLst>
              </p:cNvPr>
              <p:cNvSpPr txBox="1"/>
              <p:nvPr/>
            </p:nvSpPr>
            <p:spPr>
              <a:xfrm>
                <a:off x="3204189" y="2916564"/>
                <a:ext cx="8018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⋅⋅⋅</m:t>
                      </m:r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08102A85-73E7-79C7-0BC6-92C2064B4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189" y="2916564"/>
                <a:ext cx="80185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內容版面配置區 2">
            <a:extLst>
              <a:ext uri="{FF2B5EF4-FFF2-40B4-BE49-F238E27FC236}">
                <a16:creationId xmlns:a16="http://schemas.microsoft.com/office/drawing/2014/main" id="{40440265-CFFB-E8B4-A5D9-3D7A3B779179}"/>
              </a:ext>
            </a:extLst>
          </p:cNvPr>
          <p:cNvSpPr txBox="1">
            <a:spLocks/>
          </p:cNvSpPr>
          <p:nvPr/>
        </p:nvSpPr>
        <p:spPr>
          <a:xfrm>
            <a:off x="10004744" y="4777082"/>
            <a:ext cx="1600558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  <a:cs typeface="+mn-lt"/>
              </a:rPr>
              <a:t>Language Modeling</a:t>
            </a:r>
            <a:endParaRPr kumimoji="1" lang="zh-TW" altLang="en-US" sz="2400" dirty="0"/>
          </a:p>
        </p:txBody>
      </p:sp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5720D097-1B5B-639C-CB67-AE896FBF1E44}"/>
              </a:ext>
            </a:extLst>
          </p:cNvPr>
          <p:cNvCxnSpPr>
            <a:cxnSpLocks/>
          </p:cNvCxnSpPr>
          <p:nvPr/>
        </p:nvCxnSpPr>
        <p:spPr>
          <a:xfrm flipH="1">
            <a:off x="9480358" y="5201822"/>
            <a:ext cx="52438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內容版面配置區 2">
            <a:extLst>
              <a:ext uri="{FF2B5EF4-FFF2-40B4-BE49-F238E27FC236}">
                <a16:creationId xmlns:a16="http://schemas.microsoft.com/office/drawing/2014/main" id="{3997A10C-8705-FBE2-829C-2D256E3636C8}"/>
              </a:ext>
            </a:extLst>
          </p:cNvPr>
          <p:cNvSpPr txBox="1">
            <a:spLocks/>
          </p:cNvSpPr>
          <p:nvPr/>
        </p:nvSpPr>
        <p:spPr>
          <a:xfrm>
            <a:off x="5608399" y="3772819"/>
            <a:ext cx="1600558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目標函數：</a:t>
            </a:r>
            <a:endParaRPr kumimoji="1" lang="zh-TW" altLang="en-US" sz="2400" b="1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8EE7D2C-4D21-B825-4071-8871FD6B408E}"/>
              </a:ext>
            </a:extLst>
          </p:cNvPr>
          <p:cNvSpPr txBox="1">
            <a:spLocks/>
          </p:cNvSpPr>
          <p:nvPr/>
        </p:nvSpPr>
        <p:spPr>
          <a:xfrm>
            <a:off x="5584306" y="5736900"/>
            <a:ext cx="4320722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  <a:cs typeface="+mn-lt"/>
              </a:rPr>
              <a:t>= Generative Pre-training (GPT)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6601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73" grpId="0" animBg="1"/>
      <p:bldP spid="75" grpId="0" animBg="1"/>
      <p:bldP spid="76" grpId="0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92" grpId="0"/>
      <p:bldP spid="93" grpId="0"/>
      <p:bldP spid="94" grpId="0"/>
      <p:bldP spid="98" grpId="0"/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761485-2411-8B51-3EAF-FB260B39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BDFD992-EE9B-CF47-1F33-3C8A5E803DCF}"/>
              </a:ext>
            </a:extLst>
          </p:cNvPr>
          <p:cNvSpPr txBox="1"/>
          <p:nvPr/>
        </p:nvSpPr>
        <p:spPr>
          <a:xfrm>
            <a:off x="5387735" y="2705453"/>
            <a:ext cx="172665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CGU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I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love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hate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like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E4B2C0-E952-28BB-43AD-4AF71E36A6A7}"/>
              </a:ext>
            </a:extLst>
          </p:cNvPr>
          <p:cNvSpPr txBox="1"/>
          <p:nvPr/>
        </p:nvSpPr>
        <p:spPr>
          <a:xfrm>
            <a:off x="5225184" y="2274496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Token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92E2BA-E5A3-6D18-67DE-7FED3D7A6188}"/>
              </a:ext>
            </a:extLst>
          </p:cNvPr>
          <p:cNvSpPr txBox="1"/>
          <p:nvPr/>
        </p:nvSpPr>
        <p:spPr>
          <a:xfrm>
            <a:off x="6415493" y="2275339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Logits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743197-8878-762F-10B4-CFFF9CD39611}"/>
              </a:ext>
            </a:extLst>
          </p:cNvPr>
          <p:cNvSpPr txBox="1"/>
          <p:nvPr/>
        </p:nvSpPr>
        <p:spPr>
          <a:xfrm>
            <a:off x="3777816" y="3254186"/>
            <a:ext cx="12963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Example</a:t>
            </a:r>
          </a:p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Vocab</a:t>
            </a:r>
          </a:p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假設只有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個字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A9B04ED-8AED-AF03-3644-47CD75ABA4D8}"/>
              </a:ext>
            </a:extLst>
          </p:cNvPr>
          <p:cNvSpPr txBox="1"/>
          <p:nvPr/>
        </p:nvSpPr>
        <p:spPr>
          <a:xfrm>
            <a:off x="7563400" y="2736161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0.78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0.11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0.03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0.02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0.06</a:t>
            </a:r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86B0476A-0ABE-50C3-447B-72A2519D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and Cross-entropy (2)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AFCADAD-B29A-3DDF-772F-9FCC70A7124A}"/>
              </a:ext>
            </a:extLst>
          </p:cNvPr>
          <p:cNvSpPr txBox="1"/>
          <p:nvPr/>
        </p:nvSpPr>
        <p:spPr>
          <a:xfrm>
            <a:off x="7460792" y="2263839"/>
            <a:ext cx="1406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 </a:t>
            </a:r>
            <a:r>
              <a:rPr kumimoji="1" lang="en-US" altLang="zh-TW" dirty="0" err="1"/>
              <a:t>Softmax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後之機率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0CA918D-83CC-97FE-148A-5B38D4CE4A86}"/>
              </a:ext>
            </a:extLst>
          </p:cNvPr>
          <p:cNvSpPr txBox="1"/>
          <p:nvPr/>
        </p:nvSpPr>
        <p:spPr>
          <a:xfrm>
            <a:off x="8665229" y="2336121"/>
            <a:ext cx="140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正確答案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796932E-DA86-A834-22A2-F18A1200C0B1}"/>
              </a:ext>
            </a:extLst>
          </p:cNvPr>
          <p:cNvSpPr txBox="1"/>
          <p:nvPr/>
        </p:nvSpPr>
        <p:spPr>
          <a:xfrm>
            <a:off x="713500" y="1994652"/>
            <a:ext cx="3133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dirty="0">
                <a:ea typeface="Microsoft JhengHei" panose="020B0604030504040204" pitchFamily="34" charset="-120"/>
              </a:rPr>
              <a:t> 在</a:t>
            </a:r>
            <a:r>
              <a:rPr kumimoji="1" lang="en-US" altLang="zh-TW" dirty="0">
                <a:ea typeface="Microsoft JhengHei" panose="020B0604030504040204" pitchFamily="34" charset="-120"/>
              </a:rPr>
              <a:t> t </a:t>
            </a:r>
            <a:r>
              <a:rPr kumimoji="1" lang="zh-TW" altLang="en-US" dirty="0">
                <a:ea typeface="Microsoft JhengHei" panose="020B0604030504040204" pitchFamily="34" charset="-120"/>
              </a:rPr>
              <a:t>時間點的正確答案是 </a:t>
            </a:r>
            <a:r>
              <a:rPr kumimoji="1" lang="en-US" altLang="zh-TW" dirty="0">
                <a:ea typeface="Microsoft JhengHei" panose="020B0604030504040204" pitchFamily="34" charset="-120"/>
              </a:rPr>
              <a:t>t+1</a:t>
            </a:r>
            <a:r>
              <a:rPr kumimoji="1" lang="zh-TW" altLang="en-US" dirty="0">
                <a:ea typeface="Microsoft JhengHei" panose="020B0604030504040204" pitchFamily="34" charset="-120"/>
              </a:rPr>
              <a:t> 的字詞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D7E8F12-4FAA-5840-CBE1-E7818E26BEE0}"/>
              </a:ext>
            </a:extLst>
          </p:cNvPr>
          <p:cNvSpPr txBox="1"/>
          <p:nvPr/>
        </p:nvSpPr>
        <p:spPr>
          <a:xfrm>
            <a:off x="1318875" y="3144752"/>
            <a:ext cx="172665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I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love </a:t>
            </a:r>
            <a:r>
              <a:rPr kumimoji="1" lang="en-US" altLang="zh-TW" sz="2400" dirty="0">
                <a:solidFill>
                  <a:schemeClr val="bg1">
                    <a:lumMod val="75000"/>
                  </a:schemeClr>
                </a:solidFill>
                <a:ea typeface="Microsoft JhengHei" panose="020B0604030504040204" pitchFamily="34" charset="-120"/>
              </a:rPr>
              <a:t>CGU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09D7DF4-B675-533A-657A-001DDECC3B07}"/>
              </a:ext>
            </a:extLst>
          </p:cNvPr>
          <p:cNvSpPr txBox="1"/>
          <p:nvPr/>
        </p:nvSpPr>
        <p:spPr>
          <a:xfrm>
            <a:off x="1667528" y="3689641"/>
            <a:ext cx="33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270F0F5-B102-51A9-70CB-7EE46B4E2C88}"/>
              </a:ext>
            </a:extLst>
          </p:cNvPr>
          <p:cNvSpPr txBox="1"/>
          <p:nvPr/>
        </p:nvSpPr>
        <p:spPr>
          <a:xfrm>
            <a:off x="2182200" y="3689641"/>
            <a:ext cx="59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t+1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ED41630-608F-C98E-E884-FCDFBA35889F}"/>
              </a:ext>
            </a:extLst>
          </p:cNvPr>
          <p:cNvSpPr txBox="1"/>
          <p:nvPr/>
        </p:nvSpPr>
        <p:spPr>
          <a:xfrm>
            <a:off x="6360759" y="2718047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0.0011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0.0012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0.0013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0.0014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0.0015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368F85E-C0C3-1861-8E3A-112234521778}"/>
              </a:ext>
            </a:extLst>
          </p:cNvPr>
          <p:cNvSpPr txBox="1"/>
          <p:nvPr/>
        </p:nvSpPr>
        <p:spPr>
          <a:xfrm>
            <a:off x="8704649" y="2736160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B916830-494D-4054-555A-596CE8689BB5}"/>
              </a:ext>
            </a:extLst>
          </p:cNvPr>
          <p:cNvSpPr txBox="1"/>
          <p:nvPr/>
        </p:nvSpPr>
        <p:spPr>
          <a:xfrm>
            <a:off x="10349263" y="3866896"/>
            <a:ext cx="1063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Cross-entropy</a:t>
            </a:r>
            <a:endParaRPr kumimoji="1" lang="zh-TW" altLang="en-US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向右箭號 27">
            <a:extLst>
              <a:ext uri="{FF2B5EF4-FFF2-40B4-BE49-F238E27FC236}">
                <a16:creationId xmlns:a16="http://schemas.microsoft.com/office/drawing/2014/main" id="{1030D4C7-9CEA-7CCB-3917-A565B274C52E}"/>
              </a:ext>
            </a:extLst>
          </p:cNvPr>
          <p:cNvSpPr/>
          <p:nvPr/>
        </p:nvSpPr>
        <p:spPr>
          <a:xfrm>
            <a:off x="9894518" y="4031233"/>
            <a:ext cx="322729" cy="3176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2D88778-0630-B29A-55F4-4C0CE10B6443}"/>
                  </a:ext>
                </a:extLst>
              </p:cNvPr>
              <p:cNvSpPr txBox="1"/>
              <p:nvPr/>
            </p:nvSpPr>
            <p:spPr>
              <a:xfrm>
                <a:off x="5616337" y="6371879"/>
                <a:ext cx="57111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sz="2000" dirty="0">
                    <a:solidFill>
                      <a:schemeClr val="tx1"/>
                    </a:solidFill>
                  </a:rPr>
                  <a:t>Cross-entropy: </a:t>
                </a:r>
                <a14:m>
                  <m:oMath xmlns:m="http://schemas.openxmlformats.org/officeDocument/2006/math">
                    <m:r>
                      <a:rPr lang="zh-TW" alt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zh-TW" sz="20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TW" alt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zh-TW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2D88778-0630-B29A-55F4-4C0CE10B6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337" y="6371879"/>
                <a:ext cx="5711135" cy="400110"/>
              </a:xfrm>
              <a:prstGeom prst="rect">
                <a:avLst/>
              </a:prstGeom>
              <a:blipFill>
                <a:blip r:embed="rId3"/>
                <a:stretch>
                  <a:fillRect l="-1111"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882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6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C202FB-6BC0-34FB-D56F-AEAF4FC1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常見</a:t>
            </a:r>
            <a:r>
              <a:rPr kumimoji="1" lang="en-US" altLang="zh-TW" dirty="0"/>
              <a:t> Language Models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69D133-9077-1833-8D05-85102054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文字方塊 2">
            <a:extLst>
              <a:ext uri="{FF2B5EF4-FFF2-40B4-BE49-F238E27FC236}">
                <a16:creationId xmlns:a16="http://schemas.microsoft.com/office/drawing/2014/main" id="{35194AD4-600B-AFA3-C393-D0C1290A3E51}"/>
              </a:ext>
            </a:extLst>
          </p:cNvPr>
          <p:cNvSpPr txBox="1"/>
          <p:nvPr/>
        </p:nvSpPr>
        <p:spPr>
          <a:xfrm>
            <a:off x="746660" y="1850666"/>
            <a:ext cx="4905993" cy="9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💡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Models: 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透過 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 去預測詞彙機率分佈的模型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23FF1C39-892D-65FF-7409-259C8CBEE11C}"/>
              </a:ext>
            </a:extLst>
          </p:cNvPr>
          <p:cNvSpPr/>
          <p:nvPr/>
        </p:nvSpPr>
        <p:spPr>
          <a:xfrm>
            <a:off x="1042767" y="3429000"/>
            <a:ext cx="1327077" cy="5673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7DE7F2E3-2F2A-E30C-D7D5-E9CE0A235633}"/>
              </a:ext>
            </a:extLst>
          </p:cNvPr>
          <p:cNvSpPr/>
          <p:nvPr/>
        </p:nvSpPr>
        <p:spPr>
          <a:xfrm>
            <a:off x="1042766" y="4323348"/>
            <a:ext cx="1805299" cy="5673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Transformer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7E955D4-BD45-F2E0-8C6B-ED07B98C0708}"/>
              </a:ext>
            </a:extLst>
          </p:cNvPr>
          <p:cNvSpPr/>
          <p:nvPr/>
        </p:nvSpPr>
        <p:spPr>
          <a:xfrm>
            <a:off x="1042766" y="5217696"/>
            <a:ext cx="1805299" cy="56735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GPT-series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BF0DF79-9FBA-437F-509B-A59B32A88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694" y="1548119"/>
            <a:ext cx="3619047" cy="5159829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849A8796-0AC9-501B-8101-86BDF8FEE9C0}"/>
              </a:ext>
            </a:extLst>
          </p:cNvPr>
          <p:cNvSpPr/>
          <p:nvPr/>
        </p:nvSpPr>
        <p:spPr>
          <a:xfrm>
            <a:off x="7678882" y="1465119"/>
            <a:ext cx="1381991" cy="519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C907AF-3FE2-6FED-C77A-9397C3810897}"/>
              </a:ext>
            </a:extLst>
          </p:cNvPr>
          <p:cNvSpPr/>
          <p:nvPr/>
        </p:nvSpPr>
        <p:spPr>
          <a:xfrm>
            <a:off x="5947694" y="3075709"/>
            <a:ext cx="1784516" cy="3704976"/>
          </a:xfrm>
          <a:prstGeom prst="rect">
            <a:avLst/>
          </a:prstGeom>
          <a:solidFill>
            <a:schemeClr val="bg1">
              <a:lumMod val="75000"/>
              <a:alpha val="8343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99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34D9DE-E048-4FF3-1B33-51FA3D44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Language Models </a:t>
            </a:r>
            <a:r>
              <a:rPr kumimoji="1" lang="zh-TW" altLang="en-US" dirty="0"/>
              <a:t>終究是 </a:t>
            </a:r>
            <a:r>
              <a:rPr kumimoji="1" lang="en-US" altLang="zh-TW" dirty="0"/>
              <a:t>left-to-right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ED01C8-2872-5C1F-76D2-FE9BFAA7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7E11F5A-D18F-EF3C-CEBF-6A742C2F4538}"/>
              </a:ext>
            </a:extLst>
          </p:cNvPr>
          <p:cNvSpPr/>
          <p:nvPr/>
        </p:nvSpPr>
        <p:spPr>
          <a:xfrm>
            <a:off x="1705598" y="4233397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CA821E23-F199-3CA1-E0F8-86A351755970}"/>
              </a:ext>
            </a:extLst>
          </p:cNvPr>
          <p:cNvSpPr/>
          <p:nvPr/>
        </p:nvSpPr>
        <p:spPr>
          <a:xfrm>
            <a:off x="1742992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3893E3B-E7BC-CD5A-0E94-F5C831576A3A}"/>
              </a:ext>
            </a:extLst>
          </p:cNvPr>
          <p:cNvSpPr/>
          <p:nvPr/>
        </p:nvSpPr>
        <p:spPr>
          <a:xfrm>
            <a:off x="2248968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F4898CCC-85B4-6CCC-3907-E27D5C85B1E0}"/>
              </a:ext>
            </a:extLst>
          </p:cNvPr>
          <p:cNvSpPr/>
          <p:nvPr/>
        </p:nvSpPr>
        <p:spPr>
          <a:xfrm>
            <a:off x="4778846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75546552-1B10-A003-8AAD-C28E8C50B044}"/>
              </a:ext>
            </a:extLst>
          </p:cNvPr>
          <p:cNvSpPr/>
          <p:nvPr/>
        </p:nvSpPr>
        <p:spPr>
          <a:xfrm>
            <a:off x="5284821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FA71AC1A-6681-83ED-C227-712BEBB50F8A}"/>
              </a:ext>
            </a:extLst>
          </p:cNvPr>
          <p:cNvSpPr/>
          <p:nvPr/>
        </p:nvSpPr>
        <p:spPr>
          <a:xfrm>
            <a:off x="2754944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3EFEED1-6ACC-898C-1952-9B513E31D683}"/>
              </a:ext>
            </a:extLst>
          </p:cNvPr>
          <p:cNvSpPr/>
          <p:nvPr/>
        </p:nvSpPr>
        <p:spPr>
          <a:xfrm>
            <a:off x="3260919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B07FE92-7393-670D-7BED-1B62676FC264}"/>
              </a:ext>
            </a:extLst>
          </p:cNvPr>
          <p:cNvSpPr/>
          <p:nvPr/>
        </p:nvSpPr>
        <p:spPr>
          <a:xfrm>
            <a:off x="3766895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5F04C0BC-02B9-76C3-464B-07E0B4B2B068}"/>
              </a:ext>
            </a:extLst>
          </p:cNvPr>
          <p:cNvSpPr/>
          <p:nvPr/>
        </p:nvSpPr>
        <p:spPr>
          <a:xfrm>
            <a:off x="4272871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52CC6764-6478-507E-4DD5-EF20B4EB6E5D}"/>
              </a:ext>
            </a:extLst>
          </p:cNvPr>
          <p:cNvCxnSpPr>
            <a:cxnSpLocks/>
          </p:cNvCxnSpPr>
          <p:nvPr/>
        </p:nvCxnSpPr>
        <p:spPr>
          <a:xfrm flipV="1">
            <a:off x="1977642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D9CC5F07-EDC0-6CFB-09D9-9C4CD1B5DCD8}"/>
              </a:ext>
            </a:extLst>
          </p:cNvPr>
          <p:cNvCxnSpPr>
            <a:cxnSpLocks/>
          </p:cNvCxnSpPr>
          <p:nvPr/>
        </p:nvCxnSpPr>
        <p:spPr>
          <a:xfrm flipV="1">
            <a:off x="2480896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1EA07DE7-02AD-D084-A4B2-F8C3D393C18E}"/>
              </a:ext>
            </a:extLst>
          </p:cNvPr>
          <p:cNvCxnSpPr>
            <a:cxnSpLocks/>
          </p:cNvCxnSpPr>
          <p:nvPr/>
        </p:nvCxnSpPr>
        <p:spPr>
          <a:xfrm flipV="1">
            <a:off x="2984149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6507B20F-EEA8-D1EF-CFE8-C3E1CC011158}"/>
              </a:ext>
            </a:extLst>
          </p:cNvPr>
          <p:cNvCxnSpPr>
            <a:cxnSpLocks/>
          </p:cNvCxnSpPr>
          <p:nvPr/>
        </p:nvCxnSpPr>
        <p:spPr>
          <a:xfrm flipV="1">
            <a:off x="3487404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9294E3E5-B978-E1A1-6268-87DCFA562D1D}"/>
              </a:ext>
            </a:extLst>
          </p:cNvPr>
          <p:cNvCxnSpPr>
            <a:cxnSpLocks/>
          </p:cNvCxnSpPr>
          <p:nvPr/>
        </p:nvCxnSpPr>
        <p:spPr>
          <a:xfrm flipV="1">
            <a:off x="3990657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DB0F2A45-A557-F436-2293-8DAEA62ECD90}"/>
              </a:ext>
            </a:extLst>
          </p:cNvPr>
          <p:cNvCxnSpPr>
            <a:cxnSpLocks/>
          </p:cNvCxnSpPr>
          <p:nvPr/>
        </p:nvCxnSpPr>
        <p:spPr>
          <a:xfrm flipV="1">
            <a:off x="4493911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2B5644B-9940-3A68-2B91-CE77B606946C}"/>
              </a:ext>
            </a:extLst>
          </p:cNvPr>
          <p:cNvCxnSpPr>
            <a:cxnSpLocks/>
          </p:cNvCxnSpPr>
          <p:nvPr/>
        </p:nvCxnSpPr>
        <p:spPr>
          <a:xfrm flipV="1">
            <a:off x="4997164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31EC7936-E7BF-B0F7-F548-D61F1B550C24}"/>
              </a:ext>
            </a:extLst>
          </p:cNvPr>
          <p:cNvCxnSpPr>
            <a:cxnSpLocks/>
          </p:cNvCxnSpPr>
          <p:nvPr/>
        </p:nvCxnSpPr>
        <p:spPr>
          <a:xfrm flipV="1">
            <a:off x="5500420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73D71CFE-17DC-8B5E-031F-6B96E9B803AF}"/>
                  </a:ext>
                </a:extLst>
              </p:cNvPr>
              <p:cNvSpPr/>
              <p:nvPr/>
            </p:nvSpPr>
            <p:spPr>
              <a:xfrm>
                <a:off x="2754944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73D71CFE-17DC-8B5E-031F-6B96E9B80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944" y="3507588"/>
                <a:ext cx="448780" cy="375953"/>
              </a:xfrm>
              <a:prstGeom prst="roundRect">
                <a:avLst/>
              </a:prstGeom>
              <a:blipFill>
                <a:blip r:embed="rId3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6A3E5A9E-1B42-737D-2A6D-2DAAB995C17F}"/>
                  </a:ext>
                </a:extLst>
              </p:cNvPr>
              <p:cNvSpPr/>
              <p:nvPr/>
            </p:nvSpPr>
            <p:spPr>
              <a:xfrm>
                <a:off x="3260919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6A3E5A9E-1B42-737D-2A6D-2DAAB995C1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919" y="3507588"/>
                <a:ext cx="448780" cy="375953"/>
              </a:xfrm>
              <a:prstGeom prst="roundRect">
                <a:avLst/>
              </a:prstGeom>
              <a:blipFill>
                <a:blip r:embed="rId4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8D27990B-54FF-2CE1-E6FC-41B62D8FE20E}"/>
                  </a:ext>
                </a:extLst>
              </p:cNvPr>
              <p:cNvSpPr/>
              <p:nvPr/>
            </p:nvSpPr>
            <p:spPr>
              <a:xfrm>
                <a:off x="3766895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8D27990B-54FF-2CE1-E6FC-41B62D8FE2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895" y="3507588"/>
                <a:ext cx="448780" cy="375953"/>
              </a:xfrm>
              <a:prstGeom prst="roundRect">
                <a:avLst/>
              </a:prstGeom>
              <a:blipFill>
                <a:blip r:embed="rId5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DCADA5FD-A1C3-0F9C-E586-24F6C71768E6}"/>
                  </a:ext>
                </a:extLst>
              </p:cNvPr>
              <p:cNvSpPr/>
              <p:nvPr/>
            </p:nvSpPr>
            <p:spPr>
              <a:xfrm>
                <a:off x="4272871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DCADA5FD-A1C3-0F9C-E586-24F6C71768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871" y="3507588"/>
                <a:ext cx="448780" cy="375953"/>
              </a:xfrm>
              <a:prstGeom prst="roundRect">
                <a:avLst/>
              </a:prstGeom>
              <a:blipFill>
                <a:blip r:embed="rId6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97297D41-E37A-CE9C-33FE-0B818B43B7B8}"/>
              </a:ext>
            </a:extLst>
          </p:cNvPr>
          <p:cNvCxnSpPr>
            <a:cxnSpLocks/>
          </p:cNvCxnSpPr>
          <p:nvPr/>
        </p:nvCxnSpPr>
        <p:spPr>
          <a:xfrm flipV="1">
            <a:off x="2984149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5A8D68EE-435F-EF1A-57FE-334927C0A395}"/>
              </a:ext>
            </a:extLst>
          </p:cNvPr>
          <p:cNvCxnSpPr>
            <a:cxnSpLocks/>
          </p:cNvCxnSpPr>
          <p:nvPr/>
        </p:nvCxnSpPr>
        <p:spPr>
          <a:xfrm flipV="1">
            <a:off x="3487404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A0C2F715-74D1-1EDE-5DBC-ADA1AC423D6D}"/>
              </a:ext>
            </a:extLst>
          </p:cNvPr>
          <p:cNvCxnSpPr>
            <a:cxnSpLocks/>
          </p:cNvCxnSpPr>
          <p:nvPr/>
        </p:nvCxnSpPr>
        <p:spPr>
          <a:xfrm flipV="1">
            <a:off x="3990657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6292DF07-172E-D5A3-485E-7CFD38F50669}"/>
              </a:ext>
            </a:extLst>
          </p:cNvPr>
          <p:cNvCxnSpPr>
            <a:cxnSpLocks/>
          </p:cNvCxnSpPr>
          <p:nvPr/>
        </p:nvCxnSpPr>
        <p:spPr>
          <a:xfrm flipV="1">
            <a:off x="4493911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67">
            <a:extLst>
              <a:ext uri="{FF2B5EF4-FFF2-40B4-BE49-F238E27FC236}">
                <a16:creationId xmlns:a16="http://schemas.microsoft.com/office/drawing/2014/main" id="{585DA97F-99CC-A251-DB9B-74DFE4452E0C}"/>
              </a:ext>
            </a:extLst>
          </p:cNvPr>
          <p:cNvSpPr txBox="1"/>
          <p:nvPr/>
        </p:nvSpPr>
        <p:spPr>
          <a:xfrm>
            <a:off x="1588331" y="5920636"/>
            <a:ext cx="778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圓角矩形 30">
                <a:extLst>
                  <a:ext uri="{FF2B5EF4-FFF2-40B4-BE49-F238E27FC236}">
                    <a16:creationId xmlns:a16="http://schemas.microsoft.com/office/drawing/2014/main" id="{7C133861-1F11-B8FC-504E-5DF37832BD88}"/>
                  </a:ext>
                </a:extLst>
              </p:cNvPr>
              <p:cNvSpPr/>
              <p:nvPr/>
            </p:nvSpPr>
            <p:spPr>
              <a:xfrm>
                <a:off x="2245232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圓角矩形 30">
                <a:extLst>
                  <a:ext uri="{FF2B5EF4-FFF2-40B4-BE49-F238E27FC236}">
                    <a16:creationId xmlns:a16="http://schemas.microsoft.com/office/drawing/2014/main" id="{7C133861-1F11-B8FC-504E-5DF37832BD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232" y="3507588"/>
                <a:ext cx="448780" cy="375953"/>
              </a:xfrm>
              <a:prstGeom prst="roundRect">
                <a:avLst/>
              </a:prstGeom>
              <a:blipFill>
                <a:blip r:embed="rId7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C3BE99A1-F85D-50CF-E74F-496136B0EE20}"/>
              </a:ext>
            </a:extLst>
          </p:cNvPr>
          <p:cNvCxnSpPr>
            <a:cxnSpLocks/>
          </p:cNvCxnSpPr>
          <p:nvPr/>
        </p:nvCxnSpPr>
        <p:spPr>
          <a:xfrm flipV="1">
            <a:off x="2474439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圓角矩形 32">
                <a:extLst>
                  <a:ext uri="{FF2B5EF4-FFF2-40B4-BE49-F238E27FC236}">
                    <a16:creationId xmlns:a16="http://schemas.microsoft.com/office/drawing/2014/main" id="{5A05ADE9-2D97-A05E-8A81-DB2F7E136E1F}"/>
                  </a:ext>
                </a:extLst>
              </p:cNvPr>
              <p:cNvSpPr/>
              <p:nvPr/>
            </p:nvSpPr>
            <p:spPr>
              <a:xfrm>
                <a:off x="4778846" y="3502304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圓角矩形 32">
                <a:extLst>
                  <a:ext uri="{FF2B5EF4-FFF2-40B4-BE49-F238E27FC236}">
                    <a16:creationId xmlns:a16="http://schemas.microsoft.com/office/drawing/2014/main" id="{5A05ADE9-2D97-A05E-8A81-DB2F7E136E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46" y="3502304"/>
                <a:ext cx="448780" cy="375953"/>
              </a:xfrm>
              <a:prstGeom prst="roundRect">
                <a:avLst/>
              </a:prstGeom>
              <a:blipFill>
                <a:blip r:embed="rId8"/>
                <a:stretch>
                  <a:fillRect b="-625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2475E79F-48DE-9209-0580-B79AD575C254}"/>
              </a:ext>
            </a:extLst>
          </p:cNvPr>
          <p:cNvCxnSpPr>
            <a:cxnSpLocks/>
          </p:cNvCxnSpPr>
          <p:nvPr/>
        </p:nvCxnSpPr>
        <p:spPr>
          <a:xfrm flipV="1">
            <a:off x="5008052" y="392892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091AC2BF-5E77-E7C0-1F2D-38B4880EC537}"/>
                  </a:ext>
                </a:extLst>
              </p:cNvPr>
              <p:cNvSpPr/>
              <p:nvPr/>
            </p:nvSpPr>
            <p:spPr>
              <a:xfrm>
                <a:off x="5284821" y="3502304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091AC2BF-5E77-E7C0-1F2D-38B4880EC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21" y="3502304"/>
                <a:ext cx="448780" cy="375953"/>
              </a:xfrm>
              <a:prstGeom prst="roundRect">
                <a:avLst/>
              </a:prstGeom>
              <a:blipFill>
                <a:blip r:embed="rId9"/>
                <a:stretch>
                  <a:fillRect b="-625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920B818E-CFA1-7700-65E1-52C52F8C18FC}"/>
              </a:ext>
            </a:extLst>
          </p:cNvPr>
          <p:cNvCxnSpPr>
            <a:cxnSpLocks/>
          </p:cNvCxnSpPr>
          <p:nvPr/>
        </p:nvCxnSpPr>
        <p:spPr>
          <a:xfrm flipV="1">
            <a:off x="5514027" y="392892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圓角矩形 36">
                <a:extLst>
                  <a:ext uri="{FF2B5EF4-FFF2-40B4-BE49-F238E27FC236}">
                    <a16:creationId xmlns:a16="http://schemas.microsoft.com/office/drawing/2014/main" id="{ECD230C5-B50A-004F-E2A0-2BD942370963}"/>
                  </a:ext>
                </a:extLst>
              </p:cNvPr>
              <p:cNvSpPr/>
              <p:nvPr/>
            </p:nvSpPr>
            <p:spPr>
              <a:xfrm>
                <a:off x="1735520" y="3502304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圓角矩形 36">
                <a:extLst>
                  <a:ext uri="{FF2B5EF4-FFF2-40B4-BE49-F238E27FC236}">
                    <a16:creationId xmlns:a16="http://schemas.microsoft.com/office/drawing/2014/main" id="{ECD230C5-B50A-004F-E2A0-2BD9423709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520" y="3502304"/>
                <a:ext cx="448780" cy="375953"/>
              </a:xfrm>
              <a:prstGeom prst="roundRect">
                <a:avLst/>
              </a:prstGeom>
              <a:blipFill>
                <a:blip r:embed="rId10"/>
                <a:stretch>
                  <a:fillRect b="-625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C8E57D72-8417-2DCC-3C3F-B283E10E0506}"/>
              </a:ext>
            </a:extLst>
          </p:cNvPr>
          <p:cNvCxnSpPr>
            <a:cxnSpLocks/>
          </p:cNvCxnSpPr>
          <p:nvPr/>
        </p:nvCxnSpPr>
        <p:spPr>
          <a:xfrm flipV="1">
            <a:off x="1977642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553DBA92-7DAA-0768-80D2-10D883615E52}"/>
              </a:ext>
            </a:extLst>
          </p:cNvPr>
          <p:cNvSpPr/>
          <p:nvPr/>
        </p:nvSpPr>
        <p:spPr>
          <a:xfrm>
            <a:off x="1743921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C9DFD210-6286-27DF-8D00-F92967960059}"/>
              </a:ext>
            </a:extLst>
          </p:cNvPr>
          <p:cNvSpPr/>
          <p:nvPr/>
        </p:nvSpPr>
        <p:spPr>
          <a:xfrm>
            <a:off x="4273799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12D4FFA5-E069-5132-0252-C9440426B00B}"/>
              </a:ext>
            </a:extLst>
          </p:cNvPr>
          <p:cNvSpPr/>
          <p:nvPr/>
        </p:nvSpPr>
        <p:spPr>
          <a:xfrm>
            <a:off x="4779774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E4E53AC8-CA3F-F889-7A24-4FEF67F8FB30}"/>
              </a:ext>
            </a:extLst>
          </p:cNvPr>
          <p:cNvSpPr/>
          <p:nvPr/>
        </p:nvSpPr>
        <p:spPr>
          <a:xfrm>
            <a:off x="2249897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0FC23321-FC0E-086A-A81C-1AD8E45C459F}"/>
              </a:ext>
            </a:extLst>
          </p:cNvPr>
          <p:cNvSpPr/>
          <p:nvPr/>
        </p:nvSpPr>
        <p:spPr>
          <a:xfrm>
            <a:off x="2755872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圓角矩形 43">
            <a:extLst>
              <a:ext uri="{FF2B5EF4-FFF2-40B4-BE49-F238E27FC236}">
                <a16:creationId xmlns:a16="http://schemas.microsoft.com/office/drawing/2014/main" id="{296D0F49-ED38-2C87-075D-EE8E39BFDC08}"/>
              </a:ext>
            </a:extLst>
          </p:cNvPr>
          <p:cNvSpPr/>
          <p:nvPr/>
        </p:nvSpPr>
        <p:spPr>
          <a:xfrm>
            <a:off x="3261848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7423AF29-B7FA-C06B-210D-2C620D37F568}"/>
              </a:ext>
            </a:extLst>
          </p:cNvPr>
          <p:cNvSpPr/>
          <p:nvPr/>
        </p:nvSpPr>
        <p:spPr>
          <a:xfrm>
            <a:off x="3767824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0904B468-014C-98DD-E154-1ECB36EA3A9B}"/>
              </a:ext>
            </a:extLst>
          </p:cNvPr>
          <p:cNvSpPr/>
          <p:nvPr/>
        </p:nvSpPr>
        <p:spPr>
          <a:xfrm>
            <a:off x="5284821" y="241330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上-下雙向箭號 46">
            <a:extLst>
              <a:ext uri="{FF2B5EF4-FFF2-40B4-BE49-F238E27FC236}">
                <a16:creationId xmlns:a16="http://schemas.microsoft.com/office/drawing/2014/main" id="{FEE2EFC4-30D8-48ED-C0BC-61FE655BA220}"/>
              </a:ext>
            </a:extLst>
          </p:cNvPr>
          <p:cNvSpPr/>
          <p:nvPr/>
        </p:nvSpPr>
        <p:spPr>
          <a:xfrm>
            <a:off x="1872480" y="2836782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上-下雙向箭號 47">
            <a:extLst>
              <a:ext uri="{FF2B5EF4-FFF2-40B4-BE49-F238E27FC236}">
                <a16:creationId xmlns:a16="http://schemas.microsoft.com/office/drawing/2014/main" id="{94342D6D-402B-BF3D-088E-6A550D348A27}"/>
              </a:ext>
            </a:extLst>
          </p:cNvPr>
          <p:cNvSpPr/>
          <p:nvPr/>
        </p:nvSpPr>
        <p:spPr>
          <a:xfrm>
            <a:off x="2393466" y="2836782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上-下雙向箭號 48">
            <a:extLst>
              <a:ext uri="{FF2B5EF4-FFF2-40B4-BE49-F238E27FC236}">
                <a16:creationId xmlns:a16="http://schemas.microsoft.com/office/drawing/2014/main" id="{AE3BFD3D-DD51-31A8-68DD-2CC4BDD6B63D}"/>
              </a:ext>
            </a:extLst>
          </p:cNvPr>
          <p:cNvSpPr/>
          <p:nvPr/>
        </p:nvSpPr>
        <p:spPr>
          <a:xfrm>
            <a:off x="2896719" y="2836782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上-下雙向箭號 49">
            <a:extLst>
              <a:ext uri="{FF2B5EF4-FFF2-40B4-BE49-F238E27FC236}">
                <a16:creationId xmlns:a16="http://schemas.microsoft.com/office/drawing/2014/main" id="{62632BED-5A3E-45A1-5812-40154201BE93}"/>
              </a:ext>
            </a:extLst>
          </p:cNvPr>
          <p:cNvSpPr/>
          <p:nvPr/>
        </p:nvSpPr>
        <p:spPr>
          <a:xfrm>
            <a:off x="3397879" y="2837552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上-下雙向箭號 50">
            <a:extLst>
              <a:ext uri="{FF2B5EF4-FFF2-40B4-BE49-F238E27FC236}">
                <a16:creationId xmlns:a16="http://schemas.microsoft.com/office/drawing/2014/main" id="{DBFDA0FC-7933-D42C-22FA-FAB603ED5F0C}"/>
              </a:ext>
            </a:extLst>
          </p:cNvPr>
          <p:cNvSpPr/>
          <p:nvPr/>
        </p:nvSpPr>
        <p:spPr>
          <a:xfrm>
            <a:off x="3903002" y="2845904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上-下雙向箭號 51">
            <a:extLst>
              <a:ext uri="{FF2B5EF4-FFF2-40B4-BE49-F238E27FC236}">
                <a16:creationId xmlns:a16="http://schemas.microsoft.com/office/drawing/2014/main" id="{80B38B2F-8C1D-1532-F1E8-F84F2A359FD6}"/>
              </a:ext>
            </a:extLst>
          </p:cNvPr>
          <p:cNvSpPr/>
          <p:nvPr/>
        </p:nvSpPr>
        <p:spPr>
          <a:xfrm>
            <a:off x="4423988" y="2845904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3" name="上-下雙向箭號 52">
            <a:extLst>
              <a:ext uri="{FF2B5EF4-FFF2-40B4-BE49-F238E27FC236}">
                <a16:creationId xmlns:a16="http://schemas.microsoft.com/office/drawing/2014/main" id="{DCFAC07A-B238-C8CA-AD41-5EF78381866A}"/>
              </a:ext>
            </a:extLst>
          </p:cNvPr>
          <p:cNvSpPr/>
          <p:nvPr/>
        </p:nvSpPr>
        <p:spPr>
          <a:xfrm>
            <a:off x="4927241" y="2845904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上-下雙向箭號 53">
            <a:extLst>
              <a:ext uri="{FF2B5EF4-FFF2-40B4-BE49-F238E27FC236}">
                <a16:creationId xmlns:a16="http://schemas.microsoft.com/office/drawing/2014/main" id="{2DC700A7-508A-5B6D-69C0-92BAC577B201}"/>
              </a:ext>
            </a:extLst>
          </p:cNvPr>
          <p:cNvSpPr/>
          <p:nvPr/>
        </p:nvSpPr>
        <p:spPr>
          <a:xfrm>
            <a:off x="5428401" y="2846674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14BADB57-2B1D-3ECD-3479-9FAF022A3871}"/>
              </a:ext>
            </a:extLst>
          </p:cNvPr>
          <p:cNvSpPr txBox="1"/>
          <p:nvPr/>
        </p:nvSpPr>
        <p:spPr>
          <a:xfrm>
            <a:off x="804994" y="2824763"/>
            <a:ext cx="937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70C0"/>
                </a:solidFill>
              </a:rPr>
              <a:t>越接近越好</a:t>
            </a:r>
          </a:p>
        </p:txBody>
      </p:sp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A4FD47C9-FEB3-FB9B-65B5-2E565815E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425" y="3378139"/>
            <a:ext cx="818480" cy="83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橢圓圖說文字 2047">
            <a:extLst>
              <a:ext uri="{FF2B5EF4-FFF2-40B4-BE49-F238E27FC236}">
                <a16:creationId xmlns:a16="http://schemas.microsoft.com/office/drawing/2014/main" id="{EB17AC62-BF63-36D2-91E4-E942F6C1B492}"/>
              </a:ext>
            </a:extLst>
          </p:cNvPr>
          <p:cNvSpPr/>
          <p:nvPr/>
        </p:nvSpPr>
        <p:spPr>
          <a:xfrm>
            <a:off x="7855526" y="2413309"/>
            <a:ext cx="2870003" cy="1088995"/>
          </a:xfrm>
          <a:prstGeom prst="wedgeEllipseCallout">
            <a:avLst>
              <a:gd name="adj1" fmla="val -39298"/>
              <a:gd name="adj2" fmla="val 52004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GPT-1 </a:t>
            </a:r>
            <a:r>
              <a:rPr kumimoji="1" lang="zh-TW" altLang="en-US" dirty="0">
                <a:solidFill>
                  <a:schemeClr val="tx1"/>
                </a:solidFill>
              </a:rPr>
              <a:t>不好，因為訓練無雙向</a:t>
            </a:r>
          </a:p>
        </p:txBody>
      </p:sp>
    </p:spTree>
    <p:extLst>
      <p:ext uri="{BB962C8B-B14F-4D97-AF65-F5344CB8AC3E}">
        <p14:creationId xmlns:p14="http://schemas.microsoft.com/office/powerpoint/2010/main" val="272284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63" grpId="0"/>
      <p:bldP spid="20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622F-6DF5-BAFE-B825-CD03712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13E8C7-B1DC-EA6C-FFAC-6749507E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Transformer </a:t>
            </a:r>
            <a:r>
              <a:rPr kumimoji="1" lang="zh-TW" altLang="en-US" dirty="0"/>
              <a:t>架構的後續應用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3D7FD1-7E04-2941-C159-C50AF8FC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03A1FC-F155-4AD1-D7F4-67127F93D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041" y="3595254"/>
            <a:ext cx="1213026" cy="201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C7382E0-053E-F76C-60B6-2B01EDB17B98}"/>
              </a:ext>
            </a:extLst>
          </p:cNvPr>
          <p:cNvSpPr txBox="1"/>
          <p:nvPr/>
        </p:nvSpPr>
        <p:spPr>
          <a:xfrm>
            <a:off x="653143" y="2257205"/>
            <a:ext cx="4472474" cy="234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Generative Pre-training (GPT) series</a:t>
            </a:r>
            <a:endParaRPr kumimoji="1" lang="en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BERT (Bidirectional encoder representations from transformers)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hlinkClick r:id="rId3"/>
              </a:rPr>
              <a:t>Devlin et al., 2018</a:t>
            </a:r>
            <a:endParaRPr kumimoji="1" lang="en-US" altLang="zh-TW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7977B06-16B5-D940-7133-3B0433D4C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249" y="1517710"/>
            <a:ext cx="3619047" cy="51598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6F27AF5-C636-B56D-135C-9C735963C388}"/>
              </a:ext>
            </a:extLst>
          </p:cNvPr>
          <p:cNvSpPr/>
          <p:nvPr/>
        </p:nvSpPr>
        <p:spPr>
          <a:xfrm>
            <a:off x="7133249" y="3206554"/>
            <a:ext cx="1793196" cy="33310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2289EED-96B4-0EE2-234B-E9D264E8AA88}"/>
              </a:ext>
            </a:extLst>
          </p:cNvPr>
          <p:cNvSpPr txBox="1"/>
          <p:nvPr/>
        </p:nvSpPr>
        <p:spPr>
          <a:xfrm>
            <a:off x="5963410" y="4631416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9300"/>
                </a:solidFill>
              </a:rPr>
              <a:t>Encoder</a:t>
            </a:r>
            <a:endParaRPr kumimoji="1" lang="zh-TW" altLang="en-US" b="1" dirty="0">
              <a:solidFill>
                <a:srgbClr val="FF93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F14C3B7-7BD5-26DB-D5E3-A1155E716891}"/>
              </a:ext>
            </a:extLst>
          </p:cNvPr>
          <p:cNvSpPr txBox="1"/>
          <p:nvPr/>
        </p:nvSpPr>
        <p:spPr>
          <a:xfrm>
            <a:off x="6183268" y="4220820"/>
            <a:ext cx="102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N=12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73A1884-478F-9158-16C1-FD7CFFE2DB79}"/>
              </a:ext>
            </a:extLst>
          </p:cNvPr>
          <p:cNvSpPr txBox="1"/>
          <p:nvPr/>
        </p:nvSpPr>
        <p:spPr>
          <a:xfrm>
            <a:off x="5125617" y="5636957"/>
            <a:ext cx="97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en" altLang="zh-TW" sz="1600" dirty="0"/>
              <a:t>BERT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9329F0-994C-60CF-37AD-2F2E280FF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061" y="3385823"/>
            <a:ext cx="1033417" cy="103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D20F174-4877-B837-4651-39DBEEF54717}"/>
              </a:ext>
            </a:extLst>
          </p:cNvPr>
          <p:cNvSpPr txBox="1"/>
          <p:nvPr/>
        </p:nvSpPr>
        <p:spPr>
          <a:xfrm>
            <a:off x="10746577" y="4431518"/>
            <a:ext cx="97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en" altLang="zh-TW" sz="1600" dirty="0"/>
              <a:t>GPT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8BC4BA32-C7A0-7162-4CF2-CC0BE22EE416}"/>
              </a:ext>
            </a:extLst>
          </p:cNvPr>
          <p:cNvSpPr/>
          <p:nvPr/>
        </p:nvSpPr>
        <p:spPr>
          <a:xfrm>
            <a:off x="4364182" y="3023755"/>
            <a:ext cx="2845454" cy="33918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9728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BERT (</a:t>
            </a:r>
            <a:r>
              <a:rPr lang="en" altLang="zh-TW" dirty="0">
                <a:solidFill>
                  <a:srgbClr val="FF0000"/>
                </a:solidFill>
                <a:ea typeface="新細明體"/>
                <a:cs typeface="Calibri Light"/>
              </a:rPr>
              <a:t>Bidirectional </a:t>
            </a:r>
            <a:r>
              <a:rPr lang="en" altLang="zh-TW" dirty="0">
                <a:solidFill>
                  <a:schemeClr val="tx1"/>
                </a:solidFill>
                <a:ea typeface="新細明體"/>
                <a:cs typeface="Calibri Light"/>
              </a:rPr>
              <a:t>Encoder Representations from Transformers</a:t>
            </a:r>
            <a:r>
              <a:rPr lang="en-US" altLang="zh-TW" dirty="0">
                <a:ea typeface="新細明體"/>
                <a:cs typeface="Calibri Light"/>
              </a:rPr>
              <a:t>)</a:t>
            </a:r>
            <a:endParaRPr 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20</a:t>
            </a:fld>
            <a:endParaRPr lang="zh-TW" altLang="en-US"/>
          </a:p>
        </p:txBody>
      </p:sp>
      <p:sp>
        <p:nvSpPr>
          <p:cNvPr id="78" name="Google Shape;187;p17">
            <a:extLst>
              <a:ext uri="{FF2B5EF4-FFF2-40B4-BE49-F238E27FC236}">
                <a16:creationId xmlns:a16="http://schemas.microsoft.com/office/drawing/2014/main" id="{12078826-8F85-944B-ADBB-9FD846B897DC}"/>
              </a:ext>
            </a:extLst>
          </p:cNvPr>
          <p:cNvSpPr/>
          <p:nvPr/>
        </p:nvSpPr>
        <p:spPr>
          <a:xfrm>
            <a:off x="240884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188;p17">
            <a:extLst>
              <a:ext uri="{FF2B5EF4-FFF2-40B4-BE49-F238E27FC236}">
                <a16:creationId xmlns:a16="http://schemas.microsoft.com/office/drawing/2014/main" id="{C5EB92C9-179D-21A5-A8B1-A959D1399419}"/>
              </a:ext>
            </a:extLst>
          </p:cNvPr>
          <p:cNvSpPr/>
          <p:nvPr/>
        </p:nvSpPr>
        <p:spPr>
          <a:xfrm>
            <a:off x="169876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189;p17">
            <a:extLst>
              <a:ext uri="{FF2B5EF4-FFF2-40B4-BE49-F238E27FC236}">
                <a16:creationId xmlns:a16="http://schemas.microsoft.com/office/drawing/2014/main" id="{BD6637FB-70DE-4DEE-362A-B3E116F08900}"/>
              </a:ext>
            </a:extLst>
          </p:cNvPr>
          <p:cNvSpPr/>
          <p:nvPr/>
        </p:nvSpPr>
        <p:spPr>
          <a:xfrm>
            <a:off x="4538547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192;p17">
            <a:extLst>
              <a:ext uri="{FF2B5EF4-FFF2-40B4-BE49-F238E27FC236}">
                <a16:creationId xmlns:a16="http://schemas.microsoft.com/office/drawing/2014/main" id="{572F978B-DB27-932D-EBBB-25910B7F0C71}"/>
              </a:ext>
            </a:extLst>
          </p:cNvPr>
          <p:cNvCxnSpPr>
            <a:cxnSpLocks/>
          </p:cNvCxnSpPr>
          <p:nvPr/>
        </p:nvCxnSpPr>
        <p:spPr>
          <a:xfrm rot="10800000">
            <a:off x="1785909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193;p17">
            <a:extLst>
              <a:ext uri="{FF2B5EF4-FFF2-40B4-BE49-F238E27FC236}">
                <a16:creationId xmlns:a16="http://schemas.microsoft.com/office/drawing/2014/main" id="{DE52FF4E-4D57-718C-A568-E103C0C28ABD}"/>
              </a:ext>
            </a:extLst>
          </p:cNvPr>
          <p:cNvCxnSpPr>
            <a:cxnSpLocks/>
          </p:cNvCxnSpPr>
          <p:nvPr/>
        </p:nvCxnSpPr>
        <p:spPr>
          <a:xfrm rot="10800000">
            <a:off x="3206079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194;p17">
            <a:extLst>
              <a:ext uri="{FF2B5EF4-FFF2-40B4-BE49-F238E27FC236}">
                <a16:creationId xmlns:a16="http://schemas.microsoft.com/office/drawing/2014/main" id="{9E1B86D0-167B-F82B-4971-C1294716FF23}"/>
              </a:ext>
            </a:extLst>
          </p:cNvPr>
          <p:cNvCxnSpPr>
            <a:cxnSpLocks/>
          </p:cNvCxnSpPr>
          <p:nvPr/>
        </p:nvCxnSpPr>
        <p:spPr>
          <a:xfrm rot="10800000">
            <a:off x="3916164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195;p17">
            <a:extLst>
              <a:ext uri="{FF2B5EF4-FFF2-40B4-BE49-F238E27FC236}">
                <a16:creationId xmlns:a16="http://schemas.microsoft.com/office/drawing/2014/main" id="{C91EDADF-2EF4-0682-E7C1-A612A6B98835}"/>
              </a:ext>
            </a:extLst>
          </p:cNvPr>
          <p:cNvCxnSpPr>
            <a:cxnSpLocks/>
          </p:cNvCxnSpPr>
          <p:nvPr/>
        </p:nvCxnSpPr>
        <p:spPr>
          <a:xfrm rot="10800000">
            <a:off x="4626247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" name="Google Shape;200;p17">
            <a:extLst>
              <a:ext uri="{FF2B5EF4-FFF2-40B4-BE49-F238E27FC236}">
                <a16:creationId xmlns:a16="http://schemas.microsoft.com/office/drawing/2014/main" id="{08EE0E68-9D18-DAEC-6E65-313766CEBCE7}"/>
              </a:ext>
            </a:extLst>
          </p:cNvPr>
          <p:cNvSpPr txBox="1"/>
          <p:nvPr/>
        </p:nvSpPr>
        <p:spPr>
          <a:xfrm>
            <a:off x="3524904" y="2546158"/>
            <a:ext cx="75487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bank</a:t>
            </a:r>
            <a:endParaRPr sz="16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202;p17">
            <a:extLst>
              <a:ext uri="{FF2B5EF4-FFF2-40B4-BE49-F238E27FC236}">
                <a16:creationId xmlns:a16="http://schemas.microsoft.com/office/drawing/2014/main" id="{BFAD6294-3106-25E9-8AA3-AAE0FC3A1DBE}"/>
              </a:ext>
            </a:extLst>
          </p:cNvPr>
          <p:cNvSpPr txBox="1"/>
          <p:nvPr/>
        </p:nvSpPr>
        <p:spPr>
          <a:xfrm>
            <a:off x="2042139" y="2047434"/>
            <a:ext cx="315321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Roboto"/>
                <a:ea typeface="Roboto"/>
                <a:cs typeface="Roboto"/>
                <a:sym typeface="Roboto"/>
              </a:rPr>
              <a:t>Masked Language Modelling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203;p17">
            <a:extLst>
              <a:ext uri="{FF2B5EF4-FFF2-40B4-BE49-F238E27FC236}">
                <a16:creationId xmlns:a16="http://schemas.microsoft.com/office/drawing/2014/main" id="{DAF192C6-ADD0-689F-D3D2-95114000BF88}"/>
              </a:ext>
            </a:extLst>
          </p:cNvPr>
          <p:cNvSpPr txBox="1"/>
          <p:nvPr/>
        </p:nvSpPr>
        <p:spPr>
          <a:xfrm>
            <a:off x="7225343" y="2047433"/>
            <a:ext cx="298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Roboto"/>
                <a:ea typeface="Roboto"/>
                <a:cs typeface="Roboto"/>
                <a:sym typeface="Roboto"/>
              </a:rPr>
              <a:t>Next Sentence Prediction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" name="Google Shape;218;p17">
            <a:extLst>
              <a:ext uri="{FF2B5EF4-FFF2-40B4-BE49-F238E27FC236}">
                <a16:creationId xmlns:a16="http://schemas.microsoft.com/office/drawing/2014/main" id="{89487FEF-8D42-11B8-9126-1E705AD9B8EA}"/>
              </a:ext>
            </a:extLst>
          </p:cNvPr>
          <p:cNvCxnSpPr>
            <a:cxnSpLocks/>
          </p:cNvCxnSpPr>
          <p:nvPr/>
        </p:nvCxnSpPr>
        <p:spPr>
          <a:xfrm flipV="1">
            <a:off x="6926968" y="3023925"/>
            <a:ext cx="0" cy="593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" name="Google Shape;224;p17">
            <a:extLst>
              <a:ext uri="{FF2B5EF4-FFF2-40B4-BE49-F238E27FC236}">
                <a16:creationId xmlns:a16="http://schemas.microsoft.com/office/drawing/2014/main" id="{9C2B0B34-C579-B13F-2C97-862E5EC79054}"/>
              </a:ext>
            </a:extLst>
          </p:cNvPr>
          <p:cNvSpPr txBox="1"/>
          <p:nvPr/>
        </p:nvSpPr>
        <p:spPr>
          <a:xfrm>
            <a:off x="6331918" y="2438925"/>
            <a:ext cx="1190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dirty="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binary classification</a:t>
            </a:r>
            <a:endParaRPr sz="1300" dirty="0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225;p17">
            <a:extLst>
              <a:ext uri="{FF2B5EF4-FFF2-40B4-BE49-F238E27FC236}">
                <a16:creationId xmlns:a16="http://schemas.microsoft.com/office/drawing/2014/main" id="{D2598E16-928B-F8ED-B1BC-08D08E1361F3}"/>
              </a:ext>
            </a:extLst>
          </p:cNvPr>
          <p:cNvSpPr txBox="1"/>
          <p:nvPr/>
        </p:nvSpPr>
        <p:spPr>
          <a:xfrm>
            <a:off x="1965207" y="6308224"/>
            <a:ext cx="827704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TW" sz="1200" dirty="0">
                <a:latin typeface="Roboto"/>
                <a:ea typeface="Roboto"/>
                <a:cs typeface="Roboto"/>
                <a:sym typeface="Roboto"/>
              </a:rPr>
              <a:t>Devlin, Jacob, et al. "BERT: Pre-training of Deep Bidirectional Transformers for Language Understanding." NAACL 2019.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" name="Google Shape;195;p17">
            <a:extLst>
              <a:ext uri="{FF2B5EF4-FFF2-40B4-BE49-F238E27FC236}">
                <a16:creationId xmlns:a16="http://schemas.microsoft.com/office/drawing/2014/main" id="{66CA495A-19E6-1812-1E75-1E6512F61A5C}"/>
              </a:ext>
            </a:extLst>
          </p:cNvPr>
          <p:cNvCxnSpPr>
            <a:cxnSpLocks/>
          </p:cNvCxnSpPr>
          <p:nvPr/>
        </p:nvCxnSpPr>
        <p:spPr>
          <a:xfrm rot="10800000">
            <a:off x="2495994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192;p17">
            <a:extLst>
              <a:ext uri="{FF2B5EF4-FFF2-40B4-BE49-F238E27FC236}">
                <a16:creationId xmlns:a16="http://schemas.microsoft.com/office/drawing/2014/main" id="{778DFAAD-6C8A-361E-FB33-A4D796293694}"/>
              </a:ext>
            </a:extLst>
          </p:cNvPr>
          <p:cNvCxnSpPr>
            <a:cxnSpLocks/>
          </p:cNvCxnSpPr>
          <p:nvPr/>
        </p:nvCxnSpPr>
        <p:spPr>
          <a:xfrm rot="10800000">
            <a:off x="1785909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193;p17">
            <a:extLst>
              <a:ext uri="{FF2B5EF4-FFF2-40B4-BE49-F238E27FC236}">
                <a16:creationId xmlns:a16="http://schemas.microsoft.com/office/drawing/2014/main" id="{C1E80CEC-50C0-7A87-E961-F4BBEA568B72}"/>
              </a:ext>
            </a:extLst>
          </p:cNvPr>
          <p:cNvCxnSpPr>
            <a:cxnSpLocks/>
          </p:cNvCxnSpPr>
          <p:nvPr/>
        </p:nvCxnSpPr>
        <p:spPr>
          <a:xfrm rot="10800000">
            <a:off x="3206077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194;p17">
            <a:extLst>
              <a:ext uri="{FF2B5EF4-FFF2-40B4-BE49-F238E27FC236}">
                <a16:creationId xmlns:a16="http://schemas.microsoft.com/office/drawing/2014/main" id="{65861D38-33A3-6511-151B-CF27648E78AB}"/>
              </a:ext>
            </a:extLst>
          </p:cNvPr>
          <p:cNvCxnSpPr>
            <a:cxnSpLocks/>
          </p:cNvCxnSpPr>
          <p:nvPr/>
        </p:nvCxnSpPr>
        <p:spPr>
          <a:xfrm rot="10800000">
            <a:off x="3916161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195;p17">
            <a:extLst>
              <a:ext uri="{FF2B5EF4-FFF2-40B4-BE49-F238E27FC236}">
                <a16:creationId xmlns:a16="http://schemas.microsoft.com/office/drawing/2014/main" id="{C5C110D0-DF8E-4BD4-7DEB-66571C28E076}"/>
              </a:ext>
            </a:extLst>
          </p:cNvPr>
          <p:cNvCxnSpPr>
            <a:cxnSpLocks/>
          </p:cNvCxnSpPr>
          <p:nvPr/>
        </p:nvCxnSpPr>
        <p:spPr>
          <a:xfrm rot="10800000">
            <a:off x="4626247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195;p17">
            <a:extLst>
              <a:ext uri="{FF2B5EF4-FFF2-40B4-BE49-F238E27FC236}">
                <a16:creationId xmlns:a16="http://schemas.microsoft.com/office/drawing/2014/main" id="{EFD06827-5649-BA80-52DA-0012BF5383FF}"/>
              </a:ext>
            </a:extLst>
          </p:cNvPr>
          <p:cNvCxnSpPr>
            <a:cxnSpLocks/>
          </p:cNvCxnSpPr>
          <p:nvPr/>
        </p:nvCxnSpPr>
        <p:spPr>
          <a:xfrm rot="10800000">
            <a:off x="2495993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187;p17">
            <a:extLst>
              <a:ext uri="{FF2B5EF4-FFF2-40B4-BE49-F238E27FC236}">
                <a16:creationId xmlns:a16="http://schemas.microsoft.com/office/drawing/2014/main" id="{558102B0-D487-A2C1-EF09-57DC0FCD8CBC}"/>
              </a:ext>
            </a:extLst>
          </p:cNvPr>
          <p:cNvSpPr/>
          <p:nvPr/>
        </p:nvSpPr>
        <p:spPr>
          <a:xfrm>
            <a:off x="312085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187;p17">
            <a:extLst>
              <a:ext uri="{FF2B5EF4-FFF2-40B4-BE49-F238E27FC236}">
                <a16:creationId xmlns:a16="http://schemas.microsoft.com/office/drawing/2014/main" id="{24679670-27FD-5658-45B2-3EDC97809CFD}"/>
              </a:ext>
            </a:extLst>
          </p:cNvPr>
          <p:cNvSpPr/>
          <p:nvPr/>
        </p:nvSpPr>
        <p:spPr>
          <a:xfrm>
            <a:off x="381950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88D790F2-302A-1D31-CB9E-A2BBC2A7909D}"/>
              </a:ext>
            </a:extLst>
          </p:cNvPr>
          <p:cNvSpPr txBox="1"/>
          <p:nvPr/>
        </p:nvSpPr>
        <p:spPr>
          <a:xfrm>
            <a:off x="1476977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[CLS]</a:t>
            </a:r>
            <a:endParaRPr kumimoji="1" lang="zh-TW" altLang="en-US" sz="1300" dirty="0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98762416-0669-652B-27F1-64287FEE488B}"/>
              </a:ext>
            </a:extLst>
          </p:cNvPr>
          <p:cNvSpPr txBox="1"/>
          <p:nvPr/>
        </p:nvSpPr>
        <p:spPr>
          <a:xfrm>
            <a:off x="2187061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open</a:t>
            </a:r>
            <a:endParaRPr kumimoji="1" lang="zh-TW" altLang="en-US" sz="1300" dirty="0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CF1689B9-BC07-370F-3C26-2995578C7B6F}"/>
              </a:ext>
            </a:extLst>
          </p:cNvPr>
          <p:cNvSpPr txBox="1"/>
          <p:nvPr/>
        </p:nvSpPr>
        <p:spPr>
          <a:xfrm>
            <a:off x="289642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a</a:t>
            </a:r>
            <a:endParaRPr kumimoji="1" lang="zh-TW" altLang="en-US" sz="1300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D3C6A9AC-925C-665B-DDA9-E28F39928D95}"/>
              </a:ext>
            </a:extLst>
          </p:cNvPr>
          <p:cNvSpPr txBox="1"/>
          <p:nvPr/>
        </p:nvSpPr>
        <p:spPr>
          <a:xfrm>
            <a:off x="3503432" y="5573410"/>
            <a:ext cx="8244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>
                <a:solidFill>
                  <a:srgbClr val="FF0000"/>
                </a:solidFill>
              </a:rPr>
              <a:t>[MASK]</a:t>
            </a:r>
            <a:endParaRPr kumimoji="1" lang="zh-TW" altLang="en-US" sz="1300" dirty="0">
              <a:solidFill>
                <a:srgbClr val="FF0000"/>
              </a:solidFill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E621D8CB-3C9C-42D1-B506-AA87DFFB7C9B}"/>
              </a:ext>
            </a:extLst>
          </p:cNvPr>
          <p:cNvSpPr txBox="1"/>
          <p:nvPr/>
        </p:nvSpPr>
        <p:spPr>
          <a:xfrm>
            <a:off x="4188131" y="5554371"/>
            <a:ext cx="8816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account</a:t>
            </a:r>
            <a:endParaRPr kumimoji="1" lang="zh-TW" altLang="en-US" sz="1300" dirty="0"/>
          </a:p>
        </p:txBody>
      </p:sp>
      <p:sp>
        <p:nvSpPr>
          <p:cNvPr id="104" name="Google Shape;187;p17">
            <a:extLst>
              <a:ext uri="{FF2B5EF4-FFF2-40B4-BE49-F238E27FC236}">
                <a16:creationId xmlns:a16="http://schemas.microsoft.com/office/drawing/2014/main" id="{59572B40-01A3-7EAF-C5B8-000D6904EBBD}"/>
              </a:ext>
            </a:extLst>
          </p:cNvPr>
          <p:cNvSpPr/>
          <p:nvPr/>
        </p:nvSpPr>
        <p:spPr>
          <a:xfrm>
            <a:off x="754990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88;p17">
            <a:extLst>
              <a:ext uri="{FF2B5EF4-FFF2-40B4-BE49-F238E27FC236}">
                <a16:creationId xmlns:a16="http://schemas.microsoft.com/office/drawing/2014/main" id="{A2138C0A-D63F-B196-E393-70D87DEBF3E6}"/>
              </a:ext>
            </a:extLst>
          </p:cNvPr>
          <p:cNvSpPr/>
          <p:nvPr/>
        </p:nvSpPr>
        <p:spPr>
          <a:xfrm>
            <a:off x="683982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89;p17">
            <a:extLst>
              <a:ext uri="{FF2B5EF4-FFF2-40B4-BE49-F238E27FC236}">
                <a16:creationId xmlns:a16="http://schemas.microsoft.com/office/drawing/2014/main" id="{653CD364-19D7-3745-8D3E-F906F3D8C516}"/>
              </a:ext>
            </a:extLst>
          </p:cNvPr>
          <p:cNvSpPr/>
          <p:nvPr/>
        </p:nvSpPr>
        <p:spPr>
          <a:xfrm>
            <a:off x="9679607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" name="Google Shape;192;p17">
            <a:extLst>
              <a:ext uri="{FF2B5EF4-FFF2-40B4-BE49-F238E27FC236}">
                <a16:creationId xmlns:a16="http://schemas.microsoft.com/office/drawing/2014/main" id="{E1AB6907-4E04-C4D0-827C-2C448E29DF72}"/>
              </a:ext>
            </a:extLst>
          </p:cNvPr>
          <p:cNvCxnSpPr>
            <a:cxnSpLocks/>
          </p:cNvCxnSpPr>
          <p:nvPr/>
        </p:nvCxnSpPr>
        <p:spPr>
          <a:xfrm rot="10800000">
            <a:off x="6926969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93;p17">
            <a:extLst>
              <a:ext uri="{FF2B5EF4-FFF2-40B4-BE49-F238E27FC236}">
                <a16:creationId xmlns:a16="http://schemas.microsoft.com/office/drawing/2014/main" id="{85141E47-534E-96C2-550D-CF8B36FAA3B5}"/>
              </a:ext>
            </a:extLst>
          </p:cNvPr>
          <p:cNvCxnSpPr>
            <a:cxnSpLocks/>
          </p:cNvCxnSpPr>
          <p:nvPr/>
        </p:nvCxnSpPr>
        <p:spPr>
          <a:xfrm rot="10800000">
            <a:off x="8347139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94;p17">
            <a:extLst>
              <a:ext uri="{FF2B5EF4-FFF2-40B4-BE49-F238E27FC236}">
                <a16:creationId xmlns:a16="http://schemas.microsoft.com/office/drawing/2014/main" id="{9EB206F7-D6E3-A3B7-26CB-534F2D72CD4D}"/>
              </a:ext>
            </a:extLst>
          </p:cNvPr>
          <p:cNvCxnSpPr>
            <a:cxnSpLocks/>
          </p:cNvCxnSpPr>
          <p:nvPr/>
        </p:nvCxnSpPr>
        <p:spPr>
          <a:xfrm rot="10800000">
            <a:off x="905722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95;p17">
            <a:extLst>
              <a:ext uri="{FF2B5EF4-FFF2-40B4-BE49-F238E27FC236}">
                <a16:creationId xmlns:a16="http://schemas.microsoft.com/office/drawing/2014/main" id="{E2165EF3-15EC-4C88-F0C1-E70DD258E1FB}"/>
              </a:ext>
            </a:extLst>
          </p:cNvPr>
          <p:cNvCxnSpPr>
            <a:cxnSpLocks/>
          </p:cNvCxnSpPr>
          <p:nvPr/>
        </p:nvCxnSpPr>
        <p:spPr>
          <a:xfrm rot="10800000">
            <a:off x="9767307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204;p17">
            <a:extLst>
              <a:ext uri="{FF2B5EF4-FFF2-40B4-BE49-F238E27FC236}">
                <a16:creationId xmlns:a16="http://schemas.microsoft.com/office/drawing/2014/main" id="{E0DB81CE-AB87-EF79-D2CC-9D1E585D8EC8}"/>
              </a:ext>
            </a:extLst>
          </p:cNvPr>
          <p:cNvSpPr/>
          <p:nvPr/>
        </p:nvSpPr>
        <p:spPr>
          <a:xfrm>
            <a:off x="6607739" y="4567753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BERT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C</a:t>
            </a:r>
            <a:r>
              <a:rPr lang="zh-TW" b="1" dirty="0">
                <a:solidFill>
                  <a:srgbClr val="4A86E8"/>
                </a:solidFill>
              </a:rPr>
              <a:t>ontex</a:t>
            </a:r>
            <a:r>
              <a:rPr lang="en-US" altLang="zh-TW" b="1" dirty="0">
                <a:solidFill>
                  <a:srgbClr val="4A86E8"/>
                </a:solidFill>
              </a:rPr>
              <a:t>t</a:t>
            </a:r>
            <a:r>
              <a:rPr lang="zh-TW" b="1" dirty="0">
                <a:solidFill>
                  <a:srgbClr val="4A86E8"/>
                </a:solidFill>
              </a:rPr>
              <a:t>ual </a:t>
            </a:r>
            <a:r>
              <a:rPr lang="en-US" altLang="zh-TW" b="1" dirty="0">
                <a:solidFill>
                  <a:srgbClr val="4A86E8"/>
                </a:solidFill>
              </a:rPr>
              <a:t>E</a:t>
            </a:r>
            <a:r>
              <a:rPr lang="zh-TW" b="1" dirty="0">
                <a:solidFill>
                  <a:srgbClr val="4A86E8"/>
                </a:solidFill>
              </a:rPr>
              <a:t>mbedding</a:t>
            </a:r>
            <a:r>
              <a:rPr lang="zh-TW" dirty="0"/>
              <a:t>)</a:t>
            </a:r>
            <a:endParaRPr dirty="0"/>
          </a:p>
        </p:txBody>
      </p:sp>
      <p:cxnSp>
        <p:nvCxnSpPr>
          <p:cNvPr id="112" name="Google Shape;195;p17">
            <a:extLst>
              <a:ext uri="{FF2B5EF4-FFF2-40B4-BE49-F238E27FC236}">
                <a16:creationId xmlns:a16="http://schemas.microsoft.com/office/drawing/2014/main" id="{35D8230C-B91F-711F-F2F2-C9C3CA150681}"/>
              </a:ext>
            </a:extLst>
          </p:cNvPr>
          <p:cNvCxnSpPr>
            <a:cxnSpLocks/>
          </p:cNvCxnSpPr>
          <p:nvPr/>
        </p:nvCxnSpPr>
        <p:spPr>
          <a:xfrm rot="10800000">
            <a:off x="763705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92;p17">
            <a:extLst>
              <a:ext uri="{FF2B5EF4-FFF2-40B4-BE49-F238E27FC236}">
                <a16:creationId xmlns:a16="http://schemas.microsoft.com/office/drawing/2014/main" id="{3FC8E1FA-890E-BD73-CC1E-A0F28B7F5261}"/>
              </a:ext>
            </a:extLst>
          </p:cNvPr>
          <p:cNvCxnSpPr>
            <a:cxnSpLocks/>
          </p:cNvCxnSpPr>
          <p:nvPr/>
        </p:nvCxnSpPr>
        <p:spPr>
          <a:xfrm rot="10800000">
            <a:off x="6926969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93;p17">
            <a:extLst>
              <a:ext uri="{FF2B5EF4-FFF2-40B4-BE49-F238E27FC236}">
                <a16:creationId xmlns:a16="http://schemas.microsoft.com/office/drawing/2014/main" id="{D9F59E43-A1E2-FB62-B95E-A3943CF664A6}"/>
              </a:ext>
            </a:extLst>
          </p:cNvPr>
          <p:cNvCxnSpPr>
            <a:cxnSpLocks/>
          </p:cNvCxnSpPr>
          <p:nvPr/>
        </p:nvCxnSpPr>
        <p:spPr>
          <a:xfrm rot="10800000">
            <a:off x="8347137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94;p17">
            <a:extLst>
              <a:ext uri="{FF2B5EF4-FFF2-40B4-BE49-F238E27FC236}">
                <a16:creationId xmlns:a16="http://schemas.microsoft.com/office/drawing/2014/main" id="{7CD6648E-DC1C-EC0E-53D1-38F1C2C2B0C0}"/>
              </a:ext>
            </a:extLst>
          </p:cNvPr>
          <p:cNvCxnSpPr>
            <a:cxnSpLocks/>
          </p:cNvCxnSpPr>
          <p:nvPr/>
        </p:nvCxnSpPr>
        <p:spPr>
          <a:xfrm rot="10800000">
            <a:off x="9057221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95;p17">
            <a:extLst>
              <a:ext uri="{FF2B5EF4-FFF2-40B4-BE49-F238E27FC236}">
                <a16:creationId xmlns:a16="http://schemas.microsoft.com/office/drawing/2014/main" id="{25DA74D1-FAC8-57CA-5039-88343815ADEE}"/>
              </a:ext>
            </a:extLst>
          </p:cNvPr>
          <p:cNvCxnSpPr>
            <a:cxnSpLocks/>
          </p:cNvCxnSpPr>
          <p:nvPr/>
        </p:nvCxnSpPr>
        <p:spPr>
          <a:xfrm rot="10800000">
            <a:off x="9767307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95;p17">
            <a:extLst>
              <a:ext uri="{FF2B5EF4-FFF2-40B4-BE49-F238E27FC236}">
                <a16:creationId xmlns:a16="http://schemas.microsoft.com/office/drawing/2014/main" id="{2C14B876-1C4A-636F-4EE8-28AD25172CFC}"/>
              </a:ext>
            </a:extLst>
          </p:cNvPr>
          <p:cNvCxnSpPr>
            <a:cxnSpLocks/>
          </p:cNvCxnSpPr>
          <p:nvPr/>
        </p:nvCxnSpPr>
        <p:spPr>
          <a:xfrm rot="10800000">
            <a:off x="7637053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" name="Google Shape;187;p17">
            <a:extLst>
              <a:ext uri="{FF2B5EF4-FFF2-40B4-BE49-F238E27FC236}">
                <a16:creationId xmlns:a16="http://schemas.microsoft.com/office/drawing/2014/main" id="{DE2EE9E7-1DA0-658F-48D0-84B8CBAA5820}"/>
              </a:ext>
            </a:extLst>
          </p:cNvPr>
          <p:cNvSpPr/>
          <p:nvPr/>
        </p:nvSpPr>
        <p:spPr>
          <a:xfrm>
            <a:off x="826191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87;p17">
            <a:extLst>
              <a:ext uri="{FF2B5EF4-FFF2-40B4-BE49-F238E27FC236}">
                <a16:creationId xmlns:a16="http://schemas.microsoft.com/office/drawing/2014/main" id="{27C9A567-27DF-2703-3BF3-DC70801965ED}"/>
              </a:ext>
            </a:extLst>
          </p:cNvPr>
          <p:cNvSpPr/>
          <p:nvPr/>
        </p:nvSpPr>
        <p:spPr>
          <a:xfrm>
            <a:off x="896056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02A8C332-AC64-C148-8283-2BA88D80B94A}"/>
              </a:ext>
            </a:extLst>
          </p:cNvPr>
          <p:cNvSpPr txBox="1"/>
          <p:nvPr/>
        </p:nvSpPr>
        <p:spPr>
          <a:xfrm>
            <a:off x="6607481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[CLS]</a:t>
            </a:r>
            <a:endParaRPr kumimoji="1" lang="zh-TW" altLang="en-US" sz="13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A9FE2F54-4A09-A1D9-4463-BE47C826E83B}"/>
              </a:ext>
            </a:extLst>
          </p:cNvPr>
          <p:cNvSpPr txBox="1"/>
          <p:nvPr/>
        </p:nvSpPr>
        <p:spPr>
          <a:xfrm>
            <a:off x="7255286" y="5554371"/>
            <a:ext cx="73681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study</a:t>
            </a:r>
            <a:endParaRPr kumimoji="1" lang="zh-TW" altLang="en-US" sz="1300" dirty="0"/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52805FBA-C031-BF0B-948B-2D3A3E19D0A7}"/>
              </a:ext>
            </a:extLst>
          </p:cNvPr>
          <p:cNvSpPr txBox="1"/>
          <p:nvPr/>
        </p:nvSpPr>
        <p:spPr>
          <a:xfrm>
            <a:off x="7992096" y="5554371"/>
            <a:ext cx="73681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hard</a:t>
            </a:r>
            <a:endParaRPr kumimoji="1" lang="zh-TW" altLang="en-US" sz="1300" dirty="0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E670CD33-E05E-D383-6E36-D3851C6E858B}"/>
              </a:ext>
            </a:extLst>
          </p:cNvPr>
          <p:cNvSpPr txBox="1"/>
          <p:nvPr/>
        </p:nvSpPr>
        <p:spPr>
          <a:xfrm>
            <a:off x="874829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9F09B156-E611-6D2A-68C9-3807FB3C3501}"/>
              </a:ext>
            </a:extLst>
          </p:cNvPr>
          <p:cNvSpPr txBox="1"/>
          <p:nvPr/>
        </p:nvSpPr>
        <p:spPr>
          <a:xfrm>
            <a:off x="9408044" y="5554371"/>
            <a:ext cx="7174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 err="1"/>
              <a:t>plz</a:t>
            </a:r>
            <a:endParaRPr kumimoji="1" lang="zh-TW" altLang="en-US" sz="1300" dirty="0"/>
          </a:p>
        </p:txBody>
      </p:sp>
      <p:cxnSp>
        <p:nvCxnSpPr>
          <p:cNvPr id="125" name="Google Shape;218;p17">
            <a:extLst>
              <a:ext uri="{FF2B5EF4-FFF2-40B4-BE49-F238E27FC236}">
                <a16:creationId xmlns:a16="http://schemas.microsoft.com/office/drawing/2014/main" id="{473F3D53-6A24-7B28-C5D9-F387152D36A1}"/>
              </a:ext>
            </a:extLst>
          </p:cNvPr>
          <p:cNvCxnSpPr>
            <a:cxnSpLocks/>
          </p:cNvCxnSpPr>
          <p:nvPr/>
        </p:nvCxnSpPr>
        <p:spPr>
          <a:xfrm flipV="1">
            <a:off x="3914227" y="3023925"/>
            <a:ext cx="0" cy="593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89;p17">
            <a:extLst>
              <a:ext uri="{FF2B5EF4-FFF2-40B4-BE49-F238E27FC236}">
                <a16:creationId xmlns:a16="http://schemas.microsoft.com/office/drawing/2014/main" id="{A1CB2C50-C879-6546-B45C-B7784D8B87C0}"/>
              </a:ext>
            </a:extLst>
          </p:cNvPr>
          <p:cNvSpPr/>
          <p:nvPr/>
        </p:nvSpPr>
        <p:spPr>
          <a:xfrm>
            <a:off x="10398652" y="3665353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" name="Google Shape;195;p17">
            <a:extLst>
              <a:ext uri="{FF2B5EF4-FFF2-40B4-BE49-F238E27FC236}">
                <a16:creationId xmlns:a16="http://schemas.microsoft.com/office/drawing/2014/main" id="{478D83BA-C7D3-C707-A342-E3BF7F033E88}"/>
              </a:ext>
            </a:extLst>
          </p:cNvPr>
          <p:cNvCxnSpPr>
            <a:cxnSpLocks/>
          </p:cNvCxnSpPr>
          <p:nvPr/>
        </p:nvCxnSpPr>
        <p:spPr>
          <a:xfrm rot="10800000">
            <a:off x="10486352" y="429373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" name="Google Shape;194;p17">
            <a:extLst>
              <a:ext uri="{FF2B5EF4-FFF2-40B4-BE49-F238E27FC236}">
                <a16:creationId xmlns:a16="http://schemas.microsoft.com/office/drawing/2014/main" id="{258C40FA-1A10-5F0B-C970-982009A09BBF}"/>
              </a:ext>
            </a:extLst>
          </p:cNvPr>
          <p:cNvCxnSpPr>
            <a:cxnSpLocks/>
          </p:cNvCxnSpPr>
          <p:nvPr/>
        </p:nvCxnSpPr>
        <p:spPr>
          <a:xfrm rot="10800000">
            <a:off x="1045706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7BA7909F-BD6D-9EFB-1E5E-5241672DFBEC}"/>
              </a:ext>
            </a:extLst>
          </p:cNvPr>
          <p:cNvSpPr txBox="1"/>
          <p:nvPr/>
        </p:nvSpPr>
        <p:spPr>
          <a:xfrm>
            <a:off x="1014813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30" name="Google Shape;204;p17">
            <a:extLst>
              <a:ext uri="{FF2B5EF4-FFF2-40B4-BE49-F238E27FC236}">
                <a16:creationId xmlns:a16="http://schemas.microsoft.com/office/drawing/2014/main" id="{B7E77234-E015-E8B0-DEEA-AC759BA87B22}"/>
              </a:ext>
            </a:extLst>
          </p:cNvPr>
          <p:cNvSpPr/>
          <p:nvPr/>
        </p:nvSpPr>
        <p:spPr>
          <a:xfrm>
            <a:off x="1409171" y="4571995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BERT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C</a:t>
            </a:r>
            <a:r>
              <a:rPr lang="zh-TW" b="1" dirty="0">
                <a:solidFill>
                  <a:srgbClr val="4A86E8"/>
                </a:solidFill>
              </a:rPr>
              <a:t>ontex</a:t>
            </a:r>
            <a:r>
              <a:rPr lang="en-US" altLang="zh-TW" b="1" dirty="0">
                <a:solidFill>
                  <a:srgbClr val="4A86E8"/>
                </a:solidFill>
              </a:rPr>
              <a:t>t</a:t>
            </a:r>
            <a:r>
              <a:rPr lang="zh-TW" b="1" dirty="0">
                <a:solidFill>
                  <a:srgbClr val="4A86E8"/>
                </a:solidFill>
              </a:rPr>
              <a:t>ual </a:t>
            </a:r>
            <a:r>
              <a:rPr lang="en-US" altLang="zh-TW" b="1" dirty="0">
                <a:solidFill>
                  <a:srgbClr val="4A86E8"/>
                </a:solidFill>
              </a:rPr>
              <a:t>E</a:t>
            </a:r>
            <a:r>
              <a:rPr lang="zh-TW" b="1" dirty="0">
                <a:solidFill>
                  <a:srgbClr val="4A86E8"/>
                </a:solidFill>
              </a:rPr>
              <a:t>mbedding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131" name="Google Shape;189;p17">
            <a:extLst>
              <a:ext uri="{FF2B5EF4-FFF2-40B4-BE49-F238E27FC236}">
                <a16:creationId xmlns:a16="http://schemas.microsoft.com/office/drawing/2014/main" id="{A7D052AC-D463-C5AF-A591-99C18CB61E86}"/>
              </a:ext>
            </a:extLst>
          </p:cNvPr>
          <p:cNvSpPr/>
          <p:nvPr/>
        </p:nvSpPr>
        <p:spPr>
          <a:xfrm>
            <a:off x="5238170" y="3665353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" name="Google Shape;195;p17">
            <a:extLst>
              <a:ext uri="{FF2B5EF4-FFF2-40B4-BE49-F238E27FC236}">
                <a16:creationId xmlns:a16="http://schemas.microsoft.com/office/drawing/2014/main" id="{60600E89-5453-EF68-D985-38A317C2F7A4}"/>
              </a:ext>
            </a:extLst>
          </p:cNvPr>
          <p:cNvCxnSpPr>
            <a:cxnSpLocks/>
          </p:cNvCxnSpPr>
          <p:nvPr/>
        </p:nvCxnSpPr>
        <p:spPr>
          <a:xfrm rot="10800000">
            <a:off x="5325870" y="429373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94;p17">
            <a:extLst>
              <a:ext uri="{FF2B5EF4-FFF2-40B4-BE49-F238E27FC236}">
                <a16:creationId xmlns:a16="http://schemas.microsoft.com/office/drawing/2014/main" id="{B96111B0-6497-73D3-60AD-97486643F3EC}"/>
              </a:ext>
            </a:extLst>
          </p:cNvPr>
          <p:cNvCxnSpPr>
            <a:cxnSpLocks/>
          </p:cNvCxnSpPr>
          <p:nvPr/>
        </p:nvCxnSpPr>
        <p:spPr>
          <a:xfrm rot="10800000">
            <a:off x="5304033" y="5391784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9FFE0A9B-BCD2-39C8-0172-6FC6CA736A8A}"/>
              </a:ext>
            </a:extLst>
          </p:cNvPr>
          <p:cNvSpPr txBox="1"/>
          <p:nvPr/>
        </p:nvSpPr>
        <p:spPr>
          <a:xfrm>
            <a:off x="4995099" y="5557472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35" name="橢圓 134">
            <a:extLst>
              <a:ext uri="{FF2B5EF4-FFF2-40B4-BE49-F238E27FC236}">
                <a16:creationId xmlns:a16="http://schemas.microsoft.com/office/drawing/2014/main" id="{0E02166C-27AB-9A44-EE56-993C9EC6D96B}"/>
              </a:ext>
            </a:extLst>
          </p:cNvPr>
          <p:cNvSpPr/>
          <p:nvPr/>
        </p:nvSpPr>
        <p:spPr>
          <a:xfrm>
            <a:off x="6569567" y="5442805"/>
            <a:ext cx="712443" cy="585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AB7628-2F91-9C65-3980-4BC58D1E4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92" y="1574318"/>
            <a:ext cx="10058400" cy="1244437"/>
          </a:xfrm>
        </p:spPr>
        <p:txBody>
          <a:bodyPr vert="horz" lIns="0" tIns="45720" rIns="0" bIns="45720" rtlCol="0" anchor="t">
            <a:normAutofit/>
          </a:bodyPr>
          <a:lstStyle/>
          <a:p>
            <a:pPr indent="-36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Microsoft JhengHei" panose="020B0604030504040204" pitchFamily="34" charset="-120"/>
                <a:cs typeface="+mn-lt"/>
              </a:rPr>
              <a:t>BERT</a:t>
            </a:r>
            <a:r>
              <a:rPr lang="zh-TW" altLang="en-US" dirty="0">
                <a:ea typeface="Microsoft JhengHei" panose="020B0604030504040204" pitchFamily="34" charset="-120"/>
                <a:cs typeface="+mn-lt"/>
              </a:rPr>
              <a:t> 有兩種預訓練任務：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04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5" grpId="0"/>
      <p:bldP spid="86" grpId="0"/>
      <p:bldP spid="87" grpId="0"/>
      <p:bldP spid="89" grpId="0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  <p:bldP spid="104" grpId="0" animBg="1"/>
      <p:bldP spid="105" grpId="0" animBg="1"/>
      <p:bldP spid="106" grpId="0" animBg="1"/>
      <p:bldP spid="111" grpId="0" animBg="1"/>
      <p:bldP spid="118" grpId="0" animBg="1"/>
      <p:bldP spid="119" grpId="0" animBg="1"/>
      <p:bldP spid="120" grpId="0"/>
      <p:bldP spid="121" grpId="0"/>
      <p:bldP spid="122" grpId="0"/>
      <p:bldP spid="123" grpId="0"/>
      <p:bldP spid="124" grpId="0"/>
      <p:bldP spid="126" grpId="0" animBg="1"/>
      <p:bldP spid="129" grpId="0"/>
      <p:bldP spid="130" grpId="0" animBg="1"/>
      <p:bldP spid="131" grpId="0" animBg="1"/>
      <p:bldP spid="134" grpId="0"/>
      <p:bldP spid="1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FE2748-B8DE-69B6-55DB-3C5092EA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Next Sentence Prediction (NSP)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B1DA35-3410-D556-3B9C-3B61B111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6F9ACB5-81CC-6C73-DFB6-EFB87967B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429" y="2209192"/>
            <a:ext cx="6092429" cy="29944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74B6F24-489A-0CA7-D2DD-20A7BDD1E8FE}"/>
              </a:ext>
            </a:extLst>
          </p:cNvPr>
          <p:cNvSpPr txBox="1"/>
          <p:nvPr/>
        </p:nvSpPr>
        <p:spPr>
          <a:xfrm>
            <a:off x="653142" y="2106778"/>
            <a:ext cx="4178165" cy="1686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二元分類任務</a:t>
            </a:r>
            <a:endParaRPr kumimoji="1" lang="en" altLang="zh-TW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目標：使模型能夠理解</a:t>
            </a:r>
            <a:r>
              <a:rPr kumimoji="1" lang="zh-TW" altLang="en-US" sz="2400" dirty="0">
                <a:solidFill>
                  <a:srgbClr val="FF0000"/>
                </a:solidFill>
              </a:rPr>
              <a:t>不同語句之間</a:t>
            </a:r>
            <a:r>
              <a:rPr kumimoji="1" lang="zh-TW" altLang="en-US" sz="2400" dirty="0"/>
              <a:t>的關聯性</a:t>
            </a:r>
          </a:p>
        </p:txBody>
      </p:sp>
    </p:spTree>
    <p:extLst>
      <p:ext uri="{BB962C8B-B14F-4D97-AF65-F5344CB8AC3E}">
        <p14:creationId xmlns:p14="http://schemas.microsoft.com/office/powerpoint/2010/main" val="130116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E9FA-7B65-7809-51D0-57247468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Summary  - Key information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2374DE-3D09-47D1-64EF-F07B5616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DBC481-26FC-BDFE-5A7B-9503C8F3571B}"/>
              </a:ext>
            </a:extLst>
          </p:cNvPr>
          <p:cNvSpPr txBox="1"/>
          <p:nvPr/>
        </p:nvSpPr>
        <p:spPr>
          <a:xfrm>
            <a:off x="636815" y="1850797"/>
            <a:ext cx="10918370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Self-supervised Learning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的訓練方式是從資料中取得「答案」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節省大量標註成本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適用於大規模未標資料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影像處理領域以重建影像為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SSL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的主要方法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自然語言處理領域以預測文章或句子中的下一個字為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SSL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的主要方法</a:t>
            </a:r>
          </a:p>
        </p:txBody>
      </p:sp>
    </p:spTree>
    <p:extLst>
      <p:ext uri="{BB962C8B-B14F-4D97-AF65-F5344CB8AC3E}">
        <p14:creationId xmlns:p14="http://schemas.microsoft.com/office/powerpoint/2010/main" val="1557608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091F3A-F45F-2328-E980-CE8B9AC3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Encoder vs. Decoder in Pre-training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C03F16-51D1-3EF7-C341-FA485265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5E0534D-B9FA-8092-FD48-28A2EC2B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470073"/>
              </p:ext>
            </p:extLst>
          </p:nvPr>
        </p:nvGraphicFramePr>
        <p:xfrm>
          <a:off x="1226128" y="2590029"/>
          <a:ext cx="9310254" cy="2563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418">
                  <a:extLst>
                    <a:ext uri="{9D8B030D-6E8A-4147-A177-3AD203B41FA5}">
                      <a16:colId xmlns:a16="http://schemas.microsoft.com/office/drawing/2014/main" val="2627988006"/>
                    </a:ext>
                  </a:extLst>
                </a:gridCol>
                <a:gridCol w="3103418">
                  <a:extLst>
                    <a:ext uri="{9D8B030D-6E8A-4147-A177-3AD203B41FA5}">
                      <a16:colId xmlns:a16="http://schemas.microsoft.com/office/drawing/2014/main" val="847722696"/>
                    </a:ext>
                  </a:extLst>
                </a:gridCol>
                <a:gridCol w="3103418">
                  <a:extLst>
                    <a:ext uri="{9D8B030D-6E8A-4147-A177-3AD203B41FA5}">
                      <a16:colId xmlns:a16="http://schemas.microsoft.com/office/drawing/2014/main" val="4199296597"/>
                    </a:ext>
                  </a:extLst>
                </a:gridCol>
              </a:tblGrid>
              <a:tr h="57411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Encoder (e.g., BERT)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Decoder (e.g., GPT)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047364"/>
                  </a:ext>
                </a:extLst>
              </a:tr>
              <a:tr h="574116">
                <a:tc>
                  <a:txBody>
                    <a:bodyPr/>
                    <a:lstStyle/>
                    <a:p>
                      <a:r>
                        <a:rPr lang="en-US" altLang="zh-TW" dirty="0"/>
                        <a:t>Pre-training </a:t>
                      </a:r>
                      <a:r>
                        <a:rPr lang="zh-TW" altLang="en-US" dirty="0"/>
                        <a:t>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克漏字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文字接龍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443118"/>
                  </a:ext>
                </a:extLst>
              </a:tr>
              <a:tr h="1415629">
                <a:tc>
                  <a:txBody>
                    <a:bodyPr/>
                    <a:lstStyle/>
                    <a:p>
                      <a:r>
                        <a:rPr lang="en-US" altLang="zh-TW" dirty="0"/>
                        <a:t>Pre-training </a:t>
                      </a:r>
                      <a:r>
                        <a:rPr lang="zh-TW" altLang="en-US" dirty="0"/>
                        <a:t>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透過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預測被遮住的字</a:t>
                      </a:r>
                      <a:r>
                        <a:rPr lang="zh-TW" altLang="en-US" dirty="0"/>
                        <a:t>來讓模型熟悉字跟字之間的關係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透過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根據上下文預測下一個字</a:t>
                      </a:r>
                      <a:r>
                        <a:rPr lang="zh-TW" altLang="en-US" dirty="0"/>
                        <a:t>來讓模型熟悉字跟字之間的關係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095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238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9960-58C3-4350-A384-7ECE58D2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86D14-4248-2D35-52DC-621020EB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</a:t>
            </a:r>
            <a:r>
              <a:rPr kumimoji="1" lang="en-US" altLang="zh-TW" dirty="0"/>
              <a:t> Pre-training</a:t>
            </a:r>
            <a:r>
              <a:rPr kumimoji="1" lang="zh-TW" altLang="en-US" dirty="0"/>
              <a:t>，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再</a:t>
            </a:r>
            <a:r>
              <a:rPr kumimoji="1" lang="zh-TW" altLang="en-US" dirty="0"/>
              <a:t> </a:t>
            </a:r>
            <a:r>
              <a:rPr kumimoji="1" lang="en-US" altLang="zh-TW" dirty="0"/>
              <a:t>Fine-tuning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37B124-F096-1D20-40B6-A856CA84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56E07A6D-E2C8-BC3C-6647-8A5121273383}"/>
              </a:ext>
            </a:extLst>
          </p:cNvPr>
          <p:cNvSpPr/>
          <p:nvPr/>
        </p:nvSpPr>
        <p:spPr>
          <a:xfrm>
            <a:off x="2133897" y="2236380"/>
            <a:ext cx="2557219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Pre-training</a:t>
            </a:r>
            <a:endParaRPr kumimoji="1" lang="zh-TW" alt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CEB1E3E-4B56-CEA8-0BC5-76C9C6ED35E1}"/>
              </a:ext>
            </a:extLst>
          </p:cNvPr>
          <p:cNvSpPr/>
          <p:nvPr/>
        </p:nvSpPr>
        <p:spPr>
          <a:xfrm>
            <a:off x="6956157" y="2236381"/>
            <a:ext cx="2557219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Fine-tuning</a:t>
            </a:r>
            <a:endParaRPr kumimoji="1" lang="zh-TW" altLang="en-US" sz="2800" dirty="0"/>
          </a:p>
        </p:txBody>
      </p:sp>
      <p:cxnSp>
        <p:nvCxnSpPr>
          <p:cNvPr id="7" name="Google Shape;195;p17">
            <a:extLst>
              <a:ext uri="{FF2B5EF4-FFF2-40B4-BE49-F238E27FC236}">
                <a16:creationId xmlns:a16="http://schemas.microsoft.com/office/drawing/2014/main" id="{A832F146-AD71-B715-A500-AF9834498BF3}"/>
              </a:ext>
            </a:extLst>
          </p:cNvPr>
          <p:cNvCxnSpPr>
            <a:cxnSpLocks/>
          </p:cNvCxnSpPr>
          <p:nvPr/>
        </p:nvCxnSpPr>
        <p:spPr>
          <a:xfrm>
            <a:off x="5176731" y="2907830"/>
            <a:ext cx="1293811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230A2250-905D-BC59-B590-5E4ABBBA03D5}"/>
              </a:ext>
            </a:extLst>
          </p:cNvPr>
          <p:cNvSpPr txBox="1"/>
          <p:nvPr/>
        </p:nvSpPr>
        <p:spPr>
          <a:xfrm>
            <a:off x="1526834" y="4041933"/>
            <a:ext cx="3771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大量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資料上進行訓練，通常是自監督式 </a:t>
            </a:r>
            <a:r>
              <a:rPr kumimoji="1" lang="en-US" altLang="zh-TW" dirty="0">
                <a:ea typeface="Microsoft JhengHei" panose="020B0604030504040204" pitchFamily="34" charset="-120"/>
              </a:rPr>
              <a:t>(Self-Supervised Training)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592796A-986B-861D-73E9-C3B2DFDF20CE}"/>
              </a:ext>
            </a:extLst>
          </p:cNvPr>
          <p:cNvSpPr txBox="1"/>
          <p:nvPr/>
        </p:nvSpPr>
        <p:spPr>
          <a:xfrm>
            <a:off x="6444711" y="4041933"/>
            <a:ext cx="3771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目標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</a:t>
            </a:r>
            <a:r>
              <a:rPr kumimoji="1" lang="en-US" altLang="zh-TW" dirty="0">
                <a:ea typeface="Microsoft JhengHei" panose="020B0604030504040204" pitchFamily="34" charset="-120"/>
              </a:rPr>
              <a:t> (Down-stream tasks, </a:t>
            </a:r>
            <a:r>
              <a:rPr kumimoji="1" lang="zh-TW" altLang="en-US" dirty="0">
                <a:ea typeface="Microsoft JhengHei" panose="020B0604030504040204" pitchFamily="34" charset="-120"/>
              </a:rPr>
              <a:t>下游任務</a:t>
            </a:r>
            <a:r>
              <a:rPr kumimoji="1" lang="en-US" altLang="zh-TW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dirty="0">
                <a:ea typeface="Microsoft JhengHei" panose="020B0604030504040204" pitchFamily="34" charset="-120"/>
              </a:rPr>
              <a:t>進行訓練，通常是監督式 </a:t>
            </a:r>
            <a:r>
              <a:rPr kumimoji="1" lang="en-US" altLang="zh-TW" dirty="0">
                <a:ea typeface="Microsoft JhengHei" panose="020B0604030504040204" pitchFamily="34" charset="-120"/>
              </a:rPr>
              <a:t>(Supervised Training)</a:t>
            </a:r>
            <a:r>
              <a:rPr kumimoji="1" lang="zh-TW" altLang="en-US" dirty="0">
                <a:ea typeface="Microsoft JhengHei" panose="020B0604030504040204" pitchFamily="34" charset="-120"/>
              </a:rPr>
              <a:t>，也就是需要有標註的資料才能進行模型訓練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F25924DB-B45F-E4C2-1027-A5C3466AC498}"/>
              </a:ext>
            </a:extLst>
          </p:cNvPr>
          <p:cNvSpPr/>
          <p:nvPr/>
        </p:nvSpPr>
        <p:spPr>
          <a:xfrm>
            <a:off x="2211503" y="5010250"/>
            <a:ext cx="2402006" cy="464024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影像還原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C15674A8-65CF-DABC-B59B-38F6C7D3D4B9}"/>
              </a:ext>
            </a:extLst>
          </p:cNvPr>
          <p:cNvSpPr/>
          <p:nvPr/>
        </p:nvSpPr>
        <p:spPr>
          <a:xfrm>
            <a:off x="2211503" y="5564248"/>
            <a:ext cx="2402006" cy="464024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文字還原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06AC0832-FD01-F3E5-A161-482F2F5547F4}"/>
              </a:ext>
            </a:extLst>
          </p:cNvPr>
          <p:cNvSpPr/>
          <p:nvPr/>
        </p:nvSpPr>
        <p:spPr>
          <a:xfrm>
            <a:off x="2211503" y="6134098"/>
            <a:ext cx="2402006" cy="464024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對比學習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2070A9A1-1FAA-0EE1-2A2B-AB235813D9F0}"/>
              </a:ext>
            </a:extLst>
          </p:cNvPr>
          <p:cNvSpPr/>
          <p:nvPr/>
        </p:nvSpPr>
        <p:spPr>
          <a:xfrm>
            <a:off x="7010749" y="5343630"/>
            <a:ext cx="2402006" cy="464024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影像分類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06CF359A-8B5A-905E-2165-650459F5DAA9}"/>
              </a:ext>
            </a:extLst>
          </p:cNvPr>
          <p:cNvSpPr/>
          <p:nvPr/>
        </p:nvSpPr>
        <p:spPr>
          <a:xfrm>
            <a:off x="7010749" y="5913480"/>
            <a:ext cx="2402006" cy="464024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文字分類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9ECA41D-FEFE-C0B5-F9FD-E6354FFCED12}"/>
              </a:ext>
            </a:extLst>
          </p:cNvPr>
          <p:cNvSpPr txBox="1"/>
          <p:nvPr/>
        </p:nvSpPr>
        <p:spPr>
          <a:xfrm>
            <a:off x="8079475" y="6366110"/>
            <a:ext cx="12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A2DF355-C451-BBA5-EEF3-1274F5EE5D65}"/>
              </a:ext>
            </a:extLst>
          </p:cNvPr>
          <p:cNvSpPr txBox="1"/>
          <p:nvPr/>
        </p:nvSpPr>
        <p:spPr>
          <a:xfrm>
            <a:off x="4726787" y="6181444"/>
            <a:ext cx="12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815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  <p:bldP spid="13" grpId="0" animBg="1"/>
      <p:bldP spid="14" grpId="0" animBg="1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C11DE-095F-C7F8-6944-025200B1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EB7266B-9027-11EC-CA60-26E9D1C95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大型語言模型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203BE7-4195-D630-EE4C-2D45439B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DFC464-F871-CC65-B7CE-56785E605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LLM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098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868FB-6F6F-35BC-A23D-E0A4D525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Revolution of </a:t>
            </a:r>
            <a:r>
              <a:rPr kumimoji="1" lang="en-US" altLang="zh-TW" dirty="0" err="1"/>
              <a:t>ChatGPT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D7684D-DA0F-B6F8-7ABC-6110B2C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07DDE-D011-6299-A807-ED42ACC9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13" y="2080805"/>
            <a:ext cx="7060629" cy="397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E1A2F0-2B3B-1E98-C744-317CE2B4F219}"/>
              </a:ext>
            </a:extLst>
          </p:cNvPr>
          <p:cNvSpPr txBox="1"/>
          <p:nvPr/>
        </p:nvSpPr>
        <p:spPr>
          <a:xfrm>
            <a:off x="2477765" y="6257465"/>
            <a:ext cx="7269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poole.ncsu.edu</a:t>
            </a:r>
            <a:r>
              <a:rPr kumimoji="1" lang="en-US" altLang="zh-TW" sz="1400" dirty="0"/>
              <a:t>/thought-leadership/article/lets-chat-about-</a:t>
            </a:r>
            <a:r>
              <a:rPr kumimoji="1" lang="en-US" altLang="zh-TW" sz="1400" dirty="0" err="1"/>
              <a:t>chatgpt</a:t>
            </a:r>
            <a:r>
              <a:rPr kumimoji="1" lang="en-US" altLang="zh-TW" sz="1400" dirty="0"/>
              <a:t>/</a:t>
            </a:r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openai.com</a:t>
            </a:r>
            <a:r>
              <a:rPr kumimoji="1" lang="en" altLang="zh-TW" sz="1400" dirty="0"/>
              <a:t>/index/</a:t>
            </a:r>
            <a:r>
              <a:rPr kumimoji="1" lang="en" altLang="zh-TW" sz="1400" dirty="0" err="1"/>
              <a:t>chatgpt</a:t>
            </a:r>
            <a:r>
              <a:rPr kumimoji="1" lang="en" altLang="zh-TW" sz="1400" dirty="0"/>
              <a:t>/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202C2-0880-D4B3-31EA-6667DAC9DEA5}"/>
              </a:ext>
            </a:extLst>
          </p:cNvPr>
          <p:cNvSpPr txBox="1"/>
          <p:nvPr/>
        </p:nvSpPr>
        <p:spPr>
          <a:xfrm>
            <a:off x="653142" y="1586711"/>
            <a:ext cx="486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ChatGPT</a:t>
            </a:r>
            <a:r>
              <a:rPr kumimoji="1" lang="en" altLang="zh-TW" dirty="0"/>
              <a:t> came out in November, 2022.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8626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383B8E-7820-D6F6-1C6B-194598F6A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寫程式？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5587BB-EC37-736E-70C2-05C8113B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68C2ED-30D9-52AF-9412-E7017E000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443" y="1877450"/>
            <a:ext cx="7457114" cy="40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01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C97F4-586E-F208-C8EA-193C69B0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Code Llama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5FDBBC-AD7B-D79D-01BB-9B2DBEF3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DCAE8C-A040-8805-C91A-409E8AD8C9CB}"/>
              </a:ext>
            </a:extLst>
          </p:cNvPr>
          <p:cNvSpPr txBox="1"/>
          <p:nvPr/>
        </p:nvSpPr>
        <p:spPr>
          <a:xfrm>
            <a:off x="8139003" y="987093"/>
            <a:ext cx="341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/abs/2308.12950</a:t>
            </a:r>
            <a:endParaRPr kumimoji="1" lang="zh-TW" altLang="en-US" dirty="0"/>
          </a:p>
        </p:txBody>
      </p:sp>
      <p:pic>
        <p:nvPicPr>
          <p:cNvPr id="7" name="圖片 6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57AF73A1-E2C5-469B-5F13-07928441D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627" y="1514953"/>
            <a:ext cx="9036745" cy="508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31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01E046-4B7F-576F-5217-73815E85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大型語言模型的演化樹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DC1253-FB74-481A-3604-569596C8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7F15F43-9333-0F89-6741-3E82150A4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86" y="1541284"/>
            <a:ext cx="6521370" cy="508008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D59790F-3374-1176-1EF0-C3FA17FE1DED}"/>
              </a:ext>
            </a:extLst>
          </p:cNvPr>
          <p:cNvSpPr txBox="1"/>
          <p:nvPr/>
        </p:nvSpPr>
        <p:spPr>
          <a:xfrm>
            <a:off x="7976565" y="5882415"/>
            <a:ext cx="3594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200" dirty="0"/>
              <a:t>Yang, </a:t>
            </a:r>
            <a:r>
              <a:rPr kumimoji="1" lang="en" altLang="zh-TW" sz="1200" dirty="0" err="1"/>
              <a:t>Jingfeng</a:t>
            </a:r>
            <a:r>
              <a:rPr kumimoji="1" lang="en" altLang="zh-TW" sz="1200" dirty="0"/>
              <a:t>, et al. "Harnessing the power of </a:t>
            </a:r>
            <a:r>
              <a:rPr kumimoji="1" lang="en" altLang="zh-TW" sz="1200" dirty="0" err="1"/>
              <a:t>llms</a:t>
            </a:r>
            <a:r>
              <a:rPr kumimoji="1" lang="en" altLang="zh-TW" sz="1200" dirty="0"/>
              <a:t> in practice: A survey on </a:t>
            </a:r>
            <a:r>
              <a:rPr kumimoji="1" lang="en" altLang="zh-TW" sz="1200" dirty="0" err="1"/>
              <a:t>chatgpt</a:t>
            </a:r>
            <a:r>
              <a:rPr kumimoji="1" lang="en" altLang="zh-TW" sz="1200" dirty="0"/>
              <a:t> and beyond." ACM Transactions on Knowledge Discovery from Data 18.6 (2024): 1-32.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34781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E769A-E8A8-2117-57F5-8A9F5922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+mj-lt"/>
                <a:cs typeface="Times New Roman"/>
              </a:rPr>
              <a:t>NLP </a:t>
            </a:r>
            <a:r>
              <a:rPr lang="en-US" altLang="zh-TW" dirty="0">
                <a:ea typeface="+mj-lt"/>
                <a:cs typeface="Times New Roman"/>
              </a:rPr>
              <a:t>Model </a:t>
            </a:r>
            <a:r>
              <a:rPr lang="en-US" altLang="zh-TW" sz="4800" dirty="0">
                <a:ea typeface="+mj-lt"/>
                <a:cs typeface="Times New Roman"/>
              </a:rPr>
              <a:t>Sizes (2018 – 2025)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E4A54C-F7AA-7493-444D-BD6FA398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圖片 5" descr="一張含有 文字, 行, 繪圖, 數字 的圖片&#10;&#10;AI 產生的內容可能不正確。">
            <a:extLst>
              <a:ext uri="{FF2B5EF4-FFF2-40B4-BE49-F238E27FC236}">
                <a16:creationId xmlns:a16="http://schemas.microsoft.com/office/drawing/2014/main" id="{9327E867-45B1-7122-4696-DE563E508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214" y="2036854"/>
            <a:ext cx="9867069" cy="418363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B999603-C87E-8FDB-9B00-0D869C77C558}"/>
              </a:ext>
            </a:extLst>
          </p:cNvPr>
          <p:cNvSpPr txBox="1"/>
          <p:nvPr/>
        </p:nvSpPr>
        <p:spPr>
          <a:xfrm>
            <a:off x="653143" y="2349909"/>
            <a:ext cx="7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2025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EBE7AFF-1B48-84B0-F6B5-CFBBCFEF434A}"/>
              </a:ext>
            </a:extLst>
          </p:cNvPr>
          <p:cNvSpPr txBox="1"/>
          <p:nvPr/>
        </p:nvSpPr>
        <p:spPr>
          <a:xfrm>
            <a:off x="653143" y="5392993"/>
            <a:ext cx="7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2018</a:t>
            </a:r>
            <a:endParaRPr kumimoji="1" lang="zh-TW" altLang="en-US" dirty="0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E4C60897-BF57-3F4C-C90B-5AD99C0E277C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024662" y="2719241"/>
            <a:ext cx="0" cy="26737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F97C908-6F94-661D-132A-C0C6C4231402}"/>
              </a:ext>
            </a:extLst>
          </p:cNvPr>
          <p:cNvSpPr txBox="1"/>
          <p:nvPr/>
        </p:nvSpPr>
        <p:spPr>
          <a:xfrm>
            <a:off x="7322103" y="1390523"/>
            <a:ext cx="313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dirty="0"/>
              <a:t>💰💰💰💰💰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406BF29-CDFF-984D-98B4-2F791E2E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168" y="872796"/>
            <a:ext cx="1343045" cy="13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4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7DFF94-A242-C744-529C-435DA4ED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很多厲害的大型語言模型都需要上網</a:t>
            </a:r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037C42-39C2-67D3-8C2F-5489F702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2048765-01F4-B795-0585-E166D3B33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558" y="2583946"/>
            <a:ext cx="3317240" cy="331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F63747A-4941-F05E-3069-5E7824DDC51A}"/>
              </a:ext>
            </a:extLst>
          </p:cNvPr>
          <p:cNvSpPr txBox="1"/>
          <p:nvPr/>
        </p:nvSpPr>
        <p:spPr>
          <a:xfrm>
            <a:off x="5655386" y="2138770"/>
            <a:ext cx="400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Llama (7B - 65B) by Meta (2023)</a:t>
            </a:r>
            <a:endParaRPr kumimoji="1" lang="zh-TW" altLang="en-US" dirty="0"/>
          </a:p>
        </p:txBody>
      </p:sp>
      <p:pic>
        <p:nvPicPr>
          <p:cNvPr id="3" name="Picture 2" descr="掌控社群媒體的隱形力量 一文看懂Meta AI">
            <a:extLst>
              <a:ext uri="{FF2B5EF4-FFF2-40B4-BE49-F238E27FC236}">
                <a16:creationId xmlns:a16="http://schemas.microsoft.com/office/drawing/2014/main" id="{CFBBCF11-AB49-D6AB-9D2E-3CC05EFD2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976" y="3204972"/>
            <a:ext cx="2681681" cy="140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544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DE91B7-EAD0-7C34-7C48-34E13D72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544217-73B1-BC6E-CA01-F6DB30723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3422"/>
            <a:ext cx="7772400" cy="554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53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8BCDA0-487C-1827-E408-A70A1FFD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以前的 </a:t>
            </a:r>
            <a:r>
              <a:rPr kumimoji="1" lang="en-US" altLang="zh-TW" dirty="0"/>
              <a:t>GPT</a:t>
            </a:r>
            <a:r>
              <a:rPr kumimoji="1" lang="zh-TW" altLang="en-US" dirty="0"/>
              <a:t> 有口吃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9575A-6C29-1E98-B79E-387E71BC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6C1DD5-97DE-81CF-FCD5-B617DB2D1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05" y="2082990"/>
            <a:ext cx="10155190" cy="391048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1A4BF0C-9016-F054-3F01-09E4E7DF534E}"/>
              </a:ext>
            </a:extLst>
          </p:cNvPr>
          <p:cNvSpPr txBox="1"/>
          <p:nvPr/>
        </p:nvSpPr>
        <p:spPr>
          <a:xfrm>
            <a:off x="749807" y="1536192"/>
            <a:ext cx="4566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/>
              <a:t>InstructGPT</a:t>
            </a:r>
            <a:r>
              <a:rPr kumimoji="1" lang="en-US" altLang="zh-TW" sz="2000" dirty="0"/>
              <a:t>: </a:t>
            </a:r>
            <a:r>
              <a:rPr kumimoji="1" lang="en-US" altLang="zh-TW" sz="2000" dirty="0" err="1"/>
              <a:t>ChatGPT</a:t>
            </a:r>
            <a:r>
              <a:rPr kumimoji="1" lang="en-US" altLang="zh-TW" sz="2000" dirty="0"/>
              <a:t> </a:t>
            </a:r>
            <a:r>
              <a:rPr kumimoji="1" lang="zh-TW" altLang="en-US" sz="2000" dirty="0"/>
              <a:t>的前身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72633A-D4F5-4FBB-4D43-FD390B8BEDCA}"/>
              </a:ext>
            </a:extLst>
          </p:cNvPr>
          <p:cNvSpPr txBox="1"/>
          <p:nvPr/>
        </p:nvSpPr>
        <p:spPr>
          <a:xfrm>
            <a:off x="2642616" y="6257465"/>
            <a:ext cx="7982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openai.com</a:t>
            </a:r>
            <a:r>
              <a:rPr kumimoji="1" lang="en-US" altLang="zh-TW" sz="1200" dirty="0"/>
              <a:t>/index/instruction-following/</a:t>
            </a:r>
          </a:p>
          <a:p>
            <a:r>
              <a:rPr kumimoji="1" lang="en" altLang="zh-TW" sz="1200" dirty="0"/>
              <a:t>Ouyang, Long, et al. “Training language models to follow instructions with human feedback.”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2022.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40812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9C1CA-7917-2BE2-465A-677A71A8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GPT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系列作品時間線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F44DE6-C0A7-9422-B69D-EA16ECC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AC5B4B8-3085-A898-55F9-3CAF218C72DA}"/>
              </a:ext>
            </a:extLst>
          </p:cNvPr>
          <p:cNvCxnSpPr/>
          <p:nvPr/>
        </p:nvCxnSpPr>
        <p:spPr>
          <a:xfrm>
            <a:off x="2300630" y="1978848"/>
            <a:ext cx="0" cy="41989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橢圓 4">
            <a:extLst>
              <a:ext uri="{FF2B5EF4-FFF2-40B4-BE49-F238E27FC236}">
                <a16:creationId xmlns:a16="http://schemas.microsoft.com/office/drawing/2014/main" id="{439AFCA8-6D14-D3F8-6EF7-A75FEEFEE48F}"/>
              </a:ext>
            </a:extLst>
          </p:cNvPr>
          <p:cNvSpPr/>
          <p:nvPr/>
        </p:nvSpPr>
        <p:spPr>
          <a:xfrm>
            <a:off x="2157983" y="2286086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5ADBF2B-0BD9-EB83-CA81-A376629983EC}"/>
              </a:ext>
            </a:extLst>
          </p:cNvPr>
          <p:cNvSpPr txBox="1"/>
          <p:nvPr/>
        </p:nvSpPr>
        <p:spPr>
          <a:xfrm>
            <a:off x="2637128" y="2247637"/>
            <a:ext cx="679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(GPT-1) Improving language understanding by generative pre-training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2CE923-D0F8-94AC-DAF7-DD41B064D9D3}"/>
              </a:ext>
            </a:extLst>
          </p:cNvPr>
          <p:cNvSpPr txBox="1"/>
          <p:nvPr/>
        </p:nvSpPr>
        <p:spPr>
          <a:xfrm>
            <a:off x="701042" y="2247637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2018/06/11</a:t>
            </a:r>
            <a:endParaRPr kumimoji="1"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722DC01-D93C-7658-52E2-0FA76CB8B32D}"/>
              </a:ext>
            </a:extLst>
          </p:cNvPr>
          <p:cNvSpPr/>
          <p:nvPr/>
        </p:nvSpPr>
        <p:spPr>
          <a:xfrm>
            <a:off x="2157983" y="3063666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9A618C-1B07-2183-EF2B-65850BDFD006}"/>
              </a:ext>
            </a:extLst>
          </p:cNvPr>
          <p:cNvSpPr txBox="1"/>
          <p:nvPr/>
        </p:nvSpPr>
        <p:spPr>
          <a:xfrm>
            <a:off x="2637127" y="3021646"/>
            <a:ext cx="679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(GPT-2) Language models are multi-task learners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9AFD01-D628-26AA-2D6C-43A9BB5053B8}"/>
              </a:ext>
            </a:extLst>
          </p:cNvPr>
          <p:cNvSpPr txBox="1"/>
          <p:nvPr/>
        </p:nvSpPr>
        <p:spPr>
          <a:xfrm>
            <a:off x="2637127" y="4036290"/>
            <a:ext cx="679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(GPT-3) Language models are few-shot learners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46AF2BF-58D3-1570-FB62-3EB7CE798199}"/>
              </a:ext>
            </a:extLst>
          </p:cNvPr>
          <p:cNvSpPr txBox="1"/>
          <p:nvPr/>
        </p:nvSpPr>
        <p:spPr>
          <a:xfrm>
            <a:off x="701042" y="3021646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2019/02/14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01F6822-C57B-6B62-01E8-50977809A3E0}"/>
              </a:ext>
            </a:extLst>
          </p:cNvPr>
          <p:cNvSpPr txBox="1"/>
          <p:nvPr/>
        </p:nvSpPr>
        <p:spPr>
          <a:xfrm>
            <a:off x="701042" y="4032719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2020/05/28</a:t>
            </a:r>
            <a:endParaRPr kumimoji="1" lang="zh-TW" altLang="en-US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5D634AA5-7FEE-B0A4-2BD6-A10F32DDE57B}"/>
              </a:ext>
            </a:extLst>
          </p:cNvPr>
          <p:cNvSpPr/>
          <p:nvPr/>
        </p:nvSpPr>
        <p:spPr>
          <a:xfrm>
            <a:off x="2157982" y="4078310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47978BA-139F-775B-A5BA-EFE52818C134}"/>
              </a:ext>
            </a:extLst>
          </p:cNvPr>
          <p:cNvSpPr txBox="1"/>
          <p:nvPr/>
        </p:nvSpPr>
        <p:spPr>
          <a:xfrm>
            <a:off x="2637126" y="5403013"/>
            <a:ext cx="8853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</a:t>
            </a:r>
            <a:r>
              <a:rPr kumimoji="1" lang="en-US" altLang="zh-TW" dirty="0" err="1"/>
              <a:t>InstructGPT</a:t>
            </a:r>
            <a:r>
              <a:rPr kumimoji="1" lang="en-US" altLang="zh-TW" dirty="0"/>
              <a:t>) Training language models to follow instructions with human feedback</a:t>
            </a:r>
            <a:endParaRPr kumimoji="1"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1A8752-0CC8-5A0A-FC45-4E9F832B382A}"/>
              </a:ext>
            </a:extLst>
          </p:cNvPr>
          <p:cNvSpPr txBox="1"/>
          <p:nvPr/>
        </p:nvSpPr>
        <p:spPr>
          <a:xfrm>
            <a:off x="701042" y="5399442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2022/05/04</a:t>
            </a:r>
            <a:endParaRPr kumimoji="1" lang="zh-TW" altLang="en-US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7E64C07-F418-9242-01C1-14C1433BE614}"/>
              </a:ext>
            </a:extLst>
          </p:cNvPr>
          <p:cNvSpPr/>
          <p:nvPr/>
        </p:nvSpPr>
        <p:spPr>
          <a:xfrm>
            <a:off x="2157982" y="5445033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5017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2867D-BAE7-FE54-26EC-B7975F91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The Pre-training then Fine-tuning Paradigm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643A-0C0A-2628-AAD2-9D4FEF8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B61D7AC-56C0-E3AD-F8C1-D0E6E1FFCDA0}"/>
              </a:ext>
            </a:extLst>
          </p:cNvPr>
          <p:cNvSpPr/>
          <p:nvPr/>
        </p:nvSpPr>
        <p:spPr>
          <a:xfrm>
            <a:off x="1924597" y="3058726"/>
            <a:ext cx="2281415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文字接龍</a:t>
            </a:r>
            <a:endParaRPr kumimoji="1" lang="en-US" altLang="zh-TW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(Pre-training)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7C80630-6F48-071F-F928-16865BD1E686}"/>
              </a:ext>
            </a:extLst>
          </p:cNvPr>
          <p:cNvSpPr/>
          <p:nvPr/>
        </p:nvSpPr>
        <p:spPr>
          <a:xfrm>
            <a:off x="4826058" y="3058726"/>
            <a:ext cx="2281415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指令微調 </a:t>
            </a:r>
            <a:r>
              <a:rPr kumimoji="1" lang="en-US" altLang="zh-TW" b="1" dirty="0">
                <a:solidFill>
                  <a:schemeClr val="tx1"/>
                </a:solidFill>
              </a:rPr>
              <a:t>(Supervised Fine-tuning, SFT)</a:t>
            </a:r>
            <a:endParaRPr kumimoji="1" lang="zh-TW" altLang="en-US" sz="24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6387E0F-7E78-B0D0-35DE-5C79C7A2D010}"/>
              </a:ext>
            </a:extLst>
          </p:cNvPr>
          <p:cNvSpPr/>
          <p:nvPr/>
        </p:nvSpPr>
        <p:spPr>
          <a:xfrm>
            <a:off x="7727519" y="3058726"/>
            <a:ext cx="2281415" cy="132510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人類反饋學習</a:t>
            </a:r>
            <a:r>
              <a:rPr kumimoji="1" lang="en-US" altLang="zh-TW" sz="2400" b="1" dirty="0">
                <a:solidFill>
                  <a:schemeClr val="tx1"/>
                </a:solidFill>
              </a:rPr>
              <a:t> (RLHF)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283759-49BA-F7EF-0EB5-F66921D1FBD6}"/>
              </a:ext>
            </a:extLst>
          </p:cNvPr>
          <p:cNvSpPr txBox="1"/>
          <p:nvPr/>
        </p:nvSpPr>
        <p:spPr>
          <a:xfrm>
            <a:off x="7527175" y="4584541"/>
            <a:ext cx="268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讓模型的回答貼近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人類想要</a:t>
            </a:r>
            <a:r>
              <a:rPr kumimoji="1" lang="zh-TW" altLang="en-US" dirty="0">
                <a:ea typeface="Microsoft JhengHei" panose="020B0604030504040204" pitchFamily="34" charset="-120"/>
              </a:rPr>
              <a:t>的回答</a:t>
            </a:r>
            <a:endParaRPr kumimoji="1" lang="en-US" altLang="zh-TW" dirty="0"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9DD720-71BD-EAF5-E170-08884EF0D442}"/>
              </a:ext>
            </a:extLst>
          </p:cNvPr>
          <p:cNvSpPr txBox="1"/>
          <p:nvPr/>
        </p:nvSpPr>
        <p:spPr>
          <a:xfrm>
            <a:off x="4693826" y="4584541"/>
            <a:ext cx="254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學會回答</a:t>
            </a:r>
          </a:p>
        </p:txBody>
      </p:sp>
      <p:cxnSp>
        <p:nvCxnSpPr>
          <p:cNvPr id="10" name="Google Shape;195;p17">
            <a:extLst>
              <a:ext uri="{FF2B5EF4-FFF2-40B4-BE49-F238E27FC236}">
                <a16:creationId xmlns:a16="http://schemas.microsoft.com/office/drawing/2014/main" id="{26274ECB-E6CD-8FC2-A8C1-1449A7F5DF09}"/>
              </a:ext>
            </a:extLst>
          </p:cNvPr>
          <p:cNvCxnSpPr>
            <a:cxnSpLocks/>
          </p:cNvCxnSpPr>
          <p:nvPr/>
        </p:nvCxnSpPr>
        <p:spPr>
          <a:xfrm>
            <a:off x="4266122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70D00C3-7D37-77A8-0FBF-9E155273777A}"/>
              </a:ext>
            </a:extLst>
          </p:cNvPr>
          <p:cNvSpPr txBox="1"/>
          <p:nvPr/>
        </p:nvSpPr>
        <p:spPr>
          <a:xfrm>
            <a:off x="268026" y="3536612"/>
            <a:ext cx="129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GPT-3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15" name="Google Shape;195;p17">
            <a:extLst>
              <a:ext uri="{FF2B5EF4-FFF2-40B4-BE49-F238E27FC236}">
                <a16:creationId xmlns:a16="http://schemas.microsoft.com/office/drawing/2014/main" id="{4D605540-B534-397B-3EFB-A2477014F113}"/>
              </a:ext>
            </a:extLst>
          </p:cNvPr>
          <p:cNvCxnSpPr>
            <a:cxnSpLocks/>
          </p:cNvCxnSpPr>
          <p:nvPr/>
        </p:nvCxnSpPr>
        <p:spPr>
          <a:xfrm>
            <a:off x="1368188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5;p17">
            <a:extLst>
              <a:ext uri="{FF2B5EF4-FFF2-40B4-BE49-F238E27FC236}">
                <a16:creationId xmlns:a16="http://schemas.microsoft.com/office/drawing/2014/main" id="{DE43FE05-EC1E-831F-61BF-C50C19040AA6}"/>
              </a:ext>
            </a:extLst>
          </p:cNvPr>
          <p:cNvCxnSpPr>
            <a:cxnSpLocks/>
          </p:cNvCxnSpPr>
          <p:nvPr/>
        </p:nvCxnSpPr>
        <p:spPr>
          <a:xfrm>
            <a:off x="7184370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95;p17">
            <a:extLst>
              <a:ext uri="{FF2B5EF4-FFF2-40B4-BE49-F238E27FC236}">
                <a16:creationId xmlns:a16="http://schemas.microsoft.com/office/drawing/2014/main" id="{BEF5FAFA-A835-55DD-70F3-C7B7BCD2B2DA}"/>
              </a:ext>
            </a:extLst>
          </p:cNvPr>
          <p:cNvCxnSpPr>
            <a:cxnSpLocks/>
          </p:cNvCxnSpPr>
          <p:nvPr/>
        </p:nvCxnSpPr>
        <p:spPr>
          <a:xfrm>
            <a:off x="10071280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BB55605-64A4-0610-71E8-7AE9D95C90FC}"/>
              </a:ext>
            </a:extLst>
          </p:cNvPr>
          <p:cNvSpPr txBox="1"/>
          <p:nvPr/>
        </p:nvSpPr>
        <p:spPr>
          <a:xfrm>
            <a:off x="10450516" y="3549684"/>
            <a:ext cx="129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ChatGPT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0930E8-6BBA-7D52-1097-4C6C3DEA3EFF}"/>
              </a:ext>
            </a:extLst>
          </p:cNvPr>
          <p:cNvSpPr txBox="1"/>
          <p:nvPr/>
        </p:nvSpPr>
        <p:spPr>
          <a:xfrm>
            <a:off x="5498975" y="2243847"/>
            <a:ext cx="387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/>
              <a:t>Fine-tuning</a:t>
            </a:r>
            <a:endParaRPr lang="zh-TW" altLang="en-US" sz="2800" b="1" dirty="0"/>
          </a:p>
        </p:txBody>
      </p:sp>
      <p:sp>
        <p:nvSpPr>
          <p:cNvPr id="21" name="左中括弧 20">
            <a:extLst>
              <a:ext uri="{FF2B5EF4-FFF2-40B4-BE49-F238E27FC236}">
                <a16:creationId xmlns:a16="http://schemas.microsoft.com/office/drawing/2014/main" id="{84B174B6-451B-F7BC-6670-F94555EE66A8}"/>
              </a:ext>
            </a:extLst>
          </p:cNvPr>
          <p:cNvSpPr/>
          <p:nvPr/>
        </p:nvSpPr>
        <p:spPr>
          <a:xfrm rot="5400000">
            <a:off x="7349021" y="1056238"/>
            <a:ext cx="170522" cy="363374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0" grpId="0"/>
      <p:bldP spid="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10AA06-55A2-0563-C793-FD1650B2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語言模型會回答嗎？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63A679-9960-B29B-B427-8386573B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79E25FD1-439A-416C-6F37-7BBE81721DE2}"/>
              </a:ext>
            </a:extLst>
          </p:cNvPr>
          <p:cNvSpPr/>
          <p:nvPr/>
        </p:nvSpPr>
        <p:spPr>
          <a:xfrm>
            <a:off x="1713016" y="2691246"/>
            <a:ext cx="4582391" cy="149629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dirty="0">
                <a:solidFill>
                  <a:schemeClr val="tx1"/>
                </a:solidFill>
              </a:rPr>
              <a:t>咕嚕咕嚕意思是什麼，你知道嗎？聽到網友說「咕嚕咕嚕」，以為是指喝水的聲音？其實不是哦！社群上流行的咕嚕咕嚕，是模擬人被水淹沒時，會發出類似咕嚕咕嚕的聲響。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B0CB002-9FD7-0F2B-D512-2E7C869AC9C2}"/>
              </a:ext>
            </a:extLst>
          </p:cNvPr>
          <p:cNvSpPr txBox="1"/>
          <p:nvPr/>
        </p:nvSpPr>
        <p:spPr>
          <a:xfrm>
            <a:off x="653143" y="3199274"/>
            <a:ext cx="12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文章一：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50D8054-9075-ED53-2B34-99CCADFE9579}"/>
              </a:ext>
            </a:extLst>
          </p:cNvPr>
          <p:cNvSpPr/>
          <p:nvPr/>
        </p:nvSpPr>
        <p:spPr>
          <a:xfrm>
            <a:off x="1713015" y="4408624"/>
            <a:ext cx="4582391" cy="13819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rgbClr val="0070C0"/>
                </a:solidFill>
              </a:rPr>
              <a:t>《</a:t>
            </a:r>
            <a:r>
              <a:rPr kumimoji="1" lang="zh-TW" altLang="en-US" dirty="0">
                <a:solidFill>
                  <a:srgbClr val="0070C0"/>
                </a:solidFill>
              </a:rPr>
              <a:t>咕嚕咕嚕魔法陣</a:t>
            </a:r>
            <a:r>
              <a:rPr kumimoji="1" lang="en-US" altLang="zh-TW" dirty="0">
                <a:solidFill>
                  <a:srgbClr val="0070C0"/>
                </a:solidFill>
              </a:rPr>
              <a:t>》</a:t>
            </a:r>
            <a:r>
              <a:rPr kumimoji="1" lang="zh-TW" altLang="en-US" dirty="0">
                <a:solidFill>
                  <a:srgbClr val="0070C0"/>
                </a:solidFill>
              </a:rPr>
              <a:t>是衛藤浩幸於</a:t>
            </a:r>
            <a:r>
              <a:rPr kumimoji="1" lang="en-US" altLang="zh-TW" dirty="0">
                <a:solidFill>
                  <a:srgbClr val="0070C0"/>
                </a:solidFill>
              </a:rPr>
              <a:t>1992</a:t>
            </a:r>
            <a:r>
              <a:rPr kumimoji="1" lang="zh-TW" altLang="en-US" dirty="0">
                <a:solidFill>
                  <a:srgbClr val="0070C0"/>
                </a:solidFill>
              </a:rPr>
              <a:t>年至</a:t>
            </a:r>
            <a:r>
              <a:rPr kumimoji="1" lang="en-US" altLang="zh-TW" dirty="0">
                <a:solidFill>
                  <a:srgbClr val="0070C0"/>
                </a:solidFill>
              </a:rPr>
              <a:t>2003</a:t>
            </a:r>
            <a:r>
              <a:rPr kumimoji="1" lang="zh-TW" altLang="en-US" dirty="0">
                <a:solidFill>
                  <a:srgbClr val="0070C0"/>
                </a:solidFill>
              </a:rPr>
              <a:t>年在艾尼克斯（今已合併改名為史克威爾艾尼克斯）旗下漫畫雜誌</a:t>
            </a:r>
            <a:r>
              <a:rPr kumimoji="1" lang="en-US" altLang="zh-TW" dirty="0">
                <a:solidFill>
                  <a:srgbClr val="0070C0"/>
                </a:solidFill>
              </a:rPr>
              <a:t>《</a:t>
            </a:r>
            <a:r>
              <a:rPr kumimoji="1" lang="zh-TW" altLang="en-US" dirty="0">
                <a:solidFill>
                  <a:srgbClr val="0070C0"/>
                </a:solidFill>
              </a:rPr>
              <a:t>月刊少年</a:t>
            </a:r>
            <a:r>
              <a:rPr kumimoji="1" lang="en" altLang="zh-TW" dirty="0">
                <a:solidFill>
                  <a:srgbClr val="0070C0"/>
                </a:solidFill>
              </a:rPr>
              <a:t>GANGAN》</a:t>
            </a:r>
            <a:r>
              <a:rPr kumimoji="1" lang="zh-TW" altLang="en-US" dirty="0">
                <a:solidFill>
                  <a:srgbClr val="0070C0"/>
                </a:solidFill>
              </a:rPr>
              <a:t>創作的日本搞笑奇幻漫畫 </a:t>
            </a:r>
            <a:r>
              <a:rPr kumimoji="1" lang="en-US" altLang="zh-TW" dirty="0">
                <a:solidFill>
                  <a:srgbClr val="0070C0"/>
                </a:solidFill>
              </a:rPr>
              <a:t>...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E49054B-1341-EBBF-AE7E-0EEBA1F87D68}"/>
              </a:ext>
            </a:extLst>
          </p:cNvPr>
          <p:cNvSpPr txBox="1"/>
          <p:nvPr/>
        </p:nvSpPr>
        <p:spPr>
          <a:xfrm>
            <a:off x="653143" y="4914953"/>
            <a:ext cx="12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文章二：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9879CE4-31B3-3EC4-3C8F-3134757C8006}"/>
              </a:ext>
            </a:extLst>
          </p:cNvPr>
          <p:cNvSpPr txBox="1"/>
          <p:nvPr/>
        </p:nvSpPr>
        <p:spPr>
          <a:xfrm>
            <a:off x="653143" y="1840320"/>
            <a:ext cx="4251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/>
              <a:t>人類提問：什麼是咕嚕咕嚕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F34D7C8-B536-7851-7AB0-FE67E160AEA3}"/>
              </a:ext>
            </a:extLst>
          </p:cNvPr>
          <p:cNvSpPr txBox="1"/>
          <p:nvPr/>
        </p:nvSpPr>
        <p:spPr>
          <a:xfrm>
            <a:off x="7803573" y="2315674"/>
            <a:ext cx="3304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Before SFT (</a:t>
            </a:r>
            <a:r>
              <a:rPr kumimoji="1" lang="zh-TW" altLang="en-US" sz="2000" b="1" dirty="0"/>
              <a:t>只會文字接龍</a:t>
            </a:r>
            <a:r>
              <a:rPr kumimoji="1" lang="en-US" altLang="zh-TW" sz="2000" b="1" dirty="0"/>
              <a:t>)</a:t>
            </a:r>
            <a:endParaRPr kumimoji="1" lang="zh-TW" altLang="en-US" sz="20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1214546-53F1-5FC3-F756-74AFCEAA6A07}"/>
              </a:ext>
            </a:extLst>
          </p:cNvPr>
          <p:cNvSpPr txBox="1"/>
          <p:nvPr/>
        </p:nvSpPr>
        <p:spPr>
          <a:xfrm>
            <a:off x="7189025" y="2782076"/>
            <a:ext cx="4251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/>
              <a:t>🤖：意思是什麼，你知道嗎？聽到網友說「咕嚕咕嚕」，以為是指喝水的聲音？其實不是哦！社群上流行的咕嚕咕嚕</a:t>
            </a:r>
            <a:r>
              <a:rPr kumimoji="1" lang="zh-TW" altLang="en-US" dirty="0">
                <a:solidFill>
                  <a:srgbClr val="0070C0"/>
                </a:solidFill>
              </a:rPr>
              <a:t>魔法陣是衛藤浩幸於</a:t>
            </a:r>
            <a:r>
              <a:rPr kumimoji="1" lang="en-US" altLang="zh-TW" dirty="0">
                <a:solidFill>
                  <a:srgbClr val="0070C0"/>
                </a:solidFill>
              </a:rPr>
              <a:t>1992</a:t>
            </a:r>
            <a:r>
              <a:rPr kumimoji="1" lang="zh-TW" altLang="en-US" dirty="0">
                <a:solidFill>
                  <a:srgbClr val="0070C0"/>
                </a:solidFill>
              </a:rPr>
              <a:t>年至</a:t>
            </a:r>
            <a:r>
              <a:rPr kumimoji="1" lang="en-US" altLang="zh-TW" dirty="0">
                <a:solidFill>
                  <a:srgbClr val="0070C0"/>
                </a:solidFill>
              </a:rPr>
              <a:t>2003</a:t>
            </a:r>
            <a:r>
              <a:rPr kumimoji="1" lang="zh-TW" altLang="en-US" dirty="0">
                <a:solidFill>
                  <a:srgbClr val="0070C0"/>
                </a:solidFill>
              </a:rPr>
              <a:t>年</a:t>
            </a:r>
            <a:r>
              <a:rPr kumimoji="1" lang="en-US" altLang="zh-TW" dirty="0">
                <a:solidFill>
                  <a:srgbClr val="0070C0"/>
                </a:solidFill>
              </a:rPr>
              <a:t>...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626482F-F724-2885-5FD0-FEFA1A1D999B}"/>
              </a:ext>
            </a:extLst>
          </p:cNvPr>
          <p:cNvSpPr txBox="1"/>
          <p:nvPr/>
        </p:nvSpPr>
        <p:spPr>
          <a:xfrm>
            <a:off x="7189025" y="4734901"/>
            <a:ext cx="4251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/>
              <a:t>🤖：「咕嚕咕嚕」為網路用語，模擬人被水淹沒時發出類似咕嚕咕嚕的聲響。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43B9A99-BCCC-BD5B-10D1-3A656F446062}"/>
              </a:ext>
            </a:extLst>
          </p:cNvPr>
          <p:cNvSpPr txBox="1"/>
          <p:nvPr/>
        </p:nvSpPr>
        <p:spPr>
          <a:xfrm>
            <a:off x="7662553" y="4299399"/>
            <a:ext cx="3304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After SFT (</a:t>
            </a:r>
            <a:r>
              <a:rPr kumimoji="1" lang="zh-TW" altLang="en-US" sz="2000" b="1" dirty="0"/>
              <a:t>知道如何回答</a:t>
            </a:r>
            <a:r>
              <a:rPr kumimoji="1" lang="en-US" altLang="zh-TW" sz="2000" b="1" dirty="0"/>
              <a:t>)</a:t>
            </a:r>
            <a:endParaRPr kumimoji="1"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7338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/>
      <p:bldP spid="10" grpId="0"/>
      <p:bldP spid="11" grpId="0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658AD-4854-C938-AB6D-BB237CC5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Supervised Fine-Tuning (SFT)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35C22C-5EA7-884C-CC6E-3D99DF19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D5360B3D-D8E9-7928-B89D-C6351719D30F}"/>
              </a:ext>
            </a:extLst>
          </p:cNvPr>
          <p:cNvSpPr/>
          <p:nvPr/>
        </p:nvSpPr>
        <p:spPr>
          <a:xfrm>
            <a:off x="1104996" y="2639029"/>
            <a:ext cx="3275635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E0150254-879B-2232-7B6B-7E6B6B455533}"/>
              </a:ext>
            </a:extLst>
          </p:cNvPr>
          <p:cNvSpPr/>
          <p:nvPr/>
        </p:nvSpPr>
        <p:spPr>
          <a:xfrm>
            <a:off x="4692349" y="4062091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語言模型</a:t>
            </a:r>
            <a:endParaRPr kumimoji="1" lang="en-US" altLang="zh-TW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(e.g., GPT-3)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肘形接點 8">
            <a:extLst>
              <a:ext uri="{FF2B5EF4-FFF2-40B4-BE49-F238E27FC236}">
                <a16:creationId xmlns:a16="http://schemas.microsoft.com/office/drawing/2014/main" id="{CB61CB32-9CA6-53A2-A3DD-C0E720408378}"/>
              </a:ext>
            </a:extLst>
          </p:cNvPr>
          <p:cNvCxnSpPr>
            <a:stCxn id="5" idx="2"/>
            <a:endCxn id="7" idx="1"/>
          </p:cNvCxnSpPr>
          <p:nvPr/>
        </p:nvCxnSpPr>
        <p:spPr>
          <a:xfrm rot="16200000" flipH="1">
            <a:off x="3179417" y="2966354"/>
            <a:ext cx="1076328" cy="194953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圓角矩形 9">
            <a:extLst>
              <a:ext uri="{FF2B5EF4-FFF2-40B4-BE49-F238E27FC236}">
                <a16:creationId xmlns:a16="http://schemas.microsoft.com/office/drawing/2014/main" id="{F7C62BEF-0439-752F-5D18-E1D9271E7D1A}"/>
              </a:ext>
            </a:extLst>
          </p:cNvPr>
          <p:cNvSpPr/>
          <p:nvPr/>
        </p:nvSpPr>
        <p:spPr>
          <a:xfrm>
            <a:off x="7715945" y="4097322"/>
            <a:ext cx="3275635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b="1" dirty="0">
                <a:solidFill>
                  <a:schemeClr val="tx1"/>
                </a:solidFill>
              </a:rPr>
              <a:t>Oppenheimer is the father of …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1D973CB3-D879-20E2-63B6-08EFC8F50172}"/>
              </a:ext>
            </a:extLst>
          </p:cNvPr>
          <p:cNvSpPr/>
          <p:nvPr/>
        </p:nvSpPr>
        <p:spPr>
          <a:xfrm>
            <a:off x="7715944" y="2639029"/>
            <a:ext cx="3275635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b="1" dirty="0">
                <a:solidFill>
                  <a:schemeClr val="tx1"/>
                </a:solidFill>
              </a:rPr>
              <a:t>Julius Robert Oppenheimer is …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EB96801-E2B0-577A-D26F-6861321BBED5}"/>
              </a:ext>
            </a:extLst>
          </p:cNvPr>
          <p:cNvSpPr txBox="1"/>
          <p:nvPr/>
        </p:nvSpPr>
        <p:spPr>
          <a:xfrm>
            <a:off x="2019395" y="2228533"/>
            <a:ext cx="144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Prompt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57B7A6C-5252-E432-6502-81E2161D5CFF}"/>
              </a:ext>
            </a:extLst>
          </p:cNvPr>
          <p:cNvSpPr txBox="1"/>
          <p:nvPr/>
        </p:nvSpPr>
        <p:spPr>
          <a:xfrm>
            <a:off x="7715944" y="2228533"/>
            <a:ext cx="3275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Ground-truths (human-written)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5C70096-1639-53D6-7C84-96005A8049ED}"/>
              </a:ext>
            </a:extLst>
          </p:cNvPr>
          <p:cNvSpPr txBox="1"/>
          <p:nvPr/>
        </p:nvSpPr>
        <p:spPr>
          <a:xfrm>
            <a:off x="7715944" y="4942781"/>
            <a:ext cx="3275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Model Prediction</a:t>
            </a:r>
            <a:endParaRPr kumimoji="1" lang="zh-TW" altLang="en-US" dirty="0"/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08261E44-A236-92BB-55AE-D4220307A25B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6658309" y="4479286"/>
            <a:ext cx="105763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A792E5F3-3E0D-4F69-27A7-04E292149C17}"/>
              </a:ext>
            </a:extLst>
          </p:cNvPr>
          <p:cNvCxnSpPr>
            <a:cxnSpLocks/>
          </p:cNvCxnSpPr>
          <p:nvPr/>
        </p:nvCxnSpPr>
        <p:spPr>
          <a:xfrm flipV="1">
            <a:off x="9338334" y="3510025"/>
            <a:ext cx="0" cy="4727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E2712545-EB83-E2C5-33C2-92EFD9046D64}"/>
              </a:ext>
            </a:extLst>
          </p:cNvPr>
          <p:cNvCxnSpPr>
            <a:cxnSpLocks/>
          </p:cNvCxnSpPr>
          <p:nvPr/>
        </p:nvCxnSpPr>
        <p:spPr>
          <a:xfrm flipH="1">
            <a:off x="9479159" y="3510025"/>
            <a:ext cx="0" cy="4727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0F66BA5-9E68-7B6F-330A-2590609FF3BF}"/>
              </a:ext>
            </a:extLst>
          </p:cNvPr>
          <p:cNvSpPr txBox="1"/>
          <p:nvPr/>
        </p:nvSpPr>
        <p:spPr>
          <a:xfrm>
            <a:off x="8032323" y="3571790"/>
            <a:ext cx="144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Optimize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782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52A645-1D17-C035-3A04-8EF3A7FD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38</a:t>
            </a:fld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7D96219-B686-82C6-7860-DEBDCEF4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800" dirty="0">
                <a:solidFill>
                  <a:schemeClr val="tx1"/>
                </a:solidFill>
              </a:rPr>
              <a:t>RLHF</a:t>
            </a:r>
            <a:r>
              <a:rPr kumimoji="1" lang="zh-TW" altLang="en-US" sz="4800" dirty="0">
                <a:solidFill>
                  <a:schemeClr val="tx1"/>
                </a:solidFill>
              </a:rPr>
              <a:t> 的進行過程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E785D6-BA7F-3F3D-D121-805180561CD0}"/>
              </a:ext>
            </a:extLst>
          </p:cNvPr>
          <p:cNvSpPr txBox="1"/>
          <p:nvPr/>
        </p:nvSpPr>
        <p:spPr>
          <a:xfrm>
            <a:off x="1033506" y="2859020"/>
            <a:ext cx="1628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Supervised Fine-Tuning</a:t>
            </a:r>
            <a:endParaRPr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B2362DC-F5C7-D8BE-8B7C-3C3F3806EA5F}"/>
              </a:ext>
            </a:extLst>
          </p:cNvPr>
          <p:cNvSpPr txBox="1"/>
          <p:nvPr/>
        </p:nvSpPr>
        <p:spPr>
          <a:xfrm>
            <a:off x="426027" y="4459793"/>
            <a:ext cx="2618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Reinforcement Learning with Human Feedback (</a:t>
            </a:r>
            <a:r>
              <a:rPr kumimoji="1" lang="en" altLang="zh-TW" b="1" dirty="0">
                <a:solidFill>
                  <a:srgbClr val="FF0000"/>
                </a:solidFill>
              </a:rPr>
              <a:t>RLHF</a:t>
            </a:r>
            <a:r>
              <a:rPr kumimoji="1" lang="en" altLang="zh-TW" b="1" dirty="0"/>
              <a:t>)</a:t>
            </a:r>
            <a:endParaRPr lang="zh-TW" altLang="en-US" b="1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28FDD7F6-E298-DC0E-C274-3D0B84A5D918}"/>
              </a:ext>
            </a:extLst>
          </p:cNvPr>
          <p:cNvSpPr/>
          <p:nvPr/>
        </p:nvSpPr>
        <p:spPr>
          <a:xfrm>
            <a:off x="3017398" y="2800222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3E4AFA2-5A59-FBA5-30C5-75DE6772E083}"/>
              </a:ext>
            </a:extLst>
          </p:cNvPr>
          <p:cNvSpPr/>
          <p:nvPr/>
        </p:nvSpPr>
        <p:spPr>
          <a:xfrm>
            <a:off x="5598134" y="2764991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DDA9110-3E05-8099-F28B-50950C80FBA5}"/>
              </a:ext>
            </a:extLst>
          </p:cNvPr>
          <p:cNvSpPr/>
          <p:nvPr/>
        </p:nvSpPr>
        <p:spPr>
          <a:xfrm>
            <a:off x="8792144" y="2800222"/>
            <a:ext cx="2170634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Julius Robert Oppenheimer is …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8FC139-E290-46BD-6B72-6FF703ADFC9F}"/>
              </a:ext>
            </a:extLst>
          </p:cNvPr>
          <p:cNvSpPr txBox="1"/>
          <p:nvPr/>
        </p:nvSpPr>
        <p:spPr>
          <a:xfrm>
            <a:off x="8382794" y="2153891"/>
            <a:ext cx="2984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close to </a:t>
            </a:r>
            <a:r>
              <a:rPr kumimoji="1" lang="en-US" altLang="zh-TW" dirty="0"/>
              <a:t>human-written ground-truths </a:t>
            </a:r>
            <a:r>
              <a:rPr kumimoji="1" lang="en-US" altLang="zh-TW" dirty="0">
                <a:solidFill>
                  <a:srgbClr val="FF0000"/>
                </a:solidFill>
              </a:rPr>
              <a:t>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E93C4B3B-5864-37B0-EA3D-A244F5DD94FD}"/>
              </a:ext>
            </a:extLst>
          </p:cNvPr>
          <p:cNvSpPr/>
          <p:nvPr/>
        </p:nvSpPr>
        <p:spPr>
          <a:xfrm>
            <a:off x="5598134" y="4504265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CF54F18-114F-5E47-3388-B570DC8FA7C7}"/>
              </a:ext>
            </a:extLst>
          </p:cNvPr>
          <p:cNvSpPr/>
          <p:nvPr/>
        </p:nvSpPr>
        <p:spPr>
          <a:xfrm>
            <a:off x="3017397" y="4539495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917E547-7AFD-D0ED-E45C-A17E29A258B3}"/>
              </a:ext>
            </a:extLst>
          </p:cNvPr>
          <p:cNvSpPr/>
          <p:nvPr/>
        </p:nvSpPr>
        <p:spPr>
          <a:xfrm>
            <a:off x="9034371" y="5236059"/>
            <a:ext cx="1769112" cy="5740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Reward Model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05220E0-11D2-F1F3-C531-DCF75DEAB595}"/>
              </a:ext>
            </a:extLst>
          </p:cNvPr>
          <p:cNvSpPr/>
          <p:nvPr/>
        </p:nvSpPr>
        <p:spPr>
          <a:xfrm>
            <a:off x="9093984" y="4424695"/>
            <a:ext cx="1649885" cy="48895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Score (Scalar)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B981A80-EB9F-E098-C986-E936B0244D69}"/>
              </a:ext>
            </a:extLst>
          </p:cNvPr>
          <p:cNvSpPr txBox="1"/>
          <p:nvPr/>
        </p:nvSpPr>
        <p:spPr>
          <a:xfrm>
            <a:off x="8792144" y="4036381"/>
            <a:ext cx="23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high 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DA986F20-427D-C6A0-15F9-F1EE1C88DEF7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rot="16200000" flipH="1">
            <a:off x="7715519" y="4204249"/>
            <a:ext cx="184447" cy="245325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8F2F779-9619-6C68-A88E-F965AC12213B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V="1">
            <a:off x="9918927" y="4913647"/>
            <a:ext cx="0" cy="322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96FD90A1-ABA7-7C71-1AA2-D510C7973F7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4983359" y="3182186"/>
            <a:ext cx="61477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7E9067B3-A29B-9439-3B47-7F4C082C8C33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4983358" y="4921460"/>
            <a:ext cx="6147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AC6BB84-D418-A868-9174-D17903E5FE20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564094" y="3182186"/>
            <a:ext cx="122805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接點 33">
            <a:extLst>
              <a:ext uri="{FF2B5EF4-FFF2-40B4-BE49-F238E27FC236}">
                <a16:creationId xmlns:a16="http://schemas.microsoft.com/office/drawing/2014/main" id="{C2F8BA38-4201-16D6-5EE8-7460641B8990}"/>
              </a:ext>
            </a:extLst>
          </p:cNvPr>
          <p:cNvCxnSpPr>
            <a:cxnSpLocks/>
            <a:stCxn id="17" idx="1"/>
            <a:endCxn id="13" idx="0"/>
          </p:cNvCxnSpPr>
          <p:nvPr/>
        </p:nvCxnSpPr>
        <p:spPr>
          <a:xfrm rot="10800000" flipV="1">
            <a:off x="6581114" y="4221047"/>
            <a:ext cx="2211030" cy="283218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38">
            <a:extLst>
              <a:ext uri="{FF2B5EF4-FFF2-40B4-BE49-F238E27FC236}">
                <a16:creationId xmlns:a16="http://schemas.microsoft.com/office/drawing/2014/main" id="{639114D3-6B4C-166A-DB5B-F74ABAECFB25}"/>
              </a:ext>
            </a:extLst>
          </p:cNvPr>
          <p:cNvCxnSpPr>
            <a:cxnSpLocks/>
            <a:stCxn id="12" idx="1"/>
            <a:endCxn id="9" idx="0"/>
          </p:cNvCxnSpPr>
          <p:nvPr/>
        </p:nvCxnSpPr>
        <p:spPr>
          <a:xfrm rot="10800000" flipV="1">
            <a:off x="6581114" y="2477057"/>
            <a:ext cx="1801680" cy="287934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911DABC-7E2C-76C9-8860-32244B2399DF}"/>
              </a:ext>
            </a:extLst>
          </p:cNvPr>
          <p:cNvSpPr txBox="1"/>
          <p:nvPr/>
        </p:nvSpPr>
        <p:spPr>
          <a:xfrm>
            <a:off x="6472172" y="217590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ADBE28A-0431-DB80-8839-9A258CB54AFC}"/>
              </a:ext>
            </a:extLst>
          </p:cNvPr>
          <p:cNvSpPr txBox="1"/>
          <p:nvPr/>
        </p:nvSpPr>
        <p:spPr>
          <a:xfrm>
            <a:off x="6472172" y="393318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5630B7-FDF0-EB17-230C-746EFBF89241}"/>
              </a:ext>
            </a:extLst>
          </p:cNvPr>
          <p:cNvSpPr txBox="1"/>
          <p:nvPr/>
        </p:nvSpPr>
        <p:spPr>
          <a:xfrm>
            <a:off x="3321349" y="2501971"/>
            <a:ext cx="1358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C9A5CC6-29F9-2232-0870-65B8DBFBDFD9}"/>
              </a:ext>
            </a:extLst>
          </p:cNvPr>
          <p:cNvSpPr txBox="1"/>
          <p:nvPr/>
        </p:nvSpPr>
        <p:spPr>
          <a:xfrm>
            <a:off x="3371364" y="4251824"/>
            <a:ext cx="1258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4A55741-2FC2-58A4-A089-3BFC949F9D8F}"/>
              </a:ext>
            </a:extLst>
          </p:cNvPr>
          <p:cNvSpPr txBox="1"/>
          <p:nvPr/>
        </p:nvSpPr>
        <p:spPr>
          <a:xfrm>
            <a:off x="1121440" y="6323468"/>
            <a:ext cx="6006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Ouyang, Long, et al. "Training language models to follow instructions with human feedback." </a:t>
            </a:r>
            <a:r>
              <a:rPr lang="en" altLang="zh-TW" sz="1100" i="1" dirty="0"/>
              <a:t>Advances in neural information processing systems</a:t>
            </a:r>
            <a:r>
              <a:rPr lang="en" altLang="zh-TW" sz="1100" dirty="0"/>
              <a:t> 35 (2022): 27730-27744.</a:t>
            </a:r>
            <a:endParaRPr lang="zh-TW" altLang="en-US" sz="11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FC6EAA-925D-FEDA-CB6D-4DEC5ED8594F}"/>
              </a:ext>
            </a:extLst>
          </p:cNvPr>
          <p:cNvSpPr txBox="1"/>
          <p:nvPr/>
        </p:nvSpPr>
        <p:spPr>
          <a:xfrm>
            <a:off x="8587467" y="5820588"/>
            <a:ext cx="251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(Trained from </a:t>
            </a:r>
            <a:r>
              <a:rPr kumimoji="1" lang="en-US" altLang="zh-TW" dirty="0">
                <a:solidFill>
                  <a:srgbClr val="FF0000"/>
                </a:solidFill>
              </a:rPr>
              <a:t>human preferences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273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4" grpId="0" animBg="1"/>
      <p:bldP spid="15" grpId="0" animBg="1"/>
      <p:bldP spid="16" grpId="0" animBg="1"/>
      <p:bldP spid="17" grpId="0"/>
      <p:bldP spid="43" grpId="0"/>
      <p:bldP spid="4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4C390-1277-2526-1D21-CC97931F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" altLang="zh-TW" sz="4000" dirty="0"/>
              <a:t>Supervised Learning vs. Reinforcement Learning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FCCA2F-1AB9-56F1-3847-40119778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01E1FC-C992-051F-B961-3CF5187D8D58}"/>
              </a:ext>
            </a:extLst>
          </p:cNvPr>
          <p:cNvSpPr txBox="1"/>
          <p:nvPr/>
        </p:nvSpPr>
        <p:spPr>
          <a:xfrm>
            <a:off x="669202" y="1800413"/>
            <a:ext cx="10727344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In supervised learning, the goal is to </a:t>
            </a:r>
            <a:r>
              <a:rPr kumimoji="1" lang="en" altLang="zh-TW" sz="2400" dirty="0">
                <a:solidFill>
                  <a:srgbClr val="FF0000"/>
                </a:solidFill>
              </a:rPr>
              <a:t>minimize the expected error from the label</a:t>
            </a:r>
            <a:r>
              <a:rPr kumimoji="1" lang="en" altLang="zh-TW" sz="24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In reinforcement learning, the goal is to maximize </a:t>
            </a:r>
            <a:r>
              <a:rPr kumimoji="1" lang="en" altLang="zh-TW" sz="2400" dirty="0">
                <a:solidFill>
                  <a:srgbClr val="FF0000"/>
                </a:solidFill>
              </a:rPr>
              <a:t>sum of reward</a:t>
            </a:r>
            <a:r>
              <a:rPr kumimoji="1" lang="en" altLang="zh-TW" sz="2400" dirty="0"/>
              <a:t>. </a:t>
            </a:r>
            <a:r>
              <a:rPr kumimoji="1" lang="en" altLang="zh-TW" sz="2400" dirty="0">
                <a:solidFill>
                  <a:srgbClr val="FF0000"/>
                </a:solidFill>
              </a:rPr>
              <a:t>More flexibility </a:t>
            </a:r>
            <a:r>
              <a:rPr kumimoji="1" lang="en" altLang="zh-TW" sz="2400" dirty="0"/>
              <a:t>can be brought to align with humans.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58682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4C390-1277-2526-1D21-CC97931F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" altLang="zh-TW" sz="4000" dirty="0"/>
              <a:t>Supervised Learning vs. Reinforcement Learning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FCCA2F-1AB9-56F1-3847-40119778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01E1FC-C992-051F-B961-3CF5187D8D58}"/>
              </a:ext>
            </a:extLst>
          </p:cNvPr>
          <p:cNvSpPr txBox="1"/>
          <p:nvPr/>
        </p:nvSpPr>
        <p:spPr>
          <a:xfrm>
            <a:off x="669201" y="1476210"/>
            <a:ext cx="5534171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Tell me a story about Muslim </a:t>
            </a:r>
            <a:endParaRPr kumimoji="1" lang="zh-TW" altLang="en-US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7245500-3284-26C3-1A35-3F416648F1B1}"/>
              </a:ext>
            </a:extLst>
          </p:cNvPr>
          <p:cNvSpPr txBox="1"/>
          <p:nvPr/>
        </p:nvSpPr>
        <p:spPr>
          <a:xfrm>
            <a:off x="2176385" y="2676303"/>
            <a:ext cx="6230286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“</a:t>
            </a:r>
            <a:r>
              <a:rPr kumimoji="1" lang="en-US" altLang="zh-TW" sz="1800" dirty="0">
                <a:solidFill>
                  <a:srgbClr val="0070C0"/>
                </a:solidFill>
              </a:rPr>
              <a:t>Muslim</a:t>
            </a:r>
            <a:r>
              <a:rPr kumimoji="1" lang="en-US" altLang="zh-TW" sz="1800" dirty="0"/>
              <a:t>” was analogized to “</a:t>
            </a:r>
            <a:r>
              <a:rPr kumimoji="1" lang="en-US" altLang="zh-TW" sz="1800" dirty="0">
                <a:solidFill>
                  <a:srgbClr val="0070C0"/>
                </a:solidFill>
              </a:rPr>
              <a:t>terrorist</a:t>
            </a:r>
            <a:r>
              <a:rPr kumimoji="1" lang="en-US" altLang="zh-TW" sz="1800" dirty="0"/>
              <a:t>” in 23% of test cases.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BEDF35-FD53-8C0E-59FE-EFEA4BA21D1E}"/>
              </a:ext>
            </a:extLst>
          </p:cNvPr>
          <p:cNvSpPr txBox="1"/>
          <p:nvPr/>
        </p:nvSpPr>
        <p:spPr>
          <a:xfrm>
            <a:off x="1507926" y="2606499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C6B219B-894E-591E-1091-76FC5709EE91}"/>
              </a:ext>
            </a:extLst>
          </p:cNvPr>
          <p:cNvSpPr txBox="1"/>
          <p:nvPr/>
        </p:nvSpPr>
        <p:spPr>
          <a:xfrm>
            <a:off x="9008185" y="2190978"/>
            <a:ext cx="1268854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b="1" dirty="0"/>
              <a:t>Label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3B2C99-CBC8-B84C-E27B-A48C9D7056C4}"/>
              </a:ext>
            </a:extLst>
          </p:cNvPr>
          <p:cNvSpPr txBox="1"/>
          <p:nvPr/>
        </p:nvSpPr>
        <p:spPr>
          <a:xfrm>
            <a:off x="4074253" y="2159477"/>
            <a:ext cx="2077165" cy="4648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b="1" dirty="0"/>
              <a:t>Response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42CC27C-F915-2551-5252-24AB3549AF99}"/>
              </a:ext>
            </a:extLst>
          </p:cNvPr>
          <p:cNvSpPr txBox="1"/>
          <p:nvPr/>
        </p:nvSpPr>
        <p:spPr>
          <a:xfrm>
            <a:off x="9255012" y="2671164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A3D3A45-695F-1A27-700B-0BD661B77882}"/>
              </a:ext>
            </a:extLst>
          </p:cNvPr>
          <p:cNvSpPr txBox="1"/>
          <p:nvPr/>
        </p:nvSpPr>
        <p:spPr>
          <a:xfrm>
            <a:off x="2241029" y="3174218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the most common word to represent God.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D10BE2E-2062-B20C-92ED-8FCE00D0EC52}"/>
              </a:ext>
            </a:extLst>
          </p:cNvPr>
          <p:cNvSpPr txBox="1"/>
          <p:nvPr/>
        </p:nvSpPr>
        <p:spPr>
          <a:xfrm>
            <a:off x="1507926" y="3104414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4DFFFAD-53A3-E53E-E3E5-1DA6A7EC1175}"/>
              </a:ext>
            </a:extLst>
          </p:cNvPr>
          <p:cNvSpPr txBox="1"/>
          <p:nvPr/>
        </p:nvSpPr>
        <p:spPr>
          <a:xfrm>
            <a:off x="9255012" y="3169079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1</a:t>
            </a:r>
            <a:endParaRPr kumimoji="1" lang="en-US" altLang="zh-TW" sz="18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9D91B34-1277-5E41-5583-77E2A9EFBF1F}"/>
              </a:ext>
            </a:extLst>
          </p:cNvPr>
          <p:cNvSpPr txBox="1"/>
          <p:nvPr/>
        </p:nvSpPr>
        <p:spPr>
          <a:xfrm>
            <a:off x="1954976" y="4248127"/>
            <a:ext cx="462232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b="1" dirty="0"/>
              <a:t>Reinforcement learning</a:t>
            </a:r>
            <a:endParaRPr kumimoji="1" lang="zh-TW" altLang="en-US" sz="2000" b="1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66EEA58-F545-D3C5-64FE-3473BB81217C}"/>
              </a:ext>
            </a:extLst>
          </p:cNvPr>
          <p:cNvSpPr txBox="1"/>
          <p:nvPr/>
        </p:nvSpPr>
        <p:spPr>
          <a:xfrm>
            <a:off x="2241029" y="3679952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unique and singular.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B2BBA02-AFE1-405C-1110-D640C4B21108}"/>
              </a:ext>
            </a:extLst>
          </p:cNvPr>
          <p:cNvSpPr txBox="1"/>
          <p:nvPr/>
        </p:nvSpPr>
        <p:spPr>
          <a:xfrm>
            <a:off x="1507926" y="3610148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0EB1526-34D2-D941-7644-A5142B3AAC35}"/>
              </a:ext>
            </a:extLst>
          </p:cNvPr>
          <p:cNvSpPr txBox="1"/>
          <p:nvPr/>
        </p:nvSpPr>
        <p:spPr>
          <a:xfrm>
            <a:off x="9255012" y="3679952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1</a:t>
            </a:r>
            <a:endParaRPr kumimoji="1" lang="en-US" altLang="zh-TW" sz="18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00112E6-D934-990A-592E-4F4DF192AF5F}"/>
              </a:ext>
            </a:extLst>
          </p:cNvPr>
          <p:cNvSpPr txBox="1"/>
          <p:nvPr/>
        </p:nvSpPr>
        <p:spPr>
          <a:xfrm>
            <a:off x="2144063" y="4844654"/>
            <a:ext cx="6230286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“</a:t>
            </a:r>
            <a:r>
              <a:rPr kumimoji="1" lang="en-US" altLang="zh-TW" sz="1800" dirty="0">
                <a:solidFill>
                  <a:srgbClr val="0070C0"/>
                </a:solidFill>
              </a:rPr>
              <a:t>Muslim</a:t>
            </a:r>
            <a:r>
              <a:rPr kumimoji="1" lang="en-US" altLang="zh-TW" sz="1800" dirty="0"/>
              <a:t>” was analogized to “</a:t>
            </a:r>
            <a:r>
              <a:rPr kumimoji="1" lang="en-US" altLang="zh-TW" sz="1800" dirty="0">
                <a:solidFill>
                  <a:srgbClr val="0070C0"/>
                </a:solidFill>
              </a:rPr>
              <a:t>terrorist</a:t>
            </a:r>
            <a:r>
              <a:rPr kumimoji="1" lang="en-US" altLang="zh-TW" sz="1800" dirty="0"/>
              <a:t>” in 23% of test cases.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4FD1A2E-56EB-1C3E-7D59-EDC7C675562A}"/>
              </a:ext>
            </a:extLst>
          </p:cNvPr>
          <p:cNvSpPr txBox="1"/>
          <p:nvPr/>
        </p:nvSpPr>
        <p:spPr>
          <a:xfrm>
            <a:off x="1475604" y="4774850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CEDC710-C33A-1D43-73A7-BDEF28FF20CA}"/>
              </a:ext>
            </a:extLst>
          </p:cNvPr>
          <p:cNvSpPr txBox="1"/>
          <p:nvPr/>
        </p:nvSpPr>
        <p:spPr>
          <a:xfrm>
            <a:off x="9222690" y="4839515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0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0F626786-0F84-88C9-78DE-5F3B9C894CB7}"/>
              </a:ext>
            </a:extLst>
          </p:cNvPr>
          <p:cNvSpPr txBox="1"/>
          <p:nvPr/>
        </p:nvSpPr>
        <p:spPr>
          <a:xfrm>
            <a:off x="2208707" y="5342569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the most common word to represent God.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26863AB-8A08-ADD5-C050-A15C26C16934}"/>
              </a:ext>
            </a:extLst>
          </p:cNvPr>
          <p:cNvSpPr txBox="1"/>
          <p:nvPr/>
        </p:nvSpPr>
        <p:spPr>
          <a:xfrm>
            <a:off x="1475604" y="5272765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414E4E19-9878-D9BC-6BEE-AB1E09DB3556}"/>
              </a:ext>
            </a:extLst>
          </p:cNvPr>
          <p:cNvSpPr txBox="1"/>
          <p:nvPr/>
        </p:nvSpPr>
        <p:spPr>
          <a:xfrm>
            <a:off x="9222690" y="5337430"/>
            <a:ext cx="1106304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9.8</a:t>
            </a:r>
            <a:endParaRPr kumimoji="1" lang="en-US" altLang="zh-TW" sz="18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CB0D71F-FFD0-9530-DEC1-85E02F6D86CD}"/>
              </a:ext>
            </a:extLst>
          </p:cNvPr>
          <p:cNvSpPr txBox="1"/>
          <p:nvPr/>
        </p:nvSpPr>
        <p:spPr>
          <a:xfrm>
            <a:off x="2208707" y="5848303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unique and singular.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AF3AD5C-6AF1-4651-163C-F360F038B742}"/>
              </a:ext>
            </a:extLst>
          </p:cNvPr>
          <p:cNvSpPr txBox="1"/>
          <p:nvPr/>
        </p:nvSpPr>
        <p:spPr>
          <a:xfrm>
            <a:off x="1475604" y="5778499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64C893E-E48C-6EEB-897A-98AFCEFA3C20}"/>
              </a:ext>
            </a:extLst>
          </p:cNvPr>
          <p:cNvSpPr txBox="1"/>
          <p:nvPr/>
        </p:nvSpPr>
        <p:spPr>
          <a:xfrm>
            <a:off x="9222689" y="5848303"/>
            <a:ext cx="1023087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7.9</a:t>
            </a:r>
            <a:endParaRPr kumimoji="1" lang="en-US" altLang="zh-TW" sz="18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32411A0-477C-ABA9-E95A-D155D21A7057}"/>
              </a:ext>
            </a:extLst>
          </p:cNvPr>
          <p:cNvSpPr/>
          <p:nvPr/>
        </p:nvSpPr>
        <p:spPr>
          <a:xfrm>
            <a:off x="9376348" y="4774850"/>
            <a:ext cx="952646" cy="17588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EB903CB-50AB-1434-32FC-C8BBC7499A45}"/>
              </a:ext>
            </a:extLst>
          </p:cNvPr>
          <p:cNvSpPr txBox="1"/>
          <p:nvPr/>
        </p:nvSpPr>
        <p:spPr>
          <a:xfrm>
            <a:off x="9916489" y="5155968"/>
            <a:ext cx="1599814" cy="8803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b="1" dirty="0">
                <a:solidFill>
                  <a:srgbClr val="FF0000"/>
                </a:solidFill>
              </a:rPr>
              <a:t>More flexible!</a:t>
            </a:r>
          </a:p>
        </p:txBody>
      </p:sp>
    </p:spTree>
    <p:extLst>
      <p:ext uri="{BB962C8B-B14F-4D97-AF65-F5344CB8AC3E}">
        <p14:creationId xmlns:p14="http://schemas.microsoft.com/office/powerpoint/2010/main" val="298112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1" grpId="0" animBg="1"/>
      <p:bldP spid="5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EDEB9A-29CE-E7BE-5A64-D104EB85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Main Differences between BERT and </a:t>
            </a:r>
            <a:r>
              <a:rPr kumimoji="1" lang="en-US" altLang="zh-TW" dirty="0" err="1"/>
              <a:t>InstructGPT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C9A4D8-28BB-FD7B-7A52-681ABEF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41</a:t>
            </a:fld>
            <a:endParaRPr kumimoji="1"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D35043C-68EE-CAE6-1440-0F8080C3F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4"/>
            <a:ext cx="10515600" cy="492328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800" dirty="0"/>
              <a:t>Model size: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BERT: 110 million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 err="1"/>
              <a:t>InstructGPT</a:t>
            </a:r>
            <a:r>
              <a:rPr kumimoji="1" lang="en-US" altLang="zh-TW" dirty="0"/>
              <a:t>: 175 billion (~=BERT</a:t>
            </a:r>
            <a:r>
              <a:rPr kumimoji="1" lang="en-US" altLang="zh-TW" dirty="0">
                <a:solidFill>
                  <a:srgbClr val="FF0000"/>
                </a:solidFill>
              </a:rPr>
              <a:t>*1590 times</a:t>
            </a:r>
            <a:r>
              <a:rPr kumimoji="1" lang="en-US" altLang="zh-TW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zh-TW" sz="1800" dirty="0"/>
              <a:t>Training: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BERT: Masked-language modeling, Next-sentence Prediction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 err="1"/>
              <a:t>InstructGPT</a:t>
            </a:r>
            <a:r>
              <a:rPr kumimoji="1" lang="en-US" altLang="zh-TW" dirty="0"/>
              <a:t>: Language Modeling, Supervised Fine-Tuning, </a:t>
            </a:r>
            <a:r>
              <a:rPr kumimoji="1" lang="en-US" altLang="zh-TW" dirty="0">
                <a:solidFill>
                  <a:schemeClr val="accent6"/>
                </a:solidFill>
              </a:rPr>
              <a:t>Reinforcement Learning by Human Feedback</a:t>
            </a:r>
          </a:p>
          <a:p>
            <a:pPr>
              <a:lnSpc>
                <a:spcPct val="150000"/>
              </a:lnSpc>
            </a:pPr>
            <a:r>
              <a:rPr kumimoji="1" lang="en-US" altLang="zh-TW" sz="1800" dirty="0"/>
              <a:t>NLP Tasks: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BERT: Natural Language Understanding (E.g., Classification)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 err="1"/>
              <a:t>InstructGPT</a:t>
            </a:r>
            <a:r>
              <a:rPr kumimoji="1" lang="en-US" altLang="zh-TW" dirty="0"/>
              <a:t>: Natural Language </a:t>
            </a:r>
            <a:r>
              <a:rPr kumimoji="1" lang="en-US" altLang="zh-TW" dirty="0">
                <a:solidFill>
                  <a:srgbClr val="FF0000"/>
                </a:solidFill>
              </a:rPr>
              <a:t>Generation</a:t>
            </a:r>
            <a:r>
              <a:rPr kumimoji="1" lang="en-US" altLang="zh-TW" dirty="0"/>
              <a:t> (E.g., Machine Translation, Story Generation)</a:t>
            </a:r>
          </a:p>
        </p:txBody>
      </p:sp>
    </p:spTree>
    <p:extLst>
      <p:ext uri="{BB962C8B-B14F-4D97-AF65-F5344CB8AC3E}">
        <p14:creationId xmlns:p14="http://schemas.microsoft.com/office/powerpoint/2010/main" val="387149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664E-9BFC-0751-DBDD-15991080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F3FA0D1-5931-500A-1998-F7A6AE50B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大型語言模型應用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9755CF-0F46-D6AD-7051-251FF325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23A039-F970-BC49-97AA-1CAFC2197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當我們有了一個訓練好的</a:t>
            </a:r>
            <a:r>
              <a:rPr lang="en-US" altLang="zh-TW" dirty="0"/>
              <a:t>LLM</a:t>
            </a:r>
            <a:r>
              <a:rPr lang="zh-TW" altLang="en-US" dirty="0"/>
              <a:t>，之後？</a:t>
            </a:r>
          </a:p>
        </p:txBody>
      </p:sp>
    </p:spTree>
    <p:extLst>
      <p:ext uri="{BB962C8B-B14F-4D97-AF65-F5344CB8AC3E}">
        <p14:creationId xmlns:p14="http://schemas.microsoft.com/office/powerpoint/2010/main" val="2260744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62B04-9C41-700D-01E7-7312C61B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讓大型語言模型適用於你的任務？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7D3013-3C6C-0124-D824-1C0E208F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E8FDE4D-65D5-02ED-2DB6-2BAD43A99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060" y="2175664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0135A98-4A89-5D8D-1B01-B3072122F17E}"/>
              </a:ext>
            </a:extLst>
          </p:cNvPr>
          <p:cNvCxnSpPr>
            <a:cxnSpLocks/>
          </p:cNvCxnSpPr>
          <p:nvPr/>
        </p:nvCxnSpPr>
        <p:spPr>
          <a:xfrm flipH="1">
            <a:off x="3328422" y="2841346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73909E-78CE-7A0D-18DB-7666126A8CC0}"/>
              </a:ext>
            </a:extLst>
          </p:cNvPr>
          <p:cNvSpPr txBox="1"/>
          <p:nvPr/>
        </p:nvSpPr>
        <p:spPr>
          <a:xfrm>
            <a:off x="4689049" y="2596851"/>
            <a:ext cx="3438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翻譯、聊天、寫故事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endParaRPr kumimoji="1"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" name="Picture 2" descr="undefined">
            <a:extLst>
              <a:ext uri="{FF2B5EF4-FFF2-40B4-BE49-F238E27FC236}">
                <a16:creationId xmlns:a16="http://schemas.microsoft.com/office/drawing/2014/main" id="{46544269-5C0D-AB51-B115-39841E69F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060" y="4173099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D1420AB-9C6C-A1C0-B579-E042D7EA81C4}"/>
              </a:ext>
            </a:extLst>
          </p:cNvPr>
          <p:cNvSpPr txBox="1"/>
          <p:nvPr/>
        </p:nvSpPr>
        <p:spPr>
          <a:xfrm>
            <a:off x="998525" y="2500509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📚</a:t>
            </a: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65E4DAA1-25E0-C685-0EAE-5442D863FBDD}"/>
              </a:ext>
            </a:extLst>
          </p:cNvPr>
          <p:cNvCxnSpPr>
            <a:cxnSpLocks/>
          </p:cNvCxnSpPr>
          <p:nvPr/>
        </p:nvCxnSpPr>
        <p:spPr>
          <a:xfrm flipH="1">
            <a:off x="3328422" y="4742160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56B2E1F-3C11-7C14-6E67-B489FDDF943D}"/>
              </a:ext>
            </a:extLst>
          </p:cNvPr>
          <p:cNvSpPr txBox="1"/>
          <p:nvPr/>
        </p:nvSpPr>
        <p:spPr>
          <a:xfrm>
            <a:off x="4689050" y="4504390"/>
            <a:ext cx="6013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醫學資料、少數語言、網路上查不到的知識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BD93034-DDC9-E3A0-408F-3670A03A0C8F}"/>
              </a:ext>
            </a:extLst>
          </p:cNvPr>
          <p:cNvSpPr txBox="1"/>
          <p:nvPr/>
        </p:nvSpPr>
        <p:spPr>
          <a:xfrm>
            <a:off x="8013804" y="2500509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💪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508E95F-A02F-8597-DD00-30BCEAA55A0A}"/>
              </a:ext>
            </a:extLst>
          </p:cNvPr>
          <p:cNvSpPr txBox="1"/>
          <p:nvPr/>
        </p:nvSpPr>
        <p:spPr>
          <a:xfrm>
            <a:off x="10724090" y="4439423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⚠️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54A635F-F81C-2471-EEA2-82F1AAAA0406}"/>
              </a:ext>
            </a:extLst>
          </p:cNvPr>
          <p:cNvSpPr txBox="1"/>
          <p:nvPr/>
        </p:nvSpPr>
        <p:spPr>
          <a:xfrm>
            <a:off x="3328421" y="5427587"/>
            <a:ext cx="6694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解決方案</a:t>
            </a:r>
            <a:r>
              <a:rPr kumimoji="1" lang="zh-TW" altLang="en-US" sz="2400" dirty="0"/>
              <a:t>：增加提示詞</a:t>
            </a:r>
            <a:r>
              <a:rPr kumimoji="1" lang="en-US" altLang="zh-TW" sz="2400" dirty="0"/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</a:t>
            </a:r>
            <a:r>
              <a:rPr kumimoji="1" lang="en-US" altLang="zh-TW" sz="2400" dirty="0"/>
              <a:t> </a:t>
            </a:r>
            <a:r>
              <a:rPr kumimoji="1" lang="zh-TW" altLang="en-US" sz="2400" dirty="0"/>
              <a:t>訓練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語言模型</a:t>
            </a:r>
          </a:p>
        </p:txBody>
      </p:sp>
      <p:sp>
        <p:nvSpPr>
          <p:cNvPr id="16" name="向右箭號 15">
            <a:extLst>
              <a:ext uri="{FF2B5EF4-FFF2-40B4-BE49-F238E27FC236}">
                <a16:creationId xmlns:a16="http://schemas.microsoft.com/office/drawing/2014/main" id="{4CFE905D-A992-5DB1-A2DC-5A3C488A4BA7}"/>
              </a:ext>
            </a:extLst>
          </p:cNvPr>
          <p:cNvSpPr/>
          <p:nvPr/>
        </p:nvSpPr>
        <p:spPr>
          <a:xfrm rot="13500000">
            <a:off x="3008691" y="5179129"/>
            <a:ext cx="321869" cy="312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3E70E32-FA25-E97D-6DBC-E6452D333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215" y="3356027"/>
            <a:ext cx="1879418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38BC827B-B1A9-0327-CEDA-82B669323C6A}"/>
              </a:ext>
            </a:extLst>
          </p:cNvPr>
          <p:cNvSpPr txBox="1"/>
          <p:nvPr/>
        </p:nvSpPr>
        <p:spPr>
          <a:xfrm>
            <a:off x="7700682" y="6134354"/>
            <a:ext cx="3154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Figure source: https://</a:t>
            </a:r>
            <a:r>
              <a:rPr kumimoji="1" lang="en" altLang="zh-TW" sz="1200" dirty="0" err="1"/>
              <a:t>gameofthrones.fandom.com</a:t>
            </a:r>
            <a:r>
              <a:rPr kumimoji="1" lang="en" altLang="zh-TW" sz="1200" dirty="0"/>
              <a:t>/wiki/</a:t>
            </a:r>
            <a:r>
              <a:rPr kumimoji="1" lang="en" altLang="zh-TW" sz="1200" dirty="0" err="1"/>
              <a:t>High_Valyrian?file</a:t>
            </a:r>
            <a:r>
              <a:rPr kumimoji="1" lang="en" altLang="zh-TW" sz="1200" dirty="0"/>
              <a:t>=</a:t>
            </a:r>
            <a:r>
              <a:rPr kumimoji="1" lang="en" altLang="zh-TW" sz="1200" dirty="0" err="1"/>
              <a:t>Nekesse_Valyrio.jpg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2339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  <p:bldP spid="14" grpId="0"/>
      <p:bldP spid="15" grpId="0"/>
      <p:bldP spid="16" grpId="0" animBg="1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67DD30-49B8-ED23-95E6-C161B5F3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提示詞工程與上下文工程 </a:t>
            </a:r>
            <a:r>
              <a:rPr kumimoji="1" lang="en-US" altLang="zh-TW" dirty="0"/>
              <a:t>(</a:t>
            </a:r>
            <a:r>
              <a:rPr kumimoji="1" lang="zh-TW" altLang="en-US" dirty="0"/>
              <a:t>範例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36F1A2-504E-7F6E-9A1A-6D808C76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26D055-0C91-A742-7471-C6A9C7C572F3}"/>
              </a:ext>
            </a:extLst>
          </p:cNvPr>
          <p:cNvSpPr txBox="1"/>
          <p:nvPr/>
        </p:nvSpPr>
        <p:spPr>
          <a:xfrm>
            <a:off x="1680878" y="1858621"/>
            <a:ext cx="3478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b="1" dirty="0"/>
              <a:t>提示詞工程</a:t>
            </a:r>
            <a:endParaRPr kumimoji="1" lang="en-US" altLang="zh-TW" sz="2400" b="1" dirty="0"/>
          </a:p>
          <a:p>
            <a:pPr algn="ctr"/>
            <a:r>
              <a:rPr kumimoji="1" lang="en-US" altLang="zh-TW" sz="2400" b="1" dirty="0"/>
              <a:t>Prompt Engineering</a:t>
            </a:r>
            <a:endParaRPr kumimoji="1" lang="zh-TW" altLang="en-US" sz="24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A5C18AF-1228-86E6-AA66-2A53F1A6ADC6}"/>
              </a:ext>
            </a:extLst>
          </p:cNvPr>
          <p:cNvSpPr txBox="1"/>
          <p:nvPr/>
        </p:nvSpPr>
        <p:spPr>
          <a:xfrm>
            <a:off x="1093694" y="3013720"/>
            <a:ext cx="465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你是一名客服人員，請有禮貌地回答問題。</a:t>
            </a:r>
          </a:p>
          <a:p>
            <a:r>
              <a:rPr kumimoji="1" lang="zh-TW" altLang="en-US" dirty="0"/>
              <a:t>使用者：我可以在購買後</a:t>
            </a:r>
            <a:r>
              <a:rPr kumimoji="1" lang="en-US" altLang="zh-TW" dirty="0"/>
              <a:t>14</a:t>
            </a:r>
            <a:r>
              <a:rPr kumimoji="1" lang="zh-TW" altLang="en-US" dirty="0"/>
              <a:t>天申請退款嗎？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130778F-3E54-F7BC-529C-072535CDA644}"/>
              </a:ext>
            </a:extLst>
          </p:cNvPr>
          <p:cNvSpPr txBox="1"/>
          <p:nvPr/>
        </p:nvSpPr>
        <p:spPr>
          <a:xfrm>
            <a:off x="6745946" y="1858518"/>
            <a:ext cx="3478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b="1" dirty="0"/>
              <a:t>上下文工程</a:t>
            </a:r>
            <a:endParaRPr kumimoji="1" lang="en-US" altLang="zh-TW" sz="2400" b="1" dirty="0"/>
          </a:p>
          <a:p>
            <a:pPr algn="ctr"/>
            <a:r>
              <a:rPr kumimoji="1" lang="en-US" altLang="zh-TW" sz="2400" b="1" dirty="0"/>
              <a:t>Context Engineering</a:t>
            </a:r>
            <a:endParaRPr kumimoji="1" lang="zh-TW" altLang="en-US" sz="24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3BD71F2-65D7-742A-B2BB-DA2D0A21B9CA}"/>
              </a:ext>
            </a:extLst>
          </p:cNvPr>
          <p:cNvSpPr txBox="1"/>
          <p:nvPr/>
        </p:nvSpPr>
        <p:spPr>
          <a:xfrm>
            <a:off x="1093696" y="4721538"/>
            <a:ext cx="4491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模型可能回答：</a:t>
            </a:r>
            <a:endParaRPr lang="en-US" altLang="zh-TW" dirty="0"/>
          </a:p>
          <a:p>
            <a:r>
              <a:rPr lang="zh-TW" altLang="en-US" dirty="0"/>
              <a:t>當然可以，這取決於具體情況。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FD6C602-3212-825D-E129-D60CD3D4890D}"/>
              </a:ext>
            </a:extLst>
          </p:cNvPr>
          <p:cNvSpPr txBox="1"/>
          <p:nvPr/>
        </p:nvSpPr>
        <p:spPr>
          <a:xfrm>
            <a:off x="6320117" y="2980310"/>
            <a:ext cx="48678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你是一名客服人員。</a:t>
            </a:r>
            <a:endParaRPr kumimoji="1" lang="en-US" altLang="zh-TW" dirty="0"/>
          </a:p>
          <a:p>
            <a:r>
              <a:rPr kumimoji="1" lang="zh-TW" altLang="en-US" dirty="0">
                <a:solidFill>
                  <a:srgbClr val="0070C0"/>
                </a:solidFill>
              </a:rPr>
              <a:t>公司政策：</a:t>
            </a:r>
          </a:p>
          <a:p>
            <a:r>
              <a:rPr kumimoji="1" lang="en-US" altLang="zh-TW" dirty="0">
                <a:solidFill>
                  <a:srgbClr val="0070C0"/>
                </a:solidFill>
              </a:rPr>
              <a:t>- </a:t>
            </a:r>
            <a:r>
              <a:rPr kumimoji="1" lang="zh-TW" altLang="en-US" dirty="0">
                <a:solidFill>
                  <a:srgbClr val="0070C0"/>
                </a:solidFill>
              </a:rPr>
              <a:t>僅在購買後</a:t>
            </a:r>
            <a:r>
              <a:rPr kumimoji="1" lang="en-US" altLang="zh-TW" dirty="0">
                <a:solidFill>
                  <a:srgbClr val="0070C0"/>
                </a:solidFill>
              </a:rPr>
              <a:t>14</a:t>
            </a:r>
            <a:r>
              <a:rPr kumimoji="1" lang="zh-TW" altLang="en-US" dirty="0">
                <a:solidFill>
                  <a:srgbClr val="0070C0"/>
                </a:solidFill>
              </a:rPr>
              <a:t>天內可申請退款。超過</a:t>
            </a:r>
            <a:r>
              <a:rPr kumimoji="1" lang="en-US" altLang="zh-TW" dirty="0">
                <a:solidFill>
                  <a:srgbClr val="0070C0"/>
                </a:solidFill>
              </a:rPr>
              <a:t>14</a:t>
            </a:r>
            <a:r>
              <a:rPr kumimoji="1" lang="zh-TW" altLang="en-US" dirty="0">
                <a:solidFill>
                  <a:srgbClr val="0070C0"/>
                </a:solidFill>
              </a:rPr>
              <a:t>天除非商品有瑕疵，否則無法退款。</a:t>
            </a:r>
            <a:endParaRPr kumimoji="1" lang="en-US" altLang="zh-TW" dirty="0">
              <a:solidFill>
                <a:srgbClr val="0070C0"/>
              </a:solidFill>
            </a:endParaRPr>
          </a:p>
          <a:p>
            <a:r>
              <a:rPr kumimoji="1" lang="zh-TW" altLang="en-US" dirty="0"/>
              <a:t>使用者：我可以在購買後</a:t>
            </a:r>
            <a:r>
              <a:rPr kumimoji="1" lang="en-US" altLang="zh-TW" dirty="0"/>
              <a:t>14</a:t>
            </a:r>
            <a:r>
              <a:rPr kumimoji="1" lang="zh-TW" altLang="en-US" dirty="0"/>
              <a:t>天申請退款嗎？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323699-07F2-2150-AFF9-6AA33449B3C8}"/>
              </a:ext>
            </a:extLst>
          </p:cNvPr>
          <p:cNvSpPr txBox="1"/>
          <p:nvPr/>
        </p:nvSpPr>
        <p:spPr>
          <a:xfrm>
            <a:off x="6320117" y="4721538"/>
            <a:ext cx="46526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模型可能回答：</a:t>
            </a:r>
            <a:endParaRPr lang="en-US" altLang="zh-TW" dirty="0"/>
          </a:p>
          <a:p>
            <a:r>
              <a:rPr lang="zh-TW" altLang="en-US" dirty="0"/>
              <a:t>很抱歉，根據本公司的退款政策，超過</a:t>
            </a:r>
            <a:r>
              <a:rPr lang="en-US" altLang="zh-TW" dirty="0"/>
              <a:t>14</a:t>
            </a:r>
            <a:r>
              <a:rPr lang="zh-TW" altLang="en-US" dirty="0"/>
              <a:t>天後除非商品有瑕疵，否則無法辦理退款。</a:t>
            </a:r>
          </a:p>
        </p:txBody>
      </p:sp>
    </p:spTree>
    <p:extLst>
      <p:ext uri="{BB962C8B-B14F-4D97-AF65-F5344CB8AC3E}">
        <p14:creationId xmlns:p14="http://schemas.microsoft.com/office/powerpoint/2010/main" val="12983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4D648E-8C1B-FE5E-56F4-3D945939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資訊檢索 </a:t>
            </a:r>
            <a:r>
              <a:rPr kumimoji="1" lang="en-US" altLang="zh-TW" dirty="0"/>
              <a:t>(Information Retrieval)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8151E4-EEA2-72F9-EF2A-76C6618D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0268DD4-2C66-7937-FEC0-902E2DAAEDF4}"/>
              </a:ext>
            </a:extLst>
          </p:cNvPr>
          <p:cNvSpPr txBox="1"/>
          <p:nvPr/>
        </p:nvSpPr>
        <p:spPr>
          <a:xfrm>
            <a:off x="650316" y="1716895"/>
            <a:ext cx="10058399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資訊檢索：從資料庫中找到相關的資訊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就像是搜尋引擎</a:t>
            </a:r>
            <a:r>
              <a:rPr kumimoji="1" lang="en-US" altLang="zh-TW" sz="2400" dirty="0"/>
              <a:t>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1106C93-F98F-F932-EE4A-065ADB1A7DB9}"/>
              </a:ext>
            </a:extLst>
          </p:cNvPr>
          <p:cNvSpPr txBox="1"/>
          <p:nvPr/>
        </p:nvSpPr>
        <p:spPr>
          <a:xfrm>
            <a:off x="650316" y="5430640"/>
            <a:ext cx="10058399" cy="93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Retrieval-Augmented Generation (RAG):</a:t>
            </a:r>
            <a:r>
              <a:rPr kumimoji="1" lang="zh-TW" altLang="en-US" sz="2400" dirty="0"/>
              <a:t> 把檢索到的資訊作為上下文工程，可以讓 </a:t>
            </a:r>
            <a:r>
              <a:rPr kumimoji="1" lang="en-US" altLang="zh-TW" sz="2400" dirty="0"/>
              <a:t>LLM</a:t>
            </a:r>
            <a:r>
              <a:rPr kumimoji="1" lang="zh-TW" altLang="en-US" sz="2400" dirty="0"/>
              <a:t> 做出更精確的回覆</a:t>
            </a:r>
            <a:endParaRPr kumimoji="1" lang="en-US" altLang="zh-TW" sz="2400" dirty="0"/>
          </a:p>
        </p:txBody>
      </p:sp>
      <p:pic>
        <p:nvPicPr>
          <p:cNvPr id="10" name="圖形 9" descr="文件 以實心填滿">
            <a:extLst>
              <a:ext uri="{FF2B5EF4-FFF2-40B4-BE49-F238E27FC236}">
                <a16:creationId xmlns:a16="http://schemas.microsoft.com/office/drawing/2014/main" id="{172A629F-D728-E2B3-33A3-15DE795F3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2663" y="2938462"/>
            <a:ext cx="625084" cy="625084"/>
          </a:xfrm>
          <a:prstGeom prst="rect">
            <a:avLst/>
          </a:prstGeom>
        </p:spPr>
      </p:pic>
      <p:pic>
        <p:nvPicPr>
          <p:cNvPr id="13" name="圖形 12" descr="文件 以實心填滿">
            <a:extLst>
              <a:ext uri="{FF2B5EF4-FFF2-40B4-BE49-F238E27FC236}">
                <a16:creationId xmlns:a16="http://schemas.microsoft.com/office/drawing/2014/main" id="{58F3283D-181E-5F8E-3E23-F9777102C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579" y="3083120"/>
            <a:ext cx="625084" cy="625084"/>
          </a:xfrm>
          <a:prstGeom prst="rect">
            <a:avLst/>
          </a:prstGeom>
        </p:spPr>
      </p:pic>
      <p:pic>
        <p:nvPicPr>
          <p:cNvPr id="14" name="圖形 13" descr="文件 以實心填滿">
            <a:extLst>
              <a:ext uri="{FF2B5EF4-FFF2-40B4-BE49-F238E27FC236}">
                <a16:creationId xmlns:a16="http://schemas.microsoft.com/office/drawing/2014/main" id="{17F8B6FF-8EB1-9885-97DC-9444F831C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0121" y="3498232"/>
            <a:ext cx="625084" cy="625084"/>
          </a:xfrm>
          <a:prstGeom prst="rect">
            <a:avLst/>
          </a:prstGeom>
        </p:spPr>
      </p:pic>
      <p:pic>
        <p:nvPicPr>
          <p:cNvPr id="15" name="圖形 14" descr="文件 以實心填滿">
            <a:extLst>
              <a:ext uri="{FF2B5EF4-FFF2-40B4-BE49-F238E27FC236}">
                <a16:creationId xmlns:a16="http://schemas.microsoft.com/office/drawing/2014/main" id="{09E6E070-5AE5-C228-65EC-83526ABED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0194" y="3435240"/>
            <a:ext cx="625084" cy="625084"/>
          </a:xfrm>
          <a:prstGeom prst="rect">
            <a:avLst/>
          </a:prstGeom>
        </p:spPr>
      </p:pic>
      <p:pic>
        <p:nvPicPr>
          <p:cNvPr id="16" name="圖形 15" descr="文件 以實心填滿">
            <a:extLst>
              <a:ext uri="{FF2B5EF4-FFF2-40B4-BE49-F238E27FC236}">
                <a16:creationId xmlns:a16="http://schemas.microsoft.com/office/drawing/2014/main" id="{6AC54C3D-5336-6280-0F05-24AE79B53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0048" y="3747782"/>
            <a:ext cx="625084" cy="625084"/>
          </a:xfrm>
          <a:prstGeom prst="rect">
            <a:avLst/>
          </a:prstGeom>
        </p:spPr>
      </p:pic>
      <p:pic>
        <p:nvPicPr>
          <p:cNvPr id="17" name="圖形 16" descr="文件 以實心填滿">
            <a:extLst>
              <a:ext uri="{FF2B5EF4-FFF2-40B4-BE49-F238E27FC236}">
                <a16:creationId xmlns:a16="http://schemas.microsoft.com/office/drawing/2014/main" id="{3F465E48-EC88-1465-FFC8-4A8B043C3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7248" y="4123316"/>
            <a:ext cx="625084" cy="625084"/>
          </a:xfrm>
          <a:prstGeom prst="rect">
            <a:avLst/>
          </a:prstGeom>
        </p:spPr>
      </p:pic>
      <p:pic>
        <p:nvPicPr>
          <p:cNvPr id="18" name="圖形 17" descr="文件 以實心填滿">
            <a:extLst>
              <a:ext uri="{FF2B5EF4-FFF2-40B4-BE49-F238E27FC236}">
                <a16:creationId xmlns:a16="http://schemas.microsoft.com/office/drawing/2014/main" id="{BB247AD3-C731-51A0-C178-874329CDC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7321" y="3951358"/>
            <a:ext cx="625084" cy="625084"/>
          </a:xfrm>
          <a:prstGeom prst="rect">
            <a:avLst/>
          </a:prstGeom>
        </p:spPr>
      </p:pic>
      <p:pic>
        <p:nvPicPr>
          <p:cNvPr id="19" name="圖形 18" descr="文件 以實心填滿">
            <a:extLst>
              <a:ext uri="{FF2B5EF4-FFF2-40B4-BE49-F238E27FC236}">
                <a16:creationId xmlns:a16="http://schemas.microsoft.com/office/drawing/2014/main" id="{28CDC015-84EB-E1F7-8604-79CE26FEA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422" y="3059706"/>
            <a:ext cx="625084" cy="625084"/>
          </a:xfrm>
          <a:prstGeom prst="rect">
            <a:avLst/>
          </a:prstGeom>
        </p:spPr>
      </p:pic>
      <p:pic>
        <p:nvPicPr>
          <p:cNvPr id="20" name="圖形 19" descr="文件 以實心填滿">
            <a:extLst>
              <a:ext uri="{FF2B5EF4-FFF2-40B4-BE49-F238E27FC236}">
                <a16:creationId xmlns:a16="http://schemas.microsoft.com/office/drawing/2014/main" id="{4B2B553E-56C8-4444-B9F1-A69430364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2928" y="2615089"/>
            <a:ext cx="625084" cy="625084"/>
          </a:xfrm>
          <a:prstGeom prst="rect">
            <a:avLst/>
          </a:prstGeom>
        </p:spPr>
      </p:pic>
      <p:pic>
        <p:nvPicPr>
          <p:cNvPr id="21" name="圖形 20" descr="文件 以實心填滿">
            <a:extLst>
              <a:ext uri="{FF2B5EF4-FFF2-40B4-BE49-F238E27FC236}">
                <a16:creationId xmlns:a16="http://schemas.microsoft.com/office/drawing/2014/main" id="{10B661B6-29F0-302B-BB0A-CEC74BB11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2625920"/>
            <a:ext cx="625084" cy="625084"/>
          </a:xfrm>
          <a:prstGeom prst="rect">
            <a:avLst/>
          </a:prstGeom>
        </p:spPr>
      </p:pic>
      <p:pic>
        <p:nvPicPr>
          <p:cNvPr id="22" name="圖形 21" descr="文件 以實心填滿">
            <a:extLst>
              <a:ext uri="{FF2B5EF4-FFF2-40B4-BE49-F238E27FC236}">
                <a16:creationId xmlns:a16="http://schemas.microsoft.com/office/drawing/2014/main" id="{F9BDE5FB-432F-4D55-75AF-92C96B481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848" y="3719751"/>
            <a:ext cx="625084" cy="625084"/>
          </a:xfrm>
          <a:prstGeom prst="rect">
            <a:avLst/>
          </a:prstGeom>
        </p:spPr>
      </p:pic>
      <p:pic>
        <p:nvPicPr>
          <p:cNvPr id="23" name="圖形 22" descr="文件 以實心填滿">
            <a:extLst>
              <a:ext uri="{FF2B5EF4-FFF2-40B4-BE49-F238E27FC236}">
                <a16:creationId xmlns:a16="http://schemas.microsoft.com/office/drawing/2014/main" id="{999F39AE-EB8C-A6A6-B105-434923C06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4325050"/>
            <a:ext cx="625084" cy="625084"/>
          </a:xfrm>
          <a:prstGeom prst="rect">
            <a:avLst/>
          </a:prstGeom>
        </p:spPr>
      </p:pic>
      <p:pic>
        <p:nvPicPr>
          <p:cNvPr id="24" name="圖形 23" descr="文件 以實心填滿">
            <a:extLst>
              <a:ext uri="{FF2B5EF4-FFF2-40B4-BE49-F238E27FC236}">
                <a16:creationId xmlns:a16="http://schemas.microsoft.com/office/drawing/2014/main" id="{CDC44DE1-8A45-7EA1-75C1-D888467B0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7652" y="4325050"/>
            <a:ext cx="625084" cy="625084"/>
          </a:xfrm>
          <a:prstGeom prst="rect">
            <a:avLst/>
          </a:prstGeom>
        </p:spPr>
      </p:pic>
      <p:pic>
        <p:nvPicPr>
          <p:cNvPr id="25" name="圖形 24" descr="文件 以實心填滿">
            <a:extLst>
              <a:ext uri="{FF2B5EF4-FFF2-40B4-BE49-F238E27FC236}">
                <a16:creationId xmlns:a16="http://schemas.microsoft.com/office/drawing/2014/main" id="{A34B3C36-8DF5-40B3-D214-5EB95C20D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2397" y="2873148"/>
            <a:ext cx="625084" cy="625084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15FD17FF-A278-92C7-E604-667D6AEC4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839" y="2970547"/>
            <a:ext cx="4550229" cy="1997485"/>
          </a:xfrm>
          <a:prstGeom prst="rect">
            <a:avLst/>
          </a:prstGeom>
        </p:spPr>
      </p:pic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3D14403B-4919-F181-F603-019C438275A7}"/>
              </a:ext>
            </a:extLst>
          </p:cNvPr>
          <p:cNvCxnSpPr>
            <a:cxnSpLocks/>
          </p:cNvCxnSpPr>
          <p:nvPr/>
        </p:nvCxnSpPr>
        <p:spPr>
          <a:xfrm>
            <a:off x="3541477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26F2C14C-CC2D-1CAD-3DCC-23642EDD839F}"/>
              </a:ext>
            </a:extLst>
          </p:cNvPr>
          <p:cNvCxnSpPr>
            <a:cxnSpLocks/>
          </p:cNvCxnSpPr>
          <p:nvPr/>
        </p:nvCxnSpPr>
        <p:spPr>
          <a:xfrm>
            <a:off x="8708068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圖形 28" descr="文件 以實心填滿">
            <a:extLst>
              <a:ext uri="{FF2B5EF4-FFF2-40B4-BE49-F238E27FC236}">
                <a16:creationId xmlns:a16="http://schemas.microsoft.com/office/drawing/2014/main" id="{671175EA-61E4-F0A6-8375-2DAE98B61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2886777"/>
            <a:ext cx="625084" cy="625084"/>
          </a:xfrm>
          <a:prstGeom prst="rect">
            <a:avLst/>
          </a:prstGeom>
        </p:spPr>
      </p:pic>
      <p:pic>
        <p:nvPicPr>
          <p:cNvPr id="30" name="圖形 29" descr="文件 以實心填滿">
            <a:extLst>
              <a:ext uri="{FF2B5EF4-FFF2-40B4-BE49-F238E27FC236}">
                <a16:creationId xmlns:a16="http://schemas.microsoft.com/office/drawing/2014/main" id="{F138B837-31DE-37E1-DBAC-A5A1249D6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3623613"/>
            <a:ext cx="625084" cy="625084"/>
          </a:xfrm>
          <a:prstGeom prst="rect">
            <a:avLst/>
          </a:prstGeom>
        </p:spPr>
      </p:pic>
      <p:pic>
        <p:nvPicPr>
          <p:cNvPr id="31" name="圖形 30" descr="文件 以實心填滿">
            <a:extLst>
              <a:ext uri="{FF2B5EF4-FFF2-40B4-BE49-F238E27FC236}">
                <a16:creationId xmlns:a16="http://schemas.microsoft.com/office/drawing/2014/main" id="{7DAE0468-D4CA-AE7E-C2B5-5D48D0A8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214" y="4413333"/>
            <a:ext cx="625084" cy="625084"/>
          </a:xfrm>
          <a:prstGeom prst="rect">
            <a:avLst/>
          </a:prstGeom>
        </p:spPr>
      </p:pic>
      <p:pic>
        <p:nvPicPr>
          <p:cNvPr id="33" name="圖形 32" descr="皇冠 以實心填滿">
            <a:extLst>
              <a:ext uri="{FF2B5EF4-FFF2-40B4-BE49-F238E27FC236}">
                <a16:creationId xmlns:a16="http://schemas.microsoft.com/office/drawing/2014/main" id="{DD3475AB-603B-B609-01CA-575FE78D2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6" y="2618178"/>
            <a:ext cx="448239" cy="448239"/>
          </a:xfrm>
          <a:prstGeom prst="rect">
            <a:avLst/>
          </a:prstGeom>
        </p:spPr>
      </p:pic>
      <p:pic>
        <p:nvPicPr>
          <p:cNvPr id="34" name="圖形 33" descr="皇冠 以實心填滿">
            <a:extLst>
              <a:ext uri="{FF2B5EF4-FFF2-40B4-BE49-F238E27FC236}">
                <a16:creationId xmlns:a16="http://schemas.microsoft.com/office/drawing/2014/main" id="{BDE8A39B-DEFF-B3A0-4EC5-FC37ECE46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9026" y="3460836"/>
            <a:ext cx="448239" cy="448239"/>
          </a:xfrm>
          <a:prstGeom prst="rect">
            <a:avLst/>
          </a:prstGeom>
        </p:spPr>
      </p:pic>
      <p:pic>
        <p:nvPicPr>
          <p:cNvPr id="35" name="圖形 34" descr="皇冠 以實心填滿">
            <a:extLst>
              <a:ext uri="{FF2B5EF4-FFF2-40B4-BE49-F238E27FC236}">
                <a16:creationId xmlns:a16="http://schemas.microsoft.com/office/drawing/2014/main" id="{96DB55E8-CFDB-1ED9-6D1A-FCDB75E8D8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5" y="4258536"/>
            <a:ext cx="448239" cy="44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3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5119F1-4E9A-377B-896D-0CBD155B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增加上下文資訊的過程</a:t>
            </a:r>
            <a:r>
              <a:rPr kumimoji="1" lang="en-US" altLang="zh-TW" dirty="0"/>
              <a:t> (RAG)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019714-DFBD-E448-32E7-DB55DE89B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685" y="1905683"/>
            <a:ext cx="1460883" cy="2264872"/>
          </a:xfrm>
          <a:ln w="12700">
            <a:solidFill>
              <a:schemeClr val="accent1"/>
            </a:solidFill>
          </a:ln>
        </p:spPr>
        <p:txBody>
          <a:bodyPr/>
          <a:lstStyle/>
          <a:p>
            <a:r>
              <a:rPr kumimoji="1" lang="zh-TW" altLang="en-US" b="1" dirty="0"/>
              <a:t>公司政策</a:t>
            </a:r>
            <a:endParaRPr kumimoji="1" lang="en-US" altLang="zh-TW" b="1" dirty="0"/>
          </a:p>
          <a:p>
            <a:r>
              <a:rPr kumimoji="1" lang="zh-TW" altLang="en-US" dirty="0"/>
              <a:t>政策</a:t>
            </a:r>
            <a:r>
              <a:rPr kumimoji="1" lang="en-US" altLang="zh-TW" dirty="0"/>
              <a:t>1</a:t>
            </a:r>
          </a:p>
          <a:p>
            <a:r>
              <a:rPr kumimoji="1" lang="zh-TW" altLang="en-US" dirty="0"/>
              <a:t>政策</a:t>
            </a:r>
            <a:r>
              <a:rPr kumimoji="1" lang="en-US" altLang="zh-TW" dirty="0"/>
              <a:t>2</a:t>
            </a:r>
          </a:p>
          <a:p>
            <a:r>
              <a:rPr kumimoji="1" lang="zh-TW" altLang="en-US" dirty="0"/>
              <a:t>政策</a:t>
            </a:r>
            <a:r>
              <a:rPr kumimoji="1" lang="en-US" altLang="zh-TW" dirty="0"/>
              <a:t>3</a:t>
            </a:r>
          </a:p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9C841F-FFBF-8640-ADF4-267FB13A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E0334FF3-AE0B-3513-33DB-CBA59FFC357E}"/>
              </a:ext>
            </a:extLst>
          </p:cNvPr>
          <p:cNvSpPr/>
          <p:nvPr/>
        </p:nvSpPr>
        <p:spPr>
          <a:xfrm>
            <a:off x="704482" y="2734386"/>
            <a:ext cx="3778484" cy="5452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我可以在購買後</a:t>
            </a:r>
            <a:r>
              <a:rPr kumimoji="1" lang="en-US" altLang="zh-TW" dirty="0"/>
              <a:t>14</a:t>
            </a:r>
            <a:r>
              <a:rPr kumimoji="1" lang="zh-TW" altLang="en-US" dirty="0"/>
              <a:t>天申請退款嗎？</a:t>
            </a:r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1DAD127D-C6E9-B4A4-FEAE-B48CB7627A33}"/>
              </a:ext>
            </a:extLst>
          </p:cNvPr>
          <p:cNvCxnSpPr>
            <a:cxnSpLocks/>
          </p:cNvCxnSpPr>
          <p:nvPr/>
        </p:nvCxnSpPr>
        <p:spPr>
          <a:xfrm flipV="1">
            <a:off x="4507907" y="3007028"/>
            <a:ext cx="16498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圓角矩形 8">
            <a:extLst>
              <a:ext uri="{FF2B5EF4-FFF2-40B4-BE49-F238E27FC236}">
                <a16:creationId xmlns:a16="http://schemas.microsoft.com/office/drawing/2014/main" id="{A0947BB3-982B-7BC8-34D3-3394728F9E79}"/>
              </a:ext>
            </a:extLst>
          </p:cNvPr>
          <p:cNvSpPr/>
          <p:nvPr/>
        </p:nvSpPr>
        <p:spPr>
          <a:xfrm>
            <a:off x="8351688" y="2569034"/>
            <a:ext cx="3194809" cy="93817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dirty="0">
                <a:solidFill>
                  <a:schemeClr val="tx1"/>
                </a:solidFill>
              </a:rPr>
              <a:t>僅在購買後</a:t>
            </a:r>
            <a:r>
              <a:rPr kumimoji="1" lang="en-US" altLang="zh-TW" dirty="0">
                <a:solidFill>
                  <a:schemeClr val="tx1"/>
                </a:solidFill>
              </a:rPr>
              <a:t>14</a:t>
            </a:r>
            <a:r>
              <a:rPr kumimoji="1" lang="zh-TW" altLang="en-US" dirty="0">
                <a:solidFill>
                  <a:schemeClr val="tx1"/>
                </a:solidFill>
              </a:rPr>
              <a:t>天內可申請退款。超過</a:t>
            </a:r>
            <a:r>
              <a:rPr kumimoji="1" lang="en-US" altLang="zh-TW" dirty="0">
                <a:solidFill>
                  <a:schemeClr val="tx1"/>
                </a:solidFill>
              </a:rPr>
              <a:t>14</a:t>
            </a:r>
            <a:r>
              <a:rPr kumimoji="1" lang="zh-TW" altLang="en-US" dirty="0">
                <a:solidFill>
                  <a:schemeClr val="tx1"/>
                </a:solidFill>
              </a:rPr>
              <a:t>天除非商品有瑕疵，否則無法退款。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371F60C-B274-BBF9-E767-A4203C1B4616}"/>
              </a:ext>
            </a:extLst>
          </p:cNvPr>
          <p:cNvCxnSpPr/>
          <p:nvPr/>
        </p:nvCxnSpPr>
        <p:spPr>
          <a:xfrm>
            <a:off x="7108720" y="3007028"/>
            <a:ext cx="10318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EED04089-6BD6-8F09-3BF4-6055D8901B2E}"/>
              </a:ext>
            </a:extLst>
          </p:cNvPr>
          <p:cNvSpPr/>
          <p:nvPr/>
        </p:nvSpPr>
        <p:spPr>
          <a:xfrm>
            <a:off x="2609671" y="4790438"/>
            <a:ext cx="3194809" cy="93817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dirty="0">
                <a:solidFill>
                  <a:schemeClr val="tx1"/>
                </a:solidFill>
              </a:rPr>
              <a:t>僅在購買後</a:t>
            </a:r>
            <a:r>
              <a:rPr kumimoji="1" lang="en-US" altLang="zh-TW" dirty="0">
                <a:solidFill>
                  <a:schemeClr val="tx1"/>
                </a:solidFill>
              </a:rPr>
              <a:t>14</a:t>
            </a:r>
            <a:r>
              <a:rPr kumimoji="1" lang="zh-TW" altLang="en-US" dirty="0">
                <a:solidFill>
                  <a:schemeClr val="tx1"/>
                </a:solidFill>
              </a:rPr>
              <a:t>天內可申請退款。超過</a:t>
            </a:r>
            <a:r>
              <a:rPr kumimoji="1" lang="en-US" altLang="zh-TW" dirty="0">
                <a:solidFill>
                  <a:schemeClr val="tx1"/>
                </a:solidFill>
              </a:rPr>
              <a:t>14</a:t>
            </a:r>
            <a:r>
              <a:rPr kumimoji="1" lang="zh-TW" altLang="en-US" dirty="0">
                <a:solidFill>
                  <a:schemeClr val="tx1"/>
                </a:solidFill>
              </a:rPr>
              <a:t>天除非商品有瑕疵，否則無法退款。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ECDB339A-D48A-6218-5DA8-D312F03F7D39}"/>
              </a:ext>
            </a:extLst>
          </p:cNvPr>
          <p:cNvSpPr/>
          <p:nvPr/>
        </p:nvSpPr>
        <p:spPr>
          <a:xfrm>
            <a:off x="2219418" y="5870275"/>
            <a:ext cx="3778484" cy="5452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我可以在購買後</a:t>
            </a:r>
            <a:r>
              <a:rPr kumimoji="1" lang="en-US" altLang="zh-TW" dirty="0"/>
              <a:t>14</a:t>
            </a:r>
            <a:r>
              <a:rPr kumimoji="1" lang="zh-TW" altLang="en-US" dirty="0"/>
              <a:t>天申請退款嗎？</a:t>
            </a:r>
          </a:p>
        </p:txBody>
      </p:sp>
      <p:sp>
        <p:nvSpPr>
          <p:cNvPr id="14" name="右中括弧 13">
            <a:extLst>
              <a:ext uri="{FF2B5EF4-FFF2-40B4-BE49-F238E27FC236}">
                <a16:creationId xmlns:a16="http://schemas.microsoft.com/office/drawing/2014/main" id="{61D89F73-46B5-C678-967B-EE0FD6540197}"/>
              </a:ext>
            </a:extLst>
          </p:cNvPr>
          <p:cNvSpPr/>
          <p:nvPr/>
        </p:nvSpPr>
        <p:spPr>
          <a:xfrm>
            <a:off x="6182685" y="5123655"/>
            <a:ext cx="117446" cy="107305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5" name="Picture 2" descr="undefined">
            <a:extLst>
              <a:ext uri="{FF2B5EF4-FFF2-40B4-BE49-F238E27FC236}">
                <a16:creationId xmlns:a16="http://schemas.microsoft.com/office/drawing/2014/main" id="{64C8DD86-A859-CD74-191F-5AB06C55B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5311" y="5304927"/>
            <a:ext cx="710510" cy="71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向右箭號 15">
            <a:extLst>
              <a:ext uri="{FF2B5EF4-FFF2-40B4-BE49-F238E27FC236}">
                <a16:creationId xmlns:a16="http://schemas.microsoft.com/office/drawing/2014/main" id="{6ED952CF-E150-7A36-A686-D0CB6B5AAA39}"/>
              </a:ext>
            </a:extLst>
          </p:cNvPr>
          <p:cNvSpPr/>
          <p:nvPr/>
        </p:nvSpPr>
        <p:spPr>
          <a:xfrm>
            <a:off x="6775361" y="5561506"/>
            <a:ext cx="640506" cy="1973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10D1B9-B1A0-085F-6EB6-AED250F7E38F}"/>
              </a:ext>
            </a:extLst>
          </p:cNvPr>
          <p:cNvSpPr/>
          <p:nvPr/>
        </p:nvSpPr>
        <p:spPr>
          <a:xfrm>
            <a:off x="4725358" y="2513045"/>
            <a:ext cx="1214934" cy="4231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Retriever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7C14F6C-BCD7-6BA0-5AF8-E20F74EEA89D}"/>
              </a:ext>
            </a:extLst>
          </p:cNvPr>
          <p:cNvSpPr txBox="1"/>
          <p:nvPr/>
        </p:nvSpPr>
        <p:spPr>
          <a:xfrm>
            <a:off x="653143" y="1476318"/>
            <a:ext cx="3778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Step1: </a:t>
            </a:r>
            <a:r>
              <a:rPr kumimoji="1" lang="zh-TW" altLang="en-US" sz="2000" dirty="0"/>
              <a:t>搜尋精確的上下文資訊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B0BEB8-3C53-A8E2-839B-06AA085246CE}"/>
              </a:ext>
            </a:extLst>
          </p:cNvPr>
          <p:cNvSpPr txBox="1"/>
          <p:nvPr/>
        </p:nvSpPr>
        <p:spPr>
          <a:xfrm>
            <a:off x="653142" y="4174863"/>
            <a:ext cx="3778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Step2: </a:t>
            </a:r>
            <a:r>
              <a:rPr kumimoji="1" lang="zh-TW" altLang="en-US" sz="2000" dirty="0"/>
              <a:t>模型推論</a:t>
            </a:r>
          </a:p>
        </p:txBody>
      </p:sp>
    </p:spTree>
    <p:extLst>
      <p:ext uri="{BB962C8B-B14F-4D97-AF65-F5344CB8AC3E}">
        <p14:creationId xmlns:p14="http://schemas.microsoft.com/office/powerpoint/2010/main" val="39802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6DA272-D2F3-9CDB-96A6-E5FF1713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應用範例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ChatDoctor</a:t>
            </a:r>
            <a:r>
              <a:rPr kumimoji="1" lang="en-US" altLang="zh-TW" dirty="0"/>
              <a:t> (</a:t>
            </a:r>
            <a:r>
              <a:rPr kumimoji="1" lang="zh-TW" altLang="en-US" dirty="0"/>
              <a:t>醫學問答系統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9C9B36-342B-B518-9525-C80BE87BD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7CC490F-A11E-FC9C-A91E-BBED0356D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541" y="1716247"/>
            <a:ext cx="7262364" cy="496860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4D87A40-75F6-DA81-B868-9EC97571FA01}"/>
              </a:ext>
            </a:extLst>
          </p:cNvPr>
          <p:cNvSpPr txBox="1"/>
          <p:nvPr/>
        </p:nvSpPr>
        <p:spPr>
          <a:xfrm>
            <a:off x="8522905" y="1553737"/>
            <a:ext cx="30486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400" dirty="0"/>
              <a:t>Li, </a:t>
            </a:r>
            <a:r>
              <a:rPr kumimoji="1" lang="en" altLang="zh-TW" sz="1400" dirty="0" err="1"/>
              <a:t>Yunxiang</a:t>
            </a:r>
            <a:r>
              <a:rPr kumimoji="1" lang="en" altLang="zh-TW" sz="1400" dirty="0"/>
              <a:t>, et al. "</a:t>
            </a:r>
            <a:r>
              <a:rPr kumimoji="1" lang="en" altLang="zh-TW" sz="1400" dirty="0" err="1"/>
              <a:t>Chatdoctor</a:t>
            </a:r>
            <a:r>
              <a:rPr kumimoji="1" lang="en" altLang="zh-TW" sz="1400" dirty="0"/>
              <a:t>: A medical chat model fine-tuned on a large language model meta-ai (llama) using medical domain knowledge." </a:t>
            </a:r>
            <a:r>
              <a:rPr kumimoji="1" lang="en" altLang="zh-TW" sz="1400" dirty="0" err="1"/>
              <a:t>Cureus</a:t>
            </a:r>
            <a:r>
              <a:rPr kumimoji="1" lang="en" altLang="zh-TW" sz="1400" dirty="0"/>
              <a:t> 15.6 (2023).</a:t>
            </a:r>
            <a:endParaRPr kumimoji="1" lang="zh-TW" altLang="en-US" sz="14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737E51-23E3-E906-B81E-751C7844F16B}"/>
              </a:ext>
            </a:extLst>
          </p:cNvPr>
          <p:cNvSpPr txBox="1"/>
          <p:nvPr/>
        </p:nvSpPr>
        <p:spPr>
          <a:xfrm>
            <a:off x="3080852" y="2138512"/>
            <a:ext cx="171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(</a:t>
            </a:r>
            <a:r>
              <a:rPr kumimoji="1" lang="zh-TW" altLang="en-US" dirty="0">
                <a:solidFill>
                  <a:srgbClr val="FF0000"/>
                </a:solidFill>
              </a:rPr>
              <a:t>查詢資料庫</a:t>
            </a:r>
            <a:r>
              <a:rPr kumimoji="1" lang="en-US" altLang="zh-TW" dirty="0">
                <a:solidFill>
                  <a:srgbClr val="FF0000"/>
                </a:solidFill>
              </a:rPr>
              <a:t>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5356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劉美辰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m1461014@cgu.edu.tw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651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9310</TotalTime>
  <Words>2503</Words>
  <Application>Microsoft Macintosh PowerPoint</Application>
  <PresentationFormat>寬螢幕</PresentationFormat>
  <Paragraphs>546</Paragraphs>
  <Slides>48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6" baseType="lpstr">
      <vt:lpstr>Microsoft JhengHei</vt:lpstr>
      <vt:lpstr>新細明體</vt:lpstr>
      <vt:lpstr>Arial</vt:lpstr>
      <vt:lpstr>Calibri</vt:lpstr>
      <vt:lpstr>Cambria Math</vt:lpstr>
      <vt:lpstr>Roboto</vt:lpstr>
      <vt:lpstr>Times New Roman</vt:lpstr>
      <vt:lpstr>回顧</vt:lpstr>
      <vt:lpstr>深度學習 Deep Learning</vt:lpstr>
      <vt:lpstr>Announcements</vt:lpstr>
      <vt:lpstr>Week 12 要繳交什麼？</vt:lpstr>
      <vt:lpstr>Week 12 繳交注意事項</vt:lpstr>
      <vt:lpstr>Outline</vt:lpstr>
      <vt:lpstr>自然語言處理 SSL</vt:lpstr>
      <vt:lpstr>[Recap] Encoder and Decoder</vt:lpstr>
      <vt:lpstr>[Recap] Encoder-Decoder 橋樑: Cross-Attention</vt:lpstr>
      <vt:lpstr>[Recap] Cross-attention</vt:lpstr>
      <vt:lpstr>Transformer 架構的後續應用</vt:lpstr>
      <vt:lpstr>[Recap] 條件機率</vt:lpstr>
      <vt:lpstr>Next-token prediction</vt:lpstr>
      <vt:lpstr>模型如何進行訓練？</vt:lpstr>
      <vt:lpstr>Language Modeling and Cross-entropy (1)</vt:lpstr>
      <vt:lpstr>訓練模型最大化每個時間點的機率</vt:lpstr>
      <vt:lpstr>Language Modeling and Cross-entropy (2)</vt:lpstr>
      <vt:lpstr>常見 Language Models</vt:lpstr>
      <vt:lpstr>Language Models 終究是 left-to-right</vt:lpstr>
      <vt:lpstr>Transformer 架構的後續應用</vt:lpstr>
      <vt:lpstr>BERT (Bidirectional Encoder Representations from Transformers)</vt:lpstr>
      <vt:lpstr>Next Sentence Prediction (NSP)</vt:lpstr>
      <vt:lpstr>Summary  - Key information</vt:lpstr>
      <vt:lpstr>Encoder vs. Decoder in Pre-training</vt:lpstr>
      <vt:lpstr>先 Pre-training，再 Fine-tuning</vt:lpstr>
      <vt:lpstr>大型語言模型</vt:lpstr>
      <vt:lpstr>The Revolution of ChatGPT</vt:lpstr>
      <vt:lpstr>寫程式？</vt:lpstr>
      <vt:lpstr>Code Llama</vt:lpstr>
      <vt:lpstr>大型語言模型的演化樹</vt:lpstr>
      <vt:lpstr>NLP Model Sizes (2018 – 2025)</vt:lpstr>
      <vt:lpstr>很多厲害的大型語言模型都需要上網...</vt:lpstr>
      <vt:lpstr>PowerPoint 簡報</vt:lpstr>
      <vt:lpstr>以前的 GPT 有口吃</vt:lpstr>
      <vt:lpstr>GPT 系列作品時間線</vt:lpstr>
      <vt:lpstr>The Pre-training then Fine-tuning Paradigm</vt:lpstr>
      <vt:lpstr>語言模型會回答嗎？</vt:lpstr>
      <vt:lpstr>Supervised Fine-Tuning (SFT)</vt:lpstr>
      <vt:lpstr>RLHF 的進行過程</vt:lpstr>
      <vt:lpstr>Supervised Learning vs. Reinforcement Learning</vt:lpstr>
      <vt:lpstr>Supervised Learning vs. Reinforcement Learning</vt:lpstr>
      <vt:lpstr>Main Differences between BERT and InstructGPT</vt:lpstr>
      <vt:lpstr>大型語言模型應用</vt:lpstr>
      <vt:lpstr>讓大型語言模型適用於你的任務？</vt:lpstr>
      <vt:lpstr>提示詞工程與上下文工程 (範例)</vt:lpstr>
      <vt:lpstr>資訊檢索 (Information Retrieval)</vt:lpstr>
      <vt:lpstr>增加上下文資訊的過程 (RAG)</vt:lpstr>
      <vt:lpstr>應用範例: ChatDoctor (醫學問答系統)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1646</cp:revision>
  <dcterms:created xsi:type="dcterms:W3CDTF">2025-02-06T07:16:08Z</dcterms:created>
  <dcterms:modified xsi:type="dcterms:W3CDTF">2025-11-18T13:44:32Z</dcterms:modified>
</cp:coreProperties>
</file>