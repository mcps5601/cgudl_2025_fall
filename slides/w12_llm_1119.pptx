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1"/>
  </p:notesMasterIdLst>
  <p:sldIdLst>
    <p:sldId id="264" r:id="rId2"/>
    <p:sldId id="720" r:id="rId3"/>
    <p:sldId id="722" r:id="rId4"/>
    <p:sldId id="678" r:id="rId5"/>
    <p:sldId id="669" r:id="rId6"/>
    <p:sldId id="677" r:id="rId7"/>
    <p:sldId id="631" r:id="rId8"/>
    <p:sldId id="334" r:id="rId9"/>
    <p:sldId id="714" r:id="rId10"/>
    <p:sldId id="717" r:id="rId11"/>
    <p:sldId id="747" r:id="rId12"/>
    <p:sldId id="671" r:id="rId13"/>
    <p:sldId id="527" r:id="rId14"/>
    <p:sldId id="725" r:id="rId15"/>
    <p:sldId id="687" r:id="rId16"/>
    <p:sldId id="727" r:id="rId17"/>
    <p:sldId id="743" r:id="rId18"/>
    <p:sldId id="744" r:id="rId19"/>
    <p:sldId id="291" r:id="rId20"/>
    <p:sldId id="517" r:id="rId21"/>
    <p:sldId id="726" r:id="rId22"/>
    <p:sldId id="742" r:id="rId23"/>
    <p:sldId id="748" r:id="rId24"/>
    <p:sldId id="736" r:id="rId25"/>
    <p:sldId id="741" r:id="rId26"/>
    <p:sldId id="312" r:id="rId27"/>
    <p:sldId id="688" r:id="rId28"/>
    <p:sldId id="740" r:id="rId29"/>
    <p:sldId id="738" r:id="rId30"/>
    <p:sldId id="739" r:id="rId31"/>
    <p:sldId id="681" r:id="rId32"/>
    <p:sldId id="712" r:id="rId33"/>
    <p:sldId id="313" r:id="rId34"/>
    <p:sldId id="532" r:id="rId35"/>
    <p:sldId id="510" r:id="rId36"/>
    <p:sldId id="746" r:id="rId37"/>
    <p:sldId id="285" r:id="rId38"/>
    <p:sldId id="750" r:id="rId39"/>
    <p:sldId id="473" r:id="rId40"/>
    <p:sldId id="538" r:id="rId41"/>
    <p:sldId id="749" r:id="rId42"/>
    <p:sldId id="478" r:id="rId43"/>
    <p:sldId id="745" r:id="rId44"/>
    <p:sldId id="685" r:id="rId45"/>
    <p:sldId id="713" r:id="rId46"/>
    <p:sldId id="674" r:id="rId47"/>
    <p:sldId id="718" r:id="rId48"/>
    <p:sldId id="682" r:id="rId49"/>
    <p:sldId id="610" r:id="rId5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9EF5EA"/>
    <a:srgbClr val="CDD5DE"/>
    <a:srgbClr val="FCE7D7"/>
    <a:srgbClr val="F9EDC6"/>
    <a:srgbClr val="05A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40"/>
    <p:restoredTop sz="90899"/>
  </p:normalViewPr>
  <p:slideViewPr>
    <p:cSldViewPr snapToGrid="0">
      <p:cViewPr varScale="1">
        <p:scale>
          <a:sx n="130" d="100"/>
          <a:sy n="130" d="100"/>
        </p:scale>
        <p:origin x="192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2025/11/19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81769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894782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K, V uses the output from encoder as their X;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Q uses the decoder’s information as X. 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2E3B28-2F7C-524C-99B0-DFA9B150710E}" type="slidenum">
              <a:rPr kumimoji="1" lang="zh-TW" altLang="en-US" smtClean="0"/>
              <a:t>8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57510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69068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19338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390925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69187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289214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5799233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5069826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276884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787813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7232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967440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441197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028854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37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52691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11/19/25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pic>
        <p:nvPicPr>
          <p:cNvPr id="8" name="圖片 7" descr="一張含有 黑暗, 鮮豔, 圓形, 對稱 的圖片&#10;&#10;自動產生的描述">
            <a:extLst>
              <a:ext uri="{FF2B5EF4-FFF2-40B4-BE49-F238E27FC236}">
                <a16:creationId xmlns:a16="http://schemas.microsoft.com/office/drawing/2014/main" id="{7B42FF8E-DE09-ED24-7D18-F64355A345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20" y="6349567"/>
            <a:ext cx="462323" cy="453571"/>
          </a:xfrm>
          <a:prstGeom prst="rect">
            <a:avLst/>
          </a:prstGeom>
        </p:spPr>
      </p:pic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11/19/25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11/19/25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11/19/25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11/19/25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11/19/25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11/19/25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11/19/25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11/19/25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11/19/25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05AED6"/>
          </a:solidFill>
          <a:ln>
            <a:solidFill>
              <a:srgbClr val="05AE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cps5601/CGUDL_2025_fall" TargetMode="External"/><Relationship Id="rId5" Type="http://schemas.openxmlformats.org/officeDocument/2006/relationships/hyperlink" Target="https://app.sli.do/event/8snWo8fi4tc3ZqAH5B3KEy" TargetMode="Externa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13" Type="http://schemas.openxmlformats.org/officeDocument/2006/relationships/image" Target="../media/image112.png"/><Relationship Id="rId3" Type="http://schemas.openxmlformats.org/officeDocument/2006/relationships/image" Target="../media/image102.png"/><Relationship Id="rId7" Type="http://schemas.openxmlformats.org/officeDocument/2006/relationships/image" Target="../media/image106.png"/><Relationship Id="rId12" Type="http://schemas.openxmlformats.org/officeDocument/2006/relationships/image" Target="../media/image111.png"/><Relationship Id="rId2" Type="http://schemas.openxmlformats.org/officeDocument/2006/relationships/image" Target="../media/image101.png"/><Relationship Id="rId16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110.png"/><Relationship Id="rId5" Type="http://schemas.openxmlformats.org/officeDocument/2006/relationships/image" Target="../media/image104.png"/><Relationship Id="rId15" Type="http://schemas.openxmlformats.org/officeDocument/2006/relationships/image" Target="../media/image114.png"/><Relationship Id="rId10" Type="http://schemas.openxmlformats.org/officeDocument/2006/relationships/image" Target="../media/image109.png"/><Relationship Id="rId4" Type="http://schemas.openxmlformats.org/officeDocument/2006/relationships/image" Target="../media/image103.png"/><Relationship Id="rId9" Type="http://schemas.openxmlformats.org/officeDocument/2006/relationships/image" Target="../media/image108.png"/><Relationship Id="rId14" Type="http://schemas.openxmlformats.org/officeDocument/2006/relationships/image" Target="../media/image1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hyperlink" Target="https://arxiv.org/abs/1810.04805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131.png"/><Relationship Id="rId7" Type="http://schemas.openxmlformats.org/officeDocument/2006/relationships/image" Target="../media/image17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Relationship Id="rId11" Type="http://schemas.openxmlformats.org/officeDocument/2006/relationships/image" Target="../media/image21.png"/><Relationship Id="rId5" Type="http://schemas.openxmlformats.org/officeDocument/2006/relationships/image" Target="../media/image150.png"/><Relationship Id="rId10" Type="http://schemas.openxmlformats.org/officeDocument/2006/relationships/image" Target="../media/image20.png"/><Relationship Id="rId4" Type="http://schemas.openxmlformats.org/officeDocument/2006/relationships/image" Target="../media/image140.png"/><Relationship Id="rId9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0.04805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gi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圓角矩形 4">
            <a:extLst>
              <a:ext uri="{FF2B5EF4-FFF2-40B4-BE49-F238E27FC236}">
                <a16:creationId xmlns:a16="http://schemas.microsoft.com/office/drawing/2014/main" id="{3C6264BC-1151-9168-C7F5-CC114FF3CC95}"/>
              </a:ext>
            </a:extLst>
          </p:cNvPr>
          <p:cNvSpPr/>
          <p:nvPr/>
        </p:nvSpPr>
        <p:spPr>
          <a:xfrm>
            <a:off x="667422" y="2025546"/>
            <a:ext cx="10857156" cy="2426189"/>
          </a:xfrm>
          <a:prstGeom prst="roundRect">
            <a:avLst/>
          </a:prstGeom>
          <a:solidFill>
            <a:srgbClr val="9EF5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1959" y="1006002"/>
            <a:ext cx="5437882" cy="3224045"/>
          </a:xfrm>
        </p:spPr>
        <p:txBody>
          <a:bodyPr anchor="b">
            <a:normAutofit/>
          </a:bodyPr>
          <a:lstStyle/>
          <a:p>
            <a:r>
              <a:rPr kumimoji="1" lang="zh-TW" altLang="en-US" sz="5800" b="1" dirty="0">
                <a:ea typeface="Microsoft JhengHei" panose="020B0604030504040204" pitchFamily="34" charset="-120"/>
              </a:rPr>
              <a:t>深度學習</a:t>
            </a:r>
            <a:br>
              <a:rPr kumimoji="1" lang="en-US" altLang="zh-TW" sz="5800" b="1" dirty="0">
                <a:ea typeface="Microsoft JhengHei" panose="020B0604030504040204" pitchFamily="34" charset="-120"/>
              </a:rPr>
            </a:br>
            <a:r>
              <a:rPr kumimoji="1" lang="en-US" altLang="zh-TW" sz="5800" b="1" dirty="0">
                <a:ea typeface="Microsoft JhengHei" panose="020B0604030504040204" pitchFamily="34" charset="-120"/>
              </a:rPr>
              <a:t>Deep Learning</a:t>
            </a:r>
            <a:endParaRPr kumimoji="1" lang="zh-TW" altLang="en-US" sz="5800" b="1" dirty="0">
              <a:ea typeface="Microsoft JhengHei" panose="020B0604030504040204" pitchFamily="34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9528" y="253272"/>
            <a:ext cx="1468923" cy="1468923"/>
          </a:xfrm>
          <a:prstGeom prst="rect">
            <a:avLst/>
          </a:prstGeom>
        </p:spPr>
      </p:pic>
      <p:pic>
        <p:nvPicPr>
          <p:cNvPr id="8" name="圖片 7" descr="一張含有 螢幕擷取畫面, 樣式, 圓形, 圖形 的圖片&#10;&#10;AI 產生的內容可能不正確。">
            <a:extLst>
              <a:ext uri="{FF2B5EF4-FFF2-40B4-BE49-F238E27FC236}">
                <a16:creationId xmlns:a16="http://schemas.microsoft.com/office/drawing/2014/main" id="{22F76685-E2D2-0BC7-76BB-5BDBC9DCFE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175" y="4533398"/>
            <a:ext cx="1960729" cy="1960729"/>
          </a:xfrm>
          <a:prstGeom prst="rect">
            <a:avLst/>
          </a:prstGeom>
        </p:spPr>
      </p:pic>
      <p:sp>
        <p:nvSpPr>
          <p:cNvPr id="11" name="文字方塊 10">
            <a:hlinkClick r:id="rId5"/>
            <a:extLst>
              <a:ext uri="{FF2B5EF4-FFF2-40B4-BE49-F238E27FC236}">
                <a16:creationId xmlns:a16="http://schemas.microsoft.com/office/drawing/2014/main" id="{8F823108-2692-7850-78FB-371EE4D6F4E9}"/>
              </a:ext>
            </a:extLst>
          </p:cNvPr>
          <p:cNvSpPr txBox="1"/>
          <p:nvPr/>
        </p:nvSpPr>
        <p:spPr>
          <a:xfrm>
            <a:off x="9181606" y="6296804"/>
            <a:ext cx="1825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5"/>
              </a:rPr>
              <a:t>Slido # DL1119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8C6CA94-AF36-F0D4-5089-5AA183D3CA39}"/>
              </a:ext>
            </a:extLst>
          </p:cNvPr>
          <p:cNvSpPr txBox="1"/>
          <p:nvPr/>
        </p:nvSpPr>
        <p:spPr>
          <a:xfrm>
            <a:off x="6388165" y="6296804"/>
            <a:ext cx="203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hlinkClick r:id="rId6"/>
              </a:rPr>
              <a:t>Course GitHub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EC54666-0C58-F99D-556B-7D8163B991AA}"/>
              </a:ext>
            </a:extLst>
          </p:cNvPr>
          <p:cNvSpPr txBox="1"/>
          <p:nvPr/>
        </p:nvSpPr>
        <p:spPr>
          <a:xfrm>
            <a:off x="901959" y="4749453"/>
            <a:ext cx="508083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3200" b="1" dirty="0">
                <a:solidFill>
                  <a:srgbClr val="0070C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Calibri" panose="020F0502020204030204" pitchFamily="34" charset="0"/>
              </a:rPr>
              <a:t>大型語言模型</a:t>
            </a:r>
            <a:endParaRPr kumimoji="1" lang="en-US" altLang="zh-TW" sz="3200" b="1" dirty="0">
              <a:solidFill>
                <a:srgbClr val="0070C0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24A82EC-22FA-ABE2-B4AF-6FCD7356A734}"/>
              </a:ext>
            </a:extLst>
          </p:cNvPr>
          <p:cNvSpPr txBox="1"/>
          <p:nvPr/>
        </p:nvSpPr>
        <p:spPr>
          <a:xfrm>
            <a:off x="901959" y="5851998"/>
            <a:ext cx="44538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2025/11/19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A8AA589-505C-932F-3481-23F77E6D3D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0932" y="4689981"/>
            <a:ext cx="1626779" cy="162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314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47A50A0-BE83-714F-87D1-D56B21A39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Announcements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F8333C8-CA8D-E1F0-F37D-D27318425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63329-3583-EC83-64B0-F93DA6FF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67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5E7F39-290C-D102-4E6C-BA283CFC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Week 12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要繳交什麼？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0BAF86-D3E8-8066-F44E-7EAB8A09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85A9A9-AB70-91D9-06C4-DE2676BBA254}"/>
              </a:ext>
            </a:extLst>
          </p:cNvPr>
          <p:cNvSpPr txBox="1"/>
          <p:nvPr/>
        </p:nvSpPr>
        <p:spPr>
          <a:xfrm>
            <a:off x="653143" y="1586847"/>
            <a:ext cx="10918370" cy="4659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solidFill>
                  <a:srgbClr val="0070C0"/>
                </a:solidFill>
                <a:ea typeface="Microsoft JhengHei" panose="020B0604030504040204" pitchFamily="34" charset="-120"/>
              </a:rPr>
              <a:t>清晰易懂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的簡報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5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頁，一組繳交一份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介紹競賽任務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舉例說明資料的長相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做簡單的資料分析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可以參考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Kaggle Code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，關鍵字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: EDA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(Exploratory Data Analysis)</a:t>
            </a:r>
          </a:p>
          <a:p>
            <a:pPr marL="17145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請附上來源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!!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預期的實作方法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預期實作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/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使用的模型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  <a:p>
            <a:pPr marL="1714500" lvl="3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可以參考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Kaggle Code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，請附上來源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!!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預期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分工模式</a:t>
            </a:r>
            <a:endParaRPr kumimoji="1" lang="en-US" altLang="zh-TW" sz="20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16116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5E7F39-290C-D102-4E6C-BA283CFC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Week 12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繳交注意事項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0BAF86-D3E8-8066-F44E-7EAB8A09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85A9A9-AB70-91D9-06C4-DE2676BBA254}"/>
              </a:ext>
            </a:extLst>
          </p:cNvPr>
          <p:cNvSpPr txBox="1"/>
          <p:nvPr/>
        </p:nvSpPr>
        <p:spPr>
          <a:xfrm>
            <a:off x="636815" y="1731932"/>
            <a:ext cx="10918370" cy="23510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ea typeface="Microsoft JhengHei" panose="020B0604030504040204" pitchFamily="34" charset="-120"/>
              </a:rPr>
              <a:t>5 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頁是最低需求 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不包含首頁跟最後一頁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可以多於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5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頁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!!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一組繳交一份，請上傳至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 </a:t>
            </a:r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E-Learning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solidFill>
                  <a:srgbClr val="FF0000"/>
                </a:solidFill>
                <a:ea typeface="Microsoft JhengHei" panose="020B0604030504040204" pitchFamily="34" charset="-120"/>
              </a:rPr>
              <a:t>Deadline: 2025/11/21 23:59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ea typeface="Microsoft JhengHei" panose="020B0604030504040204" pitchFamily="34" charset="-120"/>
              </a:rPr>
              <a:t>檔名：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DL_teamN_checkpoint1.pdf</a:t>
            </a:r>
          </a:p>
        </p:txBody>
      </p:sp>
    </p:spTree>
    <p:extLst>
      <p:ext uri="{BB962C8B-B14F-4D97-AF65-F5344CB8AC3E}">
        <p14:creationId xmlns:p14="http://schemas.microsoft.com/office/powerpoint/2010/main" val="1292131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B9393-1699-985A-E66F-F2B388438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A6DC57-0B7A-1B21-F9F0-721D122B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FAFA69A-F103-08DD-98C8-542BFACBF3C4}"/>
              </a:ext>
            </a:extLst>
          </p:cNvPr>
          <p:cNvSpPr txBox="1"/>
          <p:nvPr/>
        </p:nvSpPr>
        <p:spPr>
          <a:xfrm>
            <a:off x="653143" y="1586847"/>
            <a:ext cx="10918370" cy="4455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自然語言處理</a:t>
            </a:r>
            <a:r>
              <a:rPr kumimoji="1" lang="en-US" altLang="zh-TW" sz="2400" dirty="0"/>
              <a:t>SSL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BERT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GPT-1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Introduction to large language models (LLMs)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LLM applications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What LLMs can do?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Code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</a:t>
            </a:r>
          </a:p>
        </p:txBody>
      </p:sp>
    </p:spTree>
    <p:extLst>
      <p:ext uri="{BB962C8B-B14F-4D97-AF65-F5344CB8AC3E}">
        <p14:creationId xmlns:p14="http://schemas.microsoft.com/office/powerpoint/2010/main" val="4494835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47A50A0-BE83-714F-87D1-D56B21A39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自然語言處理</a:t>
            </a:r>
            <a:r>
              <a:rPr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en-US" altLang="zh-TW" dirty="0"/>
              <a:t>SSL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663329-3583-EC83-64B0-F93DA6FF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30F77D2-841E-08C1-4A09-5AE447429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4668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1B8AE9C-1909-B974-E8C8-9807CE1AC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[Recap] Encoder and Decoder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2106C75-A795-3924-7F0C-B509934C7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BA383E56-D04D-340B-A396-C1FF6DCBC646}"/>
              </a:ext>
            </a:extLst>
          </p:cNvPr>
          <p:cNvSpPr/>
          <p:nvPr/>
        </p:nvSpPr>
        <p:spPr>
          <a:xfrm>
            <a:off x="6777738" y="4052638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CD4D7DE-FEA6-5EAD-BA7D-0E9B63A81999}"/>
              </a:ext>
            </a:extLst>
          </p:cNvPr>
          <p:cNvSpPr txBox="1"/>
          <p:nvPr/>
        </p:nvSpPr>
        <p:spPr>
          <a:xfrm>
            <a:off x="6848723" y="5855027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21F30ECC-84F2-5D18-362E-5D5B043F7E7B}"/>
              </a:ext>
            </a:extLst>
          </p:cNvPr>
          <p:cNvCxnSpPr>
            <a:cxnSpLocks/>
          </p:cNvCxnSpPr>
          <p:nvPr/>
        </p:nvCxnSpPr>
        <p:spPr>
          <a:xfrm flipV="1">
            <a:off x="7141779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DFBBA531-BE7B-F9F3-E719-5242A0B9E4BD}"/>
              </a:ext>
            </a:extLst>
          </p:cNvPr>
          <p:cNvCxnSpPr>
            <a:cxnSpLocks/>
          </p:cNvCxnSpPr>
          <p:nvPr/>
        </p:nvCxnSpPr>
        <p:spPr>
          <a:xfrm flipV="1">
            <a:off x="7864194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5213826B-7FF7-F9EA-A9F9-445F4081DE0B}"/>
              </a:ext>
            </a:extLst>
          </p:cNvPr>
          <p:cNvCxnSpPr>
            <a:cxnSpLocks/>
          </p:cNvCxnSpPr>
          <p:nvPr/>
        </p:nvCxnSpPr>
        <p:spPr>
          <a:xfrm flipV="1">
            <a:off x="10791469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252A1EFC-B9A1-E9B9-C671-FC420A3A4AAD}"/>
              </a:ext>
            </a:extLst>
          </p:cNvPr>
          <p:cNvCxnSpPr>
            <a:cxnSpLocks/>
          </p:cNvCxnSpPr>
          <p:nvPr/>
        </p:nvCxnSpPr>
        <p:spPr>
          <a:xfrm flipV="1">
            <a:off x="10069054" y="3739303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A8FFAB12-7688-B996-CE29-CCFBB2E29E54}"/>
              </a:ext>
            </a:extLst>
          </p:cNvPr>
          <p:cNvCxnSpPr>
            <a:cxnSpLocks/>
          </p:cNvCxnSpPr>
          <p:nvPr/>
        </p:nvCxnSpPr>
        <p:spPr>
          <a:xfrm flipV="1">
            <a:off x="7141779" y="509548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A3271C6B-2A38-B65E-147B-30B6DBA820E4}"/>
              </a:ext>
            </a:extLst>
          </p:cNvPr>
          <p:cNvCxnSpPr>
            <a:cxnSpLocks/>
          </p:cNvCxnSpPr>
          <p:nvPr/>
        </p:nvCxnSpPr>
        <p:spPr>
          <a:xfrm flipV="1">
            <a:off x="7864193" y="5095489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7DB29C07-EE45-FDF3-50C5-462B179F554D}"/>
              </a:ext>
            </a:extLst>
          </p:cNvPr>
          <p:cNvCxnSpPr>
            <a:cxnSpLocks/>
          </p:cNvCxnSpPr>
          <p:nvPr/>
        </p:nvCxnSpPr>
        <p:spPr>
          <a:xfrm flipV="1">
            <a:off x="10069053" y="509199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E80F3625-6DB5-7DD1-C50D-5733EC81F434}"/>
              </a:ext>
            </a:extLst>
          </p:cNvPr>
          <p:cNvCxnSpPr>
            <a:cxnSpLocks/>
          </p:cNvCxnSpPr>
          <p:nvPr/>
        </p:nvCxnSpPr>
        <p:spPr>
          <a:xfrm flipV="1">
            <a:off x="10791467" y="509199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07DBE63A-42BD-8531-2AE3-FBE67A0DD8F9}"/>
              </a:ext>
            </a:extLst>
          </p:cNvPr>
          <p:cNvSpPr txBox="1"/>
          <p:nvPr/>
        </p:nvSpPr>
        <p:spPr>
          <a:xfrm>
            <a:off x="8643134" y="5288270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CC40672F-B910-D24E-72DA-0F22F07E9DA9}"/>
                  </a:ext>
                </a:extLst>
              </p:cNvPr>
              <p:cNvSpPr/>
              <p:nvPr/>
            </p:nvSpPr>
            <p:spPr>
              <a:xfrm>
                <a:off x="9794143" y="2529790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CC40672F-B910-D24E-72DA-0F22F07E9D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4143" y="2529790"/>
                <a:ext cx="555203" cy="465105"/>
              </a:xfrm>
              <a:prstGeom prst="roundRect">
                <a:avLst/>
              </a:prstGeom>
              <a:blipFill>
                <a:blip r:embed="rId2"/>
                <a:stretch>
                  <a:fillRect l="-638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E1C6C418-46CC-12F4-672C-B6855778DDE5}"/>
                  </a:ext>
                </a:extLst>
              </p:cNvPr>
              <p:cNvSpPr/>
              <p:nvPr/>
            </p:nvSpPr>
            <p:spPr>
              <a:xfrm>
                <a:off x="10516557" y="2527725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圓角矩形 18">
                <a:extLst>
                  <a:ext uri="{FF2B5EF4-FFF2-40B4-BE49-F238E27FC236}">
                    <a16:creationId xmlns:a16="http://schemas.microsoft.com/office/drawing/2014/main" id="{E1C6C418-46CC-12F4-672C-B6855778DD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6557" y="2527725"/>
                <a:ext cx="555203" cy="46510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C0A43D43-98FF-A85D-04B6-07EBBD0002F4}"/>
                  </a:ext>
                </a:extLst>
              </p:cNvPr>
              <p:cNvSpPr/>
              <p:nvPr/>
            </p:nvSpPr>
            <p:spPr>
              <a:xfrm>
                <a:off x="6864175" y="2517133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圓角矩形 19">
                <a:extLst>
                  <a:ext uri="{FF2B5EF4-FFF2-40B4-BE49-F238E27FC236}">
                    <a16:creationId xmlns:a16="http://schemas.microsoft.com/office/drawing/2014/main" id="{C0A43D43-98FF-A85D-04B6-07EBBD0002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4175" y="2517133"/>
                <a:ext cx="555203" cy="46510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8DFC2C4-6948-C430-C594-C839C38C8914}"/>
                  </a:ext>
                </a:extLst>
              </p:cNvPr>
              <p:cNvSpPr/>
              <p:nvPr/>
            </p:nvSpPr>
            <p:spPr>
              <a:xfrm>
                <a:off x="7593229" y="2526949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圓角矩形 20">
                <a:extLst>
                  <a:ext uri="{FF2B5EF4-FFF2-40B4-BE49-F238E27FC236}">
                    <a16:creationId xmlns:a16="http://schemas.microsoft.com/office/drawing/2014/main" id="{98DFC2C4-6948-C430-C594-C839C38C89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229" y="2526949"/>
                <a:ext cx="555203" cy="46510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42A5367A-AD7E-8CDF-135E-95FD34743972}"/>
                  </a:ext>
                </a:extLst>
              </p:cNvPr>
              <p:cNvSpPr/>
              <p:nvPr/>
            </p:nvSpPr>
            <p:spPr>
              <a:xfrm>
                <a:off x="7583370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42A5367A-AD7E-8CDF-135E-95FD347439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370" y="5397054"/>
                <a:ext cx="555203" cy="46510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22C1FB2-0AE1-FE9A-2ADD-E02D1F9F24AF}"/>
                  </a:ext>
                </a:extLst>
              </p:cNvPr>
              <p:cNvSpPr/>
              <p:nvPr/>
            </p:nvSpPr>
            <p:spPr>
              <a:xfrm>
                <a:off x="9786336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122C1FB2-0AE1-FE9A-2ADD-E02D1F9F24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6336" y="5397054"/>
                <a:ext cx="555203" cy="465105"/>
              </a:xfrm>
              <a:prstGeom prst="roundRect">
                <a:avLst/>
              </a:prstGeom>
              <a:blipFill>
                <a:blip r:embed="rId7"/>
                <a:stretch>
                  <a:fillRect l="-425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2CFB6DE4-298A-6478-84DC-2C4D458C4382}"/>
                  </a:ext>
                </a:extLst>
              </p:cNvPr>
              <p:cNvSpPr/>
              <p:nvPr/>
            </p:nvSpPr>
            <p:spPr>
              <a:xfrm>
                <a:off x="10508748" y="5397054"/>
                <a:ext cx="555203" cy="465105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2CFB6DE4-298A-6478-84DC-2C4D458C43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8748" y="5397054"/>
                <a:ext cx="555203" cy="465105"/>
              </a:xfrm>
              <a:prstGeom prst="roundRect">
                <a:avLst/>
              </a:prstGeom>
              <a:blipFill>
                <a:blip r:embed="rId8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17DF5A0E-5598-F2D7-42EB-37949F9013C8}"/>
              </a:ext>
            </a:extLst>
          </p:cNvPr>
          <p:cNvSpPr txBox="1"/>
          <p:nvPr/>
        </p:nvSpPr>
        <p:spPr>
          <a:xfrm>
            <a:off x="8640752" y="2450264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391C10AD-0D04-2B3F-B88B-1109E98C804F}"/>
              </a:ext>
            </a:extLst>
          </p:cNvPr>
          <p:cNvSpPr txBox="1"/>
          <p:nvPr/>
        </p:nvSpPr>
        <p:spPr>
          <a:xfrm>
            <a:off x="7716416" y="1835327"/>
            <a:ext cx="2632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輸出是</a:t>
            </a:r>
            <a:r>
              <a:rPr kumimoji="1" lang="en-US" altLang="zh-TW" b="1" dirty="0"/>
              <a:t> sequence</a:t>
            </a:r>
            <a:r>
              <a:rPr kumimoji="1" lang="zh-TW" altLang="en-US" b="1" dirty="0"/>
              <a:t> </a:t>
            </a:r>
            <a:r>
              <a:rPr kumimoji="1" lang="en-US" altLang="zh-TW" b="1" dirty="0"/>
              <a:t>(</a:t>
            </a:r>
            <a:r>
              <a:rPr kumimoji="1" lang="zh-TW" altLang="en-US" b="1" dirty="0"/>
              <a:t>文字</a:t>
            </a:r>
            <a:r>
              <a:rPr kumimoji="1" lang="en-US" altLang="zh-TW" b="1" dirty="0"/>
              <a:t>)</a:t>
            </a:r>
            <a:endParaRPr kumimoji="1" lang="zh-TW" altLang="en-US" b="1" dirty="0"/>
          </a:p>
        </p:txBody>
      </p:sp>
      <p:sp>
        <p:nvSpPr>
          <p:cNvPr id="31" name="圓角矩形 30">
            <a:extLst>
              <a:ext uri="{FF2B5EF4-FFF2-40B4-BE49-F238E27FC236}">
                <a16:creationId xmlns:a16="http://schemas.microsoft.com/office/drawing/2014/main" id="{FE795842-E8E8-E357-93AF-80C6CBCBD5A4}"/>
              </a:ext>
            </a:extLst>
          </p:cNvPr>
          <p:cNvSpPr/>
          <p:nvPr/>
        </p:nvSpPr>
        <p:spPr>
          <a:xfrm>
            <a:off x="1443211" y="4100635"/>
            <a:ext cx="4433985" cy="99135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Encoder</a:t>
            </a:r>
            <a:endParaRPr kumimoji="1" lang="zh-TW" altLang="en-US" sz="1500" dirty="0">
              <a:solidFill>
                <a:schemeClr val="tx1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8CD6FE4-CA94-843B-C904-8FB743CE2756}"/>
              </a:ext>
            </a:extLst>
          </p:cNvPr>
          <p:cNvSpPr txBox="1"/>
          <p:nvPr/>
        </p:nvSpPr>
        <p:spPr>
          <a:xfrm>
            <a:off x="1494740" y="5903024"/>
            <a:ext cx="5891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p:cxnSp>
        <p:nvCxnSpPr>
          <p:cNvPr id="35" name="直線箭頭接點 34">
            <a:extLst>
              <a:ext uri="{FF2B5EF4-FFF2-40B4-BE49-F238E27FC236}">
                <a16:creationId xmlns:a16="http://schemas.microsoft.com/office/drawing/2014/main" id="{DDBAC394-6EE5-2FC2-0AFE-A713E61495B0}"/>
              </a:ext>
            </a:extLst>
          </p:cNvPr>
          <p:cNvCxnSpPr>
            <a:cxnSpLocks/>
          </p:cNvCxnSpPr>
          <p:nvPr/>
        </p:nvCxnSpPr>
        <p:spPr>
          <a:xfrm flipV="1">
            <a:off x="5456942" y="378730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B349A6FB-CF9B-DA91-CB56-8692C92F97F5}"/>
              </a:ext>
            </a:extLst>
          </p:cNvPr>
          <p:cNvCxnSpPr>
            <a:cxnSpLocks/>
          </p:cNvCxnSpPr>
          <p:nvPr/>
        </p:nvCxnSpPr>
        <p:spPr>
          <a:xfrm flipV="1">
            <a:off x="4734527" y="378730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圓角矩形 36">
            <a:extLst>
              <a:ext uri="{FF2B5EF4-FFF2-40B4-BE49-F238E27FC236}">
                <a16:creationId xmlns:a16="http://schemas.microsoft.com/office/drawing/2014/main" id="{39036F0C-DCCB-713A-C8B2-0BEBB6436E03}"/>
              </a:ext>
            </a:extLst>
          </p:cNvPr>
          <p:cNvSpPr/>
          <p:nvPr/>
        </p:nvSpPr>
        <p:spPr>
          <a:xfrm>
            <a:off x="1529648" y="5445051"/>
            <a:ext cx="555205" cy="465107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D6255ADE-8DF4-9330-0FFD-EC385724AA4E}"/>
              </a:ext>
            </a:extLst>
          </p:cNvPr>
          <p:cNvCxnSpPr>
            <a:cxnSpLocks/>
          </p:cNvCxnSpPr>
          <p:nvPr/>
        </p:nvCxnSpPr>
        <p:spPr>
          <a:xfrm flipV="1">
            <a:off x="1807252" y="5143486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A551582A-C5A2-5592-1221-7E161A40C794}"/>
              </a:ext>
            </a:extLst>
          </p:cNvPr>
          <p:cNvCxnSpPr>
            <a:cxnSpLocks/>
          </p:cNvCxnSpPr>
          <p:nvPr/>
        </p:nvCxnSpPr>
        <p:spPr>
          <a:xfrm flipV="1">
            <a:off x="2529666" y="5143486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439D5CC1-5EA9-6E67-7ED0-8CF169A9CD0E}"/>
              </a:ext>
            </a:extLst>
          </p:cNvPr>
          <p:cNvCxnSpPr>
            <a:cxnSpLocks/>
          </p:cNvCxnSpPr>
          <p:nvPr/>
        </p:nvCxnSpPr>
        <p:spPr>
          <a:xfrm flipV="1">
            <a:off x="4734526" y="5139991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箭頭接點 40">
            <a:extLst>
              <a:ext uri="{FF2B5EF4-FFF2-40B4-BE49-F238E27FC236}">
                <a16:creationId xmlns:a16="http://schemas.microsoft.com/office/drawing/2014/main" id="{0BE18513-56CA-7723-A853-A59FE538F500}"/>
              </a:ext>
            </a:extLst>
          </p:cNvPr>
          <p:cNvCxnSpPr>
            <a:cxnSpLocks/>
          </p:cNvCxnSpPr>
          <p:nvPr/>
        </p:nvCxnSpPr>
        <p:spPr>
          <a:xfrm flipV="1">
            <a:off x="5456940" y="5139991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A108D4A-2D70-D2F4-BA03-472F6B0C8135}"/>
              </a:ext>
            </a:extLst>
          </p:cNvPr>
          <p:cNvSpPr txBox="1"/>
          <p:nvPr/>
        </p:nvSpPr>
        <p:spPr>
          <a:xfrm>
            <a:off x="3308607" y="5336267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6E92D372-707B-990C-5677-ABFB0EDD2AC2}"/>
                  </a:ext>
                </a:extLst>
              </p:cNvPr>
              <p:cNvSpPr/>
              <p:nvPr/>
            </p:nvSpPr>
            <p:spPr>
              <a:xfrm>
                <a:off x="5182030" y="3273307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圓角矩形 43">
                <a:extLst>
                  <a:ext uri="{FF2B5EF4-FFF2-40B4-BE49-F238E27FC236}">
                    <a16:creationId xmlns:a16="http://schemas.microsoft.com/office/drawing/2014/main" id="{6E92D372-707B-990C-5677-ABFB0EDD2A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2030" y="3273307"/>
                <a:ext cx="555203" cy="465105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208F923A-C07F-9336-2A8D-148DF86F32EF}"/>
                  </a:ext>
                </a:extLst>
              </p:cNvPr>
              <p:cNvSpPr/>
              <p:nvPr/>
            </p:nvSpPr>
            <p:spPr>
              <a:xfrm>
                <a:off x="2248843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zh-TW" b="0" i="1" baseline="-25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kumimoji="1" lang="zh-TW" altLang="en-US" baseline="-25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圓角矩形 46">
                <a:extLst>
                  <a:ext uri="{FF2B5EF4-FFF2-40B4-BE49-F238E27FC236}">
                    <a16:creationId xmlns:a16="http://schemas.microsoft.com/office/drawing/2014/main" id="{208F923A-C07F-9336-2A8D-148DF86F32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843" y="5445051"/>
                <a:ext cx="555203" cy="465105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3AAFEB0B-670C-44F4-929F-FF77BFF36766}"/>
                  </a:ext>
                </a:extLst>
              </p:cNvPr>
              <p:cNvSpPr/>
              <p:nvPr/>
            </p:nvSpPr>
            <p:spPr>
              <a:xfrm>
                <a:off x="4451809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圓角矩形 47">
                <a:extLst>
                  <a:ext uri="{FF2B5EF4-FFF2-40B4-BE49-F238E27FC236}">
                    <a16:creationId xmlns:a16="http://schemas.microsoft.com/office/drawing/2014/main" id="{3AAFEB0B-670C-44F4-929F-FF77BFF36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1809" y="5445051"/>
                <a:ext cx="555203" cy="465105"/>
              </a:xfrm>
              <a:prstGeom prst="roundRect">
                <a:avLst/>
              </a:prstGeom>
              <a:blipFill>
                <a:blip r:embed="rId11"/>
                <a:stretch>
                  <a:fillRect l="-425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59EE0DFB-89F9-3CC1-5DC1-D108E8C73741}"/>
                  </a:ext>
                </a:extLst>
              </p:cNvPr>
              <p:cNvSpPr/>
              <p:nvPr/>
            </p:nvSpPr>
            <p:spPr>
              <a:xfrm>
                <a:off x="5174221" y="5445051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圓角矩形 48">
                <a:extLst>
                  <a:ext uri="{FF2B5EF4-FFF2-40B4-BE49-F238E27FC236}">
                    <a16:creationId xmlns:a16="http://schemas.microsoft.com/office/drawing/2014/main" id="{59EE0DFB-89F9-3CC1-5DC1-D108E8C737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4221" y="5445051"/>
                <a:ext cx="555203" cy="465105"/>
              </a:xfrm>
              <a:prstGeom prst="roundRect">
                <a:avLst/>
              </a:prstGeom>
              <a:blipFill>
                <a:blip r:embed="rId12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文字方塊 49">
            <a:extLst>
              <a:ext uri="{FF2B5EF4-FFF2-40B4-BE49-F238E27FC236}">
                <a16:creationId xmlns:a16="http://schemas.microsoft.com/office/drawing/2014/main" id="{4782AF22-6890-C7C6-11B4-E49023BCC087}"/>
              </a:ext>
            </a:extLst>
          </p:cNvPr>
          <p:cNvSpPr txBox="1"/>
          <p:nvPr/>
        </p:nvSpPr>
        <p:spPr>
          <a:xfrm>
            <a:off x="3306225" y="3195846"/>
            <a:ext cx="846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……</a:t>
            </a:r>
            <a:endParaRPr kumimoji="1" lang="zh-TW" altLang="en-US" sz="2400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85894FF-15D2-4990-41DC-3797CEBC41B5}"/>
              </a:ext>
            </a:extLst>
          </p:cNvPr>
          <p:cNvSpPr txBox="1"/>
          <p:nvPr/>
        </p:nvSpPr>
        <p:spPr>
          <a:xfrm>
            <a:off x="2778842" y="6129446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/>
              <a:t>Input sequence</a:t>
            </a:r>
            <a:endParaRPr kumimoji="1" lang="zh-TW" altLang="en-US" b="1" dirty="0"/>
          </a:p>
        </p:txBody>
      </p:sp>
      <p:cxnSp>
        <p:nvCxnSpPr>
          <p:cNvPr id="52" name="直線箭頭接點 51">
            <a:extLst>
              <a:ext uri="{FF2B5EF4-FFF2-40B4-BE49-F238E27FC236}">
                <a16:creationId xmlns:a16="http://schemas.microsoft.com/office/drawing/2014/main" id="{C9EE1A76-88B2-97B8-52E6-5D10FC82A873}"/>
              </a:ext>
            </a:extLst>
          </p:cNvPr>
          <p:cNvCxnSpPr>
            <a:cxnSpLocks/>
          </p:cNvCxnSpPr>
          <p:nvPr/>
        </p:nvCxnSpPr>
        <p:spPr>
          <a:xfrm flipV="1">
            <a:off x="2526444" y="380404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箭頭接點 52">
            <a:extLst>
              <a:ext uri="{FF2B5EF4-FFF2-40B4-BE49-F238E27FC236}">
                <a16:creationId xmlns:a16="http://schemas.microsoft.com/office/drawing/2014/main" id="{72CEF067-EC75-D88C-AA69-CCB9C35A8DBF}"/>
              </a:ext>
            </a:extLst>
          </p:cNvPr>
          <p:cNvCxnSpPr>
            <a:cxnSpLocks/>
          </p:cNvCxnSpPr>
          <p:nvPr/>
        </p:nvCxnSpPr>
        <p:spPr>
          <a:xfrm flipV="1">
            <a:off x="1828042" y="3804040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1E3ABA0E-0F56-BA7F-4F49-6550375C6564}"/>
              </a:ext>
            </a:extLst>
          </p:cNvPr>
          <p:cNvSpPr/>
          <p:nvPr/>
        </p:nvSpPr>
        <p:spPr>
          <a:xfrm>
            <a:off x="6860958" y="5397054"/>
            <a:ext cx="555203" cy="46510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D02ED2D0-D980-8C22-C056-B89AFB0087E6}"/>
              </a:ext>
            </a:extLst>
          </p:cNvPr>
          <p:cNvSpPr/>
          <p:nvPr/>
        </p:nvSpPr>
        <p:spPr>
          <a:xfrm>
            <a:off x="6777737" y="3345490"/>
            <a:ext cx="4433985" cy="33678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FFN</a:t>
            </a:r>
            <a:r>
              <a:rPr kumimoji="1" lang="zh-TW" altLang="en-US" sz="2000" dirty="0">
                <a:solidFill>
                  <a:schemeClr val="tx1"/>
                </a:solidFill>
              </a:rPr>
              <a:t> </a:t>
            </a:r>
            <a:r>
              <a:rPr kumimoji="1" lang="en-US" altLang="zh-TW" sz="2000" dirty="0">
                <a:solidFill>
                  <a:schemeClr val="tx1"/>
                </a:solidFill>
              </a:rPr>
              <a:t>(linear layer(s))</a:t>
            </a:r>
            <a:endParaRPr kumimoji="1"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16D9C1FE-8A91-B03A-2377-8B83EC0DE09D}"/>
              </a:ext>
            </a:extLst>
          </p:cNvPr>
          <p:cNvCxnSpPr>
            <a:cxnSpLocks/>
          </p:cNvCxnSpPr>
          <p:nvPr/>
        </p:nvCxnSpPr>
        <p:spPr>
          <a:xfrm flipV="1">
            <a:off x="7135747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箭頭接點 58">
            <a:extLst>
              <a:ext uri="{FF2B5EF4-FFF2-40B4-BE49-F238E27FC236}">
                <a16:creationId xmlns:a16="http://schemas.microsoft.com/office/drawing/2014/main" id="{62086DA5-5290-A670-AC1A-38D2A56FE1A2}"/>
              </a:ext>
            </a:extLst>
          </p:cNvPr>
          <p:cNvCxnSpPr>
            <a:cxnSpLocks/>
          </p:cNvCxnSpPr>
          <p:nvPr/>
        </p:nvCxnSpPr>
        <p:spPr>
          <a:xfrm flipV="1">
            <a:off x="7858162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箭頭接點 59">
            <a:extLst>
              <a:ext uri="{FF2B5EF4-FFF2-40B4-BE49-F238E27FC236}">
                <a16:creationId xmlns:a16="http://schemas.microsoft.com/office/drawing/2014/main" id="{5A918736-41AC-8EE9-E232-C16FDD90E533}"/>
              </a:ext>
            </a:extLst>
          </p:cNvPr>
          <p:cNvCxnSpPr>
            <a:cxnSpLocks/>
          </p:cNvCxnSpPr>
          <p:nvPr/>
        </p:nvCxnSpPr>
        <p:spPr>
          <a:xfrm flipV="1">
            <a:off x="10785437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CE5F32AD-EAE1-A054-DFF3-5593839A3D00}"/>
              </a:ext>
            </a:extLst>
          </p:cNvPr>
          <p:cNvCxnSpPr>
            <a:cxnSpLocks/>
          </p:cNvCxnSpPr>
          <p:nvPr/>
        </p:nvCxnSpPr>
        <p:spPr>
          <a:xfrm flipV="1">
            <a:off x="10063022" y="3052874"/>
            <a:ext cx="0" cy="24208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圓角矩形 61">
                <a:extLst>
                  <a:ext uri="{FF2B5EF4-FFF2-40B4-BE49-F238E27FC236}">
                    <a16:creationId xmlns:a16="http://schemas.microsoft.com/office/drawing/2014/main" id="{71810DFC-9484-4F06-0116-C8859C9ABBF2}"/>
                  </a:ext>
                </a:extLst>
              </p:cNvPr>
              <p:cNvSpPr/>
              <p:nvPr/>
            </p:nvSpPr>
            <p:spPr>
              <a:xfrm>
                <a:off x="4459559" y="3270703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kumimoji="1"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圓角矩形 61">
                <a:extLst>
                  <a:ext uri="{FF2B5EF4-FFF2-40B4-BE49-F238E27FC236}">
                    <a16:creationId xmlns:a16="http://schemas.microsoft.com/office/drawing/2014/main" id="{71810DFC-9484-4F06-0116-C8859C9ABB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9559" y="3270703"/>
                <a:ext cx="555203" cy="465105"/>
              </a:xfrm>
              <a:prstGeom prst="roundRect">
                <a:avLst/>
              </a:prstGeom>
              <a:blipFill>
                <a:blip r:embed="rId13"/>
                <a:stretch>
                  <a:fillRect l="-8696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圓角矩形 62">
                <a:extLst>
                  <a:ext uri="{FF2B5EF4-FFF2-40B4-BE49-F238E27FC236}">
                    <a16:creationId xmlns:a16="http://schemas.microsoft.com/office/drawing/2014/main" id="{8C29360F-E395-BEC8-9AF5-ECF378961DA5}"/>
                  </a:ext>
                </a:extLst>
              </p:cNvPr>
              <p:cNvSpPr/>
              <p:nvPr/>
            </p:nvSpPr>
            <p:spPr>
              <a:xfrm>
                <a:off x="2248941" y="3281329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3" name="圓角矩形 62">
                <a:extLst>
                  <a:ext uri="{FF2B5EF4-FFF2-40B4-BE49-F238E27FC236}">
                    <a16:creationId xmlns:a16="http://schemas.microsoft.com/office/drawing/2014/main" id="{8C29360F-E395-BEC8-9AF5-ECF378961D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8941" y="3281329"/>
                <a:ext cx="555203" cy="465105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B2575567-B447-B8EC-E46E-582ED19CA356}"/>
                  </a:ext>
                </a:extLst>
              </p:cNvPr>
              <p:cNvSpPr/>
              <p:nvPr/>
            </p:nvSpPr>
            <p:spPr>
              <a:xfrm>
                <a:off x="1535835" y="3273307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4" name="圓角矩形 63">
                <a:extLst>
                  <a:ext uri="{FF2B5EF4-FFF2-40B4-BE49-F238E27FC236}">
                    <a16:creationId xmlns:a16="http://schemas.microsoft.com/office/drawing/2014/main" id="{B2575567-B447-B8EC-E46E-582ED19CA3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5835" y="3273307"/>
                <a:ext cx="555203" cy="465105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4C90679A-B23D-0A3F-2D94-6DDF798DBDCA}"/>
                  </a:ext>
                </a:extLst>
              </p:cNvPr>
              <p:cNvSpPr/>
              <p:nvPr/>
            </p:nvSpPr>
            <p:spPr>
              <a:xfrm>
                <a:off x="433242" y="4335480"/>
                <a:ext cx="555203" cy="465105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TW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init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5" name="圓角矩形 64">
                <a:extLst>
                  <a:ext uri="{FF2B5EF4-FFF2-40B4-BE49-F238E27FC236}">
                    <a16:creationId xmlns:a16="http://schemas.microsoft.com/office/drawing/2014/main" id="{4C90679A-B23D-0A3F-2D94-6DDF798DBD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242" y="4335480"/>
                <a:ext cx="555203" cy="465105"/>
              </a:xfrm>
              <a:prstGeom prst="roundRect">
                <a:avLst/>
              </a:prstGeom>
              <a:blipFill>
                <a:blip r:embed="rId16"/>
                <a:stretch>
                  <a:fillRect l="-6522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F9645189-5848-7448-BF59-C9E3DAD0EA6A}"/>
              </a:ext>
            </a:extLst>
          </p:cNvPr>
          <p:cNvCxnSpPr>
            <a:cxnSpLocks/>
          </p:cNvCxnSpPr>
          <p:nvPr/>
        </p:nvCxnSpPr>
        <p:spPr>
          <a:xfrm>
            <a:off x="1045007" y="4590483"/>
            <a:ext cx="338153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24CF5AD8-03CD-B0B9-652B-DF4DB8FE9238}"/>
              </a:ext>
            </a:extLst>
          </p:cNvPr>
          <p:cNvSpPr txBox="1"/>
          <p:nvPr/>
        </p:nvSpPr>
        <p:spPr>
          <a:xfrm>
            <a:off x="2526444" y="1835327"/>
            <a:ext cx="2529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b="1" dirty="0"/>
              <a:t>輸出是</a:t>
            </a:r>
            <a:r>
              <a:rPr kumimoji="1" lang="en-US" altLang="zh-TW" b="1" dirty="0"/>
              <a:t> hidden states</a:t>
            </a:r>
            <a:endParaRPr kumimoji="1" lang="zh-TW" altLang="en-US" b="1" dirty="0"/>
          </a:p>
        </p:txBody>
      </p:sp>
      <p:cxnSp>
        <p:nvCxnSpPr>
          <p:cNvPr id="12" name="肘形接點 11">
            <a:extLst>
              <a:ext uri="{FF2B5EF4-FFF2-40B4-BE49-F238E27FC236}">
                <a16:creationId xmlns:a16="http://schemas.microsoft.com/office/drawing/2014/main" id="{F7BCD1C7-82B8-FFA2-09EC-A4BC0337536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5737233" y="3505860"/>
            <a:ext cx="1040505" cy="1042458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519C8A55-A2F5-4A64-598E-FCB4A79275C2}"/>
              </a:ext>
            </a:extLst>
          </p:cNvPr>
          <p:cNvSpPr txBox="1"/>
          <p:nvPr/>
        </p:nvSpPr>
        <p:spPr>
          <a:xfrm>
            <a:off x="5368375" y="6195910"/>
            <a:ext cx="250245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600" dirty="0">
                <a:solidFill>
                  <a:srgbClr val="FF0000"/>
                </a:solidFill>
              </a:rPr>
              <a:t>(Encoder </a:t>
            </a:r>
            <a:r>
              <a:rPr kumimoji="1" lang="zh-TW" altLang="en-US" sz="1600" dirty="0">
                <a:solidFill>
                  <a:srgbClr val="FF0000"/>
                </a:solidFill>
              </a:rPr>
              <a:t>的輸出有很多種被</a:t>
            </a:r>
            <a:r>
              <a:rPr kumimoji="1" lang="en-US" altLang="zh-TW" sz="1600" dirty="0">
                <a:solidFill>
                  <a:srgbClr val="FF0000"/>
                </a:solidFill>
              </a:rPr>
              <a:t>Decoder</a:t>
            </a:r>
            <a:r>
              <a:rPr kumimoji="1" lang="zh-TW" altLang="en-US" sz="1600" dirty="0">
                <a:solidFill>
                  <a:srgbClr val="FF0000"/>
                </a:solidFill>
              </a:rPr>
              <a:t>運用的方式</a:t>
            </a:r>
            <a:r>
              <a:rPr kumimoji="1" lang="en-US" altLang="zh-TW" sz="1600" dirty="0">
                <a:solidFill>
                  <a:srgbClr val="FF0000"/>
                </a:solidFill>
              </a:rPr>
              <a:t>)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9241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 animBg="1"/>
      <p:bldP spid="32" grpId="0"/>
      <p:bldP spid="37" grpId="0" animBg="1"/>
      <p:bldP spid="42" grpId="0"/>
      <p:bldP spid="44" grpId="0" animBg="1"/>
      <p:bldP spid="47" grpId="0" animBg="1"/>
      <p:bldP spid="48" grpId="0" animBg="1"/>
      <p:bldP spid="49" grpId="0" animBg="1"/>
      <p:bldP spid="50" grpId="0"/>
      <p:bldP spid="51" grpId="0"/>
      <p:bldP spid="62" grpId="0" animBg="1"/>
      <p:bldP spid="63" grpId="0" animBg="1"/>
      <p:bldP spid="64" grpId="0" animBg="1"/>
      <p:bldP spid="65" grpId="0" animBg="1"/>
      <p:bldP spid="3" grpId="0"/>
      <p:bldP spid="2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A96EC5-5532-DA44-297E-A58EA4C98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>
                <a:cs typeface="Calibri" panose="020F0502020204030204" pitchFamily="34" charset="0"/>
              </a:rPr>
              <a:t>[Recap] Encoder-Decoder</a:t>
            </a:r>
            <a:r>
              <a:rPr kumimoji="1" lang="zh-TW" altLang="en-US" dirty="0">
                <a:cs typeface="Calibri" panose="020F0502020204030204" pitchFamily="34" charset="0"/>
              </a:rPr>
              <a:t> 橋樑</a:t>
            </a:r>
            <a:r>
              <a:rPr kumimoji="1" lang="en-US" altLang="zh-TW" dirty="0">
                <a:cs typeface="Calibri" panose="020F0502020204030204" pitchFamily="34" charset="0"/>
              </a:rPr>
              <a:t>: Cross-Attention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2E3F19-3AC3-4AA8-44E2-6FFF5DD3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t>8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868F626-3EFA-CCD9-2F9E-28233A46C231}"/>
              </a:ext>
            </a:extLst>
          </p:cNvPr>
          <p:cNvSpPr txBox="1"/>
          <p:nvPr/>
        </p:nvSpPr>
        <p:spPr>
          <a:xfrm>
            <a:off x="2520778" y="3797346"/>
            <a:ext cx="6098058" cy="974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K, V uses the output from encoder as their X;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Q uses the decoder’s information as X. </a:t>
            </a:r>
          </a:p>
          <a:p>
            <a:pPr marL="0" indent="0">
              <a:spcBef>
                <a:spcPts val="200"/>
              </a:spcBef>
              <a:buNone/>
            </a:pPr>
            <a:r>
              <a:rPr kumimoji="1" lang="en-US" altLang="zh-TW" dirty="0">
                <a:latin typeface="Calibri" panose="020F0502020204030204" pitchFamily="34" charset="0"/>
                <a:cs typeface="Calibri" panose="020F0502020204030204" pitchFamily="34" charset="0"/>
              </a:rPr>
              <a:t>This is </a:t>
            </a:r>
            <a:endParaRPr kumimoji="1" lang="zh-TW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BE7C3D80-D57C-1557-2C48-EE4EE6EDA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0778" y="1011981"/>
            <a:ext cx="8810326" cy="7909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AC7C21DC-31DB-E831-86F3-CD4FF1E94951}"/>
              </a:ext>
            </a:extLst>
          </p:cNvPr>
          <p:cNvSpPr/>
          <p:nvPr/>
        </p:nvSpPr>
        <p:spPr>
          <a:xfrm>
            <a:off x="2520778" y="4500563"/>
            <a:ext cx="951085" cy="27140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25DD7B-D812-7B41-1ED3-2B76B17E4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8155" y="5872381"/>
            <a:ext cx="2972804" cy="543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8863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5E6448A1-8B39-1A28-B6AC-06E8DB0CBE24}"/>
              </a:ext>
            </a:extLst>
          </p:cNvPr>
          <p:cNvSpPr/>
          <p:nvPr/>
        </p:nvSpPr>
        <p:spPr>
          <a:xfrm>
            <a:off x="1231641" y="1810139"/>
            <a:ext cx="6792686" cy="489857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B4C7C744-4D6E-A486-0C23-1201579C9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>
                <a:cs typeface="Calibri" panose="020F0502020204030204" pitchFamily="34" charset="0"/>
              </a:rPr>
              <a:t>[Recap] </a:t>
            </a:r>
            <a:r>
              <a:rPr kumimoji="1" lang="en-US" altLang="zh-TW" dirty="0"/>
              <a:t>Cross-attention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A9207B4-7A63-4047-96AA-B65EEDFAA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71E07550-B1F4-F3A3-60C6-02A78EE367C2}"/>
              </a:ext>
            </a:extLst>
          </p:cNvPr>
          <p:cNvSpPr/>
          <p:nvPr/>
        </p:nvSpPr>
        <p:spPr>
          <a:xfrm>
            <a:off x="1732106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18" name="圓角矩形 17">
            <a:extLst>
              <a:ext uri="{FF2B5EF4-FFF2-40B4-BE49-F238E27FC236}">
                <a16:creationId xmlns:a16="http://schemas.microsoft.com/office/drawing/2014/main" id="{6FADA9CA-5DE9-26C4-D855-0AED0A46A53A}"/>
              </a:ext>
            </a:extLst>
          </p:cNvPr>
          <p:cNvSpPr/>
          <p:nvPr/>
        </p:nvSpPr>
        <p:spPr>
          <a:xfrm>
            <a:off x="1724700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B9D2B63A-3EA1-04FE-E87D-84D6E4169992}"/>
              </a:ext>
            </a:extLst>
          </p:cNvPr>
          <p:cNvSpPr/>
          <p:nvPr/>
        </p:nvSpPr>
        <p:spPr>
          <a:xfrm>
            <a:off x="2396514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2B6A4EB6-343C-670B-45B7-C93A6F414213}"/>
              </a:ext>
            </a:extLst>
          </p:cNvPr>
          <p:cNvSpPr/>
          <p:nvPr/>
        </p:nvSpPr>
        <p:spPr>
          <a:xfrm>
            <a:off x="4061235" y="4541495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5EA15339-C78F-8309-2C6C-75B90A6E8C32}"/>
              </a:ext>
            </a:extLst>
          </p:cNvPr>
          <p:cNvSpPr/>
          <p:nvPr/>
        </p:nvSpPr>
        <p:spPr>
          <a:xfrm>
            <a:off x="4733049" y="4541494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61B502CB-659A-2795-155B-F2F23C5E4500}"/>
              </a:ext>
            </a:extLst>
          </p:cNvPr>
          <p:cNvSpPr/>
          <p:nvPr/>
        </p:nvSpPr>
        <p:spPr>
          <a:xfrm>
            <a:off x="6537735" y="4541494"/>
            <a:ext cx="533400" cy="561975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k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15DB972C-5D18-3A55-15DE-D2C1647AF5D6}"/>
              </a:ext>
            </a:extLst>
          </p:cNvPr>
          <p:cNvSpPr/>
          <p:nvPr/>
        </p:nvSpPr>
        <p:spPr>
          <a:xfrm>
            <a:off x="7209549" y="4541493"/>
            <a:ext cx="533400" cy="561975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v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D4D9EDEF-A9EE-002E-CA82-EF618B88EF7D}"/>
              </a:ext>
            </a:extLst>
          </p:cNvPr>
          <p:cNvSpPr/>
          <p:nvPr/>
        </p:nvSpPr>
        <p:spPr>
          <a:xfrm>
            <a:off x="9233080" y="4545350"/>
            <a:ext cx="533400" cy="56197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/>
              <a:t>q</a:t>
            </a:r>
            <a:r>
              <a:rPr kumimoji="1" lang="en-US" altLang="zh-TW" sz="2000" baseline="-25000"/>
              <a:t>1</a:t>
            </a:r>
            <a:endParaRPr kumimoji="1" lang="zh-TW" altLang="en-US" sz="2000" baseline="-25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F84A656-CA83-526C-B6FE-D93DD219E455}"/>
              </a:ext>
            </a:extLst>
          </p:cNvPr>
          <p:cNvSpPr txBox="1"/>
          <p:nvPr/>
        </p:nvSpPr>
        <p:spPr>
          <a:xfrm>
            <a:off x="8597358" y="5652179"/>
            <a:ext cx="9658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dirty="0"/>
              <a:t>🎯</a:t>
            </a:r>
            <a:endParaRPr kumimoji="1" lang="zh-TW" altLang="en-US" sz="3600" dirty="0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6DE0177-E8AE-105A-E9F0-EE21F0096888}"/>
              </a:ext>
            </a:extLst>
          </p:cNvPr>
          <p:cNvSpPr/>
          <p:nvPr/>
        </p:nvSpPr>
        <p:spPr>
          <a:xfrm>
            <a:off x="402479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9FC1B44-5C41-9BD9-4299-AE348F3DB43A}"/>
              </a:ext>
            </a:extLst>
          </p:cNvPr>
          <p:cNvSpPr/>
          <p:nvPr/>
        </p:nvSpPr>
        <p:spPr>
          <a:xfrm>
            <a:off x="6493519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AC756C1-DBDE-0F5B-FEBE-415CABCF9BBC}"/>
              </a:ext>
            </a:extLst>
          </p:cNvPr>
          <p:cNvSpPr/>
          <p:nvPr/>
        </p:nvSpPr>
        <p:spPr>
          <a:xfrm>
            <a:off x="9192740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A42083A9-2C49-EA47-ADF8-6E81062DC093}"/>
              </a:ext>
            </a:extLst>
          </p:cNvPr>
          <p:cNvSpPr/>
          <p:nvPr/>
        </p:nvSpPr>
        <p:spPr>
          <a:xfrm>
            <a:off x="1703420" y="3105150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1</a:t>
            </a:r>
            <a:endParaRPr kumimoji="1" lang="zh-TW" altLang="en-US" sz="2000" baseline="-25000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5DE2814-C819-FE76-F772-36199E14317A}"/>
              </a:ext>
            </a:extLst>
          </p:cNvPr>
          <p:cNvSpPr/>
          <p:nvPr/>
        </p:nvSpPr>
        <p:spPr>
          <a:xfrm>
            <a:off x="1678924" y="4317655"/>
            <a:ext cx="614061" cy="1009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1EE1F06-3802-D9A6-95FE-7BCCFFB10230}"/>
              </a:ext>
            </a:extLst>
          </p:cNvPr>
          <p:cNvSpPr/>
          <p:nvPr/>
        </p:nvSpPr>
        <p:spPr>
          <a:xfrm>
            <a:off x="4039955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2</a:t>
            </a:r>
            <a:endParaRPr kumimoji="1" lang="zh-TW" altLang="en-US" sz="2000" baseline="-25000" dirty="0"/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4231810D-4672-CF67-DCEA-01729C32AC98}"/>
              </a:ext>
            </a:extLst>
          </p:cNvPr>
          <p:cNvSpPr/>
          <p:nvPr/>
        </p:nvSpPr>
        <p:spPr>
          <a:xfrm>
            <a:off x="6512569" y="3105149"/>
            <a:ext cx="533400" cy="56197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/>
              <a:t>a'</a:t>
            </a:r>
            <a:r>
              <a:rPr kumimoji="1" lang="en-US" altLang="zh-TW" sz="2000" baseline="-25000" dirty="0"/>
              <a:t>3</a:t>
            </a:r>
            <a:endParaRPr kumimoji="1" lang="zh-TW" altLang="en-US" sz="2000" baseline="-25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6A5A6D88-705C-DD66-EDD4-04A912D645B2}"/>
              </a:ext>
            </a:extLst>
          </p:cNvPr>
          <p:cNvSpPr txBox="1"/>
          <p:nvPr/>
        </p:nvSpPr>
        <p:spPr>
          <a:xfrm>
            <a:off x="2307249" y="6132580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I</a:t>
            </a:r>
            <a:endParaRPr kumimoji="1" lang="zh-TW" altLang="en-US" dirty="0"/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33802C79-6812-95D7-38EF-B4431E130C7D}"/>
              </a:ext>
            </a:extLst>
          </p:cNvPr>
          <p:cNvSpPr/>
          <p:nvPr/>
        </p:nvSpPr>
        <p:spPr>
          <a:xfrm>
            <a:off x="4068641" y="6103487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2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20F8536-403E-3A6C-CDE9-9D49C6308AB0}"/>
              </a:ext>
            </a:extLst>
          </p:cNvPr>
          <p:cNvSpPr txBox="1"/>
          <p:nvPr/>
        </p:nvSpPr>
        <p:spPr>
          <a:xfrm>
            <a:off x="4594635" y="6113844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print</a:t>
            </a:r>
            <a:endParaRPr kumimoji="1" lang="zh-TW" altLang="en-US" dirty="0"/>
          </a:p>
        </p:txBody>
      </p:sp>
      <p:sp>
        <p:nvSpPr>
          <p:cNvPr id="47" name="圓角矩形 46">
            <a:extLst>
              <a:ext uri="{FF2B5EF4-FFF2-40B4-BE49-F238E27FC236}">
                <a16:creationId xmlns:a16="http://schemas.microsoft.com/office/drawing/2014/main" id="{261722A8-17DC-2F5B-0EBE-3023F950D3D6}"/>
              </a:ext>
            </a:extLst>
          </p:cNvPr>
          <p:cNvSpPr/>
          <p:nvPr/>
        </p:nvSpPr>
        <p:spPr>
          <a:xfrm>
            <a:off x="6545141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3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7481DC0A-0EBC-D763-FC9D-F88CF071CEA7}"/>
              </a:ext>
            </a:extLst>
          </p:cNvPr>
          <p:cNvSpPr txBox="1"/>
          <p:nvPr/>
        </p:nvSpPr>
        <p:spPr>
          <a:xfrm>
            <a:off x="7107580" y="611332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Hello</a:t>
            </a:r>
            <a:endParaRPr kumimoji="1" lang="zh-TW" altLang="en-US" dirty="0"/>
          </a:p>
        </p:txBody>
      </p:sp>
      <p:sp>
        <p:nvSpPr>
          <p:cNvPr id="49" name="圓角矩形 48">
            <a:extLst>
              <a:ext uri="{FF2B5EF4-FFF2-40B4-BE49-F238E27FC236}">
                <a16:creationId xmlns:a16="http://schemas.microsoft.com/office/drawing/2014/main" id="{5E711CF6-4C5A-CF4B-018E-A38D0D359FDE}"/>
              </a:ext>
            </a:extLst>
          </p:cNvPr>
          <p:cNvSpPr/>
          <p:nvPr/>
        </p:nvSpPr>
        <p:spPr>
          <a:xfrm>
            <a:off x="9247892" y="6098455"/>
            <a:ext cx="518588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e</a:t>
            </a:r>
            <a:r>
              <a:rPr kumimoji="1" lang="en-US" altLang="zh-TW" sz="2000" baseline="-25000" dirty="0">
                <a:solidFill>
                  <a:schemeClr val="tx1"/>
                </a:solidFill>
              </a:rPr>
              <a:t>1</a:t>
            </a:r>
            <a:endParaRPr kumimoji="1" lang="zh-TW" altLang="en-US" sz="2000" baseline="-25000" dirty="0">
              <a:solidFill>
                <a:schemeClr val="tx1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BEB40D07-0A3B-583E-AF4D-2AAC53FC4885}"/>
              </a:ext>
            </a:extLst>
          </p:cNvPr>
          <p:cNvSpPr txBox="1"/>
          <p:nvPr/>
        </p:nvSpPr>
        <p:spPr>
          <a:xfrm>
            <a:off x="9806801" y="6120545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dirty="0"/>
              <a:t>BOS</a:t>
            </a:r>
            <a:endParaRPr kumimoji="1" lang="zh-TW" altLang="en-US" dirty="0"/>
          </a:p>
        </p:txBody>
      </p:sp>
      <p:cxnSp>
        <p:nvCxnSpPr>
          <p:cNvPr id="54" name="肘形接點 53">
            <a:extLst>
              <a:ext uri="{FF2B5EF4-FFF2-40B4-BE49-F238E27FC236}">
                <a16:creationId xmlns:a16="http://schemas.microsoft.com/office/drawing/2014/main" id="{A44E4929-4C03-96E6-BCF3-938ED87DFA21}"/>
              </a:ext>
            </a:extLst>
          </p:cNvPr>
          <p:cNvCxnSpPr>
            <a:stCxn id="36" idx="3"/>
            <a:endCxn id="19" idx="0"/>
          </p:cNvCxnSpPr>
          <p:nvPr/>
        </p:nvCxnSpPr>
        <p:spPr>
          <a:xfrm>
            <a:off x="2236820" y="3386138"/>
            <a:ext cx="426394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肘形接點 54">
            <a:extLst>
              <a:ext uri="{FF2B5EF4-FFF2-40B4-BE49-F238E27FC236}">
                <a16:creationId xmlns:a16="http://schemas.microsoft.com/office/drawing/2014/main" id="{D2A4A1CE-1C12-0FB2-B308-6F8B08378831}"/>
              </a:ext>
            </a:extLst>
          </p:cNvPr>
          <p:cNvCxnSpPr>
            <a:cxnSpLocks/>
            <a:stCxn id="39" idx="3"/>
            <a:endCxn id="22" idx="0"/>
          </p:cNvCxnSpPr>
          <p:nvPr/>
        </p:nvCxnSpPr>
        <p:spPr>
          <a:xfrm>
            <a:off x="4573355" y="3386137"/>
            <a:ext cx="426394" cy="1155357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肘形接點 57">
            <a:extLst>
              <a:ext uri="{FF2B5EF4-FFF2-40B4-BE49-F238E27FC236}">
                <a16:creationId xmlns:a16="http://schemas.microsoft.com/office/drawing/2014/main" id="{11D20EF7-F704-C358-059D-057CF8B79830}"/>
              </a:ext>
            </a:extLst>
          </p:cNvPr>
          <p:cNvCxnSpPr>
            <a:cxnSpLocks/>
            <a:stCxn id="40" idx="3"/>
            <a:endCxn id="25" idx="0"/>
          </p:cNvCxnSpPr>
          <p:nvPr/>
        </p:nvCxnSpPr>
        <p:spPr>
          <a:xfrm>
            <a:off x="7045969" y="3386137"/>
            <a:ext cx="430280" cy="1155356"/>
          </a:xfrm>
          <a:prstGeom prst="bentConnector2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5907E6D7-06F2-F9E2-2962-8A4B5F94371F}"/>
              </a:ext>
            </a:extLst>
          </p:cNvPr>
          <p:cNvSpPr txBox="1"/>
          <p:nvPr/>
        </p:nvSpPr>
        <p:spPr>
          <a:xfrm>
            <a:off x="3729721" y="1413289"/>
            <a:ext cx="17965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Encoder</a:t>
            </a:r>
            <a:endParaRPr kumimoji="1" lang="zh-TW" altLang="en-US" sz="2000" b="1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D0B05900-430A-61A5-54B3-10167885F80D}"/>
              </a:ext>
            </a:extLst>
          </p:cNvPr>
          <p:cNvSpPr/>
          <p:nvPr/>
        </p:nvSpPr>
        <p:spPr>
          <a:xfrm>
            <a:off x="9233080" y="1983370"/>
            <a:ext cx="533400" cy="56197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h'</a:t>
            </a:r>
            <a:r>
              <a:rPr kumimoji="1" lang="en-US" altLang="zh-TW" baseline="-25000" dirty="0"/>
              <a:t>1</a:t>
            </a:r>
            <a:endParaRPr kumimoji="1" lang="zh-TW" altLang="en-US" baseline="-25000" dirty="0"/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BE6C3D03-4055-4556-6F8C-9498C1DA9B0C}"/>
              </a:ext>
            </a:extLst>
          </p:cNvPr>
          <p:cNvCxnSpPr>
            <a:stCxn id="36" idx="0"/>
            <a:endCxn id="39" idx="0"/>
          </p:cNvCxnSpPr>
          <p:nvPr/>
        </p:nvCxnSpPr>
        <p:spPr>
          <a:xfrm rot="5400000" flipH="1" flipV="1">
            <a:off x="3138387" y="1936883"/>
            <a:ext cx="1" cy="2336535"/>
          </a:xfrm>
          <a:prstGeom prst="bentConnector3">
            <a:avLst>
              <a:gd name="adj1" fmla="val 2286010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肘形接點 10">
            <a:extLst>
              <a:ext uri="{FF2B5EF4-FFF2-40B4-BE49-F238E27FC236}">
                <a16:creationId xmlns:a16="http://schemas.microsoft.com/office/drawing/2014/main" id="{7CE2DE16-F127-88EE-FF5B-3599AC4D7B61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5400000" flipH="1" flipV="1">
            <a:off x="5542962" y="1868842"/>
            <a:ext cx="12700" cy="2472614"/>
          </a:xfrm>
          <a:prstGeom prst="bentConnector3">
            <a:avLst>
              <a:gd name="adj1" fmla="val 1873472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肘形接點 37">
            <a:extLst>
              <a:ext uri="{FF2B5EF4-FFF2-40B4-BE49-F238E27FC236}">
                <a16:creationId xmlns:a16="http://schemas.microsoft.com/office/drawing/2014/main" id="{66EC57B1-65AC-6393-1C96-63746C3C0F6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041576" y="423933"/>
            <a:ext cx="346122" cy="4570285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AD1873D6-DB42-69CC-9FB4-00D36A05E0B0}"/>
              </a:ext>
            </a:extLst>
          </p:cNvPr>
          <p:cNvSpPr txBox="1"/>
          <p:nvPr/>
        </p:nvSpPr>
        <p:spPr>
          <a:xfrm>
            <a:off x="6940334" y="2380753"/>
            <a:ext cx="2093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Weighted sum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5174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7" grpId="0" animBg="1"/>
      <p:bldP spid="37" grpId="1" animBg="1"/>
      <p:bldP spid="39" grpId="0" animBg="1"/>
      <p:bldP spid="40" grpId="0" animBg="1"/>
      <p:bldP spid="6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2EEEA3-0BCC-9E2B-66DF-C3F22B193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Transformer </a:t>
            </a:r>
            <a:r>
              <a:rPr kumimoji="1" lang="zh-TW" altLang="en-US" dirty="0"/>
              <a:t>架構的後續應用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38ECEB-E461-F405-08AF-BBD30D6FF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E5F2EB2-6F05-E173-ADF7-F273D8A8C9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041" y="3595254"/>
            <a:ext cx="1213026" cy="2018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9DCC39C4-31D1-7D67-F204-9A314EF294B9}"/>
              </a:ext>
            </a:extLst>
          </p:cNvPr>
          <p:cNvSpPr txBox="1"/>
          <p:nvPr/>
        </p:nvSpPr>
        <p:spPr>
          <a:xfrm>
            <a:off x="653143" y="2257205"/>
            <a:ext cx="4472474" cy="2805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Generative Pre-training (GPT) series </a:t>
            </a:r>
            <a:r>
              <a:rPr kumimoji="1" lang="zh-TW" altLang="en-US" sz="2000" dirty="0"/>
              <a:t>是</a:t>
            </a:r>
            <a:r>
              <a:rPr kumimoji="1" lang="en-US" altLang="zh-TW" sz="2000" dirty="0"/>
              <a:t> </a:t>
            </a:r>
            <a:r>
              <a:rPr kumimoji="1" lang="en-US" altLang="zh-TW" sz="2000" b="1" dirty="0"/>
              <a:t>Transformer Decoder</a:t>
            </a:r>
            <a:endParaRPr kumimoji="1" lang="en" altLang="zh-TW" sz="20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/>
              <a:t>BERT (Bidirectional encoder representations from transformers)</a:t>
            </a:r>
            <a:r>
              <a:rPr kumimoji="1" lang="zh-TW" altLang="en-US" sz="2000" dirty="0"/>
              <a:t> 是</a:t>
            </a:r>
            <a:r>
              <a:rPr kumimoji="1" lang="en-US" altLang="zh-TW" sz="2000" dirty="0"/>
              <a:t> </a:t>
            </a:r>
            <a:r>
              <a:rPr kumimoji="1" lang="en-US" altLang="zh-TW" sz="2000" b="1" dirty="0"/>
              <a:t>Transformer Encoder</a:t>
            </a:r>
            <a:endParaRPr kumimoji="1" lang="en" altLang="zh-TW" sz="2000" b="1" dirty="0"/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hlinkClick r:id="rId4"/>
              </a:rPr>
              <a:t>Devlin et al., 2018</a:t>
            </a:r>
            <a:endParaRPr kumimoji="1" lang="en-US" altLang="zh-TW" sz="20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0A49A49-DDFB-27EB-4B47-7324B570C0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3249" y="1517710"/>
            <a:ext cx="3619047" cy="5159829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52D3EF54-78A3-9F8F-16DB-7E94E0724720}"/>
              </a:ext>
            </a:extLst>
          </p:cNvPr>
          <p:cNvSpPr/>
          <p:nvPr/>
        </p:nvSpPr>
        <p:spPr>
          <a:xfrm>
            <a:off x="7133249" y="3206554"/>
            <a:ext cx="1793196" cy="333102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08EEEA7-230D-3111-16CC-0F5AE58AFFE6}"/>
              </a:ext>
            </a:extLst>
          </p:cNvPr>
          <p:cNvSpPr txBox="1"/>
          <p:nvPr/>
        </p:nvSpPr>
        <p:spPr>
          <a:xfrm>
            <a:off x="5963410" y="4631416"/>
            <a:ext cx="953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>
                <a:solidFill>
                  <a:srgbClr val="FF9300"/>
                </a:solidFill>
              </a:rPr>
              <a:t>Encoder</a:t>
            </a:r>
            <a:endParaRPr kumimoji="1" lang="zh-TW" altLang="en-US" b="1" dirty="0">
              <a:solidFill>
                <a:srgbClr val="FF93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D20F2A0-3E29-A390-9125-9D6796EB4891}"/>
              </a:ext>
            </a:extLst>
          </p:cNvPr>
          <p:cNvSpPr txBox="1"/>
          <p:nvPr/>
        </p:nvSpPr>
        <p:spPr>
          <a:xfrm>
            <a:off x="6183268" y="4220820"/>
            <a:ext cx="102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N=12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6BD3EBD-5F95-B31A-8A6B-4624EC80C199}"/>
              </a:ext>
            </a:extLst>
          </p:cNvPr>
          <p:cNvSpPr txBox="1"/>
          <p:nvPr/>
        </p:nvSpPr>
        <p:spPr>
          <a:xfrm>
            <a:off x="5125617" y="5636957"/>
            <a:ext cx="9703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en" altLang="zh-TW" sz="1600" dirty="0"/>
              <a:t>BERT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AFD07D-B889-E41D-7ACB-7E25CEC09F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5061" y="3385823"/>
            <a:ext cx="1033417" cy="1033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C1849A13-09D9-27F1-4679-34F927EA4E08}"/>
              </a:ext>
            </a:extLst>
          </p:cNvPr>
          <p:cNvSpPr txBox="1"/>
          <p:nvPr/>
        </p:nvSpPr>
        <p:spPr>
          <a:xfrm>
            <a:off x="10746577" y="4431518"/>
            <a:ext cx="9703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en" altLang="zh-TW" sz="1600" dirty="0"/>
              <a:t>GPT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2C5BC747-9024-1C96-9925-BCD93FE85666}"/>
              </a:ext>
            </a:extLst>
          </p:cNvPr>
          <p:cNvSpPr/>
          <p:nvPr/>
        </p:nvSpPr>
        <p:spPr>
          <a:xfrm>
            <a:off x="10290720" y="3190931"/>
            <a:ext cx="1791580" cy="161878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36992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1E9F1B-CA8A-3325-F733-D5F51E040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GPT</a:t>
            </a:r>
            <a:r>
              <a:rPr kumimoji="1" lang="zh-TW" altLang="en-US" dirty="0"/>
              <a:t> 是一個語言模型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127992-C13A-AA35-F0A0-3C853C81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D899FC5-2344-0EEC-EB81-18EB6A96C7B1}"/>
              </a:ext>
            </a:extLst>
          </p:cNvPr>
          <p:cNvSpPr txBox="1"/>
          <p:nvPr/>
        </p:nvSpPr>
        <p:spPr>
          <a:xfrm>
            <a:off x="653142" y="1837243"/>
            <a:ext cx="8540076" cy="958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/>
              <a:t>語言模型定義：語言模型</a:t>
            </a:r>
            <a:r>
              <a:rPr kumimoji="1" lang="en-US" altLang="zh-TW" sz="2000" dirty="0"/>
              <a:t> (Language Model) </a:t>
            </a:r>
            <a:r>
              <a:rPr kumimoji="1" lang="zh-TW" altLang="en-US" sz="2000" dirty="0"/>
              <a:t>是一個能預測並生成語言的機器學習模型</a:t>
            </a:r>
            <a:endParaRPr kumimoji="1" lang="en-US" altLang="zh-TW" sz="20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28B9FC9-496A-517A-9BCA-2E029F233C1F}"/>
              </a:ext>
            </a:extLst>
          </p:cNvPr>
          <p:cNvSpPr txBox="1"/>
          <p:nvPr/>
        </p:nvSpPr>
        <p:spPr>
          <a:xfrm>
            <a:off x="8632371" y="872796"/>
            <a:ext cx="29391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https://</a:t>
            </a:r>
            <a:r>
              <a:rPr kumimoji="1" lang="en" altLang="zh-TW" sz="1200" dirty="0" err="1"/>
              <a:t>developers.google.com</a:t>
            </a:r>
            <a:r>
              <a:rPr kumimoji="1" lang="en" altLang="zh-TW" sz="1200" dirty="0"/>
              <a:t>/machine-learning/resources/intro-</a:t>
            </a:r>
            <a:r>
              <a:rPr kumimoji="1" lang="en" altLang="zh-TW" sz="1200" dirty="0" err="1"/>
              <a:t>llms</a:t>
            </a:r>
            <a:endParaRPr kumimoji="1" lang="zh-TW" altLang="en-US" sz="12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7A07981-C617-6E8E-8740-C40A7BC71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227" y="2899684"/>
            <a:ext cx="5700404" cy="3247387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C44073A-E46E-35A7-202E-403179D18DF2}"/>
              </a:ext>
            </a:extLst>
          </p:cNvPr>
          <p:cNvSpPr txBox="1"/>
          <p:nvPr/>
        </p:nvSpPr>
        <p:spPr>
          <a:xfrm>
            <a:off x="747335" y="3993712"/>
            <a:ext cx="1730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(</a:t>
            </a:r>
            <a:r>
              <a:rPr kumimoji="1" lang="zh-TW" altLang="en-US" sz="2000" dirty="0"/>
              <a:t>例子</a:t>
            </a:r>
            <a:r>
              <a:rPr kumimoji="1" lang="en-US" altLang="zh-TW" sz="2000" dirty="0"/>
              <a:t>) </a:t>
            </a:r>
            <a:r>
              <a:rPr kumimoji="1" lang="zh-TW" altLang="en-US" sz="2000" dirty="0"/>
              <a:t>下一個字預測</a:t>
            </a:r>
            <a:r>
              <a:rPr kumimoji="1" lang="en-US" altLang="zh-TW" sz="2000" dirty="0"/>
              <a:t> ➡️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799F758-6868-02D9-003D-C48B9BACFA23}"/>
              </a:ext>
            </a:extLst>
          </p:cNvPr>
          <p:cNvSpPr txBox="1"/>
          <p:nvPr/>
        </p:nvSpPr>
        <p:spPr>
          <a:xfrm>
            <a:off x="4911012" y="6363412"/>
            <a:ext cx="40305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Figure source: https://</a:t>
            </a:r>
            <a:r>
              <a:rPr kumimoji="1" lang="en" altLang="zh-TW" sz="1200" dirty="0" err="1"/>
              <a:t>support.apple.com</a:t>
            </a:r>
            <a:r>
              <a:rPr kumimoji="1" lang="en" altLang="zh-TW" sz="1200" dirty="0"/>
              <a:t>/</a:t>
            </a:r>
            <a:r>
              <a:rPr kumimoji="1" lang="en" altLang="zh-TW" sz="1200" dirty="0" err="1"/>
              <a:t>zh-tw</a:t>
            </a:r>
            <a:r>
              <a:rPr kumimoji="1" lang="en" altLang="zh-TW" sz="1200" dirty="0"/>
              <a:t>/104995</a:t>
            </a:r>
            <a:endParaRPr kumimoji="1" lang="zh-TW" altLang="en-US" sz="1200" dirty="0"/>
          </a:p>
        </p:txBody>
      </p:sp>
      <p:pic>
        <p:nvPicPr>
          <p:cNvPr id="1028" name="Picture 4" descr="在 iPhone 上輸入訊息時，鍵盤上方會出現預測字詞選項。">
            <a:extLst>
              <a:ext uri="{FF2B5EF4-FFF2-40B4-BE49-F238E27FC236}">
                <a16:creationId xmlns:a16="http://schemas.microsoft.com/office/drawing/2014/main" id="{E8ABAE89-DAEB-5460-A669-986502EF91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3218" y="2628869"/>
            <a:ext cx="1956864" cy="4048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436AA3ED-1D0C-6A73-AB51-43A8BE9161E2}"/>
              </a:ext>
            </a:extLst>
          </p:cNvPr>
          <p:cNvSpPr/>
          <p:nvPr/>
        </p:nvSpPr>
        <p:spPr>
          <a:xfrm>
            <a:off x="9068853" y="5085184"/>
            <a:ext cx="2183363" cy="26125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0623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85A419-B761-9BA4-581D-37DFCD0B3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[RNN Recap]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條件機率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C51E99-2D91-19D1-B39D-AB454E0D1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2018C91-37CB-A2B2-79CA-EC5FFAB55E0F}"/>
              </a:ext>
            </a:extLst>
          </p:cNvPr>
          <p:cNvSpPr txBox="1"/>
          <p:nvPr/>
        </p:nvSpPr>
        <p:spPr>
          <a:xfrm>
            <a:off x="653143" y="1840468"/>
            <a:ext cx="65679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假設要讓模型生成一個句子：「天氣真好」</a:t>
            </a:r>
            <a:endParaRPr lang="zh-TW" altLang="en-US" sz="2400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2C7A621-54CF-982A-208F-EE81E01E7288}"/>
              </a:ext>
            </a:extLst>
          </p:cNvPr>
          <p:cNvSpPr/>
          <p:nvPr/>
        </p:nvSpPr>
        <p:spPr>
          <a:xfrm>
            <a:off x="1604122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5C1DE3-DC42-33D4-CE31-8D11570F4A81}"/>
              </a:ext>
            </a:extLst>
          </p:cNvPr>
          <p:cNvSpPr txBox="1"/>
          <p:nvPr/>
        </p:nvSpPr>
        <p:spPr>
          <a:xfrm>
            <a:off x="1682049" y="5126057"/>
            <a:ext cx="1130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開始字詞</a:t>
            </a:r>
            <a:r>
              <a:rPr kumimoji="1" lang="en-US" altLang="zh-TW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(BOS)</a:t>
            </a:r>
            <a:endParaRPr kumimoji="1" lang="zh-TW" altLang="en-US" b="1" dirty="0">
              <a:solidFill>
                <a:schemeClr val="accent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AD1BDD19-1075-76A8-6E65-68F8118BE849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2247404" y="4485753"/>
            <a:ext cx="0" cy="640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155EFC6-2B86-11EF-39D3-35EDE7E47E2D}"/>
              </a:ext>
            </a:extLst>
          </p:cNvPr>
          <p:cNvSpPr txBox="1"/>
          <p:nvPr/>
        </p:nvSpPr>
        <p:spPr>
          <a:xfrm>
            <a:off x="1682049" y="2761484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</a:p>
        </p:txBody>
      </p: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5CB132C1-055E-7095-06CA-38B86405887D}"/>
              </a:ext>
            </a:extLst>
          </p:cNvPr>
          <p:cNvCxnSpPr>
            <a:cxnSpLocks/>
            <a:stCxn id="7" idx="0"/>
            <a:endCxn id="15" idx="2"/>
          </p:cNvCxnSpPr>
          <p:nvPr/>
        </p:nvCxnSpPr>
        <p:spPr>
          <a:xfrm flipV="1">
            <a:off x="2247404" y="3130816"/>
            <a:ext cx="0" cy="6377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9EE703D-F67E-A0AB-871A-2F6F6E4AF9B6}"/>
              </a:ext>
            </a:extLst>
          </p:cNvPr>
          <p:cNvSpPr txBox="1"/>
          <p:nvPr/>
        </p:nvSpPr>
        <p:spPr>
          <a:xfrm>
            <a:off x="1221914" y="5920302"/>
            <a:ext cx="2132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|BOS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922FE676-B0FA-15A7-0031-BEBD41D62E19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2890686" y="4127146"/>
            <a:ext cx="90948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E7EA5C7D-9C49-A98D-5274-1571DEEC40CB}"/>
              </a:ext>
            </a:extLst>
          </p:cNvPr>
          <p:cNvSpPr/>
          <p:nvPr/>
        </p:nvSpPr>
        <p:spPr>
          <a:xfrm>
            <a:off x="3800167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DB6AF11-82C4-1E97-98EE-6AC7126E682C}"/>
              </a:ext>
            </a:extLst>
          </p:cNvPr>
          <p:cNvSpPr txBox="1"/>
          <p:nvPr/>
        </p:nvSpPr>
        <p:spPr>
          <a:xfrm>
            <a:off x="3878094" y="5126057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天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FA19049F-0FF1-AB3A-FDC8-F3F293724580}"/>
              </a:ext>
            </a:extLst>
          </p:cNvPr>
          <p:cNvSpPr txBox="1"/>
          <p:nvPr/>
        </p:nvSpPr>
        <p:spPr>
          <a:xfrm>
            <a:off x="3878094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</a:p>
        </p:txBody>
      </p: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A13E147C-1DA0-AD82-96AC-B031AE550A5A}"/>
              </a:ext>
            </a:extLst>
          </p:cNvPr>
          <p:cNvCxnSpPr>
            <a:cxnSpLocks/>
            <a:stCxn id="22" idx="0"/>
            <a:endCxn id="24" idx="2"/>
          </p:cNvCxnSpPr>
          <p:nvPr/>
        </p:nvCxnSpPr>
        <p:spPr>
          <a:xfrm flipV="1">
            <a:off x="4443449" y="3128237"/>
            <a:ext cx="0" cy="64030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DC69554F-D75A-750C-7A18-A7EBE85F7EC8}"/>
              </a:ext>
            </a:extLst>
          </p:cNvPr>
          <p:cNvCxnSpPr>
            <a:cxnSpLocks/>
            <a:stCxn id="23" idx="0"/>
            <a:endCxn id="22" idx="2"/>
          </p:cNvCxnSpPr>
          <p:nvPr/>
        </p:nvCxnSpPr>
        <p:spPr>
          <a:xfrm flipV="1">
            <a:off x="4443449" y="4485753"/>
            <a:ext cx="0" cy="6403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7E8106A-BFA7-53F1-F296-0E15721F3F02}"/>
              </a:ext>
            </a:extLst>
          </p:cNvPr>
          <p:cNvSpPr txBox="1"/>
          <p:nvPr/>
        </p:nvSpPr>
        <p:spPr>
          <a:xfrm>
            <a:off x="3386370" y="5920301"/>
            <a:ext cx="2132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BOS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、天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F29898A4-E724-801A-4ED3-705BA56AEF46}"/>
              </a:ext>
            </a:extLst>
          </p:cNvPr>
          <p:cNvSpPr/>
          <p:nvPr/>
        </p:nvSpPr>
        <p:spPr>
          <a:xfrm>
            <a:off x="6002385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E8B29917-9A66-3D14-6F3C-007D4CF26B34}"/>
              </a:ext>
            </a:extLst>
          </p:cNvPr>
          <p:cNvSpPr txBox="1"/>
          <p:nvPr/>
        </p:nvSpPr>
        <p:spPr>
          <a:xfrm>
            <a:off x="6080312" y="5126056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氣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6ADF297B-286A-8A22-3C9B-48FC4F21EE7B}"/>
              </a:ext>
            </a:extLst>
          </p:cNvPr>
          <p:cNvSpPr txBox="1"/>
          <p:nvPr/>
        </p:nvSpPr>
        <p:spPr>
          <a:xfrm>
            <a:off x="6074138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</a:p>
        </p:txBody>
      </p:sp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61A6D5EA-E957-EAF2-AC03-E4572F974BC0}"/>
              </a:ext>
            </a:extLst>
          </p:cNvPr>
          <p:cNvCxnSpPr>
            <a:cxnSpLocks/>
            <a:stCxn id="35" idx="0"/>
            <a:endCxn id="37" idx="2"/>
          </p:cNvCxnSpPr>
          <p:nvPr/>
        </p:nvCxnSpPr>
        <p:spPr>
          <a:xfrm flipH="1" flipV="1">
            <a:off x="6639493" y="3128237"/>
            <a:ext cx="6174" cy="64030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8A81AF69-85EE-C2DF-4C21-B07FA59315BC}"/>
              </a:ext>
            </a:extLst>
          </p:cNvPr>
          <p:cNvCxnSpPr>
            <a:cxnSpLocks/>
            <a:stCxn id="36" idx="0"/>
            <a:endCxn id="35" idx="2"/>
          </p:cNvCxnSpPr>
          <p:nvPr/>
        </p:nvCxnSpPr>
        <p:spPr>
          <a:xfrm flipV="1">
            <a:off x="6645667" y="4485753"/>
            <a:ext cx="0" cy="64030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3377379D-D458-0D44-9C13-56B9B1B34C37}"/>
              </a:ext>
            </a:extLst>
          </p:cNvPr>
          <p:cNvCxnSpPr>
            <a:cxnSpLocks/>
            <a:stCxn id="22" idx="3"/>
            <a:endCxn id="35" idx="1"/>
          </p:cNvCxnSpPr>
          <p:nvPr/>
        </p:nvCxnSpPr>
        <p:spPr>
          <a:xfrm>
            <a:off x="5086731" y="4127146"/>
            <a:ext cx="91565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圓角矩形 47">
            <a:extLst>
              <a:ext uri="{FF2B5EF4-FFF2-40B4-BE49-F238E27FC236}">
                <a16:creationId xmlns:a16="http://schemas.microsoft.com/office/drawing/2014/main" id="{85FDD9DB-56C8-07A9-76EF-53DB5285B974}"/>
              </a:ext>
            </a:extLst>
          </p:cNvPr>
          <p:cNvSpPr/>
          <p:nvPr/>
        </p:nvSpPr>
        <p:spPr>
          <a:xfrm>
            <a:off x="8198428" y="3768538"/>
            <a:ext cx="1286564" cy="71721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9" name="直線箭頭接點 48">
            <a:extLst>
              <a:ext uri="{FF2B5EF4-FFF2-40B4-BE49-F238E27FC236}">
                <a16:creationId xmlns:a16="http://schemas.microsoft.com/office/drawing/2014/main" id="{43BD6734-4B6C-26FD-7B7A-1EAD0C8185D3}"/>
              </a:ext>
            </a:extLst>
          </p:cNvPr>
          <p:cNvCxnSpPr>
            <a:cxnSpLocks/>
          </p:cNvCxnSpPr>
          <p:nvPr/>
        </p:nvCxnSpPr>
        <p:spPr>
          <a:xfrm flipH="1" flipV="1">
            <a:off x="8847884" y="3128237"/>
            <a:ext cx="6174" cy="64030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1101420D-6B2E-5618-5999-7A3A7CD75C65}"/>
              </a:ext>
            </a:extLst>
          </p:cNvPr>
          <p:cNvCxnSpPr>
            <a:cxnSpLocks/>
          </p:cNvCxnSpPr>
          <p:nvPr/>
        </p:nvCxnSpPr>
        <p:spPr>
          <a:xfrm flipV="1">
            <a:off x="8850971" y="4485754"/>
            <a:ext cx="0" cy="64030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E4BACEFE-0207-D316-3A2F-E1C863F85555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88949" y="4127146"/>
            <a:ext cx="90947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36AD2FB-21CA-664B-71AB-AE9D26823743}"/>
              </a:ext>
            </a:extLst>
          </p:cNvPr>
          <p:cNvSpPr txBox="1"/>
          <p:nvPr/>
        </p:nvSpPr>
        <p:spPr>
          <a:xfrm>
            <a:off x="8270181" y="2758905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好</a:t>
            </a:r>
          </a:p>
        </p:txBody>
      </p: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20709223-573E-2E2D-0B1F-65BB2C71AF1D}"/>
              </a:ext>
            </a:extLst>
          </p:cNvPr>
          <p:cNvCxnSpPr>
            <a:cxnSpLocks/>
          </p:cNvCxnSpPr>
          <p:nvPr/>
        </p:nvCxnSpPr>
        <p:spPr>
          <a:xfrm>
            <a:off x="9484992" y="4127145"/>
            <a:ext cx="90947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9ED38F24-8837-CBEE-C182-41D690AAB9BF}"/>
              </a:ext>
            </a:extLst>
          </p:cNvPr>
          <p:cNvSpPr txBox="1"/>
          <p:nvPr/>
        </p:nvSpPr>
        <p:spPr>
          <a:xfrm>
            <a:off x="8282530" y="5126054"/>
            <a:ext cx="11307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b="1" dirty="0">
                <a:solidFill>
                  <a:schemeClr val="accent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58B91F5C-7965-097C-E52A-539DE10DADCA}"/>
              </a:ext>
            </a:extLst>
          </p:cNvPr>
          <p:cNvSpPr txBox="1"/>
          <p:nvPr/>
        </p:nvSpPr>
        <p:spPr>
          <a:xfrm>
            <a:off x="5688219" y="5920300"/>
            <a:ext cx="21328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BOS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、天、氣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DFB95BBE-2291-A897-E588-501B79736D88}"/>
              </a:ext>
            </a:extLst>
          </p:cNvPr>
          <p:cNvSpPr txBox="1"/>
          <p:nvPr/>
        </p:nvSpPr>
        <p:spPr>
          <a:xfrm>
            <a:off x="7944152" y="5897611"/>
            <a:ext cx="21328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zh-TW" sz="2000" dirty="0"/>
              <a:t>(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好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|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BOS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、天、氣、真</a:t>
            </a:r>
            <a:r>
              <a:rPr kumimoji="1" lang="en-US" altLang="zh-TW" sz="2000" dirty="0"/>
              <a:t>)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987798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5" grpId="0"/>
      <p:bldP spid="19" grpId="0"/>
      <p:bldP spid="22" grpId="0" animBg="1"/>
      <p:bldP spid="23" grpId="0"/>
      <p:bldP spid="24" grpId="0"/>
      <p:bldP spid="34" grpId="0"/>
      <p:bldP spid="35" grpId="0" animBg="1"/>
      <p:bldP spid="36" grpId="0"/>
      <p:bldP spid="37" grpId="0"/>
      <p:bldP spid="48" grpId="0" animBg="1"/>
      <p:bldP spid="54" grpId="0"/>
      <p:bldP spid="56" grpId="0"/>
      <p:bldP spid="57" grpId="0"/>
      <p:bldP spid="5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820EFC-5444-6AB2-4FC5-873C06110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GPT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最大化每個時間點的機率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6DAF791-CFF8-2020-C906-318AAF7F8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/>
              <p:nvPr/>
            </p:nvSpPr>
            <p:spPr>
              <a:xfrm>
                <a:off x="5383132" y="3742891"/>
                <a:ext cx="4295405" cy="1268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ctrlPr>
                            <a:rPr lang="zh-TW" altLang="zh-TW" sz="2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𝑃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zh-TW" altLang="zh-TW" sz="28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zh-TW" sz="2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3132" y="3742891"/>
                <a:ext cx="4295405" cy="1268552"/>
              </a:xfrm>
              <a:prstGeom prst="rect">
                <a:avLst/>
              </a:prstGeom>
              <a:blipFill>
                <a:blip r:embed="rId3"/>
                <a:stretch>
                  <a:fillRect l="-23529" t="-105941" b="-1623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圓角矩形 52">
            <a:extLst>
              <a:ext uri="{FF2B5EF4-FFF2-40B4-BE49-F238E27FC236}">
                <a16:creationId xmlns:a16="http://schemas.microsoft.com/office/drawing/2014/main" id="{E56B081F-94D2-3D44-AEF7-145771883E0A}"/>
              </a:ext>
            </a:extLst>
          </p:cNvPr>
          <p:cNvSpPr/>
          <p:nvPr/>
        </p:nvSpPr>
        <p:spPr>
          <a:xfrm>
            <a:off x="978574" y="3293067"/>
            <a:ext cx="405587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Language 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54" name="圓角矩形 53">
            <a:extLst>
              <a:ext uri="{FF2B5EF4-FFF2-40B4-BE49-F238E27FC236}">
                <a16:creationId xmlns:a16="http://schemas.microsoft.com/office/drawing/2014/main" id="{2AD5746E-79B9-5EC8-5A1A-42B5950F4FB0}"/>
              </a:ext>
            </a:extLst>
          </p:cNvPr>
          <p:cNvSpPr/>
          <p:nvPr/>
        </p:nvSpPr>
        <p:spPr>
          <a:xfrm>
            <a:off x="1060305" y="460768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5" name="圓角矩形 54">
            <a:extLst>
              <a:ext uri="{FF2B5EF4-FFF2-40B4-BE49-F238E27FC236}">
                <a16:creationId xmlns:a16="http://schemas.microsoft.com/office/drawing/2014/main" id="{849165CB-B39B-4A35-B189-73AD09AFA6F4}"/>
              </a:ext>
            </a:extLst>
          </p:cNvPr>
          <p:cNvSpPr/>
          <p:nvPr/>
        </p:nvSpPr>
        <p:spPr>
          <a:xfrm>
            <a:off x="3974880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6" name="圓角矩形 55">
            <a:extLst>
              <a:ext uri="{FF2B5EF4-FFF2-40B4-BE49-F238E27FC236}">
                <a16:creationId xmlns:a16="http://schemas.microsoft.com/office/drawing/2014/main" id="{04D28F7A-BB87-E420-B4A6-87EFAE58B573}"/>
              </a:ext>
            </a:extLst>
          </p:cNvPr>
          <p:cNvSpPr/>
          <p:nvPr/>
        </p:nvSpPr>
        <p:spPr>
          <a:xfrm>
            <a:off x="4557797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7" name="圓角矩形 56">
            <a:extLst>
              <a:ext uri="{FF2B5EF4-FFF2-40B4-BE49-F238E27FC236}">
                <a16:creationId xmlns:a16="http://schemas.microsoft.com/office/drawing/2014/main" id="{E0A05F72-2010-0A18-AFF5-AC3392353FC2}"/>
              </a:ext>
            </a:extLst>
          </p:cNvPr>
          <p:cNvSpPr/>
          <p:nvPr/>
        </p:nvSpPr>
        <p:spPr>
          <a:xfrm>
            <a:off x="1643220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8" name="圓角矩形 57">
            <a:extLst>
              <a:ext uri="{FF2B5EF4-FFF2-40B4-BE49-F238E27FC236}">
                <a16:creationId xmlns:a16="http://schemas.microsoft.com/office/drawing/2014/main" id="{E82AF96C-EBF2-D5AB-042A-BE3BEAB30F97}"/>
              </a:ext>
            </a:extLst>
          </p:cNvPr>
          <p:cNvSpPr/>
          <p:nvPr/>
        </p:nvSpPr>
        <p:spPr>
          <a:xfrm>
            <a:off x="2226135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9" name="圓角矩形 58">
            <a:extLst>
              <a:ext uri="{FF2B5EF4-FFF2-40B4-BE49-F238E27FC236}">
                <a16:creationId xmlns:a16="http://schemas.microsoft.com/office/drawing/2014/main" id="{E8D812A7-35BC-59E9-6233-BFBBF2ED6EF1}"/>
              </a:ext>
            </a:extLst>
          </p:cNvPr>
          <p:cNvSpPr/>
          <p:nvPr/>
        </p:nvSpPr>
        <p:spPr>
          <a:xfrm>
            <a:off x="2809050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60" name="圓角矩形 59">
            <a:extLst>
              <a:ext uri="{FF2B5EF4-FFF2-40B4-BE49-F238E27FC236}">
                <a16:creationId xmlns:a16="http://schemas.microsoft.com/office/drawing/2014/main" id="{E71E0BBC-F3F9-9B35-A02F-D6904A072013}"/>
              </a:ext>
            </a:extLst>
          </p:cNvPr>
          <p:cNvSpPr/>
          <p:nvPr/>
        </p:nvSpPr>
        <p:spPr>
          <a:xfrm>
            <a:off x="3391965" y="4607685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61" name="直線箭頭接點 60">
            <a:extLst>
              <a:ext uri="{FF2B5EF4-FFF2-40B4-BE49-F238E27FC236}">
                <a16:creationId xmlns:a16="http://schemas.microsoft.com/office/drawing/2014/main" id="{556BF7F5-E500-D813-7FF7-4EFCAB97C5E3}"/>
              </a:ext>
            </a:extLst>
          </p:cNvPr>
          <p:cNvCxnSpPr>
            <a:cxnSpLocks/>
          </p:cNvCxnSpPr>
          <p:nvPr/>
        </p:nvCxnSpPr>
        <p:spPr>
          <a:xfrm flipV="1">
            <a:off x="1292233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箭頭接點 61">
            <a:extLst>
              <a:ext uri="{FF2B5EF4-FFF2-40B4-BE49-F238E27FC236}">
                <a16:creationId xmlns:a16="http://schemas.microsoft.com/office/drawing/2014/main" id="{FD6FD892-97D8-8EE6-71A3-A157EBD96579}"/>
              </a:ext>
            </a:extLst>
          </p:cNvPr>
          <p:cNvCxnSpPr>
            <a:cxnSpLocks/>
          </p:cNvCxnSpPr>
          <p:nvPr/>
        </p:nvCxnSpPr>
        <p:spPr>
          <a:xfrm flipV="1">
            <a:off x="1872427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2CD4A9B7-D7FE-006C-23CC-CFF1E26DFB64}"/>
              </a:ext>
            </a:extLst>
          </p:cNvPr>
          <p:cNvCxnSpPr>
            <a:cxnSpLocks/>
          </p:cNvCxnSpPr>
          <p:nvPr/>
        </p:nvCxnSpPr>
        <p:spPr>
          <a:xfrm flipV="1">
            <a:off x="2452621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箭頭接點 63">
            <a:extLst>
              <a:ext uri="{FF2B5EF4-FFF2-40B4-BE49-F238E27FC236}">
                <a16:creationId xmlns:a16="http://schemas.microsoft.com/office/drawing/2014/main" id="{38F6DEDC-905F-25F0-F182-8E0D496CA00A}"/>
              </a:ext>
            </a:extLst>
          </p:cNvPr>
          <p:cNvCxnSpPr>
            <a:cxnSpLocks/>
          </p:cNvCxnSpPr>
          <p:nvPr/>
        </p:nvCxnSpPr>
        <p:spPr>
          <a:xfrm flipV="1">
            <a:off x="3032815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箭頭接點 64">
            <a:extLst>
              <a:ext uri="{FF2B5EF4-FFF2-40B4-BE49-F238E27FC236}">
                <a16:creationId xmlns:a16="http://schemas.microsoft.com/office/drawing/2014/main" id="{3D815DC0-BB63-272B-AA96-09D34C71DE3D}"/>
              </a:ext>
            </a:extLst>
          </p:cNvPr>
          <p:cNvCxnSpPr>
            <a:cxnSpLocks/>
          </p:cNvCxnSpPr>
          <p:nvPr/>
        </p:nvCxnSpPr>
        <p:spPr>
          <a:xfrm flipV="1">
            <a:off x="3613009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70225065-1F78-FF9F-4C28-6FCED4B9E399}"/>
              </a:ext>
            </a:extLst>
          </p:cNvPr>
          <p:cNvCxnSpPr>
            <a:cxnSpLocks/>
          </p:cNvCxnSpPr>
          <p:nvPr/>
        </p:nvCxnSpPr>
        <p:spPr>
          <a:xfrm flipV="1">
            <a:off x="4193203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箭頭接點 66">
            <a:extLst>
              <a:ext uri="{FF2B5EF4-FFF2-40B4-BE49-F238E27FC236}">
                <a16:creationId xmlns:a16="http://schemas.microsoft.com/office/drawing/2014/main" id="{955ACEB5-1C85-0E86-2524-AB0F52D9EA43}"/>
              </a:ext>
            </a:extLst>
          </p:cNvPr>
          <p:cNvCxnSpPr>
            <a:cxnSpLocks/>
          </p:cNvCxnSpPr>
          <p:nvPr/>
        </p:nvCxnSpPr>
        <p:spPr>
          <a:xfrm flipV="1">
            <a:off x="4773396" y="429622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B31AE56F-4DF3-4AD7-786F-E2213B06A924}"/>
              </a:ext>
            </a:extLst>
          </p:cNvPr>
          <p:cNvCxnSpPr>
            <a:cxnSpLocks/>
          </p:cNvCxnSpPr>
          <p:nvPr/>
        </p:nvCxnSpPr>
        <p:spPr>
          <a:xfrm flipV="1">
            <a:off x="1292233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圓角矩形 68">
            <a:extLst>
              <a:ext uri="{FF2B5EF4-FFF2-40B4-BE49-F238E27FC236}">
                <a16:creationId xmlns:a16="http://schemas.microsoft.com/office/drawing/2014/main" id="{0E92661B-C188-9EC9-B913-1F48F8DA8429}"/>
              </a:ext>
            </a:extLst>
          </p:cNvPr>
          <p:cNvSpPr/>
          <p:nvPr/>
        </p:nvSpPr>
        <p:spPr>
          <a:xfrm>
            <a:off x="1060305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0" name="圓角矩形 69">
            <a:extLst>
              <a:ext uri="{FF2B5EF4-FFF2-40B4-BE49-F238E27FC236}">
                <a16:creationId xmlns:a16="http://schemas.microsoft.com/office/drawing/2014/main" id="{29AF26AF-3DC4-E24D-233C-C7A4FB5621EC}"/>
              </a:ext>
            </a:extLst>
          </p:cNvPr>
          <p:cNvSpPr/>
          <p:nvPr/>
        </p:nvSpPr>
        <p:spPr>
          <a:xfrm>
            <a:off x="1060305" y="5411584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1" name="內容版面配置區 2">
            <a:extLst>
              <a:ext uri="{FF2B5EF4-FFF2-40B4-BE49-F238E27FC236}">
                <a16:creationId xmlns:a16="http://schemas.microsoft.com/office/drawing/2014/main" id="{0040D001-58C5-5A13-A865-799BECABAD6F}"/>
              </a:ext>
            </a:extLst>
          </p:cNvPr>
          <p:cNvSpPr txBox="1">
            <a:spLocks/>
          </p:cNvSpPr>
          <p:nvPr/>
        </p:nvSpPr>
        <p:spPr>
          <a:xfrm>
            <a:off x="1635682" y="5457165"/>
            <a:ext cx="3734811" cy="331176"/>
          </a:xfrm>
          <a:prstGeom prst="rect">
            <a:avLst/>
          </a:prstGeom>
        </p:spPr>
        <p:txBody>
          <a:bodyPr vert="horz" lIns="0" tIns="45720" rIns="0" bIns="45720" rtlCol="0" anchor="t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Clr>
                <a:schemeClr val="tx1"/>
              </a:buClr>
              <a:buNone/>
            </a:pPr>
            <a:r>
              <a:rPr lang="en-US" altLang="zh-TW" sz="1800" dirty="0">
                <a:ea typeface="新細明體" panose="02020500000000000000" pitchFamily="18" charset="-120"/>
                <a:cs typeface="+mn-lt"/>
              </a:rPr>
              <a:t>Self-attention </a:t>
            </a:r>
            <a:r>
              <a:rPr lang="zh-TW" altLang="en-US" sz="1800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+mn-lt"/>
              </a:rPr>
              <a:t>不可及的範圍</a:t>
            </a:r>
            <a:endParaRPr lang="en-US" altLang="zh-TW" sz="1800" dirty="0">
              <a:latin typeface="Microsoft JhengHei" panose="020B0604030504040204" pitchFamily="34" charset="-120"/>
              <a:ea typeface="Microsoft JhengHei" panose="020B0604030504040204" pitchFamily="34" charset="-120"/>
              <a:cs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71E75FE5-D583-EC56-31A3-971EFDFD13C4}"/>
                  </a:ext>
                </a:extLst>
              </p:cNvPr>
              <p:cNvSpPr txBox="1"/>
              <p:nvPr/>
            </p:nvSpPr>
            <p:spPr>
              <a:xfrm>
                <a:off x="653143" y="2103135"/>
                <a:ext cx="12781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 </m:t>
                      </m:r>
                      <m:sSub>
                        <m:sSubPr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72" name="文字方塊 71">
                <a:extLst>
                  <a:ext uri="{FF2B5EF4-FFF2-40B4-BE49-F238E27FC236}">
                    <a16:creationId xmlns:a16="http://schemas.microsoft.com/office/drawing/2014/main" id="{71E75FE5-D583-EC56-31A3-971EFDFD13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" y="2103135"/>
                <a:ext cx="1278180" cy="369332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圓角矩形 72">
            <a:extLst>
              <a:ext uri="{FF2B5EF4-FFF2-40B4-BE49-F238E27FC236}">
                <a16:creationId xmlns:a16="http://schemas.microsoft.com/office/drawing/2014/main" id="{9CED9391-FE04-72A7-D6D4-53AB83C3BEEB}"/>
              </a:ext>
            </a:extLst>
          </p:cNvPr>
          <p:cNvSpPr/>
          <p:nvPr/>
        </p:nvSpPr>
        <p:spPr>
          <a:xfrm>
            <a:off x="1643218" y="460768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74" name="直線箭頭接點 73">
            <a:extLst>
              <a:ext uri="{FF2B5EF4-FFF2-40B4-BE49-F238E27FC236}">
                <a16:creationId xmlns:a16="http://schemas.microsoft.com/office/drawing/2014/main" id="{6F143B5D-ACE6-12E7-A6D9-787589415032}"/>
              </a:ext>
            </a:extLst>
          </p:cNvPr>
          <p:cNvCxnSpPr>
            <a:cxnSpLocks/>
          </p:cNvCxnSpPr>
          <p:nvPr/>
        </p:nvCxnSpPr>
        <p:spPr>
          <a:xfrm flipV="1">
            <a:off x="1863050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圓角矩形 74">
            <a:extLst>
              <a:ext uri="{FF2B5EF4-FFF2-40B4-BE49-F238E27FC236}">
                <a16:creationId xmlns:a16="http://schemas.microsoft.com/office/drawing/2014/main" id="{14DE862D-D50D-A681-2164-B5ED8C85E464}"/>
              </a:ext>
            </a:extLst>
          </p:cNvPr>
          <p:cNvSpPr/>
          <p:nvPr/>
        </p:nvSpPr>
        <p:spPr>
          <a:xfrm>
            <a:off x="1644150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DBD29828-76DF-C37D-2E67-B1AF885CF2EF}"/>
                  </a:ext>
                </a:extLst>
              </p:cNvPr>
              <p:cNvSpPr txBox="1"/>
              <p:nvPr/>
            </p:nvSpPr>
            <p:spPr>
              <a:xfrm>
                <a:off x="1654951" y="2103134"/>
                <a:ext cx="14728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76" name="文字方塊 75">
                <a:extLst>
                  <a:ext uri="{FF2B5EF4-FFF2-40B4-BE49-F238E27FC236}">
                    <a16:creationId xmlns:a16="http://schemas.microsoft.com/office/drawing/2014/main" id="{DBD29828-76DF-C37D-2E67-B1AF885CF2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4951" y="2103134"/>
                <a:ext cx="1472889" cy="369332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圓角矩形 76">
            <a:extLst>
              <a:ext uri="{FF2B5EF4-FFF2-40B4-BE49-F238E27FC236}">
                <a16:creationId xmlns:a16="http://schemas.microsoft.com/office/drawing/2014/main" id="{FF9E136E-A7C5-ADE1-0C73-456E9CDFE916}"/>
              </a:ext>
            </a:extLst>
          </p:cNvPr>
          <p:cNvSpPr/>
          <p:nvPr/>
        </p:nvSpPr>
        <p:spPr>
          <a:xfrm>
            <a:off x="2226135" y="460768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8" name="圓角矩形 77">
            <a:extLst>
              <a:ext uri="{FF2B5EF4-FFF2-40B4-BE49-F238E27FC236}">
                <a16:creationId xmlns:a16="http://schemas.microsoft.com/office/drawing/2014/main" id="{952DD999-E7EC-AD11-474F-B8C47BC90016}"/>
              </a:ext>
            </a:extLst>
          </p:cNvPr>
          <p:cNvSpPr/>
          <p:nvPr/>
        </p:nvSpPr>
        <p:spPr>
          <a:xfrm>
            <a:off x="2808425" y="4607683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9" name="圓角矩形 78">
            <a:extLst>
              <a:ext uri="{FF2B5EF4-FFF2-40B4-BE49-F238E27FC236}">
                <a16:creationId xmlns:a16="http://schemas.microsoft.com/office/drawing/2014/main" id="{B605CB7C-E6AE-0CAF-13C5-00670FDB2978}"/>
              </a:ext>
            </a:extLst>
          </p:cNvPr>
          <p:cNvSpPr/>
          <p:nvPr/>
        </p:nvSpPr>
        <p:spPr>
          <a:xfrm>
            <a:off x="3391963" y="4607682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0" name="圓角矩形 79">
            <a:extLst>
              <a:ext uri="{FF2B5EF4-FFF2-40B4-BE49-F238E27FC236}">
                <a16:creationId xmlns:a16="http://schemas.microsoft.com/office/drawing/2014/main" id="{25DDC4EA-9043-2978-C576-33ADFFE2D3E8}"/>
              </a:ext>
            </a:extLst>
          </p:cNvPr>
          <p:cNvSpPr/>
          <p:nvPr/>
        </p:nvSpPr>
        <p:spPr>
          <a:xfrm>
            <a:off x="3974880" y="460768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1" name="圓角矩形 80">
            <a:extLst>
              <a:ext uri="{FF2B5EF4-FFF2-40B4-BE49-F238E27FC236}">
                <a16:creationId xmlns:a16="http://schemas.microsoft.com/office/drawing/2014/main" id="{98069929-4DEE-2C40-3A84-7E509EC69AE2}"/>
              </a:ext>
            </a:extLst>
          </p:cNvPr>
          <p:cNvSpPr/>
          <p:nvPr/>
        </p:nvSpPr>
        <p:spPr>
          <a:xfrm>
            <a:off x="4557797" y="4607680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2" name="圓角矩形 81">
            <a:extLst>
              <a:ext uri="{FF2B5EF4-FFF2-40B4-BE49-F238E27FC236}">
                <a16:creationId xmlns:a16="http://schemas.microsoft.com/office/drawing/2014/main" id="{A4246D34-2A8F-D0B3-6834-6545334F2639}"/>
              </a:ext>
            </a:extLst>
          </p:cNvPr>
          <p:cNvSpPr/>
          <p:nvPr/>
        </p:nvSpPr>
        <p:spPr>
          <a:xfrm>
            <a:off x="2224887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3" name="圓角矩形 82">
            <a:extLst>
              <a:ext uri="{FF2B5EF4-FFF2-40B4-BE49-F238E27FC236}">
                <a16:creationId xmlns:a16="http://schemas.microsoft.com/office/drawing/2014/main" id="{22454C6F-BDE4-5EA8-63BA-32323A48E083}"/>
              </a:ext>
            </a:extLst>
          </p:cNvPr>
          <p:cNvSpPr/>
          <p:nvPr/>
        </p:nvSpPr>
        <p:spPr>
          <a:xfrm>
            <a:off x="2808425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4" name="圓角矩形 83">
            <a:extLst>
              <a:ext uri="{FF2B5EF4-FFF2-40B4-BE49-F238E27FC236}">
                <a16:creationId xmlns:a16="http://schemas.microsoft.com/office/drawing/2014/main" id="{C454FCB8-917B-4EE3-9D38-FE0379C871F1}"/>
              </a:ext>
            </a:extLst>
          </p:cNvPr>
          <p:cNvSpPr/>
          <p:nvPr/>
        </p:nvSpPr>
        <p:spPr>
          <a:xfrm>
            <a:off x="3391342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5" name="圓角矩形 84">
            <a:extLst>
              <a:ext uri="{FF2B5EF4-FFF2-40B4-BE49-F238E27FC236}">
                <a16:creationId xmlns:a16="http://schemas.microsoft.com/office/drawing/2014/main" id="{5CBF80E2-B535-E860-7610-68FE567E8B14}"/>
              </a:ext>
            </a:extLst>
          </p:cNvPr>
          <p:cNvSpPr/>
          <p:nvPr/>
        </p:nvSpPr>
        <p:spPr>
          <a:xfrm>
            <a:off x="3974259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6" name="圓角矩形 85">
            <a:extLst>
              <a:ext uri="{FF2B5EF4-FFF2-40B4-BE49-F238E27FC236}">
                <a16:creationId xmlns:a16="http://schemas.microsoft.com/office/drawing/2014/main" id="{09F4531D-C74B-8FD2-1A18-05B0B52CEC4C}"/>
              </a:ext>
            </a:extLst>
          </p:cNvPr>
          <p:cNvSpPr/>
          <p:nvPr/>
        </p:nvSpPr>
        <p:spPr>
          <a:xfrm>
            <a:off x="4549006" y="256197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87" name="直線箭頭接點 86">
            <a:extLst>
              <a:ext uri="{FF2B5EF4-FFF2-40B4-BE49-F238E27FC236}">
                <a16:creationId xmlns:a16="http://schemas.microsoft.com/office/drawing/2014/main" id="{16DDA635-18C5-E473-8AB5-387CA224E482}"/>
              </a:ext>
            </a:extLst>
          </p:cNvPr>
          <p:cNvCxnSpPr>
            <a:cxnSpLocks/>
          </p:cNvCxnSpPr>
          <p:nvPr/>
        </p:nvCxnSpPr>
        <p:spPr>
          <a:xfrm flipV="1">
            <a:off x="2452621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箭頭接點 87">
            <a:extLst>
              <a:ext uri="{FF2B5EF4-FFF2-40B4-BE49-F238E27FC236}">
                <a16:creationId xmlns:a16="http://schemas.microsoft.com/office/drawing/2014/main" id="{82799154-4C2E-FC22-3319-D26D3CDF2D68}"/>
              </a:ext>
            </a:extLst>
          </p:cNvPr>
          <p:cNvCxnSpPr>
            <a:cxnSpLocks/>
          </p:cNvCxnSpPr>
          <p:nvPr/>
        </p:nvCxnSpPr>
        <p:spPr>
          <a:xfrm flipV="1">
            <a:off x="3032815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2FA96EF0-C3F2-247C-225E-81049202E10D}"/>
              </a:ext>
            </a:extLst>
          </p:cNvPr>
          <p:cNvCxnSpPr>
            <a:cxnSpLocks/>
          </p:cNvCxnSpPr>
          <p:nvPr/>
        </p:nvCxnSpPr>
        <p:spPr>
          <a:xfrm flipV="1">
            <a:off x="3613009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8EE1F8A5-8E8F-28C6-68B7-BFFF8A8AF15F}"/>
              </a:ext>
            </a:extLst>
          </p:cNvPr>
          <p:cNvCxnSpPr>
            <a:cxnSpLocks/>
          </p:cNvCxnSpPr>
          <p:nvPr/>
        </p:nvCxnSpPr>
        <p:spPr>
          <a:xfrm flipV="1">
            <a:off x="4193203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線箭頭接點 90">
            <a:extLst>
              <a:ext uri="{FF2B5EF4-FFF2-40B4-BE49-F238E27FC236}">
                <a16:creationId xmlns:a16="http://schemas.microsoft.com/office/drawing/2014/main" id="{1E11C61A-444F-4842-1CEB-2B1EE08075B4}"/>
              </a:ext>
            </a:extLst>
          </p:cNvPr>
          <p:cNvCxnSpPr>
            <a:cxnSpLocks/>
          </p:cNvCxnSpPr>
          <p:nvPr/>
        </p:nvCxnSpPr>
        <p:spPr>
          <a:xfrm flipV="1">
            <a:off x="4773396" y="298859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25954B22-0429-C987-DAD1-A834876404E3}"/>
                  </a:ext>
                </a:extLst>
              </p:cNvPr>
              <p:cNvSpPr txBox="1"/>
              <p:nvPr/>
            </p:nvSpPr>
            <p:spPr>
              <a:xfrm>
                <a:off x="4112205" y="2103134"/>
                <a:ext cx="14728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1" lang="en-US" altLang="zh-TW" sz="1800" b="0" i="1" smtClean="0"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kumimoji="1"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TW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25954B22-0429-C987-DAD1-A834876404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2205" y="2103134"/>
                <a:ext cx="1472889" cy="369332"/>
              </a:xfrm>
              <a:prstGeom prst="rect">
                <a:avLst/>
              </a:prstGeom>
              <a:blipFill>
                <a:blip r:embed="rId6"/>
                <a:stretch>
                  <a:fillRect r="-99138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08102A85-73E7-79C7-0BC6-92C2064B442C}"/>
                  </a:ext>
                </a:extLst>
              </p:cNvPr>
              <p:cNvSpPr txBox="1"/>
              <p:nvPr/>
            </p:nvSpPr>
            <p:spPr>
              <a:xfrm>
                <a:off x="3173768" y="2114132"/>
                <a:ext cx="8018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⋅⋅⋅</m:t>
                      </m:r>
                    </m:oMath>
                  </m:oMathPara>
                </a14:m>
                <a:endParaRPr lang="zh-TW" altLang="zh-TW" dirty="0"/>
              </a:p>
            </p:txBody>
          </p:sp>
        </mc:Choice>
        <mc:Fallback>
          <p:sp>
            <p:nvSpPr>
              <p:cNvPr id="93" name="文字方塊 92">
                <a:extLst>
                  <a:ext uri="{FF2B5EF4-FFF2-40B4-BE49-F238E27FC236}">
                    <a16:creationId xmlns:a16="http://schemas.microsoft.com/office/drawing/2014/main" id="{08102A85-73E7-79C7-0BC6-92C2064B44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3768" y="2114132"/>
                <a:ext cx="801854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內容版面配置區 2">
            <a:extLst>
              <a:ext uri="{FF2B5EF4-FFF2-40B4-BE49-F238E27FC236}">
                <a16:creationId xmlns:a16="http://schemas.microsoft.com/office/drawing/2014/main" id="{40440265-CFFB-E8B4-A5D9-3D7A3B779179}"/>
              </a:ext>
            </a:extLst>
          </p:cNvPr>
          <p:cNvSpPr txBox="1">
            <a:spLocks/>
          </p:cNvSpPr>
          <p:nvPr/>
        </p:nvSpPr>
        <p:spPr>
          <a:xfrm>
            <a:off x="9974323" y="3974650"/>
            <a:ext cx="1600558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en-US" altLang="zh-TW" sz="2400" dirty="0">
                <a:ea typeface="Microsoft JhengHei" panose="020B0604030504040204" pitchFamily="34" charset="-120"/>
                <a:cs typeface="+mn-lt"/>
              </a:rPr>
              <a:t>Language Modeling</a:t>
            </a:r>
            <a:endParaRPr kumimoji="1" lang="zh-TW" altLang="en-US" sz="2400" dirty="0"/>
          </a:p>
        </p:txBody>
      </p:sp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5720D097-1B5B-639C-CB67-AE896FBF1E44}"/>
              </a:ext>
            </a:extLst>
          </p:cNvPr>
          <p:cNvCxnSpPr>
            <a:cxnSpLocks/>
          </p:cNvCxnSpPr>
          <p:nvPr/>
        </p:nvCxnSpPr>
        <p:spPr>
          <a:xfrm flipH="1">
            <a:off x="9449937" y="4399390"/>
            <a:ext cx="524386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內容版面配置區 2">
            <a:extLst>
              <a:ext uri="{FF2B5EF4-FFF2-40B4-BE49-F238E27FC236}">
                <a16:creationId xmlns:a16="http://schemas.microsoft.com/office/drawing/2014/main" id="{3997A10C-8705-FBE2-829C-2D256E3636C8}"/>
              </a:ext>
            </a:extLst>
          </p:cNvPr>
          <p:cNvSpPr txBox="1">
            <a:spLocks/>
          </p:cNvSpPr>
          <p:nvPr/>
        </p:nvSpPr>
        <p:spPr>
          <a:xfrm>
            <a:off x="5577978" y="2970387"/>
            <a:ext cx="1600558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目標函數：</a:t>
            </a:r>
            <a:endParaRPr kumimoji="1" lang="zh-TW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366015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73" grpId="0" animBg="1"/>
      <p:bldP spid="75" grpId="0" animBg="1"/>
      <p:bldP spid="76" grpId="0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92" grpId="0"/>
      <p:bldP spid="93" grpId="0"/>
      <p:bldP spid="94" grpId="0"/>
      <p:bldP spid="9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820EFC-5444-6AB2-4FC5-873C06110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and Cross-entropy (1)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6DAF791-CFF8-2020-C906-318AAF7F8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/>
              <p:nvPr/>
            </p:nvSpPr>
            <p:spPr>
              <a:xfrm>
                <a:off x="739219" y="2496318"/>
                <a:ext cx="4713427" cy="1268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800" b="0" i="0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log</m:t>
                      </m:r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⁡(</m:t>
                      </m:r>
                      <m:nary>
                        <m:naryPr>
                          <m:chr m:val="∏"/>
                          <m:ctrlPr>
                            <a:rPr lang="zh-TW" altLang="zh-TW" sz="28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𝑡</m:t>
                          </m:r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altLang="zh-TW" sz="28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28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zh-TW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𝑡</m:t>
                                  </m:r>
                                  <m:r>
                                    <a:rPr lang="en-US" altLang="zh-TW" sz="28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zh-TW" altLang="zh-TW" sz="28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A4E96B12-CEDD-905F-7E73-187B8CC22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19" y="2496318"/>
                <a:ext cx="4713427" cy="1268552"/>
              </a:xfrm>
              <a:prstGeom prst="rect">
                <a:avLst/>
              </a:prstGeom>
              <a:blipFill>
                <a:blip r:embed="rId3"/>
                <a:stretch>
                  <a:fillRect l="-12366" t="-106931" r="-269" b="-1623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直線箭頭接點 94">
            <a:extLst>
              <a:ext uri="{FF2B5EF4-FFF2-40B4-BE49-F238E27FC236}">
                <a16:creationId xmlns:a16="http://schemas.microsoft.com/office/drawing/2014/main" id="{5720D097-1B5B-639C-CB67-AE896FBF1E44}"/>
              </a:ext>
            </a:extLst>
          </p:cNvPr>
          <p:cNvCxnSpPr>
            <a:cxnSpLocks/>
          </p:cNvCxnSpPr>
          <p:nvPr/>
        </p:nvCxnSpPr>
        <p:spPr>
          <a:xfrm flipH="1">
            <a:off x="5445026" y="4616328"/>
            <a:ext cx="524386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內容版面配置區 2">
            <a:extLst>
              <a:ext uri="{FF2B5EF4-FFF2-40B4-BE49-F238E27FC236}">
                <a16:creationId xmlns:a16="http://schemas.microsoft.com/office/drawing/2014/main" id="{3997A10C-8705-FBE2-829C-2D256E3636C8}"/>
              </a:ext>
            </a:extLst>
          </p:cNvPr>
          <p:cNvSpPr txBox="1">
            <a:spLocks/>
          </p:cNvSpPr>
          <p:nvPr/>
        </p:nvSpPr>
        <p:spPr>
          <a:xfrm>
            <a:off x="739218" y="1646839"/>
            <a:ext cx="7498002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dirty="0">
                <a:ea typeface="Microsoft JhengHei" panose="020B0604030504040204" pitchFamily="34" charset="-120"/>
                <a:cs typeface="+mn-lt"/>
              </a:rPr>
              <a:t>為了使語言模型能夠以分類的形式被訓練，</a:t>
            </a: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通常會取</a:t>
            </a:r>
            <a:r>
              <a:rPr kumimoji="1" lang="en-US" altLang="zh-TW" sz="2400" b="1" dirty="0">
                <a:ea typeface="Microsoft JhengHei" panose="020B0604030504040204" pitchFamily="34" charset="-120"/>
                <a:cs typeface="+mn-lt"/>
              </a:rPr>
              <a:t>log</a:t>
            </a:r>
            <a:endParaRPr kumimoji="1" lang="zh-TW" altLang="en-US" sz="2400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1F93492-D1CE-6B84-6ECE-31C4695CF094}"/>
                  </a:ext>
                </a:extLst>
              </p:cNvPr>
              <p:cNvSpPr txBox="1"/>
              <p:nvPr/>
            </p:nvSpPr>
            <p:spPr>
              <a:xfrm>
                <a:off x="739219" y="3949021"/>
                <a:ext cx="4713427" cy="1262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kern="10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zh-TW" altLang="zh-TW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 sz="2800">
                              <a:latin typeface="Cambria Math" panose="02040503050406030204" pitchFamily="18" charset="0"/>
                            </a:rPr>
                            <m:t>log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zh-TW" altLang="zh-TW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TW" sz="2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zh-TW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zh-TW" sz="2800" dirty="0"/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1F93492-D1CE-6B84-6ECE-31C4695C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19" y="3949021"/>
                <a:ext cx="4713427" cy="1262140"/>
              </a:xfrm>
              <a:prstGeom prst="rect">
                <a:avLst/>
              </a:prstGeom>
              <a:blipFill>
                <a:blip r:embed="rId4"/>
                <a:stretch>
                  <a:fillRect l="-17742" t="-108000" r="-269" b="-164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E1423BFA-DAA7-5DF8-183E-651D744A69A9}"/>
              </a:ext>
            </a:extLst>
          </p:cNvPr>
          <p:cNvSpPr txBox="1">
            <a:spLocks/>
          </p:cNvSpPr>
          <p:nvPr/>
        </p:nvSpPr>
        <p:spPr>
          <a:xfrm>
            <a:off x="6096000" y="5037253"/>
            <a:ext cx="4894580" cy="962331"/>
          </a:xfrm>
          <a:prstGeom prst="rect">
            <a:avLst/>
          </a:prstGeom>
        </p:spPr>
        <p:txBody>
          <a:bodyPr vert="horz" lIns="0" tIns="45720" rIns="0" bIns="45720" rtlCol="0" anchor="ctr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加上</a:t>
            </a:r>
            <a:r>
              <a:rPr kumimoji="1" lang="zh-TW" altLang="en-US" sz="2400" b="1" u="sng" dirty="0">
                <a:ea typeface="Microsoft JhengHei" panose="020B0604030504040204" pitchFamily="34" charset="-120"/>
                <a:cs typeface="+mn-lt"/>
              </a:rPr>
              <a:t>負號</a:t>
            </a:r>
            <a:r>
              <a:rPr kumimoji="1" lang="zh-TW" altLang="en-US" sz="2400" b="1" dirty="0">
                <a:ea typeface="Microsoft JhengHei" panose="020B0604030504040204" pitchFamily="34" charset="-120"/>
                <a:cs typeface="+mn-lt"/>
              </a:rPr>
              <a:t>之後就是</a:t>
            </a:r>
            <a:r>
              <a:rPr kumimoji="1" lang="en-US" altLang="zh-TW" sz="2400" b="1" dirty="0">
                <a:ea typeface="Microsoft JhengHei" panose="020B0604030504040204" pitchFamily="34" charset="-120"/>
                <a:cs typeface="+mn-lt"/>
              </a:rPr>
              <a:t> Cross-entropy</a:t>
            </a:r>
          </a:p>
          <a:p>
            <a:pPr marL="0" indent="0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en-US" altLang="zh-TW" sz="2400" b="1" dirty="0"/>
              <a:t>(loss </a:t>
            </a:r>
            <a:r>
              <a:rPr kumimoji="1" lang="zh-TW" altLang="en-US" sz="2400" b="1" dirty="0"/>
              <a:t>越小越好</a:t>
            </a:r>
            <a:r>
              <a:rPr kumimoji="1" lang="en-US" altLang="zh-TW" sz="2400" b="1" dirty="0"/>
              <a:t>)</a:t>
            </a:r>
            <a:endParaRPr kumimoji="1" lang="zh-TW" altLang="en-US" sz="2400"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906F56E-FEB4-6F49-7B21-31D039014B3D}"/>
              </a:ext>
            </a:extLst>
          </p:cNvPr>
          <p:cNvSpPr txBox="1">
            <a:spLocks/>
          </p:cNvSpPr>
          <p:nvPr/>
        </p:nvSpPr>
        <p:spPr>
          <a:xfrm>
            <a:off x="6112328" y="4228912"/>
            <a:ext cx="4894580" cy="849479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00"/>
              </a:spcAft>
              <a:buClr>
                <a:schemeClr val="tx1"/>
              </a:buClr>
              <a:buNone/>
            </a:pPr>
            <a:r>
              <a:rPr kumimoji="1" lang="zh-TW" altLang="en-US" sz="2400" dirty="0">
                <a:solidFill>
                  <a:srgbClr val="FF0000"/>
                </a:solidFill>
                <a:ea typeface="Microsoft JhengHei" panose="020B0604030504040204" pitchFamily="34" charset="-120"/>
                <a:cs typeface="+mn-lt"/>
              </a:rPr>
              <a:t>越大越好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663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98" grpId="0"/>
      <p:bldP spid="7" grpId="0"/>
      <p:bldP spid="9" grpId="0"/>
      <p:bldP spid="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E761485-2411-8B51-3EAF-FB260B391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BDFD992-EE9B-CF47-1F33-3C8A5E803DCF}"/>
              </a:ext>
            </a:extLst>
          </p:cNvPr>
          <p:cNvSpPr txBox="1"/>
          <p:nvPr/>
        </p:nvSpPr>
        <p:spPr>
          <a:xfrm>
            <a:off x="5387735" y="2705453"/>
            <a:ext cx="1726651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CGU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I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love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hate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like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5E4B2C0-E952-28BB-43AD-4AF71E36A6A7}"/>
              </a:ext>
            </a:extLst>
          </p:cNvPr>
          <p:cNvSpPr txBox="1"/>
          <p:nvPr/>
        </p:nvSpPr>
        <p:spPr>
          <a:xfrm>
            <a:off x="5225184" y="2274496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Token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C92E2BA-E5A3-6D18-67DE-7FED3D7A6188}"/>
              </a:ext>
            </a:extLst>
          </p:cNvPr>
          <p:cNvSpPr txBox="1"/>
          <p:nvPr/>
        </p:nvSpPr>
        <p:spPr>
          <a:xfrm>
            <a:off x="6415493" y="2275339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Logits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B4743197-8878-762F-10B4-CFFF9CD39611}"/>
              </a:ext>
            </a:extLst>
          </p:cNvPr>
          <p:cNvSpPr txBox="1"/>
          <p:nvPr/>
        </p:nvSpPr>
        <p:spPr>
          <a:xfrm>
            <a:off x="3777816" y="3254186"/>
            <a:ext cx="12963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Example</a:t>
            </a:r>
          </a:p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Vocab</a:t>
            </a:r>
          </a:p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(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假設只有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5</a:t>
            </a:r>
            <a:r>
              <a:rPr kumimoji="1" lang="zh-TW" altLang="en-US" sz="2000" dirty="0">
                <a:ea typeface="Microsoft JhengHei" panose="020B0604030504040204" pitchFamily="34" charset="-120"/>
              </a:rPr>
              <a:t>個字</a:t>
            </a:r>
            <a:r>
              <a:rPr kumimoji="1" lang="en-US" altLang="zh-TW" sz="2000" dirty="0">
                <a:ea typeface="Microsoft JhengHei" panose="020B0604030504040204" pitchFamily="34" charset="-120"/>
              </a:rPr>
              <a:t>)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4A9B04ED-8AED-AF03-3644-47CD75ABA4D8}"/>
              </a:ext>
            </a:extLst>
          </p:cNvPr>
          <p:cNvSpPr txBox="1"/>
          <p:nvPr/>
        </p:nvSpPr>
        <p:spPr>
          <a:xfrm>
            <a:off x="7563400" y="2736161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0.78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0.11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0.03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0.02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0.06</a:t>
            </a:r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86B0476A-0ABE-50C3-447B-72A2519D2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>
            <a:normAutofit fontScale="90000"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and Cross-entropy (2)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7AFCADAD-B29A-3DDF-772F-9FCC70A7124A}"/>
              </a:ext>
            </a:extLst>
          </p:cNvPr>
          <p:cNvSpPr txBox="1"/>
          <p:nvPr/>
        </p:nvSpPr>
        <p:spPr>
          <a:xfrm>
            <a:off x="7460792" y="2263839"/>
            <a:ext cx="1406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取 </a:t>
            </a:r>
            <a:r>
              <a:rPr kumimoji="1" lang="en-US" altLang="zh-TW" dirty="0" err="1"/>
              <a:t>Softmax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後之機率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70CA918D-83CC-97FE-148A-5B38D4CE4A86}"/>
              </a:ext>
            </a:extLst>
          </p:cNvPr>
          <p:cNvSpPr txBox="1"/>
          <p:nvPr/>
        </p:nvSpPr>
        <p:spPr>
          <a:xfrm>
            <a:off x="8665229" y="2336121"/>
            <a:ext cx="14061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正確答案</a:t>
            </a:r>
            <a:endParaRPr kumimoji="1"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F796932E-DA86-A834-22A2-F18A1200C0B1}"/>
              </a:ext>
            </a:extLst>
          </p:cNvPr>
          <p:cNvSpPr txBox="1"/>
          <p:nvPr/>
        </p:nvSpPr>
        <p:spPr>
          <a:xfrm>
            <a:off x="713500" y="1994652"/>
            <a:ext cx="3133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dirty="0">
                <a:ea typeface="Microsoft JhengHei" panose="020B0604030504040204" pitchFamily="34" charset="-120"/>
              </a:rPr>
              <a:t> 在</a:t>
            </a:r>
            <a:r>
              <a:rPr kumimoji="1" lang="en-US" altLang="zh-TW" dirty="0">
                <a:ea typeface="Microsoft JhengHei" panose="020B0604030504040204" pitchFamily="34" charset="-120"/>
              </a:rPr>
              <a:t> t </a:t>
            </a:r>
            <a:r>
              <a:rPr kumimoji="1" lang="zh-TW" altLang="en-US" dirty="0">
                <a:ea typeface="Microsoft JhengHei" panose="020B0604030504040204" pitchFamily="34" charset="-120"/>
              </a:rPr>
              <a:t>時間點的正確答案是 </a:t>
            </a:r>
            <a:r>
              <a:rPr kumimoji="1" lang="en-US" altLang="zh-TW" dirty="0">
                <a:ea typeface="Microsoft JhengHei" panose="020B0604030504040204" pitchFamily="34" charset="-120"/>
              </a:rPr>
              <a:t>t+1</a:t>
            </a:r>
            <a:r>
              <a:rPr kumimoji="1" lang="zh-TW" altLang="en-US" dirty="0">
                <a:ea typeface="Microsoft JhengHei" panose="020B0604030504040204" pitchFamily="34" charset="-120"/>
              </a:rPr>
              <a:t> 的字詞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5D7E8F12-4FAA-5840-CBE1-E7818E26BEE0}"/>
              </a:ext>
            </a:extLst>
          </p:cNvPr>
          <p:cNvSpPr txBox="1"/>
          <p:nvPr/>
        </p:nvSpPr>
        <p:spPr>
          <a:xfrm>
            <a:off x="1318875" y="3144752"/>
            <a:ext cx="1726651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I</a:t>
            </a:r>
            <a:r>
              <a:rPr kumimoji="1" lang="zh-TW" altLang="en-US" sz="2400" dirty="0"/>
              <a:t> </a:t>
            </a:r>
            <a:r>
              <a:rPr kumimoji="1" lang="en-US" altLang="zh-TW" sz="2400" dirty="0"/>
              <a:t>love </a:t>
            </a:r>
            <a:r>
              <a:rPr kumimoji="1" lang="en-US" altLang="zh-TW" sz="2400" dirty="0">
                <a:solidFill>
                  <a:schemeClr val="bg1">
                    <a:lumMod val="75000"/>
                  </a:schemeClr>
                </a:solidFill>
                <a:ea typeface="Microsoft JhengHei" panose="020B0604030504040204" pitchFamily="34" charset="-120"/>
              </a:rPr>
              <a:t>CGU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09D7DF4-B675-533A-657A-001DDECC3B07}"/>
              </a:ext>
            </a:extLst>
          </p:cNvPr>
          <p:cNvSpPr txBox="1"/>
          <p:nvPr/>
        </p:nvSpPr>
        <p:spPr>
          <a:xfrm>
            <a:off x="1667528" y="3689641"/>
            <a:ext cx="336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270F0F5-B102-51A9-70CB-7EE46B4E2C88}"/>
              </a:ext>
            </a:extLst>
          </p:cNvPr>
          <p:cNvSpPr txBox="1"/>
          <p:nvPr/>
        </p:nvSpPr>
        <p:spPr>
          <a:xfrm>
            <a:off x="2182200" y="3689641"/>
            <a:ext cx="593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ea typeface="Microsoft JhengHei" panose="020B0604030504040204" pitchFamily="34" charset="-120"/>
              </a:rPr>
              <a:t>t+1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CED41630-608F-C98E-E884-FCDFBA35889F}"/>
              </a:ext>
            </a:extLst>
          </p:cNvPr>
          <p:cNvSpPr txBox="1"/>
          <p:nvPr/>
        </p:nvSpPr>
        <p:spPr>
          <a:xfrm>
            <a:off x="6360759" y="2718047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0.0011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0.0012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0.0013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0.0014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0.0015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368F85E-C0C3-1861-8E3A-112234521778}"/>
              </a:ext>
            </a:extLst>
          </p:cNvPr>
          <p:cNvSpPr txBox="1"/>
          <p:nvPr/>
        </p:nvSpPr>
        <p:spPr>
          <a:xfrm>
            <a:off x="8704649" y="2736160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1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3B916830-494D-4054-555A-596CE8689BB5}"/>
              </a:ext>
            </a:extLst>
          </p:cNvPr>
          <p:cNvSpPr txBox="1"/>
          <p:nvPr/>
        </p:nvSpPr>
        <p:spPr>
          <a:xfrm>
            <a:off x="10349263" y="3866896"/>
            <a:ext cx="10637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Times New Roman" panose="02020603050405020304" pitchFamily="18" charset="0"/>
                <a:ea typeface="Microsoft JhengHei" panose="020B0604030504040204" pitchFamily="34" charset="-120"/>
                <a:cs typeface="Times New Roman" panose="02020603050405020304" pitchFamily="18" charset="0"/>
              </a:rPr>
              <a:t>Cross-entropy</a:t>
            </a:r>
            <a:endParaRPr kumimoji="1" lang="zh-TW" altLang="en-US" dirty="0">
              <a:latin typeface="Times New Roman" panose="02020603050405020304" pitchFamily="18" charset="0"/>
              <a:ea typeface="Microsoft JhengHei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8" name="向右箭號 27">
            <a:extLst>
              <a:ext uri="{FF2B5EF4-FFF2-40B4-BE49-F238E27FC236}">
                <a16:creationId xmlns:a16="http://schemas.microsoft.com/office/drawing/2014/main" id="{1030D4C7-9CEA-7CCB-3917-A565B274C52E}"/>
              </a:ext>
            </a:extLst>
          </p:cNvPr>
          <p:cNvSpPr/>
          <p:nvPr/>
        </p:nvSpPr>
        <p:spPr>
          <a:xfrm>
            <a:off x="9894518" y="4031233"/>
            <a:ext cx="322729" cy="31765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388821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  <p:bldP spid="9" grpId="0"/>
      <p:bldP spid="16" grpId="0"/>
      <p:bldP spid="19" grpId="0"/>
      <p:bldP spid="20" grpId="0"/>
      <p:bldP spid="22" grpId="0"/>
      <p:bldP spid="23" grpId="0"/>
      <p:bldP spid="24" grpId="0"/>
      <p:bldP spid="25" grpId="0"/>
      <p:bldP spid="26" grpId="0"/>
      <p:bldP spid="27" grpId="0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C202FB-6BC0-34FB-D56F-AEAF4FC1F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常見</a:t>
            </a:r>
            <a:r>
              <a:rPr kumimoji="1" lang="en-US" altLang="zh-TW" dirty="0"/>
              <a:t> Language Models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69D133-9077-1833-8D05-851020542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5" name="文字方塊 2">
            <a:extLst>
              <a:ext uri="{FF2B5EF4-FFF2-40B4-BE49-F238E27FC236}">
                <a16:creationId xmlns:a16="http://schemas.microsoft.com/office/drawing/2014/main" id="{35194AD4-600B-AFA3-C393-D0C1290A3E51}"/>
              </a:ext>
            </a:extLst>
          </p:cNvPr>
          <p:cNvSpPr txBox="1"/>
          <p:nvPr/>
        </p:nvSpPr>
        <p:spPr>
          <a:xfrm>
            <a:off x="746660" y="1850666"/>
            <a:ext cx="4905993" cy="959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💡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Language Models: </a:t>
            </a: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透過 </a:t>
            </a:r>
            <a:r>
              <a:rPr kumimoji="1" lang="en-US" altLang="zh-TW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Language Modeling</a:t>
            </a:r>
            <a:r>
              <a:rPr kumimoji="1" lang="zh-TW" altLang="en-US" sz="2000" b="1" dirty="0">
                <a:solidFill>
                  <a:srgbClr val="00B050"/>
                </a:solidFill>
                <a:ea typeface="Microsoft JhengHei" panose="020B0604030504040204" pitchFamily="34" charset="-120"/>
              </a:rPr>
              <a:t> 去預測詞彙機率分佈的模型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23FF1C39-892D-65FF-7409-259C8CBEE11C}"/>
              </a:ext>
            </a:extLst>
          </p:cNvPr>
          <p:cNvSpPr/>
          <p:nvPr/>
        </p:nvSpPr>
        <p:spPr>
          <a:xfrm>
            <a:off x="1042767" y="3429000"/>
            <a:ext cx="1327077" cy="56735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7DE7F2E3-2F2A-E30C-D7D5-E9CE0A235633}"/>
              </a:ext>
            </a:extLst>
          </p:cNvPr>
          <p:cNvSpPr/>
          <p:nvPr/>
        </p:nvSpPr>
        <p:spPr>
          <a:xfrm>
            <a:off x="1042766" y="4323348"/>
            <a:ext cx="1805299" cy="56735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Transformer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17E955D4-BD45-F2E0-8C6B-ED07B98C0708}"/>
              </a:ext>
            </a:extLst>
          </p:cNvPr>
          <p:cNvSpPr/>
          <p:nvPr/>
        </p:nvSpPr>
        <p:spPr>
          <a:xfrm>
            <a:off x="1042766" y="5217696"/>
            <a:ext cx="1805299" cy="56735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GPT-series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BF0DF79-9FBA-437F-509B-A59B32A88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7694" y="1548119"/>
            <a:ext cx="3619047" cy="5159829"/>
          </a:xfrm>
          <a:prstGeom prst="rect">
            <a:avLst/>
          </a:prstGeom>
        </p:spPr>
      </p:pic>
      <p:sp>
        <p:nvSpPr>
          <p:cNvPr id="9" name="橢圓 8">
            <a:extLst>
              <a:ext uri="{FF2B5EF4-FFF2-40B4-BE49-F238E27FC236}">
                <a16:creationId xmlns:a16="http://schemas.microsoft.com/office/drawing/2014/main" id="{849A8796-0AC9-501B-8101-86BDF8FEE9C0}"/>
              </a:ext>
            </a:extLst>
          </p:cNvPr>
          <p:cNvSpPr/>
          <p:nvPr/>
        </p:nvSpPr>
        <p:spPr>
          <a:xfrm>
            <a:off x="7678882" y="1465119"/>
            <a:ext cx="1381991" cy="51954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2C907AF-3FE2-6FED-C77A-9397C3810897}"/>
              </a:ext>
            </a:extLst>
          </p:cNvPr>
          <p:cNvSpPr/>
          <p:nvPr/>
        </p:nvSpPr>
        <p:spPr>
          <a:xfrm>
            <a:off x="5947694" y="3075709"/>
            <a:ext cx="1784516" cy="3704976"/>
          </a:xfrm>
          <a:prstGeom prst="rect">
            <a:avLst/>
          </a:prstGeom>
          <a:solidFill>
            <a:schemeClr val="bg1">
              <a:lumMod val="75000"/>
              <a:alpha val="83438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1992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34D9DE-E048-4FF3-1B33-51FA3D442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Language Models </a:t>
            </a:r>
            <a:r>
              <a:rPr kumimoji="1" lang="zh-TW" altLang="en-US" dirty="0"/>
              <a:t>終究是 </a:t>
            </a:r>
            <a:r>
              <a:rPr kumimoji="1" lang="en-US" altLang="zh-TW" dirty="0"/>
              <a:t>left-to-right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AED01C8-2872-5C1F-76D2-FE9BFAA78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7E11F5A-D18F-EF3C-CEBF-6A742C2F4538}"/>
              </a:ext>
            </a:extLst>
          </p:cNvPr>
          <p:cNvSpPr/>
          <p:nvPr/>
        </p:nvSpPr>
        <p:spPr>
          <a:xfrm>
            <a:off x="1705598" y="4233397"/>
            <a:ext cx="4055873" cy="94155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Decoder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CA821E23-F199-3CA1-E0F8-86A351755970}"/>
              </a:ext>
            </a:extLst>
          </p:cNvPr>
          <p:cNvSpPr/>
          <p:nvPr/>
        </p:nvSpPr>
        <p:spPr>
          <a:xfrm>
            <a:off x="1742992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_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83893E3B-E7BC-CD5A-0E94-F5C831576A3A}"/>
              </a:ext>
            </a:extLst>
          </p:cNvPr>
          <p:cNvSpPr/>
          <p:nvPr/>
        </p:nvSpPr>
        <p:spPr>
          <a:xfrm>
            <a:off x="2248968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F4898CCC-85B4-6CCC-3907-E27D5C85B1E0}"/>
              </a:ext>
            </a:extLst>
          </p:cNvPr>
          <p:cNvSpPr/>
          <p:nvPr/>
        </p:nvSpPr>
        <p:spPr>
          <a:xfrm>
            <a:off x="4778846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75546552-1B10-A003-8AAD-C28E8C50B044}"/>
              </a:ext>
            </a:extLst>
          </p:cNvPr>
          <p:cNvSpPr/>
          <p:nvPr/>
        </p:nvSpPr>
        <p:spPr>
          <a:xfrm>
            <a:off x="5284821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FA71AC1A-6681-83ED-C227-712BEBB50F8A}"/>
              </a:ext>
            </a:extLst>
          </p:cNvPr>
          <p:cNvSpPr/>
          <p:nvPr/>
        </p:nvSpPr>
        <p:spPr>
          <a:xfrm>
            <a:off x="2754944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23EFEED1-6ACC-898C-1952-9B513E31D683}"/>
              </a:ext>
            </a:extLst>
          </p:cNvPr>
          <p:cNvSpPr/>
          <p:nvPr/>
        </p:nvSpPr>
        <p:spPr>
          <a:xfrm>
            <a:off x="3260919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AB07FE92-7393-670D-7BED-1B62676FC264}"/>
              </a:ext>
            </a:extLst>
          </p:cNvPr>
          <p:cNvSpPr/>
          <p:nvPr/>
        </p:nvSpPr>
        <p:spPr>
          <a:xfrm>
            <a:off x="3766895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5F04C0BC-02B9-76C3-464B-07E0B4B2B068}"/>
              </a:ext>
            </a:extLst>
          </p:cNvPr>
          <p:cNvSpPr/>
          <p:nvPr/>
        </p:nvSpPr>
        <p:spPr>
          <a:xfrm>
            <a:off x="4272871" y="5548015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52CC6764-6478-507E-4DD5-EF20B4EB6E5D}"/>
              </a:ext>
            </a:extLst>
          </p:cNvPr>
          <p:cNvCxnSpPr>
            <a:cxnSpLocks/>
          </p:cNvCxnSpPr>
          <p:nvPr/>
        </p:nvCxnSpPr>
        <p:spPr>
          <a:xfrm flipV="1">
            <a:off x="1977642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D9CC5F07-EDC0-6CFB-09D9-9C4CD1B5DCD8}"/>
              </a:ext>
            </a:extLst>
          </p:cNvPr>
          <p:cNvCxnSpPr>
            <a:cxnSpLocks/>
          </p:cNvCxnSpPr>
          <p:nvPr/>
        </p:nvCxnSpPr>
        <p:spPr>
          <a:xfrm flipV="1">
            <a:off x="2480896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1EA07DE7-02AD-D084-A4B2-F8C3D393C18E}"/>
              </a:ext>
            </a:extLst>
          </p:cNvPr>
          <p:cNvCxnSpPr>
            <a:cxnSpLocks/>
          </p:cNvCxnSpPr>
          <p:nvPr/>
        </p:nvCxnSpPr>
        <p:spPr>
          <a:xfrm flipV="1">
            <a:off x="2984149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6507B20F-EEA8-D1EF-CFE8-C3E1CC011158}"/>
              </a:ext>
            </a:extLst>
          </p:cNvPr>
          <p:cNvCxnSpPr>
            <a:cxnSpLocks/>
          </p:cNvCxnSpPr>
          <p:nvPr/>
        </p:nvCxnSpPr>
        <p:spPr>
          <a:xfrm flipV="1">
            <a:off x="3487404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9294E3E5-B978-E1A1-6268-87DCFA562D1D}"/>
              </a:ext>
            </a:extLst>
          </p:cNvPr>
          <p:cNvCxnSpPr>
            <a:cxnSpLocks/>
          </p:cNvCxnSpPr>
          <p:nvPr/>
        </p:nvCxnSpPr>
        <p:spPr>
          <a:xfrm flipV="1">
            <a:off x="3990657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DB0F2A45-A557-F436-2293-8DAEA62ECD90}"/>
              </a:ext>
            </a:extLst>
          </p:cNvPr>
          <p:cNvCxnSpPr>
            <a:cxnSpLocks/>
          </p:cNvCxnSpPr>
          <p:nvPr/>
        </p:nvCxnSpPr>
        <p:spPr>
          <a:xfrm flipV="1">
            <a:off x="4493911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2B5644B-9940-3A68-2B91-CE77B606946C}"/>
              </a:ext>
            </a:extLst>
          </p:cNvPr>
          <p:cNvCxnSpPr>
            <a:cxnSpLocks/>
          </p:cNvCxnSpPr>
          <p:nvPr/>
        </p:nvCxnSpPr>
        <p:spPr>
          <a:xfrm flipV="1">
            <a:off x="4997164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31EC7936-E7BF-B0F7-F548-D61F1B550C24}"/>
              </a:ext>
            </a:extLst>
          </p:cNvPr>
          <p:cNvCxnSpPr>
            <a:cxnSpLocks/>
          </p:cNvCxnSpPr>
          <p:nvPr/>
        </p:nvCxnSpPr>
        <p:spPr>
          <a:xfrm flipV="1">
            <a:off x="5500420" y="5236554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73D71CFE-17DC-8B5E-031F-6B96E9B803AF}"/>
                  </a:ext>
                </a:extLst>
              </p:cNvPr>
              <p:cNvSpPr/>
              <p:nvPr/>
            </p:nvSpPr>
            <p:spPr>
              <a:xfrm>
                <a:off x="2754944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圓角矩形 21">
                <a:extLst>
                  <a:ext uri="{FF2B5EF4-FFF2-40B4-BE49-F238E27FC236}">
                    <a16:creationId xmlns:a16="http://schemas.microsoft.com/office/drawing/2014/main" id="{73D71CFE-17DC-8B5E-031F-6B96E9B803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4944" y="3507588"/>
                <a:ext cx="448780" cy="375953"/>
              </a:xfrm>
              <a:prstGeom prst="roundRect">
                <a:avLst/>
              </a:prstGeom>
              <a:blipFill>
                <a:blip r:embed="rId3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6A3E5A9E-1B42-737D-2A6D-2DAAB995C17F}"/>
                  </a:ext>
                </a:extLst>
              </p:cNvPr>
              <p:cNvSpPr/>
              <p:nvPr/>
            </p:nvSpPr>
            <p:spPr>
              <a:xfrm>
                <a:off x="3260919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圓角矩形 22">
                <a:extLst>
                  <a:ext uri="{FF2B5EF4-FFF2-40B4-BE49-F238E27FC236}">
                    <a16:creationId xmlns:a16="http://schemas.microsoft.com/office/drawing/2014/main" id="{6A3E5A9E-1B42-737D-2A6D-2DAAB995C1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0919" y="3507588"/>
                <a:ext cx="448780" cy="375953"/>
              </a:xfrm>
              <a:prstGeom prst="roundRect">
                <a:avLst/>
              </a:prstGeom>
              <a:blipFill>
                <a:blip r:embed="rId4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8D27990B-54FF-2CE1-E6FC-41B62D8FE20E}"/>
                  </a:ext>
                </a:extLst>
              </p:cNvPr>
              <p:cNvSpPr/>
              <p:nvPr/>
            </p:nvSpPr>
            <p:spPr>
              <a:xfrm>
                <a:off x="3766895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8D27990B-54FF-2CE1-E6FC-41B62D8FE2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6895" y="3507588"/>
                <a:ext cx="448780" cy="375953"/>
              </a:xfrm>
              <a:prstGeom prst="roundRect">
                <a:avLst/>
              </a:prstGeom>
              <a:blipFill>
                <a:blip r:embed="rId5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DCADA5FD-A1C3-0F9C-E586-24F6C71768E6}"/>
                  </a:ext>
                </a:extLst>
              </p:cNvPr>
              <p:cNvSpPr/>
              <p:nvPr/>
            </p:nvSpPr>
            <p:spPr>
              <a:xfrm>
                <a:off x="4272871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圓角矩形 24">
                <a:extLst>
                  <a:ext uri="{FF2B5EF4-FFF2-40B4-BE49-F238E27FC236}">
                    <a16:creationId xmlns:a16="http://schemas.microsoft.com/office/drawing/2014/main" id="{DCADA5FD-A1C3-0F9C-E586-24F6C71768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2871" y="3507588"/>
                <a:ext cx="448780" cy="375953"/>
              </a:xfrm>
              <a:prstGeom prst="roundRect">
                <a:avLst/>
              </a:prstGeom>
              <a:blipFill>
                <a:blip r:embed="rId6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97297D41-E37A-CE9C-33FE-0B818B43B7B8}"/>
              </a:ext>
            </a:extLst>
          </p:cNvPr>
          <p:cNvCxnSpPr>
            <a:cxnSpLocks/>
          </p:cNvCxnSpPr>
          <p:nvPr/>
        </p:nvCxnSpPr>
        <p:spPr>
          <a:xfrm flipV="1">
            <a:off x="2984149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5A8D68EE-435F-EF1A-57FE-334927C0A395}"/>
              </a:ext>
            </a:extLst>
          </p:cNvPr>
          <p:cNvCxnSpPr>
            <a:cxnSpLocks/>
          </p:cNvCxnSpPr>
          <p:nvPr/>
        </p:nvCxnSpPr>
        <p:spPr>
          <a:xfrm flipV="1">
            <a:off x="3487404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A0C2F715-74D1-1EDE-5DBC-ADA1AC423D6D}"/>
              </a:ext>
            </a:extLst>
          </p:cNvPr>
          <p:cNvCxnSpPr>
            <a:cxnSpLocks/>
          </p:cNvCxnSpPr>
          <p:nvPr/>
        </p:nvCxnSpPr>
        <p:spPr>
          <a:xfrm flipV="1">
            <a:off x="3990657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6292DF07-172E-D5A3-485E-7CFD38F50669}"/>
              </a:ext>
            </a:extLst>
          </p:cNvPr>
          <p:cNvCxnSpPr>
            <a:cxnSpLocks/>
          </p:cNvCxnSpPr>
          <p:nvPr/>
        </p:nvCxnSpPr>
        <p:spPr>
          <a:xfrm flipV="1">
            <a:off x="4493911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67">
            <a:extLst>
              <a:ext uri="{FF2B5EF4-FFF2-40B4-BE49-F238E27FC236}">
                <a16:creationId xmlns:a16="http://schemas.microsoft.com/office/drawing/2014/main" id="{585DA97F-99CC-A251-DB9B-74DFE4452E0C}"/>
              </a:ext>
            </a:extLst>
          </p:cNvPr>
          <p:cNvSpPr txBox="1"/>
          <p:nvPr/>
        </p:nvSpPr>
        <p:spPr>
          <a:xfrm>
            <a:off x="1588331" y="5920636"/>
            <a:ext cx="7786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200" dirty="0"/>
              <a:t>(Start)</a:t>
            </a:r>
            <a:endParaRPr kumimoji="1"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圓角矩形 30">
                <a:extLst>
                  <a:ext uri="{FF2B5EF4-FFF2-40B4-BE49-F238E27FC236}">
                    <a16:creationId xmlns:a16="http://schemas.microsoft.com/office/drawing/2014/main" id="{7C133861-1F11-B8FC-504E-5DF37832BD88}"/>
                  </a:ext>
                </a:extLst>
              </p:cNvPr>
              <p:cNvSpPr/>
              <p:nvPr/>
            </p:nvSpPr>
            <p:spPr>
              <a:xfrm>
                <a:off x="2245232" y="3507588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圓角矩形 30">
                <a:extLst>
                  <a:ext uri="{FF2B5EF4-FFF2-40B4-BE49-F238E27FC236}">
                    <a16:creationId xmlns:a16="http://schemas.microsoft.com/office/drawing/2014/main" id="{7C133861-1F11-B8FC-504E-5DF37832BD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5232" y="3507588"/>
                <a:ext cx="448780" cy="375953"/>
              </a:xfrm>
              <a:prstGeom prst="roundRect">
                <a:avLst/>
              </a:prstGeom>
              <a:blipFill>
                <a:blip r:embed="rId7"/>
                <a:stretch>
                  <a:fillRect b="-9375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C3BE99A1-F85D-50CF-E74F-496136B0EE20}"/>
              </a:ext>
            </a:extLst>
          </p:cNvPr>
          <p:cNvCxnSpPr>
            <a:cxnSpLocks/>
          </p:cNvCxnSpPr>
          <p:nvPr/>
        </p:nvCxnSpPr>
        <p:spPr>
          <a:xfrm flipV="1">
            <a:off x="2474439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圓角矩形 32">
                <a:extLst>
                  <a:ext uri="{FF2B5EF4-FFF2-40B4-BE49-F238E27FC236}">
                    <a16:creationId xmlns:a16="http://schemas.microsoft.com/office/drawing/2014/main" id="{5A05ADE9-2D97-A05E-8A81-DB2F7E136E1F}"/>
                  </a:ext>
                </a:extLst>
              </p:cNvPr>
              <p:cNvSpPr/>
              <p:nvPr/>
            </p:nvSpPr>
            <p:spPr>
              <a:xfrm>
                <a:off x="4778846" y="3502304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圓角矩形 32">
                <a:extLst>
                  <a:ext uri="{FF2B5EF4-FFF2-40B4-BE49-F238E27FC236}">
                    <a16:creationId xmlns:a16="http://schemas.microsoft.com/office/drawing/2014/main" id="{5A05ADE9-2D97-A05E-8A81-DB2F7E136E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8846" y="3502304"/>
                <a:ext cx="448780" cy="375953"/>
              </a:xfrm>
              <a:prstGeom prst="roundRect">
                <a:avLst/>
              </a:prstGeom>
              <a:blipFill>
                <a:blip r:embed="rId8"/>
                <a:stretch>
                  <a:fillRect b="-625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2475E79F-48DE-9209-0580-B79AD575C254}"/>
              </a:ext>
            </a:extLst>
          </p:cNvPr>
          <p:cNvCxnSpPr>
            <a:cxnSpLocks/>
          </p:cNvCxnSpPr>
          <p:nvPr/>
        </p:nvCxnSpPr>
        <p:spPr>
          <a:xfrm flipV="1">
            <a:off x="5008052" y="392892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091AC2BF-5E77-E7C0-1F2D-38B4880EC537}"/>
                  </a:ext>
                </a:extLst>
              </p:cNvPr>
              <p:cNvSpPr/>
              <p:nvPr/>
            </p:nvSpPr>
            <p:spPr>
              <a:xfrm>
                <a:off x="5284821" y="3502304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圓角矩形 34">
                <a:extLst>
                  <a:ext uri="{FF2B5EF4-FFF2-40B4-BE49-F238E27FC236}">
                    <a16:creationId xmlns:a16="http://schemas.microsoft.com/office/drawing/2014/main" id="{091AC2BF-5E77-E7C0-1F2D-38B4880EC5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4821" y="3502304"/>
                <a:ext cx="448780" cy="375953"/>
              </a:xfrm>
              <a:prstGeom prst="roundRect">
                <a:avLst/>
              </a:prstGeom>
              <a:blipFill>
                <a:blip r:embed="rId9"/>
                <a:stretch>
                  <a:fillRect b="-625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920B818E-CFA1-7700-65E1-52C52F8C18FC}"/>
              </a:ext>
            </a:extLst>
          </p:cNvPr>
          <p:cNvCxnSpPr>
            <a:cxnSpLocks/>
          </p:cNvCxnSpPr>
          <p:nvPr/>
        </p:nvCxnSpPr>
        <p:spPr>
          <a:xfrm flipV="1">
            <a:off x="5514027" y="3928927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圓角矩形 36">
                <a:extLst>
                  <a:ext uri="{FF2B5EF4-FFF2-40B4-BE49-F238E27FC236}">
                    <a16:creationId xmlns:a16="http://schemas.microsoft.com/office/drawing/2014/main" id="{ECD230C5-B50A-004F-E2A0-2BD942370963}"/>
                  </a:ext>
                </a:extLst>
              </p:cNvPr>
              <p:cNvSpPr/>
              <p:nvPr/>
            </p:nvSpPr>
            <p:spPr>
              <a:xfrm>
                <a:off x="1735520" y="3502304"/>
                <a:ext cx="448780" cy="375953"/>
              </a:xfrm>
              <a:prstGeom prst="roundRect">
                <a:avLst/>
              </a:prstGeom>
              <a:solidFill>
                <a:srgbClr val="C5E0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kumimoji="1"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圓角矩形 36">
                <a:extLst>
                  <a:ext uri="{FF2B5EF4-FFF2-40B4-BE49-F238E27FC236}">
                    <a16:creationId xmlns:a16="http://schemas.microsoft.com/office/drawing/2014/main" id="{ECD230C5-B50A-004F-E2A0-2BD9423709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5520" y="3502304"/>
                <a:ext cx="448780" cy="375953"/>
              </a:xfrm>
              <a:prstGeom prst="roundRect">
                <a:avLst/>
              </a:prstGeom>
              <a:blipFill>
                <a:blip r:embed="rId10"/>
                <a:stretch>
                  <a:fillRect b="-625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直線箭頭接點 37">
            <a:extLst>
              <a:ext uri="{FF2B5EF4-FFF2-40B4-BE49-F238E27FC236}">
                <a16:creationId xmlns:a16="http://schemas.microsoft.com/office/drawing/2014/main" id="{C8E57D72-8417-2DCC-3C3F-B283E10E0506}"/>
              </a:ext>
            </a:extLst>
          </p:cNvPr>
          <p:cNvCxnSpPr>
            <a:cxnSpLocks/>
          </p:cNvCxnSpPr>
          <p:nvPr/>
        </p:nvCxnSpPr>
        <p:spPr>
          <a:xfrm flipV="1">
            <a:off x="1977642" y="3934211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553DBA92-7DAA-0768-80D2-10D883615E52}"/>
              </a:ext>
            </a:extLst>
          </p:cNvPr>
          <p:cNvSpPr/>
          <p:nvPr/>
        </p:nvSpPr>
        <p:spPr>
          <a:xfrm>
            <a:off x="1743921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0" name="圓角矩形 39">
            <a:extLst>
              <a:ext uri="{FF2B5EF4-FFF2-40B4-BE49-F238E27FC236}">
                <a16:creationId xmlns:a16="http://schemas.microsoft.com/office/drawing/2014/main" id="{C9DFD210-6286-27DF-8D00-F92967960059}"/>
              </a:ext>
            </a:extLst>
          </p:cNvPr>
          <p:cNvSpPr/>
          <p:nvPr/>
        </p:nvSpPr>
        <p:spPr>
          <a:xfrm>
            <a:off x="4273799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1" name="圓角矩形 40">
            <a:extLst>
              <a:ext uri="{FF2B5EF4-FFF2-40B4-BE49-F238E27FC236}">
                <a16:creationId xmlns:a16="http://schemas.microsoft.com/office/drawing/2014/main" id="{12D4FFA5-E069-5132-0252-C9440426B00B}"/>
              </a:ext>
            </a:extLst>
          </p:cNvPr>
          <p:cNvSpPr/>
          <p:nvPr/>
        </p:nvSpPr>
        <p:spPr>
          <a:xfrm>
            <a:off x="4779774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E4E53AC8-CA3F-F889-7A24-4FEF67F8FB30}"/>
              </a:ext>
            </a:extLst>
          </p:cNvPr>
          <p:cNvSpPr/>
          <p:nvPr/>
        </p:nvSpPr>
        <p:spPr>
          <a:xfrm>
            <a:off x="2249897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0FC23321-FC0E-086A-A81C-1AD8E45C459F}"/>
              </a:ext>
            </a:extLst>
          </p:cNvPr>
          <p:cNvSpPr/>
          <p:nvPr/>
        </p:nvSpPr>
        <p:spPr>
          <a:xfrm>
            <a:off x="2755872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4" name="圓角矩形 43">
            <a:extLst>
              <a:ext uri="{FF2B5EF4-FFF2-40B4-BE49-F238E27FC236}">
                <a16:creationId xmlns:a16="http://schemas.microsoft.com/office/drawing/2014/main" id="{296D0F49-ED38-2C87-075D-EE8E39BFDC08}"/>
              </a:ext>
            </a:extLst>
          </p:cNvPr>
          <p:cNvSpPr/>
          <p:nvPr/>
        </p:nvSpPr>
        <p:spPr>
          <a:xfrm>
            <a:off x="3261848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圓角矩形 44">
            <a:extLst>
              <a:ext uri="{FF2B5EF4-FFF2-40B4-BE49-F238E27FC236}">
                <a16:creationId xmlns:a16="http://schemas.microsoft.com/office/drawing/2014/main" id="{7423AF29-B7FA-C06B-210D-2C620D37F568}"/>
              </a:ext>
            </a:extLst>
          </p:cNvPr>
          <p:cNvSpPr/>
          <p:nvPr/>
        </p:nvSpPr>
        <p:spPr>
          <a:xfrm>
            <a:off x="3767824" y="241896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圓角矩形 45">
            <a:extLst>
              <a:ext uri="{FF2B5EF4-FFF2-40B4-BE49-F238E27FC236}">
                <a16:creationId xmlns:a16="http://schemas.microsoft.com/office/drawing/2014/main" id="{0904B468-014C-98DD-E154-1ECB36EA3A9B}"/>
              </a:ext>
            </a:extLst>
          </p:cNvPr>
          <p:cNvSpPr/>
          <p:nvPr/>
        </p:nvSpPr>
        <p:spPr>
          <a:xfrm>
            <a:off x="5284821" y="2413309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8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上-下雙向箭號 46">
            <a:extLst>
              <a:ext uri="{FF2B5EF4-FFF2-40B4-BE49-F238E27FC236}">
                <a16:creationId xmlns:a16="http://schemas.microsoft.com/office/drawing/2014/main" id="{FEE2EFC4-30D8-48ED-C0BC-61FE655BA220}"/>
              </a:ext>
            </a:extLst>
          </p:cNvPr>
          <p:cNvSpPr/>
          <p:nvPr/>
        </p:nvSpPr>
        <p:spPr>
          <a:xfrm>
            <a:off x="1872480" y="2836782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上-下雙向箭號 47">
            <a:extLst>
              <a:ext uri="{FF2B5EF4-FFF2-40B4-BE49-F238E27FC236}">
                <a16:creationId xmlns:a16="http://schemas.microsoft.com/office/drawing/2014/main" id="{94342D6D-402B-BF3D-088E-6A550D348A27}"/>
              </a:ext>
            </a:extLst>
          </p:cNvPr>
          <p:cNvSpPr/>
          <p:nvPr/>
        </p:nvSpPr>
        <p:spPr>
          <a:xfrm>
            <a:off x="2393466" y="2836782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9" name="上-下雙向箭號 48">
            <a:extLst>
              <a:ext uri="{FF2B5EF4-FFF2-40B4-BE49-F238E27FC236}">
                <a16:creationId xmlns:a16="http://schemas.microsoft.com/office/drawing/2014/main" id="{AE3BFD3D-DD51-31A8-68DD-2CC4BDD6B63D}"/>
              </a:ext>
            </a:extLst>
          </p:cNvPr>
          <p:cNvSpPr/>
          <p:nvPr/>
        </p:nvSpPr>
        <p:spPr>
          <a:xfrm>
            <a:off x="2896719" y="2836782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0" name="上-下雙向箭號 49">
            <a:extLst>
              <a:ext uri="{FF2B5EF4-FFF2-40B4-BE49-F238E27FC236}">
                <a16:creationId xmlns:a16="http://schemas.microsoft.com/office/drawing/2014/main" id="{62632BED-5A3E-45A1-5812-40154201BE93}"/>
              </a:ext>
            </a:extLst>
          </p:cNvPr>
          <p:cNvSpPr/>
          <p:nvPr/>
        </p:nvSpPr>
        <p:spPr>
          <a:xfrm>
            <a:off x="3397879" y="2837552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1" name="上-下雙向箭號 50">
            <a:extLst>
              <a:ext uri="{FF2B5EF4-FFF2-40B4-BE49-F238E27FC236}">
                <a16:creationId xmlns:a16="http://schemas.microsoft.com/office/drawing/2014/main" id="{DBFDA0FC-7933-D42C-22FA-FAB603ED5F0C}"/>
              </a:ext>
            </a:extLst>
          </p:cNvPr>
          <p:cNvSpPr/>
          <p:nvPr/>
        </p:nvSpPr>
        <p:spPr>
          <a:xfrm>
            <a:off x="3903002" y="2845904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2" name="上-下雙向箭號 51">
            <a:extLst>
              <a:ext uri="{FF2B5EF4-FFF2-40B4-BE49-F238E27FC236}">
                <a16:creationId xmlns:a16="http://schemas.microsoft.com/office/drawing/2014/main" id="{80B38B2F-8C1D-1532-F1E8-F84F2A359FD6}"/>
              </a:ext>
            </a:extLst>
          </p:cNvPr>
          <p:cNvSpPr/>
          <p:nvPr/>
        </p:nvSpPr>
        <p:spPr>
          <a:xfrm>
            <a:off x="4423988" y="2845904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3" name="上-下雙向箭號 52">
            <a:extLst>
              <a:ext uri="{FF2B5EF4-FFF2-40B4-BE49-F238E27FC236}">
                <a16:creationId xmlns:a16="http://schemas.microsoft.com/office/drawing/2014/main" id="{DCFAC07A-B238-C8CA-AD41-5EF78381866A}"/>
              </a:ext>
            </a:extLst>
          </p:cNvPr>
          <p:cNvSpPr/>
          <p:nvPr/>
        </p:nvSpPr>
        <p:spPr>
          <a:xfrm>
            <a:off x="4927241" y="2845904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上-下雙向箭號 53">
            <a:extLst>
              <a:ext uri="{FF2B5EF4-FFF2-40B4-BE49-F238E27FC236}">
                <a16:creationId xmlns:a16="http://schemas.microsoft.com/office/drawing/2014/main" id="{2DC700A7-508A-5B6D-69C0-92BAC577B201}"/>
              </a:ext>
            </a:extLst>
          </p:cNvPr>
          <p:cNvSpPr/>
          <p:nvPr/>
        </p:nvSpPr>
        <p:spPr>
          <a:xfrm>
            <a:off x="5428401" y="2846674"/>
            <a:ext cx="174859" cy="623656"/>
          </a:xfrm>
          <a:prstGeom prst="up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14BADB57-2B1D-3ECD-3479-9FAF022A3871}"/>
              </a:ext>
            </a:extLst>
          </p:cNvPr>
          <p:cNvSpPr txBox="1"/>
          <p:nvPr/>
        </p:nvSpPr>
        <p:spPr>
          <a:xfrm>
            <a:off x="804994" y="2824763"/>
            <a:ext cx="9376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70C0"/>
                </a:solidFill>
              </a:rPr>
              <a:t>越接近越好</a:t>
            </a:r>
          </a:p>
        </p:txBody>
      </p:sp>
      <p:pic>
        <p:nvPicPr>
          <p:cNvPr id="2052" name="Picture 4" descr="undefined">
            <a:extLst>
              <a:ext uri="{FF2B5EF4-FFF2-40B4-BE49-F238E27FC236}">
                <a16:creationId xmlns:a16="http://schemas.microsoft.com/office/drawing/2014/main" id="{A4FD47C9-FEB3-FB9B-65B5-2E565815E9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2425" y="3378139"/>
            <a:ext cx="818480" cy="83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橢圓圖說文字 2047">
            <a:extLst>
              <a:ext uri="{FF2B5EF4-FFF2-40B4-BE49-F238E27FC236}">
                <a16:creationId xmlns:a16="http://schemas.microsoft.com/office/drawing/2014/main" id="{EB17AC62-BF63-36D2-91E4-E942F6C1B492}"/>
              </a:ext>
            </a:extLst>
          </p:cNvPr>
          <p:cNvSpPr/>
          <p:nvPr/>
        </p:nvSpPr>
        <p:spPr>
          <a:xfrm>
            <a:off x="7855526" y="2413309"/>
            <a:ext cx="2870003" cy="1088995"/>
          </a:xfrm>
          <a:prstGeom prst="wedgeEllipseCallout">
            <a:avLst>
              <a:gd name="adj1" fmla="val -39298"/>
              <a:gd name="adj2" fmla="val 52004"/>
            </a:avLst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GPT-1 </a:t>
            </a:r>
            <a:r>
              <a:rPr kumimoji="1" lang="zh-TW" altLang="en-US" dirty="0">
                <a:solidFill>
                  <a:schemeClr val="tx1"/>
                </a:solidFill>
              </a:rPr>
              <a:t>不好，因為訓練無雙向</a:t>
            </a:r>
          </a:p>
        </p:txBody>
      </p:sp>
    </p:spTree>
    <p:extLst>
      <p:ext uri="{BB962C8B-B14F-4D97-AF65-F5344CB8AC3E}">
        <p14:creationId xmlns:p14="http://schemas.microsoft.com/office/powerpoint/2010/main" val="2722840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22" grpId="0" animBg="1"/>
      <p:bldP spid="23" grpId="0" animBg="1"/>
      <p:bldP spid="24" grpId="0" animBg="1"/>
      <p:bldP spid="25" grpId="0" animBg="1"/>
      <p:bldP spid="31" grpId="0" animBg="1"/>
      <p:bldP spid="33" grpId="0" animBg="1"/>
      <p:bldP spid="35" grpId="0" animBg="1"/>
      <p:bldP spid="37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63" grpId="0"/>
      <p:bldP spid="204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D622F-6DF5-BAFE-B825-CD03712F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13E8C7-B1DC-EA6C-FFAC-6749507E8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Transformer </a:t>
            </a:r>
            <a:r>
              <a:rPr kumimoji="1" lang="zh-TW" altLang="en-US" dirty="0"/>
              <a:t>架構的後續應用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3D7FD1-7E04-2941-C159-C50AF8FC6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03A1FC-F155-4AD1-D7F4-67127F93DF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041" y="3595254"/>
            <a:ext cx="1213026" cy="2018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AC7382E0-053E-F76C-60B6-2B01EDB17B98}"/>
              </a:ext>
            </a:extLst>
          </p:cNvPr>
          <p:cNvSpPr txBox="1"/>
          <p:nvPr/>
        </p:nvSpPr>
        <p:spPr>
          <a:xfrm>
            <a:off x="653143" y="2257205"/>
            <a:ext cx="4472474" cy="2343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Generative Pre-training (GPT) series</a:t>
            </a:r>
            <a:endParaRPr kumimoji="1" lang="en" altLang="zh-TW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dirty="0"/>
              <a:t>BERT (Bidirectional encoder representations from transformers)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hlinkClick r:id="rId3"/>
              </a:rPr>
              <a:t>Devlin et al., 2018</a:t>
            </a:r>
            <a:endParaRPr kumimoji="1" lang="en-US" altLang="zh-TW" sz="20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97977B06-16B5-D940-7133-3B0433D4C9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3249" y="1517710"/>
            <a:ext cx="3619047" cy="5159829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56F27AF5-C636-B56D-135C-9C735963C388}"/>
              </a:ext>
            </a:extLst>
          </p:cNvPr>
          <p:cNvSpPr/>
          <p:nvPr/>
        </p:nvSpPr>
        <p:spPr>
          <a:xfrm>
            <a:off x="7133249" y="3206554"/>
            <a:ext cx="1793196" cy="333102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2289EED-96B4-0EE2-234B-E9D264E8AA88}"/>
              </a:ext>
            </a:extLst>
          </p:cNvPr>
          <p:cNvSpPr txBox="1"/>
          <p:nvPr/>
        </p:nvSpPr>
        <p:spPr>
          <a:xfrm>
            <a:off x="5963410" y="4631416"/>
            <a:ext cx="953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b="1" dirty="0">
                <a:solidFill>
                  <a:srgbClr val="FF9300"/>
                </a:solidFill>
              </a:rPr>
              <a:t>Encoder</a:t>
            </a:r>
            <a:endParaRPr kumimoji="1" lang="zh-TW" altLang="en-US" b="1" dirty="0">
              <a:solidFill>
                <a:srgbClr val="FF930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F14C3B7-7BD5-26DB-D5E3-A1155E716891}"/>
              </a:ext>
            </a:extLst>
          </p:cNvPr>
          <p:cNvSpPr txBox="1"/>
          <p:nvPr/>
        </p:nvSpPr>
        <p:spPr>
          <a:xfrm>
            <a:off x="6183268" y="4220820"/>
            <a:ext cx="1026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N=12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73A1884-478F-9158-16C1-FD7CFFE2DB79}"/>
              </a:ext>
            </a:extLst>
          </p:cNvPr>
          <p:cNvSpPr txBox="1"/>
          <p:nvPr/>
        </p:nvSpPr>
        <p:spPr>
          <a:xfrm>
            <a:off x="5125617" y="5636957"/>
            <a:ext cx="9703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en" altLang="zh-TW" sz="1600" dirty="0"/>
              <a:t>BERT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9329F0-994C-60CF-37AD-2F2E280FF3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5061" y="3385823"/>
            <a:ext cx="1033417" cy="1033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FD20F174-4877-B837-4651-39DBEEF54717}"/>
              </a:ext>
            </a:extLst>
          </p:cNvPr>
          <p:cNvSpPr txBox="1"/>
          <p:nvPr/>
        </p:nvSpPr>
        <p:spPr>
          <a:xfrm>
            <a:off x="10746577" y="4431518"/>
            <a:ext cx="9703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</a:t>
            </a:r>
            <a:r>
              <a:rPr kumimoji="1" lang="en" altLang="zh-TW" sz="1600" dirty="0"/>
              <a:t>GPT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8BC4BA32-C7A0-7162-4CF2-CC0BE22EE416}"/>
              </a:ext>
            </a:extLst>
          </p:cNvPr>
          <p:cNvSpPr/>
          <p:nvPr/>
        </p:nvSpPr>
        <p:spPr>
          <a:xfrm>
            <a:off x="4364182" y="3023755"/>
            <a:ext cx="2845454" cy="33918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49728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BERT (</a:t>
            </a:r>
            <a:r>
              <a:rPr lang="en" altLang="zh-TW" dirty="0">
                <a:solidFill>
                  <a:srgbClr val="FF0000"/>
                </a:solidFill>
                <a:ea typeface="新細明體"/>
                <a:cs typeface="Calibri Light"/>
              </a:rPr>
              <a:t>Bidirectional </a:t>
            </a:r>
            <a:r>
              <a:rPr lang="en" altLang="zh-TW" dirty="0">
                <a:solidFill>
                  <a:schemeClr val="tx1"/>
                </a:solidFill>
                <a:ea typeface="新細明體"/>
                <a:cs typeface="Calibri Light"/>
              </a:rPr>
              <a:t>Encoder Representations from Transformers</a:t>
            </a:r>
            <a:r>
              <a:rPr lang="en-US" altLang="zh-TW" dirty="0">
                <a:ea typeface="新細明體"/>
                <a:cs typeface="Calibri Light"/>
              </a:rPr>
              <a:t>)</a:t>
            </a:r>
            <a:endParaRPr lang="zh-TW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19</a:t>
            </a:fld>
            <a:endParaRPr lang="zh-TW" altLang="en-US"/>
          </a:p>
        </p:txBody>
      </p:sp>
      <p:sp>
        <p:nvSpPr>
          <p:cNvPr id="78" name="Google Shape;187;p17">
            <a:extLst>
              <a:ext uri="{FF2B5EF4-FFF2-40B4-BE49-F238E27FC236}">
                <a16:creationId xmlns:a16="http://schemas.microsoft.com/office/drawing/2014/main" id="{12078826-8F85-944B-ADBB-9FD846B897DC}"/>
              </a:ext>
            </a:extLst>
          </p:cNvPr>
          <p:cNvSpPr/>
          <p:nvPr/>
        </p:nvSpPr>
        <p:spPr>
          <a:xfrm>
            <a:off x="240884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188;p17">
            <a:extLst>
              <a:ext uri="{FF2B5EF4-FFF2-40B4-BE49-F238E27FC236}">
                <a16:creationId xmlns:a16="http://schemas.microsoft.com/office/drawing/2014/main" id="{C5EB92C9-179D-21A5-A8B1-A959D1399419}"/>
              </a:ext>
            </a:extLst>
          </p:cNvPr>
          <p:cNvSpPr/>
          <p:nvPr/>
        </p:nvSpPr>
        <p:spPr>
          <a:xfrm>
            <a:off x="169876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189;p17">
            <a:extLst>
              <a:ext uri="{FF2B5EF4-FFF2-40B4-BE49-F238E27FC236}">
                <a16:creationId xmlns:a16="http://schemas.microsoft.com/office/drawing/2014/main" id="{BD6637FB-70DE-4DEE-362A-B3E116F08900}"/>
              </a:ext>
            </a:extLst>
          </p:cNvPr>
          <p:cNvSpPr/>
          <p:nvPr/>
        </p:nvSpPr>
        <p:spPr>
          <a:xfrm>
            <a:off x="4538547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1" name="Google Shape;192;p17">
            <a:extLst>
              <a:ext uri="{FF2B5EF4-FFF2-40B4-BE49-F238E27FC236}">
                <a16:creationId xmlns:a16="http://schemas.microsoft.com/office/drawing/2014/main" id="{572F978B-DB27-932D-EBBB-25910B7F0C71}"/>
              </a:ext>
            </a:extLst>
          </p:cNvPr>
          <p:cNvCxnSpPr>
            <a:cxnSpLocks/>
          </p:cNvCxnSpPr>
          <p:nvPr/>
        </p:nvCxnSpPr>
        <p:spPr>
          <a:xfrm rot="10800000">
            <a:off x="1785909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2" name="Google Shape;193;p17">
            <a:extLst>
              <a:ext uri="{FF2B5EF4-FFF2-40B4-BE49-F238E27FC236}">
                <a16:creationId xmlns:a16="http://schemas.microsoft.com/office/drawing/2014/main" id="{DE52FF4E-4D57-718C-A568-E103C0C28ABD}"/>
              </a:ext>
            </a:extLst>
          </p:cNvPr>
          <p:cNvCxnSpPr>
            <a:cxnSpLocks/>
          </p:cNvCxnSpPr>
          <p:nvPr/>
        </p:nvCxnSpPr>
        <p:spPr>
          <a:xfrm rot="10800000">
            <a:off x="3206079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" name="Google Shape;194;p17">
            <a:extLst>
              <a:ext uri="{FF2B5EF4-FFF2-40B4-BE49-F238E27FC236}">
                <a16:creationId xmlns:a16="http://schemas.microsoft.com/office/drawing/2014/main" id="{9E1B86D0-167B-F82B-4971-C1294716FF23}"/>
              </a:ext>
            </a:extLst>
          </p:cNvPr>
          <p:cNvCxnSpPr>
            <a:cxnSpLocks/>
          </p:cNvCxnSpPr>
          <p:nvPr/>
        </p:nvCxnSpPr>
        <p:spPr>
          <a:xfrm rot="10800000">
            <a:off x="3916164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4" name="Google Shape;195;p17">
            <a:extLst>
              <a:ext uri="{FF2B5EF4-FFF2-40B4-BE49-F238E27FC236}">
                <a16:creationId xmlns:a16="http://schemas.microsoft.com/office/drawing/2014/main" id="{C91EDADF-2EF4-0682-E7C1-A612A6B98835}"/>
              </a:ext>
            </a:extLst>
          </p:cNvPr>
          <p:cNvCxnSpPr>
            <a:cxnSpLocks/>
          </p:cNvCxnSpPr>
          <p:nvPr/>
        </p:nvCxnSpPr>
        <p:spPr>
          <a:xfrm rot="10800000">
            <a:off x="4626247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5" name="Google Shape;200;p17">
            <a:extLst>
              <a:ext uri="{FF2B5EF4-FFF2-40B4-BE49-F238E27FC236}">
                <a16:creationId xmlns:a16="http://schemas.microsoft.com/office/drawing/2014/main" id="{08EE0E68-9D18-DAEC-6E65-313766CEBCE7}"/>
              </a:ext>
            </a:extLst>
          </p:cNvPr>
          <p:cNvSpPr txBox="1"/>
          <p:nvPr/>
        </p:nvSpPr>
        <p:spPr>
          <a:xfrm>
            <a:off x="3524904" y="2546158"/>
            <a:ext cx="754871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bank</a:t>
            </a:r>
            <a:endParaRPr sz="1600" dirty="0">
              <a:solidFill>
                <a:srgbClr val="FF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202;p17">
            <a:extLst>
              <a:ext uri="{FF2B5EF4-FFF2-40B4-BE49-F238E27FC236}">
                <a16:creationId xmlns:a16="http://schemas.microsoft.com/office/drawing/2014/main" id="{BFAD6294-3106-25E9-8AA3-AAE0FC3A1DBE}"/>
              </a:ext>
            </a:extLst>
          </p:cNvPr>
          <p:cNvSpPr txBox="1"/>
          <p:nvPr/>
        </p:nvSpPr>
        <p:spPr>
          <a:xfrm>
            <a:off x="2042139" y="2047434"/>
            <a:ext cx="3153215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 dirty="0">
                <a:latin typeface="Roboto"/>
                <a:ea typeface="Roboto"/>
                <a:cs typeface="Roboto"/>
                <a:sym typeface="Roboto"/>
              </a:rPr>
              <a:t>Masked Language Modelling</a:t>
            </a:r>
            <a:endParaRPr b="1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203;p17">
            <a:extLst>
              <a:ext uri="{FF2B5EF4-FFF2-40B4-BE49-F238E27FC236}">
                <a16:creationId xmlns:a16="http://schemas.microsoft.com/office/drawing/2014/main" id="{DAF192C6-ADD0-689F-D3D2-95114000BF88}"/>
              </a:ext>
            </a:extLst>
          </p:cNvPr>
          <p:cNvSpPr txBox="1"/>
          <p:nvPr/>
        </p:nvSpPr>
        <p:spPr>
          <a:xfrm>
            <a:off x="7225343" y="2047433"/>
            <a:ext cx="29845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 dirty="0">
                <a:latin typeface="Roboto"/>
                <a:ea typeface="Roboto"/>
                <a:cs typeface="Roboto"/>
                <a:sym typeface="Roboto"/>
              </a:rPr>
              <a:t>Next Sentence Prediction</a:t>
            </a:r>
            <a:endParaRPr b="1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" name="Google Shape;218;p17">
            <a:extLst>
              <a:ext uri="{FF2B5EF4-FFF2-40B4-BE49-F238E27FC236}">
                <a16:creationId xmlns:a16="http://schemas.microsoft.com/office/drawing/2014/main" id="{89487FEF-8D42-11B8-9126-1E705AD9B8EA}"/>
              </a:ext>
            </a:extLst>
          </p:cNvPr>
          <p:cNvCxnSpPr>
            <a:cxnSpLocks/>
          </p:cNvCxnSpPr>
          <p:nvPr/>
        </p:nvCxnSpPr>
        <p:spPr>
          <a:xfrm flipV="1">
            <a:off x="6926968" y="3023925"/>
            <a:ext cx="0" cy="59361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" name="Google Shape;224;p17">
            <a:extLst>
              <a:ext uri="{FF2B5EF4-FFF2-40B4-BE49-F238E27FC236}">
                <a16:creationId xmlns:a16="http://schemas.microsoft.com/office/drawing/2014/main" id="{9C2B0B34-C579-B13F-2C97-862E5EC79054}"/>
              </a:ext>
            </a:extLst>
          </p:cNvPr>
          <p:cNvSpPr txBox="1"/>
          <p:nvPr/>
        </p:nvSpPr>
        <p:spPr>
          <a:xfrm>
            <a:off x="6331918" y="2438925"/>
            <a:ext cx="11901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300" dirty="0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</a:rPr>
              <a:t>binary classification</a:t>
            </a:r>
            <a:endParaRPr sz="1300" dirty="0">
              <a:solidFill>
                <a:srgbClr val="4A86E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" name="Google Shape;225;p17">
            <a:extLst>
              <a:ext uri="{FF2B5EF4-FFF2-40B4-BE49-F238E27FC236}">
                <a16:creationId xmlns:a16="http://schemas.microsoft.com/office/drawing/2014/main" id="{D2598E16-928B-F8ED-B1BC-08D08E1361F3}"/>
              </a:ext>
            </a:extLst>
          </p:cNvPr>
          <p:cNvSpPr txBox="1"/>
          <p:nvPr/>
        </p:nvSpPr>
        <p:spPr>
          <a:xfrm>
            <a:off x="1965207" y="6308224"/>
            <a:ext cx="8277040" cy="369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altLang="zh-TW" sz="1200" dirty="0">
                <a:latin typeface="Roboto"/>
                <a:ea typeface="Roboto"/>
                <a:cs typeface="Roboto"/>
                <a:sym typeface="Roboto"/>
              </a:rPr>
              <a:t>Devlin, Jacob, et al. "BERT: Pre-training of Deep Bidirectional Transformers for Language Understanding." NAACL 2019.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" name="Google Shape;195;p17">
            <a:extLst>
              <a:ext uri="{FF2B5EF4-FFF2-40B4-BE49-F238E27FC236}">
                <a16:creationId xmlns:a16="http://schemas.microsoft.com/office/drawing/2014/main" id="{66CA495A-19E6-1812-1E75-1E6512F61A5C}"/>
              </a:ext>
            </a:extLst>
          </p:cNvPr>
          <p:cNvCxnSpPr>
            <a:cxnSpLocks/>
          </p:cNvCxnSpPr>
          <p:nvPr/>
        </p:nvCxnSpPr>
        <p:spPr>
          <a:xfrm rot="10800000">
            <a:off x="2495994" y="538441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2" name="Google Shape;192;p17">
            <a:extLst>
              <a:ext uri="{FF2B5EF4-FFF2-40B4-BE49-F238E27FC236}">
                <a16:creationId xmlns:a16="http://schemas.microsoft.com/office/drawing/2014/main" id="{778DFAAD-6C8A-361E-FB33-A4D796293694}"/>
              </a:ext>
            </a:extLst>
          </p:cNvPr>
          <p:cNvCxnSpPr>
            <a:cxnSpLocks/>
          </p:cNvCxnSpPr>
          <p:nvPr/>
        </p:nvCxnSpPr>
        <p:spPr>
          <a:xfrm rot="10800000">
            <a:off x="1785909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" name="Google Shape;193;p17">
            <a:extLst>
              <a:ext uri="{FF2B5EF4-FFF2-40B4-BE49-F238E27FC236}">
                <a16:creationId xmlns:a16="http://schemas.microsoft.com/office/drawing/2014/main" id="{C1E80CEC-50C0-7A87-E961-F4BBEA568B72}"/>
              </a:ext>
            </a:extLst>
          </p:cNvPr>
          <p:cNvCxnSpPr>
            <a:cxnSpLocks/>
          </p:cNvCxnSpPr>
          <p:nvPr/>
        </p:nvCxnSpPr>
        <p:spPr>
          <a:xfrm rot="10800000">
            <a:off x="3206077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" name="Google Shape;194;p17">
            <a:extLst>
              <a:ext uri="{FF2B5EF4-FFF2-40B4-BE49-F238E27FC236}">
                <a16:creationId xmlns:a16="http://schemas.microsoft.com/office/drawing/2014/main" id="{65861D38-33A3-6511-151B-CF27648E78AB}"/>
              </a:ext>
            </a:extLst>
          </p:cNvPr>
          <p:cNvCxnSpPr>
            <a:cxnSpLocks/>
          </p:cNvCxnSpPr>
          <p:nvPr/>
        </p:nvCxnSpPr>
        <p:spPr>
          <a:xfrm rot="10800000">
            <a:off x="3916161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5" name="Google Shape;195;p17">
            <a:extLst>
              <a:ext uri="{FF2B5EF4-FFF2-40B4-BE49-F238E27FC236}">
                <a16:creationId xmlns:a16="http://schemas.microsoft.com/office/drawing/2014/main" id="{C5C110D0-DF8E-4BD4-7DEB-66571C28E076}"/>
              </a:ext>
            </a:extLst>
          </p:cNvPr>
          <p:cNvCxnSpPr>
            <a:cxnSpLocks/>
          </p:cNvCxnSpPr>
          <p:nvPr/>
        </p:nvCxnSpPr>
        <p:spPr>
          <a:xfrm rot="10800000">
            <a:off x="4626247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" name="Google Shape;195;p17">
            <a:extLst>
              <a:ext uri="{FF2B5EF4-FFF2-40B4-BE49-F238E27FC236}">
                <a16:creationId xmlns:a16="http://schemas.microsoft.com/office/drawing/2014/main" id="{EFD06827-5649-BA80-52DA-0012BF5383FF}"/>
              </a:ext>
            </a:extLst>
          </p:cNvPr>
          <p:cNvCxnSpPr>
            <a:cxnSpLocks/>
          </p:cNvCxnSpPr>
          <p:nvPr/>
        </p:nvCxnSpPr>
        <p:spPr>
          <a:xfrm rot="10800000">
            <a:off x="2495993" y="429552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" name="Google Shape;187;p17">
            <a:extLst>
              <a:ext uri="{FF2B5EF4-FFF2-40B4-BE49-F238E27FC236}">
                <a16:creationId xmlns:a16="http://schemas.microsoft.com/office/drawing/2014/main" id="{558102B0-D487-A2C1-EF09-57DC0FCD8CBC}"/>
              </a:ext>
            </a:extLst>
          </p:cNvPr>
          <p:cNvSpPr/>
          <p:nvPr/>
        </p:nvSpPr>
        <p:spPr>
          <a:xfrm>
            <a:off x="312085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187;p17">
            <a:extLst>
              <a:ext uri="{FF2B5EF4-FFF2-40B4-BE49-F238E27FC236}">
                <a16:creationId xmlns:a16="http://schemas.microsoft.com/office/drawing/2014/main" id="{24679670-27FD-5658-45B2-3EDC97809CFD}"/>
              </a:ext>
            </a:extLst>
          </p:cNvPr>
          <p:cNvSpPr/>
          <p:nvPr/>
        </p:nvSpPr>
        <p:spPr>
          <a:xfrm>
            <a:off x="3819502" y="36671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88D790F2-302A-1D31-CB9E-A2BBC2A7909D}"/>
              </a:ext>
            </a:extLst>
          </p:cNvPr>
          <p:cNvSpPr txBox="1"/>
          <p:nvPr/>
        </p:nvSpPr>
        <p:spPr>
          <a:xfrm>
            <a:off x="1476977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[CLS]</a:t>
            </a:r>
            <a:endParaRPr kumimoji="1" lang="zh-TW" altLang="en-US" sz="1300" dirty="0"/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98762416-0669-652B-27F1-64287FEE488B}"/>
              </a:ext>
            </a:extLst>
          </p:cNvPr>
          <p:cNvSpPr txBox="1"/>
          <p:nvPr/>
        </p:nvSpPr>
        <p:spPr>
          <a:xfrm>
            <a:off x="2187061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open</a:t>
            </a:r>
            <a:endParaRPr kumimoji="1" lang="zh-TW" altLang="en-US" sz="1300" dirty="0"/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CF1689B9-BC07-370F-3C26-2995578C7B6F}"/>
              </a:ext>
            </a:extLst>
          </p:cNvPr>
          <p:cNvSpPr txBox="1"/>
          <p:nvPr/>
        </p:nvSpPr>
        <p:spPr>
          <a:xfrm>
            <a:off x="2896420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a</a:t>
            </a:r>
            <a:endParaRPr kumimoji="1" lang="zh-TW" altLang="en-US" sz="13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D3C6A9AC-925C-665B-DDA9-E28F39928D95}"/>
              </a:ext>
            </a:extLst>
          </p:cNvPr>
          <p:cNvSpPr txBox="1"/>
          <p:nvPr/>
        </p:nvSpPr>
        <p:spPr>
          <a:xfrm>
            <a:off x="3503432" y="5573410"/>
            <a:ext cx="82444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>
                <a:solidFill>
                  <a:srgbClr val="FF0000"/>
                </a:solidFill>
              </a:rPr>
              <a:t>[MASK]</a:t>
            </a:r>
            <a:endParaRPr kumimoji="1" lang="zh-TW" altLang="en-US" sz="1300" dirty="0">
              <a:solidFill>
                <a:srgbClr val="FF0000"/>
              </a:solidFill>
            </a:endParaRPr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E621D8CB-3C9C-42D1-B506-AA87DFFB7C9B}"/>
              </a:ext>
            </a:extLst>
          </p:cNvPr>
          <p:cNvSpPr txBox="1"/>
          <p:nvPr/>
        </p:nvSpPr>
        <p:spPr>
          <a:xfrm>
            <a:off x="4188131" y="5554371"/>
            <a:ext cx="88161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account</a:t>
            </a:r>
            <a:endParaRPr kumimoji="1" lang="zh-TW" altLang="en-US" sz="1300" dirty="0"/>
          </a:p>
        </p:txBody>
      </p:sp>
      <p:sp>
        <p:nvSpPr>
          <p:cNvPr id="104" name="Google Shape;187;p17">
            <a:extLst>
              <a:ext uri="{FF2B5EF4-FFF2-40B4-BE49-F238E27FC236}">
                <a16:creationId xmlns:a16="http://schemas.microsoft.com/office/drawing/2014/main" id="{59572B40-01A3-7EAF-C5B8-000D6904EBBD}"/>
              </a:ext>
            </a:extLst>
          </p:cNvPr>
          <p:cNvSpPr/>
          <p:nvPr/>
        </p:nvSpPr>
        <p:spPr>
          <a:xfrm>
            <a:off x="754990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88;p17">
            <a:extLst>
              <a:ext uri="{FF2B5EF4-FFF2-40B4-BE49-F238E27FC236}">
                <a16:creationId xmlns:a16="http://schemas.microsoft.com/office/drawing/2014/main" id="{A2138C0A-D63F-B196-E393-70D87DEBF3E6}"/>
              </a:ext>
            </a:extLst>
          </p:cNvPr>
          <p:cNvSpPr/>
          <p:nvPr/>
        </p:nvSpPr>
        <p:spPr>
          <a:xfrm>
            <a:off x="683982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89;p17">
            <a:extLst>
              <a:ext uri="{FF2B5EF4-FFF2-40B4-BE49-F238E27FC236}">
                <a16:creationId xmlns:a16="http://schemas.microsoft.com/office/drawing/2014/main" id="{653CD364-19D7-3745-8D3E-F906F3D8C516}"/>
              </a:ext>
            </a:extLst>
          </p:cNvPr>
          <p:cNvSpPr/>
          <p:nvPr/>
        </p:nvSpPr>
        <p:spPr>
          <a:xfrm>
            <a:off x="9679607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7" name="Google Shape;192;p17">
            <a:extLst>
              <a:ext uri="{FF2B5EF4-FFF2-40B4-BE49-F238E27FC236}">
                <a16:creationId xmlns:a16="http://schemas.microsoft.com/office/drawing/2014/main" id="{E1AB6907-4E04-C4D0-827C-2C448E29DF72}"/>
              </a:ext>
            </a:extLst>
          </p:cNvPr>
          <p:cNvCxnSpPr>
            <a:cxnSpLocks/>
          </p:cNvCxnSpPr>
          <p:nvPr/>
        </p:nvCxnSpPr>
        <p:spPr>
          <a:xfrm rot="10800000">
            <a:off x="6926969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8" name="Google Shape;193;p17">
            <a:extLst>
              <a:ext uri="{FF2B5EF4-FFF2-40B4-BE49-F238E27FC236}">
                <a16:creationId xmlns:a16="http://schemas.microsoft.com/office/drawing/2014/main" id="{85141E47-534E-96C2-550D-CF8B36FAA3B5}"/>
              </a:ext>
            </a:extLst>
          </p:cNvPr>
          <p:cNvCxnSpPr>
            <a:cxnSpLocks/>
          </p:cNvCxnSpPr>
          <p:nvPr/>
        </p:nvCxnSpPr>
        <p:spPr>
          <a:xfrm rot="10800000">
            <a:off x="8347139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Google Shape;194;p17">
            <a:extLst>
              <a:ext uri="{FF2B5EF4-FFF2-40B4-BE49-F238E27FC236}">
                <a16:creationId xmlns:a16="http://schemas.microsoft.com/office/drawing/2014/main" id="{9EB206F7-D6E3-A3B7-26CB-534F2D72CD4D}"/>
              </a:ext>
            </a:extLst>
          </p:cNvPr>
          <p:cNvCxnSpPr>
            <a:cxnSpLocks/>
          </p:cNvCxnSpPr>
          <p:nvPr/>
        </p:nvCxnSpPr>
        <p:spPr>
          <a:xfrm rot="10800000">
            <a:off x="9057224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0" name="Google Shape;195;p17">
            <a:extLst>
              <a:ext uri="{FF2B5EF4-FFF2-40B4-BE49-F238E27FC236}">
                <a16:creationId xmlns:a16="http://schemas.microsoft.com/office/drawing/2014/main" id="{E2165EF3-15EC-4C88-F0C1-E70DD258E1FB}"/>
              </a:ext>
            </a:extLst>
          </p:cNvPr>
          <p:cNvCxnSpPr>
            <a:cxnSpLocks/>
          </p:cNvCxnSpPr>
          <p:nvPr/>
        </p:nvCxnSpPr>
        <p:spPr>
          <a:xfrm rot="10800000">
            <a:off x="9767307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1" name="Google Shape;204;p17">
            <a:extLst>
              <a:ext uri="{FF2B5EF4-FFF2-40B4-BE49-F238E27FC236}">
                <a16:creationId xmlns:a16="http://schemas.microsoft.com/office/drawing/2014/main" id="{E0DB81CE-AB87-EF79-D2CC-9D1E585D8EC8}"/>
              </a:ext>
            </a:extLst>
          </p:cNvPr>
          <p:cNvSpPr/>
          <p:nvPr/>
        </p:nvSpPr>
        <p:spPr>
          <a:xfrm>
            <a:off x="6607739" y="4567753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BERT</a:t>
            </a:r>
            <a:endParaRPr dirty="0"/>
          </a:p>
          <a:p>
            <a:pPr lvl="0" algn="ctr"/>
            <a:r>
              <a:rPr 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Transformer Encoder</a:t>
            </a:r>
            <a:r>
              <a:rPr lang="zh-TW" dirty="0"/>
              <a:t>)</a:t>
            </a:r>
            <a:endParaRPr dirty="0"/>
          </a:p>
        </p:txBody>
      </p:sp>
      <p:cxnSp>
        <p:nvCxnSpPr>
          <p:cNvPr id="112" name="Google Shape;195;p17">
            <a:extLst>
              <a:ext uri="{FF2B5EF4-FFF2-40B4-BE49-F238E27FC236}">
                <a16:creationId xmlns:a16="http://schemas.microsoft.com/office/drawing/2014/main" id="{35D8230C-B91F-711F-F2F2-C9C3CA150681}"/>
              </a:ext>
            </a:extLst>
          </p:cNvPr>
          <p:cNvCxnSpPr>
            <a:cxnSpLocks/>
          </p:cNvCxnSpPr>
          <p:nvPr/>
        </p:nvCxnSpPr>
        <p:spPr>
          <a:xfrm rot="10800000">
            <a:off x="7637054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" name="Google Shape;192;p17">
            <a:extLst>
              <a:ext uri="{FF2B5EF4-FFF2-40B4-BE49-F238E27FC236}">
                <a16:creationId xmlns:a16="http://schemas.microsoft.com/office/drawing/2014/main" id="{3FC8E1FA-890E-BD73-CC1E-A0F28B7F5261}"/>
              </a:ext>
            </a:extLst>
          </p:cNvPr>
          <p:cNvCxnSpPr>
            <a:cxnSpLocks/>
          </p:cNvCxnSpPr>
          <p:nvPr/>
        </p:nvCxnSpPr>
        <p:spPr>
          <a:xfrm rot="10800000">
            <a:off x="6926969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" name="Google Shape;193;p17">
            <a:extLst>
              <a:ext uri="{FF2B5EF4-FFF2-40B4-BE49-F238E27FC236}">
                <a16:creationId xmlns:a16="http://schemas.microsoft.com/office/drawing/2014/main" id="{D9F59E43-A1E2-FB62-B95E-A3943CF664A6}"/>
              </a:ext>
            </a:extLst>
          </p:cNvPr>
          <p:cNvCxnSpPr>
            <a:cxnSpLocks/>
          </p:cNvCxnSpPr>
          <p:nvPr/>
        </p:nvCxnSpPr>
        <p:spPr>
          <a:xfrm rot="10800000">
            <a:off x="8347137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" name="Google Shape;194;p17">
            <a:extLst>
              <a:ext uri="{FF2B5EF4-FFF2-40B4-BE49-F238E27FC236}">
                <a16:creationId xmlns:a16="http://schemas.microsoft.com/office/drawing/2014/main" id="{7CD6648E-DC1C-EC0E-53D1-38F1C2C2B0C0}"/>
              </a:ext>
            </a:extLst>
          </p:cNvPr>
          <p:cNvCxnSpPr>
            <a:cxnSpLocks/>
          </p:cNvCxnSpPr>
          <p:nvPr/>
        </p:nvCxnSpPr>
        <p:spPr>
          <a:xfrm rot="10800000">
            <a:off x="9057221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6" name="Google Shape;195;p17">
            <a:extLst>
              <a:ext uri="{FF2B5EF4-FFF2-40B4-BE49-F238E27FC236}">
                <a16:creationId xmlns:a16="http://schemas.microsoft.com/office/drawing/2014/main" id="{25DA74D1-FAC8-57CA-5039-88343815ADEE}"/>
              </a:ext>
            </a:extLst>
          </p:cNvPr>
          <p:cNvCxnSpPr>
            <a:cxnSpLocks/>
          </p:cNvCxnSpPr>
          <p:nvPr/>
        </p:nvCxnSpPr>
        <p:spPr>
          <a:xfrm rot="10800000">
            <a:off x="9767307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" name="Google Shape;195;p17">
            <a:extLst>
              <a:ext uri="{FF2B5EF4-FFF2-40B4-BE49-F238E27FC236}">
                <a16:creationId xmlns:a16="http://schemas.microsoft.com/office/drawing/2014/main" id="{2C14B876-1C4A-636F-4EE8-28AD25172CFC}"/>
              </a:ext>
            </a:extLst>
          </p:cNvPr>
          <p:cNvCxnSpPr>
            <a:cxnSpLocks/>
          </p:cNvCxnSpPr>
          <p:nvPr/>
        </p:nvCxnSpPr>
        <p:spPr>
          <a:xfrm rot="10800000">
            <a:off x="7637053" y="429979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" name="Google Shape;187;p17">
            <a:extLst>
              <a:ext uri="{FF2B5EF4-FFF2-40B4-BE49-F238E27FC236}">
                <a16:creationId xmlns:a16="http://schemas.microsoft.com/office/drawing/2014/main" id="{DE2EE9E7-1DA0-658F-48D0-84B8CBAA5820}"/>
              </a:ext>
            </a:extLst>
          </p:cNvPr>
          <p:cNvSpPr/>
          <p:nvPr/>
        </p:nvSpPr>
        <p:spPr>
          <a:xfrm>
            <a:off x="826191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87;p17">
            <a:extLst>
              <a:ext uri="{FF2B5EF4-FFF2-40B4-BE49-F238E27FC236}">
                <a16:creationId xmlns:a16="http://schemas.microsoft.com/office/drawing/2014/main" id="{27C9A567-27DF-2703-3BF3-DC70801965ED}"/>
              </a:ext>
            </a:extLst>
          </p:cNvPr>
          <p:cNvSpPr/>
          <p:nvPr/>
        </p:nvSpPr>
        <p:spPr>
          <a:xfrm>
            <a:off x="8960562" y="3671414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02A8C332-AC64-C148-8283-2BA88D80B94A}"/>
              </a:ext>
            </a:extLst>
          </p:cNvPr>
          <p:cNvSpPr txBox="1"/>
          <p:nvPr/>
        </p:nvSpPr>
        <p:spPr>
          <a:xfrm>
            <a:off x="6607481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[CLS]</a:t>
            </a:r>
            <a:endParaRPr kumimoji="1" lang="zh-TW" altLang="en-US" sz="1300" dirty="0"/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A9FE2F54-4A09-A1D9-4463-BE47C826E83B}"/>
              </a:ext>
            </a:extLst>
          </p:cNvPr>
          <p:cNvSpPr txBox="1"/>
          <p:nvPr/>
        </p:nvSpPr>
        <p:spPr>
          <a:xfrm>
            <a:off x="7255286" y="5554371"/>
            <a:ext cx="73681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study</a:t>
            </a:r>
            <a:endParaRPr kumimoji="1" lang="zh-TW" altLang="en-US" sz="1300" dirty="0"/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52805FBA-C031-BF0B-948B-2D3A3E19D0A7}"/>
              </a:ext>
            </a:extLst>
          </p:cNvPr>
          <p:cNvSpPr txBox="1"/>
          <p:nvPr/>
        </p:nvSpPr>
        <p:spPr>
          <a:xfrm>
            <a:off x="7992096" y="5554371"/>
            <a:ext cx="73681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hard</a:t>
            </a:r>
            <a:endParaRPr kumimoji="1" lang="zh-TW" altLang="en-US" sz="1300" dirty="0"/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670CD33-E05E-D383-6E36-D3851C6E858B}"/>
              </a:ext>
            </a:extLst>
          </p:cNvPr>
          <p:cNvSpPr txBox="1"/>
          <p:nvPr/>
        </p:nvSpPr>
        <p:spPr>
          <a:xfrm>
            <a:off x="8748290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[SEP]</a:t>
            </a:r>
            <a:endParaRPr kumimoji="1" lang="zh-TW" altLang="en-US" sz="1300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F09B156-E611-6D2A-68C9-3807FB3C3501}"/>
              </a:ext>
            </a:extLst>
          </p:cNvPr>
          <p:cNvSpPr txBox="1"/>
          <p:nvPr/>
        </p:nvSpPr>
        <p:spPr>
          <a:xfrm>
            <a:off x="9408044" y="5554371"/>
            <a:ext cx="71742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 err="1"/>
              <a:t>plz</a:t>
            </a:r>
            <a:endParaRPr kumimoji="1" lang="zh-TW" altLang="en-US" sz="1300" dirty="0"/>
          </a:p>
        </p:txBody>
      </p:sp>
      <p:cxnSp>
        <p:nvCxnSpPr>
          <p:cNvPr id="125" name="Google Shape;218;p17">
            <a:extLst>
              <a:ext uri="{FF2B5EF4-FFF2-40B4-BE49-F238E27FC236}">
                <a16:creationId xmlns:a16="http://schemas.microsoft.com/office/drawing/2014/main" id="{473F3D53-6A24-7B28-C5D9-F387152D36A1}"/>
              </a:ext>
            </a:extLst>
          </p:cNvPr>
          <p:cNvCxnSpPr>
            <a:cxnSpLocks/>
          </p:cNvCxnSpPr>
          <p:nvPr/>
        </p:nvCxnSpPr>
        <p:spPr>
          <a:xfrm flipV="1">
            <a:off x="3914227" y="3023925"/>
            <a:ext cx="0" cy="593615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6" name="Google Shape;189;p17">
            <a:extLst>
              <a:ext uri="{FF2B5EF4-FFF2-40B4-BE49-F238E27FC236}">
                <a16:creationId xmlns:a16="http://schemas.microsoft.com/office/drawing/2014/main" id="{A1CB2C50-C879-6546-B45C-B7784D8B87C0}"/>
              </a:ext>
            </a:extLst>
          </p:cNvPr>
          <p:cNvSpPr/>
          <p:nvPr/>
        </p:nvSpPr>
        <p:spPr>
          <a:xfrm>
            <a:off x="10398652" y="3665353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7" name="Google Shape;195;p17">
            <a:extLst>
              <a:ext uri="{FF2B5EF4-FFF2-40B4-BE49-F238E27FC236}">
                <a16:creationId xmlns:a16="http://schemas.microsoft.com/office/drawing/2014/main" id="{478D83BA-C7D3-C707-A342-E3BF7F033E88}"/>
              </a:ext>
            </a:extLst>
          </p:cNvPr>
          <p:cNvCxnSpPr>
            <a:cxnSpLocks/>
          </p:cNvCxnSpPr>
          <p:nvPr/>
        </p:nvCxnSpPr>
        <p:spPr>
          <a:xfrm rot="10800000">
            <a:off x="10486352" y="429373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8" name="Google Shape;194;p17">
            <a:extLst>
              <a:ext uri="{FF2B5EF4-FFF2-40B4-BE49-F238E27FC236}">
                <a16:creationId xmlns:a16="http://schemas.microsoft.com/office/drawing/2014/main" id="{258C40FA-1A10-5F0B-C970-982009A09BBF}"/>
              </a:ext>
            </a:extLst>
          </p:cNvPr>
          <p:cNvCxnSpPr>
            <a:cxnSpLocks/>
          </p:cNvCxnSpPr>
          <p:nvPr/>
        </p:nvCxnSpPr>
        <p:spPr>
          <a:xfrm rot="10800000">
            <a:off x="10457064" y="538868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7BA7909F-BD6D-9EFB-1E5E-5241672DFBEC}"/>
              </a:ext>
            </a:extLst>
          </p:cNvPr>
          <p:cNvSpPr txBox="1"/>
          <p:nvPr/>
        </p:nvSpPr>
        <p:spPr>
          <a:xfrm>
            <a:off x="10148130" y="5554371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[SEP]</a:t>
            </a:r>
            <a:endParaRPr kumimoji="1" lang="zh-TW" altLang="en-US" sz="1300" dirty="0"/>
          </a:p>
        </p:txBody>
      </p:sp>
      <p:sp>
        <p:nvSpPr>
          <p:cNvPr id="130" name="Google Shape;204;p17">
            <a:extLst>
              <a:ext uri="{FF2B5EF4-FFF2-40B4-BE49-F238E27FC236}">
                <a16:creationId xmlns:a16="http://schemas.microsoft.com/office/drawing/2014/main" id="{B7E77234-E015-E8B0-DEEA-AC759BA87B22}"/>
              </a:ext>
            </a:extLst>
          </p:cNvPr>
          <p:cNvSpPr/>
          <p:nvPr/>
        </p:nvSpPr>
        <p:spPr>
          <a:xfrm>
            <a:off x="1409171" y="4571995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BERT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Transformer Encoder</a:t>
            </a:r>
            <a:r>
              <a:rPr lang="zh-TW" dirty="0"/>
              <a:t>)</a:t>
            </a:r>
            <a:endParaRPr dirty="0"/>
          </a:p>
        </p:txBody>
      </p:sp>
      <p:sp>
        <p:nvSpPr>
          <p:cNvPr id="131" name="Google Shape;189;p17">
            <a:extLst>
              <a:ext uri="{FF2B5EF4-FFF2-40B4-BE49-F238E27FC236}">
                <a16:creationId xmlns:a16="http://schemas.microsoft.com/office/drawing/2014/main" id="{A7D052AC-D463-C5AF-A591-99C18CB61E86}"/>
              </a:ext>
            </a:extLst>
          </p:cNvPr>
          <p:cNvSpPr/>
          <p:nvPr/>
        </p:nvSpPr>
        <p:spPr>
          <a:xfrm>
            <a:off x="5238170" y="3665353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32" name="Google Shape;195;p17">
            <a:extLst>
              <a:ext uri="{FF2B5EF4-FFF2-40B4-BE49-F238E27FC236}">
                <a16:creationId xmlns:a16="http://schemas.microsoft.com/office/drawing/2014/main" id="{60600E89-5453-EF68-D985-38A317C2F7A4}"/>
              </a:ext>
            </a:extLst>
          </p:cNvPr>
          <p:cNvCxnSpPr>
            <a:cxnSpLocks/>
          </p:cNvCxnSpPr>
          <p:nvPr/>
        </p:nvCxnSpPr>
        <p:spPr>
          <a:xfrm rot="10800000">
            <a:off x="5325870" y="429373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3" name="Google Shape;194;p17">
            <a:extLst>
              <a:ext uri="{FF2B5EF4-FFF2-40B4-BE49-F238E27FC236}">
                <a16:creationId xmlns:a16="http://schemas.microsoft.com/office/drawing/2014/main" id="{B96111B0-6497-73D3-60AD-97486643F3EC}"/>
              </a:ext>
            </a:extLst>
          </p:cNvPr>
          <p:cNvCxnSpPr>
            <a:cxnSpLocks/>
          </p:cNvCxnSpPr>
          <p:nvPr/>
        </p:nvCxnSpPr>
        <p:spPr>
          <a:xfrm rot="10800000">
            <a:off x="5304033" y="5391784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9FFE0A9B-BCD2-39C8-0172-6FC6CA736A8A}"/>
              </a:ext>
            </a:extLst>
          </p:cNvPr>
          <p:cNvSpPr txBox="1"/>
          <p:nvPr/>
        </p:nvSpPr>
        <p:spPr>
          <a:xfrm>
            <a:off x="4995099" y="5557472"/>
            <a:ext cx="61786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300" dirty="0"/>
              <a:t>[SEP]</a:t>
            </a:r>
            <a:endParaRPr kumimoji="1" lang="zh-TW" altLang="en-US" sz="1300" dirty="0"/>
          </a:p>
        </p:txBody>
      </p:sp>
      <p:sp>
        <p:nvSpPr>
          <p:cNvPr id="135" name="橢圓 134">
            <a:extLst>
              <a:ext uri="{FF2B5EF4-FFF2-40B4-BE49-F238E27FC236}">
                <a16:creationId xmlns:a16="http://schemas.microsoft.com/office/drawing/2014/main" id="{0E02166C-27AB-9A44-EE56-993C9EC6D96B}"/>
              </a:ext>
            </a:extLst>
          </p:cNvPr>
          <p:cNvSpPr/>
          <p:nvPr/>
        </p:nvSpPr>
        <p:spPr>
          <a:xfrm>
            <a:off x="6569567" y="5442805"/>
            <a:ext cx="712443" cy="585000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AB7628-2F91-9C65-3980-4BC58D1E4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592" y="1574318"/>
            <a:ext cx="10058400" cy="1244437"/>
          </a:xfrm>
        </p:spPr>
        <p:txBody>
          <a:bodyPr vert="horz" lIns="0" tIns="45720" rIns="0" bIns="45720" rtlCol="0" anchor="t">
            <a:normAutofit/>
          </a:bodyPr>
          <a:lstStyle/>
          <a:p>
            <a:pPr indent="-360000">
              <a:spcAft>
                <a:spcPts val="6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altLang="zh-TW" dirty="0">
                <a:ea typeface="Microsoft JhengHei" panose="020B0604030504040204" pitchFamily="34" charset="-120"/>
                <a:cs typeface="+mn-lt"/>
              </a:rPr>
              <a:t>BERT</a:t>
            </a:r>
            <a:r>
              <a:rPr lang="zh-TW" altLang="en-US" dirty="0">
                <a:ea typeface="Microsoft JhengHei" panose="020B0604030504040204" pitchFamily="34" charset="-120"/>
                <a:cs typeface="+mn-lt"/>
              </a:rPr>
              <a:t> 有兩種預訓練任務：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9041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  <p:bldP spid="79" grpId="0" animBg="1"/>
      <p:bldP spid="80" grpId="0" animBg="1"/>
      <p:bldP spid="85" grpId="0"/>
      <p:bldP spid="86" grpId="0"/>
      <p:bldP spid="87" grpId="0"/>
      <p:bldP spid="89" grpId="0"/>
      <p:bldP spid="97" grpId="0" animBg="1"/>
      <p:bldP spid="98" grpId="0" animBg="1"/>
      <p:bldP spid="99" grpId="0"/>
      <p:bldP spid="100" grpId="0"/>
      <p:bldP spid="101" grpId="0"/>
      <p:bldP spid="102" grpId="0"/>
      <p:bldP spid="103" grpId="0"/>
      <p:bldP spid="104" grpId="0" animBg="1"/>
      <p:bldP spid="105" grpId="0" animBg="1"/>
      <p:bldP spid="106" grpId="0" animBg="1"/>
      <p:bldP spid="111" grpId="0" animBg="1"/>
      <p:bldP spid="118" grpId="0" animBg="1"/>
      <p:bldP spid="119" grpId="0" animBg="1"/>
      <p:bldP spid="120" grpId="0"/>
      <p:bldP spid="121" grpId="0"/>
      <p:bldP spid="122" grpId="0"/>
      <p:bldP spid="123" grpId="0"/>
      <p:bldP spid="124" grpId="0"/>
      <p:bldP spid="126" grpId="0" animBg="1"/>
      <p:bldP spid="129" grpId="0"/>
      <p:bldP spid="130" grpId="0" animBg="1"/>
      <p:bldP spid="131" grpId="0" animBg="1"/>
      <p:bldP spid="134" grpId="0"/>
      <p:bldP spid="1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FE2748-B8DE-69B6-55DB-3C5092EA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dirty="0"/>
              <a:t>Next Sentence Prediction (NSP)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B1DA35-3410-D556-3B9C-3B61B1116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36F9ACB5-81CC-6C73-DFB6-EFB87967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429" y="2209192"/>
            <a:ext cx="6092429" cy="2994424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74B6F24-489A-0CA7-D2DD-20A7BDD1E8FE}"/>
              </a:ext>
            </a:extLst>
          </p:cNvPr>
          <p:cNvSpPr txBox="1"/>
          <p:nvPr/>
        </p:nvSpPr>
        <p:spPr>
          <a:xfrm>
            <a:off x="653142" y="2106778"/>
            <a:ext cx="4178165" cy="1686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二元分類任務</a:t>
            </a:r>
            <a:endParaRPr kumimoji="1" lang="en" altLang="zh-TW" sz="2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目標：使模型能夠理解</a:t>
            </a:r>
            <a:r>
              <a:rPr kumimoji="1" lang="zh-TW" altLang="en-US" sz="2400" dirty="0">
                <a:solidFill>
                  <a:srgbClr val="FF0000"/>
                </a:solidFill>
              </a:rPr>
              <a:t>不同語句之間</a:t>
            </a:r>
            <a:r>
              <a:rPr kumimoji="1" lang="zh-TW" altLang="en-US" sz="2400" dirty="0"/>
              <a:t>的關聯性</a:t>
            </a:r>
          </a:p>
        </p:txBody>
      </p:sp>
    </p:spTree>
    <p:extLst>
      <p:ext uri="{BB962C8B-B14F-4D97-AF65-F5344CB8AC3E}">
        <p14:creationId xmlns:p14="http://schemas.microsoft.com/office/powerpoint/2010/main" val="1301164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ACE9FA-7B65-7809-51D0-572474683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Summary  - Key information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2374DE-3D09-47D1-64EF-F07B56168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BDBC481-26FC-BDFE-5A7B-9503C8F3571B}"/>
              </a:ext>
            </a:extLst>
          </p:cNvPr>
          <p:cNvSpPr txBox="1"/>
          <p:nvPr/>
        </p:nvSpPr>
        <p:spPr>
          <a:xfrm>
            <a:off x="636815" y="1850797"/>
            <a:ext cx="10918370" cy="2802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Self-supervised Learning 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的訓練方式是從資料中取得「答案」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節省大量標註成本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適用於大規模未標資料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影像處理領域以重建影像為 </a:t>
            </a:r>
            <a:r>
              <a:rPr kumimoji="1" lang="en-US" altLang="zh-TW" sz="2400" dirty="0">
                <a:ea typeface="Microsoft JhengHei" panose="020B0604030504040204" pitchFamily="34" charset="-120"/>
              </a:rPr>
              <a:t>SSL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的主要方法</a:t>
            </a:r>
            <a:endParaRPr kumimoji="1" lang="en-US" altLang="zh-TW" sz="2400" dirty="0">
              <a:ea typeface="Microsoft JhengHei" panose="020B0604030504040204" pitchFamily="34" charset="-12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>
                <a:ea typeface="Microsoft JhengHei" panose="020B0604030504040204" pitchFamily="34" charset="-120"/>
              </a:rPr>
              <a:t>自然語言處理領域以預測文章或句子中的下一個字為 </a:t>
            </a:r>
            <a:r>
              <a:rPr kumimoji="1" lang="en" altLang="zh-TW" sz="2400" dirty="0">
                <a:ea typeface="Microsoft JhengHei" panose="020B0604030504040204" pitchFamily="34" charset="-120"/>
              </a:rPr>
              <a:t>SSL</a:t>
            </a:r>
            <a:r>
              <a:rPr kumimoji="1" lang="zh-TW" altLang="en-US" sz="2400" dirty="0">
                <a:ea typeface="Microsoft JhengHei" panose="020B0604030504040204" pitchFamily="34" charset="-120"/>
              </a:rPr>
              <a:t> 的主要方法</a:t>
            </a:r>
          </a:p>
        </p:txBody>
      </p:sp>
    </p:spTree>
    <p:extLst>
      <p:ext uri="{BB962C8B-B14F-4D97-AF65-F5344CB8AC3E}">
        <p14:creationId xmlns:p14="http://schemas.microsoft.com/office/powerpoint/2010/main" val="15576085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091F3A-F45F-2328-E980-CE8B9AC3A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Encoder vs. Decoder in Pre-training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C03F16-51D1-3EF7-C341-FA485265A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55E0534D-B9FA-8092-FD48-28A2EC2B4B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4470073"/>
              </p:ext>
            </p:extLst>
          </p:nvPr>
        </p:nvGraphicFramePr>
        <p:xfrm>
          <a:off x="1226128" y="2590029"/>
          <a:ext cx="9310254" cy="25638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3418">
                  <a:extLst>
                    <a:ext uri="{9D8B030D-6E8A-4147-A177-3AD203B41FA5}">
                      <a16:colId xmlns:a16="http://schemas.microsoft.com/office/drawing/2014/main" val="2627988006"/>
                    </a:ext>
                  </a:extLst>
                </a:gridCol>
                <a:gridCol w="3103418">
                  <a:extLst>
                    <a:ext uri="{9D8B030D-6E8A-4147-A177-3AD203B41FA5}">
                      <a16:colId xmlns:a16="http://schemas.microsoft.com/office/drawing/2014/main" val="847722696"/>
                    </a:ext>
                  </a:extLst>
                </a:gridCol>
                <a:gridCol w="3103418">
                  <a:extLst>
                    <a:ext uri="{9D8B030D-6E8A-4147-A177-3AD203B41FA5}">
                      <a16:colId xmlns:a16="http://schemas.microsoft.com/office/drawing/2014/main" val="4199296597"/>
                    </a:ext>
                  </a:extLst>
                </a:gridCol>
              </a:tblGrid>
              <a:tr h="574116"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Encoder (e.g., BERT)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Decoder (e.g., GPT)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4047364"/>
                  </a:ext>
                </a:extLst>
              </a:tr>
              <a:tr h="574116">
                <a:tc>
                  <a:txBody>
                    <a:bodyPr/>
                    <a:lstStyle/>
                    <a:p>
                      <a:r>
                        <a:rPr lang="en-US" altLang="zh-TW" dirty="0"/>
                        <a:t>Pre-training </a:t>
                      </a:r>
                      <a:r>
                        <a:rPr lang="zh-TW" altLang="en-US" dirty="0"/>
                        <a:t>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克漏字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文字接龍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6443118"/>
                  </a:ext>
                </a:extLst>
              </a:tr>
              <a:tr h="1415629">
                <a:tc>
                  <a:txBody>
                    <a:bodyPr/>
                    <a:lstStyle/>
                    <a:p>
                      <a:r>
                        <a:rPr lang="en-US" altLang="zh-TW" dirty="0"/>
                        <a:t>Pre-training </a:t>
                      </a:r>
                      <a:r>
                        <a:rPr lang="zh-TW" altLang="en-US" dirty="0"/>
                        <a:t>目標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透過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預測被遮住的字</a:t>
                      </a:r>
                      <a:r>
                        <a:rPr lang="zh-TW" altLang="en-US" dirty="0"/>
                        <a:t>來讓模型熟悉字跟字之間的關係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/>
                        <a:t>透過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根據上下文預測下一個字</a:t>
                      </a:r>
                      <a:r>
                        <a:rPr lang="zh-TW" altLang="en-US" dirty="0"/>
                        <a:t>來讓模型熟悉字跟字之間的關係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40955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92384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4790AFE-D7DE-EA72-C01D-9BE540A2E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GPT-1</a:t>
            </a:r>
            <a:r>
              <a:rPr kumimoji="1" lang="zh-TW" altLang="en-US" dirty="0"/>
              <a:t> 與 </a:t>
            </a:r>
            <a:r>
              <a:rPr kumimoji="1" lang="en-US" altLang="zh-TW" dirty="0"/>
              <a:t>BERT</a:t>
            </a:r>
            <a:r>
              <a:rPr kumimoji="1" lang="zh-TW" altLang="en-US" dirty="0"/>
              <a:t> 的 </a:t>
            </a:r>
            <a:r>
              <a:rPr kumimoji="1" lang="en-US" altLang="zh-TW" dirty="0"/>
              <a:t>Fine-tuning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31A247-7259-3966-A093-AC0085BF2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50C32902-53C1-66A1-A4C2-69D39AE1057E}"/>
              </a:ext>
            </a:extLst>
          </p:cNvPr>
          <p:cNvSpPr/>
          <p:nvPr/>
        </p:nvSpPr>
        <p:spPr>
          <a:xfrm>
            <a:off x="6352306" y="4467924"/>
            <a:ext cx="4055873" cy="7746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Transformer Decoder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7091DC60-DF3A-39F2-3287-D0C27DDD4282}"/>
              </a:ext>
            </a:extLst>
          </p:cNvPr>
          <p:cNvSpPr/>
          <p:nvPr/>
        </p:nvSpPr>
        <p:spPr>
          <a:xfrm>
            <a:off x="6434037" y="5615584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1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36853CED-B1F5-4BCD-9AC9-04A0525A719A}"/>
              </a:ext>
            </a:extLst>
          </p:cNvPr>
          <p:cNvSpPr/>
          <p:nvPr/>
        </p:nvSpPr>
        <p:spPr>
          <a:xfrm>
            <a:off x="9348612" y="5615584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A349E604-642A-2CB5-3638-88AFFD64DD9D}"/>
              </a:ext>
            </a:extLst>
          </p:cNvPr>
          <p:cNvSpPr/>
          <p:nvPr/>
        </p:nvSpPr>
        <p:spPr>
          <a:xfrm>
            <a:off x="9931529" y="5615584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77E2E94B-FC7B-268A-68F0-601A18B861F6}"/>
              </a:ext>
            </a:extLst>
          </p:cNvPr>
          <p:cNvSpPr/>
          <p:nvPr/>
        </p:nvSpPr>
        <p:spPr>
          <a:xfrm>
            <a:off x="7016952" y="5615584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CBFCFD02-8052-534D-E907-BC68DCC2D072}"/>
              </a:ext>
            </a:extLst>
          </p:cNvPr>
          <p:cNvSpPr/>
          <p:nvPr/>
        </p:nvSpPr>
        <p:spPr>
          <a:xfrm>
            <a:off x="7599867" y="5615584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B9D964ED-9897-892E-A09C-8F0E26B924B7}"/>
              </a:ext>
            </a:extLst>
          </p:cNvPr>
          <p:cNvSpPr/>
          <p:nvPr/>
        </p:nvSpPr>
        <p:spPr>
          <a:xfrm>
            <a:off x="8182782" y="5615584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896FBD26-FCF9-E738-F031-A43B7CD72F76}"/>
              </a:ext>
            </a:extLst>
          </p:cNvPr>
          <p:cNvSpPr/>
          <p:nvPr/>
        </p:nvSpPr>
        <p:spPr>
          <a:xfrm>
            <a:off x="8765697" y="5615584"/>
            <a:ext cx="448780" cy="375953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243F7FCF-696D-5673-5F7C-6ED93CF3A255}"/>
              </a:ext>
            </a:extLst>
          </p:cNvPr>
          <p:cNvCxnSpPr>
            <a:cxnSpLocks/>
          </p:cNvCxnSpPr>
          <p:nvPr/>
        </p:nvCxnSpPr>
        <p:spPr>
          <a:xfrm flipV="1">
            <a:off x="6665965" y="5304123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391A7AEA-9F44-955E-6B6C-9BE593596195}"/>
              </a:ext>
            </a:extLst>
          </p:cNvPr>
          <p:cNvCxnSpPr>
            <a:cxnSpLocks/>
          </p:cNvCxnSpPr>
          <p:nvPr/>
        </p:nvCxnSpPr>
        <p:spPr>
          <a:xfrm flipV="1">
            <a:off x="7246159" y="5304123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4B4AE3DE-FF21-0DE9-4A8B-B513FD07B996}"/>
              </a:ext>
            </a:extLst>
          </p:cNvPr>
          <p:cNvCxnSpPr>
            <a:cxnSpLocks/>
          </p:cNvCxnSpPr>
          <p:nvPr/>
        </p:nvCxnSpPr>
        <p:spPr>
          <a:xfrm flipV="1">
            <a:off x="7826353" y="5304123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8B6FB396-C1C9-4213-B6D3-A467294CD413}"/>
              </a:ext>
            </a:extLst>
          </p:cNvPr>
          <p:cNvCxnSpPr>
            <a:cxnSpLocks/>
          </p:cNvCxnSpPr>
          <p:nvPr/>
        </p:nvCxnSpPr>
        <p:spPr>
          <a:xfrm flipV="1">
            <a:off x="8406547" y="5304123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8D6EDD26-449C-ABEE-64F0-0E6041B0816B}"/>
              </a:ext>
            </a:extLst>
          </p:cNvPr>
          <p:cNvCxnSpPr>
            <a:cxnSpLocks/>
          </p:cNvCxnSpPr>
          <p:nvPr/>
        </p:nvCxnSpPr>
        <p:spPr>
          <a:xfrm flipV="1">
            <a:off x="8986741" y="5304123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17AC5168-9B36-B26B-13F2-039F61F90F47}"/>
              </a:ext>
            </a:extLst>
          </p:cNvPr>
          <p:cNvCxnSpPr>
            <a:cxnSpLocks/>
          </p:cNvCxnSpPr>
          <p:nvPr/>
        </p:nvCxnSpPr>
        <p:spPr>
          <a:xfrm flipV="1">
            <a:off x="9566935" y="5304123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ADDC28B7-9D3E-CAAC-37A0-9AB66AD45FB7}"/>
              </a:ext>
            </a:extLst>
          </p:cNvPr>
          <p:cNvCxnSpPr>
            <a:cxnSpLocks/>
          </p:cNvCxnSpPr>
          <p:nvPr/>
        </p:nvCxnSpPr>
        <p:spPr>
          <a:xfrm flipV="1">
            <a:off x="10147128" y="5304123"/>
            <a:ext cx="0" cy="26398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2F46E348-E5F2-F084-7266-E509FC23C677}"/>
              </a:ext>
            </a:extLst>
          </p:cNvPr>
          <p:cNvSpPr/>
          <p:nvPr/>
        </p:nvSpPr>
        <p:spPr>
          <a:xfrm>
            <a:off x="7016950" y="5615583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2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A61F01F9-4809-29A0-E4CC-A5CE3848F25E}"/>
              </a:ext>
            </a:extLst>
          </p:cNvPr>
          <p:cNvSpPr/>
          <p:nvPr/>
        </p:nvSpPr>
        <p:spPr>
          <a:xfrm>
            <a:off x="7599867" y="5615583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3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C985FDD7-C684-106B-45C6-220EC3F4C030}"/>
              </a:ext>
            </a:extLst>
          </p:cNvPr>
          <p:cNvSpPr/>
          <p:nvPr/>
        </p:nvSpPr>
        <p:spPr>
          <a:xfrm>
            <a:off x="8182157" y="5615582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4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72B5C873-D1B9-8544-6B5A-C14407E68C95}"/>
              </a:ext>
            </a:extLst>
          </p:cNvPr>
          <p:cNvSpPr/>
          <p:nvPr/>
        </p:nvSpPr>
        <p:spPr>
          <a:xfrm>
            <a:off x="8765695" y="5615581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5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9F865CE-C64E-9A66-F6F9-055919FB66E9}"/>
              </a:ext>
            </a:extLst>
          </p:cNvPr>
          <p:cNvSpPr/>
          <p:nvPr/>
        </p:nvSpPr>
        <p:spPr>
          <a:xfrm>
            <a:off x="9348612" y="5615580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6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325EC525-F37C-D17A-78EA-0CDE248207C3}"/>
              </a:ext>
            </a:extLst>
          </p:cNvPr>
          <p:cNvSpPr/>
          <p:nvPr/>
        </p:nvSpPr>
        <p:spPr>
          <a:xfrm>
            <a:off x="9931529" y="5615579"/>
            <a:ext cx="448780" cy="375953"/>
          </a:xfrm>
          <a:prstGeom prst="roundRect">
            <a:avLst/>
          </a:prstGeom>
          <a:solidFill>
            <a:srgbClr val="C5E0B4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</a:t>
            </a:r>
            <a:r>
              <a:rPr kumimoji="1" lang="en-US" altLang="zh-TW" baseline="-25000" dirty="0">
                <a:solidFill>
                  <a:schemeClr val="tx1"/>
                </a:solidFill>
              </a:rPr>
              <a:t>7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42" name="Google Shape;200;p17">
            <a:extLst>
              <a:ext uri="{FF2B5EF4-FFF2-40B4-BE49-F238E27FC236}">
                <a16:creationId xmlns:a16="http://schemas.microsoft.com/office/drawing/2014/main" id="{BE50C9EC-242E-8492-90D8-1E9D9D6093BC}"/>
              </a:ext>
            </a:extLst>
          </p:cNvPr>
          <p:cNvSpPr txBox="1"/>
          <p:nvPr/>
        </p:nvSpPr>
        <p:spPr>
          <a:xfrm>
            <a:off x="10805115" y="2544945"/>
            <a:ext cx="754871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class</a:t>
            </a:r>
            <a:endParaRPr sz="1600" dirty="0">
              <a:solidFill>
                <a:srgbClr val="FF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" name="Google Shape;204;p17">
            <a:extLst>
              <a:ext uri="{FF2B5EF4-FFF2-40B4-BE49-F238E27FC236}">
                <a16:creationId xmlns:a16="http://schemas.microsoft.com/office/drawing/2014/main" id="{0D45EED4-A8AC-D059-BED7-93CB1C2257DF}"/>
              </a:ext>
            </a:extLst>
          </p:cNvPr>
          <p:cNvSpPr/>
          <p:nvPr/>
        </p:nvSpPr>
        <p:spPr>
          <a:xfrm>
            <a:off x="9735549" y="2613819"/>
            <a:ext cx="770550" cy="324643"/>
          </a:xfrm>
          <a:prstGeom prst="rect">
            <a:avLst/>
          </a:prstGeom>
          <a:noFill/>
          <a:ln w="1905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/>
              <a:t>Linear</a:t>
            </a:r>
            <a:endParaRPr sz="1600" dirty="0"/>
          </a:p>
        </p:txBody>
      </p:sp>
      <p:cxnSp>
        <p:nvCxnSpPr>
          <p:cNvPr id="44" name="Google Shape;218;p17">
            <a:extLst>
              <a:ext uri="{FF2B5EF4-FFF2-40B4-BE49-F238E27FC236}">
                <a16:creationId xmlns:a16="http://schemas.microsoft.com/office/drawing/2014/main" id="{4FC1488B-0628-28BA-E772-48F7EB4E1F1E}"/>
              </a:ext>
            </a:extLst>
          </p:cNvPr>
          <p:cNvCxnSpPr>
            <a:cxnSpLocks/>
          </p:cNvCxnSpPr>
          <p:nvPr/>
        </p:nvCxnSpPr>
        <p:spPr>
          <a:xfrm>
            <a:off x="10555385" y="2760374"/>
            <a:ext cx="309598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3D1BDECE-B4B7-2BF8-1381-E34EB7B9FB4B}"/>
              </a:ext>
            </a:extLst>
          </p:cNvPr>
          <p:cNvCxnSpPr>
            <a:cxnSpLocks/>
          </p:cNvCxnSpPr>
          <p:nvPr/>
        </p:nvCxnSpPr>
        <p:spPr>
          <a:xfrm flipV="1">
            <a:off x="10137296" y="2975802"/>
            <a:ext cx="0" cy="5538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7701AD0B-56DB-45CD-B216-3BD6EAF15526}"/>
              </a:ext>
            </a:extLst>
          </p:cNvPr>
          <p:cNvSpPr txBox="1"/>
          <p:nvPr/>
        </p:nvSpPr>
        <p:spPr>
          <a:xfrm>
            <a:off x="6396255" y="6039010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這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39791FA5-E211-A792-BCA4-B60318A9A889}"/>
              </a:ext>
            </a:extLst>
          </p:cNvPr>
          <p:cNvSpPr txBox="1"/>
          <p:nvPr/>
        </p:nvSpPr>
        <p:spPr>
          <a:xfrm>
            <a:off x="6977308" y="6039010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火</a:t>
            </a: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47131AD6-1C0B-737E-7056-9874F1DA7036}"/>
              </a:ext>
            </a:extLst>
          </p:cNvPr>
          <p:cNvSpPr txBox="1"/>
          <p:nvPr/>
        </p:nvSpPr>
        <p:spPr>
          <a:xfrm>
            <a:off x="7558361" y="6039010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鍋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40FF7856-1219-8E19-E60D-ECD5014AE7C1}"/>
              </a:ext>
            </a:extLst>
          </p:cNvPr>
          <p:cNvSpPr txBox="1"/>
          <p:nvPr/>
        </p:nvSpPr>
        <p:spPr>
          <a:xfrm>
            <a:off x="8120768" y="6039010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真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24FAD131-D2A9-66A0-4A39-2A41D8A901D0}"/>
              </a:ext>
            </a:extLst>
          </p:cNvPr>
          <p:cNvSpPr txBox="1"/>
          <p:nvPr/>
        </p:nvSpPr>
        <p:spPr>
          <a:xfrm>
            <a:off x="8727267" y="6039010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是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B093A2B8-97FA-36AF-9ED6-EDDCF9E964E2}"/>
              </a:ext>
            </a:extLst>
          </p:cNvPr>
          <p:cNvSpPr txBox="1"/>
          <p:nvPr/>
        </p:nvSpPr>
        <p:spPr>
          <a:xfrm>
            <a:off x="9307461" y="6039010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好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3F193EA1-3C69-41C5-E739-5E873130E74D}"/>
              </a:ext>
            </a:extLst>
          </p:cNvPr>
          <p:cNvSpPr txBox="1"/>
          <p:nvPr/>
        </p:nvSpPr>
        <p:spPr>
          <a:xfrm>
            <a:off x="9896445" y="6039010"/>
            <a:ext cx="51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吃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0534E634-7B5B-11B4-0829-00EA0200FD41}"/>
              </a:ext>
            </a:extLst>
          </p:cNvPr>
          <p:cNvSpPr txBox="1"/>
          <p:nvPr/>
        </p:nvSpPr>
        <p:spPr>
          <a:xfrm>
            <a:off x="10218684" y="3688721"/>
            <a:ext cx="14027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ea typeface="Microsoft JhengHei" panose="020B0604030504040204" pitchFamily="34" charset="-120"/>
              </a:rPr>
              <a:t>B x 1 x H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216B946C-97FB-24BA-7DC9-03FDAD70AFD8}"/>
              </a:ext>
            </a:extLst>
          </p:cNvPr>
          <p:cNvSpPr txBox="1"/>
          <p:nvPr/>
        </p:nvSpPr>
        <p:spPr>
          <a:xfrm>
            <a:off x="9409037" y="2191010"/>
            <a:ext cx="14027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ea typeface="Microsoft JhengHei" panose="020B0604030504040204" pitchFamily="34" charset="-120"/>
              </a:rPr>
              <a:t>B x 1 x C</a:t>
            </a:r>
            <a:endParaRPr kumimoji="1" lang="zh-TW" altLang="en-US" sz="2000" dirty="0">
              <a:ea typeface="Microsoft JhengHei" panose="020B0604030504040204" pitchFamily="34" charset="-12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FB280243-CC9C-7626-B09C-914397DA5026}"/>
              </a:ext>
            </a:extLst>
          </p:cNvPr>
          <p:cNvSpPr txBox="1"/>
          <p:nvPr/>
        </p:nvSpPr>
        <p:spPr>
          <a:xfrm>
            <a:off x="653143" y="1523017"/>
            <a:ext cx="2522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以 </a:t>
            </a:r>
            <a:r>
              <a:rPr kumimoji="1" lang="en-US" altLang="zh-TW" dirty="0">
                <a:ea typeface="Microsoft JhengHei" panose="020B0604030504040204" pitchFamily="34" charset="-120"/>
              </a:rPr>
              <a:t>Classification</a:t>
            </a:r>
            <a:r>
              <a:rPr kumimoji="1" lang="zh-TW" altLang="en-US" dirty="0">
                <a:ea typeface="Microsoft JhengHei" panose="020B0604030504040204" pitchFamily="34" charset="-120"/>
              </a:rPr>
              <a:t> 為例</a:t>
            </a:r>
          </a:p>
        </p:txBody>
      </p:sp>
      <p:sp>
        <p:nvSpPr>
          <p:cNvPr id="57" name="Google Shape;187;p17">
            <a:extLst>
              <a:ext uri="{FF2B5EF4-FFF2-40B4-BE49-F238E27FC236}">
                <a16:creationId xmlns:a16="http://schemas.microsoft.com/office/drawing/2014/main" id="{A4F4BD08-7B71-A036-A1AE-01FD206599CD}"/>
              </a:ext>
            </a:extLst>
          </p:cNvPr>
          <p:cNvSpPr/>
          <p:nvPr/>
        </p:nvSpPr>
        <p:spPr>
          <a:xfrm>
            <a:off x="2420448" y="356307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188;p17">
            <a:extLst>
              <a:ext uri="{FF2B5EF4-FFF2-40B4-BE49-F238E27FC236}">
                <a16:creationId xmlns:a16="http://schemas.microsoft.com/office/drawing/2014/main" id="{4A1FDA94-A696-BAD6-31D9-70F0B2F5653B}"/>
              </a:ext>
            </a:extLst>
          </p:cNvPr>
          <p:cNvSpPr/>
          <p:nvPr/>
        </p:nvSpPr>
        <p:spPr>
          <a:xfrm>
            <a:off x="1710368" y="356307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189;p17">
            <a:extLst>
              <a:ext uri="{FF2B5EF4-FFF2-40B4-BE49-F238E27FC236}">
                <a16:creationId xmlns:a16="http://schemas.microsoft.com/office/drawing/2014/main" id="{F52427E8-15C6-7A6D-F298-B3BEA7A9FE0E}"/>
              </a:ext>
            </a:extLst>
          </p:cNvPr>
          <p:cNvSpPr/>
          <p:nvPr/>
        </p:nvSpPr>
        <p:spPr>
          <a:xfrm>
            <a:off x="4550153" y="356307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0" name="Google Shape;192;p17">
            <a:extLst>
              <a:ext uri="{FF2B5EF4-FFF2-40B4-BE49-F238E27FC236}">
                <a16:creationId xmlns:a16="http://schemas.microsoft.com/office/drawing/2014/main" id="{B3E63F58-E75E-DFEF-C7CB-7219E12C73CF}"/>
              </a:ext>
            </a:extLst>
          </p:cNvPr>
          <p:cNvCxnSpPr>
            <a:cxnSpLocks/>
          </p:cNvCxnSpPr>
          <p:nvPr/>
        </p:nvCxnSpPr>
        <p:spPr>
          <a:xfrm rot="10800000">
            <a:off x="1797515" y="528033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1" name="Google Shape;193;p17">
            <a:extLst>
              <a:ext uri="{FF2B5EF4-FFF2-40B4-BE49-F238E27FC236}">
                <a16:creationId xmlns:a16="http://schemas.microsoft.com/office/drawing/2014/main" id="{9686A172-F826-7D1A-B603-A27C050B89AF}"/>
              </a:ext>
            </a:extLst>
          </p:cNvPr>
          <p:cNvCxnSpPr>
            <a:cxnSpLocks/>
          </p:cNvCxnSpPr>
          <p:nvPr/>
        </p:nvCxnSpPr>
        <p:spPr>
          <a:xfrm rot="10800000">
            <a:off x="3217685" y="528033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2" name="Google Shape;194;p17">
            <a:extLst>
              <a:ext uri="{FF2B5EF4-FFF2-40B4-BE49-F238E27FC236}">
                <a16:creationId xmlns:a16="http://schemas.microsoft.com/office/drawing/2014/main" id="{D2AD4F55-F3ED-E6E2-AC64-4350BAD47026}"/>
              </a:ext>
            </a:extLst>
          </p:cNvPr>
          <p:cNvCxnSpPr>
            <a:cxnSpLocks/>
          </p:cNvCxnSpPr>
          <p:nvPr/>
        </p:nvCxnSpPr>
        <p:spPr>
          <a:xfrm rot="10800000">
            <a:off x="3927770" y="528033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" name="Google Shape;195;p17">
            <a:extLst>
              <a:ext uri="{FF2B5EF4-FFF2-40B4-BE49-F238E27FC236}">
                <a16:creationId xmlns:a16="http://schemas.microsoft.com/office/drawing/2014/main" id="{E3475148-C43B-A804-1838-FBE1B2BE0CA0}"/>
              </a:ext>
            </a:extLst>
          </p:cNvPr>
          <p:cNvCxnSpPr>
            <a:cxnSpLocks/>
          </p:cNvCxnSpPr>
          <p:nvPr/>
        </p:nvCxnSpPr>
        <p:spPr>
          <a:xfrm rot="10800000">
            <a:off x="4637853" y="528033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4" name="Google Shape;200;p17">
            <a:extLst>
              <a:ext uri="{FF2B5EF4-FFF2-40B4-BE49-F238E27FC236}">
                <a16:creationId xmlns:a16="http://schemas.microsoft.com/office/drawing/2014/main" id="{EBFCDBC1-9E9E-849F-A244-D830A82F277F}"/>
              </a:ext>
            </a:extLst>
          </p:cNvPr>
          <p:cNvSpPr txBox="1"/>
          <p:nvPr/>
        </p:nvSpPr>
        <p:spPr>
          <a:xfrm>
            <a:off x="1417474" y="2101923"/>
            <a:ext cx="754871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FF0000"/>
                </a:solidFill>
                <a:latin typeface="Roboto"/>
                <a:ea typeface="Roboto"/>
                <a:cs typeface="Roboto"/>
                <a:sym typeface="Roboto"/>
              </a:rPr>
              <a:t>class</a:t>
            </a:r>
            <a:endParaRPr sz="1600" dirty="0">
              <a:solidFill>
                <a:srgbClr val="FF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" name="Google Shape;195;p17">
            <a:extLst>
              <a:ext uri="{FF2B5EF4-FFF2-40B4-BE49-F238E27FC236}">
                <a16:creationId xmlns:a16="http://schemas.microsoft.com/office/drawing/2014/main" id="{898FFC5D-8EB8-BB38-C83B-E41AE7D29BC1}"/>
              </a:ext>
            </a:extLst>
          </p:cNvPr>
          <p:cNvCxnSpPr>
            <a:cxnSpLocks/>
          </p:cNvCxnSpPr>
          <p:nvPr/>
        </p:nvCxnSpPr>
        <p:spPr>
          <a:xfrm rot="10800000">
            <a:off x="2507600" y="5280339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" name="Google Shape;192;p17">
            <a:extLst>
              <a:ext uri="{FF2B5EF4-FFF2-40B4-BE49-F238E27FC236}">
                <a16:creationId xmlns:a16="http://schemas.microsoft.com/office/drawing/2014/main" id="{58DE3EE8-41CD-FCA2-ACA5-54E461DC3DDF}"/>
              </a:ext>
            </a:extLst>
          </p:cNvPr>
          <p:cNvCxnSpPr>
            <a:cxnSpLocks/>
          </p:cNvCxnSpPr>
          <p:nvPr/>
        </p:nvCxnSpPr>
        <p:spPr>
          <a:xfrm rot="10800000">
            <a:off x="1797515" y="419145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7" name="Google Shape;193;p17">
            <a:extLst>
              <a:ext uri="{FF2B5EF4-FFF2-40B4-BE49-F238E27FC236}">
                <a16:creationId xmlns:a16="http://schemas.microsoft.com/office/drawing/2014/main" id="{C06EEEA8-AABC-719B-AB51-B947521DE120}"/>
              </a:ext>
            </a:extLst>
          </p:cNvPr>
          <p:cNvCxnSpPr>
            <a:cxnSpLocks/>
          </p:cNvCxnSpPr>
          <p:nvPr/>
        </p:nvCxnSpPr>
        <p:spPr>
          <a:xfrm rot="10800000">
            <a:off x="3217683" y="419145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8" name="Google Shape;194;p17">
            <a:extLst>
              <a:ext uri="{FF2B5EF4-FFF2-40B4-BE49-F238E27FC236}">
                <a16:creationId xmlns:a16="http://schemas.microsoft.com/office/drawing/2014/main" id="{47A27E20-0F13-89B0-2E6F-108A11AD8775}"/>
              </a:ext>
            </a:extLst>
          </p:cNvPr>
          <p:cNvCxnSpPr>
            <a:cxnSpLocks/>
          </p:cNvCxnSpPr>
          <p:nvPr/>
        </p:nvCxnSpPr>
        <p:spPr>
          <a:xfrm rot="10800000">
            <a:off x="3927767" y="419145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9" name="Google Shape;195;p17">
            <a:extLst>
              <a:ext uri="{FF2B5EF4-FFF2-40B4-BE49-F238E27FC236}">
                <a16:creationId xmlns:a16="http://schemas.microsoft.com/office/drawing/2014/main" id="{140A1848-A8AB-8CBD-CA5E-3C2D6796F678}"/>
              </a:ext>
            </a:extLst>
          </p:cNvPr>
          <p:cNvCxnSpPr>
            <a:cxnSpLocks/>
          </p:cNvCxnSpPr>
          <p:nvPr/>
        </p:nvCxnSpPr>
        <p:spPr>
          <a:xfrm rot="10800000">
            <a:off x="4637853" y="419145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0" name="Google Shape;195;p17">
            <a:extLst>
              <a:ext uri="{FF2B5EF4-FFF2-40B4-BE49-F238E27FC236}">
                <a16:creationId xmlns:a16="http://schemas.microsoft.com/office/drawing/2014/main" id="{FEBAC91D-1345-8653-AAFB-7EA586FA31AE}"/>
              </a:ext>
            </a:extLst>
          </p:cNvPr>
          <p:cNvCxnSpPr>
            <a:cxnSpLocks/>
          </p:cNvCxnSpPr>
          <p:nvPr/>
        </p:nvCxnSpPr>
        <p:spPr>
          <a:xfrm rot="10800000">
            <a:off x="2507599" y="4191452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1" name="Google Shape;187;p17">
            <a:extLst>
              <a:ext uri="{FF2B5EF4-FFF2-40B4-BE49-F238E27FC236}">
                <a16:creationId xmlns:a16="http://schemas.microsoft.com/office/drawing/2014/main" id="{E560E748-98AF-0F1B-8A49-E6F0702D5213}"/>
              </a:ext>
            </a:extLst>
          </p:cNvPr>
          <p:cNvSpPr/>
          <p:nvPr/>
        </p:nvSpPr>
        <p:spPr>
          <a:xfrm>
            <a:off x="3132458" y="356307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187;p17">
            <a:extLst>
              <a:ext uri="{FF2B5EF4-FFF2-40B4-BE49-F238E27FC236}">
                <a16:creationId xmlns:a16="http://schemas.microsoft.com/office/drawing/2014/main" id="{63122D83-2F42-9918-6337-4D998B77A86E}"/>
              </a:ext>
            </a:extLst>
          </p:cNvPr>
          <p:cNvSpPr/>
          <p:nvPr/>
        </p:nvSpPr>
        <p:spPr>
          <a:xfrm>
            <a:off x="3831108" y="3563070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C211DD60-47FA-C5AE-55CF-3FC6C4E71A55}"/>
              </a:ext>
            </a:extLst>
          </p:cNvPr>
          <p:cNvSpPr txBox="1"/>
          <p:nvPr/>
        </p:nvSpPr>
        <p:spPr>
          <a:xfrm>
            <a:off x="1488583" y="5450300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[CLS]</a:t>
            </a:r>
            <a:endParaRPr kumimoji="1" lang="zh-TW" altLang="en-US" sz="14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75880870-C1C0-E287-9B67-79AC6650508B}"/>
              </a:ext>
            </a:extLst>
          </p:cNvPr>
          <p:cNvSpPr txBox="1"/>
          <p:nvPr/>
        </p:nvSpPr>
        <p:spPr>
          <a:xfrm>
            <a:off x="2198667" y="5450300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open</a:t>
            </a:r>
            <a:endParaRPr kumimoji="1" lang="zh-TW" altLang="en-US" sz="1400" dirty="0"/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8BFD0FA2-86CB-3E91-A12D-55EF1934A733}"/>
              </a:ext>
            </a:extLst>
          </p:cNvPr>
          <p:cNvSpPr txBox="1"/>
          <p:nvPr/>
        </p:nvSpPr>
        <p:spPr>
          <a:xfrm>
            <a:off x="2908026" y="5450300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a</a:t>
            </a:r>
            <a:endParaRPr kumimoji="1" lang="zh-TW" altLang="en-US" sz="14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1C77EE8A-339E-A1F2-2353-13714965B5B5}"/>
              </a:ext>
            </a:extLst>
          </p:cNvPr>
          <p:cNvSpPr txBox="1"/>
          <p:nvPr/>
        </p:nvSpPr>
        <p:spPr>
          <a:xfrm>
            <a:off x="4199737" y="5450300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account</a:t>
            </a:r>
            <a:endParaRPr kumimoji="1" lang="zh-TW" altLang="en-US" sz="1400" dirty="0"/>
          </a:p>
        </p:txBody>
      </p:sp>
      <p:cxnSp>
        <p:nvCxnSpPr>
          <p:cNvPr id="77" name="Google Shape;218;p17">
            <a:extLst>
              <a:ext uri="{FF2B5EF4-FFF2-40B4-BE49-F238E27FC236}">
                <a16:creationId xmlns:a16="http://schemas.microsoft.com/office/drawing/2014/main" id="{E23D3B0D-58E9-6CC2-D6A8-B1AC7E1443E2}"/>
              </a:ext>
            </a:extLst>
          </p:cNvPr>
          <p:cNvCxnSpPr>
            <a:cxnSpLocks/>
          </p:cNvCxnSpPr>
          <p:nvPr/>
        </p:nvCxnSpPr>
        <p:spPr>
          <a:xfrm flipV="1">
            <a:off x="1794973" y="3245921"/>
            <a:ext cx="0" cy="26306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8" name="Google Shape;204;p17">
            <a:extLst>
              <a:ext uri="{FF2B5EF4-FFF2-40B4-BE49-F238E27FC236}">
                <a16:creationId xmlns:a16="http://schemas.microsoft.com/office/drawing/2014/main" id="{4116DB4D-797C-949A-9F42-2EEB2ADB76E6}"/>
              </a:ext>
            </a:extLst>
          </p:cNvPr>
          <p:cNvSpPr/>
          <p:nvPr/>
        </p:nvSpPr>
        <p:spPr>
          <a:xfrm>
            <a:off x="1420777" y="4467924"/>
            <a:ext cx="4210222" cy="774600"/>
          </a:xfrm>
          <a:prstGeom prst="rect">
            <a:avLst/>
          </a:prstGeom>
          <a:noFill/>
          <a:ln w="19050" cap="flat" cmpd="sng">
            <a:solidFill>
              <a:srgbClr val="4A86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BERT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dirty="0"/>
              <a:t>(</a:t>
            </a:r>
            <a:r>
              <a:rPr lang="en-US" altLang="zh-TW" b="1" dirty="0">
                <a:solidFill>
                  <a:srgbClr val="4A86E8"/>
                </a:solidFill>
              </a:rPr>
              <a:t>Transformer Encoder</a:t>
            </a:r>
            <a:r>
              <a:rPr lang="zh-TW" dirty="0"/>
              <a:t>)</a:t>
            </a:r>
            <a:endParaRPr dirty="0"/>
          </a:p>
        </p:txBody>
      </p:sp>
      <p:sp>
        <p:nvSpPr>
          <p:cNvPr id="79" name="Google Shape;189;p17">
            <a:extLst>
              <a:ext uri="{FF2B5EF4-FFF2-40B4-BE49-F238E27FC236}">
                <a16:creationId xmlns:a16="http://schemas.microsoft.com/office/drawing/2014/main" id="{35B8044F-8D84-78B6-972D-37760C8E9490}"/>
              </a:ext>
            </a:extLst>
          </p:cNvPr>
          <p:cNvSpPr/>
          <p:nvPr/>
        </p:nvSpPr>
        <p:spPr>
          <a:xfrm>
            <a:off x="5249776" y="3561282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0" name="Google Shape;195;p17">
            <a:extLst>
              <a:ext uri="{FF2B5EF4-FFF2-40B4-BE49-F238E27FC236}">
                <a16:creationId xmlns:a16="http://schemas.microsoft.com/office/drawing/2014/main" id="{8CE0EB88-5E22-1E8B-4614-3A4F122F507F}"/>
              </a:ext>
            </a:extLst>
          </p:cNvPr>
          <p:cNvCxnSpPr>
            <a:cxnSpLocks/>
          </p:cNvCxnSpPr>
          <p:nvPr/>
        </p:nvCxnSpPr>
        <p:spPr>
          <a:xfrm rot="10800000">
            <a:off x="5337476" y="4189664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1" name="Google Shape;194;p17">
            <a:extLst>
              <a:ext uri="{FF2B5EF4-FFF2-40B4-BE49-F238E27FC236}">
                <a16:creationId xmlns:a16="http://schemas.microsoft.com/office/drawing/2014/main" id="{06AF6A89-0766-34EB-28B8-EBBE2CB5C18B}"/>
              </a:ext>
            </a:extLst>
          </p:cNvPr>
          <p:cNvCxnSpPr>
            <a:cxnSpLocks/>
          </p:cNvCxnSpPr>
          <p:nvPr/>
        </p:nvCxnSpPr>
        <p:spPr>
          <a:xfrm rot="10800000">
            <a:off x="5315639" y="5287713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73DF9591-3E23-9C1B-B3E5-7C0AA4AF03B7}"/>
              </a:ext>
            </a:extLst>
          </p:cNvPr>
          <p:cNvSpPr txBox="1"/>
          <p:nvPr/>
        </p:nvSpPr>
        <p:spPr>
          <a:xfrm>
            <a:off x="5006705" y="5453401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[SEP]</a:t>
            </a:r>
            <a:endParaRPr kumimoji="1" lang="zh-TW" altLang="en-US" sz="1400" dirty="0"/>
          </a:p>
        </p:txBody>
      </p:sp>
      <p:sp>
        <p:nvSpPr>
          <p:cNvPr id="83" name="Google Shape;204;p17">
            <a:extLst>
              <a:ext uri="{FF2B5EF4-FFF2-40B4-BE49-F238E27FC236}">
                <a16:creationId xmlns:a16="http://schemas.microsoft.com/office/drawing/2014/main" id="{C7B4F6B2-4E49-A32B-7BA2-17F682B584C5}"/>
              </a:ext>
            </a:extLst>
          </p:cNvPr>
          <p:cNvSpPr/>
          <p:nvPr/>
        </p:nvSpPr>
        <p:spPr>
          <a:xfrm>
            <a:off x="1417474" y="2815511"/>
            <a:ext cx="770550" cy="324643"/>
          </a:xfrm>
          <a:prstGeom prst="rect">
            <a:avLst/>
          </a:prstGeom>
          <a:noFill/>
          <a:ln w="19050" cap="flat" cmpd="sng">
            <a:solidFill>
              <a:srgbClr val="00B05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/>
              <a:t>Linear</a:t>
            </a:r>
            <a:endParaRPr sz="1600" dirty="0"/>
          </a:p>
        </p:txBody>
      </p:sp>
      <p:cxnSp>
        <p:nvCxnSpPr>
          <p:cNvPr id="84" name="Google Shape;218;p17">
            <a:extLst>
              <a:ext uri="{FF2B5EF4-FFF2-40B4-BE49-F238E27FC236}">
                <a16:creationId xmlns:a16="http://schemas.microsoft.com/office/drawing/2014/main" id="{F35FC90A-0344-56EA-469A-81FCE5FB7DAE}"/>
              </a:ext>
            </a:extLst>
          </p:cNvPr>
          <p:cNvCxnSpPr>
            <a:cxnSpLocks/>
          </p:cNvCxnSpPr>
          <p:nvPr/>
        </p:nvCxnSpPr>
        <p:spPr>
          <a:xfrm flipV="1">
            <a:off x="1802505" y="2482077"/>
            <a:ext cx="0" cy="263062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40C875B3-AE4E-7188-7340-4A97CCA75203}"/>
              </a:ext>
            </a:extLst>
          </p:cNvPr>
          <p:cNvSpPr txBox="1"/>
          <p:nvPr/>
        </p:nvSpPr>
        <p:spPr>
          <a:xfrm>
            <a:off x="3453485" y="5469339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POST</a:t>
            </a:r>
            <a:endParaRPr kumimoji="1" lang="zh-TW" altLang="en-US" sz="1400" dirty="0"/>
          </a:p>
        </p:txBody>
      </p:sp>
      <p:sp>
        <p:nvSpPr>
          <p:cNvPr id="89" name="Google Shape;187;p17">
            <a:extLst>
              <a:ext uri="{FF2B5EF4-FFF2-40B4-BE49-F238E27FC236}">
                <a16:creationId xmlns:a16="http://schemas.microsoft.com/office/drawing/2014/main" id="{AF47E879-2E06-8E8D-D06E-F791C634992C}"/>
              </a:ext>
            </a:extLst>
          </p:cNvPr>
          <p:cNvSpPr/>
          <p:nvPr/>
        </p:nvSpPr>
        <p:spPr>
          <a:xfrm>
            <a:off x="7151011" y="35766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188;p17">
            <a:extLst>
              <a:ext uri="{FF2B5EF4-FFF2-40B4-BE49-F238E27FC236}">
                <a16:creationId xmlns:a16="http://schemas.microsoft.com/office/drawing/2014/main" id="{9DB6AC37-B6ED-A914-9077-E00AF0556D07}"/>
              </a:ext>
            </a:extLst>
          </p:cNvPr>
          <p:cNvSpPr/>
          <p:nvPr/>
        </p:nvSpPr>
        <p:spPr>
          <a:xfrm>
            <a:off x="6570998" y="35766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189;p17">
            <a:extLst>
              <a:ext uri="{FF2B5EF4-FFF2-40B4-BE49-F238E27FC236}">
                <a16:creationId xmlns:a16="http://schemas.microsoft.com/office/drawing/2014/main" id="{0E63D6D1-0946-F95C-5DD7-E7CA9D356B15}"/>
              </a:ext>
            </a:extLst>
          </p:cNvPr>
          <p:cNvSpPr/>
          <p:nvPr/>
        </p:nvSpPr>
        <p:spPr>
          <a:xfrm>
            <a:off x="9471063" y="35766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2" name="Google Shape;192;p17">
            <a:extLst>
              <a:ext uri="{FF2B5EF4-FFF2-40B4-BE49-F238E27FC236}">
                <a16:creationId xmlns:a16="http://schemas.microsoft.com/office/drawing/2014/main" id="{D0EF48DD-F61A-2B33-E57C-41499425946A}"/>
              </a:ext>
            </a:extLst>
          </p:cNvPr>
          <p:cNvCxnSpPr>
            <a:cxnSpLocks/>
          </p:cNvCxnSpPr>
          <p:nvPr/>
        </p:nvCxnSpPr>
        <p:spPr>
          <a:xfrm rot="10800000">
            <a:off x="6658145" y="41964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" name="Google Shape;193;p17">
            <a:extLst>
              <a:ext uri="{FF2B5EF4-FFF2-40B4-BE49-F238E27FC236}">
                <a16:creationId xmlns:a16="http://schemas.microsoft.com/office/drawing/2014/main" id="{42E6CECD-FE22-9E81-E3FD-E8967EF549E4}"/>
              </a:ext>
            </a:extLst>
          </p:cNvPr>
          <p:cNvCxnSpPr>
            <a:cxnSpLocks/>
          </p:cNvCxnSpPr>
          <p:nvPr/>
        </p:nvCxnSpPr>
        <p:spPr>
          <a:xfrm rot="10800000">
            <a:off x="7818355" y="41964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4" name="Google Shape;194;p17">
            <a:extLst>
              <a:ext uri="{FF2B5EF4-FFF2-40B4-BE49-F238E27FC236}">
                <a16:creationId xmlns:a16="http://schemas.microsoft.com/office/drawing/2014/main" id="{890E3BE6-478E-2AB7-64A9-037F264A7A6C}"/>
              </a:ext>
            </a:extLst>
          </p:cNvPr>
          <p:cNvCxnSpPr>
            <a:cxnSpLocks/>
          </p:cNvCxnSpPr>
          <p:nvPr/>
        </p:nvCxnSpPr>
        <p:spPr>
          <a:xfrm rot="10800000">
            <a:off x="8978565" y="41964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5" name="Google Shape;195;p17">
            <a:extLst>
              <a:ext uri="{FF2B5EF4-FFF2-40B4-BE49-F238E27FC236}">
                <a16:creationId xmlns:a16="http://schemas.microsoft.com/office/drawing/2014/main" id="{80B2A574-C5E1-0CF5-B454-DD74A67855EE}"/>
              </a:ext>
            </a:extLst>
          </p:cNvPr>
          <p:cNvCxnSpPr>
            <a:cxnSpLocks/>
          </p:cNvCxnSpPr>
          <p:nvPr/>
        </p:nvCxnSpPr>
        <p:spPr>
          <a:xfrm rot="10800000">
            <a:off x="9558670" y="41964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" name="Google Shape;195;p17">
            <a:extLst>
              <a:ext uri="{FF2B5EF4-FFF2-40B4-BE49-F238E27FC236}">
                <a16:creationId xmlns:a16="http://schemas.microsoft.com/office/drawing/2014/main" id="{9DAAA95A-FC82-CAB9-1913-10B2BDAAC38F}"/>
              </a:ext>
            </a:extLst>
          </p:cNvPr>
          <p:cNvCxnSpPr>
            <a:cxnSpLocks/>
          </p:cNvCxnSpPr>
          <p:nvPr/>
        </p:nvCxnSpPr>
        <p:spPr>
          <a:xfrm rot="10800000">
            <a:off x="7238250" y="41964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7" name="Google Shape;187;p17">
            <a:extLst>
              <a:ext uri="{FF2B5EF4-FFF2-40B4-BE49-F238E27FC236}">
                <a16:creationId xmlns:a16="http://schemas.microsoft.com/office/drawing/2014/main" id="{B62BBAA7-285D-73B3-FC88-1D31CD0D0BBA}"/>
              </a:ext>
            </a:extLst>
          </p:cNvPr>
          <p:cNvSpPr/>
          <p:nvPr/>
        </p:nvSpPr>
        <p:spPr>
          <a:xfrm>
            <a:off x="7731024" y="35766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187;p17">
            <a:extLst>
              <a:ext uri="{FF2B5EF4-FFF2-40B4-BE49-F238E27FC236}">
                <a16:creationId xmlns:a16="http://schemas.microsoft.com/office/drawing/2014/main" id="{4744E737-2C5C-E4F4-B698-5E3233328202}"/>
              </a:ext>
            </a:extLst>
          </p:cNvPr>
          <p:cNvSpPr/>
          <p:nvPr/>
        </p:nvSpPr>
        <p:spPr>
          <a:xfrm>
            <a:off x="8891050" y="35766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89;p17">
            <a:extLst>
              <a:ext uri="{FF2B5EF4-FFF2-40B4-BE49-F238E27FC236}">
                <a16:creationId xmlns:a16="http://schemas.microsoft.com/office/drawing/2014/main" id="{01EFD45F-1110-5416-28D4-2746584877E3}"/>
              </a:ext>
            </a:extLst>
          </p:cNvPr>
          <p:cNvSpPr/>
          <p:nvPr/>
        </p:nvSpPr>
        <p:spPr>
          <a:xfrm>
            <a:off x="10051077" y="35766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1" name="Google Shape;195;p17">
            <a:extLst>
              <a:ext uri="{FF2B5EF4-FFF2-40B4-BE49-F238E27FC236}">
                <a16:creationId xmlns:a16="http://schemas.microsoft.com/office/drawing/2014/main" id="{9E4B592B-C246-5CBF-4563-A455710EE1BF}"/>
              </a:ext>
            </a:extLst>
          </p:cNvPr>
          <p:cNvCxnSpPr>
            <a:cxnSpLocks/>
          </p:cNvCxnSpPr>
          <p:nvPr/>
        </p:nvCxnSpPr>
        <p:spPr>
          <a:xfrm rot="10800000">
            <a:off x="10138777" y="41964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94;p17">
            <a:extLst>
              <a:ext uri="{FF2B5EF4-FFF2-40B4-BE49-F238E27FC236}">
                <a16:creationId xmlns:a16="http://schemas.microsoft.com/office/drawing/2014/main" id="{0C59D0E6-35C0-F6E0-CA1A-AA2E7FA8FDAC}"/>
              </a:ext>
            </a:extLst>
          </p:cNvPr>
          <p:cNvCxnSpPr>
            <a:cxnSpLocks/>
          </p:cNvCxnSpPr>
          <p:nvPr/>
        </p:nvCxnSpPr>
        <p:spPr>
          <a:xfrm rot="10800000">
            <a:off x="8398460" y="41964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" name="Google Shape;187;p17">
            <a:extLst>
              <a:ext uri="{FF2B5EF4-FFF2-40B4-BE49-F238E27FC236}">
                <a16:creationId xmlns:a16="http://schemas.microsoft.com/office/drawing/2014/main" id="{68796ACF-7FAD-EA30-DCB6-8AC67783816A}"/>
              </a:ext>
            </a:extLst>
          </p:cNvPr>
          <p:cNvSpPr/>
          <p:nvPr/>
        </p:nvSpPr>
        <p:spPr>
          <a:xfrm>
            <a:off x="8311037" y="3576641"/>
            <a:ext cx="174300" cy="524700"/>
          </a:xfrm>
          <a:prstGeom prst="rect">
            <a:avLst/>
          </a:prstGeom>
          <a:solidFill>
            <a:srgbClr val="F6B2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168E2E15-A828-15DE-BD98-DA7477901408}"/>
              </a:ext>
            </a:extLst>
          </p:cNvPr>
          <p:cNvSpPr txBox="1"/>
          <p:nvPr/>
        </p:nvSpPr>
        <p:spPr>
          <a:xfrm>
            <a:off x="511700" y="3390294"/>
            <a:ext cx="14027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ea typeface="Microsoft JhengHei" panose="020B0604030504040204" pitchFamily="34" charset="-120"/>
              </a:rPr>
              <a:t>B x 1 x H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94439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 animBg="1"/>
      <p:bldP spid="46" grpId="0"/>
      <p:bldP spid="47" grpId="0"/>
      <p:bldP spid="48" grpId="0"/>
      <p:bldP spid="49" grpId="0"/>
      <p:bldP spid="50" grpId="0"/>
      <p:bldP spid="51" grpId="0"/>
      <p:bldP spid="52" grpId="0"/>
      <p:bldP spid="54" grpId="0"/>
      <p:bldP spid="55" grpId="0"/>
      <p:bldP spid="10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99960-58C3-4350-A384-7ECE58D2A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286D14-4248-2D35-52DC-621020EB3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先</a:t>
            </a:r>
            <a:r>
              <a:rPr kumimoji="1" lang="en-US" altLang="zh-TW" dirty="0"/>
              <a:t> Pre-training</a:t>
            </a:r>
            <a:r>
              <a:rPr kumimoji="1" lang="zh-TW" altLang="en-US" dirty="0"/>
              <a:t>，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再</a:t>
            </a:r>
            <a:r>
              <a:rPr kumimoji="1" lang="zh-TW" altLang="en-US" dirty="0"/>
              <a:t> </a:t>
            </a:r>
            <a:r>
              <a:rPr kumimoji="1" lang="en-US" altLang="zh-TW" dirty="0"/>
              <a:t>Fine-tuning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437B124-F096-1D20-40B6-A856CA84A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56E07A6D-E2C8-BC3C-6647-8A5121273383}"/>
              </a:ext>
            </a:extLst>
          </p:cNvPr>
          <p:cNvSpPr/>
          <p:nvPr/>
        </p:nvSpPr>
        <p:spPr>
          <a:xfrm>
            <a:off x="2133897" y="2236380"/>
            <a:ext cx="2557219" cy="1325105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b="1" dirty="0">
                <a:solidFill>
                  <a:schemeClr val="tx1"/>
                </a:solidFill>
              </a:rPr>
              <a:t>Pre-training</a:t>
            </a:r>
            <a:endParaRPr kumimoji="1" lang="zh-TW" altLang="en-US" sz="3200" b="1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ACEB1E3E-4B56-CEA8-0BC5-76C9C6ED35E1}"/>
              </a:ext>
            </a:extLst>
          </p:cNvPr>
          <p:cNvSpPr/>
          <p:nvPr/>
        </p:nvSpPr>
        <p:spPr>
          <a:xfrm>
            <a:off x="6956157" y="2236381"/>
            <a:ext cx="2557219" cy="1325105"/>
          </a:xfrm>
          <a:prstGeom prst="round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800" b="1" dirty="0">
                <a:solidFill>
                  <a:schemeClr val="tx1"/>
                </a:solidFill>
              </a:rPr>
              <a:t>Fine-tuning</a:t>
            </a:r>
            <a:endParaRPr kumimoji="1" lang="zh-TW" altLang="en-US" sz="2800" dirty="0"/>
          </a:p>
        </p:txBody>
      </p:sp>
      <p:cxnSp>
        <p:nvCxnSpPr>
          <p:cNvPr id="7" name="Google Shape;195;p17">
            <a:extLst>
              <a:ext uri="{FF2B5EF4-FFF2-40B4-BE49-F238E27FC236}">
                <a16:creationId xmlns:a16="http://schemas.microsoft.com/office/drawing/2014/main" id="{A832F146-AD71-B715-A500-AF9834498BF3}"/>
              </a:ext>
            </a:extLst>
          </p:cNvPr>
          <p:cNvCxnSpPr>
            <a:cxnSpLocks/>
          </p:cNvCxnSpPr>
          <p:nvPr/>
        </p:nvCxnSpPr>
        <p:spPr>
          <a:xfrm>
            <a:off x="5176731" y="2907830"/>
            <a:ext cx="1293811" cy="0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230A2250-905D-BC59-B590-5E4ABBBA03D5}"/>
              </a:ext>
            </a:extLst>
          </p:cNvPr>
          <p:cNvSpPr txBox="1"/>
          <p:nvPr/>
        </p:nvSpPr>
        <p:spPr>
          <a:xfrm>
            <a:off x="1526834" y="4041933"/>
            <a:ext cx="3771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在</a:t>
            </a:r>
            <a:r>
              <a:rPr kumimoji="1" lang="zh-TW" altLang="en-US" dirty="0">
                <a:solidFill>
                  <a:srgbClr val="FF0000"/>
                </a:solidFill>
                <a:ea typeface="Microsoft JhengHei" panose="020B0604030504040204" pitchFamily="34" charset="-120"/>
              </a:rPr>
              <a:t>大量</a:t>
            </a:r>
            <a:r>
              <a:rPr kumimoji="1" lang="zh-TW" altLang="en-US" dirty="0">
                <a:ea typeface="Microsoft JhengHei" panose="020B0604030504040204" pitchFamily="34" charset="-120"/>
              </a:rPr>
              <a:t>資料上進行訓練，通常是自監督式 </a:t>
            </a:r>
            <a:r>
              <a:rPr kumimoji="1" lang="en-US" altLang="zh-TW" dirty="0">
                <a:ea typeface="Microsoft JhengHei" panose="020B0604030504040204" pitchFamily="34" charset="-120"/>
              </a:rPr>
              <a:t>(Self-Supervised Training)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592796A-986B-861D-73E9-C3B2DFDF20CE}"/>
              </a:ext>
            </a:extLst>
          </p:cNvPr>
          <p:cNvSpPr txBox="1"/>
          <p:nvPr/>
        </p:nvSpPr>
        <p:spPr>
          <a:xfrm>
            <a:off x="6444711" y="4041933"/>
            <a:ext cx="37713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zh-TW" altLang="en-US" dirty="0">
                <a:ea typeface="Microsoft JhengHei" panose="020B0604030504040204" pitchFamily="34" charset="-120"/>
              </a:rPr>
              <a:t>在</a:t>
            </a:r>
            <a:r>
              <a:rPr kumimoji="1" lang="zh-TW" altLang="en-US" b="1" dirty="0">
                <a:solidFill>
                  <a:srgbClr val="FF0000"/>
                </a:solidFill>
                <a:ea typeface="Microsoft JhengHei" panose="020B0604030504040204" pitchFamily="34" charset="-120"/>
              </a:rPr>
              <a:t>目標</a:t>
            </a:r>
            <a:r>
              <a:rPr kumimoji="1" lang="zh-TW" altLang="en-US" dirty="0">
                <a:ea typeface="Microsoft JhengHei" panose="020B0604030504040204" pitchFamily="34" charset="-120"/>
              </a:rPr>
              <a:t>資料上</a:t>
            </a:r>
            <a:r>
              <a:rPr kumimoji="1" lang="en-US" altLang="zh-TW" dirty="0">
                <a:ea typeface="Microsoft JhengHei" panose="020B0604030504040204" pitchFamily="34" charset="-120"/>
              </a:rPr>
              <a:t> (Down-stream tasks, </a:t>
            </a:r>
            <a:r>
              <a:rPr kumimoji="1" lang="zh-TW" altLang="en-US" dirty="0">
                <a:ea typeface="Microsoft JhengHei" panose="020B0604030504040204" pitchFamily="34" charset="-120"/>
              </a:rPr>
              <a:t>下游任務</a:t>
            </a:r>
            <a:r>
              <a:rPr kumimoji="1" lang="en-US" altLang="zh-TW" dirty="0">
                <a:ea typeface="Microsoft JhengHei" panose="020B0604030504040204" pitchFamily="34" charset="-120"/>
              </a:rPr>
              <a:t>) </a:t>
            </a:r>
            <a:r>
              <a:rPr kumimoji="1" lang="zh-TW" altLang="en-US" dirty="0">
                <a:ea typeface="Microsoft JhengHei" panose="020B0604030504040204" pitchFamily="34" charset="-120"/>
              </a:rPr>
              <a:t>進行訓練，通常是監督式 </a:t>
            </a:r>
            <a:r>
              <a:rPr kumimoji="1" lang="en-US" altLang="zh-TW" dirty="0">
                <a:ea typeface="Microsoft JhengHei" panose="020B0604030504040204" pitchFamily="34" charset="-120"/>
              </a:rPr>
              <a:t>(Supervised Training)</a:t>
            </a:r>
            <a:r>
              <a:rPr kumimoji="1" lang="zh-TW" altLang="en-US" dirty="0">
                <a:ea typeface="Microsoft JhengHei" panose="020B0604030504040204" pitchFamily="34" charset="-120"/>
              </a:rPr>
              <a:t>，也就是需要有標註的資料才能進行模型訓練</a:t>
            </a: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F25924DB-B45F-E4C2-1027-A5C3466AC498}"/>
              </a:ext>
            </a:extLst>
          </p:cNvPr>
          <p:cNvSpPr/>
          <p:nvPr/>
        </p:nvSpPr>
        <p:spPr>
          <a:xfrm>
            <a:off x="2211503" y="5010250"/>
            <a:ext cx="2402006" cy="464024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影像還原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C15674A8-65CF-DABC-B59B-38F6C7D3D4B9}"/>
              </a:ext>
            </a:extLst>
          </p:cNvPr>
          <p:cNvSpPr/>
          <p:nvPr/>
        </p:nvSpPr>
        <p:spPr>
          <a:xfrm>
            <a:off x="2211503" y="5564248"/>
            <a:ext cx="2402006" cy="464024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文字還原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06AC0832-FD01-F3E5-A161-482F2F5547F4}"/>
              </a:ext>
            </a:extLst>
          </p:cNvPr>
          <p:cNvSpPr/>
          <p:nvPr/>
        </p:nvSpPr>
        <p:spPr>
          <a:xfrm>
            <a:off x="2211503" y="6134098"/>
            <a:ext cx="2402006" cy="464024"/>
          </a:xfrm>
          <a:prstGeom prst="round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對比學習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2070A9A1-1FAA-0EE1-2A2B-AB235813D9F0}"/>
              </a:ext>
            </a:extLst>
          </p:cNvPr>
          <p:cNvSpPr/>
          <p:nvPr/>
        </p:nvSpPr>
        <p:spPr>
          <a:xfrm>
            <a:off x="7010749" y="5343630"/>
            <a:ext cx="2402006" cy="464024"/>
          </a:xfrm>
          <a:prstGeom prst="round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影像分類</a:t>
            </a: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06CF359A-8B5A-905E-2165-650459F5DAA9}"/>
              </a:ext>
            </a:extLst>
          </p:cNvPr>
          <p:cNvSpPr/>
          <p:nvPr/>
        </p:nvSpPr>
        <p:spPr>
          <a:xfrm>
            <a:off x="7010749" y="5913480"/>
            <a:ext cx="2402006" cy="464024"/>
          </a:xfrm>
          <a:prstGeom prst="round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文字分類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9ECA41D-FEFE-C0B5-F9FD-E6354FFCED12}"/>
              </a:ext>
            </a:extLst>
          </p:cNvPr>
          <p:cNvSpPr txBox="1"/>
          <p:nvPr/>
        </p:nvSpPr>
        <p:spPr>
          <a:xfrm>
            <a:off x="8079475" y="6366110"/>
            <a:ext cx="1210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5A2DF355-C451-BBA5-EEF3-1274F5EE5D65}"/>
              </a:ext>
            </a:extLst>
          </p:cNvPr>
          <p:cNvSpPr txBox="1"/>
          <p:nvPr/>
        </p:nvSpPr>
        <p:spPr>
          <a:xfrm>
            <a:off x="4726787" y="6181444"/>
            <a:ext cx="1210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4815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  <p:bldP spid="11" grpId="0" animBg="1"/>
      <p:bldP spid="13" grpId="0" animBg="1"/>
      <p:bldP spid="14" grpId="0" animBg="1"/>
      <p:bldP spid="15" grpId="0"/>
      <p:bldP spid="1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C11DE-095F-C7F8-6944-025200B1D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3EB7266B-9027-11EC-CA60-26E9D1C95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大型語言模型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D203BE7-4195-D630-EE4C-2D45439B7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BDFC464-F871-CC65-B7CE-56785E605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LLM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90982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E0868FB-6F6F-35BC-A23D-E0A4D5252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The Revolution of </a:t>
            </a:r>
            <a:r>
              <a:rPr kumimoji="1" lang="en-US" altLang="zh-TW" dirty="0" err="1"/>
              <a:t>ChatGPT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D7684D-DA0F-B6F8-7ABC-6110B2CE0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9E07DDE-D011-6299-A807-ED42ACC99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013" y="2080805"/>
            <a:ext cx="7060629" cy="3972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6E1A2F0-2B3B-1E98-C744-317CE2B4F219}"/>
              </a:ext>
            </a:extLst>
          </p:cNvPr>
          <p:cNvSpPr txBox="1"/>
          <p:nvPr/>
        </p:nvSpPr>
        <p:spPr>
          <a:xfrm>
            <a:off x="2477765" y="6257465"/>
            <a:ext cx="72691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/>
              <a:t>Figure source: https://</a:t>
            </a:r>
            <a:r>
              <a:rPr kumimoji="1" lang="en-US" altLang="zh-TW" sz="1400" dirty="0" err="1"/>
              <a:t>poole.ncsu.edu</a:t>
            </a:r>
            <a:r>
              <a:rPr kumimoji="1" lang="en-US" altLang="zh-TW" sz="1400" dirty="0"/>
              <a:t>/thought-leadership/article/lets-chat-about-</a:t>
            </a:r>
            <a:r>
              <a:rPr kumimoji="1" lang="en-US" altLang="zh-TW" sz="1400" dirty="0" err="1"/>
              <a:t>chatgpt</a:t>
            </a:r>
            <a:r>
              <a:rPr kumimoji="1" lang="en-US" altLang="zh-TW" sz="1400" dirty="0"/>
              <a:t>/</a:t>
            </a:r>
          </a:p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openai.com</a:t>
            </a:r>
            <a:r>
              <a:rPr kumimoji="1" lang="en" altLang="zh-TW" sz="1400" dirty="0"/>
              <a:t>/index/</a:t>
            </a:r>
            <a:r>
              <a:rPr kumimoji="1" lang="en" altLang="zh-TW" sz="1400" dirty="0" err="1"/>
              <a:t>chatgpt</a:t>
            </a:r>
            <a:r>
              <a:rPr kumimoji="1" lang="en" altLang="zh-TW" sz="1400" dirty="0"/>
              <a:t>/</a:t>
            </a:r>
            <a:endParaRPr kumimoji="1" lang="zh-TW" altLang="en-US" sz="1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0C202C2-0880-D4B3-31EA-6667DAC9DEA5}"/>
              </a:ext>
            </a:extLst>
          </p:cNvPr>
          <p:cNvSpPr txBox="1"/>
          <p:nvPr/>
        </p:nvSpPr>
        <p:spPr>
          <a:xfrm>
            <a:off x="653142" y="1586711"/>
            <a:ext cx="4866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ChatGPT</a:t>
            </a:r>
            <a:r>
              <a:rPr kumimoji="1" lang="en" altLang="zh-TW" dirty="0"/>
              <a:t> came out in November, 2022.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086260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383B8E-7820-D6F6-1C6B-194598F6A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寫程式？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E5587BB-EC37-736E-70C2-05C8113BA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568C2ED-30D9-52AF-9412-E7017E000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443" y="1877450"/>
            <a:ext cx="7457114" cy="4014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0013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C97F4-586E-F208-C8EA-193C69B0D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Code Llama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C5FDBBC-AD7B-D79D-01BB-9B2DBEF33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7DCAE8C-A040-8805-C91A-409E8AD8C9CB}"/>
              </a:ext>
            </a:extLst>
          </p:cNvPr>
          <p:cNvSpPr txBox="1"/>
          <p:nvPr/>
        </p:nvSpPr>
        <p:spPr>
          <a:xfrm>
            <a:off x="8139003" y="987093"/>
            <a:ext cx="34117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arxiv.org</a:t>
            </a:r>
            <a:r>
              <a:rPr kumimoji="1" lang="en" altLang="zh-TW" dirty="0"/>
              <a:t>/abs/2308.12950</a:t>
            </a:r>
            <a:endParaRPr kumimoji="1" lang="zh-TW" altLang="en-US" dirty="0"/>
          </a:p>
        </p:txBody>
      </p:sp>
      <p:pic>
        <p:nvPicPr>
          <p:cNvPr id="7" name="圖片 6" descr="一張含有 文字, 螢幕擷取畫面, 軟體, 作業系統 的圖片&#10;&#10;AI 產生的內容可能不正確。">
            <a:extLst>
              <a:ext uri="{FF2B5EF4-FFF2-40B4-BE49-F238E27FC236}">
                <a16:creationId xmlns:a16="http://schemas.microsoft.com/office/drawing/2014/main" id="{57AF73A1-E2C5-469B-5F13-07928441D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627" y="1514953"/>
            <a:ext cx="9036745" cy="5083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4310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01E046-4B7F-576F-5217-73815E85B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大型語言模型的演化樹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BDC1253-FB74-481A-3604-569596C8D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7F15F43-9333-0F89-6741-3E82150A4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986" y="1541284"/>
            <a:ext cx="6521370" cy="5080085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9D59790F-3374-1176-1EF0-C3FA17FE1DED}"/>
              </a:ext>
            </a:extLst>
          </p:cNvPr>
          <p:cNvSpPr txBox="1"/>
          <p:nvPr/>
        </p:nvSpPr>
        <p:spPr>
          <a:xfrm>
            <a:off x="7976565" y="5882415"/>
            <a:ext cx="35949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en" altLang="zh-TW" sz="1200" dirty="0"/>
              <a:t>Yang, </a:t>
            </a:r>
            <a:r>
              <a:rPr kumimoji="1" lang="en" altLang="zh-TW" sz="1200" dirty="0" err="1"/>
              <a:t>Jingfeng</a:t>
            </a:r>
            <a:r>
              <a:rPr kumimoji="1" lang="en" altLang="zh-TW" sz="1200" dirty="0"/>
              <a:t>, et al. "Harnessing the power of </a:t>
            </a:r>
            <a:r>
              <a:rPr kumimoji="1" lang="en" altLang="zh-TW" sz="1200" dirty="0" err="1"/>
              <a:t>llms</a:t>
            </a:r>
            <a:r>
              <a:rPr kumimoji="1" lang="en" altLang="zh-TW" sz="1200" dirty="0"/>
              <a:t> in practice: A survey on </a:t>
            </a:r>
            <a:r>
              <a:rPr kumimoji="1" lang="en" altLang="zh-TW" sz="1200" dirty="0" err="1"/>
              <a:t>chatgpt</a:t>
            </a:r>
            <a:r>
              <a:rPr kumimoji="1" lang="en" altLang="zh-TW" sz="1200" dirty="0"/>
              <a:t> and beyond." ACM Transactions on Knowledge Discovery from Data 18.6 (2024): 1-32.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347819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CE769A-E8A8-2117-57F5-8A9F59220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sz="4800" dirty="0">
                <a:ea typeface="+mj-lt"/>
                <a:cs typeface="Times New Roman"/>
              </a:rPr>
              <a:t>NLP </a:t>
            </a:r>
            <a:r>
              <a:rPr lang="en-US" altLang="zh-TW" dirty="0">
                <a:ea typeface="+mj-lt"/>
                <a:cs typeface="Times New Roman"/>
              </a:rPr>
              <a:t>Model </a:t>
            </a:r>
            <a:r>
              <a:rPr lang="en-US" altLang="zh-TW" sz="4800" dirty="0">
                <a:ea typeface="+mj-lt"/>
                <a:cs typeface="Times New Roman"/>
              </a:rPr>
              <a:t>Sizes (2018 – 2025)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E4A54C-F7AA-7493-444D-BD6FA398B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6" name="圖片 5" descr="一張含有 文字, 行, 繪圖, 數字 的圖片&#10;&#10;AI 產生的內容可能不正確。">
            <a:extLst>
              <a:ext uri="{FF2B5EF4-FFF2-40B4-BE49-F238E27FC236}">
                <a16:creationId xmlns:a16="http://schemas.microsoft.com/office/drawing/2014/main" id="{9327E867-45B1-7122-4696-DE563E508B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214" y="2036854"/>
            <a:ext cx="9867069" cy="418363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B999603-C87E-8FDB-9B00-0D869C77C558}"/>
              </a:ext>
            </a:extLst>
          </p:cNvPr>
          <p:cNvSpPr txBox="1"/>
          <p:nvPr/>
        </p:nvSpPr>
        <p:spPr>
          <a:xfrm>
            <a:off x="653143" y="2349909"/>
            <a:ext cx="743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2025</a:t>
            </a:r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EEBE7AFF-1B48-84B0-F6B5-CFBBCFEF434A}"/>
              </a:ext>
            </a:extLst>
          </p:cNvPr>
          <p:cNvSpPr txBox="1"/>
          <p:nvPr/>
        </p:nvSpPr>
        <p:spPr>
          <a:xfrm>
            <a:off x="653143" y="5392993"/>
            <a:ext cx="7430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2018</a:t>
            </a:r>
            <a:endParaRPr kumimoji="1" lang="zh-TW" altLang="en-US" dirty="0"/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E4C60897-BF57-3F4C-C90B-5AD99C0E277C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024662" y="2719241"/>
            <a:ext cx="0" cy="267375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F97C908-6F94-661D-132A-C0C6C4231402}"/>
              </a:ext>
            </a:extLst>
          </p:cNvPr>
          <p:cNvSpPr txBox="1"/>
          <p:nvPr/>
        </p:nvSpPr>
        <p:spPr>
          <a:xfrm>
            <a:off x="7322103" y="1390523"/>
            <a:ext cx="3132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3600" dirty="0"/>
              <a:t>💰💰💰💰💰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8406BF29-CDFF-984D-98B4-2F791E2EB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1168" y="872796"/>
            <a:ext cx="1343045" cy="13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34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7DFF94-A242-C744-529C-435DA4ED6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很多厲害的大型語言模型都需要上網</a:t>
            </a:r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037C42-39C2-67D3-8C2F-5489F702D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2048765-01F4-B795-0585-E166D3B332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8558" y="2583946"/>
            <a:ext cx="3317240" cy="3317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BF63747A-4941-F05E-3069-5E7824DDC51A}"/>
              </a:ext>
            </a:extLst>
          </p:cNvPr>
          <p:cNvSpPr txBox="1"/>
          <p:nvPr/>
        </p:nvSpPr>
        <p:spPr>
          <a:xfrm>
            <a:off x="5655386" y="2138770"/>
            <a:ext cx="4003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Llama (7B - 65B) by Meta (2023)</a:t>
            </a:r>
            <a:endParaRPr kumimoji="1" lang="zh-TW" altLang="en-US" dirty="0"/>
          </a:p>
        </p:txBody>
      </p:sp>
      <p:pic>
        <p:nvPicPr>
          <p:cNvPr id="3" name="Picture 2" descr="掌控社群媒體的隱形力量 一文看懂Meta AI">
            <a:extLst>
              <a:ext uri="{FF2B5EF4-FFF2-40B4-BE49-F238E27FC236}">
                <a16:creationId xmlns:a16="http://schemas.microsoft.com/office/drawing/2014/main" id="{CFBBCF11-AB49-D6AB-9D2E-3CC05EFD28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0976" y="3204972"/>
            <a:ext cx="2681681" cy="1401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5444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DDE91B7-EAD0-7C34-7C48-34E13D72C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D544217-73B1-BC6E-CA01-F6DB30723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03422"/>
            <a:ext cx="7772400" cy="5549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7536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8BCDA0-487C-1827-E408-A70A1FFD6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以前的 </a:t>
            </a:r>
            <a:r>
              <a:rPr kumimoji="1" lang="en-US" altLang="zh-TW" dirty="0"/>
              <a:t>GPT</a:t>
            </a:r>
            <a:r>
              <a:rPr kumimoji="1" lang="zh-TW" altLang="en-US" dirty="0"/>
              <a:t> 有口吃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39575A-6C29-1E98-B79E-387E71BC4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16C1DD5-97DE-81CF-FCD5-B617DB2D1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05" y="2082990"/>
            <a:ext cx="10155190" cy="391048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1A4BF0C-9016-F054-3F01-09E4E7DF534E}"/>
              </a:ext>
            </a:extLst>
          </p:cNvPr>
          <p:cNvSpPr txBox="1"/>
          <p:nvPr/>
        </p:nvSpPr>
        <p:spPr>
          <a:xfrm>
            <a:off x="749807" y="1536192"/>
            <a:ext cx="45662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 err="1"/>
              <a:t>InstructGPT</a:t>
            </a:r>
            <a:r>
              <a:rPr kumimoji="1" lang="en-US" altLang="zh-TW" sz="2000" dirty="0"/>
              <a:t>: </a:t>
            </a:r>
            <a:r>
              <a:rPr kumimoji="1" lang="en-US" altLang="zh-TW" sz="2000" dirty="0" err="1"/>
              <a:t>ChatGPT</a:t>
            </a:r>
            <a:r>
              <a:rPr kumimoji="1" lang="en-US" altLang="zh-TW" sz="2000" dirty="0"/>
              <a:t> </a:t>
            </a:r>
            <a:r>
              <a:rPr kumimoji="1" lang="zh-TW" altLang="en-US" sz="2000" dirty="0"/>
              <a:t>的前身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C72633A-D4F5-4FBB-4D43-FD390B8BEDCA}"/>
              </a:ext>
            </a:extLst>
          </p:cNvPr>
          <p:cNvSpPr txBox="1"/>
          <p:nvPr/>
        </p:nvSpPr>
        <p:spPr>
          <a:xfrm>
            <a:off x="2642616" y="6257465"/>
            <a:ext cx="7982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openai.com</a:t>
            </a:r>
            <a:r>
              <a:rPr kumimoji="1" lang="en-US" altLang="zh-TW" sz="1200" dirty="0"/>
              <a:t>/index/instruction-following/</a:t>
            </a:r>
          </a:p>
          <a:p>
            <a:r>
              <a:rPr kumimoji="1" lang="en" altLang="zh-TW" sz="1200" dirty="0"/>
              <a:t>Ouyang, Long, et al. “Training language models to follow instructions with human feedback.” </a:t>
            </a:r>
            <a:r>
              <a:rPr kumimoji="1" lang="en" altLang="zh-TW" sz="1200" dirty="0" err="1"/>
              <a:t>NeurIPS</a:t>
            </a:r>
            <a:r>
              <a:rPr kumimoji="1" lang="en" altLang="zh-TW" sz="1200" dirty="0"/>
              <a:t> 2022.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408121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D9C1CA-7917-2BE2-465A-677A71A83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GPT</a:t>
            </a:r>
            <a:r>
              <a:rPr kumimoji="1" lang="zh-TW" altLang="en-US" dirty="0"/>
              <a:t> 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系列作品時間線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F44DE6-C0A7-9422-B69D-EA16ECC46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4AC5B4B8-3085-A898-55F9-3CAF218C72DA}"/>
              </a:ext>
            </a:extLst>
          </p:cNvPr>
          <p:cNvCxnSpPr/>
          <p:nvPr/>
        </p:nvCxnSpPr>
        <p:spPr>
          <a:xfrm>
            <a:off x="2300630" y="1978848"/>
            <a:ext cx="0" cy="41989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橢圓 4">
            <a:extLst>
              <a:ext uri="{FF2B5EF4-FFF2-40B4-BE49-F238E27FC236}">
                <a16:creationId xmlns:a16="http://schemas.microsoft.com/office/drawing/2014/main" id="{439AFCA8-6D14-D3F8-6EF7-A75FEEFEE48F}"/>
              </a:ext>
            </a:extLst>
          </p:cNvPr>
          <p:cNvSpPr/>
          <p:nvPr/>
        </p:nvSpPr>
        <p:spPr>
          <a:xfrm>
            <a:off x="2157983" y="2286086"/>
            <a:ext cx="285293" cy="285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5ADBF2B-0BD9-EB83-CA81-A376629983EC}"/>
              </a:ext>
            </a:extLst>
          </p:cNvPr>
          <p:cNvSpPr txBox="1"/>
          <p:nvPr/>
        </p:nvSpPr>
        <p:spPr>
          <a:xfrm>
            <a:off x="2637128" y="2247637"/>
            <a:ext cx="6792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(GPT-1) Improving language understanding by generative pre-training</a:t>
            </a:r>
            <a:endParaRPr kumimoji="1"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D2CE923-D0F8-94AC-DAF7-DD41B064D9D3}"/>
              </a:ext>
            </a:extLst>
          </p:cNvPr>
          <p:cNvSpPr txBox="1"/>
          <p:nvPr/>
        </p:nvSpPr>
        <p:spPr>
          <a:xfrm>
            <a:off x="701042" y="2247637"/>
            <a:ext cx="1431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2018/06/11</a:t>
            </a:r>
            <a:endParaRPr kumimoji="1" lang="zh-TW" altLang="en-US" dirty="0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D722DC01-D93C-7658-52E2-0FA76CB8B32D}"/>
              </a:ext>
            </a:extLst>
          </p:cNvPr>
          <p:cNvSpPr/>
          <p:nvPr/>
        </p:nvSpPr>
        <p:spPr>
          <a:xfrm>
            <a:off x="2157983" y="3063666"/>
            <a:ext cx="285293" cy="285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E9A618C-1B07-2183-EF2B-65850BDFD006}"/>
              </a:ext>
            </a:extLst>
          </p:cNvPr>
          <p:cNvSpPr txBox="1"/>
          <p:nvPr/>
        </p:nvSpPr>
        <p:spPr>
          <a:xfrm>
            <a:off x="2637127" y="3021646"/>
            <a:ext cx="6792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(GPT-2) Language models are multi-task learners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609AFD01-D628-26AA-2D6C-43A9BB5053B8}"/>
              </a:ext>
            </a:extLst>
          </p:cNvPr>
          <p:cNvSpPr txBox="1"/>
          <p:nvPr/>
        </p:nvSpPr>
        <p:spPr>
          <a:xfrm>
            <a:off x="2637127" y="4036290"/>
            <a:ext cx="6792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(GPT-3) Language models are few-shot learners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46AF2BF-58D3-1570-FB62-3EB7CE798199}"/>
              </a:ext>
            </a:extLst>
          </p:cNvPr>
          <p:cNvSpPr txBox="1"/>
          <p:nvPr/>
        </p:nvSpPr>
        <p:spPr>
          <a:xfrm>
            <a:off x="701042" y="3021646"/>
            <a:ext cx="1431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2019/02/14</a:t>
            </a:r>
            <a:endParaRPr kumimoji="1"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A01F6822-C57B-6B62-01E8-50977809A3E0}"/>
              </a:ext>
            </a:extLst>
          </p:cNvPr>
          <p:cNvSpPr txBox="1"/>
          <p:nvPr/>
        </p:nvSpPr>
        <p:spPr>
          <a:xfrm>
            <a:off x="701042" y="4032719"/>
            <a:ext cx="1431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2020/05/28</a:t>
            </a:r>
            <a:endParaRPr kumimoji="1" lang="zh-TW" altLang="en-US" dirty="0"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5D634AA5-7FEE-B0A4-2BD6-A10F32DDE57B}"/>
              </a:ext>
            </a:extLst>
          </p:cNvPr>
          <p:cNvSpPr/>
          <p:nvPr/>
        </p:nvSpPr>
        <p:spPr>
          <a:xfrm>
            <a:off x="2157982" y="4078310"/>
            <a:ext cx="285293" cy="285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47978BA-139F-775B-A5BA-EFE52818C134}"/>
              </a:ext>
            </a:extLst>
          </p:cNvPr>
          <p:cNvSpPr txBox="1"/>
          <p:nvPr/>
        </p:nvSpPr>
        <p:spPr>
          <a:xfrm>
            <a:off x="2637126" y="5403013"/>
            <a:ext cx="8853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</a:t>
            </a:r>
            <a:r>
              <a:rPr kumimoji="1" lang="en-US" altLang="zh-TW" dirty="0" err="1"/>
              <a:t>InstructGPT</a:t>
            </a:r>
            <a:r>
              <a:rPr kumimoji="1" lang="en-US" altLang="zh-TW" dirty="0"/>
              <a:t>) Training language models to follow instructions with human feedback</a:t>
            </a:r>
            <a:endParaRPr kumimoji="1"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71A8752-0CC8-5A0A-FC45-4E9F832B382A}"/>
              </a:ext>
            </a:extLst>
          </p:cNvPr>
          <p:cNvSpPr txBox="1"/>
          <p:nvPr/>
        </p:nvSpPr>
        <p:spPr>
          <a:xfrm>
            <a:off x="701042" y="5399442"/>
            <a:ext cx="1431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2022/05/04</a:t>
            </a:r>
            <a:endParaRPr kumimoji="1" lang="zh-TW" altLang="en-US" dirty="0"/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07E64C07-F418-9242-01C1-14C1433BE614}"/>
              </a:ext>
            </a:extLst>
          </p:cNvPr>
          <p:cNvSpPr/>
          <p:nvPr/>
        </p:nvSpPr>
        <p:spPr>
          <a:xfrm>
            <a:off x="2157982" y="5445033"/>
            <a:ext cx="285293" cy="285293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8450176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F72867D-BAE7-FE54-26EC-B7975F911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The Pre-training then Fine-tuning Paradigm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84A643A-0C0A-2628-AAD2-9D4FEF8F0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CB61D7AC-56C0-E3AD-F8C1-D0E6E1FFCDA0}"/>
              </a:ext>
            </a:extLst>
          </p:cNvPr>
          <p:cNvSpPr/>
          <p:nvPr/>
        </p:nvSpPr>
        <p:spPr>
          <a:xfrm>
            <a:off x="1904933" y="3058726"/>
            <a:ext cx="2281415" cy="1325105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400" b="1" dirty="0">
                <a:solidFill>
                  <a:schemeClr val="tx1"/>
                </a:solidFill>
              </a:rPr>
              <a:t>文字接龍</a:t>
            </a:r>
            <a:endParaRPr kumimoji="1" lang="en-US" altLang="zh-TW" sz="2400" b="1" dirty="0">
              <a:solidFill>
                <a:schemeClr val="tx1"/>
              </a:solidFill>
            </a:endParaRPr>
          </a:p>
          <a:p>
            <a:pPr algn="ctr"/>
            <a:r>
              <a:rPr kumimoji="1" lang="en-US" altLang="zh-TW" sz="2400" b="1" dirty="0">
                <a:solidFill>
                  <a:schemeClr val="tx1"/>
                </a:solidFill>
              </a:rPr>
              <a:t>(Pre-training)</a:t>
            </a:r>
            <a:endParaRPr kumimoji="1" lang="zh-TW" altLang="en-US" sz="2800" b="1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07C80630-6F48-071F-F928-16865BD1E686}"/>
              </a:ext>
            </a:extLst>
          </p:cNvPr>
          <p:cNvSpPr/>
          <p:nvPr/>
        </p:nvSpPr>
        <p:spPr>
          <a:xfrm>
            <a:off x="4806394" y="3058726"/>
            <a:ext cx="2281415" cy="1325105"/>
          </a:xfrm>
          <a:prstGeom prst="round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400" b="1" dirty="0">
                <a:solidFill>
                  <a:schemeClr val="tx1"/>
                </a:solidFill>
              </a:rPr>
              <a:t>指令微調 </a:t>
            </a:r>
            <a:r>
              <a:rPr kumimoji="1" lang="en-US" altLang="zh-TW" b="1" dirty="0">
                <a:solidFill>
                  <a:schemeClr val="tx1"/>
                </a:solidFill>
              </a:rPr>
              <a:t>(Supervised Fine-tuning, SFT)</a:t>
            </a:r>
            <a:endParaRPr kumimoji="1" lang="zh-TW" altLang="en-US" sz="2400" dirty="0"/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6387E0F-7E78-B0D0-35DE-5C79C7A2D010}"/>
              </a:ext>
            </a:extLst>
          </p:cNvPr>
          <p:cNvSpPr/>
          <p:nvPr/>
        </p:nvSpPr>
        <p:spPr>
          <a:xfrm>
            <a:off x="7707855" y="3058726"/>
            <a:ext cx="2281415" cy="1325105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2400" b="1" dirty="0">
                <a:solidFill>
                  <a:schemeClr val="tx1"/>
                </a:solidFill>
              </a:rPr>
              <a:t>人類反饋學習</a:t>
            </a:r>
            <a:r>
              <a:rPr kumimoji="1" lang="en-US" altLang="zh-TW" sz="2400" b="1" dirty="0">
                <a:solidFill>
                  <a:schemeClr val="tx1"/>
                </a:solidFill>
              </a:rPr>
              <a:t> (RLHF)</a:t>
            </a:r>
            <a:endParaRPr kumimoji="1" lang="zh-TW" altLang="en-US" sz="2800" b="1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2283759-49BA-F7EF-0EB5-F66921D1FBD6}"/>
              </a:ext>
            </a:extLst>
          </p:cNvPr>
          <p:cNvSpPr txBox="1"/>
          <p:nvPr/>
        </p:nvSpPr>
        <p:spPr>
          <a:xfrm>
            <a:off x="7507511" y="4584541"/>
            <a:ext cx="26821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ea typeface="Microsoft JhengHei" panose="020B0604030504040204" pitchFamily="34" charset="-120"/>
              </a:rPr>
              <a:t>讓模型的回答貼近</a:t>
            </a:r>
            <a:r>
              <a:rPr kumimoji="1" lang="zh-TW" altLang="en-US" b="1" dirty="0">
                <a:ea typeface="Microsoft JhengHei" panose="020B0604030504040204" pitchFamily="34" charset="-120"/>
              </a:rPr>
              <a:t>人類想要</a:t>
            </a:r>
            <a:r>
              <a:rPr kumimoji="1" lang="zh-TW" altLang="en-US" dirty="0">
                <a:ea typeface="Microsoft JhengHei" panose="020B0604030504040204" pitchFamily="34" charset="-120"/>
              </a:rPr>
              <a:t>的回答</a:t>
            </a:r>
            <a:endParaRPr kumimoji="1" lang="en-US" altLang="zh-TW" dirty="0">
              <a:ea typeface="Microsoft JhengHei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A9DD720-71BD-EAF5-E170-08884EF0D442}"/>
              </a:ext>
            </a:extLst>
          </p:cNvPr>
          <p:cNvSpPr txBox="1"/>
          <p:nvPr/>
        </p:nvSpPr>
        <p:spPr>
          <a:xfrm>
            <a:off x="4674162" y="4584541"/>
            <a:ext cx="2545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ea typeface="Microsoft JhengHei" panose="020B0604030504040204" pitchFamily="34" charset="-120"/>
              </a:rPr>
              <a:t>讓模型</a:t>
            </a:r>
            <a:r>
              <a:rPr kumimoji="1" lang="zh-TW" altLang="en-US" b="1" dirty="0">
                <a:ea typeface="Microsoft JhengHei" panose="020B0604030504040204" pitchFamily="34" charset="-120"/>
              </a:rPr>
              <a:t>學會回答</a:t>
            </a:r>
          </a:p>
        </p:txBody>
      </p:sp>
      <p:cxnSp>
        <p:nvCxnSpPr>
          <p:cNvPr id="10" name="Google Shape;195;p17">
            <a:extLst>
              <a:ext uri="{FF2B5EF4-FFF2-40B4-BE49-F238E27FC236}">
                <a16:creationId xmlns:a16="http://schemas.microsoft.com/office/drawing/2014/main" id="{26274ECB-E6CD-8FC2-A8C1-1449A7F5DF09}"/>
              </a:ext>
            </a:extLst>
          </p:cNvPr>
          <p:cNvCxnSpPr>
            <a:cxnSpLocks/>
          </p:cNvCxnSpPr>
          <p:nvPr/>
        </p:nvCxnSpPr>
        <p:spPr>
          <a:xfrm>
            <a:off x="4246458" y="3721278"/>
            <a:ext cx="499826" cy="0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70D00C3-7D37-77A8-0FBF-9E155273777A}"/>
              </a:ext>
            </a:extLst>
          </p:cNvPr>
          <p:cNvSpPr txBox="1"/>
          <p:nvPr/>
        </p:nvSpPr>
        <p:spPr>
          <a:xfrm>
            <a:off x="248362" y="3536612"/>
            <a:ext cx="1298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ea typeface="Microsoft JhengHei" panose="020B0604030504040204" pitchFamily="34" charset="-120"/>
              </a:rPr>
              <a:t>GPT-3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cxnSp>
        <p:nvCxnSpPr>
          <p:cNvPr id="15" name="Google Shape;195;p17">
            <a:extLst>
              <a:ext uri="{FF2B5EF4-FFF2-40B4-BE49-F238E27FC236}">
                <a16:creationId xmlns:a16="http://schemas.microsoft.com/office/drawing/2014/main" id="{4D605540-B534-397B-3EFB-A2477014F113}"/>
              </a:ext>
            </a:extLst>
          </p:cNvPr>
          <p:cNvCxnSpPr>
            <a:cxnSpLocks/>
          </p:cNvCxnSpPr>
          <p:nvPr/>
        </p:nvCxnSpPr>
        <p:spPr>
          <a:xfrm>
            <a:off x="1348524" y="3721278"/>
            <a:ext cx="499826" cy="0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" name="Google Shape;195;p17">
            <a:extLst>
              <a:ext uri="{FF2B5EF4-FFF2-40B4-BE49-F238E27FC236}">
                <a16:creationId xmlns:a16="http://schemas.microsoft.com/office/drawing/2014/main" id="{DE43FE05-EC1E-831F-61BF-C50C19040AA6}"/>
              </a:ext>
            </a:extLst>
          </p:cNvPr>
          <p:cNvCxnSpPr>
            <a:cxnSpLocks/>
          </p:cNvCxnSpPr>
          <p:nvPr/>
        </p:nvCxnSpPr>
        <p:spPr>
          <a:xfrm>
            <a:off x="7164706" y="3721278"/>
            <a:ext cx="499826" cy="0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" name="Google Shape;195;p17">
            <a:extLst>
              <a:ext uri="{FF2B5EF4-FFF2-40B4-BE49-F238E27FC236}">
                <a16:creationId xmlns:a16="http://schemas.microsoft.com/office/drawing/2014/main" id="{BEF5FAFA-A835-55DD-70F3-C7B7BCD2B2DA}"/>
              </a:ext>
            </a:extLst>
          </p:cNvPr>
          <p:cNvCxnSpPr>
            <a:cxnSpLocks/>
          </p:cNvCxnSpPr>
          <p:nvPr/>
        </p:nvCxnSpPr>
        <p:spPr>
          <a:xfrm>
            <a:off x="10051616" y="3721278"/>
            <a:ext cx="499826" cy="0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8BB55605-64A4-0610-71E8-7AE9D95C90FC}"/>
              </a:ext>
            </a:extLst>
          </p:cNvPr>
          <p:cNvSpPr txBox="1"/>
          <p:nvPr/>
        </p:nvSpPr>
        <p:spPr>
          <a:xfrm>
            <a:off x="10500702" y="3536612"/>
            <a:ext cx="14972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 err="1">
                <a:ea typeface="Microsoft JhengHei" panose="020B0604030504040204" pitchFamily="34" charset="-120"/>
              </a:rPr>
              <a:t>InstructGPT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50930E8-6BBA-7D52-1097-4C6C3DEA3EFF}"/>
              </a:ext>
            </a:extLst>
          </p:cNvPr>
          <p:cNvSpPr txBox="1"/>
          <p:nvPr/>
        </p:nvSpPr>
        <p:spPr>
          <a:xfrm>
            <a:off x="5479311" y="2243847"/>
            <a:ext cx="38706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/>
              <a:t>Fine-tuning</a:t>
            </a:r>
            <a:endParaRPr lang="zh-TW" altLang="en-US" sz="2800" b="1" dirty="0"/>
          </a:p>
        </p:txBody>
      </p:sp>
      <p:sp>
        <p:nvSpPr>
          <p:cNvPr id="21" name="左中括弧 20">
            <a:extLst>
              <a:ext uri="{FF2B5EF4-FFF2-40B4-BE49-F238E27FC236}">
                <a16:creationId xmlns:a16="http://schemas.microsoft.com/office/drawing/2014/main" id="{84B174B6-451B-F7BC-6670-F94555EE66A8}"/>
              </a:ext>
            </a:extLst>
          </p:cNvPr>
          <p:cNvSpPr/>
          <p:nvPr/>
        </p:nvSpPr>
        <p:spPr>
          <a:xfrm rot="5400000">
            <a:off x="7329357" y="1056238"/>
            <a:ext cx="170522" cy="3633745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3DAE9B4-46C9-EBD6-7618-ED9E13994E6A}"/>
              </a:ext>
            </a:extLst>
          </p:cNvPr>
          <p:cNvSpPr txBox="1"/>
          <p:nvPr/>
        </p:nvSpPr>
        <p:spPr>
          <a:xfrm>
            <a:off x="5869858" y="6132580"/>
            <a:ext cx="6077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RLHF: Reinforcement Learning with Human Feedback</a:t>
            </a:r>
          </a:p>
        </p:txBody>
      </p:sp>
    </p:spTree>
    <p:extLst>
      <p:ext uri="{BB962C8B-B14F-4D97-AF65-F5344CB8AC3E}">
        <p14:creationId xmlns:p14="http://schemas.microsoft.com/office/powerpoint/2010/main" val="1520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20" grpId="0"/>
      <p:bldP spid="2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10AA06-55A2-0563-C793-FD1650B2F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語言模型會回答嗎？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63A679-9960-B29B-B427-8386573B7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79E25FD1-439A-416C-6F37-7BBE81721DE2}"/>
              </a:ext>
            </a:extLst>
          </p:cNvPr>
          <p:cNvSpPr/>
          <p:nvPr/>
        </p:nvSpPr>
        <p:spPr>
          <a:xfrm>
            <a:off x="1713016" y="2691246"/>
            <a:ext cx="4582391" cy="149629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dirty="0">
                <a:solidFill>
                  <a:schemeClr val="tx1"/>
                </a:solidFill>
              </a:rPr>
              <a:t>咕嚕咕嚕意思是什麼，你知道嗎？聽到網友說「咕嚕咕嚕」，以為是指喝水的聲音？其實不是哦！社群上流行的咕嚕咕嚕，是模擬人被水淹沒時，會發出類似咕嚕咕嚕的聲響。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B0CB002-9FD7-0F2B-D512-2E7C869AC9C2}"/>
              </a:ext>
            </a:extLst>
          </p:cNvPr>
          <p:cNvSpPr txBox="1"/>
          <p:nvPr/>
        </p:nvSpPr>
        <p:spPr>
          <a:xfrm>
            <a:off x="653143" y="3199274"/>
            <a:ext cx="12469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文章一：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50D8054-9075-ED53-2B34-99CCADFE9579}"/>
              </a:ext>
            </a:extLst>
          </p:cNvPr>
          <p:cNvSpPr/>
          <p:nvPr/>
        </p:nvSpPr>
        <p:spPr>
          <a:xfrm>
            <a:off x="1713015" y="4408624"/>
            <a:ext cx="4582391" cy="138199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TW" dirty="0">
                <a:solidFill>
                  <a:srgbClr val="0070C0"/>
                </a:solidFill>
              </a:rPr>
              <a:t>《</a:t>
            </a:r>
            <a:r>
              <a:rPr kumimoji="1" lang="zh-TW" altLang="en-US" dirty="0">
                <a:solidFill>
                  <a:srgbClr val="0070C0"/>
                </a:solidFill>
              </a:rPr>
              <a:t>咕嚕咕嚕魔法陣</a:t>
            </a:r>
            <a:r>
              <a:rPr kumimoji="1" lang="en-US" altLang="zh-TW" dirty="0">
                <a:solidFill>
                  <a:srgbClr val="0070C0"/>
                </a:solidFill>
              </a:rPr>
              <a:t>》</a:t>
            </a:r>
            <a:r>
              <a:rPr kumimoji="1" lang="zh-TW" altLang="en-US" dirty="0">
                <a:solidFill>
                  <a:srgbClr val="0070C0"/>
                </a:solidFill>
              </a:rPr>
              <a:t>是衛藤浩幸於</a:t>
            </a:r>
            <a:r>
              <a:rPr kumimoji="1" lang="en-US" altLang="zh-TW" dirty="0">
                <a:solidFill>
                  <a:srgbClr val="0070C0"/>
                </a:solidFill>
              </a:rPr>
              <a:t>1992</a:t>
            </a:r>
            <a:r>
              <a:rPr kumimoji="1" lang="zh-TW" altLang="en-US" dirty="0">
                <a:solidFill>
                  <a:srgbClr val="0070C0"/>
                </a:solidFill>
              </a:rPr>
              <a:t>年至</a:t>
            </a:r>
            <a:r>
              <a:rPr kumimoji="1" lang="en-US" altLang="zh-TW" dirty="0">
                <a:solidFill>
                  <a:srgbClr val="0070C0"/>
                </a:solidFill>
              </a:rPr>
              <a:t>2003</a:t>
            </a:r>
            <a:r>
              <a:rPr kumimoji="1" lang="zh-TW" altLang="en-US" dirty="0">
                <a:solidFill>
                  <a:srgbClr val="0070C0"/>
                </a:solidFill>
              </a:rPr>
              <a:t>年在艾尼克斯（今已合併改名為史克威爾艾尼克斯）旗下漫畫雜誌</a:t>
            </a:r>
            <a:r>
              <a:rPr kumimoji="1" lang="en-US" altLang="zh-TW" dirty="0">
                <a:solidFill>
                  <a:srgbClr val="0070C0"/>
                </a:solidFill>
              </a:rPr>
              <a:t>《</a:t>
            </a:r>
            <a:r>
              <a:rPr kumimoji="1" lang="zh-TW" altLang="en-US" dirty="0">
                <a:solidFill>
                  <a:srgbClr val="0070C0"/>
                </a:solidFill>
              </a:rPr>
              <a:t>月刊少年</a:t>
            </a:r>
            <a:r>
              <a:rPr kumimoji="1" lang="en" altLang="zh-TW" dirty="0">
                <a:solidFill>
                  <a:srgbClr val="0070C0"/>
                </a:solidFill>
              </a:rPr>
              <a:t>GANGAN》</a:t>
            </a:r>
            <a:r>
              <a:rPr kumimoji="1" lang="zh-TW" altLang="en-US" dirty="0">
                <a:solidFill>
                  <a:srgbClr val="0070C0"/>
                </a:solidFill>
              </a:rPr>
              <a:t>創作的日本搞笑奇幻漫畫 </a:t>
            </a:r>
            <a:r>
              <a:rPr kumimoji="1" lang="en-US" altLang="zh-TW" dirty="0">
                <a:solidFill>
                  <a:srgbClr val="0070C0"/>
                </a:solidFill>
              </a:rPr>
              <a:t>...</a:t>
            </a:r>
            <a:endParaRPr kumimoji="1" lang="zh-TW" altLang="en-US" dirty="0">
              <a:solidFill>
                <a:srgbClr val="0070C0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E49054B-1341-EBBF-AE7E-0EEBA1F87D68}"/>
              </a:ext>
            </a:extLst>
          </p:cNvPr>
          <p:cNvSpPr txBox="1"/>
          <p:nvPr/>
        </p:nvSpPr>
        <p:spPr>
          <a:xfrm>
            <a:off x="653143" y="4914953"/>
            <a:ext cx="12469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0070C0"/>
                </a:solidFill>
              </a:rPr>
              <a:t>文章二：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9879CE4-31B3-3EC4-3C8F-3134757C8006}"/>
              </a:ext>
            </a:extLst>
          </p:cNvPr>
          <p:cNvSpPr txBox="1"/>
          <p:nvPr/>
        </p:nvSpPr>
        <p:spPr>
          <a:xfrm>
            <a:off x="653143" y="1840320"/>
            <a:ext cx="42513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b="1" dirty="0"/>
              <a:t>人類提問：什麼是咕嚕咕嚕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9F34D7C8-B536-7851-7AB0-FE67E160AEA3}"/>
              </a:ext>
            </a:extLst>
          </p:cNvPr>
          <p:cNvSpPr txBox="1"/>
          <p:nvPr/>
        </p:nvSpPr>
        <p:spPr>
          <a:xfrm>
            <a:off x="7803573" y="2315674"/>
            <a:ext cx="33043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/>
              <a:t>Before SFT (</a:t>
            </a:r>
            <a:r>
              <a:rPr kumimoji="1" lang="zh-TW" altLang="en-US" sz="2000" b="1" dirty="0"/>
              <a:t>只會文字接龍</a:t>
            </a:r>
            <a:r>
              <a:rPr kumimoji="1" lang="en-US" altLang="zh-TW" sz="2000" b="1" dirty="0"/>
              <a:t>)</a:t>
            </a:r>
            <a:endParaRPr kumimoji="1" lang="zh-TW" altLang="en-US" sz="2000" b="1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D1214546-53F1-5FC3-F756-74AFCEAA6A07}"/>
              </a:ext>
            </a:extLst>
          </p:cNvPr>
          <p:cNvSpPr txBox="1"/>
          <p:nvPr/>
        </p:nvSpPr>
        <p:spPr>
          <a:xfrm>
            <a:off x="7189025" y="2782076"/>
            <a:ext cx="425136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zh-TW" altLang="en-US" dirty="0"/>
              <a:t>🤖：意思是什麼，你知道嗎？聽到網友說「咕嚕咕嚕」，以為是指喝水的聲音？其實不是哦！社群上流行的咕嚕咕嚕</a:t>
            </a:r>
            <a:r>
              <a:rPr kumimoji="1" lang="zh-TW" altLang="en-US" dirty="0">
                <a:solidFill>
                  <a:srgbClr val="0070C0"/>
                </a:solidFill>
              </a:rPr>
              <a:t>魔法陣是衛藤浩幸於</a:t>
            </a:r>
            <a:r>
              <a:rPr kumimoji="1" lang="en-US" altLang="zh-TW" dirty="0">
                <a:solidFill>
                  <a:srgbClr val="0070C0"/>
                </a:solidFill>
              </a:rPr>
              <a:t>1992</a:t>
            </a:r>
            <a:r>
              <a:rPr kumimoji="1" lang="zh-TW" altLang="en-US" dirty="0">
                <a:solidFill>
                  <a:srgbClr val="0070C0"/>
                </a:solidFill>
              </a:rPr>
              <a:t>年至</a:t>
            </a:r>
            <a:r>
              <a:rPr kumimoji="1" lang="en-US" altLang="zh-TW" dirty="0">
                <a:solidFill>
                  <a:srgbClr val="0070C0"/>
                </a:solidFill>
              </a:rPr>
              <a:t>2003</a:t>
            </a:r>
            <a:r>
              <a:rPr kumimoji="1" lang="zh-TW" altLang="en-US" dirty="0">
                <a:solidFill>
                  <a:srgbClr val="0070C0"/>
                </a:solidFill>
              </a:rPr>
              <a:t>年</a:t>
            </a:r>
            <a:r>
              <a:rPr kumimoji="1" lang="en-US" altLang="zh-TW" dirty="0">
                <a:solidFill>
                  <a:srgbClr val="0070C0"/>
                </a:solidFill>
              </a:rPr>
              <a:t>...</a:t>
            </a:r>
            <a:endParaRPr kumimoji="1" lang="zh-TW" altLang="en-US" dirty="0">
              <a:solidFill>
                <a:srgbClr val="0070C0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626482F-F724-2885-5FD0-FEFA1A1D999B}"/>
              </a:ext>
            </a:extLst>
          </p:cNvPr>
          <p:cNvSpPr txBox="1"/>
          <p:nvPr/>
        </p:nvSpPr>
        <p:spPr>
          <a:xfrm>
            <a:off x="7189025" y="4734901"/>
            <a:ext cx="42513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zh-TW" altLang="en-US" dirty="0"/>
              <a:t>🤖：「咕嚕咕嚕」為網路用語，模擬人被水淹沒時發出類似咕嚕咕嚕的聲響。</a:t>
            </a:r>
            <a:endParaRPr kumimoji="1" lang="zh-TW" altLang="en-US" dirty="0">
              <a:solidFill>
                <a:srgbClr val="0070C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943B9A99-BCCC-BD5B-10D1-3A656F446062}"/>
              </a:ext>
            </a:extLst>
          </p:cNvPr>
          <p:cNvSpPr txBox="1"/>
          <p:nvPr/>
        </p:nvSpPr>
        <p:spPr>
          <a:xfrm>
            <a:off x="7662553" y="4299399"/>
            <a:ext cx="33043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/>
              <a:t>After SFT (</a:t>
            </a:r>
            <a:r>
              <a:rPr kumimoji="1" lang="zh-TW" altLang="en-US" sz="2000" b="1" dirty="0"/>
              <a:t>知道如何回答</a:t>
            </a:r>
            <a:r>
              <a:rPr kumimoji="1" lang="en-US" altLang="zh-TW" sz="2000" b="1" dirty="0"/>
              <a:t>)</a:t>
            </a:r>
            <a:endParaRPr kumimoji="1" lang="zh-TW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873389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/>
      <p:bldP spid="9" grpId="0"/>
      <p:bldP spid="10" grpId="0"/>
      <p:bldP spid="11" grpId="0"/>
      <p:bldP spid="14" grpId="0"/>
      <p:bldP spid="1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9658AD-4854-C938-AB6D-BB237CC59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Supervised Fine-Tuning (SFT)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035C22C-5EA7-884C-CC6E-3D99DF190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D5360B3D-D8E9-7928-B89D-C6351719D30F}"/>
              </a:ext>
            </a:extLst>
          </p:cNvPr>
          <p:cNvSpPr/>
          <p:nvPr/>
        </p:nvSpPr>
        <p:spPr>
          <a:xfrm>
            <a:off x="1104996" y="2639029"/>
            <a:ext cx="3275635" cy="76392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" altLang="zh-TW" b="1" dirty="0">
                <a:solidFill>
                  <a:schemeClr val="tx1"/>
                </a:solidFill>
              </a:rPr>
              <a:t>Tell me who is Oppenheimer?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E0150254-879B-2232-7B6B-7E6B6B455533}"/>
              </a:ext>
            </a:extLst>
          </p:cNvPr>
          <p:cNvSpPr/>
          <p:nvPr/>
        </p:nvSpPr>
        <p:spPr>
          <a:xfrm>
            <a:off x="4692349" y="4062091"/>
            <a:ext cx="1965960" cy="834390"/>
          </a:xfrm>
          <a:prstGeom prst="roundRect">
            <a:avLst/>
          </a:prstGeom>
          <a:solidFill>
            <a:srgbClr val="FFEBC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語言模型</a:t>
            </a:r>
            <a:endParaRPr kumimoji="1" lang="en-US" altLang="zh-TW" dirty="0">
              <a:solidFill>
                <a:schemeClr val="tx1"/>
              </a:solidFill>
            </a:endParaRPr>
          </a:p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(e.g., GPT-3)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9" name="肘形接點 8">
            <a:extLst>
              <a:ext uri="{FF2B5EF4-FFF2-40B4-BE49-F238E27FC236}">
                <a16:creationId xmlns:a16="http://schemas.microsoft.com/office/drawing/2014/main" id="{CB61CB32-9CA6-53A2-A3DD-C0E720408378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3179417" y="2966354"/>
            <a:ext cx="1076328" cy="1949535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圓角矩形 9">
            <a:extLst>
              <a:ext uri="{FF2B5EF4-FFF2-40B4-BE49-F238E27FC236}">
                <a16:creationId xmlns:a16="http://schemas.microsoft.com/office/drawing/2014/main" id="{F7C62BEF-0439-752F-5D18-E1D9271E7D1A}"/>
              </a:ext>
            </a:extLst>
          </p:cNvPr>
          <p:cNvSpPr/>
          <p:nvPr/>
        </p:nvSpPr>
        <p:spPr>
          <a:xfrm>
            <a:off x="7715945" y="4097322"/>
            <a:ext cx="3275635" cy="76392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" altLang="zh-TW" b="1" dirty="0">
                <a:solidFill>
                  <a:schemeClr val="tx1"/>
                </a:solidFill>
              </a:rPr>
              <a:t>Oppenheimer is the father of …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1D973CB3-D879-20E2-63B6-08EFC8F50172}"/>
              </a:ext>
            </a:extLst>
          </p:cNvPr>
          <p:cNvSpPr/>
          <p:nvPr/>
        </p:nvSpPr>
        <p:spPr>
          <a:xfrm>
            <a:off x="7715944" y="2639029"/>
            <a:ext cx="3275635" cy="76392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" altLang="zh-TW" b="1" dirty="0">
                <a:solidFill>
                  <a:schemeClr val="tx1"/>
                </a:solidFill>
              </a:rPr>
              <a:t>Julius Robert Oppenheimer is …</a:t>
            </a:r>
            <a:endParaRPr kumimoji="1" lang="zh-TW" altLang="en-US" b="1" dirty="0">
              <a:solidFill>
                <a:schemeClr val="tx1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EB96801-E2B0-577A-D26F-6861321BBED5}"/>
              </a:ext>
            </a:extLst>
          </p:cNvPr>
          <p:cNvSpPr txBox="1"/>
          <p:nvPr/>
        </p:nvSpPr>
        <p:spPr>
          <a:xfrm>
            <a:off x="2019395" y="2228533"/>
            <a:ext cx="1446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Prompt</a:t>
            </a:r>
            <a:endParaRPr kumimoji="1"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57B7A6C-5252-E432-6502-81E2161D5CFF}"/>
              </a:ext>
            </a:extLst>
          </p:cNvPr>
          <p:cNvSpPr txBox="1"/>
          <p:nvPr/>
        </p:nvSpPr>
        <p:spPr>
          <a:xfrm>
            <a:off x="7715944" y="2228533"/>
            <a:ext cx="3275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Ground-truths (human-written)</a:t>
            </a:r>
            <a:endParaRPr kumimoji="1"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5C70096-1639-53D6-7C84-96005A8049ED}"/>
              </a:ext>
            </a:extLst>
          </p:cNvPr>
          <p:cNvSpPr txBox="1"/>
          <p:nvPr/>
        </p:nvSpPr>
        <p:spPr>
          <a:xfrm>
            <a:off x="7715944" y="4942781"/>
            <a:ext cx="3275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Model Prediction</a:t>
            </a:r>
            <a:endParaRPr kumimoji="1" lang="zh-TW" altLang="en-US" dirty="0"/>
          </a:p>
        </p:txBody>
      </p: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08261E44-A236-92BB-55AE-D4220307A25B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6658309" y="4479286"/>
            <a:ext cx="1057636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A792E5F3-3E0D-4F69-27A7-04E292149C17}"/>
              </a:ext>
            </a:extLst>
          </p:cNvPr>
          <p:cNvCxnSpPr>
            <a:cxnSpLocks/>
          </p:cNvCxnSpPr>
          <p:nvPr/>
        </p:nvCxnSpPr>
        <p:spPr>
          <a:xfrm flipV="1">
            <a:off x="9338334" y="3510025"/>
            <a:ext cx="0" cy="472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E2712545-EB83-E2C5-33C2-92EFD9046D64}"/>
              </a:ext>
            </a:extLst>
          </p:cNvPr>
          <p:cNvCxnSpPr>
            <a:cxnSpLocks/>
          </p:cNvCxnSpPr>
          <p:nvPr/>
        </p:nvCxnSpPr>
        <p:spPr>
          <a:xfrm flipH="1">
            <a:off x="9479159" y="3510025"/>
            <a:ext cx="0" cy="472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50F66BA5-9E68-7B6F-330A-2590609FF3BF}"/>
              </a:ext>
            </a:extLst>
          </p:cNvPr>
          <p:cNvSpPr txBox="1"/>
          <p:nvPr/>
        </p:nvSpPr>
        <p:spPr>
          <a:xfrm>
            <a:off x="8032323" y="3571790"/>
            <a:ext cx="1446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Optimize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27821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E7C426-22C9-2369-C106-950BD3099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Atari – a common environment for RL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E46FD7D-8BEE-DC04-1C89-D8CCDF033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6C6F15F-30C4-8CF6-8340-D1F7688BA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527" y="2184670"/>
            <a:ext cx="5133507" cy="336818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229806E9-D72C-DF86-6A01-A4C51E6D1033}"/>
              </a:ext>
            </a:extLst>
          </p:cNvPr>
          <p:cNvSpPr txBox="1"/>
          <p:nvPr/>
        </p:nvSpPr>
        <p:spPr>
          <a:xfrm>
            <a:off x="2106457" y="6415560"/>
            <a:ext cx="797908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dirty="0"/>
              <a:t>Figure from: Mnih, Volodymyr, et al. "Playing atari with deep reinforcement learning." NIPS (2013).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A7D4408C-F8E1-A4D9-D5F5-BAE09AC570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1711" y="3290602"/>
            <a:ext cx="2875341" cy="1758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4068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752A645-1D17-C035-3A04-8EF3A7FDD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249C3-EFAD-D94E-864A-24510FCA3FE0}" type="slidenum">
              <a:rPr kumimoji="1" lang="zh-TW" altLang="en-US" smtClean="0"/>
              <a:t>39</a:t>
            </a:fld>
            <a:endParaRPr kumimoji="1" lang="zh-TW" alt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F7D96219-B686-82C6-7860-DEBDCEF4F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sz="4800" dirty="0">
                <a:solidFill>
                  <a:schemeClr val="tx1"/>
                </a:solidFill>
              </a:rPr>
              <a:t>RLHF</a:t>
            </a:r>
            <a:r>
              <a:rPr kumimoji="1" lang="zh-TW" altLang="en-US" sz="4800" dirty="0">
                <a:solidFill>
                  <a:schemeClr val="tx1"/>
                </a:solidFill>
              </a:rPr>
              <a:t> 的進行過程</a:t>
            </a:r>
            <a:endParaRPr kumimoji="1"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EEE785D6-BA7F-3F3D-D121-805180561CD0}"/>
              </a:ext>
            </a:extLst>
          </p:cNvPr>
          <p:cNvSpPr txBox="1"/>
          <p:nvPr/>
        </p:nvSpPr>
        <p:spPr>
          <a:xfrm>
            <a:off x="1033506" y="2859020"/>
            <a:ext cx="16281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" altLang="zh-TW" b="1" dirty="0"/>
              <a:t>Supervised Fine-Tuning</a:t>
            </a:r>
            <a:endParaRPr lang="zh-TW" altLang="en-US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B2362DC-F5C7-D8BE-8B7C-3C3F3806EA5F}"/>
              </a:ext>
            </a:extLst>
          </p:cNvPr>
          <p:cNvSpPr txBox="1"/>
          <p:nvPr/>
        </p:nvSpPr>
        <p:spPr>
          <a:xfrm>
            <a:off x="426027" y="4459793"/>
            <a:ext cx="26189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" altLang="zh-TW" b="1" dirty="0"/>
              <a:t>Reinforcement Learning with Human Feedback (</a:t>
            </a:r>
            <a:r>
              <a:rPr kumimoji="1" lang="en" altLang="zh-TW" b="1" dirty="0">
                <a:solidFill>
                  <a:srgbClr val="FF0000"/>
                </a:solidFill>
              </a:rPr>
              <a:t>RLHF</a:t>
            </a:r>
            <a:r>
              <a:rPr kumimoji="1" lang="en" altLang="zh-TW" b="1" dirty="0"/>
              <a:t>)</a:t>
            </a:r>
            <a:endParaRPr lang="zh-TW" altLang="en-US" b="1" dirty="0"/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28FDD7F6-E298-DC0E-C274-3D0B84A5D918}"/>
              </a:ext>
            </a:extLst>
          </p:cNvPr>
          <p:cNvSpPr/>
          <p:nvPr/>
        </p:nvSpPr>
        <p:spPr>
          <a:xfrm>
            <a:off x="3017398" y="2800222"/>
            <a:ext cx="1965961" cy="76392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" altLang="zh-TW" sz="1600" b="1" dirty="0">
                <a:solidFill>
                  <a:schemeClr val="tx1"/>
                </a:solidFill>
              </a:rPr>
              <a:t>Tell me who is Oppenheimer?</a:t>
            </a:r>
            <a:endParaRPr kumimoji="1" lang="zh-TW" altLang="en-US" sz="1600" b="1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D3E4AFA2-5A59-FBA5-30C5-75DE6772E083}"/>
              </a:ext>
            </a:extLst>
          </p:cNvPr>
          <p:cNvSpPr/>
          <p:nvPr/>
        </p:nvSpPr>
        <p:spPr>
          <a:xfrm>
            <a:off x="5598134" y="2764991"/>
            <a:ext cx="1965960" cy="834390"/>
          </a:xfrm>
          <a:prstGeom prst="roundRect">
            <a:avLst/>
          </a:prstGeom>
          <a:solidFill>
            <a:srgbClr val="FFEBC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1600" dirty="0">
                <a:solidFill>
                  <a:schemeClr val="tx1"/>
                </a:solidFill>
              </a:rPr>
              <a:t>語言模型</a:t>
            </a:r>
            <a:endParaRPr kumimoji="1"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(e.g., </a:t>
            </a:r>
            <a:r>
              <a:rPr kumimoji="1" lang="en-US" altLang="zh-TW" sz="1600" dirty="0" err="1">
                <a:solidFill>
                  <a:schemeClr val="tx1"/>
                </a:solidFill>
              </a:rPr>
              <a:t>InstructGPT</a:t>
            </a:r>
            <a:r>
              <a:rPr kumimoji="1" lang="en-US" altLang="zh-TW" sz="1600" dirty="0">
                <a:solidFill>
                  <a:schemeClr val="tx1"/>
                </a:solidFill>
              </a:rPr>
              <a:t>)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2DDA9110-3E05-8099-F28B-50950C80FBA5}"/>
              </a:ext>
            </a:extLst>
          </p:cNvPr>
          <p:cNvSpPr/>
          <p:nvPr/>
        </p:nvSpPr>
        <p:spPr>
          <a:xfrm>
            <a:off x="8792144" y="2800222"/>
            <a:ext cx="2170634" cy="76392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" altLang="zh-TW" sz="1600" b="1" dirty="0">
                <a:solidFill>
                  <a:schemeClr val="tx1"/>
                </a:solidFill>
              </a:rPr>
              <a:t>Julius Robert Oppenheimer is …</a:t>
            </a:r>
            <a:endParaRPr kumimoji="1" lang="zh-TW" altLang="en-US" sz="1600" b="1" dirty="0">
              <a:solidFill>
                <a:schemeClr val="tx1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F28FC139-E290-46BD-6B72-6FF703ADFC9F}"/>
              </a:ext>
            </a:extLst>
          </p:cNvPr>
          <p:cNvSpPr txBox="1"/>
          <p:nvPr/>
        </p:nvSpPr>
        <p:spPr>
          <a:xfrm>
            <a:off x="8382794" y="2153891"/>
            <a:ext cx="29848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As close to </a:t>
            </a:r>
            <a:r>
              <a:rPr kumimoji="1" lang="en-US" altLang="zh-TW" dirty="0"/>
              <a:t>human-written ground-truths </a:t>
            </a:r>
            <a:r>
              <a:rPr kumimoji="1" lang="en-US" altLang="zh-TW" dirty="0">
                <a:solidFill>
                  <a:srgbClr val="FF0000"/>
                </a:solidFill>
              </a:rPr>
              <a:t>as possible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E93C4B3B-5864-37B0-EA3D-A244F5DD94FD}"/>
              </a:ext>
            </a:extLst>
          </p:cNvPr>
          <p:cNvSpPr/>
          <p:nvPr/>
        </p:nvSpPr>
        <p:spPr>
          <a:xfrm>
            <a:off x="5598134" y="4504265"/>
            <a:ext cx="1965960" cy="834390"/>
          </a:xfrm>
          <a:prstGeom prst="roundRect">
            <a:avLst/>
          </a:prstGeom>
          <a:solidFill>
            <a:srgbClr val="FFEBC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sz="1600" dirty="0">
                <a:solidFill>
                  <a:schemeClr val="tx1"/>
                </a:solidFill>
              </a:rPr>
              <a:t>語言模型</a:t>
            </a:r>
            <a:endParaRPr kumimoji="1"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(e.g., </a:t>
            </a:r>
            <a:r>
              <a:rPr kumimoji="1" lang="en-US" altLang="zh-TW" sz="1600" dirty="0" err="1">
                <a:solidFill>
                  <a:schemeClr val="tx1"/>
                </a:solidFill>
              </a:rPr>
              <a:t>InstructGPT</a:t>
            </a:r>
            <a:r>
              <a:rPr kumimoji="1" lang="en-US" altLang="zh-TW" sz="1600" dirty="0">
                <a:solidFill>
                  <a:schemeClr val="tx1"/>
                </a:solidFill>
              </a:rPr>
              <a:t>)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9CF54F18-114F-5E47-3388-B570DC8FA7C7}"/>
              </a:ext>
            </a:extLst>
          </p:cNvPr>
          <p:cNvSpPr/>
          <p:nvPr/>
        </p:nvSpPr>
        <p:spPr>
          <a:xfrm>
            <a:off x="3017397" y="4539495"/>
            <a:ext cx="1965961" cy="763929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" altLang="zh-TW" sz="1600" b="1" dirty="0">
                <a:solidFill>
                  <a:schemeClr val="tx1"/>
                </a:solidFill>
              </a:rPr>
              <a:t>Tell me who is Oppenheimer?</a:t>
            </a:r>
            <a:endParaRPr kumimoji="1" lang="zh-TW" altLang="en-US" sz="1600" b="1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8917E547-7AFD-D0ED-E45C-A17E29A258B3}"/>
              </a:ext>
            </a:extLst>
          </p:cNvPr>
          <p:cNvSpPr/>
          <p:nvPr/>
        </p:nvSpPr>
        <p:spPr>
          <a:xfrm>
            <a:off x="9034371" y="5236059"/>
            <a:ext cx="1769112" cy="574086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Reward Model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B05220E0-11D2-F1F3-C531-DCF75DEAB595}"/>
              </a:ext>
            </a:extLst>
          </p:cNvPr>
          <p:cNvSpPr/>
          <p:nvPr/>
        </p:nvSpPr>
        <p:spPr>
          <a:xfrm>
            <a:off x="9093984" y="4424695"/>
            <a:ext cx="1649885" cy="488952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" altLang="zh-TW" sz="1600" b="1" dirty="0">
                <a:solidFill>
                  <a:schemeClr val="tx1"/>
                </a:solidFill>
              </a:rPr>
              <a:t>Score (Scalar)</a:t>
            </a:r>
            <a:endParaRPr kumimoji="1" lang="zh-TW" altLang="en-US" sz="1600" b="1" dirty="0">
              <a:solidFill>
                <a:schemeClr val="tx1"/>
              </a:solidFill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B981A80-EB9F-E098-C986-E936B0244D69}"/>
              </a:ext>
            </a:extLst>
          </p:cNvPr>
          <p:cNvSpPr txBox="1"/>
          <p:nvPr/>
        </p:nvSpPr>
        <p:spPr>
          <a:xfrm>
            <a:off x="8792144" y="4036381"/>
            <a:ext cx="2309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As high as possible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19" name="肘形接點 18">
            <a:extLst>
              <a:ext uri="{FF2B5EF4-FFF2-40B4-BE49-F238E27FC236}">
                <a16:creationId xmlns:a16="http://schemas.microsoft.com/office/drawing/2014/main" id="{DA986F20-427D-C6A0-15F9-F1EE1C88DEF7}"/>
              </a:ext>
            </a:extLst>
          </p:cNvPr>
          <p:cNvCxnSpPr>
            <a:cxnSpLocks/>
            <a:stCxn id="13" idx="2"/>
            <a:endCxn id="15" idx="1"/>
          </p:cNvCxnSpPr>
          <p:nvPr/>
        </p:nvCxnSpPr>
        <p:spPr>
          <a:xfrm rot="16200000" flipH="1">
            <a:off x="7715519" y="4204249"/>
            <a:ext cx="184447" cy="245325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8F2F779-9619-6C68-A88E-F965AC12213B}"/>
              </a:ext>
            </a:extLst>
          </p:cNvPr>
          <p:cNvCxnSpPr>
            <a:cxnSpLocks/>
            <a:stCxn id="15" idx="0"/>
            <a:endCxn id="16" idx="2"/>
          </p:cNvCxnSpPr>
          <p:nvPr/>
        </p:nvCxnSpPr>
        <p:spPr>
          <a:xfrm flipV="1">
            <a:off x="9918927" y="4913647"/>
            <a:ext cx="0" cy="3224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96FD90A1-ABA7-7C71-1AA2-D510C7973F7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4983359" y="3182186"/>
            <a:ext cx="614775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7E9067B3-A29B-9439-3B47-7F4C082C8C3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>
            <a:off x="4983358" y="4921460"/>
            <a:ext cx="61477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BAC6BB84-D418-A868-9174-D17903E5FE20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7564094" y="3182186"/>
            <a:ext cx="12280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肘形接點 33">
            <a:extLst>
              <a:ext uri="{FF2B5EF4-FFF2-40B4-BE49-F238E27FC236}">
                <a16:creationId xmlns:a16="http://schemas.microsoft.com/office/drawing/2014/main" id="{C2F8BA38-4201-16D6-5EE8-7460641B8990}"/>
              </a:ext>
            </a:extLst>
          </p:cNvPr>
          <p:cNvCxnSpPr>
            <a:cxnSpLocks/>
            <a:stCxn id="17" idx="1"/>
            <a:endCxn id="13" idx="0"/>
          </p:cNvCxnSpPr>
          <p:nvPr/>
        </p:nvCxnSpPr>
        <p:spPr>
          <a:xfrm rot="10800000" flipV="1">
            <a:off x="6581114" y="4221047"/>
            <a:ext cx="2211030" cy="283218"/>
          </a:xfrm>
          <a:prstGeom prst="bentConnector2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肘形接點 38">
            <a:extLst>
              <a:ext uri="{FF2B5EF4-FFF2-40B4-BE49-F238E27FC236}">
                <a16:creationId xmlns:a16="http://schemas.microsoft.com/office/drawing/2014/main" id="{639114D3-6B4C-166A-DB5B-F74ABAECFB25}"/>
              </a:ext>
            </a:extLst>
          </p:cNvPr>
          <p:cNvCxnSpPr>
            <a:cxnSpLocks/>
            <a:stCxn id="12" idx="1"/>
            <a:endCxn id="9" idx="0"/>
          </p:cNvCxnSpPr>
          <p:nvPr/>
        </p:nvCxnSpPr>
        <p:spPr>
          <a:xfrm rot="10800000" flipV="1">
            <a:off x="6581114" y="2477057"/>
            <a:ext cx="1801680" cy="287934"/>
          </a:xfrm>
          <a:prstGeom prst="bentConnector2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D911DABC-7E2C-76C9-8860-32244B2399DF}"/>
              </a:ext>
            </a:extLst>
          </p:cNvPr>
          <p:cNvSpPr txBox="1"/>
          <p:nvPr/>
        </p:nvSpPr>
        <p:spPr>
          <a:xfrm>
            <a:off x="6472172" y="2175903"/>
            <a:ext cx="10209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Optimize</a:t>
            </a:r>
            <a:endParaRPr kumimoji="1" lang="zh-TW" altLang="en-US" sz="1400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CADBE28A-0431-DB80-8839-9A258CB54AFC}"/>
              </a:ext>
            </a:extLst>
          </p:cNvPr>
          <p:cNvSpPr txBox="1"/>
          <p:nvPr/>
        </p:nvSpPr>
        <p:spPr>
          <a:xfrm>
            <a:off x="6472172" y="3933183"/>
            <a:ext cx="10209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Optimize</a:t>
            </a:r>
            <a:endParaRPr kumimoji="1" lang="zh-TW" altLang="en-US" sz="14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365630B7-FDF0-EB17-230C-746EFBF89241}"/>
              </a:ext>
            </a:extLst>
          </p:cNvPr>
          <p:cNvSpPr txBox="1"/>
          <p:nvPr/>
        </p:nvSpPr>
        <p:spPr>
          <a:xfrm>
            <a:off x="3321349" y="2501971"/>
            <a:ext cx="13580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Input Prompt</a:t>
            </a:r>
            <a:endParaRPr kumimoji="1" lang="zh-TW" altLang="en-US" sz="1400" dirty="0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AC9A5CC6-29F9-2232-0870-65B8DBFBDFD9}"/>
              </a:ext>
            </a:extLst>
          </p:cNvPr>
          <p:cNvSpPr txBox="1"/>
          <p:nvPr/>
        </p:nvSpPr>
        <p:spPr>
          <a:xfrm>
            <a:off x="3371364" y="4251824"/>
            <a:ext cx="1258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Input Prompt</a:t>
            </a:r>
            <a:endParaRPr kumimoji="1" lang="zh-TW" altLang="en-US" sz="14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64A55741-2FC2-58A4-A089-3BFC949F9D8F}"/>
              </a:ext>
            </a:extLst>
          </p:cNvPr>
          <p:cNvSpPr txBox="1"/>
          <p:nvPr/>
        </p:nvSpPr>
        <p:spPr>
          <a:xfrm>
            <a:off x="1121440" y="6323468"/>
            <a:ext cx="60067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1100" dirty="0"/>
              <a:t>Ouyang, Long, et al. "Training language models to follow instructions with human feedback." </a:t>
            </a:r>
            <a:r>
              <a:rPr lang="en" altLang="zh-TW" sz="1100" i="1" dirty="0"/>
              <a:t>Advances in neural information processing systems</a:t>
            </a:r>
            <a:r>
              <a:rPr lang="en" altLang="zh-TW" sz="1100" dirty="0"/>
              <a:t> 35 (2022): 27730-27744.</a:t>
            </a:r>
            <a:endParaRPr lang="zh-TW" altLang="en-US" sz="11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6FC6EAA-925D-FEDA-CB6D-4DEC5ED8594F}"/>
              </a:ext>
            </a:extLst>
          </p:cNvPr>
          <p:cNvSpPr txBox="1"/>
          <p:nvPr/>
        </p:nvSpPr>
        <p:spPr>
          <a:xfrm>
            <a:off x="8587467" y="5820588"/>
            <a:ext cx="25141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(Trained from </a:t>
            </a:r>
            <a:r>
              <a:rPr kumimoji="1" lang="en-US" altLang="zh-TW" dirty="0">
                <a:solidFill>
                  <a:srgbClr val="FF0000"/>
                </a:solidFill>
              </a:rPr>
              <a:t>human preferences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32737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 animBg="1"/>
      <p:bldP spid="14" grpId="0" animBg="1"/>
      <p:bldP spid="15" grpId="0" animBg="1"/>
      <p:bldP spid="16" grpId="0" animBg="1"/>
      <p:bldP spid="17" grpId="0"/>
      <p:bldP spid="43" grpId="0"/>
      <p:bldP spid="4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24C390-1277-2526-1D21-CC97931FB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" altLang="zh-TW" sz="4000" dirty="0"/>
              <a:t>Supervised Learning vs. Reinforcement Learning</a:t>
            </a:r>
            <a:endParaRPr kumimoji="1"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FCCA2F-1AB9-56F1-3847-401197782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501E1FC-C992-051F-B961-3CF5187D8D58}"/>
              </a:ext>
            </a:extLst>
          </p:cNvPr>
          <p:cNvSpPr txBox="1"/>
          <p:nvPr/>
        </p:nvSpPr>
        <p:spPr>
          <a:xfrm>
            <a:off x="669201" y="1476210"/>
            <a:ext cx="5534171" cy="577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Tell me a story about Muslim </a:t>
            </a:r>
            <a:endParaRPr kumimoji="1" lang="zh-TW" altLang="en-US" sz="24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7245500-3284-26C3-1A35-3F416648F1B1}"/>
              </a:ext>
            </a:extLst>
          </p:cNvPr>
          <p:cNvSpPr txBox="1"/>
          <p:nvPr/>
        </p:nvSpPr>
        <p:spPr>
          <a:xfrm>
            <a:off x="2176385" y="2676303"/>
            <a:ext cx="6230286" cy="464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1800" dirty="0"/>
              <a:t>“</a:t>
            </a:r>
            <a:r>
              <a:rPr kumimoji="1" lang="en-US" altLang="zh-TW" sz="1800" dirty="0">
                <a:solidFill>
                  <a:srgbClr val="0070C0"/>
                </a:solidFill>
              </a:rPr>
              <a:t>Muslim</a:t>
            </a:r>
            <a:r>
              <a:rPr kumimoji="1" lang="en-US" altLang="zh-TW" sz="1800" dirty="0"/>
              <a:t>” was analogized to “</a:t>
            </a:r>
            <a:r>
              <a:rPr kumimoji="1" lang="en-US" altLang="zh-TW" sz="1800" dirty="0">
                <a:solidFill>
                  <a:srgbClr val="0070C0"/>
                </a:solidFill>
              </a:rPr>
              <a:t>terrorist</a:t>
            </a:r>
            <a:r>
              <a:rPr kumimoji="1" lang="en-US" altLang="zh-TW" sz="1800" dirty="0"/>
              <a:t>” in 23% of test cases.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3BBEDF35-FD53-8C0E-59FE-EFEA4BA21D1E}"/>
              </a:ext>
            </a:extLst>
          </p:cNvPr>
          <p:cNvSpPr txBox="1"/>
          <p:nvPr/>
        </p:nvSpPr>
        <p:spPr>
          <a:xfrm>
            <a:off x="1507926" y="2606499"/>
            <a:ext cx="958745" cy="5942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2400" dirty="0"/>
              <a:t>🤖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C6B219B-894E-591E-1091-76FC5709EE91}"/>
              </a:ext>
            </a:extLst>
          </p:cNvPr>
          <p:cNvSpPr txBox="1"/>
          <p:nvPr/>
        </p:nvSpPr>
        <p:spPr>
          <a:xfrm>
            <a:off x="9008185" y="2190978"/>
            <a:ext cx="1268854" cy="464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1800" b="1" dirty="0"/>
              <a:t>Label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43B2C99-CBC8-B84C-E27B-A48C9D7056C4}"/>
              </a:ext>
            </a:extLst>
          </p:cNvPr>
          <p:cNvSpPr txBox="1"/>
          <p:nvPr/>
        </p:nvSpPr>
        <p:spPr>
          <a:xfrm>
            <a:off x="4074253" y="2159477"/>
            <a:ext cx="2077165" cy="46487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1800" b="1" dirty="0"/>
              <a:t>Response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542CC27C-F915-2551-5252-24AB3549AF99}"/>
              </a:ext>
            </a:extLst>
          </p:cNvPr>
          <p:cNvSpPr txBox="1"/>
          <p:nvPr/>
        </p:nvSpPr>
        <p:spPr>
          <a:xfrm>
            <a:off x="9255012" y="2671164"/>
            <a:ext cx="879110" cy="464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1800" dirty="0"/>
              <a:t>0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A3D3A45-695F-1A27-700B-0BD661B77882}"/>
              </a:ext>
            </a:extLst>
          </p:cNvPr>
          <p:cNvSpPr txBox="1"/>
          <p:nvPr/>
        </p:nvSpPr>
        <p:spPr>
          <a:xfrm>
            <a:off x="2241029" y="3174218"/>
            <a:ext cx="6165641" cy="464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1800" dirty="0"/>
              <a:t>Allah is the most common word to represent God.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D10BE2E-2062-B20C-92ED-8FCE00D0EC52}"/>
              </a:ext>
            </a:extLst>
          </p:cNvPr>
          <p:cNvSpPr txBox="1"/>
          <p:nvPr/>
        </p:nvSpPr>
        <p:spPr>
          <a:xfrm>
            <a:off x="1507926" y="3104414"/>
            <a:ext cx="958745" cy="5942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2400" dirty="0"/>
              <a:t>🤖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4DFFFAD-53A3-E53E-E3E5-1DA6A7EC1175}"/>
              </a:ext>
            </a:extLst>
          </p:cNvPr>
          <p:cNvSpPr txBox="1"/>
          <p:nvPr/>
        </p:nvSpPr>
        <p:spPr>
          <a:xfrm>
            <a:off x="9255012" y="3169079"/>
            <a:ext cx="879110" cy="464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dirty="0"/>
              <a:t>1</a:t>
            </a:r>
            <a:endParaRPr kumimoji="1" lang="en-US" altLang="zh-TW" sz="18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9D91B34-1277-5E41-5583-77E2A9EFBF1F}"/>
              </a:ext>
            </a:extLst>
          </p:cNvPr>
          <p:cNvSpPr txBox="1"/>
          <p:nvPr/>
        </p:nvSpPr>
        <p:spPr>
          <a:xfrm>
            <a:off x="1954976" y="4248127"/>
            <a:ext cx="4622326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000" b="1" dirty="0"/>
              <a:t>Reinforcement learning</a:t>
            </a:r>
            <a:endParaRPr kumimoji="1" lang="zh-TW" altLang="en-US" sz="2000" b="1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66EEA58-F545-D3C5-64FE-3473BB81217C}"/>
              </a:ext>
            </a:extLst>
          </p:cNvPr>
          <p:cNvSpPr txBox="1"/>
          <p:nvPr/>
        </p:nvSpPr>
        <p:spPr>
          <a:xfrm>
            <a:off x="2241029" y="3679952"/>
            <a:ext cx="6165641" cy="464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1800" dirty="0"/>
              <a:t>Allah is unique and singular.</a:t>
            </a: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B2BBA02-AFE1-405C-1110-D640C4B21108}"/>
              </a:ext>
            </a:extLst>
          </p:cNvPr>
          <p:cNvSpPr txBox="1"/>
          <p:nvPr/>
        </p:nvSpPr>
        <p:spPr>
          <a:xfrm>
            <a:off x="1507926" y="3610148"/>
            <a:ext cx="958745" cy="5942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2400" dirty="0"/>
              <a:t>🤖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20EB1526-34D2-D941-7644-A5142B3AAC35}"/>
              </a:ext>
            </a:extLst>
          </p:cNvPr>
          <p:cNvSpPr txBox="1"/>
          <p:nvPr/>
        </p:nvSpPr>
        <p:spPr>
          <a:xfrm>
            <a:off x="9255012" y="3679952"/>
            <a:ext cx="879110" cy="464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dirty="0"/>
              <a:t>1</a:t>
            </a:r>
            <a:endParaRPr kumimoji="1" lang="en-US" altLang="zh-TW" sz="1800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200112E6-D934-990A-592E-4F4DF192AF5F}"/>
              </a:ext>
            </a:extLst>
          </p:cNvPr>
          <p:cNvSpPr txBox="1"/>
          <p:nvPr/>
        </p:nvSpPr>
        <p:spPr>
          <a:xfrm>
            <a:off x="2144063" y="4844654"/>
            <a:ext cx="6230286" cy="464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1800" dirty="0"/>
              <a:t>“</a:t>
            </a:r>
            <a:r>
              <a:rPr kumimoji="1" lang="en-US" altLang="zh-TW" sz="1800" dirty="0">
                <a:solidFill>
                  <a:srgbClr val="0070C0"/>
                </a:solidFill>
              </a:rPr>
              <a:t>Muslim</a:t>
            </a:r>
            <a:r>
              <a:rPr kumimoji="1" lang="en-US" altLang="zh-TW" sz="1800" dirty="0"/>
              <a:t>” was analogized to “</a:t>
            </a:r>
            <a:r>
              <a:rPr kumimoji="1" lang="en-US" altLang="zh-TW" sz="1800" dirty="0">
                <a:solidFill>
                  <a:srgbClr val="0070C0"/>
                </a:solidFill>
              </a:rPr>
              <a:t>terrorist</a:t>
            </a:r>
            <a:r>
              <a:rPr kumimoji="1" lang="en-US" altLang="zh-TW" sz="1800" dirty="0"/>
              <a:t>” in 23% of test cases.</a:t>
            </a: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44FD1A2E-56EB-1C3E-7D59-EDC7C675562A}"/>
              </a:ext>
            </a:extLst>
          </p:cNvPr>
          <p:cNvSpPr txBox="1"/>
          <p:nvPr/>
        </p:nvSpPr>
        <p:spPr>
          <a:xfrm>
            <a:off x="1475604" y="4774850"/>
            <a:ext cx="958745" cy="5942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2400" dirty="0"/>
              <a:t>🤖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DCEDC710-C33A-1D43-73A7-BDEF28FF20CA}"/>
              </a:ext>
            </a:extLst>
          </p:cNvPr>
          <p:cNvSpPr txBox="1"/>
          <p:nvPr/>
        </p:nvSpPr>
        <p:spPr>
          <a:xfrm>
            <a:off x="9222690" y="4839515"/>
            <a:ext cx="879110" cy="464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1800" dirty="0"/>
              <a:t>0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0F626786-0F84-88C9-78DE-5F3B9C894CB7}"/>
              </a:ext>
            </a:extLst>
          </p:cNvPr>
          <p:cNvSpPr txBox="1"/>
          <p:nvPr/>
        </p:nvSpPr>
        <p:spPr>
          <a:xfrm>
            <a:off x="2208707" y="5342569"/>
            <a:ext cx="6165641" cy="464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1800" dirty="0"/>
              <a:t>Allah is the most common word to represent God.</a:t>
            </a:r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126863AB-8A08-ADD5-C050-A15C26C16934}"/>
              </a:ext>
            </a:extLst>
          </p:cNvPr>
          <p:cNvSpPr txBox="1"/>
          <p:nvPr/>
        </p:nvSpPr>
        <p:spPr>
          <a:xfrm>
            <a:off x="1475604" y="5272765"/>
            <a:ext cx="958745" cy="5942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2400" dirty="0"/>
              <a:t>🤖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414E4E19-9878-D9BC-6BEE-AB1E09DB3556}"/>
              </a:ext>
            </a:extLst>
          </p:cNvPr>
          <p:cNvSpPr txBox="1"/>
          <p:nvPr/>
        </p:nvSpPr>
        <p:spPr>
          <a:xfrm>
            <a:off x="9222690" y="5337430"/>
            <a:ext cx="1106304" cy="464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dirty="0"/>
              <a:t>9.8</a:t>
            </a:r>
            <a:endParaRPr kumimoji="1" lang="en-US" altLang="zh-TW" sz="1800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2CB0D71F-FFD0-9530-DEC1-85E02F6D86CD}"/>
              </a:ext>
            </a:extLst>
          </p:cNvPr>
          <p:cNvSpPr txBox="1"/>
          <p:nvPr/>
        </p:nvSpPr>
        <p:spPr>
          <a:xfrm>
            <a:off x="2208707" y="5848303"/>
            <a:ext cx="6165641" cy="464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1800" dirty="0"/>
              <a:t>Allah is unique and singular.</a:t>
            </a: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4AF3AD5C-6AF1-4651-163C-F360F038B742}"/>
              </a:ext>
            </a:extLst>
          </p:cNvPr>
          <p:cNvSpPr txBox="1"/>
          <p:nvPr/>
        </p:nvSpPr>
        <p:spPr>
          <a:xfrm>
            <a:off x="1475604" y="5778499"/>
            <a:ext cx="958745" cy="5942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2400" dirty="0"/>
              <a:t>🤖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64C893E-E48C-6EEB-897A-98AFCEFA3C20}"/>
              </a:ext>
            </a:extLst>
          </p:cNvPr>
          <p:cNvSpPr txBox="1"/>
          <p:nvPr/>
        </p:nvSpPr>
        <p:spPr>
          <a:xfrm>
            <a:off x="9222689" y="5848303"/>
            <a:ext cx="1023087" cy="4648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dirty="0"/>
              <a:t>7.9</a:t>
            </a:r>
            <a:endParaRPr kumimoji="1" lang="en-US" altLang="zh-TW" sz="1800" dirty="0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32411A0-477C-ABA9-E95A-D155D21A7057}"/>
              </a:ext>
            </a:extLst>
          </p:cNvPr>
          <p:cNvSpPr/>
          <p:nvPr/>
        </p:nvSpPr>
        <p:spPr>
          <a:xfrm>
            <a:off x="9376348" y="4774850"/>
            <a:ext cx="952646" cy="17588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7EB903CB-50AB-1434-32FC-C8BBC7499A45}"/>
              </a:ext>
            </a:extLst>
          </p:cNvPr>
          <p:cNvSpPr txBox="1"/>
          <p:nvPr/>
        </p:nvSpPr>
        <p:spPr>
          <a:xfrm>
            <a:off x="9916489" y="5155968"/>
            <a:ext cx="1599814" cy="88036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lvl="1">
              <a:lnSpc>
                <a:spcPct val="150000"/>
              </a:lnSpc>
            </a:pPr>
            <a:r>
              <a:rPr kumimoji="1" lang="en-US" altLang="zh-TW" sz="1800" b="1" dirty="0">
                <a:solidFill>
                  <a:srgbClr val="FF0000"/>
                </a:solidFill>
              </a:rPr>
              <a:t>More flexible!</a:t>
            </a:r>
          </a:p>
        </p:txBody>
      </p:sp>
    </p:spTree>
    <p:extLst>
      <p:ext uri="{BB962C8B-B14F-4D97-AF65-F5344CB8AC3E}">
        <p14:creationId xmlns:p14="http://schemas.microsoft.com/office/powerpoint/2010/main" val="2981125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1" grpId="0" animBg="1"/>
      <p:bldP spid="5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24C390-1277-2526-1D21-CC97931FB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kumimoji="1" lang="en" altLang="zh-TW" sz="4000" dirty="0"/>
              <a:t>Supervised Learning vs. Reinforcement Learning</a:t>
            </a:r>
            <a:endParaRPr kumimoji="1" lang="zh-TW" altLang="en-US" sz="4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FCCA2F-1AB9-56F1-3847-401197782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/>
          </a:p>
        </p:txBody>
      </p:sp>
      <p:graphicFrame>
        <p:nvGraphicFramePr>
          <p:cNvPr id="3" name="表格 5">
            <a:extLst>
              <a:ext uri="{FF2B5EF4-FFF2-40B4-BE49-F238E27FC236}">
                <a16:creationId xmlns:a16="http://schemas.microsoft.com/office/drawing/2014/main" id="{1865F44F-8C40-0B67-E699-9F93909952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6014063"/>
              </p:ext>
            </p:extLst>
          </p:nvPr>
        </p:nvGraphicFramePr>
        <p:xfrm>
          <a:off x="2032000" y="2603198"/>
          <a:ext cx="8128000" cy="26570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807">
                  <a:extLst>
                    <a:ext uri="{9D8B030D-6E8A-4147-A177-3AD203B41FA5}">
                      <a16:colId xmlns:a16="http://schemas.microsoft.com/office/drawing/2014/main" val="2138822659"/>
                    </a:ext>
                  </a:extLst>
                </a:gridCol>
                <a:gridCol w="2802193">
                  <a:extLst>
                    <a:ext uri="{9D8B030D-6E8A-4147-A177-3AD203B41FA5}">
                      <a16:colId xmlns:a16="http://schemas.microsoft.com/office/drawing/2014/main" val="369634192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60417358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40910569"/>
                    </a:ext>
                  </a:extLst>
                </a:gridCol>
              </a:tblGrid>
              <a:tr h="885687">
                <a:tc>
                  <a:txBody>
                    <a:bodyPr/>
                    <a:lstStyle/>
                    <a:p>
                      <a:endParaRPr lang="zh-TW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/>
                        <a:t>訓練目標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/>
                        <a:t>模型輸出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/>
                        <a:t>需要 </a:t>
                      </a:r>
                      <a:r>
                        <a:rPr lang="en-US" altLang="zh-TW" dirty="0"/>
                        <a:t>Reward Model?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6035815"/>
                  </a:ext>
                </a:extLst>
              </a:tr>
              <a:tr h="885687">
                <a:tc>
                  <a:txBody>
                    <a:bodyPr/>
                    <a:lstStyle/>
                    <a:p>
                      <a:r>
                        <a:rPr lang="en-US" altLang="zh-TW" dirty="0"/>
                        <a:t>SFT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最小化模型輸出與正確答案的誤差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文字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No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5666491"/>
                  </a:ext>
                </a:extLst>
              </a:tr>
              <a:tr h="885687">
                <a:tc>
                  <a:txBody>
                    <a:bodyPr/>
                    <a:lstStyle/>
                    <a:p>
                      <a:r>
                        <a:rPr lang="en-US" altLang="zh-TW" dirty="0"/>
                        <a:t>RLHF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最大化 </a:t>
                      </a:r>
                      <a:r>
                        <a:rPr lang="en-US" altLang="zh-TW" dirty="0"/>
                        <a:t>Reward Model</a:t>
                      </a:r>
                      <a:r>
                        <a:rPr lang="zh-TW" altLang="en-US" dirty="0"/>
                        <a:t> 的</a:t>
                      </a:r>
                      <a:r>
                        <a:rPr lang="zh-TW" altLang="en-US" dirty="0">
                          <a:solidFill>
                            <a:srgbClr val="FF0000"/>
                          </a:solidFill>
                        </a:rPr>
                        <a:t>分數</a:t>
                      </a:r>
                      <a:r>
                        <a:rPr lang="zh-TW" altLang="en-US" dirty="0"/>
                        <a:t>，以符合人類偏好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dirty="0"/>
                        <a:t>文字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dirty="0"/>
                        <a:t>Yes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1295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0681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EDEB9A-29CE-E7BE-5A64-D104EB853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Main Differences between BERT and </a:t>
            </a:r>
            <a:r>
              <a:rPr kumimoji="1" lang="en-US" altLang="zh-TW" dirty="0" err="1"/>
              <a:t>InstructGPT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EC9A4D8-28BB-FD7B-7A52-681ABEF4D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249C3-EFAD-D94E-864A-24510FCA3FE0}" type="slidenum">
              <a:rPr kumimoji="1" lang="zh-TW" altLang="en-US" smtClean="0"/>
              <a:t>42</a:t>
            </a:fld>
            <a:endParaRPr kumimoji="1" lang="zh-TW" altLang="en-US" dirty="0"/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2D35043C-68EE-CAE6-1440-0F8080C3F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024"/>
            <a:ext cx="10515600" cy="4923283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1800" dirty="0"/>
              <a:t>Model size:</a:t>
            </a:r>
          </a:p>
          <a:p>
            <a:pPr lvl="1">
              <a:lnSpc>
                <a:spcPct val="150000"/>
              </a:lnSpc>
            </a:pPr>
            <a:r>
              <a:rPr kumimoji="1" lang="en-US" altLang="zh-TW" dirty="0"/>
              <a:t>BERT: 110 million</a:t>
            </a:r>
          </a:p>
          <a:p>
            <a:pPr lvl="1">
              <a:lnSpc>
                <a:spcPct val="150000"/>
              </a:lnSpc>
            </a:pPr>
            <a:r>
              <a:rPr kumimoji="1" lang="en-US" altLang="zh-TW" dirty="0" err="1"/>
              <a:t>InstructGPT</a:t>
            </a:r>
            <a:r>
              <a:rPr kumimoji="1" lang="en-US" altLang="zh-TW" dirty="0"/>
              <a:t>: 175 billion (~=BERT</a:t>
            </a:r>
            <a:r>
              <a:rPr kumimoji="1" lang="en-US" altLang="zh-TW" dirty="0">
                <a:solidFill>
                  <a:srgbClr val="FF0000"/>
                </a:solidFill>
              </a:rPr>
              <a:t>*1590 times</a:t>
            </a:r>
            <a:r>
              <a:rPr kumimoji="1" lang="en-US" altLang="zh-TW" dirty="0"/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zh-TW" sz="1800" dirty="0"/>
              <a:t>Training:</a:t>
            </a:r>
          </a:p>
          <a:p>
            <a:pPr lvl="1">
              <a:lnSpc>
                <a:spcPct val="150000"/>
              </a:lnSpc>
            </a:pPr>
            <a:r>
              <a:rPr kumimoji="1" lang="en-US" altLang="zh-TW" dirty="0"/>
              <a:t>BERT: Masked-language modeling, Next-sentence Prediction</a:t>
            </a:r>
          </a:p>
          <a:p>
            <a:pPr lvl="1">
              <a:lnSpc>
                <a:spcPct val="150000"/>
              </a:lnSpc>
            </a:pPr>
            <a:r>
              <a:rPr kumimoji="1" lang="en-US" altLang="zh-TW" dirty="0" err="1"/>
              <a:t>InstructGPT</a:t>
            </a:r>
            <a:r>
              <a:rPr kumimoji="1" lang="en-US" altLang="zh-TW" dirty="0"/>
              <a:t>: Language Modeling, Supervised Fine-Tuning, </a:t>
            </a:r>
            <a:r>
              <a:rPr kumimoji="1" lang="en-US" altLang="zh-TW" dirty="0">
                <a:solidFill>
                  <a:schemeClr val="accent6"/>
                </a:solidFill>
              </a:rPr>
              <a:t>Reinforcement Learning by Human Feedback</a:t>
            </a:r>
          </a:p>
          <a:p>
            <a:pPr>
              <a:lnSpc>
                <a:spcPct val="150000"/>
              </a:lnSpc>
            </a:pPr>
            <a:r>
              <a:rPr kumimoji="1" lang="en-US" altLang="zh-TW" sz="1800" dirty="0"/>
              <a:t>NLP Tasks:</a:t>
            </a:r>
          </a:p>
          <a:p>
            <a:pPr lvl="1">
              <a:lnSpc>
                <a:spcPct val="150000"/>
              </a:lnSpc>
            </a:pPr>
            <a:r>
              <a:rPr kumimoji="1" lang="en-US" altLang="zh-TW" dirty="0"/>
              <a:t>BERT: Natural Language Understanding (E.g., Classification)</a:t>
            </a:r>
          </a:p>
          <a:p>
            <a:pPr lvl="1">
              <a:lnSpc>
                <a:spcPct val="150000"/>
              </a:lnSpc>
            </a:pPr>
            <a:r>
              <a:rPr kumimoji="1" lang="en-US" altLang="zh-TW" dirty="0" err="1"/>
              <a:t>InstructGPT</a:t>
            </a:r>
            <a:r>
              <a:rPr kumimoji="1" lang="en-US" altLang="zh-TW" dirty="0"/>
              <a:t>: Natural Language </a:t>
            </a:r>
            <a:r>
              <a:rPr kumimoji="1" lang="en-US" altLang="zh-TW" dirty="0">
                <a:solidFill>
                  <a:srgbClr val="FF0000"/>
                </a:solidFill>
              </a:rPr>
              <a:t>Generation</a:t>
            </a:r>
            <a:r>
              <a:rPr kumimoji="1" lang="en-US" altLang="zh-TW" dirty="0"/>
              <a:t> (E.g., Machine Translation, Story Generation)</a:t>
            </a:r>
          </a:p>
        </p:txBody>
      </p:sp>
    </p:spTree>
    <p:extLst>
      <p:ext uri="{BB962C8B-B14F-4D97-AF65-F5344CB8AC3E}">
        <p14:creationId xmlns:p14="http://schemas.microsoft.com/office/powerpoint/2010/main" val="3871493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F664E-9BFC-0751-DBDD-159910801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1F3FA0D1-5931-500A-1998-F7A6AE50B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大型語言模型應用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9755CF-0F46-D6AD-7051-251FF325A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423A039-F970-BC49-97AA-1CAFC2197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當我們有了一個訓練好的</a:t>
            </a:r>
            <a:r>
              <a:rPr lang="en-US" altLang="zh-TW" dirty="0"/>
              <a:t>LLM</a:t>
            </a:r>
            <a:r>
              <a:rPr lang="zh-TW" altLang="en-US" dirty="0"/>
              <a:t>，之後？</a:t>
            </a:r>
          </a:p>
        </p:txBody>
      </p:sp>
    </p:spTree>
    <p:extLst>
      <p:ext uri="{BB962C8B-B14F-4D97-AF65-F5344CB8AC3E}">
        <p14:creationId xmlns:p14="http://schemas.microsoft.com/office/powerpoint/2010/main" val="2260744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562B04-9C41-700D-01E7-7312C61B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讓大型語言模型適用於你的任務？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7D3013-3C6C-0124-D824-1C0E208FB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BE8FDE4D-65D5-02ED-2DB6-2BAD43A99A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8060" y="2175664"/>
            <a:ext cx="1108862" cy="110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A0135A98-4A89-5D8D-1B01-B3072122F17E}"/>
              </a:ext>
            </a:extLst>
          </p:cNvPr>
          <p:cNvCxnSpPr>
            <a:cxnSpLocks/>
          </p:cNvCxnSpPr>
          <p:nvPr/>
        </p:nvCxnSpPr>
        <p:spPr>
          <a:xfrm flipH="1">
            <a:off x="3328422" y="2841346"/>
            <a:ext cx="11411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C573909E-78CE-7A0D-18DB-7666126A8CC0}"/>
              </a:ext>
            </a:extLst>
          </p:cNvPr>
          <p:cNvSpPr txBox="1"/>
          <p:nvPr/>
        </p:nvSpPr>
        <p:spPr>
          <a:xfrm>
            <a:off x="4689049" y="2596851"/>
            <a:ext cx="34381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翻譯、聊天、寫故事 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…</a:t>
            </a:r>
            <a:endParaRPr kumimoji="1" lang="zh-TW" altLang="en-US" sz="24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9" name="Picture 2" descr="undefined">
            <a:extLst>
              <a:ext uri="{FF2B5EF4-FFF2-40B4-BE49-F238E27FC236}">
                <a16:creationId xmlns:a16="http://schemas.microsoft.com/office/drawing/2014/main" id="{46544269-5C0D-AB51-B115-39841E69F2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8060" y="4173099"/>
            <a:ext cx="1108862" cy="110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AD1420AB-9C6C-A1C0-B579-E042D7EA81C4}"/>
              </a:ext>
            </a:extLst>
          </p:cNvPr>
          <p:cNvSpPr txBox="1"/>
          <p:nvPr/>
        </p:nvSpPr>
        <p:spPr>
          <a:xfrm>
            <a:off x="998525" y="2500509"/>
            <a:ext cx="709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4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📚</a:t>
            </a:r>
          </a:p>
        </p:txBody>
      </p: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65E4DAA1-25E0-C685-0EAE-5442D863FBDD}"/>
              </a:ext>
            </a:extLst>
          </p:cNvPr>
          <p:cNvCxnSpPr>
            <a:cxnSpLocks/>
          </p:cNvCxnSpPr>
          <p:nvPr/>
        </p:nvCxnSpPr>
        <p:spPr>
          <a:xfrm flipH="1">
            <a:off x="3328422" y="4742160"/>
            <a:ext cx="11411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56B2E1F-3C11-7C14-6E67-B489FDDF943D}"/>
              </a:ext>
            </a:extLst>
          </p:cNvPr>
          <p:cNvSpPr txBox="1"/>
          <p:nvPr/>
        </p:nvSpPr>
        <p:spPr>
          <a:xfrm>
            <a:off x="4689050" y="4504390"/>
            <a:ext cx="60130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醫學資料、少數語言、網路上查不到的知識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BD93034-DDC9-E3A0-408F-3670A03A0C8F}"/>
              </a:ext>
            </a:extLst>
          </p:cNvPr>
          <p:cNvSpPr txBox="1"/>
          <p:nvPr/>
        </p:nvSpPr>
        <p:spPr>
          <a:xfrm>
            <a:off x="8013804" y="2500509"/>
            <a:ext cx="709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4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💪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1508E95F-A02F-8597-DD00-30BCEAA55A0A}"/>
              </a:ext>
            </a:extLst>
          </p:cNvPr>
          <p:cNvSpPr txBox="1"/>
          <p:nvPr/>
        </p:nvSpPr>
        <p:spPr>
          <a:xfrm>
            <a:off x="10724090" y="4439423"/>
            <a:ext cx="709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4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⚠️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54A635F-F81C-2471-EEA2-82F1AAAA0406}"/>
              </a:ext>
            </a:extLst>
          </p:cNvPr>
          <p:cNvSpPr txBox="1"/>
          <p:nvPr/>
        </p:nvSpPr>
        <p:spPr>
          <a:xfrm>
            <a:off x="3328421" y="5427587"/>
            <a:ext cx="6694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解決方案</a:t>
            </a:r>
            <a:r>
              <a:rPr kumimoji="1" lang="zh-TW" altLang="en-US" sz="2400" dirty="0"/>
              <a:t>：增加提示詞</a:t>
            </a:r>
            <a:r>
              <a:rPr kumimoji="1" lang="en-US" altLang="zh-TW" sz="2400" dirty="0"/>
              <a:t> 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或</a:t>
            </a:r>
            <a:r>
              <a:rPr kumimoji="1" lang="en-US" altLang="zh-TW" sz="2400" dirty="0"/>
              <a:t> </a:t>
            </a:r>
            <a:r>
              <a:rPr kumimoji="1" lang="zh-TW" altLang="en-US" sz="2400" dirty="0"/>
              <a:t>訓練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語言模型</a:t>
            </a:r>
          </a:p>
        </p:txBody>
      </p:sp>
      <p:sp>
        <p:nvSpPr>
          <p:cNvPr id="16" name="向右箭號 15">
            <a:extLst>
              <a:ext uri="{FF2B5EF4-FFF2-40B4-BE49-F238E27FC236}">
                <a16:creationId xmlns:a16="http://schemas.microsoft.com/office/drawing/2014/main" id="{4CFE905D-A992-5DB1-A2DC-5A3C488A4BA7}"/>
              </a:ext>
            </a:extLst>
          </p:cNvPr>
          <p:cNvSpPr/>
          <p:nvPr/>
        </p:nvSpPr>
        <p:spPr>
          <a:xfrm rot="13500000">
            <a:off x="3008691" y="5179129"/>
            <a:ext cx="321869" cy="3126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3E70E32-FA25-E97D-6DBC-E6452D333F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9215" y="3356027"/>
            <a:ext cx="1879418" cy="110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38BC827B-B1A9-0327-CEDA-82B669323C6A}"/>
              </a:ext>
            </a:extLst>
          </p:cNvPr>
          <p:cNvSpPr txBox="1"/>
          <p:nvPr/>
        </p:nvSpPr>
        <p:spPr>
          <a:xfrm>
            <a:off x="7700682" y="6134354"/>
            <a:ext cx="31544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Figure source: https://</a:t>
            </a:r>
            <a:r>
              <a:rPr kumimoji="1" lang="en" altLang="zh-TW" sz="1200" dirty="0" err="1"/>
              <a:t>gameofthrones.fandom.com</a:t>
            </a:r>
            <a:r>
              <a:rPr kumimoji="1" lang="en" altLang="zh-TW" sz="1200" dirty="0"/>
              <a:t>/wiki/</a:t>
            </a:r>
            <a:r>
              <a:rPr kumimoji="1" lang="en" altLang="zh-TW" sz="1200" dirty="0" err="1"/>
              <a:t>High_Valyrian?file</a:t>
            </a:r>
            <a:r>
              <a:rPr kumimoji="1" lang="en" altLang="zh-TW" sz="1200" dirty="0"/>
              <a:t>=</a:t>
            </a:r>
            <a:r>
              <a:rPr kumimoji="1" lang="en" altLang="zh-TW" sz="1200" dirty="0" err="1"/>
              <a:t>Nekesse_Valyrio.jpg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23399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  <p:bldP spid="13" grpId="0"/>
      <p:bldP spid="14" grpId="0"/>
      <p:bldP spid="15" grpId="0"/>
      <p:bldP spid="16" grpId="0" animBg="1"/>
      <p:bldP spid="1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67DD30-49B8-ED23-95E6-C161B5F38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提示詞工程與上下文工程 </a:t>
            </a:r>
            <a:r>
              <a:rPr kumimoji="1" lang="en-US" altLang="zh-TW" dirty="0"/>
              <a:t>(</a:t>
            </a:r>
            <a:r>
              <a:rPr kumimoji="1" lang="zh-TW" altLang="en-US" dirty="0"/>
              <a:t>範例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036F1A2-504E-7F6E-9A1A-6D808C76D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26D055-0C91-A742-7471-C6A9C7C572F3}"/>
              </a:ext>
            </a:extLst>
          </p:cNvPr>
          <p:cNvSpPr txBox="1"/>
          <p:nvPr/>
        </p:nvSpPr>
        <p:spPr>
          <a:xfrm>
            <a:off x="1680878" y="1858621"/>
            <a:ext cx="34783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b="1" dirty="0"/>
              <a:t>提示詞工程</a:t>
            </a:r>
            <a:endParaRPr kumimoji="1" lang="en-US" altLang="zh-TW" sz="2400" b="1" dirty="0"/>
          </a:p>
          <a:p>
            <a:pPr algn="ctr"/>
            <a:r>
              <a:rPr kumimoji="1" lang="en-US" altLang="zh-TW" sz="2400" b="1" dirty="0"/>
              <a:t>Prompt Engineering</a:t>
            </a:r>
            <a:endParaRPr kumimoji="1" lang="zh-TW" altLang="en-US" sz="2400" b="1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A5C18AF-1228-86E6-AA66-2A53F1A6ADC6}"/>
              </a:ext>
            </a:extLst>
          </p:cNvPr>
          <p:cNvSpPr txBox="1"/>
          <p:nvPr/>
        </p:nvSpPr>
        <p:spPr>
          <a:xfrm>
            <a:off x="1093694" y="3013720"/>
            <a:ext cx="46526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你是一名客服人員，請有禮貌地回答問題。</a:t>
            </a:r>
          </a:p>
          <a:p>
            <a:r>
              <a:rPr kumimoji="1" lang="zh-TW" altLang="en-US" dirty="0"/>
              <a:t>使用者：我可以在購買後</a:t>
            </a:r>
            <a:r>
              <a:rPr kumimoji="1" lang="en-US" altLang="zh-TW" dirty="0"/>
              <a:t>14</a:t>
            </a:r>
            <a:r>
              <a:rPr kumimoji="1" lang="zh-TW" altLang="en-US" dirty="0"/>
              <a:t>天申請退款嗎？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130778F-3E54-F7BC-529C-072535CDA644}"/>
              </a:ext>
            </a:extLst>
          </p:cNvPr>
          <p:cNvSpPr txBox="1"/>
          <p:nvPr/>
        </p:nvSpPr>
        <p:spPr>
          <a:xfrm>
            <a:off x="6745946" y="1858518"/>
            <a:ext cx="34783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400" b="1" dirty="0"/>
              <a:t>上下文工程</a:t>
            </a:r>
            <a:endParaRPr kumimoji="1" lang="en-US" altLang="zh-TW" sz="2400" b="1" dirty="0"/>
          </a:p>
          <a:p>
            <a:pPr algn="ctr"/>
            <a:r>
              <a:rPr kumimoji="1" lang="en-US" altLang="zh-TW" sz="2400" b="1" dirty="0"/>
              <a:t>Context Engineering</a:t>
            </a:r>
            <a:endParaRPr kumimoji="1" lang="zh-TW" altLang="en-US" sz="2400" b="1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3BD71F2-65D7-742A-B2BB-DA2D0A21B9CA}"/>
              </a:ext>
            </a:extLst>
          </p:cNvPr>
          <p:cNvSpPr txBox="1"/>
          <p:nvPr/>
        </p:nvSpPr>
        <p:spPr>
          <a:xfrm>
            <a:off x="1093696" y="4721538"/>
            <a:ext cx="44913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模型可能回答：</a:t>
            </a:r>
            <a:endParaRPr lang="en-US" altLang="zh-TW" dirty="0"/>
          </a:p>
          <a:p>
            <a:r>
              <a:rPr lang="zh-TW" altLang="en-US" dirty="0"/>
              <a:t>當然可以，這取決於具體情況。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FD6C602-3212-825D-E129-D60CD3D4890D}"/>
              </a:ext>
            </a:extLst>
          </p:cNvPr>
          <p:cNvSpPr txBox="1"/>
          <p:nvPr/>
        </p:nvSpPr>
        <p:spPr>
          <a:xfrm>
            <a:off x="6320117" y="2980310"/>
            <a:ext cx="486783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你是一名客服人員。</a:t>
            </a:r>
            <a:endParaRPr kumimoji="1" lang="en-US" altLang="zh-TW" dirty="0"/>
          </a:p>
          <a:p>
            <a:r>
              <a:rPr kumimoji="1" lang="zh-TW" altLang="en-US" dirty="0">
                <a:solidFill>
                  <a:srgbClr val="0070C0"/>
                </a:solidFill>
              </a:rPr>
              <a:t>公司政策：</a:t>
            </a:r>
          </a:p>
          <a:p>
            <a:r>
              <a:rPr kumimoji="1" lang="en-US" altLang="zh-TW" dirty="0">
                <a:solidFill>
                  <a:srgbClr val="0070C0"/>
                </a:solidFill>
              </a:rPr>
              <a:t>- </a:t>
            </a:r>
            <a:r>
              <a:rPr kumimoji="1" lang="zh-TW" altLang="en-US" dirty="0">
                <a:solidFill>
                  <a:srgbClr val="0070C0"/>
                </a:solidFill>
              </a:rPr>
              <a:t>僅在購買後</a:t>
            </a:r>
            <a:r>
              <a:rPr kumimoji="1" lang="en-US" altLang="zh-TW" dirty="0">
                <a:solidFill>
                  <a:srgbClr val="0070C0"/>
                </a:solidFill>
              </a:rPr>
              <a:t>14</a:t>
            </a:r>
            <a:r>
              <a:rPr kumimoji="1" lang="zh-TW" altLang="en-US" dirty="0">
                <a:solidFill>
                  <a:srgbClr val="0070C0"/>
                </a:solidFill>
              </a:rPr>
              <a:t>天內可申請退款。超過</a:t>
            </a:r>
            <a:r>
              <a:rPr kumimoji="1" lang="en-US" altLang="zh-TW" dirty="0">
                <a:solidFill>
                  <a:srgbClr val="0070C0"/>
                </a:solidFill>
              </a:rPr>
              <a:t>14</a:t>
            </a:r>
            <a:r>
              <a:rPr kumimoji="1" lang="zh-TW" altLang="en-US" dirty="0">
                <a:solidFill>
                  <a:srgbClr val="0070C0"/>
                </a:solidFill>
              </a:rPr>
              <a:t>天除非商品有瑕疵，否則無法退款。</a:t>
            </a:r>
            <a:endParaRPr kumimoji="1" lang="en-US" altLang="zh-TW" dirty="0">
              <a:solidFill>
                <a:srgbClr val="0070C0"/>
              </a:solidFill>
            </a:endParaRPr>
          </a:p>
          <a:p>
            <a:r>
              <a:rPr kumimoji="1" lang="zh-TW" altLang="en-US" dirty="0"/>
              <a:t>使用者：我可以在購買後</a:t>
            </a:r>
            <a:r>
              <a:rPr kumimoji="1" lang="en-US" altLang="zh-TW" dirty="0"/>
              <a:t>14</a:t>
            </a:r>
            <a:r>
              <a:rPr kumimoji="1" lang="zh-TW" altLang="en-US" dirty="0"/>
              <a:t>天申請退款嗎？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9323699-07F2-2150-AFF9-6AA33449B3C8}"/>
              </a:ext>
            </a:extLst>
          </p:cNvPr>
          <p:cNvSpPr txBox="1"/>
          <p:nvPr/>
        </p:nvSpPr>
        <p:spPr>
          <a:xfrm>
            <a:off x="6320117" y="4721538"/>
            <a:ext cx="465268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模型可能回答：</a:t>
            </a:r>
            <a:endParaRPr lang="en-US" altLang="zh-TW" dirty="0"/>
          </a:p>
          <a:p>
            <a:r>
              <a:rPr lang="zh-TW" altLang="en-US" dirty="0"/>
              <a:t>很抱歉，根據本公司的退款政策，超過</a:t>
            </a:r>
            <a:r>
              <a:rPr lang="en-US" altLang="zh-TW" dirty="0"/>
              <a:t>14</a:t>
            </a:r>
            <a:r>
              <a:rPr lang="zh-TW" altLang="en-US" dirty="0"/>
              <a:t>天後除非商品有瑕疵，否則無法辦理退款。</a:t>
            </a:r>
          </a:p>
        </p:txBody>
      </p:sp>
    </p:spTree>
    <p:extLst>
      <p:ext uri="{BB962C8B-B14F-4D97-AF65-F5344CB8AC3E}">
        <p14:creationId xmlns:p14="http://schemas.microsoft.com/office/powerpoint/2010/main" val="1298337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  <p:bldP spid="1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4D648E-8C1B-FE5E-56F4-3D9459390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資訊檢索 </a:t>
            </a:r>
            <a:r>
              <a:rPr kumimoji="1" lang="en-US" altLang="zh-TW" dirty="0"/>
              <a:t>(Information Retrieval)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8151E4-EEA2-72F9-EF2A-76C6618DE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0268DD4-2C66-7937-FEC0-902E2DAAEDF4}"/>
              </a:ext>
            </a:extLst>
          </p:cNvPr>
          <p:cNvSpPr txBox="1"/>
          <p:nvPr/>
        </p:nvSpPr>
        <p:spPr>
          <a:xfrm>
            <a:off x="650316" y="1716895"/>
            <a:ext cx="10058399" cy="5059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dirty="0"/>
              <a:t>資訊檢索：從資料庫中找到相關的資訊 </a:t>
            </a:r>
            <a:r>
              <a:rPr kumimoji="1" lang="en-US" altLang="zh-TW" sz="2400" dirty="0"/>
              <a:t>(</a:t>
            </a:r>
            <a:r>
              <a:rPr kumimoji="1" lang="zh-TW" altLang="en-US" sz="2400" dirty="0"/>
              <a:t>就像是搜尋引擎</a:t>
            </a:r>
            <a:r>
              <a:rPr kumimoji="1" lang="en-US" altLang="zh-TW" sz="2400" dirty="0"/>
              <a:t>)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1106C93-F98F-F932-EE4A-065ADB1A7DB9}"/>
              </a:ext>
            </a:extLst>
          </p:cNvPr>
          <p:cNvSpPr txBox="1"/>
          <p:nvPr/>
        </p:nvSpPr>
        <p:spPr>
          <a:xfrm>
            <a:off x="650316" y="5430640"/>
            <a:ext cx="10058399" cy="9384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Retrieval-Augmented Generation (RAG):</a:t>
            </a:r>
            <a:r>
              <a:rPr kumimoji="1" lang="zh-TW" altLang="en-US" sz="2400" dirty="0"/>
              <a:t> 把檢索到的資訊作為上下文工程，可以讓 </a:t>
            </a:r>
            <a:r>
              <a:rPr kumimoji="1" lang="en-US" altLang="zh-TW" sz="2400" dirty="0"/>
              <a:t>LLM</a:t>
            </a:r>
            <a:r>
              <a:rPr kumimoji="1" lang="zh-TW" altLang="en-US" sz="2400" dirty="0"/>
              <a:t> 做出更精確的回覆</a:t>
            </a:r>
            <a:endParaRPr kumimoji="1" lang="en-US" altLang="zh-TW" sz="2400" dirty="0"/>
          </a:p>
        </p:txBody>
      </p:sp>
      <p:pic>
        <p:nvPicPr>
          <p:cNvPr id="10" name="圖形 9" descr="文件 以實心填滿">
            <a:extLst>
              <a:ext uri="{FF2B5EF4-FFF2-40B4-BE49-F238E27FC236}">
                <a16:creationId xmlns:a16="http://schemas.microsoft.com/office/drawing/2014/main" id="{172A629F-D728-E2B3-33A3-15DE795F32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2663" y="2938462"/>
            <a:ext cx="625084" cy="625084"/>
          </a:xfrm>
          <a:prstGeom prst="rect">
            <a:avLst/>
          </a:prstGeom>
        </p:spPr>
      </p:pic>
      <p:pic>
        <p:nvPicPr>
          <p:cNvPr id="13" name="圖形 12" descr="文件 以實心填滿">
            <a:extLst>
              <a:ext uri="{FF2B5EF4-FFF2-40B4-BE49-F238E27FC236}">
                <a16:creationId xmlns:a16="http://schemas.microsoft.com/office/drawing/2014/main" id="{58F3283D-181E-5F8E-3E23-F9777102C3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7579" y="3083120"/>
            <a:ext cx="625084" cy="625084"/>
          </a:xfrm>
          <a:prstGeom prst="rect">
            <a:avLst/>
          </a:prstGeom>
        </p:spPr>
      </p:pic>
      <p:pic>
        <p:nvPicPr>
          <p:cNvPr id="14" name="圖形 13" descr="文件 以實心填滿">
            <a:extLst>
              <a:ext uri="{FF2B5EF4-FFF2-40B4-BE49-F238E27FC236}">
                <a16:creationId xmlns:a16="http://schemas.microsoft.com/office/drawing/2014/main" id="{17F8B6FF-8EB1-9885-97DC-9444F831C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0121" y="3498232"/>
            <a:ext cx="625084" cy="625084"/>
          </a:xfrm>
          <a:prstGeom prst="rect">
            <a:avLst/>
          </a:prstGeom>
        </p:spPr>
      </p:pic>
      <p:pic>
        <p:nvPicPr>
          <p:cNvPr id="15" name="圖形 14" descr="文件 以實心填滿">
            <a:extLst>
              <a:ext uri="{FF2B5EF4-FFF2-40B4-BE49-F238E27FC236}">
                <a16:creationId xmlns:a16="http://schemas.microsoft.com/office/drawing/2014/main" id="{09E6E070-5AE5-C228-65EC-83526ABEDC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30194" y="3435240"/>
            <a:ext cx="625084" cy="625084"/>
          </a:xfrm>
          <a:prstGeom prst="rect">
            <a:avLst/>
          </a:prstGeom>
        </p:spPr>
      </p:pic>
      <p:pic>
        <p:nvPicPr>
          <p:cNvPr id="16" name="圖形 15" descr="文件 以實心填滿">
            <a:extLst>
              <a:ext uri="{FF2B5EF4-FFF2-40B4-BE49-F238E27FC236}">
                <a16:creationId xmlns:a16="http://schemas.microsoft.com/office/drawing/2014/main" id="{6AC54C3D-5336-6280-0F05-24AE79B537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50048" y="3747782"/>
            <a:ext cx="625084" cy="625084"/>
          </a:xfrm>
          <a:prstGeom prst="rect">
            <a:avLst/>
          </a:prstGeom>
        </p:spPr>
      </p:pic>
      <p:pic>
        <p:nvPicPr>
          <p:cNvPr id="17" name="圖形 16" descr="文件 以實心填滿">
            <a:extLst>
              <a:ext uri="{FF2B5EF4-FFF2-40B4-BE49-F238E27FC236}">
                <a16:creationId xmlns:a16="http://schemas.microsoft.com/office/drawing/2014/main" id="{3F465E48-EC88-1465-FFC8-4A8B043C36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07248" y="4123316"/>
            <a:ext cx="625084" cy="625084"/>
          </a:xfrm>
          <a:prstGeom prst="rect">
            <a:avLst/>
          </a:prstGeom>
        </p:spPr>
      </p:pic>
      <p:pic>
        <p:nvPicPr>
          <p:cNvPr id="18" name="圖形 17" descr="文件 以實心填滿">
            <a:extLst>
              <a:ext uri="{FF2B5EF4-FFF2-40B4-BE49-F238E27FC236}">
                <a16:creationId xmlns:a16="http://schemas.microsoft.com/office/drawing/2014/main" id="{BB247AD3-C731-51A0-C178-874329CDC6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47321" y="3951358"/>
            <a:ext cx="625084" cy="625084"/>
          </a:xfrm>
          <a:prstGeom prst="rect">
            <a:avLst/>
          </a:prstGeom>
        </p:spPr>
      </p:pic>
      <p:pic>
        <p:nvPicPr>
          <p:cNvPr id="19" name="圖形 18" descr="文件 以實心填滿">
            <a:extLst>
              <a:ext uri="{FF2B5EF4-FFF2-40B4-BE49-F238E27FC236}">
                <a16:creationId xmlns:a16="http://schemas.microsoft.com/office/drawing/2014/main" id="{28CDC015-84EB-E1F7-8604-79CE26FEA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4422" y="3059706"/>
            <a:ext cx="625084" cy="625084"/>
          </a:xfrm>
          <a:prstGeom prst="rect">
            <a:avLst/>
          </a:prstGeom>
        </p:spPr>
      </p:pic>
      <p:pic>
        <p:nvPicPr>
          <p:cNvPr id="20" name="圖形 19" descr="文件 以實心填滿">
            <a:extLst>
              <a:ext uri="{FF2B5EF4-FFF2-40B4-BE49-F238E27FC236}">
                <a16:creationId xmlns:a16="http://schemas.microsoft.com/office/drawing/2014/main" id="{4B2B553E-56C8-4444-B9F1-A69430364E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2928" y="2615089"/>
            <a:ext cx="625084" cy="625084"/>
          </a:xfrm>
          <a:prstGeom prst="rect">
            <a:avLst/>
          </a:prstGeom>
        </p:spPr>
      </p:pic>
      <p:pic>
        <p:nvPicPr>
          <p:cNvPr id="21" name="圖形 20" descr="文件 以實心填滿">
            <a:extLst>
              <a:ext uri="{FF2B5EF4-FFF2-40B4-BE49-F238E27FC236}">
                <a16:creationId xmlns:a16="http://schemas.microsoft.com/office/drawing/2014/main" id="{10B661B6-29F0-302B-BB0A-CEC74BB110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6001" y="2625920"/>
            <a:ext cx="625084" cy="625084"/>
          </a:xfrm>
          <a:prstGeom prst="rect">
            <a:avLst/>
          </a:prstGeom>
        </p:spPr>
      </p:pic>
      <p:pic>
        <p:nvPicPr>
          <p:cNvPr id="22" name="圖形 21" descr="文件 以實心填滿">
            <a:extLst>
              <a:ext uri="{FF2B5EF4-FFF2-40B4-BE49-F238E27FC236}">
                <a16:creationId xmlns:a16="http://schemas.microsoft.com/office/drawing/2014/main" id="{F9BDE5FB-432F-4D55-75AF-92C96B481A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2848" y="3719751"/>
            <a:ext cx="625084" cy="625084"/>
          </a:xfrm>
          <a:prstGeom prst="rect">
            <a:avLst/>
          </a:prstGeom>
        </p:spPr>
      </p:pic>
      <p:pic>
        <p:nvPicPr>
          <p:cNvPr id="23" name="圖形 22" descr="文件 以實心填滿">
            <a:extLst>
              <a:ext uri="{FF2B5EF4-FFF2-40B4-BE49-F238E27FC236}">
                <a16:creationId xmlns:a16="http://schemas.microsoft.com/office/drawing/2014/main" id="{999F39AE-EB8C-A6A6-B105-434923C069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6001" y="4325050"/>
            <a:ext cx="625084" cy="625084"/>
          </a:xfrm>
          <a:prstGeom prst="rect">
            <a:avLst/>
          </a:prstGeom>
        </p:spPr>
      </p:pic>
      <p:pic>
        <p:nvPicPr>
          <p:cNvPr id="24" name="圖形 23" descr="文件 以實心填滿">
            <a:extLst>
              <a:ext uri="{FF2B5EF4-FFF2-40B4-BE49-F238E27FC236}">
                <a16:creationId xmlns:a16="http://schemas.microsoft.com/office/drawing/2014/main" id="{CDC44DE1-8A45-7EA1-75C1-D888467B01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7652" y="4325050"/>
            <a:ext cx="625084" cy="625084"/>
          </a:xfrm>
          <a:prstGeom prst="rect">
            <a:avLst/>
          </a:prstGeom>
        </p:spPr>
      </p:pic>
      <p:pic>
        <p:nvPicPr>
          <p:cNvPr id="25" name="圖形 24" descr="文件 以實心填滿">
            <a:extLst>
              <a:ext uri="{FF2B5EF4-FFF2-40B4-BE49-F238E27FC236}">
                <a16:creationId xmlns:a16="http://schemas.microsoft.com/office/drawing/2014/main" id="{A34B3C36-8DF5-40B3-D214-5EB95C20D6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2397" y="2873148"/>
            <a:ext cx="625084" cy="625084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15FD17FF-A278-92C7-E604-667D6AEC4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839" y="2970547"/>
            <a:ext cx="4550229" cy="1997485"/>
          </a:xfrm>
          <a:prstGeom prst="rect">
            <a:avLst/>
          </a:prstGeom>
        </p:spPr>
      </p:pic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3D14403B-4919-F181-F603-019C438275A7}"/>
              </a:ext>
            </a:extLst>
          </p:cNvPr>
          <p:cNvCxnSpPr>
            <a:cxnSpLocks/>
          </p:cNvCxnSpPr>
          <p:nvPr/>
        </p:nvCxnSpPr>
        <p:spPr>
          <a:xfrm>
            <a:off x="3541477" y="3951358"/>
            <a:ext cx="61636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26F2C14C-CC2D-1CAD-3DCC-23642EDD839F}"/>
              </a:ext>
            </a:extLst>
          </p:cNvPr>
          <p:cNvCxnSpPr>
            <a:cxnSpLocks/>
          </p:cNvCxnSpPr>
          <p:nvPr/>
        </p:nvCxnSpPr>
        <p:spPr>
          <a:xfrm>
            <a:off x="8708068" y="3951358"/>
            <a:ext cx="61636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圖形 28" descr="文件 以實心填滿">
            <a:extLst>
              <a:ext uri="{FF2B5EF4-FFF2-40B4-BE49-F238E27FC236}">
                <a16:creationId xmlns:a16="http://schemas.microsoft.com/office/drawing/2014/main" id="{671175EA-61E4-F0A6-8375-2DAE98B61A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10629" y="2886777"/>
            <a:ext cx="625084" cy="625084"/>
          </a:xfrm>
          <a:prstGeom prst="rect">
            <a:avLst/>
          </a:prstGeom>
        </p:spPr>
      </p:pic>
      <p:pic>
        <p:nvPicPr>
          <p:cNvPr id="30" name="圖形 29" descr="文件 以實心填滿">
            <a:extLst>
              <a:ext uri="{FF2B5EF4-FFF2-40B4-BE49-F238E27FC236}">
                <a16:creationId xmlns:a16="http://schemas.microsoft.com/office/drawing/2014/main" id="{F138B837-31DE-37E1-DBAC-A5A1249D61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10629" y="3623613"/>
            <a:ext cx="625084" cy="625084"/>
          </a:xfrm>
          <a:prstGeom prst="rect">
            <a:avLst/>
          </a:prstGeom>
        </p:spPr>
      </p:pic>
      <p:pic>
        <p:nvPicPr>
          <p:cNvPr id="31" name="圖形 30" descr="文件 以實心填滿">
            <a:extLst>
              <a:ext uri="{FF2B5EF4-FFF2-40B4-BE49-F238E27FC236}">
                <a16:creationId xmlns:a16="http://schemas.microsoft.com/office/drawing/2014/main" id="{7DAE0468-D4CA-AE7E-C2B5-5D48D0A80F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31214" y="4413333"/>
            <a:ext cx="625084" cy="625084"/>
          </a:xfrm>
          <a:prstGeom prst="rect">
            <a:avLst/>
          </a:prstGeom>
        </p:spPr>
      </p:pic>
      <p:pic>
        <p:nvPicPr>
          <p:cNvPr id="33" name="圖形 32" descr="皇冠 以實心填滿">
            <a:extLst>
              <a:ext uri="{FF2B5EF4-FFF2-40B4-BE49-F238E27FC236}">
                <a16:creationId xmlns:a16="http://schemas.microsoft.com/office/drawing/2014/main" id="{DD3475AB-603B-B609-01CA-575FE78D2F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6526" y="2618178"/>
            <a:ext cx="448239" cy="448239"/>
          </a:xfrm>
          <a:prstGeom prst="rect">
            <a:avLst/>
          </a:prstGeom>
        </p:spPr>
      </p:pic>
      <p:pic>
        <p:nvPicPr>
          <p:cNvPr id="34" name="圖形 33" descr="皇冠 以實心填滿">
            <a:extLst>
              <a:ext uri="{FF2B5EF4-FFF2-40B4-BE49-F238E27FC236}">
                <a16:creationId xmlns:a16="http://schemas.microsoft.com/office/drawing/2014/main" id="{BDE8A39B-DEFF-B3A0-4EC5-FC37ECE461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9026" y="3460836"/>
            <a:ext cx="448239" cy="448239"/>
          </a:xfrm>
          <a:prstGeom prst="rect">
            <a:avLst/>
          </a:prstGeom>
        </p:spPr>
      </p:pic>
      <p:pic>
        <p:nvPicPr>
          <p:cNvPr id="35" name="圖形 34" descr="皇冠 以實心填滿">
            <a:extLst>
              <a:ext uri="{FF2B5EF4-FFF2-40B4-BE49-F238E27FC236}">
                <a16:creationId xmlns:a16="http://schemas.microsoft.com/office/drawing/2014/main" id="{96DB55E8-CFDB-1ED9-6D1A-FCDB75E8D8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6525" y="4258536"/>
            <a:ext cx="448239" cy="448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33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5119F1-4E9A-377B-896D-0CBD155BC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增加上下文資訊的過程</a:t>
            </a:r>
            <a:r>
              <a:rPr kumimoji="1" lang="en-US" altLang="zh-TW" dirty="0"/>
              <a:t> (RAG)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6019714-DFBD-E448-32E7-DB55DE89B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82685" y="1905683"/>
            <a:ext cx="1460883" cy="2264872"/>
          </a:xfrm>
          <a:ln w="12700">
            <a:solidFill>
              <a:schemeClr val="accent1"/>
            </a:solidFill>
          </a:ln>
        </p:spPr>
        <p:txBody>
          <a:bodyPr/>
          <a:lstStyle/>
          <a:p>
            <a:r>
              <a:rPr kumimoji="1" lang="zh-TW" altLang="en-US" b="1" dirty="0"/>
              <a:t>公司政策</a:t>
            </a:r>
            <a:endParaRPr kumimoji="1" lang="en-US" altLang="zh-TW" b="1" dirty="0"/>
          </a:p>
          <a:p>
            <a:r>
              <a:rPr kumimoji="1" lang="zh-TW" altLang="en-US" dirty="0"/>
              <a:t>政策</a:t>
            </a:r>
            <a:r>
              <a:rPr kumimoji="1" lang="en-US" altLang="zh-TW" dirty="0"/>
              <a:t>1</a:t>
            </a:r>
          </a:p>
          <a:p>
            <a:r>
              <a:rPr kumimoji="1" lang="zh-TW" altLang="en-US" dirty="0"/>
              <a:t>政策</a:t>
            </a:r>
            <a:r>
              <a:rPr kumimoji="1" lang="en-US" altLang="zh-TW" dirty="0"/>
              <a:t>2</a:t>
            </a:r>
          </a:p>
          <a:p>
            <a:r>
              <a:rPr kumimoji="1" lang="zh-TW" altLang="en-US" dirty="0"/>
              <a:t>政策</a:t>
            </a:r>
            <a:r>
              <a:rPr kumimoji="1" lang="en-US" altLang="zh-TW" dirty="0"/>
              <a:t>3</a:t>
            </a:r>
          </a:p>
          <a:p>
            <a:r>
              <a:rPr kumimoji="1" lang="en-US" altLang="zh-TW" dirty="0"/>
              <a:t>...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9C841F-FFBF-8640-ADF4-267FB13AC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E0334FF3-AE0B-3513-33DB-CBA59FFC357E}"/>
              </a:ext>
            </a:extLst>
          </p:cNvPr>
          <p:cNvSpPr/>
          <p:nvPr/>
        </p:nvSpPr>
        <p:spPr>
          <a:xfrm>
            <a:off x="704482" y="2734386"/>
            <a:ext cx="3778484" cy="54528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/>
              <a:t>我可以在購買後</a:t>
            </a:r>
            <a:r>
              <a:rPr kumimoji="1" lang="en-US" altLang="zh-TW" dirty="0"/>
              <a:t>14</a:t>
            </a:r>
            <a:r>
              <a:rPr kumimoji="1" lang="zh-TW" altLang="en-US" dirty="0"/>
              <a:t>天申請退款嗎？</a:t>
            </a:r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1DAD127D-C6E9-B4A4-FEAE-B48CB7627A33}"/>
              </a:ext>
            </a:extLst>
          </p:cNvPr>
          <p:cNvCxnSpPr>
            <a:cxnSpLocks/>
          </p:cNvCxnSpPr>
          <p:nvPr/>
        </p:nvCxnSpPr>
        <p:spPr>
          <a:xfrm flipV="1">
            <a:off x="4507907" y="3007028"/>
            <a:ext cx="1649836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圓角矩形 8">
            <a:extLst>
              <a:ext uri="{FF2B5EF4-FFF2-40B4-BE49-F238E27FC236}">
                <a16:creationId xmlns:a16="http://schemas.microsoft.com/office/drawing/2014/main" id="{A0947BB3-982B-7BC8-34D3-3394728F9E79}"/>
              </a:ext>
            </a:extLst>
          </p:cNvPr>
          <p:cNvSpPr/>
          <p:nvPr/>
        </p:nvSpPr>
        <p:spPr>
          <a:xfrm>
            <a:off x="8351688" y="2569034"/>
            <a:ext cx="3194809" cy="938170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dirty="0">
                <a:solidFill>
                  <a:schemeClr val="tx1"/>
                </a:solidFill>
              </a:rPr>
              <a:t>僅在購買後</a:t>
            </a:r>
            <a:r>
              <a:rPr kumimoji="1" lang="en-US" altLang="zh-TW" dirty="0">
                <a:solidFill>
                  <a:schemeClr val="tx1"/>
                </a:solidFill>
              </a:rPr>
              <a:t>14</a:t>
            </a:r>
            <a:r>
              <a:rPr kumimoji="1" lang="zh-TW" altLang="en-US" dirty="0">
                <a:solidFill>
                  <a:schemeClr val="tx1"/>
                </a:solidFill>
              </a:rPr>
              <a:t>天內可申請退款。超過</a:t>
            </a:r>
            <a:r>
              <a:rPr kumimoji="1" lang="en-US" altLang="zh-TW" dirty="0">
                <a:solidFill>
                  <a:schemeClr val="tx1"/>
                </a:solidFill>
              </a:rPr>
              <a:t>14</a:t>
            </a:r>
            <a:r>
              <a:rPr kumimoji="1" lang="zh-TW" altLang="en-US" dirty="0">
                <a:solidFill>
                  <a:schemeClr val="tx1"/>
                </a:solidFill>
              </a:rPr>
              <a:t>天除非商品有瑕疵，否則無法退款。</a:t>
            </a:r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0371F60C-B274-BBF9-E767-A4203C1B4616}"/>
              </a:ext>
            </a:extLst>
          </p:cNvPr>
          <p:cNvCxnSpPr/>
          <p:nvPr/>
        </p:nvCxnSpPr>
        <p:spPr>
          <a:xfrm>
            <a:off x="7108720" y="3007028"/>
            <a:ext cx="1031846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EED04089-6BD6-8F09-3BF4-6055D8901B2E}"/>
              </a:ext>
            </a:extLst>
          </p:cNvPr>
          <p:cNvSpPr/>
          <p:nvPr/>
        </p:nvSpPr>
        <p:spPr>
          <a:xfrm>
            <a:off x="2609671" y="4790438"/>
            <a:ext cx="3194809" cy="938170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dirty="0">
                <a:solidFill>
                  <a:schemeClr val="tx1"/>
                </a:solidFill>
              </a:rPr>
              <a:t>僅在購買後</a:t>
            </a:r>
            <a:r>
              <a:rPr kumimoji="1" lang="en-US" altLang="zh-TW" dirty="0">
                <a:solidFill>
                  <a:schemeClr val="tx1"/>
                </a:solidFill>
              </a:rPr>
              <a:t>14</a:t>
            </a:r>
            <a:r>
              <a:rPr kumimoji="1" lang="zh-TW" altLang="en-US" dirty="0">
                <a:solidFill>
                  <a:schemeClr val="tx1"/>
                </a:solidFill>
              </a:rPr>
              <a:t>天內可申請退款。超過</a:t>
            </a:r>
            <a:r>
              <a:rPr kumimoji="1" lang="en-US" altLang="zh-TW" dirty="0">
                <a:solidFill>
                  <a:schemeClr val="tx1"/>
                </a:solidFill>
              </a:rPr>
              <a:t>14</a:t>
            </a:r>
            <a:r>
              <a:rPr kumimoji="1" lang="zh-TW" altLang="en-US" dirty="0">
                <a:solidFill>
                  <a:schemeClr val="tx1"/>
                </a:solidFill>
              </a:rPr>
              <a:t>天除非商品有瑕疵，否則無法退款。</a:t>
            </a: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ECDB339A-D48A-6218-5DA8-D312F03F7D39}"/>
              </a:ext>
            </a:extLst>
          </p:cNvPr>
          <p:cNvSpPr/>
          <p:nvPr/>
        </p:nvSpPr>
        <p:spPr>
          <a:xfrm>
            <a:off x="2219418" y="5870275"/>
            <a:ext cx="3778484" cy="54528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/>
              <a:t>我可以在購買後</a:t>
            </a:r>
            <a:r>
              <a:rPr kumimoji="1" lang="en-US" altLang="zh-TW" dirty="0"/>
              <a:t>14</a:t>
            </a:r>
            <a:r>
              <a:rPr kumimoji="1" lang="zh-TW" altLang="en-US" dirty="0"/>
              <a:t>天申請退款嗎？</a:t>
            </a:r>
          </a:p>
        </p:txBody>
      </p:sp>
      <p:sp>
        <p:nvSpPr>
          <p:cNvPr id="14" name="右中括弧 13">
            <a:extLst>
              <a:ext uri="{FF2B5EF4-FFF2-40B4-BE49-F238E27FC236}">
                <a16:creationId xmlns:a16="http://schemas.microsoft.com/office/drawing/2014/main" id="{61D89F73-46B5-C678-967B-EE0FD6540197}"/>
              </a:ext>
            </a:extLst>
          </p:cNvPr>
          <p:cNvSpPr/>
          <p:nvPr/>
        </p:nvSpPr>
        <p:spPr>
          <a:xfrm>
            <a:off x="6182685" y="5123655"/>
            <a:ext cx="117446" cy="107305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15" name="Picture 2" descr="undefined">
            <a:extLst>
              <a:ext uri="{FF2B5EF4-FFF2-40B4-BE49-F238E27FC236}">
                <a16:creationId xmlns:a16="http://schemas.microsoft.com/office/drawing/2014/main" id="{64C8DD86-A859-CD74-191F-5AB06C55B0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5311" y="5304927"/>
            <a:ext cx="710510" cy="71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向右箭號 15">
            <a:extLst>
              <a:ext uri="{FF2B5EF4-FFF2-40B4-BE49-F238E27FC236}">
                <a16:creationId xmlns:a16="http://schemas.microsoft.com/office/drawing/2014/main" id="{6ED952CF-E150-7A36-A686-D0CB6B5AAA39}"/>
              </a:ext>
            </a:extLst>
          </p:cNvPr>
          <p:cNvSpPr/>
          <p:nvPr/>
        </p:nvSpPr>
        <p:spPr>
          <a:xfrm>
            <a:off x="6775361" y="5561506"/>
            <a:ext cx="640506" cy="19735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E10D1B9-B1A0-085F-6EB6-AED250F7E38F}"/>
              </a:ext>
            </a:extLst>
          </p:cNvPr>
          <p:cNvSpPr/>
          <p:nvPr/>
        </p:nvSpPr>
        <p:spPr>
          <a:xfrm>
            <a:off x="4725358" y="2513045"/>
            <a:ext cx="1214934" cy="423150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Retriever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7C14F6C-BCD7-6BA0-5AF8-E20F74EEA89D}"/>
              </a:ext>
            </a:extLst>
          </p:cNvPr>
          <p:cNvSpPr txBox="1"/>
          <p:nvPr/>
        </p:nvSpPr>
        <p:spPr>
          <a:xfrm>
            <a:off x="653143" y="1476318"/>
            <a:ext cx="37784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Step1: </a:t>
            </a:r>
            <a:r>
              <a:rPr kumimoji="1" lang="zh-TW" altLang="en-US" sz="2000" dirty="0"/>
              <a:t>搜尋精確的上下文資訊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1B0BEB8-3C53-A8E2-839B-06AA085246CE}"/>
              </a:ext>
            </a:extLst>
          </p:cNvPr>
          <p:cNvSpPr txBox="1"/>
          <p:nvPr/>
        </p:nvSpPr>
        <p:spPr>
          <a:xfrm>
            <a:off x="653142" y="4174863"/>
            <a:ext cx="37784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Step2: </a:t>
            </a:r>
            <a:r>
              <a:rPr kumimoji="1" lang="zh-TW" altLang="en-US" sz="2000" dirty="0"/>
              <a:t>模型推論</a:t>
            </a:r>
          </a:p>
        </p:txBody>
      </p:sp>
    </p:spTree>
    <p:extLst>
      <p:ext uri="{BB962C8B-B14F-4D97-AF65-F5344CB8AC3E}">
        <p14:creationId xmlns:p14="http://schemas.microsoft.com/office/powerpoint/2010/main" val="398025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  <p:bldP spid="13" grpId="0" animBg="1"/>
      <p:bldP spid="14" grpId="0" animBg="1"/>
      <p:bldP spid="16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6DA272-D2F3-9CDB-96A6-E5FF1713B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應用範例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ChatDoctor</a:t>
            </a:r>
            <a:r>
              <a:rPr kumimoji="1" lang="en-US" altLang="zh-TW" dirty="0"/>
              <a:t> (</a:t>
            </a:r>
            <a:r>
              <a:rPr kumimoji="1" lang="zh-TW" altLang="en-US" dirty="0"/>
              <a:t>醫學問答系統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09C9B36-342B-B518-9525-C80BE87BD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48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7CC490F-A11E-FC9C-A91E-BBED0356D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541" y="1716247"/>
            <a:ext cx="7262364" cy="4968606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4D87A40-75F6-DA81-B868-9EC97571FA01}"/>
              </a:ext>
            </a:extLst>
          </p:cNvPr>
          <p:cNvSpPr txBox="1"/>
          <p:nvPr/>
        </p:nvSpPr>
        <p:spPr>
          <a:xfrm>
            <a:off x="8522905" y="1553737"/>
            <a:ext cx="304860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kumimoji="1" lang="en" altLang="zh-TW" sz="1400" dirty="0"/>
              <a:t>Li, </a:t>
            </a:r>
            <a:r>
              <a:rPr kumimoji="1" lang="en" altLang="zh-TW" sz="1400" dirty="0" err="1"/>
              <a:t>Yunxiang</a:t>
            </a:r>
            <a:r>
              <a:rPr kumimoji="1" lang="en" altLang="zh-TW" sz="1400" dirty="0"/>
              <a:t>, et al. "</a:t>
            </a:r>
            <a:r>
              <a:rPr kumimoji="1" lang="en" altLang="zh-TW" sz="1400" dirty="0" err="1"/>
              <a:t>Chatdoctor</a:t>
            </a:r>
            <a:r>
              <a:rPr kumimoji="1" lang="en" altLang="zh-TW" sz="1400" dirty="0"/>
              <a:t>: A medical chat model fine-tuned on a large language model meta-ai (llama) using medical domain knowledge." </a:t>
            </a:r>
            <a:r>
              <a:rPr kumimoji="1" lang="en" altLang="zh-TW" sz="1400" dirty="0" err="1"/>
              <a:t>Cureus</a:t>
            </a:r>
            <a:r>
              <a:rPr kumimoji="1" lang="en" altLang="zh-TW" sz="1400" dirty="0"/>
              <a:t> 15.6 (2023).</a:t>
            </a:r>
            <a:endParaRPr kumimoji="1" lang="zh-TW" altLang="en-US" sz="1400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B737E51-23E3-E906-B81E-751C7844F16B}"/>
              </a:ext>
            </a:extLst>
          </p:cNvPr>
          <p:cNvSpPr txBox="1"/>
          <p:nvPr/>
        </p:nvSpPr>
        <p:spPr>
          <a:xfrm>
            <a:off x="3080852" y="2138512"/>
            <a:ext cx="1712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</a:rPr>
              <a:t>查詢資料庫</a:t>
            </a:r>
            <a:r>
              <a:rPr kumimoji="1" lang="en-US" altLang="zh-TW" dirty="0">
                <a:solidFill>
                  <a:srgbClr val="FF0000"/>
                </a:solidFill>
              </a:rPr>
              <a:t>)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65356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5CC2DB8D-FB34-E3BD-0CDD-276E352F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802" y="2769461"/>
            <a:ext cx="4071257" cy="20467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劉美辰</a:t>
            </a:r>
          </a:p>
          <a:p>
            <a:pPr marL="0" indent="0">
              <a:buNone/>
            </a:pP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m1461014@cgu.edu.tw</a:t>
            </a:r>
          </a:p>
          <a:p>
            <a:pPr marL="0" indent="0">
              <a:buNone/>
            </a:pP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365187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9381</TotalTime>
  <Words>2497</Words>
  <Application>Microsoft Macintosh PowerPoint</Application>
  <PresentationFormat>寬螢幕</PresentationFormat>
  <Paragraphs>559</Paragraphs>
  <Slides>49</Slides>
  <Notes>17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49</vt:i4>
      </vt:variant>
    </vt:vector>
  </HeadingPairs>
  <TitlesOfParts>
    <vt:vector size="56" baseType="lpstr">
      <vt:lpstr>Microsoft JhengHei</vt:lpstr>
      <vt:lpstr>Arial</vt:lpstr>
      <vt:lpstr>Calibri</vt:lpstr>
      <vt:lpstr>Cambria Math</vt:lpstr>
      <vt:lpstr>Roboto</vt:lpstr>
      <vt:lpstr>Times New Roman</vt:lpstr>
      <vt:lpstr>回顧</vt:lpstr>
      <vt:lpstr>深度學習 Deep Learning</vt:lpstr>
      <vt:lpstr>Announcements</vt:lpstr>
      <vt:lpstr>Week 12 要繳交什麼？</vt:lpstr>
      <vt:lpstr>Week 12 繳交注意事項</vt:lpstr>
      <vt:lpstr>Outline</vt:lpstr>
      <vt:lpstr>自然語言處理 SSL</vt:lpstr>
      <vt:lpstr>[Recap] Encoder and Decoder</vt:lpstr>
      <vt:lpstr>[Recap] Encoder-Decoder 橋樑: Cross-Attention</vt:lpstr>
      <vt:lpstr>[Recap] Cross-attention</vt:lpstr>
      <vt:lpstr>Transformer 架構的後續應用</vt:lpstr>
      <vt:lpstr>GPT 是一個語言模型</vt:lpstr>
      <vt:lpstr>[RNN Recap] 條件機率</vt:lpstr>
      <vt:lpstr>訓練 GPT 最大化每個時間點的機率</vt:lpstr>
      <vt:lpstr>Language Modeling and Cross-entropy (1)</vt:lpstr>
      <vt:lpstr>Language Modeling and Cross-entropy (2)</vt:lpstr>
      <vt:lpstr>常見 Language Models</vt:lpstr>
      <vt:lpstr>Language Models 終究是 left-to-right</vt:lpstr>
      <vt:lpstr>Transformer 架構的後續應用</vt:lpstr>
      <vt:lpstr>BERT (Bidirectional Encoder Representations from Transformers)</vt:lpstr>
      <vt:lpstr>Next Sentence Prediction (NSP)</vt:lpstr>
      <vt:lpstr>Summary  - Key information</vt:lpstr>
      <vt:lpstr>Encoder vs. Decoder in Pre-training</vt:lpstr>
      <vt:lpstr>GPT-1 與 BERT 的 Fine-tuning</vt:lpstr>
      <vt:lpstr>先 Pre-training，再 Fine-tuning</vt:lpstr>
      <vt:lpstr>大型語言模型</vt:lpstr>
      <vt:lpstr>The Revolution of ChatGPT</vt:lpstr>
      <vt:lpstr>寫程式？</vt:lpstr>
      <vt:lpstr>Code Llama</vt:lpstr>
      <vt:lpstr>大型語言模型的演化樹</vt:lpstr>
      <vt:lpstr>NLP Model Sizes (2018 – 2025)</vt:lpstr>
      <vt:lpstr>很多厲害的大型語言模型都需要上網...</vt:lpstr>
      <vt:lpstr>PowerPoint 簡報</vt:lpstr>
      <vt:lpstr>以前的 GPT 有口吃</vt:lpstr>
      <vt:lpstr>GPT 系列作品時間線</vt:lpstr>
      <vt:lpstr>The Pre-training then Fine-tuning Paradigm</vt:lpstr>
      <vt:lpstr>語言模型會回答嗎？</vt:lpstr>
      <vt:lpstr>Supervised Fine-Tuning (SFT)</vt:lpstr>
      <vt:lpstr>Atari – a common environment for RL</vt:lpstr>
      <vt:lpstr>RLHF 的進行過程</vt:lpstr>
      <vt:lpstr>Supervised Learning vs. Reinforcement Learning</vt:lpstr>
      <vt:lpstr>Supervised Learning vs. Reinforcement Learning</vt:lpstr>
      <vt:lpstr>Main Differences between BERT and InstructGPT</vt:lpstr>
      <vt:lpstr>大型語言模型應用</vt:lpstr>
      <vt:lpstr>讓大型語言模型適用於你的任務？</vt:lpstr>
      <vt:lpstr>提示詞工程與上下文工程 (範例)</vt:lpstr>
      <vt:lpstr>資訊檢索 (Information Retrieval)</vt:lpstr>
      <vt:lpstr>增加上下文資訊的過程 (RAG)</vt:lpstr>
      <vt:lpstr>應用範例: ChatDoctor (醫學問答系統)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林英嘉</cp:lastModifiedBy>
  <cp:revision>1670</cp:revision>
  <dcterms:created xsi:type="dcterms:W3CDTF">2025-02-06T07:16:08Z</dcterms:created>
  <dcterms:modified xsi:type="dcterms:W3CDTF">2025-11-19T02:54:02Z</dcterms:modified>
</cp:coreProperties>
</file>