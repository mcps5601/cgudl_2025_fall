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3"/>
  </p:notesMasterIdLst>
  <p:sldIdLst>
    <p:sldId id="264" r:id="rId2"/>
    <p:sldId id="665" r:id="rId3"/>
    <p:sldId id="312" r:id="rId4"/>
    <p:sldId id="753" r:id="rId5"/>
    <p:sldId id="754" r:id="rId6"/>
    <p:sldId id="773" r:id="rId7"/>
    <p:sldId id="689" r:id="rId8"/>
    <p:sldId id="774" r:id="rId9"/>
    <p:sldId id="690" r:id="rId10"/>
    <p:sldId id="685" r:id="rId11"/>
    <p:sldId id="680" r:id="rId12"/>
    <p:sldId id="679" r:id="rId13"/>
    <p:sldId id="697" r:id="rId14"/>
    <p:sldId id="755" r:id="rId15"/>
    <p:sldId id="676" r:id="rId16"/>
    <p:sldId id="756" r:id="rId17"/>
    <p:sldId id="757" r:id="rId18"/>
    <p:sldId id="693" r:id="rId19"/>
    <p:sldId id="288" r:id="rId20"/>
    <p:sldId id="698" r:id="rId21"/>
    <p:sldId id="694" r:id="rId22"/>
    <p:sldId id="695" r:id="rId23"/>
    <p:sldId id="272" r:id="rId24"/>
    <p:sldId id="696" r:id="rId25"/>
    <p:sldId id="700" r:id="rId26"/>
    <p:sldId id="701" r:id="rId27"/>
    <p:sldId id="702" r:id="rId28"/>
    <p:sldId id="703" r:id="rId29"/>
    <p:sldId id="775" r:id="rId30"/>
    <p:sldId id="776" r:id="rId31"/>
    <p:sldId id="777" r:id="rId32"/>
    <p:sldId id="675" r:id="rId33"/>
    <p:sldId id="671" r:id="rId34"/>
    <p:sldId id="691" r:id="rId35"/>
    <p:sldId id="778" r:id="rId36"/>
    <p:sldId id="720" r:id="rId37"/>
    <p:sldId id="531" r:id="rId38"/>
    <p:sldId id="705" r:id="rId39"/>
    <p:sldId id="706" r:id="rId40"/>
    <p:sldId id="719" r:id="rId41"/>
    <p:sldId id="610" r:id="rId4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9EF5EA"/>
    <a:srgbClr val="CDD5DE"/>
    <a:srgbClr val="FCE7D7"/>
    <a:srgbClr val="F9EDC6"/>
    <a:srgbClr val="05A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59"/>
    <p:restoredTop sz="90886"/>
  </p:normalViewPr>
  <p:slideViewPr>
    <p:cSldViewPr snapToGrid="0">
      <p:cViewPr varScale="1">
        <p:scale>
          <a:sx n="101" d="100"/>
          <a:sy n="101" d="100"/>
        </p:scale>
        <p:origin x="208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56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2025/11/26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81769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19968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75896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9581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43444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25728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96932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600284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126688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190333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47350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242445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337057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458743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45270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pic>
        <p:nvPicPr>
          <p:cNvPr id="8" name="圖片 7" descr="一張含有 黑暗, 鮮豔, 圓形, 對稱 的圖片&#10;&#10;自動產生的描述">
            <a:extLst>
              <a:ext uri="{FF2B5EF4-FFF2-40B4-BE49-F238E27FC236}">
                <a16:creationId xmlns:a16="http://schemas.microsoft.com/office/drawing/2014/main" id="{7B42FF8E-DE09-ED24-7D18-F64355A345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20" y="6349567"/>
            <a:ext cx="462323" cy="453571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11/26/25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11/26/25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11/26/25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05AED6"/>
          </a:solidFill>
          <a:ln>
            <a:solidFill>
              <a:srgbClr val="05AE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hyperlink" Target="https://github.com/mcps5601/CGUDL_2025_fal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pp.sli.do/event/9VB56ey4A7jogNmrmaPQ7b" TargetMode="External"/><Relationship Id="rId5" Type="http://schemas.openxmlformats.org/officeDocument/2006/relationships/hyperlink" Target="https://app.sli.do/event/8snWo8fi4tc3ZqAH5B3KEy" TargetMode="Externa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ifearchitect.ai/models/#model-bubble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review.net/forum?id=nZeVKeeFYf9" TargetMode="External"/><Relationship Id="rId2" Type="http://schemas.openxmlformats.org/officeDocument/2006/relationships/hyperlink" Target="https://proceedings.mlr.press/v97/houlsby19a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clanthology.org/2022.acl-short.1/" TargetMode="External"/><Relationship Id="rId4" Type="http://schemas.openxmlformats.org/officeDocument/2006/relationships/hyperlink" Target="https://aclanthology.org/2021.acl-long.353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0.png"/><Relationship Id="rId7" Type="http://schemas.openxmlformats.org/officeDocument/2006/relationships/image" Target="../media/image180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11" Type="http://schemas.openxmlformats.org/officeDocument/2006/relationships/image" Target="../media/image22.png"/><Relationship Id="rId5" Type="http://schemas.openxmlformats.org/officeDocument/2006/relationships/image" Target="../media/image160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0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eg"/><Relationship Id="rId5" Type="http://schemas.openxmlformats.org/officeDocument/2006/relationships/image" Target="../media/image36.png"/><Relationship Id="rId4" Type="http://schemas.openxmlformats.org/officeDocument/2006/relationships/image" Target="../media/image35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Qqyo9U2JRBQ?si=V9F_nNm44dijmYKchttps://youtu.be/luBa01XYoBc?si=8Hj8fUUI6RwPPI1j" TargetMode="External"/><Relationship Id="rId2" Type="http://schemas.openxmlformats.org/officeDocument/2006/relationships/hyperlink" Target="https://youtu.be/Qqyo9U2JRBQ?si=V9F_nNm44dijmYKc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dpE6LyIGU9w?si=5XBdr-JDJaHojoJD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圓角矩形 4">
            <a:extLst>
              <a:ext uri="{FF2B5EF4-FFF2-40B4-BE49-F238E27FC236}">
                <a16:creationId xmlns:a16="http://schemas.microsoft.com/office/drawing/2014/main" id="{3C6264BC-1151-9168-C7F5-CC114FF3CC95}"/>
              </a:ext>
            </a:extLst>
          </p:cNvPr>
          <p:cNvSpPr/>
          <p:nvPr/>
        </p:nvSpPr>
        <p:spPr>
          <a:xfrm>
            <a:off x="667422" y="2025546"/>
            <a:ext cx="10857156" cy="2426189"/>
          </a:xfrm>
          <a:prstGeom prst="roundRect">
            <a:avLst/>
          </a:prstGeom>
          <a:solidFill>
            <a:srgbClr val="9EF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1959" y="1006002"/>
            <a:ext cx="5437882" cy="3224045"/>
          </a:xfrm>
        </p:spPr>
        <p:txBody>
          <a:bodyPr anchor="b">
            <a:normAutofit/>
          </a:bodyPr>
          <a:lstStyle/>
          <a:p>
            <a:r>
              <a:rPr kumimoji="1" lang="zh-TW" altLang="en-US" sz="5800" b="1" dirty="0">
                <a:ea typeface="Microsoft JhengHei" panose="020B0604030504040204" pitchFamily="34" charset="-120"/>
              </a:rPr>
              <a:t>深度學習</a:t>
            </a:r>
            <a:br>
              <a:rPr kumimoji="1" lang="en-US" altLang="zh-TW" sz="5800" b="1" dirty="0">
                <a:ea typeface="Microsoft JhengHei" panose="020B0604030504040204" pitchFamily="34" charset="-120"/>
              </a:rPr>
            </a:br>
            <a:r>
              <a:rPr kumimoji="1" lang="en-US" altLang="zh-TW" sz="5800" b="1" dirty="0">
                <a:ea typeface="Microsoft JhengHei" panose="020B0604030504040204" pitchFamily="34" charset="-120"/>
              </a:rPr>
              <a:t>Deep Learning</a:t>
            </a:r>
            <a:endParaRPr kumimoji="1" lang="zh-TW" altLang="en-US" sz="5800" b="1" dirty="0">
              <a:ea typeface="Microsoft JhengHei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528" y="253272"/>
            <a:ext cx="1468923" cy="1468923"/>
          </a:xfrm>
          <a:prstGeom prst="rect">
            <a:avLst/>
          </a:prstGeom>
        </p:spPr>
      </p:pic>
      <p:pic>
        <p:nvPicPr>
          <p:cNvPr id="8" name="圖片 7" descr="一張含有 螢幕擷取畫面, 樣式, 圓形, 圖形 的圖片&#10;&#10;AI 產生的內容可能不正確。">
            <a:extLst>
              <a:ext uri="{FF2B5EF4-FFF2-40B4-BE49-F238E27FC236}">
                <a16:creationId xmlns:a16="http://schemas.microsoft.com/office/drawing/2014/main" id="{22F76685-E2D2-0BC7-76BB-5BDBC9DCFE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175" y="4533398"/>
            <a:ext cx="1960729" cy="1960729"/>
          </a:xfrm>
          <a:prstGeom prst="rect">
            <a:avLst/>
          </a:prstGeom>
        </p:spPr>
      </p:pic>
      <p:sp>
        <p:nvSpPr>
          <p:cNvPr id="11" name="文字方塊 10">
            <a:hlinkClick r:id="rId5"/>
            <a:extLst>
              <a:ext uri="{FF2B5EF4-FFF2-40B4-BE49-F238E27FC236}">
                <a16:creationId xmlns:a16="http://schemas.microsoft.com/office/drawing/2014/main" id="{8F823108-2692-7850-78FB-371EE4D6F4E9}"/>
              </a:ext>
            </a:extLst>
          </p:cNvPr>
          <p:cNvSpPr txBox="1"/>
          <p:nvPr/>
        </p:nvSpPr>
        <p:spPr>
          <a:xfrm>
            <a:off x="9181606" y="6296804"/>
            <a:ext cx="1825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6"/>
              </a:rPr>
              <a:t>Slido # DL1126</a:t>
            </a:r>
            <a:endParaRPr kumimoji="1"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8C6CA94-AF36-F0D4-5089-5AA183D3CA39}"/>
              </a:ext>
            </a:extLst>
          </p:cNvPr>
          <p:cNvSpPr txBox="1"/>
          <p:nvPr/>
        </p:nvSpPr>
        <p:spPr>
          <a:xfrm>
            <a:off x="6388165" y="6296804"/>
            <a:ext cx="203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7"/>
              </a:rPr>
              <a:t>Course GitHub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EC54666-0C58-F99D-556B-7D8163B991AA}"/>
              </a:ext>
            </a:extLst>
          </p:cNvPr>
          <p:cNvSpPr txBox="1"/>
          <p:nvPr/>
        </p:nvSpPr>
        <p:spPr>
          <a:xfrm>
            <a:off x="901959" y="4693039"/>
            <a:ext cx="43246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200" b="1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大模型時代如何有效率訓練模型</a:t>
            </a:r>
            <a:r>
              <a:rPr kumimoji="1" lang="en-US" altLang="zh-TW" sz="3200" b="1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24A82EC-22FA-ABE2-B4AF-6FCD7356A734}"/>
              </a:ext>
            </a:extLst>
          </p:cNvPr>
          <p:cNvSpPr txBox="1"/>
          <p:nvPr/>
        </p:nvSpPr>
        <p:spPr>
          <a:xfrm>
            <a:off x="901959" y="5851998"/>
            <a:ext cx="4453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2025/11/26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3C20547-19A0-DF15-D78B-879EE02D43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2439" y="4693039"/>
            <a:ext cx="1603765" cy="160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14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5E7F39-290C-D102-4E6C-BA283CFC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0BAF86-D3E8-8066-F44E-7EAB8A09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C85A9A9-AB70-91D9-06C4-DE2676BBA254}"/>
              </a:ext>
            </a:extLst>
          </p:cNvPr>
          <p:cNvSpPr txBox="1"/>
          <p:nvPr/>
        </p:nvSpPr>
        <p:spPr>
          <a:xfrm>
            <a:off x="653143" y="1586847"/>
            <a:ext cx="10918370" cy="3890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ea typeface="Microsoft JhengHei" panose="020B0604030504040204" pitchFamily="34" charset="-120"/>
              </a:rPr>
              <a:t>輕量化訓練大型模型的方法 </a:t>
            </a:r>
            <a:r>
              <a:rPr kumimoji="1" lang="en-US" altLang="zh-TW" sz="2800" dirty="0">
                <a:ea typeface="Microsoft JhengHei" panose="020B0604030504040204" pitchFamily="34" charset="-120"/>
              </a:rPr>
              <a:t>(50 min)</a:t>
            </a:r>
            <a:endParaRPr kumimoji="1" lang="zh-TW" altLang="en-US" sz="28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ea typeface="Microsoft JhengHei" panose="020B0604030504040204" pitchFamily="34" charset="-120"/>
              </a:rPr>
              <a:t>Parameter-efficient fine-tuning (PEFT)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ea typeface="Microsoft JhengHei" panose="020B0604030504040204" pitchFamily="34" charset="-120"/>
              </a:rPr>
              <a:t>模型壓縮</a:t>
            </a:r>
            <a:endParaRPr kumimoji="1" lang="en-US" altLang="zh-TW" sz="28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ea typeface="Microsoft JhengHei" panose="020B0604030504040204" pitchFamily="34" charset="-120"/>
              </a:rPr>
              <a:t>Code (40 min)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ea typeface="Microsoft JhengHei" panose="020B0604030504040204" pitchFamily="34" charset="-120"/>
              </a:rPr>
              <a:t>Homework 4 (30 min)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ea typeface="Microsoft JhengHei" panose="020B0604030504040204" pitchFamily="34" charset="-120"/>
              </a:rPr>
              <a:t>Project announcements (10 min)</a:t>
            </a:r>
          </a:p>
        </p:txBody>
      </p:sp>
    </p:spTree>
    <p:extLst>
      <p:ext uri="{BB962C8B-B14F-4D97-AF65-F5344CB8AC3E}">
        <p14:creationId xmlns:p14="http://schemas.microsoft.com/office/powerpoint/2010/main" val="105834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0868FB-6F6F-35BC-A23D-E0A4D5252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The Revolution of </a:t>
            </a:r>
            <a:r>
              <a:rPr kumimoji="1" lang="en-US" altLang="zh-TW" dirty="0" err="1"/>
              <a:t>ChatGPT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DD7684D-DA0F-B6F8-7ABC-6110B2CE0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9E07DDE-D011-6299-A807-ED42ACC99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013" y="2080805"/>
            <a:ext cx="7060629" cy="397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6E1A2F0-2B3B-1E98-C744-317CE2B4F219}"/>
              </a:ext>
            </a:extLst>
          </p:cNvPr>
          <p:cNvSpPr txBox="1"/>
          <p:nvPr/>
        </p:nvSpPr>
        <p:spPr>
          <a:xfrm>
            <a:off x="2477765" y="6257465"/>
            <a:ext cx="7269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Figure source: https://</a:t>
            </a:r>
            <a:r>
              <a:rPr kumimoji="1" lang="en-US" altLang="zh-TW" sz="1400" dirty="0" err="1"/>
              <a:t>poole.ncsu.edu</a:t>
            </a:r>
            <a:r>
              <a:rPr kumimoji="1" lang="en-US" altLang="zh-TW" sz="1400" dirty="0"/>
              <a:t>/thought-leadership/article/lets-chat-about-</a:t>
            </a:r>
            <a:r>
              <a:rPr kumimoji="1" lang="en-US" altLang="zh-TW" sz="1400" dirty="0" err="1"/>
              <a:t>chatgpt</a:t>
            </a:r>
            <a:r>
              <a:rPr kumimoji="1" lang="en-US" altLang="zh-TW" sz="1400" dirty="0"/>
              <a:t>/</a:t>
            </a:r>
          </a:p>
          <a:p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openai.com</a:t>
            </a:r>
            <a:r>
              <a:rPr kumimoji="1" lang="en" altLang="zh-TW" sz="1400" dirty="0"/>
              <a:t>/index/</a:t>
            </a:r>
            <a:r>
              <a:rPr kumimoji="1" lang="en" altLang="zh-TW" sz="1400" dirty="0" err="1"/>
              <a:t>chatgpt</a:t>
            </a:r>
            <a:r>
              <a:rPr kumimoji="1" lang="en" altLang="zh-TW" sz="1400" dirty="0"/>
              <a:t>/</a:t>
            </a:r>
            <a:endParaRPr kumimoji="1" lang="zh-TW" altLang="en-US" sz="1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C202C2-0880-D4B3-31EA-6667DAC9DEA5}"/>
              </a:ext>
            </a:extLst>
          </p:cNvPr>
          <p:cNvSpPr txBox="1"/>
          <p:nvPr/>
        </p:nvSpPr>
        <p:spPr>
          <a:xfrm>
            <a:off x="653142" y="1586711"/>
            <a:ext cx="4866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ChatGPT</a:t>
            </a:r>
            <a:r>
              <a:rPr kumimoji="1" lang="en" altLang="zh-TW" dirty="0"/>
              <a:t> came out in November, 2022.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08626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4A7C6-9F70-219A-318F-F32D21D51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DEF1E4-B5DA-3D4B-3E7E-131CFE24B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4400" dirty="0">
                <a:cs typeface="Calibri Light" panose="020F0302020204030204"/>
              </a:rPr>
              <a:t>大型語言模型參數量非常多</a:t>
            </a:r>
            <a:endParaRPr lang="zh-TW" sz="4400" dirty="0">
              <a:cs typeface="Calibri Light" panose="020F0302020204030204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A04BFE5-B0C4-E657-EEE6-9A68B2BBB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>
                <a:latin typeface="Times New Roman"/>
                <a:cs typeface="Times New Roman"/>
              </a:rPr>
              <a:t>4</a:t>
            </a:fld>
            <a:endParaRPr lang="zh-TW" altLang="en-US">
              <a:latin typeface="Times New Roman"/>
              <a:cs typeface="Times New Roman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63FD86-0398-1538-EB83-4F7B80B3B37A}"/>
              </a:ext>
            </a:extLst>
          </p:cNvPr>
          <p:cNvSpPr txBox="1"/>
          <p:nvPr/>
        </p:nvSpPr>
        <p:spPr>
          <a:xfrm>
            <a:off x="1" y="6112042"/>
            <a:ext cx="1219199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000" dirty="0">
                <a:cs typeface="Times New Roman" panose="02020603050405020304" pitchFamily="18" charset="0"/>
              </a:rPr>
              <a:t>Source: </a:t>
            </a:r>
            <a:r>
              <a:rPr lang="en-US" altLang="zh-TW" sz="1000" dirty="0"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Inside language models (from GPT-4 to </a:t>
            </a:r>
            <a:r>
              <a:rPr lang="en-US" altLang="zh-TW" sz="1000" dirty="0" err="1"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PaLM</a:t>
            </a:r>
            <a:r>
              <a:rPr lang="en-US" altLang="zh-TW" sz="1000" dirty="0"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 – Dr Alan D. Thompson – Life Architect</a:t>
            </a:r>
            <a:endParaRPr lang="zh-TW" sz="1000" dirty="0">
              <a:ea typeface="新細明體"/>
              <a:cs typeface="Times New Roman" panose="02020603050405020304" pitchFamily="18" charset="0"/>
            </a:endParaRPr>
          </a:p>
        </p:txBody>
      </p:sp>
      <p:pic>
        <p:nvPicPr>
          <p:cNvPr id="6" name="圖片 5" descr="一張含有 文字, 螢幕擷取畫面, 軟體, 標誌 的圖片&#10;&#10;自動產生的描述">
            <a:extLst>
              <a:ext uri="{FF2B5EF4-FFF2-40B4-BE49-F238E27FC236}">
                <a16:creationId xmlns:a16="http://schemas.microsoft.com/office/drawing/2014/main" id="{D8F126BF-6952-C188-D57C-1B23A056962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20"/>
          <a:stretch/>
        </p:blipFill>
        <p:spPr>
          <a:xfrm>
            <a:off x="1664127" y="1489340"/>
            <a:ext cx="8863745" cy="4521180"/>
          </a:xfrm>
          <a:prstGeom prst="rect">
            <a:avLst/>
          </a:prstGeom>
        </p:spPr>
      </p:pic>
      <p:sp>
        <p:nvSpPr>
          <p:cNvPr id="3" name="向右箭號 2">
            <a:extLst>
              <a:ext uri="{FF2B5EF4-FFF2-40B4-BE49-F238E27FC236}">
                <a16:creationId xmlns:a16="http://schemas.microsoft.com/office/drawing/2014/main" id="{B6CCF0CB-FB9B-EECE-F461-18EF6745B5E2}"/>
              </a:ext>
            </a:extLst>
          </p:cNvPr>
          <p:cNvSpPr/>
          <p:nvPr/>
        </p:nvSpPr>
        <p:spPr>
          <a:xfrm>
            <a:off x="4928839" y="4794729"/>
            <a:ext cx="260196" cy="15611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E5F47408-FA00-620C-FE86-8E33321ECC12}"/>
              </a:ext>
            </a:extLst>
          </p:cNvPr>
          <p:cNvSpPr/>
          <p:nvPr/>
        </p:nvSpPr>
        <p:spPr>
          <a:xfrm>
            <a:off x="4928839" y="5075948"/>
            <a:ext cx="260196" cy="15611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FA6265BD-A409-53F1-2458-7F0925059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3002" y="4609949"/>
            <a:ext cx="2597808" cy="173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8F81ABF-208D-D178-FEA6-48A11F0C2E62}"/>
              </a:ext>
            </a:extLst>
          </p:cNvPr>
          <p:cNvSpPr txBox="1"/>
          <p:nvPr/>
        </p:nvSpPr>
        <p:spPr>
          <a:xfrm>
            <a:off x="7421138" y="6459785"/>
            <a:ext cx="416683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000" dirty="0" err="1">
                <a:cs typeface="Times New Roman" panose="02020603050405020304" pitchFamily="18" charset="0"/>
              </a:rPr>
              <a:t>Source:https</a:t>
            </a:r>
            <a:r>
              <a:rPr lang="en-US" altLang="zh-TW" sz="1000" dirty="0">
                <a:cs typeface="Times New Roman" panose="02020603050405020304" pitchFamily="18" charset="0"/>
              </a:rPr>
              <a:t>://</a:t>
            </a:r>
            <a:r>
              <a:rPr lang="en-US" altLang="zh-TW" sz="1000" dirty="0" err="1">
                <a:cs typeface="Times New Roman" panose="02020603050405020304" pitchFamily="18" charset="0"/>
              </a:rPr>
              <a:t>commons.wikimedia.org</a:t>
            </a:r>
            <a:r>
              <a:rPr lang="en-US" altLang="zh-TW" sz="1000" dirty="0">
                <a:cs typeface="Times New Roman" panose="02020603050405020304" pitchFamily="18" charset="0"/>
              </a:rPr>
              <a:t>/wiki/</a:t>
            </a:r>
            <a:r>
              <a:rPr lang="en-US" altLang="zh-TW" sz="1000" dirty="0" err="1">
                <a:cs typeface="Times New Roman" panose="02020603050405020304" pitchFamily="18" charset="0"/>
              </a:rPr>
              <a:t>File:Llama_lying_down.jpg</a:t>
            </a:r>
            <a:endParaRPr lang="zh-TW" sz="1000" dirty="0">
              <a:ea typeface="新細明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61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47C5F6-ADE0-2DF9-E85C-FE1D3290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sz="4600" dirty="0"/>
              <a:t>GPU Memory Estimated (Model weights)</a:t>
            </a:r>
            <a:endParaRPr kumimoji="1" lang="zh-TW" altLang="en-US" sz="46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97BC6F-0B20-33E8-9249-0C8E1FCEF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zh-TW" altLang="en-US" dirty="0">
                <a:ea typeface="Microsoft JhengHei" panose="020B0604030504040204" pitchFamily="34" charset="-120"/>
              </a:rPr>
              <a:t>以 </a:t>
            </a:r>
            <a:r>
              <a:rPr kumimoji="1" lang="en" altLang="zh-TW" dirty="0">
                <a:ea typeface="Microsoft JhengHei" panose="020B0604030504040204" pitchFamily="34" charset="-120"/>
              </a:rPr>
              <a:t>Llama 2-7B</a:t>
            </a:r>
            <a:r>
              <a:rPr kumimoji="1" lang="zh-TW" altLang="en-US" dirty="0">
                <a:ea typeface="Microsoft JhengHei" panose="020B0604030504040204" pitchFamily="34" charset="-120"/>
              </a:rPr>
              <a:t> 為例，且儲存參數的精度為 </a:t>
            </a:r>
            <a:r>
              <a:rPr kumimoji="1" lang="en-US" altLang="zh-TW" dirty="0">
                <a:ea typeface="Microsoft JhengHei" panose="020B0604030504040204" pitchFamily="34" charset="-120"/>
              </a:rPr>
              <a:t>float 32 (FP32)</a:t>
            </a:r>
            <a:r>
              <a:rPr kumimoji="1" lang="zh-TW" altLang="en-US" dirty="0">
                <a:ea typeface="Microsoft JhengHei" panose="020B0604030504040204" pitchFamily="34" charset="-120"/>
              </a:rPr>
              <a:t>：</a:t>
            </a:r>
            <a:endParaRPr kumimoji="1" lang="en-US" altLang="zh-TW" dirty="0">
              <a:ea typeface="Microsoft JhengHei" panose="020B0604030504040204" pitchFamily="34" charset="-120"/>
            </a:endParaRPr>
          </a:p>
          <a:p>
            <a:pPr marL="0" indent="0">
              <a:buNone/>
            </a:pPr>
            <a:r>
              <a:rPr kumimoji="1" lang="zh-TW" altLang="en-US" dirty="0">
                <a:ea typeface="Microsoft JhengHei" panose="020B0604030504040204" pitchFamily="34" charset="-120"/>
              </a:rPr>
              <a:t>在 </a:t>
            </a:r>
            <a:r>
              <a:rPr kumimoji="1" lang="en-US" altLang="zh-TW" dirty="0">
                <a:ea typeface="Microsoft JhengHei" panose="020B0604030504040204" pitchFamily="34" charset="-120"/>
              </a:rPr>
              <a:t>float 32 (FP32)</a:t>
            </a:r>
            <a:r>
              <a:rPr kumimoji="1" lang="zh-TW" altLang="en-US" dirty="0">
                <a:ea typeface="Microsoft JhengHei" panose="020B0604030504040204" pitchFamily="34" charset="-120"/>
              </a:rPr>
              <a:t> 的情況下，</a:t>
            </a:r>
            <a:r>
              <a:rPr kumimoji="1" lang="en-US" altLang="zh-TW" dirty="0">
                <a:ea typeface="Microsoft JhengHei" panose="020B0604030504040204" pitchFamily="34" charset="-120"/>
              </a:rPr>
              <a:t>1</a:t>
            </a:r>
            <a:r>
              <a:rPr kumimoji="1" lang="zh-TW" altLang="en-US" dirty="0">
                <a:ea typeface="Microsoft JhengHei" panose="020B0604030504040204" pitchFamily="34" charset="-120"/>
              </a:rPr>
              <a:t> 個參數需要 </a:t>
            </a:r>
            <a:r>
              <a:rPr kumimoji="1" lang="en-US" altLang="zh-TW" dirty="0">
                <a:ea typeface="Microsoft JhengHei" panose="020B0604030504040204" pitchFamily="34" charset="-120"/>
              </a:rPr>
              <a:t>4 bytes</a:t>
            </a:r>
            <a:r>
              <a:rPr kumimoji="1" lang="zh-TW" altLang="en-US" dirty="0">
                <a:ea typeface="Microsoft JhengHei" panose="020B0604030504040204" pitchFamily="34" charset="-120"/>
              </a:rPr>
              <a:t> 儲存</a:t>
            </a:r>
            <a:endParaRPr kumimoji="1" lang="en" altLang="zh-TW" dirty="0">
              <a:ea typeface="Microsoft JhengHei" panose="020B0604030504040204" pitchFamily="34" charset="-120"/>
            </a:endParaRPr>
          </a:p>
          <a:p>
            <a:pPr marL="0" indent="0">
              <a:buNone/>
            </a:pPr>
            <a:r>
              <a:rPr kumimoji="1" lang="en-US" altLang="zh-TW" dirty="0">
                <a:ea typeface="Microsoft JhengHei" panose="020B0604030504040204" pitchFamily="34" charset="-120"/>
              </a:rPr>
              <a:t>-&gt; </a:t>
            </a:r>
            <a:r>
              <a:rPr kumimoji="1" lang="en" altLang="zh-TW" dirty="0">
                <a:ea typeface="Microsoft JhengHei" panose="020B0604030504040204" pitchFamily="34" charset="-120"/>
              </a:rPr>
              <a:t>7B = 70</a:t>
            </a:r>
            <a:r>
              <a:rPr kumimoji="1" lang="zh-TW" altLang="en-US" dirty="0">
                <a:ea typeface="Microsoft JhengHei" panose="020B0604030504040204" pitchFamily="34" charset="-120"/>
              </a:rPr>
              <a:t>億個參數</a:t>
            </a:r>
            <a:r>
              <a:rPr kumimoji="1" lang="en-US" altLang="zh-TW" dirty="0">
                <a:ea typeface="Microsoft JhengHei" panose="020B0604030504040204" pitchFamily="34" charset="-120"/>
              </a:rPr>
              <a:t> = 7,000,000,000 * 4 bytes = (</a:t>
            </a:r>
            <a:r>
              <a:rPr kumimoji="1" lang="zh-TW" altLang="en-US" dirty="0">
                <a:ea typeface="Microsoft JhengHei" panose="020B0604030504040204" pitchFamily="34" charset="-120"/>
              </a:rPr>
              <a:t>扣掉</a:t>
            </a:r>
            <a:r>
              <a:rPr kumimoji="1" lang="en-US" altLang="zh-TW" dirty="0">
                <a:ea typeface="Microsoft JhengHei" panose="020B0604030504040204" pitchFamily="34" charset="-120"/>
              </a:rPr>
              <a:t>3</a:t>
            </a:r>
            <a:r>
              <a:rPr kumimoji="1" lang="zh-TW" altLang="en-US" dirty="0">
                <a:ea typeface="Microsoft JhengHei" panose="020B0604030504040204" pitchFamily="34" charset="-120"/>
              </a:rPr>
              <a:t>個逗號從</a:t>
            </a:r>
            <a:r>
              <a:rPr kumimoji="1" lang="en-US" altLang="zh-TW" dirty="0">
                <a:ea typeface="Microsoft JhengHei" panose="020B0604030504040204" pitchFamily="34" charset="-120"/>
              </a:rPr>
              <a:t>B</a:t>
            </a:r>
            <a:r>
              <a:rPr kumimoji="1" lang="zh-TW" altLang="en-US" dirty="0">
                <a:ea typeface="Microsoft JhengHei" panose="020B0604030504040204" pitchFamily="34" charset="-120"/>
              </a:rPr>
              <a:t>換成</a:t>
            </a:r>
            <a:r>
              <a:rPr kumimoji="1" lang="en-US" altLang="zh-TW" dirty="0">
                <a:ea typeface="Microsoft JhengHei" panose="020B0604030504040204" pitchFamily="34" charset="-120"/>
              </a:rPr>
              <a:t>GB) </a:t>
            </a:r>
            <a:r>
              <a:rPr kumimoji="1"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28GB</a:t>
            </a:r>
            <a:endParaRPr kumimoji="1" lang="en" altLang="zh-TW" dirty="0">
              <a:solidFill>
                <a:srgbClr val="FF0000"/>
              </a:solidFill>
              <a:ea typeface="Microsoft JhengHei" panose="020B0604030504040204" pitchFamily="34" charset="-120"/>
            </a:endParaRPr>
          </a:p>
          <a:p>
            <a:endParaRPr kumimoji="1" lang="en" altLang="zh-TW" dirty="0">
              <a:ea typeface="Microsoft JhengHei" panose="020B0604030504040204" pitchFamily="34" charset="-120"/>
            </a:endParaRPr>
          </a:p>
          <a:p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F733EC-8C5A-C3E8-D671-7DB0A7EB9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365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4D0372-BD97-A734-3C55-B21961657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數值範圍比較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239A7B-E01B-74DD-4C99-226FFF966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9AFB716-4753-D48C-9AD3-B24EFBFF63C6}"/>
              </a:ext>
            </a:extLst>
          </p:cNvPr>
          <p:cNvSpPr txBox="1"/>
          <p:nvPr/>
        </p:nvSpPr>
        <p:spPr>
          <a:xfrm>
            <a:off x="3301141" y="6415560"/>
            <a:ext cx="55897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1600" dirty="0"/>
              <a:t>https://</a:t>
            </a:r>
            <a:r>
              <a:rPr kumimoji="1" lang="en" altLang="zh-TW" sz="1600" dirty="0" err="1"/>
              <a:t>youtu.be</a:t>
            </a:r>
            <a:r>
              <a:rPr kumimoji="1" lang="en" altLang="zh-TW" sz="1600" dirty="0"/>
              <a:t>/b4TRssMHBj4?si=OoAyVi6m52SFQDjS</a:t>
            </a:r>
            <a:endParaRPr kumimoji="1" lang="zh-TW" altLang="en-US" sz="160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DF9A2E1-E56B-4DEF-A2BC-6C30A24BD8DB}"/>
              </a:ext>
            </a:extLst>
          </p:cNvPr>
          <p:cNvGraphicFramePr>
            <a:graphicFrameLocks noGrp="1"/>
          </p:cNvGraphicFramePr>
          <p:nvPr/>
        </p:nvGraphicFramePr>
        <p:xfrm>
          <a:off x="1416570" y="2293632"/>
          <a:ext cx="8759760" cy="3306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1952">
                  <a:extLst>
                    <a:ext uri="{9D8B030D-6E8A-4147-A177-3AD203B41FA5}">
                      <a16:colId xmlns:a16="http://schemas.microsoft.com/office/drawing/2014/main" val="4208064090"/>
                    </a:ext>
                  </a:extLst>
                </a:gridCol>
                <a:gridCol w="1751952">
                  <a:extLst>
                    <a:ext uri="{9D8B030D-6E8A-4147-A177-3AD203B41FA5}">
                      <a16:colId xmlns:a16="http://schemas.microsoft.com/office/drawing/2014/main" val="2066243653"/>
                    </a:ext>
                  </a:extLst>
                </a:gridCol>
                <a:gridCol w="1751952">
                  <a:extLst>
                    <a:ext uri="{9D8B030D-6E8A-4147-A177-3AD203B41FA5}">
                      <a16:colId xmlns:a16="http://schemas.microsoft.com/office/drawing/2014/main" val="3751886361"/>
                    </a:ext>
                  </a:extLst>
                </a:gridCol>
                <a:gridCol w="1751952">
                  <a:extLst>
                    <a:ext uri="{9D8B030D-6E8A-4147-A177-3AD203B41FA5}">
                      <a16:colId xmlns:a16="http://schemas.microsoft.com/office/drawing/2014/main" val="1829904554"/>
                    </a:ext>
                  </a:extLst>
                </a:gridCol>
                <a:gridCol w="1751952">
                  <a:extLst>
                    <a:ext uri="{9D8B030D-6E8A-4147-A177-3AD203B41FA5}">
                      <a16:colId xmlns:a16="http://schemas.microsoft.com/office/drawing/2014/main" val="2106225706"/>
                    </a:ext>
                  </a:extLst>
                </a:gridCol>
              </a:tblGrid>
              <a:tr h="444332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數值類型名稱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TW" dirty="0" err="1"/>
                        <a:t>PyTorch</a:t>
                      </a:r>
                      <a:r>
                        <a:rPr lang="en" altLang="zh-TW" dirty="0"/>
                        <a:t> </a:t>
                      </a:r>
                      <a:r>
                        <a:rPr lang="en" altLang="zh-TW" dirty="0" err="1"/>
                        <a:t>dtype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數值範圍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Bit</a:t>
                      </a: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Byte</a:t>
                      </a: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數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657278"/>
                  </a:ext>
                </a:extLst>
              </a:tr>
              <a:tr h="444332">
                <a:tc>
                  <a:txBody>
                    <a:bodyPr/>
                    <a:lstStyle/>
                    <a:p>
                      <a:r>
                        <a:rPr lang="en-US" altLang="zh-TW" dirty="0"/>
                        <a:t>float32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TW" dirty="0" err="1"/>
                        <a:t>torch.float</a:t>
                      </a:r>
                      <a:r>
                        <a:rPr lang="en-US" altLang="zh-TW" dirty="0"/>
                        <a:t>32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約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± 3.4</a:t>
                      </a:r>
                      <a:r>
                        <a:rPr lang="en" altLang="zh-TW" dirty="0"/>
                        <a:t>e38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862697"/>
                  </a:ext>
                </a:extLst>
              </a:tr>
              <a:tr h="444332">
                <a:tc>
                  <a:txBody>
                    <a:bodyPr/>
                    <a:lstStyle/>
                    <a:p>
                      <a:r>
                        <a:rPr lang="en-US" altLang="zh-TW" dirty="0"/>
                        <a:t>float16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TW" dirty="0"/>
                        <a:t>torch.float16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約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± 6.5</a:t>
                      </a:r>
                      <a:r>
                        <a:rPr lang="en" altLang="zh-TW" dirty="0"/>
                        <a:t>e4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851480"/>
                  </a:ext>
                </a:extLst>
              </a:tr>
              <a:tr h="444332">
                <a:tc>
                  <a:txBody>
                    <a:bodyPr/>
                    <a:lstStyle/>
                    <a:p>
                      <a:r>
                        <a:rPr lang="en" altLang="zh-TW" dirty="0"/>
                        <a:t>int8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TW" dirty="0"/>
                        <a:t>torch.int8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-128 ~ 127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2944537"/>
                  </a:ext>
                </a:extLst>
              </a:tr>
              <a:tr h="444332">
                <a:tc>
                  <a:txBody>
                    <a:bodyPr/>
                    <a:lstStyle/>
                    <a:p>
                      <a:r>
                        <a:rPr lang="en-US" altLang="zh-TW" dirty="0"/>
                        <a:t>uint8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dirty="0"/>
                        <a:t>torch.uint8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 ~ 255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62288"/>
                  </a:ext>
                </a:extLst>
              </a:tr>
              <a:tr h="444332">
                <a:tc>
                  <a:txBody>
                    <a:bodyPr/>
                    <a:lstStyle/>
                    <a:p>
                      <a:r>
                        <a:rPr lang="en-US" altLang="zh-TW" dirty="0"/>
                        <a:t>int4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-8 ~ 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168583"/>
                  </a:ext>
                </a:extLst>
              </a:tr>
              <a:tr h="444332">
                <a:tc>
                  <a:txBody>
                    <a:bodyPr/>
                    <a:lstStyle/>
                    <a:p>
                      <a:r>
                        <a:rPr lang="en-US" altLang="zh-TW" dirty="0"/>
                        <a:t>uint4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 ~ 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70733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DC2406FD-9402-842A-7BD9-A24182B12349}"/>
              </a:ext>
            </a:extLst>
          </p:cNvPr>
          <p:cNvSpPr txBox="1"/>
          <p:nvPr/>
        </p:nvSpPr>
        <p:spPr>
          <a:xfrm>
            <a:off x="1416570" y="5571204"/>
            <a:ext cx="49403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600" dirty="0"/>
              <a:t>u: unsigned (</a:t>
            </a:r>
            <a:r>
              <a: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無號，代表數值只有正的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1ABC954-8C48-F85C-D961-7892D62394D5}"/>
              </a:ext>
            </a:extLst>
          </p:cNvPr>
          <p:cNvSpPr txBox="1"/>
          <p:nvPr/>
        </p:nvSpPr>
        <p:spPr>
          <a:xfrm>
            <a:off x="8337415" y="1895306"/>
            <a:ext cx="2164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/>
              <a:t>1 </a:t>
            </a:r>
            <a:r>
              <a:rPr kumimoji="1" lang="zh-TW" altLang="en-US" sz="1600" dirty="0"/>
              <a:t>個</a:t>
            </a:r>
            <a:r>
              <a:rPr kumimoji="1" lang="en-US" altLang="zh-TW" sz="1600" dirty="0"/>
              <a:t> byte = 4 </a:t>
            </a:r>
            <a:r>
              <a:rPr kumimoji="1" lang="zh-TW" altLang="en-US" sz="1600" dirty="0"/>
              <a:t>個 </a:t>
            </a:r>
            <a:r>
              <a:rPr kumimoji="1" lang="en-US" altLang="zh-TW" sz="1600" dirty="0"/>
              <a:t>bits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21664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DB2A1A-92B0-B8CE-8677-653F6D67F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Introduction to Quantization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/>
              <a:t>量化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F1FFCC7-1E05-1DAF-950F-6840D7512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8778521F-17BD-7033-48F0-FD95DF7DB06C}"/>
                  </a:ext>
                </a:extLst>
              </p:cNvPr>
              <p:cNvSpPr txBox="1"/>
              <p:nvPr/>
            </p:nvSpPr>
            <p:spPr>
              <a:xfrm>
                <a:off x="1455117" y="2339013"/>
                <a:ext cx="3614503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TW" altLang="en-US" sz="28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1.3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3.73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−4.7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−3.2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−6.4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8.5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14.3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13.5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8778521F-17BD-7033-48F0-FD95DF7DB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117" y="2339013"/>
                <a:ext cx="3614503" cy="1231747"/>
              </a:xfrm>
              <a:prstGeom prst="rect">
                <a:avLst/>
              </a:prstGeom>
              <a:blipFill>
                <a:blip r:embed="rId2"/>
                <a:stretch>
                  <a:fillRect b="-51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A469A973-DD06-04E7-D544-1B5E01368E96}"/>
              </a:ext>
            </a:extLst>
          </p:cNvPr>
          <p:cNvSpPr txBox="1"/>
          <p:nvPr/>
        </p:nvSpPr>
        <p:spPr>
          <a:xfrm>
            <a:off x="1455117" y="3924440"/>
            <a:ext cx="3614503" cy="9660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32-bit floating point (FP32): 1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個值需要</a:t>
            </a:r>
            <a:r>
              <a:rPr kumimoji="1" lang="en-US" altLang="zh-TW" sz="2000" b="1" dirty="0">
                <a:ea typeface="Microsoft JhengHei" panose="020B0604030504040204" pitchFamily="34" charset="-120"/>
              </a:rPr>
              <a:t>4</a:t>
            </a:r>
            <a:r>
              <a:rPr kumimoji="1" lang="zh-TW" altLang="en-US" sz="2000" b="1" dirty="0">
                <a:ea typeface="Microsoft JhengHei" panose="020B0604030504040204" pitchFamily="34" charset="-120"/>
              </a:rPr>
              <a:t>個</a:t>
            </a:r>
            <a:r>
              <a:rPr kumimoji="1" lang="en-US" altLang="zh-TW" sz="2000" b="1" dirty="0">
                <a:ea typeface="Microsoft JhengHei" panose="020B0604030504040204" pitchFamily="34" charset="-120"/>
              </a:rPr>
              <a:t>bytes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才能儲存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B00969F-BEE9-F23C-9D42-75563FE6A274}"/>
              </a:ext>
            </a:extLst>
          </p:cNvPr>
          <p:cNvSpPr txBox="1"/>
          <p:nvPr/>
        </p:nvSpPr>
        <p:spPr>
          <a:xfrm>
            <a:off x="2473421" y="3453064"/>
            <a:ext cx="1577894" cy="5890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36 bytes</a:t>
            </a:r>
            <a:endParaRPr kumimoji="1" lang="zh-TW" altLang="en-US" sz="24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A0E4246-A521-F726-22E9-88532C793C41}"/>
                  </a:ext>
                </a:extLst>
              </p:cNvPr>
              <p:cNvSpPr txBox="1"/>
              <p:nvPr/>
            </p:nvSpPr>
            <p:spPr>
              <a:xfrm>
                <a:off x="6314428" y="2339013"/>
                <a:ext cx="3614503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A0E4246-A521-F726-22E9-88532C793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4428" y="2339013"/>
                <a:ext cx="3614503" cy="1231747"/>
              </a:xfrm>
              <a:prstGeom prst="rect">
                <a:avLst/>
              </a:prstGeom>
              <a:blipFill>
                <a:blip r:embed="rId3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EE5BB53C-86BD-3613-6092-08DD2B8D69DD}"/>
              </a:ext>
            </a:extLst>
          </p:cNvPr>
          <p:cNvSpPr txBox="1"/>
          <p:nvPr/>
        </p:nvSpPr>
        <p:spPr>
          <a:xfrm>
            <a:off x="6314428" y="3924440"/>
            <a:ext cx="3614503" cy="9660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8-bit Integer (int8): 1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個值需要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TW" sz="2000" b="1" dirty="0">
                <a:ea typeface="Microsoft JhengHei" panose="020B0604030504040204" pitchFamily="34" charset="-120"/>
              </a:rPr>
              <a:t>1</a:t>
            </a:r>
            <a:r>
              <a:rPr kumimoji="1" lang="zh-TW" altLang="en-US" sz="2000" b="1" dirty="0">
                <a:ea typeface="Microsoft JhengHei" panose="020B0604030504040204" pitchFamily="34" charset="-120"/>
              </a:rPr>
              <a:t>個</a:t>
            </a:r>
            <a:r>
              <a:rPr kumimoji="1" lang="en-US" altLang="zh-TW" sz="2000" b="1" dirty="0">
                <a:ea typeface="Microsoft JhengHei" panose="020B0604030504040204" pitchFamily="34" charset="-120"/>
              </a:rPr>
              <a:t>bytes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才能儲存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6966F97-EB4C-CD44-4124-FDD57093C869}"/>
              </a:ext>
            </a:extLst>
          </p:cNvPr>
          <p:cNvSpPr txBox="1"/>
          <p:nvPr/>
        </p:nvSpPr>
        <p:spPr>
          <a:xfrm>
            <a:off x="7332732" y="3453064"/>
            <a:ext cx="1577894" cy="5890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8 bytes</a:t>
            </a:r>
            <a:endParaRPr kumimoji="1" lang="zh-TW" altLang="en-US" sz="24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12" name="向右箭號 11">
            <a:extLst>
              <a:ext uri="{FF2B5EF4-FFF2-40B4-BE49-F238E27FC236}">
                <a16:creationId xmlns:a16="http://schemas.microsoft.com/office/drawing/2014/main" id="{9DA88D69-F3CF-F8BA-F89B-52496FFB5CB8}"/>
              </a:ext>
            </a:extLst>
          </p:cNvPr>
          <p:cNvSpPr/>
          <p:nvPr/>
        </p:nvSpPr>
        <p:spPr>
          <a:xfrm>
            <a:off x="5690933" y="2828041"/>
            <a:ext cx="512164" cy="2536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7051B80-D4F0-9F9F-FF34-C54B5551AFC5}"/>
              </a:ext>
            </a:extLst>
          </p:cNvPr>
          <p:cNvSpPr txBox="1"/>
          <p:nvPr/>
        </p:nvSpPr>
        <p:spPr>
          <a:xfrm>
            <a:off x="5087913" y="2339013"/>
            <a:ext cx="1650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降低儲存精度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1AE7D41-1DDB-63E0-A79F-9ADC969D6408}"/>
              </a:ext>
            </a:extLst>
          </p:cNvPr>
          <p:cNvSpPr txBox="1"/>
          <p:nvPr/>
        </p:nvSpPr>
        <p:spPr>
          <a:xfrm>
            <a:off x="4998060" y="2762394"/>
            <a:ext cx="736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+mj-ea"/>
              </a:rPr>
              <a:t>FP32</a:t>
            </a:r>
            <a:endParaRPr kumimoji="1" lang="zh-TW" altLang="en-US" dirty="0">
              <a:ea typeface="+mj-ea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11753A6-4AA2-319F-713C-D44F09CC724E}"/>
              </a:ext>
            </a:extLst>
          </p:cNvPr>
          <p:cNvSpPr txBox="1"/>
          <p:nvPr/>
        </p:nvSpPr>
        <p:spPr>
          <a:xfrm>
            <a:off x="6164617" y="2770219"/>
            <a:ext cx="736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+mj-ea"/>
              </a:rPr>
              <a:t>int8</a:t>
            </a:r>
            <a:endParaRPr kumimoji="1" lang="zh-TW" altLang="en-US" dirty="0">
              <a:ea typeface="+mj-ea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5A2CD92-6F3F-174D-2C63-F3FD7FB75258}"/>
              </a:ext>
            </a:extLst>
          </p:cNvPr>
          <p:cNvSpPr txBox="1"/>
          <p:nvPr/>
        </p:nvSpPr>
        <p:spPr>
          <a:xfrm>
            <a:off x="653143" y="1598195"/>
            <a:ext cx="3500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(</a:t>
            </a:r>
            <a:r>
              <a:rPr kumimoji="1" lang="zh-TW" altLang="en-US" dirty="0">
                <a:ea typeface="Microsoft JhengHei" panose="020B0604030504040204" pitchFamily="34" charset="-120"/>
              </a:rPr>
              <a:t>這頁只是示意圖，數值不精準</a:t>
            </a:r>
            <a:r>
              <a:rPr kumimoji="1" lang="en-US" altLang="zh-TW" dirty="0"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7B5030F7-0E92-BF26-6347-04CAB043DFFB}"/>
                  </a:ext>
                </a:extLst>
              </p:cNvPr>
              <p:cNvSpPr txBox="1"/>
              <p:nvPr/>
            </p:nvSpPr>
            <p:spPr>
              <a:xfrm>
                <a:off x="6314428" y="5156187"/>
                <a:ext cx="3614503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  <m:e>
                                <m:r>
                                  <a:rPr lang="en-US" altLang="zh-TW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−0.3</m:t>
                                </m:r>
                              </m:e>
                              <m:e>
                                <m:r>
                                  <a:rPr lang="en-US" altLang="zh-TW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0.27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  <m:e>
                                <m:r>
                                  <a:rPr lang="en-US" altLang="zh-TW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  <m:e>
                                <m:r>
                                  <a:rPr lang="en-US" altLang="zh-TW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altLang="zh-TW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−0.3</m:t>
                                </m:r>
                              </m:e>
                              <m:e>
                                <m:r>
                                  <a:rPr lang="en-US" altLang="zh-TW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7B5030F7-0E92-BF26-6347-04CAB043D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4428" y="5156187"/>
                <a:ext cx="3614503" cy="1231747"/>
              </a:xfrm>
              <a:prstGeom prst="rect">
                <a:avLst/>
              </a:prstGeom>
              <a:blipFill>
                <a:blip r:embed="rId4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19">
            <a:extLst>
              <a:ext uri="{FF2B5EF4-FFF2-40B4-BE49-F238E27FC236}">
                <a16:creationId xmlns:a16="http://schemas.microsoft.com/office/drawing/2014/main" id="{308A950D-B8DB-E277-5C99-525D36482E46}"/>
              </a:ext>
            </a:extLst>
          </p:cNvPr>
          <p:cNvSpPr txBox="1"/>
          <p:nvPr/>
        </p:nvSpPr>
        <p:spPr>
          <a:xfrm>
            <a:off x="5366479" y="5518914"/>
            <a:ext cx="1397610" cy="5062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誤差：</a:t>
            </a:r>
          </a:p>
        </p:txBody>
      </p:sp>
    </p:spTree>
    <p:extLst>
      <p:ext uri="{BB962C8B-B14F-4D97-AF65-F5344CB8AC3E}">
        <p14:creationId xmlns:p14="http://schemas.microsoft.com/office/powerpoint/2010/main" val="64653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 animBg="1"/>
      <p:bldP spid="13" grpId="0"/>
      <p:bldP spid="16" grpId="0"/>
      <p:bldP spid="17" grpId="0"/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E74652-E3E6-EC7F-CA22-EF8E51FFB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量化後的模型非常常見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05F26AD-C670-A3C1-A15E-90F9B7574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2DF5AD4-3BCC-B391-F00A-89FE7C2EB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336" y="1779769"/>
            <a:ext cx="9779327" cy="495330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0F8243D-7379-41C5-CA78-E30BCAE277BC}"/>
              </a:ext>
            </a:extLst>
          </p:cNvPr>
          <p:cNvSpPr txBox="1"/>
          <p:nvPr/>
        </p:nvSpPr>
        <p:spPr>
          <a:xfrm>
            <a:off x="6249972" y="1471992"/>
            <a:ext cx="492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huggingface.co</a:t>
            </a:r>
            <a:r>
              <a:rPr kumimoji="1" lang="en" altLang="zh-TW" sz="1400" dirty="0"/>
              <a:t>/</a:t>
            </a:r>
            <a:r>
              <a:rPr kumimoji="1" lang="en" altLang="zh-TW" sz="1400" dirty="0" err="1"/>
              <a:t>unsloth</a:t>
            </a:r>
            <a:r>
              <a:rPr kumimoji="1" lang="en" altLang="zh-TW" sz="1400" dirty="0"/>
              <a:t>/Kimi-K2-Thinking-GGUF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71616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47C5F6-ADE0-2DF9-E85C-FE1D3290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GPU Memory Estimated (Model weights)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97BC6F-0B20-33E8-9249-0C8E1FCEF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zh-TW" altLang="en-US" dirty="0">
                <a:ea typeface="Microsoft JhengHei" panose="020B0604030504040204" pitchFamily="34" charset="-120"/>
              </a:rPr>
              <a:t>以 </a:t>
            </a:r>
            <a:r>
              <a:rPr kumimoji="1" lang="en" altLang="zh-TW" dirty="0">
                <a:ea typeface="Microsoft JhengHei" panose="020B0604030504040204" pitchFamily="34" charset="-120"/>
              </a:rPr>
              <a:t>Llama 2-7B</a:t>
            </a:r>
            <a:r>
              <a:rPr kumimoji="1" lang="zh-TW" altLang="en-US" dirty="0">
                <a:ea typeface="Microsoft JhengHei" panose="020B0604030504040204" pitchFamily="34" charset="-120"/>
              </a:rPr>
              <a:t> 為例，且儲存參數的精度為 </a:t>
            </a:r>
            <a:r>
              <a:rPr kumimoji="1" lang="en-US" altLang="zh-TW" dirty="0">
                <a:ea typeface="Microsoft JhengHei" panose="020B0604030504040204" pitchFamily="34" charset="-120"/>
              </a:rPr>
              <a:t>float 32 (FP32)</a:t>
            </a:r>
            <a:r>
              <a:rPr kumimoji="1" lang="zh-TW" altLang="en-US" dirty="0">
                <a:ea typeface="Microsoft JhengHei" panose="020B0604030504040204" pitchFamily="34" charset="-120"/>
              </a:rPr>
              <a:t>：</a:t>
            </a:r>
            <a:endParaRPr kumimoji="1" lang="en-US" altLang="zh-TW" dirty="0">
              <a:ea typeface="Microsoft JhengHei" panose="020B0604030504040204" pitchFamily="34" charset="-120"/>
            </a:endParaRPr>
          </a:p>
          <a:p>
            <a:pPr marL="0" indent="0">
              <a:buNone/>
            </a:pPr>
            <a:r>
              <a:rPr kumimoji="1" lang="zh-TW" altLang="en-US" dirty="0">
                <a:ea typeface="Microsoft JhengHei" panose="020B0604030504040204" pitchFamily="34" charset="-120"/>
              </a:rPr>
              <a:t>在 </a:t>
            </a:r>
            <a:r>
              <a:rPr kumimoji="1" lang="en-US" altLang="zh-TW" dirty="0">
                <a:ea typeface="Microsoft JhengHei" panose="020B0604030504040204" pitchFamily="34" charset="-120"/>
              </a:rPr>
              <a:t>float 32 (FP32)</a:t>
            </a:r>
            <a:r>
              <a:rPr kumimoji="1" lang="zh-TW" altLang="en-US" dirty="0">
                <a:ea typeface="Microsoft JhengHei" panose="020B0604030504040204" pitchFamily="34" charset="-120"/>
              </a:rPr>
              <a:t> 的情況下，</a:t>
            </a:r>
            <a:r>
              <a:rPr kumimoji="1" lang="en-US" altLang="zh-TW" dirty="0">
                <a:ea typeface="Microsoft JhengHei" panose="020B0604030504040204" pitchFamily="34" charset="-120"/>
              </a:rPr>
              <a:t>1</a:t>
            </a:r>
            <a:r>
              <a:rPr kumimoji="1" lang="zh-TW" altLang="en-US" dirty="0">
                <a:ea typeface="Microsoft JhengHei" panose="020B0604030504040204" pitchFamily="34" charset="-120"/>
              </a:rPr>
              <a:t> 個參數需要 </a:t>
            </a:r>
            <a:r>
              <a:rPr kumimoji="1" lang="en-US" altLang="zh-TW" dirty="0">
                <a:ea typeface="Microsoft JhengHei" panose="020B0604030504040204" pitchFamily="34" charset="-120"/>
              </a:rPr>
              <a:t>4 bytes</a:t>
            </a:r>
            <a:r>
              <a:rPr kumimoji="1" lang="zh-TW" altLang="en-US" dirty="0">
                <a:ea typeface="Microsoft JhengHei" panose="020B0604030504040204" pitchFamily="34" charset="-120"/>
              </a:rPr>
              <a:t> 儲存</a:t>
            </a:r>
            <a:endParaRPr kumimoji="1" lang="en" altLang="zh-TW" dirty="0">
              <a:ea typeface="Microsoft JhengHei" panose="020B0604030504040204" pitchFamily="34" charset="-120"/>
            </a:endParaRPr>
          </a:p>
          <a:p>
            <a:pPr marL="0" indent="0">
              <a:buNone/>
            </a:pPr>
            <a:r>
              <a:rPr kumimoji="1" lang="en-US" altLang="zh-TW" dirty="0">
                <a:ea typeface="Microsoft JhengHei" panose="020B0604030504040204" pitchFamily="34" charset="-120"/>
              </a:rPr>
              <a:t>-&gt; </a:t>
            </a:r>
            <a:r>
              <a:rPr kumimoji="1" lang="en" altLang="zh-TW" dirty="0">
                <a:ea typeface="Microsoft JhengHei" panose="020B0604030504040204" pitchFamily="34" charset="-120"/>
              </a:rPr>
              <a:t>7B = 70</a:t>
            </a:r>
            <a:r>
              <a:rPr kumimoji="1" lang="zh-TW" altLang="en-US" dirty="0">
                <a:ea typeface="Microsoft JhengHei" panose="020B0604030504040204" pitchFamily="34" charset="-120"/>
              </a:rPr>
              <a:t>億個參數</a:t>
            </a:r>
            <a:r>
              <a:rPr kumimoji="1" lang="en-US" altLang="zh-TW" dirty="0">
                <a:ea typeface="Microsoft JhengHei" panose="020B0604030504040204" pitchFamily="34" charset="-120"/>
              </a:rPr>
              <a:t> = 7,000,000,000 * 4 bytes = (</a:t>
            </a:r>
            <a:r>
              <a:rPr kumimoji="1" lang="zh-TW" altLang="en-US" dirty="0">
                <a:ea typeface="Microsoft JhengHei" panose="020B0604030504040204" pitchFamily="34" charset="-120"/>
              </a:rPr>
              <a:t>扣掉</a:t>
            </a:r>
            <a:r>
              <a:rPr kumimoji="1" lang="en-US" altLang="zh-TW" dirty="0">
                <a:ea typeface="Microsoft JhengHei" panose="020B0604030504040204" pitchFamily="34" charset="-120"/>
              </a:rPr>
              <a:t>3</a:t>
            </a:r>
            <a:r>
              <a:rPr kumimoji="1" lang="zh-TW" altLang="en-US" dirty="0">
                <a:ea typeface="Microsoft JhengHei" panose="020B0604030504040204" pitchFamily="34" charset="-120"/>
              </a:rPr>
              <a:t>個逗號從</a:t>
            </a:r>
            <a:r>
              <a:rPr kumimoji="1" lang="en-US" altLang="zh-TW" dirty="0">
                <a:ea typeface="Microsoft JhengHei" panose="020B0604030504040204" pitchFamily="34" charset="-120"/>
              </a:rPr>
              <a:t>B</a:t>
            </a:r>
            <a:r>
              <a:rPr kumimoji="1" lang="zh-TW" altLang="en-US" dirty="0">
                <a:ea typeface="Microsoft JhengHei" panose="020B0604030504040204" pitchFamily="34" charset="-120"/>
              </a:rPr>
              <a:t>換成</a:t>
            </a:r>
            <a:r>
              <a:rPr kumimoji="1" lang="en-US" altLang="zh-TW" dirty="0">
                <a:ea typeface="Microsoft JhengHei" panose="020B0604030504040204" pitchFamily="34" charset="-120"/>
              </a:rPr>
              <a:t>GB</a:t>
            </a:r>
            <a:r>
              <a:rPr kumimoji="1" lang="en-US" altLang="zh-TW">
                <a:ea typeface="Microsoft JhengHei" panose="020B0604030504040204" pitchFamily="34" charset="-120"/>
              </a:rPr>
              <a:t>) </a:t>
            </a:r>
            <a:r>
              <a:rPr kumimoji="1" lang="en-US" altLang="zh-TW">
                <a:solidFill>
                  <a:srgbClr val="FF0000"/>
                </a:solidFill>
                <a:ea typeface="Microsoft JhengHei" panose="020B0604030504040204" pitchFamily="34" charset="-120"/>
              </a:rPr>
              <a:t>28GB</a:t>
            </a:r>
            <a:endParaRPr kumimoji="1" lang="en" altLang="zh-TW" dirty="0">
              <a:solidFill>
                <a:srgbClr val="FF0000"/>
              </a:solidFill>
              <a:ea typeface="Microsoft JhengHei" panose="020B0604030504040204" pitchFamily="34" charset="-120"/>
            </a:endParaRPr>
          </a:p>
          <a:p>
            <a:endParaRPr kumimoji="1" lang="en" altLang="zh-TW" dirty="0">
              <a:ea typeface="Microsoft JhengHei" panose="020B0604030504040204" pitchFamily="34" charset="-120"/>
            </a:endParaRPr>
          </a:p>
          <a:p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F733EC-8C5A-C3E8-D671-7DB0A7EB9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0AAF140-E426-2C3F-B32A-1777098113FA}"/>
              </a:ext>
            </a:extLst>
          </p:cNvPr>
          <p:cNvGraphicFramePr>
            <a:graphicFrameLocks noGrp="1"/>
          </p:cNvGraphicFramePr>
          <p:nvPr/>
        </p:nvGraphicFramePr>
        <p:xfrm>
          <a:off x="2051304" y="3857414"/>
          <a:ext cx="8089391" cy="1829553"/>
        </p:xfrm>
        <a:graphic>
          <a:graphicData uri="http://schemas.openxmlformats.org/drawingml/2006/table">
            <a:tbl>
              <a:tblPr/>
              <a:tblGrid>
                <a:gridCol w="2187245">
                  <a:extLst>
                    <a:ext uri="{9D8B030D-6E8A-4147-A177-3AD203B41FA5}">
                      <a16:colId xmlns:a16="http://schemas.microsoft.com/office/drawing/2014/main" val="2947843886"/>
                    </a:ext>
                  </a:extLst>
                </a:gridCol>
                <a:gridCol w="1617556">
                  <a:extLst>
                    <a:ext uri="{9D8B030D-6E8A-4147-A177-3AD203B41FA5}">
                      <a16:colId xmlns:a16="http://schemas.microsoft.com/office/drawing/2014/main" val="1439152719"/>
                    </a:ext>
                  </a:extLst>
                </a:gridCol>
                <a:gridCol w="2142295">
                  <a:extLst>
                    <a:ext uri="{9D8B030D-6E8A-4147-A177-3AD203B41FA5}">
                      <a16:colId xmlns:a16="http://schemas.microsoft.com/office/drawing/2014/main" val="1365398480"/>
                    </a:ext>
                  </a:extLst>
                </a:gridCol>
                <a:gridCol w="2142295">
                  <a:extLst>
                    <a:ext uri="{9D8B030D-6E8A-4147-A177-3AD203B41FA5}">
                      <a16:colId xmlns:a16="http://schemas.microsoft.com/office/drawing/2014/main" val="3714923106"/>
                    </a:ext>
                  </a:extLst>
                </a:gridCol>
              </a:tblGrid>
              <a:tr h="516195"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1800" b="1" i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1800" b="1" i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參數量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dirty="0">
                          <a:effectLst/>
                          <a:latin typeface="+mn-lt"/>
                        </a:rPr>
                        <a:t>Memory (FP32)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dirty="0">
                          <a:effectLst/>
                          <a:latin typeface="+mn-lt"/>
                        </a:rPr>
                        <a:t>Memory (FP16)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956191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 err="1">
                          <a:effectLst/>
                          <a:latin typeface="+mn-lt"/>
                        </a:rPr>
                        <a:t>DeepSeek</a:t>
                      </a:r>
                      <a:r>
                        <a:rPr lang="en-US" sz="1800" i="0" dirty="0">
                          <a:effectLst/>
                          <a:latin typeface="+mn-lt"/>
                        </a:rPr>
                        <a:t> v3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+mn-lt"/>
                        </a:rPr>
                        <a:t>685B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2740 GB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+mn-lt"/>
                        </a:rPr>
                        <a:t>1370 GB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467647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Llama 4 Scout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+mn-lt"/>
                        </a:rPr>
                        <a:t>109B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436 GB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+mn-lt"/>
                        </a:rPr>
                        <a:t>218 GB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878449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GPT-2 XL</a:t>
                      </a:r>
                      <a:endParaRPr lang="pt-BR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i="0" dirty="0">
                          <a:effectLst/>
                          <a:latin typeface="+mn-lt"/>
                        </a:rPr>
                        <a:t>1.5B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 GB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 GB</a:t>
                      </a:r>
                      <a:endParaRPr lang="en-US" altLang="zh-TW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225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073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562B04-9C41-700D-01E7-7312C61BA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讓大型語言模型適用於你的任務？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7D3013-3C6C-0124-D824-1C0E208FB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BE8FDE4D-65D5-02ED-2DB6-2BAD43A99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060" y="2175664"/>
            <a:ext cx="1108862" cy="110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A0135A98-4A89-5D8D-1B01-B3072122F17E}"/>
              </a:ext>
            </a:extLst>
          </p:cNvPr>
          <p:cNvCxnSpPr>
            <a:cxnSpLocks/>
          </p:cNvCxnSpPr>
          <p:nvPr/>
        </p:nvCxnSpPr>
        <p:spPr>
          <a:xfrm flipH="1">
            <a:off x="3328422" y="2841346"/>
            <a:ext cx="11411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C573909E-78CE-7A0D-18DB-7666126A8CC0}"/>
              </a:ext>
            </a:extLst>
          </p:cNvPr>
          <p:cNvSpPr txBox="1"/>
          <p:nvPr/>
        </p:nvSpPr>
        <p:spPr>
          <a:xfrm>
            <a:off x="4689049" y="2596851"/>
            <a:ext cx="3438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翻譯、聊天、寫故事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…</a:t>
            </a:r>
            <a:endParaRPr kumimoji="1" lang="zh-TW" altLang="en-US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9" name="Picture 2" descr="undefined">
            <a:extLst>
              <a:ext uri="{FF2B5EF4-FFF2-40B4-BE49-F238E27FC236}">
                <a16:creationId xmlns:a16="http://schemas.microsoft.com/office/drawing/2014/main" id="{46544269-5C0D-AB51-B115-39841E69F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060" y="4173099"/>
            <a:ext cx="1108862" cy="110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AD1420AB-9C6C-A1C0-B579-E042D7EA81C4}"/>
              </a:ext>
            </a:extLst>
          </p:cNvPr>
          <p:cNvSpPr txBox="1"/>
          <p:nvPr/>
        </p:nvSpPr>
        <p:spPr>
          <a:xfrm>
            <a:off x="998525" y="2500509"/>
            <a:ext cx="709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4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📚</a:t>
            </a:r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65E4DAA1-25E0-C685-0EAE-5442D863FBDD}"/>
              </a:ext>
            </a:extLst>
          </p:cNvPr>
          <p:cNvCxnSpPr>
            <a:cxnSpLocks/>
          </p:cNvCxnSpPr>
          <p:nvPr/>
        </p:nvCxnSpPr>
        <p:spPr>
          <a:xfrm flipH="1">
            <a:off x="3328422" y="4742160"/>
            <a:ext cx="11411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56B2E1F-3C11-7C14-6E67-B489FDDF943D}"/>
              </a:ext>
            </a:extLst>
          </p:cNvPr>
          <p:cNvSpPr txBox="1"/>
          <p:nvPr/>
        </p:nvSpPr>
        <p:spPr>
          <a:xfrm>
            <a:off x="4689050" y="4504390"/>
            <a:ext cx="6013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醫學資料、少數語言、網路上查不到的知識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BD93034-DDC9-E3A0-408F-3670A03A0C8F}"/>
              </a:ext>
            </a:extLst>
          </p:cNvPr>
          <p:cNvSpPr txBox="1"/>
          <p:nvPr/>
        </p:nvSpPr>
        <p:spPr>
          <a:xfrm>
            <a:off x="8013804" y="2500509"/>
            <a:ext cx="709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4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💪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508E95F-A02F-8597-DD00-30BCEAA55A0A}"/>
              </a:ext>
            </a:extLst>
          </p:cNvPr>
          <p:cNvSpPr txBox="1"/>
          <p:nvPr/>
        </p:nvSpPr>
        <p:spPr>
          <a:xfrm>
            <a:off x="10724090" y="4439423"/>
            <a:ext cx="709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4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⚠️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54A635F-F81C-2471-EEA2-82F1AAAA0406}"/>
              </a:ext>
            </a:extLst>
          </p:cNvPr>
          <p:cNvSpPr txBox="1"/>
          <p:nvPr/>
        </p:nvSpPr>
        <p:spPr>
          <a:xfrm>
            <a:off x="3328421" y="5427587"/>
            <a:ext cx="6694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解決方案</a:t>
            </a:r>
            <a:r>
              <a:rPr kumimoji="1" lang="zh-TW" altLang="en-US" sz="2400" dirty="0"/>
              <a:t>：增加提示詞</a:t>
            </a:r>
            <a:r>
              <a:rPr kumimoji="1" lang="en-US" altLang="zh-TW" sz="2400" dirty="0"/>
              <a:t>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或</a:t>
            </a:r>
            <a:r>
              <a:rPr kumimoji="1" lang="en-US" altLang="zh-TW" sz="2400" dirty="0"/>
              <a:t> </a:t>
            </a:r>
            <a:r>
              <a:rPr kumimoji="1" lang="zh-TW" altLang="en-US" sz="2400" dirty="0"/>
              <a:t>訓練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語言模型</a:t>
            </a:r>
          </a:p>
        </p:txBody>
      </p:sp>
      <p:sp>
        <p:nvSpPr>
          <p:cNvPr id="16" name="向右箭號 15">
            <a:extLst>
              <a:ext uri="{FF2B5EF4-FFF2-40B4-BE49-F238E27FC236}">
                <a16:creationId xmlns:a16="http://schemas.microsoft.com/office/drawing/2014/main" id="{4CFE905D-A992-5DB1-A2DC-5A3C488A4BA7}"/>
              </a:ext>
            </a:extLst>
          </p:cNvPr>
          <p:cNvSpPr/>
          <p:nvPr/>
        </p:nvSpPr>
        <p:spPr>
          <a:xfrm rot="13500000">
            <a:off x="3008691" y="5179129"/>
            <a:ext cx="321869" cy="312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3E70E32-FA25-E97D-6DBC-E6452D333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9215" y="3356027"/>
            <a:ext cx="1879418" cy="110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38BC827B-B1A9-0327-CEDA-82B669323C6A}"/>
              </a:ext>
            </a:extLst>
          </p:cNvPr>
          <p:cNvSpPr txBox="1"/>
          <p:nvPr/>
        </p:nvSpPr>
        <p:spPr>
          <a:xfrm>
            <a:off x="7700682" y="6134354"/>
            <a:ext cx="325345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100" dirty="0"/>
              <a:t>Figure source: https://</a:t>
            </a:r>
            <a:r>
              <a:rPr kumimoji="1" lang="en" altLang="zh-TW" sz="1100" dirty="0" err="1"/>
              <a:t>gameofthrones.fandom.com</a:t>
            </a:r>
            <a:r>
              <a:rPr kumimoji="1" lang="en" altLang="zh-TW" sz="1100" dirty="0"/>
              <a:t>/wiki/</a:t>
            </a:r>
            <a:r>
              <a:rPr kumimoji="1" lang="en" altLang="zh-TW" sz="1100" dirty="0" err="1"/>
              <a:t>High_Valyrian?file</a:t>
            </a:r>
            <a:r>
              <a:rPr kumimoji="1" lang="en" altLang="zh-TW" sz="1100" dirty="0"/>
              <a:t>=</a:t>
            </a:r>
            <a:r>
              <a:rPr kumimoji="1" lang="en" altLang="zh-TW" sz="1100" dirty="0" err="1"/>
              <a:t>Nekesse_Valyrio.jpg</a:t>
            </a:r>
            <a:endParaRPr kumimoji="1" lang="zh-TW" altLang="en-US" sz="1100" dirty="0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54E359E7-CD09-45B4-28A2-EB332319C288}"/>
              </a:ext>
            </a:extLst>
          </p:cNvPr>
          <p:cNvSpPr/>
          <p:nvPr/>
        </p:nvSpPr>
        <p:spPr>
          <a:xfrm>
            <a:off x="6872139" y="5272810"/>
            <a:ext cx="2003549" cy="7651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23399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3" grpId="0"/>
      <p:bldP spid="14" grpId="0"/>
      <p:bldP spid="15" grpId="0"/>
      <p:bldP spid="16" grpId="0" animBg="1"/>
      <p:bldP spid="18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B97D82-E910-27C7-3E61-53C5EF341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GPU Memory Estimated (Full Fine-tuning)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424A06-C223-243A-AF52-39036FB59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D95DB63-7BBE-C75B-AF82-B0EF596AB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154066"/>
              </p:ext>
            </p:extLst>
          </p:nvPr>
        </p:nvGraphicFramePr>
        <p:xfrm>
          <a:off x="917959" y="1913179"/>
          <a:ext cx="10351008" cy="3697028"/>
        </p:xfrm>
        <a:graphic>
          <a:graphicData uri="http://schemas.openxmlformats.org/drawingml/2006/table">
            <a:tbl>
              <a:tblPr/>
              <a:tblGrid>
                <a:gridCol w="2779776">
                  <a:extLst>
                    <a:ext uri="{9D8B030D-6E8A-4147-A177-3AD203B41FA5}">
                      <a16:colId xmlns:a16="http://schemas.microsoft.com/office/drawing/2014/main" val="4292029165"/>
                    </a:ext>
                  </a:extLst>
                </a:gridCol>
                <a:gridCol w="3910461">
                  <a:extLst>
                    <a:ext uri="{9D8B030D-6E8A-4147-A177-3AD203B41FA5}">
                      <a16:colId xmlns:a16="http://schemas.microsoft.com/office/drawing/2014/main" val="2947843886"/>
                    </a:ext>
                  </a:extLst>
                </a:gridCol>
                <a:gridCol w="3660771">
                  <a:extLst>
                    <a:ext uri="{9D8B030D-6E8A-4147-A177-3AD203B41FA5}">
                      <a16:colId xmlns:a16="http://schemas.microsoft.com/office/drawing/2014/main" val="1365398480"/>
                    </a:ext>
                  </a:extLst>
                </a:gridCol>
              </a:tblGrid>
              <a:tr h="516195">
                <a:tc gridSpan="3"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Llama 2</a:t>
                      </a:r>
                      <a:r>
                        <a:rPr lang="en-US" altLang="zh-TW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-7B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16-bit float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-US" altLang="zh-TW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max_length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(seq) = 4096, </a:t>
                      </a:r>
                      <a:r>
                        <a:rPr lang="en-US" altLang="zh-TW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hidden_size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= 4096, </a:t>
                      </a:r>
                      <a:r>
                        <a:rPr lang="en-US" altLang="zh-TW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batch_size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(bs) = 1</a:t>
                      </a:r>
                      <a:endParaRPr lang="en-US" altLang="zh-TW" sz="180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314863"/>
                  </a:ext>
                </a:extLst>
              </a:tr>
              <a:tr h="51619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1800" b="1" i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算法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dirty="0">
                          <a:effectLst/>
                          <a:latin typeface="+mn-lt"/>
                        </a:rPr>
                        <a:t>Memory (</a:t>
                      </a:r>
                      <a:r>
                        <a:rPr lang="en-US" sz="1800" b="1" i="0" dirty="0" err="1">
                          <a:effectLst/>
                          <a:latin typeface="+mn-lt"/>
                        </a:rPr>
                        <a:t>概略</a:t>
                      </a:r>
                      <a:r>
                        <a:rPr lang="en-US" sz="1800" b="1" i="0" dirty="0"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956191"/>
                  </a:ext>
                </a:extLst>
              </a:tr>
              <a:tr h="51619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CUDA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800" i="0" dirty="0">
                          <a:effectLst/>
                          <a:latin typeface="+mn-lt"/>
                        </a:rPr>
                        <a:t>-</a:t>
                      </a:r>
                      <a:endParaRPr lang="zh-TW" alt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GB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399229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Model weights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size(float) *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lang="en-US" sz="1800" b="0" i="0" u="none" strike="noStrike" baseline="-25000" noProof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parameter</a:t>
                      </a:r>
                      <a:endParaRPr lang="en-US" sz="1800" i="0" dirty="0" err="1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 GB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467647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Gradients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size(</a:t>
                      </a:r>
                      <a:r>
                        <a:rPr lang="en-U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float32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 *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lang="en-US" sz="1800" b="0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trainable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 GB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878449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Hidden states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size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(float) * 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seq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* </a:t>
                      </a: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hidden_size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* L</a:t>
                      </a:r>
                      <a:endParaRPr lang="pt-BR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GB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225106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Optimizer states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(Adam)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 * size(</a:t>
                      </a:r>
                      <a:r>
                        <a:rPr lang="en-US" altLang="zh-TW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float32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 *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lang="en-US" sz="1800" b="0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trainable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56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GB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485358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505250BB-958D-734F-C7F5-D643219BDB1E}"/>
              </a:ext>
            </a:extLst>
          </p:cNvPr>
          <p:cNvSpPr txBox="1"/>
          <p:nvPr/>
        </p:nvSpPr>
        <p:spPr>
          <a:xfrm>
            <a:off x="917959" y="5720496"/>
            <a:ext cx="5457933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TW" sz="1600" dirty="0">
                <a:solidFill>
                  <a:srgbClr val="000000"/>
                </a:solidFill>
                <a:ea typeface="新細明體"/>
                <a:cs typeface="Times New Roman"/>
              </a:rPr>
              <a:t>L : Number of layers in model (eq. 32 layers)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E1C0B89-01AF-88E2-D6FC-D61C8B426A55}"/>
              </a:ext>
            </a:extLst>
          </p:cNvPr>
          <p:cNvSpPr txBox="1"/>
          <p:nvPr/>
        </p:nvSpPr>
        <p:spPr>
          <a:xfrm>
            <a:off x="7773949" y="5720496"/>
            <a:ext cx="3071356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zh-TW" sz="1800" b="1" u="none" strike="noStrike" dirty="0">
                <a:solidFill>
                  <a:srgbClr val="000000"/>
                </a:solidFill>
                <a:effectLst/>
                <a:ea typeface="新細明體"/>
                <a:cs typeface="Times New Roman"/>
              </a:rPr>
              <a:t>Estimate: </a:t>
            </a:r>
            <a:r>
              <a:rPr lang="en-US" altLang="zh-TW" dirty="0">
                <a:solidFill>
                  <a:srgbClr val="000000"/>
                </a:solidFill>
              </a:rPr>
              <a:t>~</a:t>
            </a:r>
            <a:r>
              <a:rPr lang="en-US" altLang="zh-TW" b="1" dirty="0">
                <a:solidFill>
                  <a:srgbClr val="000000"/>
                </a:solidFill>
                <a:ea typeface="新細明體"/>
                <a:cs typeface="Times New Roman"/>
              </a:rPr>
              <a:t>100 GB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ea typeface="新細明體"/>
                <a:cs typeface="Times New Roman"/>
              </a:rPr>
              <a:t>*NVIDIA 5090: 32GB</a:t>
            </a:r>
            <a:endParaRPr lang="en-US" altLang="zh-TW" dirty="0">
              <a:ea typeface="新細明體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913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29EDC-B7A0-91DD-63F5-190A84794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33D214-BB94-3D2C-E3FD-0D52FDF2C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4400" dirty="0">
                <a:ea typeface="+mj-lt"/>
                <a:cs typeface="+mj-lt"/>
              </a:rPr>
              <a:t>有沒有可能只微調 </a:t>
            </a:r>
            <a:r>
              <a:rPr lang="en-US" altLang="zh-TW" sz="4400" dirty="0">
                <a:ea typeface="+mj-lt"/>
                <a:cs typeface="+mj-lt"/>
              </a:rPr>
              <a:t>LLM </a:t>
            </a:r>
            <a:r>
              <a:rPr lang="zh-TW" altLang="en-US" sz="4400" dirty="0">
                <a:ea typeface="+mj-lt"/>
                <a:cs typeface="+mj-lt"/>
              </a:rPr>
              <a:t>一部分的參數呢？</a:t>
            </a:r>
            <a:endParaRPr lang="en-US" altLang="zh-TW" sz="4400" dirty="0">
              <a:ea typeface="+mj-lt"/>
              <a:cs typeface="+mj-lt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FBE3560-F03B-0151-C181-F4A5124FF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>
                <a:latin typeface="Times New Roman"/>
                <a:cs typeface="Times New Roman"/>
              </a:rPr>
              <a:t>12</a:t>
            </a:fld>
            <a:endParaRPr lang="zh-TW" altLang="en-US">
              <a:latin typeface="Times New Roman"/>
              <a:cs typeface="Times New Roman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8364BF4-C089-BB79-41C2-B4316B8029FA}"/>
              </a:ext>
            </a:extLst>
          </p:cNvPr>
          <p:cNvSpPr txBox="1"/>
          <p:nvPr/>
        </p:nvSpPr>
        <p:spPr>
          <a:xfrm>
            <a:off x="2082154" y="5310989"/>
            <a:ext cx="3361242" cy="6771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zh-TW" sz="2000" b="0" i="0" u="none" strike="noStrike" dirty="0">
                <a:effectLst/>
                <a:ea typeface="新細明體"/>
                <a:cs typeface="Times New Roman"/>
              </a:rPr>
              <a:t>Full Fine-tuning</a:t>
            </a:r>
            <a:br>
              <a:rPr lang="en-US" altLang="zh-TW" sz="2000" b="0" i="0" u="none" strike="noStrike" dirty="0">
                <a:effectLst/>
                <a:cs typeface="Times New Roman"/>
              </a:rPr>
            </a:br>
            <a:r>
              <a:rPr lang="en-US" altLang="zh-TW" sz="1800" b="0" i="0" u="none" strike="noStrike" dirty="0">
                <a:effectLst/>
                <a:ea typeface="新細明體"/>
                <a:cs typeface="Times New Roman"/>
              </a:rPr>
              <a:t>Update </a:t>
            </a:r>
            <a:r>
              <a:rPr lang="en-US" altLang="zh-TW" sz="1800" b="1" i="0" u="none" strike="noStrike" dirty="0">
                <a:effectLst/>
                <a:ea typeface="新細明體"/>
                <a:cs typeface="Times New Roman"/>
              </a:rPr>
              <a:t>all model parameters</a:t>
            </a:r>
            <a:endParaRPr lang="zh-TW" altLang="en-US" dirty="0">
              <a:ea typeface="新細明體"/>
              <a:cs typeface="Times New Roman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2C63BA2-1B3B-63B8-B4DB-4183B8A7F9A7}"/>
              </a:ext>
            </a:extLst>
          </p:cNvPr>
          <p:cNvSpPr txBox="1"/>
          <p:nvPr/>
        </p:nvSpPr>
        <p:spPr>
          <a:xfrm>
            <a:off x="5808965" y="5310989"/>
            <a:ext cx="5242246" cy="6771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zh-TW" sz="2000" b="0" i="0" u="none" strike="noStrike" dirty="0">
                <a:effectLst/>
                <a:ea typeface="新細明體"/>
                <a:cs typeface="Times New Roman"/>
              </a:rPr>
              <a:t>Parameter-efficient Fine-tuning</a:t>
            </a:r>
            <a:r>
              <a:rPr lang="zh-TW" altLang="en-US" sz="2000" b="0" i="0" u="none" strike="noStrike" dirty="0">
                <a:effectLst/>
                <a:ea typeface="新細明體"/>
                <a:cs typeface="Times New Roman"/>
              </a:rPr>
              <a:t> </a:t>
            </a:r>
            <a:r>
              <a:rPr lang="en-US" altLang="zh-TW" sz="2000" b="0" i="0" u="none" strike="noStrike" dirty="0">
                <a:effectLst/>
                <a:ea typeface="新細明體"/>
                <a:cs typeface="Times New Roman"/>
              </a:rPr>
              <a:t>(PEFT)</a:t>
            </a:r>
            <a:br>
              <a:rPr lang="en-US" altLang="zh-TW" sz="1800" b="0" i="0" u="none" strike="noStrike" dirty="0">
                <a:effectLst/>
                <a:cs typeface="Times New Roman"/>
              </a:rPr>
            </a:br>
            <a:r>
              <a:rPr lang="en-US" altLang="zh-TW" sz="1800" b="0" i="0" u="none" strike="noStrike" dirty="0">
                <a:effectLst/>
                <a:ea typeface="新細明體"/>
                <a:cs typeface="Times New Roman"/>
              </a:rPr>
              <a:t>Update a </a:t>
            </a:r>
            <a:r>
              <a:rPr lang="en-US" altLang="zh-TW" sz="1800" b="1" i="0" u="none" strike="noStrike" dirty="0">
                <a:effectLst/>
                <a:ea typeface="新細明體"/>
                <a:cs typeface="Times New Roman"/>
              </a:rPr>
              <a:t>small subset</a:t>
            </a:r>
            <a:r>
              <a:rPr lang="en-US" altLang="zh-TW" sz="1800" b="0" i="0" u="none" strike="noStrike" dirty="0">
                <a:effectLst/>
                <a:ea typeface="新細明體"/>
                <a:cs typeface="Times New Roman"/>
              </a:rPr>
              <a:t> of model parameters</a:t>
            </a:r>
            <a:endParaRPr lang="zh-TW" altLang="en-US" dirty="0">
              <a:ea typeface="新細明體"/>
              <a:cs typeface="Times New Roman"/>
            </a:endParaRP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4A784CFC-2FDC-9025-0ECA-DBC86337AE2F}"/>
              </a:ext>
            </a:extLst>
          </p:cNvPr>
          <p:cNvSpPr/>
          <p:nvPr/>
        </p:nvSpPr>
        <p:spPr>
          <a:xfrm>
            <a:off x="2541232" y="2226816"/>
            <a:ext cx="2441359" cy="239697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Trainable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713EAEDE-713F-F791-EA95-9455168AE79B}"/>
              </a:ext>
            </a:extLst>
          </p:cNvPr>
          <p:cNvSpPr/>
          <p:nvPr/>
        </p:nvSpPr>
        <p:spPr>
          <a:xfrm>
            <a:off x="7209409" y="2230515"/>
            <a:ext cx="2441359" cy="2396970"/>
          </a:xfrm>
          <a:prstGeom prst="ellipse">
            <a:avLst/>
          </a:prstGeom>
          <a:solidFill>
            <a:srgbClr val="5A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Freeze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57880B0E-7C1C-4955-697E-635FA106E32D}"/>
              </a:ext>
            </a:extLst>
          </p:cNvPr>
          <p:cNvSpPr/>
          <p:nvPr/>
        </p:nvSpPr>
        <p:spPr>
          <a:xfrm>
            <a:off x="7690281" y="3772981"/>
            <a:ext cx="1491129" cy="85450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Trainable</a:t>
            </a:r>
            <a:endParaRPr 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E102E23-57F0-25C8-F500-E2AFD8D7AE47}"/>
              </a:ext>
            </a:extLst>
          </p:cNvPr>
          <p:cNvSpPr txBox="1"/>
          <p:nvPr/>
        </p:nvSpPr>
        <p:spPr>
          <a:xfrm>
            <a:off x="9181410" y="4549283"/>
            <a:ext cx="103632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zh-TW" altLang="en-US" sz="3200" b="0" i="0" u="none" strike="noStrike" dirty="0">
                <a:effectLst/>
                <a:ea typeface="新細明體"/>
                <a:cs typeface="Times New Roman"/>
              </a:rPr>
              <a:t>👍</a:t>
            </a:r>
            <a:endParaRPr lang="zh-TW" altLang="en-US" sz="2800" dirty="0">
              <a:ea typeface="新細明體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63635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B97D82-E910-27C7-3E61-53C5EF341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GPU Memory Estimated (</a:t>
            </a:r>
            <a:r>
              <a:rPr lang="en-US" altLang="zh-TW" sz="4800" b="0" i="0" u="none" strike="noStrike" dirty="0">
                <a:effectLst/>
                <a:ea typeface="新細明體"/>
                <a:cs typeface="Times New Roman"/>
              </a:rPr>
              <a:t>PEFT</a:t>
            </a:r>
            <a:r>
              <a:rPr kumimoji="1" lang="en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424A06-C223-243A-AF52-39036FB59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D95DB63-7BBE-C75B-AF82-B0EF596AB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517105"/>
              </p:ext>
            </p:extLst>
          </p:nvPr>
        </p:nvGraphicFramePr>
        <p:xfrm>
          <a:off x="917959" y="2146263"/>
          <a:ext cx="10351008" cy="3697028"/>
        </p:xfrm>
        <a:graphic>
          <a:graphicData uri="http://schemas.openxmlformats.org/drawingml/2006/table">
            <a:tbl>
              <a:tblPr/>
              <a:tblGrid>
                <a:gridCol w="2779776">
                  <a:extLst>
                    <a:ext uri="{9D8B030D-6E8A-4147-A177-3AD203B41FA5}">
                      <a16:colId xmlns:a16="http://schemas.microsoft.com/office/drawing/2014/main" val="4292029165"/>
                    </a:ext>
                  </a:extLst>
                </a:gridCol>
                <a:gridCol w="3910461">
                  <a:extLst>
                    <a:ext uri="{9D8B030D-6E8A-4147-A177-3AD203B41FA5}">
                      <a16:colId xmlns:a16="http://schemas.microsoft.com/office/drawing/2014/main" val="2947843886"/>
                    </a:ext>
                  </a:extLst>
                </a:gridCol>
                <a:gridCol w="3660771">
                  <a:extLst>
                    <a:ext uri="{9D8B030D-6E8A-4147-A177-3AD203B41FA5}">
                      <a16:colId xmlns:a16="http://schemas.microsoft.com/office/drawing/2014/main" val="1365398480"/>
                    </a:ext>
                  </a:extLst>
                </a:gridCol>
              </a:tblGrid>
              <a:tr h="516195">
                <a:tc gridSpan="3"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Llama 2</a:t>
                      </a:r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-7B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16-bit float, </a:t>
                      </a:r>
                      <a:r>
                        <a:rPr lang="en-US" altLang="zh-TW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max_length</a:t>
                      </a:r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(seq) = 4096, </a:t>
                      </a:r>
                      <a:r>
                        <a:rPr lang="en-US" altLang="zh-TW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hidden_size</a:t>
                      </a:r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= 4096, </a:t>
                      </a:r>
                      <a:r>
                        <a:rPr lang="en-US" altLang="zh-TW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batch_size</a:t>
                      </a:r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(bs) = 1</a:t>
                      </a:r>
                      <a:endParaRPr lang="en-US" altLang="zh-TW" sz="18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314863"/>
                  </a:ext>
                </a:extLst>
              </a:tr>
              <a:tr h="51619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1800" b="1" i="0" dirty="0">
                          <a:solidFill>
                            <a:schemeClr val="tx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算法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dirty="0">
                          <a:effectLst/>
                          <a:latin typeface="+mn-lt"/>
                        </a:rPr>
                        <a:t>Memory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956191"/>
                  </a:ext>
                </a:extLst>
              </a:tr>
              <a:tr h="51619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CUDA</a:t>
                      </a:r>
                      <a:endParaRPr lang="en-US" sz="180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80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zh-TW" altLang="en-US" sz="180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GB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399229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Model weights</a:t>
                      </a:r>
                      <a:endParaRPr lang="en-US" sz="180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size(float) * </a:t>
                      </a: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lang="en-US" sz="1800" b="0" i="0" u="none" strike="noStrike" baseline="-250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parameter</a:t>
                      </a:r>
                      <a:endParaRPr lang="en-US" sz="1800" i="0" dirty="0" err="1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 GB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467647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Gradients</a:t>
                      </a:r>
                      <a:endParaRPr lang="en-US" sz="180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size(</a:t>
                      </a:r>
                      <a:r>
                        <a:rPr lang="en-U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float32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 * </a:t>
                      </a: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lang="en-US" sz="1800" b="0" i="0" u="none" strike="noStrike" baseline="-250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trainable</a:t>
                      </a:r>
                      <a:endParaRPr lang="en-US" sz="180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28*0.02 </a:t>
                      </a:r>
                      <a:r>
                        <a:rPr lang="en-U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= 0.56 GB</a:t>
                      </a:r>
                      <a:endParaRPr lang="en-US" sz="1800" i="0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878449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Hidden states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~size(float) * 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seq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* </a:t>
                      </a: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hidden_size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* L</a:t>
                      </a:r>
                      <a:endParaRPr lang="pt-BR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GB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225106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Optimizer states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(Adam)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 * size(</a:t>
                      </a:r>
                      <a:r>
                        <a:rPr lang="en-U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float32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 *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lang="en-US" sz="1800" b="0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trainable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56*0.02 </a:t>
                      </a:r>
                      <a:r>
                        <a:rPr lang="en-US" altLang="zh-TW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= 1.12 GB</a:t>
                      </a:r>
                      <a:endParaRPr lang="en-US" altLang="zh-TW" sz="1800" i="0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485358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505250BB-958D-734F-C7F5-D643219BDB1E}"/>
              </a:ext>
            </a:extLst>
          </p:cNvPr>
          <p:cNvSpPr txBox="1"/>
          <p:nvPr/>
        </p:nvSpPr>
        <p:spPr>
          <a:xfrm>
            <a:off x="917959" y="5953580"/>
            <a:ext cx="5457933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TW" sz="1600" dirty="0">
                <a:solidFill>
                  <a:srgbClr val="000000"/>
                </a:solidFill>
                <a:ea typeface="新細明體"/>
                <a:cs typeface="Times New Roman"/>
              </a:rPr>
              <a:t>L : Number of layers in model (eq. 32 layers)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E1C0B89-01AF-88E2-D6FC-D61C8B426A55}"/>
              </a:ext>
            </a:extLst>
          </p:cNvPr>
          <p:cNvSpPr txBox="1"/>
          <p:nvPr/>
        </p:nvSpPr>
        <p:spPr>
          <a:xfrm>
            <a:off x="7773949" y="5953580"/>
            <a:ext cx="3071356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altLang="zh-TW" sz="1800" b="1" u="none" strike="noStrike" dirty="0">
                <a:solidFill>
                  <a:srgbClr val="000000"/>
                </a:solidFill>
                <a:effectLst/>
                <a:ea typeface="新細明體"/>
                <a:cs typeface="Times New Roman"/>
              </a:rPr>
              <a:t>Estimate: </a:t>
            </a:r>
            <a:r>
              <a:rPr lang="en-US" altLang="zh-TW" b="1" dirty="0">
                <a:solidFill>
                  <a:srgbClr val="FF0000"/>
                </a:solidFill>
                <a:ea typeface="新細明體"/>
                <a:cs typeface="Times New Roman"/>
              </a:rPr>
              <a:t>17.68</a:t>
            </a:r>
            <a:r>
              <a:rPr lang="en-US" altLang="zh-TW" b="1" dirty="0">
                <a:solidFill>
                  <a:srgbClr val="000000"/>
                </a:solidFill>
                <a:ea typeface="新細明體"/>
                <a:cs typeface="Times New Roman"/>
              </a:rPr>
              <a:t> GB</a:t>
            </a:r>
            <a:endParaRPr lang="en-US" altLang="zh-TW" b="1" dirty="0">
              <a:ea typeface="新細明體"/>
              <a:cs typeface="Times New Roman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6A463BE-A5ED-14D8-D9FB-C277A51F07E5}"/>
              </a:ext>
            </a:extLst>
          </p:cNvPr>
          <p:cNvSpPr txBox="1"/>
          <p:nvPr/>
        </p:nvSpPr>
        <p:spPr>
          <a:xfrm>
            <a:off x="833350" y="1473347"/>
            <a:ext cx="508454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假設我們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只更新 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2%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的參數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EF05EF2-B3CD-09AD-EC2D-6C210F8B46E3}"/>
              </a:ext>
            </a:extLst>
          </p:cNvPr>
          <p:cNvSpPr txBox="1"/>
          <p:nvPr/>
        </p:nvSpPr>
        <p:spPr>
          <a:xfrm>
            <a:off x="7773949" y="6262070"/>
            <a:ext cx="3071356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altLang="zh-TW" sz="1800" u="none" strike="noStrike" dirty="0">
                <a:effectLst/>
                <a:ea typeface="新細明體"/>
                <a:cs typeface="Times New Roman"/>
              </a:rPr>
              <a:t>*NVIDIA </a:t>
            </a:r>
            <a:r>
              <a:rPr lang="en-US" altLang="zh-TW" dirty="0">
                <a:ea typeface="新細明體"/>
                <a:cs typeface="Times New Roman"/>
              </a:rPr>
              <a:t>3090</a:t>
            </a:r>
            <a:r>
              <a:rPr lang="en-US" altLang="zh-TW" sz="1800" u="none" strike="noStrike" dirty="0">
                <a:effectLst/>
                <a:ea typeface="新細明體"/>
                <a:cs typeface="Times New Roman"/>
              </a:rPr>
              <a:t>: </a:t>
            </a:r>
            <a:r>
              <a:rPr lang="en-US" altLang="zh-TW" dirty="0">
                <a:ea typeface="新細明體"/>
                <a:cs typeface="Times New Roman"/>
              </a:rPr>
              <a:t>24 GB</a:t>
            </a:r>
          </a:p>
        </p:txBody>
      </p:sp>
    </p:spTree>
    <p:extLst>
      <p:ext uri="{BB962C8B-B14F-4D97-AF65-F5344CB8AC3E}">
        <p14:creationId xmlns:p14="http://schemas.microsoft.com/office/powerpoint/2010/main" val="3255497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D3CF0F-B68C-1F13-705A-754D17A9B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PEFT 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441F44-4D80-1D93-4F34-14EE229C7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067558EE-9194-8C3B-E437-E7B0BBC8972B}"/>
              </a:ext>
            </a:extLst>
          </p:cNvPr>
          <p:cNvSpPr/>
          <p:nvPr/>
        </p:nvSpPr>
        <p:spPr>
          <a:xfrm>
            <a:off x="1655325" y="2523743"/>
            <a:ext cx="1631290" cy="1141171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  <a:hlinkClick r:id="rId2"/>
              </a:rPr>
              <a:t>Adapters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E363C3F6-7B54-A722-0781-57D0DE16F978}"/>
              </a:ext>
            </a:extLst>
          </p:cNvPr>
          <p:cNvSpPr/>
          <p:nvPr/>
        </p:nvSpPr>
        <p:spPr>
          <a:xfrm>
            <a:off x="3921818" y="2523743"/>
            <a:ext cx="1631290" cy="1141171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 err="1">
                <a:solidFill>
                  <a:schemeClr val="tx1"/>
                </a:solidFill>
                <a:hlinkClick r:id="rId3"/>
              </a:rPr>
              <a:t>LoRA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AB06D7BD-B55D-6A68-F5D3-80062C44F3CF}"/>
              </a:ext>
            </a:extLst>
          </p:cNvPr>
          <p:cNvSpPr/>
          <p:nvPr/>
        </p:nvSpPr>
        <p:spPr>
          <a:xfrm>
            <a:off x="6188311" y="2523743"/>
            <a:ext cx="1631290" cy="1141171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  <a:hlinkClick r:id="rId4"/>
              </a:rPr>
              <a:t>Prefix-Tuning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1FE11BA8-4B74-9D5D-C610-EC93302F7BFA}"/>
              </a:ext>
            </a:extLst>
          </p:cNvPr>
          <p:cNvSpPr/>
          <p:nvPr/>
        </p:nvSpPr>
        <p:spPr>
          <a:xfrm>
            <a:off x="8454804" y="2523741"/>
            <a:ext cx="1631290" cy="1141171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 err="1">
                <a:solidFill>
                  <a:schemeClr val="tx1"/>
                </a:solidFill>
                <a:hlinkClick r:id="rId5"/>
              </a:rPr>
              <a:t>BitFit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527CDE0-912D-73CB-85FA-FF11E4FFA9A2}"/>
              </a:ext>
            </a:extLst>
          </p:cNvPr>
          <p:cNvSpPr txBox="1"/>
          <p:nvPr/>
        </p:nvSpPr>
        <p:spPr>
          <a:xfrm>
            <a:off x="3938016" y="6317246"/>
            <a:ext cx="4315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dirty="0"/>
              <a:t>https://</a:t>
            </a:r>
            <a:r>
              <a:rPr kumimoji="1" lang="en" altLang="zh-TW" dirty="0" err="1"/>
              <a:t>huggingface.co</a:t>
            </a:r>
            <a:r>
              <a:rPr kumimoji="1" lang="en" altLang="zh-TW" dirty="0"/>
              <a:t>/docs/</a:t>
            </a:r>
            <a:r>
              <a:rPr kumimoji="1" lang="en" altLang="zh-TW" dirty="0" err="1"/>
              <a:t>peft</a:t>
            </a:r>
            <a:r>
              <a:rPr kumimoji="1" lang="en" altLang="zh-TW" dirty="0"/>
              <a:t>/index</a:t>
            </a:r>
            <a:endParaRPr kumimoji="1" lang="zh-TW" altLang="en-US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4EEFDE40-D056-4AB9-EC6C-B9B9C41A7B0D}"/>
              </a:ext>
            </a:extLst>
          </p:cNvPr>
          <p:cNvSpPr/>
          <p:nvPr/>
        </p:nvSpPr>
        <p:spPr>
          <a:xfrm>
            <a:off x="3921818" y="2523740"/>
            <a:ext cx="1631290" cy="114117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CD0A745A-0293-6AF6-7AFF-AF91921206BD}"/>
              </a:ext>
            </a:extLst>
          </p:cNvPr>
          <p:cNvSpPr txBox="1">
            <a:spLocks/>
          </p:cNvSpPr>
          <p:nvPr/>
        </p:nvSpPr>
        <p:spPr>
          <a:xfrm>
            <a:off x="1742506" y="3957661"/>
            <a:ext cx="5989914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200">
                <a:ea typeface="+mj-lt"/>
                <a:cs typeface="Times New Roman"/>
              </a:rPr>
              <a:t>LoRA: </a:t>
            </a:r>
            <a:r>
              <a:rPr lang="en-US" altLang="zh-TW" sz="3200" b="1">
                <a:solidFill>
                  <a:srgbClr val="FF0000"/>
                </a:solidFill>
                <a:ea typeface="+mj-lt"/>
                <a:cs typeface="Times New Roman"/>
              </a:rPr>
              <a:t>Lo</a:t>
            </a:r>
            <a:r>
              <a:rPr lang="en-US" altLang="zh-TW" sz="3200">
                <a:ea typeface="+mj-lt"/>
                <a:cs typeface="Times New Roman"/>
              </a:rPr>
              <a:t>w-</a:t>
            </a:r>
            <a:r>
              <a:rPr lang="en-US" altLang="zh-TW" sz="3200" b="1">
                <a:solidFill>
                  <a:srgbClr val="FF0000"/>
                </a:solidFill>
                <a:ea typeface="+mj-lt"/>
                <a:cs typeface="Times New Roman"/>
              </a:rPr>
              <a:t>R</a:t>
            </a:r>
            <a:r>
              <a:rPr lang="en-US" altLang="zh-TW" sz="3200">
                <a:ea typeface="+mj-lt"/>
                <a:cs typeface="Times New Roman"/>
              </a:rPr>
              <a:t>ank </a:t>
            </a:r>
            <a:r>
              <a:rPr lang="en-US" altLang="zh-TW" sz="3200" b="1">
                <a:solidFill>
                  <a:srgbClr val="FF0000"/>
                </a:solidFill>
                <a:ea typeface="+mj-lt"/>
                <a:cs typeface="Times New Roman"/>
              </a:rPr>
              <a:t>A</a:t>
            </a:r>
            <a:r>
              <a:rPr lang="en-US" altLang="zh-TW" sz="3200">
                <a:ea typeface="+mj-lt"/>
                <a:cs typeface="Times New Roman"/>
              </a:rPr>
              <a:t>daptation</a:t>
            </a:r>
            <a:endParaRPr lang="en-US" altLang="zh-TW" sz="3200" dirty="0">
              <a:ea typeface="+mj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08872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1126A4-DF9B-D813-F8EE-8ED5F4F0D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LoRA</a:t>
            </a:r>
            <a:r>
              <a:rPr kumimoji="1" lang="en-US" altLang="zh-TW" dirty="0"/>
              <a:t> is common …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DC77B5-D428-8A65-B3A8-272061FF6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734350A-01AC-FEF4-43CC-575C09218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43" y="1756006"/>
            <a:ext cx="5254598" cy="241914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835C900-74A1-B86B-113C-39CE26AA9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6128" y="4588924"/>
            <a:ext cx="7772400" cy="182663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CCE5428-986B-0B0E-1F76-780B392125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328" y="1697265"/>
            <a:ext cx="5512027" cy="258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29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17D018-AB7D-E46A-7559-AB3424017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[Prerequisite] </a:t>
            </a:r>
            <a:r>
              <a:rPr kumimoji="1" lang="en-US" altLang="zh-TW" dirty="0"/>
              <a:t>Weights in Transformer layers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41CF8F-2B27-E2DE-7CC7-E532BFB09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68676EF8-8270-410B-351D-C00442D4B009}"/>
              </a:ext>
            </a:extLst>
          </p:cNvPr>
          <p:cNvGrpSpPr/>
          <p:nvPr/>
        </p:nvGrpSpPr>
        <p:grpSpPr>
          <a:xfrm>
            <a:off x="653143" y="2368500"/>
            <a:ext cx="2601017" cy="2861857"/>
            <a:chOff x="718698" y="2461344"/>
            <a:chExt cx="1904110" cy="2313773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AD0A4A3-5A32-88EA-5312-D2B048974501}"/>
                </a:ext>
              </a:extLst>
            </p:cNvPr>
            <p:cNvSpPr/>
            <p:nvPr/>
          </p:nvSpPr>
          <p:spPr>
            <a:xfrm>
              <a:off x="1107539" y="2461344"/>
              <a:ext cx="1515269" cy="2011866"/>
            </a:xfrm>
            <a:prstGeom prst="rect">
              <a:avLst/>
            </a:prstGeom>
            <a:solidFill>
              <a:srgbClr val="CFE3F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240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6C86244-B731-4455-52B8-C94442F6009A}"/>
                </a:ext>
              </a:extLst>
            </p:cNvPr>
            <p:cNvSpPr/>
            <p:nvPr/>
          </p:nvSpPr>
          <p:spPr>
            <a:xfrm>
              <a:off x="1333077" y="3388664"/>
              <a:ext cx="1109534" cy="236710"/>
            </a:xfrm>
            <a:prstGeom prst="rect">
              <a:avLst/>
            </a:prstGeom>
            <a:solidFill>
              <a:srgbClr val="B6A7D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Layer Norm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5EA58A7-8566-095C-0C22-E0378073CCCC}"/>
                </a:ext>
              </a:extLst>
            </p:cNvPr>
            <p:cNvSpPr/>
            <p:nvPr/>
          </p:nvSpPr>
          <p:spPr>
            <a:xfrm>
              <a:off x="1182086" y="4537517"/>
              <a:ext cx="1411515" cy="237600"/>
            </a:xfrm>
            <a:prstGeom prst="rect">
              <a:avLst/>
            </a:prstGeom>
            <a:solidFill>
              <a:srgbClr val="FACB9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</a:rPr>
                <a:t>Text &amp; Position Embed</a:t>
              </a:r>
              <a:endParaRPr kumimoji="1" lang="zh-TW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1F428D9-0463-3F3F-DBFA-A943D061BA87}"/>
                </a:ext>
              </a:extLst>
            </p:cNvPr>
            <p:cNvSpPr/>
            <p:nvPr/>
          </p:nvSpPr>
          <p:spPr>
            <a:xfrm>
              <a:off x="1333077" y="3764088"/>
              <a:ext cx="1109534" cy="391878"/>
            </a:xfrm>
            <a:prstGeom prst="rect">
              <a:avLst/>
            </a:prstGeom>
            <a:solidFill>
              <a:srgbClr val="D6A6B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Multi-Head</a:t>
              </a:r>
            </a:p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Self Attention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箭頭接點 8">
              <a:extLst>
                <a:ext uri="{FF2B5EF4-FFF2-40B4-BE49-F238E27FC236}">
                  <a16:creationId xmlns:a16="http://schemas.microsoft.com/office/drawing/2014/main" id="{6684F295-0EB9-7456-EF1E-0AEF30225D56}"/>
                </a:ext>
              </a:extLst>
            </p:cNvPr>
            <p:cNvCxnSpPr>
              <a:cxnSpLocks/>
              <a:stCxn id="7" idx="0"/>
              <a:endCxn id="8" idx="2"/>
            </p:cNvCxnSpPr>
            <p:nvPr/>
          </p:nvCxnSpPr>
          <p:spPr>
            <a:xfrm flipV="1">
              <a:off x="1887844" y="4155967"/>
              <a:ext cx="1" cy="381551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肘形接點 9">
              <a:extLst>
                <a:ext uri="{FF2B5EF4-FFF2-40B4-BE49-F238E27FC236}">
                  <a16:creationId xmlns:a16="http://schemas.microsoft.com/office/drawing/2014/main" id="{AE3192FA-85F2-4AAB-2FDA-B84805D49592}"/>
                </a:ext>
              </a:extLst>
            </p:cNvPr>
            <p:cNvCxnSpPr>
              <a:cxnSpLocks/>
              <a:stCxn id="12" idx="1"/>
              <a:endCxn id="6" idx="1"/>
            </p:cNvCxnSpPr>
            <p:nvPr/>
          </p:nvCxnSpPr>
          <p:spPr>
            <a:xfrm rot="10800000">
              <a:off x="1333077" y="3507020"/>
              <a:ext cx="556584" cy="902307"/>
            </a:xfrm>
            <a:prstGeom prst="bentConnector3">
              <a:avLst>
                <a:gd name="adj1" fmla="val 130067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017BEE5-5162-1531-1FE1-76DAFED5CDDA}"/>
                </a:ext>
              </a:extLst>
            </p:cNvPr>
            <p:cNvSpPr/>
            <p:nvPr/>
          </p:nvSpPr>
          <p:spPr>
            <a:xfrm>
              <a:off x="1333077" y="2980643"/>
              <a:ext cx="1109534" cy="244574"/>
            </a:xfrm>
            <a:prstGeom prst="rect">
              <a:avLst/>
            </a:prstGeom>
            <a:solidFill>
              <a:srgbClr val="FEE6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Feed Forward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8BB25751-1213-B5AB-70FD-13FEE0E539B8}"/>
                </a:ext>
              </a:extLst>
            </p:cNvPr>
            <p:cNvSpPr txBox="1"/>
            <p:nvPr/>
          </p:nvSpPr>
          <p:spPr>
            <a:xfrm>
              <a:off x="1889661" y="4222701"/>
              <a:ext cx="296266" cy="373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TW" altLang="en-US" sz="2400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20A3D2F8-C4A0-9DA5-F0B7-9DFD5F676C33}"/>
                </a:ext>
              </a:extLst>
            </p:cNvPr>
            <p:cNvSpPr txBox="1"/>
            <p:nvPr/>
          </p:nvSpPr>
          <p:spPr>
            <a:xfrm>
              <a:off x="2114371" y="3785887"/>
              <a:ext cx="321891" cy="373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TW" altLang="en-US" sz="2400" dirty="0"/>
            </a:p>
          </p:txBody>
        </p:sp>
        <p:cxnSp>
          <p:nvCxnSpPr>
            <p:cNvPr id="14" name="肘形接點 13">
              <a:extLst>
                <a:ext uri="{FF2B5EF4-FFF2-40B4-BE49-F238E27FC236}">
                  <a16:creationId xmlns:a16="http://schemas.microsoft.com/office/drawing/2014/main" id="{20048D4F-C973-85B2-5B26-F8803338ED4D}"/>
                </a:ext>
              </a:extLst>
            </p:cNvPr>
            <p:cNvCxnSpPr>
              <a:cxnSpLocks/>
              <a:stCxn id="15" idx="2"/>
              <a:endCxn id="13" idx="2"/>
            </p:cNvCxnSpPr>
            <p:nvPr/>
          </p:nvCxnSpPr>
          <p:spPr>
            <a:xfrm rot="16200000" flipH="1">
              <a:off x="1881009" y="3765315"/>
              <a:ext cx="10268" cy="787643"/>
            </a:xfrm>
            <a:prstGeom prst="bentConnector3">
              <a:avLst>
                <a:gd name="adj1" fmla="val 1800000"/>
              </a:avLst>
            </a:prstGeom>
            <a:ln w="95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D65BAF05-218A-E7C0-0927-87E98635A453}"/>
                </a:ext>
              </a:extLst>
            </p:cNvPr>
            <p:cNvSpPr txBox="1"/>
            <p:nvPr/>
          </p:nvSpPr>
          <p:spPr>
            <a:xfrm>
              <a:off x="1326728" y="3785887"/>
              <a:ext cx="321891" cy="373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TW" altLang="en-US" sz="2400" dirty="0"/>
            </a:p>
          </p:txBody>
        </p:sp>
        <p:cxnSp>
          <p:nvCxnSpPr>
            <p:cNvPr id="16" name="肘形接點 15">
              <a:extLst>
                <a:ext uri="{FF2B5EF4-FFF2-40B4-BE49-F238E27FC236}">
                  <a16:creationId xmlns:a16="http://schemas.microsoft.com/office/drawing/2014/main" id="{5EB0B7E0-685C-DC9E-3C00-7234C0A563F7}"/>
                </a:ext>
              </a:extLst>
            </p:cNvPr>
            <p:cNvCxnSpPr>
              <a:cxnSpLocks/>
              <a:stCxn id="18" idx="1"/>
              <a:endCxn id="17" idx="1"/>
            </p:cNvCxnSpPr>
            <p:nvPr/>
          </p:nvCxnSpPr>
          <p:spPr>
            <a:xfrm rot="10800000">
              <a:off x="1333077" y="2720994"/>
              <a:ext cx="554633" cy="611986"/>
            </a:xfrm>
            <a:prstGeom prst="bentConnector3">
              <a:avLst>
                <a:gd name="adj1" fmla="val 130173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6BE616CE-866A-F2ED-FC3F-86AF9A24E4EB}"/>
                </a:ext>
              </a:extLst>
            </p:cNvPr>
            <p:cNvSpPr/>
            <p:nvPr/>
          </p:nvSpPr>
          <p:spPr>
            <a:xfrm>
              <a:off x="1333077" y="2602638"/>
              <a:ext cx="1109534" cy="236710"/>
            </a:xfrm>
            <a:prstGeom prst="rect">
              <a:avLst/>
            </a:prstGeom>
            <a:solidFill>
              <a:srgbClr val="B6A7D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Layer Norm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CF5CC247-78A3-5AA2-A1DA-862A56AFD693}"/>
                </a:ext>
              </a:extLst>
            </p:cNvPr>
            <p:cNvSpPr txBox="1"/>
            <p:nvPr/>
          </p:nvSpPr>
          <p:spPr>
            <a:xfrm>
              <a:off x="1887711" y="3146354"/>
              <a:ext cx="296266" cy="373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TW" altLang="en-US" sz="2400" dirty="0"/>
            </a:p>
          </p:txBody>
        </p:sp>
        <p:cxnSp>
          <p:nvCxnSpPr>
            <p:cNvPr id="19" name="直線箭頭接點 18">
              <a:extLst>
                <a:ext uri="{FF2B5EF4-FFF2-40B4-BE49-F238E27FC236}">
                  <a16:creationId xmlns:a16="http://schemas.microsoft.com/office/drawing/2014/main" id="{1CBD8CE8-F866-72B5-E606-7E0AC44145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87844" y="2839348"/>
              <a:ext cx="0" cy="14129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箭頭接點 19">
              <a:extLst>
                <a:ext uri="{FF2B5EF4-FFF2-40B4-BE49-F238E27FC236}">
                  <a16:creationId xmlns:a16="http://schemas.microsoft.com/office/drawing/2014/main" id="{ECD9086F-029F-1FE3-7F6F-C82E3E862D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87844" y="3625374"/>
              <a:ext cx="0" cy="14129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箭頭接點 20">
              <a:extLst>
                <a:ext uri="{FF2B5EF4-FFF2-40B4-BE49-F238E27FC236}">
                  <a16:creationId xmlns:a16="http://schemas.microsoft.com/office/drawing/2014/main" id="{43EF36A2-A698-5B6C-097D-069E64106FCF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H="1" flipV="1">
              <a:off x="1887711" y="3225217"/>
              <a:ext cx="133" cy="16344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9611154D-41A4-C36C-5C8E-DC75C8A941FA}"/>
                </a:ext>
              </a:extLst>
            </p:cNvPr>
            <p:cNvSpPr txBox="1"/>
            <p:nvPr/>
          </p:nvSpPr>
          <p:spPr>
            <a:xfrm>
              <a:off x="718698" y="3299081"/>
              <a:ext cx="460834" cy="2737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600" b="1" dirty="0" err="1"/>
                <a:t>xN</a:t>
              </a:r>
              <a:endParaRPr kumimoji="1" lang="zh-TW" altLang="en-US" sz="1600" b="1" dirty="0"/>
            </a:p>
          </p:txBody>
        </p: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1413C89-F7B6-B8D4-22AB-2797B30038EB}"/>
              </a:ext>
            </a:extLst>
          </p:cNvPr>
          <p:cNvSpPr txBox="1"/>
          <p:nvPr/>
        </p:nvSpPr>
        <p:spPr>
          <a:xfrm>
            <a:off x="1041795" y="1704280"/>
            <a:ext cx="2354869" cy="5062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Transformer layers</a:t>
            </a:r>
            <a:endParaRPr kumimoji="1" lang="zh-TW" altLang="en-US" sz="2000" dirty="0">
              <a:ea typeface="Microsoft JhengHei" panose="020B0604030504040204" pitchFamily="34" charset="-120"/>
            </a:endParaRPr>
          </a:p>
        </p:txBody>
      </p:sp>
      <p:sp>
        <p:nvSpPr>
          <p:cNvPr id="25" name="左大括弧 24">
            <a:extLst>
              <a:ext uri="{FF2B5EF4-FFF2-40B4-BE49-F238E27FC236}">
                <a16:creationId xmlns:a16="http://schemas.microsoft.com/office/drawing/2014/main" id="{FCEE698A-E610-0AA8-4AD1-6790D707E935}"/>
              </a:ext>
            </a:extLst>
          </p:cNvPr>
          <p:cNvSpPr/>
          <p:nvPr/>
        </p:nvSpPr>
        <p:spPr>
          <a:xfrm>
            <a:off x="3168467" y="3800762"/>
            <a:ext cx="352269" cy="87373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66" name="圖片 65">
            <a:extLst>
              <a:ext uri="{FF2B5EF4-FFF2-40B4-BE49-F238E27FC236}">
                <a16:creationId xmlns:a16="http://schemas.microsoft.com/office/drawing/2014/main" id="{6325B208-0C25-E911-0115-545BBBA75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192" y="3171855"/>
            <a:ext cx="7772400" cy="1947629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3E1A68FE-0120-4BE9-3E72-E5EEE1C72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328" y="6230322"/>
            <a:ext cx="2972804" cy="543179"/>
          </a:xfrm>
          <a:prstGeom prst="rect">
            <a:avLst/>
          </a:prstGeom>
        </p:spPr>
      </p:pic>
      <p:cxnSp>
        <p:nvCxnSpPr>
          <p:cNvPr id="70" name="肘形接點 69">
            <a:extLst>
              <a:ext uri="{FF2B5EF4-FFF2-40B4-BE49-F238E27FC236}">
                <a16:creationId xmlns:a16="http://schemas.microsoft.com/office/drawing/2014/main" id="{A99CF00D-D60F-753E-0F7F-1802C815FFEC}"/>
              </a:ext>
            </a:extLst>
          </p:cNvPr>
          <p:cNvCxnSpPr>
            <a:endCxn id="11" idx="3"/>
          </p:cNvCxnSpPr>
          <p:nvPr/>
        </p:nvCxnSpPr>
        <p:spPr>
          <a:xfrm rot="10800000" flipV="1">
            <a:off x="3008011" y="2543264"/>
            <a:ext cx="741890" cy="6188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614D0DB7-F704-218F-4DDD-69A8BB803145}"/>
              </a:ext>
            </a:extLst>
          </p:cNvPr>
          <p:cNvSpPr txBox="1"/>
          <p:nvPr/>
        </p:nvSpPr>
        <p:spPr>
          <a:xfrm>
            <a:off x="3785317" y="2320323"/>
            <a:ext cx="1933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Also weights here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08004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7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2ED3AA9B-BB1F-4441-8211-D406B0E1DD27}"/>
                  </a:ext>
                </a:extLst>
              </p:cNvPr>
              <p:cNvSpPr txBox="1"/>
              <p:nvPr/>
            </p:nvSpPr>
            <p:spPr>
              <a:xfrm>
                <a:off x="9456666" y="4528547"/>
                <a:ext cx="11391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2ED3AA9B-BB1F-4441-8211-D406B0E1D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6666" y="4528547"/>
                <a:ext cx="113919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CCE61A4C-957E-93D3-40B3-84221AB73E57}"/>
                  </a:ext>
                </a:extLst>
              </p:cNvPr>
              <p:cNvSpPr txBox="1"/>
              <p:nvPr/>
            </p:nvSpPr>
            <p:spPr>
              <a:xfrm>
                <a:off x="7946504" y="4531854"/>
                <a:ext cx="11391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CCE61A4C-957E-93D3-40B3-84221AB73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6504" y="4531854"/>
                <a:ext cx="113919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>
            <a:extLst>
              <a:ext uri="{FF2B5EF4-FFF2-40B4-BE49-F238E27FC236}">
                <a16:creationId xmlns:a16="http://schemas.microsoft.com/office/drawing/2014/main" id="{C179F405-B26A-579C-2E70-C8EC6EA97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[Recap] MLP is composed of weight matrices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FB90FB-D736-E789-599A-B495C990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50B4487D-AEFA-4B57-F83B-5DBB0BA3B0B9}"/>
              </a:ext>
            </a:extLst>
          </p:cNvPr>
          <p:cNvSpPr/>
          <p:nvPr/>
        </p:nvSpPr>
        <p:spPr>
          <a:xfrm>
            <a:off x="1787639" y="227780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4F16DACC-1DC3-AA45-F659-3992C571C54D}"/>
              </a:ext>
            </a:extLst>
          </p:cNvPr>
          <p:cNvSpPr/>
          <p:nvPr/>
        </p:nvSpPr>
        <p:spPr>
          <a:xfrm>
            <a:off x="1776209" y="346329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54DEF2BE-6934-4DB5-378B-9A72EF585656}"/>
              </a:ext>
            </a:extLst>
          </p:cNvPr>
          <p:cNvSpPr/>
          <p:nvPr/>
        </p:nvSpPr>
        <p:spPr>
          <a:xfrm>
            <a:off x="1776209" y="46487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BEB2FA51-2F06-30B7-6878-0924D1B83EF2}"/>
              </a:ext>
            </a:extLst>
          </p:cNvPr>
          <p:cNvCxnSpPr>
            <a:cxnSpLocks/>
            <a:stCxn id="6" idx="6"/>
            <a:endCxn id="21" idx="2"/>
          </p:cNvCxnSpPr>
          <p:nvPr/>
        </p:nvCxnSpPr>
        <p:spPr>
          <a:xfrm>
            <a:off x="2359139" y="2563557"/>
            <a:ext cx="1165860" cy="17994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D47ADCFB-8A1A-714C-D77F-A226207C6807}"/>
              </a:ext>
            </a:extLst>
          </p:cNvPr>
          <p:cNvCxnSpPr>
            <a:cxnSpLocks/>
            <a:stCxn id="7" idx="6"/>
            <a:endCxn id="20" idx="2"/>
          </p:cNvCxnSpPr>
          <p:nvPr/>
        </p:nvCxnSpPr>
        <p:spPr>
          <a:xfrm flipV="1">
            <a:off x="2347709" y="3177540"/>
            <a:ext cx="1188720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701E5A6C-7014-1CD7-110C-702E099CE6A1}"/>
              </a:ext>
            </a:extLst>
          </p:cNvPr>
          <p:cNvCxnSpPr>
            <a:cxnSpLocks/>
            <a:stCxn id="8" idx="6"/>
            <a:endCxn id="20" idx="2"/>
          </p:cNvCxnSpPr>
          <p:nvPr/>
        </p:nvCxnSpPr>
        <p:spPr>
          <a:xfrm flipV="1">
            <a:off x="2347709" y="3177540"/>
            <a:ext cx="1188720" cy="1756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11A46B7-A03C-A02D-F3AA-283F32652B80}"/>
              </a:ext>
            </a:extLst>
          </p:cNvPr>
          <p:cNvSpPr txBox="1"/>
          <p:nvPr/>
        </p:nvSpPr>
        <p:spPr>
          <a:xfrm>
            <a:off x="1501889" y="5465370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輸入層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455FDC8-30FD-B495-E4A1-ED18AEAE5DA2}"/>
              </a:ext>
            </a:extLst>
          </p:cNvPr>
          <p:cNvSpPr txBox="1"/>
          <p:nvPr/>
        </p:nvSpPr>
        <p:spPr>
          <a:xfrm>
            <a:off x="3265919" y="5465369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輸出層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6AB4EB91-C44E-5BFC-3CAE-C60D924AD530}"/>
              </a:ext>
            </a:extLst>
          </p:cNvPr>
          <p:cNvSpPr/>
          <p:nvPr/>
        </p:nvSpPr>
        <p:spPr>
          <a:xfrm>
            <a:off x="3536429" y="289179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06F0B262-771F-A45A-DFED-984C486D14E4}"/>
              </a:ext>
            </a:extLst>
          </p:cNvPr>
          <p:cNvSpPr/>
          <p:nvPr/>
        </p:nvSpPr>
        <p:spPr>
          <a:xfrm>
            <a:off x="3524999" y="40772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5E7C48FD-7888-86F5-D967-433AA2C8B4A4}"/>
              </a:ext>
            </a:extLst>
          </p:cNvPr>
          <p:cNvCxnSpPr>
            <a:cxnSpLocks/>
            <a:stCxn id="6" idx="6"/>
            <a:endCxn id="20" idx="2"/>
          </p:cNvCxnSpPr>
          <p:nvPr/>
        </p:nvCxnSpPr>
        <p:spPr>
          <a:xfrm>
            <a:off x="2359139" y="2563557"/>
            <a:ext cx="1177290" cy="613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3B932BF4-AE08-3CDA-231C-8EC30D4BBBE7}"/>
              </a:ext>
            </a:extLst>
          </p:cNvPr>
          <p:cNvCxnSpPr>
            <a:cxnSpLocks/>
            <a:stCxn id="8" idx="6"/>
            <a:endCxn id="21" idx="2"/>
          </p:cNvCxnSpPr>
          <p:nvPr/>
        </p:nvCxnSpPr>
        <p:spPr>
          <a:xfrm flipV="1">
            <a:off x="2347709" y="4363023"/>
            <a:ext cx="1177290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C317FDFD-0548-7E87-68D9-213FD554A52F}"/>
              </a:ext>
            </a:extLst>
          </p:cNvPr>
          <p:cNvCxnSpPr>
            <a:cxnSpLocks/>
            <a:stCxn id="7" idx="6"/>
            <a:endCxn id="21" idx="2"/>
          </p:cNvCxnSpPr>
          <p:nvPr/>
        </p:nvCxnSpPr>
        <p:spPr>
          <a:xfrm>
            <a:off x="2347709" y="3749040"/>
            <a:ext cx="1177290" cy="613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769923AA-39E5-EF99-44CA-8223882ECF78}"/>
                  </a:ext>
                </a:extLst>
              </p:cNvPr>
              <p:cNvSpPr txBox="1"/>
              <p:nvPr/>
            </p:nvSpPr>
            <p:spPr>
              <a:xfrm>
                <a:off x="1329389" y="2347047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769923AA-39E5-EF99-44CA-8223882EC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389" y="2347047"/>
                <a:ext cx="322139" cy="400110"/>
              </a:xfrm>
              <a:prstGeom prst="rect">
                <a:avLst/>
              </a:prstGeom>
              <a:blipFill>
                <a:blip r:embed="rId5"/>
                <a:stretch>
                  <a:fillRect r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571E9768-63FD-7CE7-112D-49B81DC6CD70}"/>
                  </a:ext>
                </a:extLst>
              </p:cNvPr>
              <p:cNvSpPr txBox="1"/>
              <p:nvPr/>
            </p:nvSpPr>
            <p:spPr>
              <a:xfrm>
                <a:off x="1329388" y="3548985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571E9768-63FD-7CE7-112D-49B81DC6C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388" y="3548985"/>
                <a:ext cx="322139" cy="400110"/>
              </a:xfrm>
              <a:prstGeom prst="rect">
                <a:avLst/>
              </a:prstGeom>
              <a:blipFill>
                <a:blip r:embed="rId6"/>
                <a:stretch>
                  <a:fillRect r="-185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FDF142FA-4E8F-F1D4-6C93-52654A58821D}"/>
                  </a:ext>
                </a:extLst>
              </p:cNvPr>
              <p:cNvSpPr txBox="1"/>
              <p:nvPr/>
            </p:nvSpPr>
            <p:spPr>
              <a:xfrm>
                <a:off x="1329388" y="4742657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FDF142FA-4E8F-F1D4-6C93-52654A588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388" y="4742657"/>
                <a:ext cx="322139" cy="400110"/>
              </a:xfrm>
              <a:prstGeom prst="rect">
                <a:avLst/>
              </a:prstGeom>
              <a:blipFill>
                <a:blip r:embed="rId7"/>
                <a:stretch>
                  <a:fillRect r="-185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B00E49E0-D5FF-A5E2-0029-E2D301C01524}"/>
                  </a:ext>
                </a:extLst>
              </p:cNvPr>
              <p:cNvSpPr txBox="1"/>
              <p:nvPr/>
            </p:nvSpPr>
            <p:spPr>
              <a:xfrm>
                <a:off x="2126726" y="2812675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B00E49E0-D5FF-A5E2-0029-E2D301C01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726" y="2812675"/>
                <a:ext cx="526489" cy="413511"/>
              </a:xfrm>
              <a:prstGeom prst="rect">
                <a:avLst/>
              </a:prstGeom>
              <a:blipFill>
                <a:blip r:embed="rId8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6956E660-73AA-FE3F-517D-7315F79DD99C}"/>
                  </a:ext>
                </a:extLst>
              </p:cNvPr>
              <p:cNvSpPr txBox="1"/>
              <p:nvPr/>
            </p:nvSpPr>
            <p:spPr>
              <a:xfrm>
                <a:off x="2760275" y="2551306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6956E660-73AA-FE3F-517D-7315F79DD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275" y="2551306"/>
                <a:ext cx="779339" cy="4135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F9D0C9D0-62C3-7FEF-30BB-48834CB588C6}"/>
                  </a:ext>
                </a:extLst>
              </p:cNvPr>
              <p:cNvSpPr txBox="1"/>
              <p:nvPr/>
            </p:nvSpPr>
            <p:spPr>
              <a:xfrm>
                <a:off x="2173989" y="3214172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F9D0C9D0-62C3-7FEF-30BB-48834CB58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3989" y="3214172"/>
                <a:ext cx="526489" cy="413511"/>
              </a:xfrm>
              <a:prstGeom prst="rect">
                <a:avLst/>
              </a:prstGeom>
              <a:blipFill>
                <a:blip r:embed="rId10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A33F6E67-1AB5-4246-5874-2A7586685D8E}"/>
                  </a:ext>
                </a:extLst>
              </p:cNvPr>
              <p:cNvSpPr txBox="1"/>
              <p:nvPr/>
            </p:nvSpPr>
            <p:spPr>
              <a:xfrm>
                <a:off x="2155139" y="3807707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A33F6E67-1AB5-4246-5874-2A7586685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39" y="3807707"/>
                <a:ext cx="711521" cy="41351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3D0DC9B5-175E-4DF7-76D8-23DA80C25A5A}"/>
                  </a:ext>
                </a:extLst>
              </p:cNvPr>
              <p:cNvSpPr txBox="1"/>
              <p:nvPr/>
            </p:nvSpPr>
            <p:spPr>
              <a:xfrm>
                <a:off x="1998327" y="4252319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3D0DC9B5-175E-4DF7-76D8-23DA80C25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327" y="4252319"/>
                <a:ext cx="711521" cy="41351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9E104F89-8236-F97E-84FE-F5476D4E2D1B}"/>
                  </a:ext>
                </a:extLst>
              </p:cNvPr>
              <p:cNvSpPr txBox="1"/>
              <p:nvPr/>
            </p:nvSpPr>
            <p:spPr>
              <a:xfrm>
                <a:off x="2790003" y="4549388"/>
                <a:ext cx="711521" cy="427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9E104F89-8236-F97E-84FE-F5476D4E2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003" y="4549388"/>
                <a:ext cx="711521" cy="42761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E4E5BFB1-B3AD-D4CF-DABF-C400B0C43BF9}"/>
                  </a:ext>
                </a:extLst>
              </p:cNvPr>
              <p:cNvSpPr txBox="1"/>
              <p:nvPr/>
            </p:nvSpPr>
            <p:spPr>
              <a:xfrm>
                <a:off x="4861693" y="3481559"/>
                <a:ext cx="24686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E4E5BFB1-B3AD-D4CF-DABF-C400B0C43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693" y="3481559"/>
                <a:ext cx="2468613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97C0F1F5-48BE-41E5-82B6-B30528B047E2}"/>
                  </a:ext>
                </a:extLst>
              </p:cNvPr>
              <p:cNvSpPr txBox="1"/>
              <p:nvPr/>
            </p:nvSpPr>
            <p:spPr>
              <a:xfrm>
                <a:off x="5719977" y="4549388"/>
                <a:ext cx="11391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1×3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97C0F1F5-48BE-41E5-82B6-B30528B04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9977" y="4549388"/>
                <a:ext cx="1139190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B56D1A8B-444D-4B9F-E55B-9B1D4B9070F0}"/>
                  </a:ext>
                </a:extLst>
              </p:cNvPr>
              <p:cNvSpPr txBox="1"/>
              <p:nvPr/>
            </p:nvSpPr>
            <p:spPr>
              <a:xfrm>
                <a:off x="7157168" y="3164484"/>
                <a:ext cx="2135516" cy="10958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3,2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B56D1A8B-444D-4B9F-E55B-9B1D4B907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7168" y="3164484"/>
                <a:ext cx="2135516" cy="109581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F457B173-0044-6096-30E2-E1DBD75D8C78}"/>
                  </a:ext>
                </a:extLst>
              </p:cNvPr>
              <p:cNvSpPr txBox="1"/>
              <p:nvPr/>
            </p:nvSpPr>
            <p:spPr>
              <a:xfrm>
                <a:off x="9456666" y="3518207"/>
                <a:ext cx="10553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bias</m:t>
                      </m:r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F457B173-0044-6096-30E2-E1DBD75D8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6666" y="3518207"/>
                <a:ext cx="1055373" cy="461665"/>
              </a:xfrm>
              <a:prstGeom prst="rect">
                <a:avLst/>
              </a:prstGeom>
              <a:blipFill>
                <a:blip r:embed="rId17"/>
                <a:stretch>
                  <a:fillRect b="-21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矩形 57">
            <a:extLst>
              <a:ext uri="{FF2B5EF4-FFF2-40B4-BE49-F238E27FC236}">
                <a16:creationId xmlns:a16="http://schemas.microsoft.com/office/drawing/2014/main" id="{3EE690F1-78CA-5C5B-7EDA-E3A673E8A6EC}"/>
              </a:ext>
            </a:extLst>
          </p:cNvPr>
          <p:cNvSpPr/>
          <p:nvPr/>
        </p:nvSpPr>
        <p:spPr>
          <a:xfrm>
            <a:off x="7553094" y="3038052"/>
            <a:ext cx="1724723" cy="13486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31191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2" grpId="0"/>
      <p:bldP spid="49" grpId="0"/>
      <p:bldP spid="51" grpId="0"/>
      <p:bldP spid="54" grpId="0"/>
      <p:bldP spid="56" grpId="0"/>
      <p:bldP spid="5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224350-003D-A914-4C77-06188EB97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[Prerequisite]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矩陣分解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77EC4E-0DB4-D8C8-62EE-F670F9540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42AD32-12B1-B3F0-221E-E6A189DB6954}"/>
              </a:ext>
            </a:extLst>
          </p:cNvPr>
          <p:cNvSpPr/>
          <p:nvPr/>
        </p:nvSpPr>
        <p:spPr>
          <a:xfrm>
            <a:off x="2397934" y="2095822"/>
            <a:ext cx="2394291" cy="2390974"/>
          </a:xfrm>
          <a:prstGeom prst="rect">
            <a:avLst/>
          </a:prstGeom>
          <a:solidFill>
            <a:srgbClr val="5A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大矩陣</a:t>
            </a: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</a:t>
            </a:r>
            <a:r>
              <a:rPr lang="en-US" altLang="zh-TW" sz="2400" b="1" baseline="-25000" dirty="0">
                <a:latin typeface="Times New Roman"/>
                <a:ea typeface="新細明體"/>
                <a:cs typeface="Calibri"/>
              </a:rPr>
              <a:t>big</a:t>
            </a:r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2400" b="1" baseline="30000" dirty="0" err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d×d</a:t>
            </a:r>
            <a:endParaRPr lang="en-US" altLang="zh-TW" sz="2400" b="1" baseline="30000" dirty="0">
              <a:solidFill>
                <a:schemeClr val="bg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86F0C8D-92AA-C3E2-BF1A-71DCF8EE4368}"/>
              </a:ext>
            </a:extLst>
          </p:cNvPr>
          <p:cNvSpPr txBox="1"/>
          <p:nvPr/>
        </p:nvSpPr>
        <p:spPr>
          <a:xfrm>
            <a:off x="2940711" y="4618470"/>
            <a:ext cx="1309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1000</a:t>
            </a:r>
            <a:endParaRPr kumimoji="1"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57A8E4BE-C245-05DC-C39E-337557BA07D4}"/>
              </a:ext>
            </a:extLst>
          </p:cNvPr>
          <p:cNvSpPr/>
          <p:nvPr/>
        </p:nvSpPr>
        <p:spPr>
          <a:xfrm>
            <a:off x="5625389" y="3185470"/>
            <a:ext cx="892455" cy="438912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22A3971-10B6-7F71-34F2-2313F7C6999E}"/>
              </a:ext>
            </a:extLst>
          </p:cNvPr>
          <p:cNvSpPr txBox="1"/>
          <p:nvPr/>
        </p:nvSpPr>
        <p:spPr>
          <a:xfrm>
            <a:off x="7554565" y="4618469"/>
            <a:ext cx="1091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10</a:t>
            </a:r>
            <a:endParaRPr kumimoji="1"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梯形 3">
            <a:extLst>
              <a:ext uri="{FF2B5EF4-FFF2-40B4-BE49-F238E27FC236}">
                <a16:creationId xmlns:a16="http://schemas.microsoft.com/office/drawing/2014/main" id="{46EE4CB1-12F6-36DC-81D8-7CF15C085C39}"/>
              </a:ext>
            </a:extLst>
          </p:cNvPr>
          <p:cNvSpPr/>
          <p:nvPr/>
        </p:nvSpPr>
        <p:spPr>
          <a:xfrm rot="10800000">
            <a:off x="7146183" y="2314925"/>
            <a:ext cx="1908699" cy="813786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新細明體"/>
              <a:cs typeface="Calibri"/>
            </a:endParaRPr>
          </a:p>
        </p:txBody>
      </p:sp>
      <p:sp>
        <p:nvSpPr>
          <p:cNvPr id="11" name="梯形 5">
            <a:extLst>
              <a:ext uri="{FF2B5EF4-FFF2-40B4-BE49-F238E27FC236}">
                <a16:creationId xmlns:a16="http://schemas.microsoft.com/office/drawing/2014/main" id="{0A53A9C6-4BE6-3D4D-1E4F-B8110FE23179}"/>
              </a:ext>
            </a:extLst>
          </p:cNvPr>
          <p:cNvSpPr/>
          <p:nvPr/>
        </p:nvSpPr>
        <p:spPr>
          <a:xfrm>
            <a:off x="7146182" y="3624382"/>
            <a:ext cx="1908699" cy="813786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小矩陣</a:t>
            </a: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Times New Roman"/>
                <a:ea typeface="新細明體"/>
                <a:cs typeface="Calibri"/>
              </a:rPr>
              <a:t>W</a:t>
            </a:r>
            <a:r>
              <a:rPr lang="en-US" altLang="zh-TW" b="1" baseline="-25000" dirty="0">
                <a:solidFill>
                  <a:schemeClr val="tx1"/>
                </a:solidFill>
                <a:latin typeface="Times New Roman"/>
                <a:ea typeface="新細明體"/>
                <a:cs typeface="Calibri"/>
              </a:rPr>
              <a:t>a</a:t>
            </a:r>
            <a:r>
              <a:rPr lang="zh-TW" altLang="en-US" b="1" dirty="0">
                <a:solidFill>
                  <a:schemeClr val="tx1"/>
                </a:solidFill>
                <a:latin typeface="Times New Roman"/>
                <a:ea typeface="新細明體"/>
                <a:cs typeface="Calibri"/>
              </a:rPr>
              <a:t> </a:t>
            </a:r>
            <a:r>
              <a:rPr lang="zh-TW" altLang="zh-TW" b="1" dirty="0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b="1" dirty="0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altLang="zh-TW" b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b="1" baseline="30000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d×r</a:t>
            </a:r>
            <a:endParaRPr lang="en-US" altLang="zh-TW" b="1" baseline="30000" dirty="0">
              <a:solidFill>
                <a:schemeClr val="tx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4EC01D1-213D-9450-D5C7-6553E0A1F5C9}"/>
              </a:ext>
            </a:extLst>
          </p:cNvPr>
          <p:cNvSpPr txBox="1"/>
          <p:nvPr/>
        </p:nvSpPr>
        <p:spPr>
          <a:xfrm>
            <a:off x="7386385" y="2407050"/>
            <a:ext cx="14282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8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小矩陣</a:t>
            </a:r>
          </a:p>
          <a:p>
            <a:pPr algn="ctr"/>
            <a:r>
              <a:rPr lang="zh-TW" altLang="en-US" sz="1800" b="1" dirty="0">
                <a:solidFill>
                  <a:schemeClr val="tx1"/>
                </a:solidFill>
                <a:latin typeface="Times New Roman"/>
                <a:ea typeface="新細明體"/>
                <a:cs typeface="Calibri"/>
              </a:rPr>
              <a:t>W</a:t>
            </a:r>
            <a:r>
              <a:rPr lang="en-US" altLang="zh-TW" sz="1800" b="1" baseline="-25000" dirty="0">
                <a:solidFill>
                  <a:schemeClr val="tx1"/>
                </a:solidFill>
                <a:latin typeface="Times New Roman"/>
                <a:ea typeface="新細明體"/>
                <a:cs typeface="Calibri"/>
              </a:rPr>
              <a:t>b</a:t>
            </a:r>
            <a:r>
              <a:rPr lang="zh-TW" altLang="en-US" sz="1800" b="1" dirty="0">
                <a:solidFill>
                  <a:schemeClr val="tx1"/>
                </a:solidFill>
                <a:latin typeface="Times New Roman"/>
                <a:ea typeface="新細明體"/>
                <a:cs typeface="Calibri"/>
              </a:rPr>
              <a:t> </a:t>
            </a:r>
            <a:r>
              <a:rPr lang="zh-TW" altLang="zh-TW" sz="1800" b="1" dirty="0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sz="1800" b="1" dirty="0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altLang="zh-TW" sz="1800" b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1800" b="1" baseline="30000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r×</a:t>
            </a:r>
            <a:r>
              <a:rPr lang="en-US" altLang="zh-TW" b="1" baseline="30000" dirty="0" err="1">
                <a:latin typeface="Times New Roman"/>
                <a:ea typeface="+mn-lt"/>
                <a:cs typeface="+mn-lt"/>
              </a:rPr>
              <a:t>d</a:t>
            </a:r>
            <a:endParaRPr lang="en-US" altLang="zh-TW" sz="1800" b="1" baseline="30000" dirty="0">
              <a:solidFill>
                <a:schemeClr val="tx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D2FC477-4659-5AEE-8E59-59488275EC86}"/>
              </a:ext>
            </a:extLst>
          </p:cNvPr>
          <p:cNvSpPr txBox="1"/>
          <p:nvPr/>
        </p:nvSpPr>
        <p:spPr>
          <a:xfrm>
            <a:off x="653143" y="5419692"/>
            <a:ext cx="1428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參數量</a:t>
            </a:r>
            <a:endParaRPr lang="en-US" altLang="zh-TW" sz="1800" b="1" baseline="30000" dirty="0">
              <a:solidFill>
                <a:schemeClr val="tx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051CCCB-8E2D-3BE8-740D-E49C7258D6D9}"/>
              </a:ext>
            </a:extLst>
          </p:cNvPr>
          <p:cNvSpPr txBox="1"/>
          <p:nvPr/>
        </p:nvSpPr>
        <p:spPr>
          <a:xfrm>
            <a:off x="2347837" y="5419692"/>
            <a:ext cx="2494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1000*1000 = 1</a:t>
            </a: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百萬</a:t>
            </a:r>
            <a:endParaRPr lang="en-US" altLang="zh-TW" sz="1800" b="1" baseline="30000" dirty="0">
              <a:solidFill>
                <a:schemeClr val="tx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2437C48-F357-1AE4-FA6F-D92F911A0505}"/>
              </a:ext>
            </a:extLst>
          </p:cNvPr>
          <p:cNvSpPr txBox="1"/>
          <p:nvPr/>
        </p:nvSpPr>
        <p:spPr>
          <a:xfrm>
            <a:off x="6853289" y="5419692"/>
            <a:ext cx="2494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1000*10 + 10*1000 = 20000</a:t>
            </a:r>
            <a:endParaRPr lang="en-US" altLang="zh-TW" sz="1800" b="1" baseline="30000" dirty="0">
              <a:solidFill>
                <a:schemeClr val="tx1"/>
              </a:solidFill>
              <a:latin typeface="Times New Roman"/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8230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0" grpId="0" animBg="1"/>
      <p:bldP spid="11" grpId="0" animBg="1"/>
      <p:bldP spid="13" grpId="0"/>
      <p:bldP spid="16" grpId="0"/>
      <p:bldP spid="17" grpId="0"/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E9A13-34B5-3EA1-9A2A-02C57C0C6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F8EE4F-7F24-9B98-6D4E-50EDD8D72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4400" dirty="0" err="1">
                <a:ea typeface="+mj-lt"/>
                <a:cs typeface="Times New Roman"/>
              </a:rPr>
              <a:t>LoRA</a:t>
            </a:r>
            <a:r>
              <a:rPr lang="en-US" altLang="zh-TW" sz="4400" dirty="0">
                <a:ea typeface="+mj-lt"/>
                <a:cs typeface="Times New Roman"/>
              </a:rPr>
              <a:t>: </a:t>
            </a:r>
            <a:r>
              <a:rPr lang="en-US" altLang="zh-TW" sz="4400" b="1" dirty="0">
                <a:solidFill>
                  <a:srgbClr val="FF0000"/>
                </a:solidFill>
                <a:ea typeface="+mj-lt"/>
                <a:cs typeface="Times New Roman"/>
              </a:rPr>
              <a:t>Lo</a:t>
            </a:r>
            <a:r>
              <a:rPr lang="en-US" altLang="zh-TW" sz="4400" dirty="0">
                <a:ea typeface="+mj-lt"/>
                <a:cs typeface="Times New Roman"/>
              </a:rPr>
              <a:t>w-</a:t>
            </a:r>
            <a:r>
              <a:rPr lang="en-US" altLang="zh-TW" sz="4400" b="1" dirty="0">
                <a:solidFill>
                  <a:srgbClr val="FF0000"/>
                </a:solidFill>
                <a:ea typeface="+mj-lt"/>
                <a:cs typeface="Times New Roman"/>
              </a:rPr>
              <a:t>R</a:t>
            </a:r>
            <a:r>
              <a:rPr lang="en-US" altLang="zh-TW" sz="4400" dirty="0">
                <a:ea typeface="+mj-lt"/>
                <a:cs typeface="Times New Roman"/>
              </a:rPr>
              <a:t>ank </a:t>
            </a:r>
            <a:r>
              <a:rPr lang="en-US" altLang="zh-TW" sz="4400" b="1" dirty="0">
                <a:solidFill>
                  <a:srgbClr val="FF0000"/>
                </a:solidFill>
                <a:ea typeface="+mj-lt"/>
                <a:cs typeface="Times New Roman"/>
              </a:rPr>
              <a:t>A</a:t>
            </a:r>
            <a:r>
              <a:rPr lang="en-US" altLang="zh-TW" sz="4400" dirty="0">
                <a:ea typeface="+mj-lt"/>
                <a:cs typeface="Times New Roman"/>
              </a:rPr>
              <a:t>daptation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BC23A01-3E2E-1B70-B021-4E6D2B09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>
                <a:latin typeface="Times New Roman"/>
                <a:cs typeface="Times New Roman"/>
              </a:rPr>
              <a:t>19</a:t>
            </a:fld>
            <a:endParaRPr lang="zh-TW" altLang="en-US">
              <a:latin typeface="Times New Roman"/>
              <a:cs typeface="Times New Roman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709D75-AEA7-8B99-11E7-B03EE37F255B}"/>
              </a:ext>
            </a:extLst>
          </p:cNvPr>
          <p:cNvSpPr/>
          <p:nvPr/>
        </p:nvSpPr>
        <p:spPr>
          <a:xfrm>
            <a:off x="6096000" y="3022108"/>
            <a:ext cx="2056660" cy="2123242"/>
          </a:xfrm>
          <a:prstGeom prst="rect">
            <a:avLst/>
          </a:prstGeom>
          <a:solidFill>
            <a:srgbClr val="5A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Pretrained</a:t>
            </a: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Weights</a:t>
            </a:r>
          </a:p>
          <a:p>
            <a:pPr algn="ctr"/>
            <a:endParaRPr lang="zh-TW" altLang="en-US" sz="2400" b="1" dirty="0">
              <a:latin typeface="Times New Roman"/>
              <a:ea typeface="新細明體"/>
              <a:cs typeface="Calibri"/>
            </a:endParaRP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2400" b="1" baseline="30000" dirty="0" err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dxd</a:t>
            </a:r>
            <a:endParaRPr lang="en-US" altLang="zh-TW" sz="2400" b="1" baseline="30000" dirty="0">
              <a:solidFill>
                <a:schemeClr val="bg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4" name="梯形 3">
            <a:extLst>
              <a:ext uri="{FF2B5EF4-FFF2-40B4-BE49-F238E27FC236}">
                <a16:creationId xmlns:a16="http://schemas.microsoft.com/office/drawing/2014/main" id="{1FA20901-FDF9-CC23-E9C2-A4EEE3F87382}"/>
              </a:ext>
            </a:extLst>
          </p:cNvPr>
          <p:cNvSpPr/>
          <p:nvPr/>
        </p:nvSpPr>
        <p:spPr>
          <a:xfrm rot="10800000">
            <a:off x="8548455" y="3022107"/>
            <a:ext cx="1908699" cy="813786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新細明體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梯形 5">
                <a:extLst>
                  <a:ext uri="{FF2B5EF4-FFF2-40B4-BE49-F238E27FC236}">
                    <a16:creationId xmlns:a16="http://schemas.microsoft.com/office/drawing/2014/main" id="{5F82C3E9-C3A2-FE36-025A-F774F9329F40}"/>
                  </a:ext>
                </a:extLst>
              </p:cNvPr>
              <p:cNvSpPr/>
              <p:nvPr/>
            </p:nvSpPr>
            <p:spPr>
              <a:xfrm>
                <a:off x="8548454" y="4331564"/>
                <a:ext cx="1908699" cy="813786"/>
              </a:xfrm>
              <a:prstGeom prst="trapezoid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A =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</a:rPr>
                      <m:t>𝒩</m:t>
                    </m:r>
                  </m:oMath>
                </a14:m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(0,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/>
                    <a:ea typeface="+mn-lt"/>
                    <a:cs typeface="+mn-lt"/>
                  </a:rPr>
                  <a:t>σ</a:t>
                </a:r>
                <a:r>
                  <a:rPr lang="en-US" sz="2400" baseline="30000" dirty="0">
                    <a:solidFill>
                      <a:schemeClr val="bg1"/>
                    </a:solidFill>
                    <a:latin typeface="Times New Roman"/>
                    <a:ea typeface="+mn-lt"/>
                    <a:cs typeface="+mn-lt"/>
                  </a:rPr>
                  <a:t>2</a:t>
                </a:r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)</a:t>
                </a:r>
                <a:endParaRPr lang="zh-TW" sz="2400" dirty="0">
                  <a:solidFill>
                    <a:schemeClr val="bg1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6" name="梯形 5">
                <a:extLst>
                  <a:ext uri="{FF2B5EF4-FFF2-40B4-BE49-F238E27FC236}">
                    <a16:creationId xmlns:a16="http://schemas.microsoft.com/office/drawing/2014/main" id="{5F82C3E9-C3A2-FE36-025A-F774F9329F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454" y="4331564"/>
                <a:ext cx="1908699" cy="813786"/>
              </a:xfrm>
              <a:prstGeom prst="trapezoid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AF647EE7-61CC-E17B-9276-B1017D95704A}"/>
              </a:ext>
            </a:extLst>
          </p:cNvPr>
          <p:cNvSpPr/>
          <p:nvPr/>
        </p:nvSpPr>
        <p:spPr>
          <a:xfrm>
            <a:off x="7183514" y="5807477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1ACEA3-B17D-D03F-D38F-465F8F0C7A02}"/>
              </a:ext>
            </a:extLst>
          </p:cNvPr>
          <p:cNvSpPr/>
          <p:nvPr/>
        </p:nvSpPr>
        <p:spPr>
          <a:xfrm>
            <a:off x="7190912" y="2152836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CA84FC7-307B-83C1-727B-073BB9C70E67}"/>
              </a:ext>
            </a:extLst>
          </p:cNvPr>
          <p:cNvSpPr txBox="1"/>
          <p:nvPr/>
        </p:nvSpPr>
        <p:spPr>
          <a:xfrm>
            <a:off x="8851776" y="3195962"/>
            <a:ext cx="130057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FFFF"/>
                </a:solidFill>
                <a:latin typeface="Times New Roman"/>
                <a:ea typeface="新細明體"/>
                <a:cs typeface="Times New Roman"/>
              </a:rPr>
              <a:t>B = 0</a:t>
            </a:r>
            <a:endParaRPr lang="zh-TW" sz="2400" dirty="0">
              <a:latin typeface="Times New Roman"/>
              <a:cs typeface="Times New Roman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A77DFEC-4F05-AAA0-709D-878BF2168C86}"/>
              </a:ext>
            </a:extLst>
          </p:cNvPr>
          <p:cNvSpPr txBox="1"/>
          <p:nvPr/>
        </p:nvSpPr>
        <p:spPr>
          <a:xfrm>
            <a:off x="6740371" y="5745334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i="1" dirty="0">
                <a:latin typeface="Times New Roman"/>
                <a:ea typeface="新細明體"/>
                <a:cs typeface="Times New Roman"/>
              </a:rPr>
              <a:t>x</a:t>
            </a:r>
            <a:endParaRPr lang="zh-TW" i="1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E40C2C0-90D6-E7F7-190E-38C73225F2E0}"/>
              </a:ext>
            </a:extLst>
          </p:cNvPr>
          <p:cNvSpPr txBox="1"/>
          <p:nvPr/>
        </p:nvSpPr>
        <p:spPr>
          <a:xfrm>
            <a:off x="8153398" y="6040297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d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A684136-688D-FA57-B605-497B048A1DD9}"/>
              </a:ext>
            </a:extLst>
          </p:cNvPr>
          <p:cNvSpPr txBox="1"/>
          <p:nvPr/>
        </p:nvSpPr>
        <p:spPr>
          <a:xfrm>
            <a:off x="6740371" y="2090693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h</a:t>
            </a:r>
            <a:endParaRPr lang="zh-TW" dirty="0"/>
          </a:p>
        </p:txBody>
      </p:sp>
      <p:sp>
        <p:nvSpPr>
          <p:cNvPr id="20" name="箭號: 向右 19">
            <a:extLst>
              <a:ext uri="{FF2B5EF4-FFF2-40B4-BE49-F238E27FC236}">
                <a16:creationId xmlns:a16="http://schemas.microsoft.com/office/drawing/2014/main" id="{10F91241-30AA-318E-0525-26247FCD56CA}"/>
              </a:ext>
            </a:extLst>
          </p:cNvPr>
          <p:cNvSpPr/>
          <p:nvPr/>
        </p:nvSpPr>
        <p:spPr>
          <a:xfrm rot="14640000">
            <a:off x="7290897" y="5303538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B98272A3-3BCE-D9DD-B31A-8A5F3E254BA2}"/>
              </a:ext>
            </a:extLst>
          </p:cNvPr>
          <p:cNvSpPr/>
          <p:nvPr/>
        </p:nvSpPr>
        <p:spPr>
          <a:xfrm rot="-4140000">
            <a:off x="8962857" y="5303538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箭號: 向右 21">
            <a:extLst>
              <a:ext uri="{FF2B5EF4-FFF2-40B4-BE49-F238E27FC236}">
                <a16:creationId xmlns:a16="http://schemas.microsoft.com/office/drawing/2014/main" id="{8D442355-C060-4FAC-1C8E-DCB98C1DA921}"/>
              </a:ext>
            </a:extLst>
          </p:cNvPr>
          <p:cNvSpPr/>
          <p:nvPr/>
        </p:nvSpPr>
        <p:spPr>
          <a:xfrm rot="19260000">
            <a:off x="7091148" y="2581052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D878430A-C355-CF15-9535-6E936FE02858}"/>
              </a:ext>
            </a:extLst>
          </p:cNvPr>
          <p:cNvSpPr/>
          <p:nvPr/>
        </p:nvSpPr>
        <p:spPr>
          <a:xfrm rot="13440000">
            <a:off x="9214391" y="2588450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E987CD1-FFC8-FFCA-15BD-86C65E1F43B5}"/>
              </a:ext>
            </a:extLst>
          </p:cNvPr>
          <p:cNvSpPr txBox="1"/>
          <p:nvPr/>
        </p:nvSpPr>
        <p:spPr>
          <a:xfrm>
            <a:off x="9270507" y="3932809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r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C021C64-4F49-FF67-B1E5-27949BDD6BE2}"/>
              </a:ext>
            </a:extLst>
          </p:cNvPr>
          <p:cNvSpPr txBox="1"/>
          <p:nvPr/>
        </p:nvSpPr>
        <p:spPr>
          <a:xfrm>
            <a:off x="9693111" y="2490569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α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A5440F6-05AA-3F62-DA35-7918809B64A9}"/>
              </a:ext>
            </a:extLst>
          </p:cNvPr>
          <p:cNvSpPr txBox="1"/>
          <p:nvPr/>
        </p:nvSpPr>
        <p:spPr>
          <a:xfrm>
            <a:off x="1" y="6488360"/>
            <a:ext cx="1219199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>
                <a:solidFill>
                  <a:srgbClr val="222222"/>
                </a:solidFill>
                <a:ea typeface="新細明體"/>
                <a:cs typeface="Arial"/>
              </a:rPr>
              <a:t>Hu, Edward J., et al. "LoRA: Low-Rank Adaptation of Large Language Models." </a:t>
            </a:r>
            <a:r>
              <a:rPr lang="en-US" sz="1000" i="1" dirty="0">
                <a:solidFill>
                  <a:srgbClr val="222222"/>
                </a:solidFill>
                <a:ea typeface="新細明體"/>
                <a:cs typeface="Arial"/>
              </a:rPr>
              <a:t>International Conference on Learning Representations</a:t>
            </a:r>
            <a:r>
              <a:rPr lang="en-US" sz="1000" dirty="0">
                <a:solidFill>
                  <a:srgbClr val="222222"/>
                </a:solidFill>
                <a:ea typeface="新細明體"/>
                <a:cs typeface="Arial"/>
              </a:rPr>
              <a:t>. 2021.</a:t>
            </a:r>
            <a:endParaRPr lang="zh-TW" sz="1000" dirty="0">
              <a:ea typeface="新細明體"/>
              <a:cs typeface="Times New Roman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7BAA35-2B30-7FDA-AA98-373B2C397DA0}"/>
              </a:ext>
            </a:extLst>
          </p:cNvPr>
          <p:cNvSpPr/>
          <p:nvPr/>
        </p:nvSpPr>
        <p:spPr>
          <a:xfrm>
            <a:off x="1890881" y="2992103"/>
            <a:ext cx="2056660" cy="2123242"/>
          </a:xfrm>
          <a:prstGeom prst="rect">
            <a:avLst/>
          </a:prstGeom>
          <a:solidFill>
            <a:srgbClr val="5A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Pretrained</a:t>
            </a: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Weights</a:t>
            </a:r>
          </a:p>
          <a:p>
            <a:pPr algn="ctr"/>
            <a:endParaRPr lang="zh-TW" altLang="en-US" sz="2400" b="1" dirty="0">
              <a:latin typeface="Times New Roman"/>
              <a:ea typeface="新細明體"/>
              <a:cs typeface="Calibri"/>
            </a:endParaRP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2400" b="1" baseline="30000" dirty="0" err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dxd</a:t>
            </a:r>
            <a:endParaRPr lang="en-US" altLang="zh-TW" sz="2400" b="1" baseline="30000" dirty="0">
              <a:solidFill>
                <a:schemeClr val="bg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3739B7D-7AEC-952A-F846-A35391CD8D44}"/>
              </a:ext>
            </a:extLst>
          </p:cNvPr>
          <p:cNvSpPr/>
          <p:nvPr/>
        </p:nvSpPr>
        <p:spPr>
          <a:xfrm>
            <a:off x="1731823" y="5807476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7DF3063-9D70-7822-23D5-1EEAD92CF374}"/>
              </a:ext>
            </a:extLst>
          </p:cNvPr>
          <p:cNvSpPr/>
          <p:nvPr/>
        </p:nvSpPr>
        <p:spPr>
          <a:xfrm>
            <a:off x="1739221" y="2152835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D6CD0F6C-4CF1-3AEE-DF07-6C85F720BDDD}"/>
              </a:ext>
            </a:extLst>
          </p:cNvPr>
          <p:cNvSpPr txBox="1"/>
          <p:nvPr/>
        </p:nvSpPr>
        <p:spPr>
          <a:xfrm>
            <a:off x="1288680" y="5745333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i="1" dirty="0">
                <a:latin typeface="Times New Roman"/>
                <a:ea typeface="新細明體"/>
                <a:cs typeface="Times New Roman"/>
              </a:rPr>
              <a:t>x</a:t>
            </a:r>
            <a:endParaRPr lang="zh-TW" i="1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CA8707B6-E1D4-E55C-B1AC-F00CB5A47BC2}"/>
              </a:ext>
            </a:extLst>
          </p:cNvPr>
          <p:cNvSpPr txBox="1"/>
          <p:nvPr/>
        </p:nvSpPr>
        <p:spPr>
          <a:xfrm>
            <a:off x="2701707" y="6042180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d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9E0E0B09-85FE-EF48-18BC-57A4D6DE22AC}"/>
              </a:ext>
            </a:extLst>
          </p:cNvPr>
          <p:cNvSpPr txBox="1"/>
          <p:nvPr/>
        </p:nvSpPr>
        <p:spPr>
          <a:xfrm>
            <a:off x="1288680" y="2090692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h</a:t>
            </a:r>
            <a:endParaRPr lang="zh-TW" dirty="0"/>
          </a:p>
        </p:txBody>
      </p:sp>
      <p:sp>
        <p:nvSpPr>
          <p:cNvPr id="33" name="箭號: 向右 19">
            <a:extLst>
              <a:ext uri="{FF2B5EF4-FFF2-40B4-BE49-F238E27FC236}">
                <a16:creationId xmlns:a16="http://schemas.microsoft.com/office/drawing/2014/main" id="{39AB999F-9298-1D06-BC53-A32E25952C87}"/>
              </a:ext>
            </a:extLst>
          </p:cNvPr>
          <p:cNvSpPr/>
          <p:nvPr/>
        </p:nvSpPr>
        <p:spPr>
          <a:xfrm rot="16200000">
            <a:off x="2626988" y="5321674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箭號: 向右 21">
            <a:extLst>
              <a:ext uri="{FF2B5EF4-FFF2-40B4-BE49-F238E27FC236}">
                <a16:creationId xmlns:a16="http://schemas.microsoft.com/office/drawing/2014/main" id="{92C3C1BB-8DAB-EC6C-6A1D-9166704671DB}"/>
              </a:ext>
            </a:extLst>
          </p:cNvPr>
          <p:cNvSpPr/>
          <p:nvPr/>
        </p:nvSpPr>
        <p:spPr>
          <a:xfrm rot="16200000">
            <a:off x="2695964" y="2565867"/>
            <a:ext cx="461288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6547D03-CC13-8B5F-A46D-1617FB1BDC0A}"/>
              </a:ext>
            </a:extLst>
          </p:cNvPr>
          <p:cNvSpPr txBox="1"/>
          <p:nvPr/>
        </p:nvSpPr>
        <p:spPr>
          <a:xfrm>
            <a:off x="7689914" y="1396857"/>
            <a:ext cx="1376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2400" b="1" dirty="0" err="1"/>
              <a:t>LoRA</a:t>
            </a:r>
            <a:endParaRPr kumimoji="1" lang="zh-TW" altLang="en-US" sz="2400" b="1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89B2ADDB-17F2-47B7-F772-3B54BCBE1CE5}"/>
              </a:ext>
            </a:extLst>
          </p:cNvPr>
          <p:cNvSpPr txBox="1"/>
          <p:nvPr/>
        </p:nvSpPr>
        <p:spPr>
          <a:xfrm>
            <a:off x="2227391" y="1397420"/>
            <a:ext cx="1398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2400" b="1" dirty="0"/>
              <a:t>Original</a:t>
            </a:r>
            <a:endParaRPr kumimoji="1" lang="zh-TW" altLang="en-US" sz="24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99857095-78FE-A02B-325B-6248222D36D2}"/>
              </a:ext>
            </a:extLst>
          </p:cNvPr>
          <p:cNvSpPr txBox="1"/>
          <p:nvPr/>
        </p:nvSpPr>
        <p:spPr>
          <a:xfrm>
            <a:off x="10612955" y="3242128"/>
            <a:ext cx="718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b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1800" b="1" baseline="30000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r×</a:t>
            </a:r>
            <a:r>
              <a:rPr lang="en-US" altLang="zh-TW" b="1" baseline="30000" dirty="0" err="1">
                <a:latin typeface="Times New Roman"/>
                <a:ea typeface="+mn-lt"/>
                <a:cs typeface="+mn-lt"/>
              </a:rPr>
              <a:t>d</a:t>
            </a:r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85AE359-01E4-C17A-68AD-DA7A7AD5CBC9}"/>
              </a:ext>
            </a:extLst>
          </p:cNvPr>
          <p:cNvSpPr txBox="1"/>
          <p:nvPr/>
        </p:nvSpPr>
        <p:spPr>
          <a:xfrm>
            <a:off x="10612955" y="4553791"/>
            <a:ext cx="718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b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1800" b="1" baseline="30000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d×</a:t>
            </a:r>
            <a:r>
              <a:rPr lang="en-US" altLang="zh-TW" b="1" baseline="30000" dirty="0" err="1">
                <a:latin typeface="Times New Roman"/>
                <a:ea typeface="+mn-lt"/>
                <a:cs typeface="+mn-lt"/>
              </a:rPr>
              <a:t>r</a:t>
            </a:r>
            <a:endParaRPr lang="zh-TW" altLang="en-US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8B1BAE9-D86B-DC8D-4144-B321C4F77012}"/>
              </a:ext>
            </a:extLst>
          </p:cNvPr>
          <p:cNvSpPr txBox="1"/>
          <p:nvPr/>
        </p:nvSpPr>
        <p:spPr>
          <a:xfrm>
            <a:off x="8735670" y="656955"/>
            <a:ext cx="280318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/>
              </a:rPr>
              <a:t>只有黃色部分會被訓練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/>
            </a:endParaRPr>
          </a:p>
          <a:p>
            <a:pPr algn="r"/>
            <a:r>
              <a:rPr lang="en-US" altLang="zh-TW" sz="2000" dirty="0">
                <a:latin typeface="Times New Roman"/>
                <a:ea typeface="新細明體"/>
                <a:cs typeface="Times New Roman"/>
              </a:rPr>
              <a:t>α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/>
              </a:rPr>
              <a:t>是超參數</a:t>
            </a:r>
          </a:p>
        </p:txBody>
      </p:sp>
    </p:spTree>
    <p:extLst>
      <p:ext uri="{BB962C8B-B14F-4D97-AF65-F5344CB8AC3E}">
        <p14:creationId xmlns:p14="http://schemas.microsoft.com/office/powerpoint/2010/main" val="4071829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11" grpId="0" animBg="1"/>
      <p:bldP spid="12" grpId="0" animBg="1"/>
      <p:bldP spid="13" grpId="0"/>
      <p:bldP spid="14" grpId="0"/>
      <p:bldP spid="15" grpId="0"/>
      <p:bldP spid="16" grpId="0"/>
      <p:bldP spid="20" grpId="0" animBg="1"/>
      <p:bldP spid="21" grpId="0" animBg="1"/>
      <p:bldP spid="22" grpId="0" animBg="1"/>
      <p:bldP spid="23" grpId="0" animBg="1"/>
      <p:bldP spid="26" grpId="0"/>
      <p:bldP spid="28" grpId="0"/>
      <p:bldP spid="42" grpId="0"/>
      <p:bldP spid="43" grpId="0"/>
      <p:bldP spid="4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224350-003D-A914-4C77-06188EB97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為什麼</a:t>
            </a:r>
            <a:r>
              <a:rPr kumimoji="1" lang="en-US" altLang="zh-TW" dirty="0">
                <a:ea typeface="Microsoft JhengHei" panose="020B0604030504040204" pitchFamily="34" charset="-120"/>
              </a:rPr>
              <a:t> </a:t>
            </a:r>
            <a:r>
              <a:rPr kumimoji="1" lang="en-US" altLang="zh-TW" dirty="0" err="1">
                <a:ea typeface="Microsoft JhengHei" panose="020B0604030504040204" pitchFamily="34" charset="-120"/>
              </a:rPr>
              <a:t>LoRA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要這樣做？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77EC4E-0DB4-D8C8-62EE-F670F9540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42AD32-12B1-B3F0-221E-E6A189DB6954}"/>
              </a:ext>
            </a:extLst>
          </p:cNvPr>
          <p:cNvSpPr/>
          <p:nvPr/>
        </p:nvSpPr>
        <p:spPr>
          <a:xfrm>
            <a:off x="2397934" y="2095822"/>
            <a:ext cx="2394291" cy="2390974"/>
          </a:xfrm>
          <a:prstGeom prst="rect">
            <a:avLst/>
          </a:prstGeom>
          <a:solidFill>
            <a:srgbClr val="5A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大矩陣</a:t>
            </a: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</a:t>
            </a:r>
            <a:r>
              <a:rPr lang="en-US" altLang="zh-TW" sz="2400" b="1" baseline="-25000" dirty="0">
                <a:latin typeface="Times New Roman"/>
                <a:ea typeface="新細明體"/>
                <a:cs typeface="Calibri"/>
              </a:rPr>
              <a:t>big</a:t>
            </a:r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2400" b="1" baseline="30000" dirty="0" err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d×d</a:t>
            </a:r>
            <a:endParaRPr lang="en-US" altLang="zh-TW" sz="2400" b="1" baseline="30000" dirty="0">
              <a:solidFill>
                <a:schemeClr val="bg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86F0C8D-92AA-C3E2-BF1A-71DCF8EE4368}"/>
              </a:ext>
            </a:extLst>
          </p:cNvPr>
          <p:cNvSpPr txBox="1"/>
          <p:nvPr/>
        </p:nvSpPr>
        <p:spPr>
          <a:xfrm>
            <a:off x="2940711" y="4618470"/>
            <a:ext cx="1309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1000</a:t>
            </a:r>
            <a:endParaRPr kumimoji="1"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57A8E4BE-C245-05DC-C39E-337557BA07D4}"/>
              </a:ext>
            </a:extLst>
          </p:cNvPr>
          <p:cNvSpPr/>
          <p:nvPr/>
        </p:nvSpPr>
        <p:spPr>
          <a:xfrm>
            <a:off x="5625389" y="3185470"/>
            <a:ext cx="892455" cy="438912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22A3971-10B6-7F71-34F2-2313F7C6999E}"/>
              </a:ext>
            </a:extLst>
          </p:cNvPr>
          <p:cNvSpPr txBox="1"/>
          <p:nvPr/>
        </p:nvSpPr>
        <p:spPr>
          <a:xfrm>
            <a:off x="7554565" y="4618469"/>
            <a:ext cx="1091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10</a:t>
            </a:r>
            <a:endParaRPr kumimoji="1"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梯形 3">
            <a:extLst>
              <a:ext uri="{FF2B5EF4-FFF2-40B4-BE49-F238E27FC236}">
                <a16:creationId xmlns:a16="http://schemas.microsoft.com/office/drawing/2014/main" id="{46EE4CB1-12F6-36DC-81D8-7CF15C085C39}"/>
              </a:ext>
            </a:extLst>
          </p:cNvPr>
          <p:cNvSpPr/>
          <p:nvPr/>
        </p:nvSpPr>
        <p:spPr>
          <a:xfrm rot="10800000">
            <a:off x="7146183" y="2314925"/>
            <a:ext cx="1908699" cy="813786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新細明體"/>
              <a:cs typeface="Calibri"/>
            </a:endParaRPr>
          </a:p>
        </p:txBody>
      </p:sp>
      <p:sp>
        <p:nvSpPr>
          <p:cNvPr id="11" name="梯形 5">
            <a:extLst>
              <a:ext uri="{FF2B5EF4-FFF2-40B4-BE49-F238E27FC236}">
                <a16:creationId xmlns:a16="http://schemas.microsoft.com/office/drawing/2014/main" id="{0A53A9C6-4BE6-3D4D-1E4F-B8110FE23179}"/>
              </a:ext>
            </a:extLst>
          </p:cNvPr>
          <p:cNvSpPr/>
          <p:nvPr/>
        </p:nvSpPr>
        <p:spPr>
          <a:xfrm>
            <a:off x="7146182" y="3624382"/>
            <a:ext cx="1908699" cy="813786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小矩陣</a:t>
            </a: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Times New Roman"/>
                <a:ea typeface="新細明體"/>
                <a:cs typeface="Calibri"/>
              </a:rPr>
              <a:t>W</a:t>
            </a:r>
            <a:r>
              <a:rPr lang="en-US" altLang="zh-TW" b="1" baseline="-25000" dirty="0">
                <a:solidFill>
                  <a:schemeClr val="tx1"/>
                </a:solidFill>
                <a:latin typeface="Times New Roman"/>
                <a:ea typeface="新細明體"/>
                <a:cs typeface="Calibri"/>
              </a:rPr>
              <a:t>a</a:t>
            </a:r>
            <a:r>
              <a:rPr lang="zh-TW" altLang="en-US" b="1" dirty="0">
                <a:solidFill>
                  <a:schemeClr val="tx1"/>
                </a:solidFill>
                <a:latin typeface="Times New Roman"/>
                <a:ea typeface="新細明體"/>
                <a:cs typeface="Calibri"/>
              </a:rPr>
              <a:t> </a:t>
            </a:r>
            <a:r>
              <a:rPr lang="zh-TW" altLang="zh-TW" b="1" dirty="0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b="1" dirty="0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altLang="zh-TW" b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b="1" baseline="30000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d×r</a:t>
            </a:r>
            <a:endParaRPr lang="en-US" altLang="zh-TW" b="1" baseline="30000" dirty="0">
              <a:solidFill>
                <a:schemeClr val="tx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4EC01D1-213D-9450-D5C7-6553E0A1F5C9}"/>
              </a:ext>
            </a:extLst>
          </p:cNvPr>
          <p:cNvSpPr txBox="1"/>
          <p:nvPr/>
        </p:nvSpPr>
        <p:spPr>
          <a:xfrm>
            <a:off x="7386385" y="2407050"/>
            <a:ext cx="14282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8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小矩陣</a:t>
            </a:r>
          </a:p>
          <a:p>
            <a:pPr algn="ctr"/>
            <a:r>
              <a:rPr lang="zh-TW" altLang="en-US" sz="1800" b="1" dirty="0">
                <a:solidFill>
                  <a:schemeClr val="tx1"/>
                </a:solidFill>
                <a:latin typeface="Times New Roman"/>
                <a:ea typeface="新細明體"/>
                <a:cs typeface="Calibri"/>
              </a:rPr>
              <a:t>W</a:t>
            </a:r>
            <a:r>
              <a:rPr lang="en-US" altLang="zh-TW" sz="1800" b="1" baseline="-25000" dirty="0">
                <a:solidFill>
                  <a:schemeClr val="tx1"/>
                </a:solidFill>
                <a:latin typeface="Times New Roman"/>
                <a:ea typeface="新細明體"/>
                <a:cs typeface="Calibri"/>
              </a:rPr>
              <a:t>b</a:t>
            </a:r>
            <a:r>
              <a:rPr lang="zh-TW" altLang="en-US" sz="1800" b="1" dirty="0">
                <a:solidFill>
                  <a:schemeClr val="tx1"/>
                </a:solidFill>
                <a:latin typeface="Times New Roman"/>
                <a:ea typeface="新細明體"/>
                <a:cs typeface="Calibri"/>
              </a:rPr>
              <a:t> </a:t>
            </a:r>
            <a:r>
              <a:rPr lang="zh-TW" altLang="zh-TW" sz="1800" b="1" dirty="0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sz="1800" b="1" dirty="0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altLang="zh-TW" sz="1800" b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1800" b="1" baseline="30000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r×</a:t>
            </a:r>
            <a:r>
              <a:rPr lang="en-US" altLang="zh-TW" b="1" baseline="30000" dirty="0" err="1">
                <a:latin typeface="Times New Roman"/>
                <a:ea typeface="+mn-lt"/>
                <a:cs typeface="+mn-lt"/>
              </a:rPr>
              <a:t>d</a:t>
            </a:r>
            <a:endParaRPr lang="en-US" altLang="zh-TW" sz="1800" b="1" baseline="30000" dirty="0">
              <a:solidFill>
                <a:schemeClr val="tx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D2FC477-4659-5AEE-8E59-59488275EC86}"/>
              </a:ext>
            </a:extLst>
          </p:cNvPr>
          <p:cNvSpPr txBox="1"/>
          <p:nvPr/>
        </p:nvSpPr>
        <p:spPr>
          <a:xfrm>
            <a:off x="653143" y="5419692"/>
            <a:ext cx="1428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參數量</a:t>
            </a:r>
            <a:endParaRPr lang="en-US" altLang="zh-TW" sz="1800" b="1" baseline="30000" dirty="0">
              <a:solidFill>
                <a:schemeClr val="tx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051CCCB-8E2D-3BE8-740D-E49C7258D6D9}"/>
              </a:ext>
            </a:extLst>
          </p:cNvPr>
          <p:cNvSpPr txBox="1"/>
          <p:nvPr/>
        </p:nvSpPr>
        <p:spPr>
          <a:xfrm>
            <a:off x="2347837" y="5419692"/>
            <a:ext cx="2494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1000*1000 = 1</a:t>
            </a: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百萬</a:t>
            </a:r>
            <a:endParaRPr lang="en-US" altLang="zh-TW" sz="1800" b="1" baseline="30000" dirty="0">
              <a:solidFill>
                <a:schemeClr val="tx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2437C48-F357-1AE4-FA6F-D92F911A0505}"/>
              </a:ext>
            </a:extLst>
          </p:cNvPr>
          <p:cNvSpPr txBox="1"/>
          <p:nvPr/>
        </p:nvSpPr>
        <p:spPr>
          <a:xfrm>
            <a:off x="6853289" y="5419692"/>
            <a:ext cx="2494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1000*10 + 10*1000 = 20000</a:t>
            </a:r>
            <a:endParaRPr lang="en-US" altLang="zh-TW" sz="1800" b="1" baseline="30000" dirty="0">
              <a:solidFill>
                <a:schemeClr val="tx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597BC19-7C7A-3E88-2DAA-6837C7C54F9E}"/>
              </a:ext>
            </a:extLst>
          </p:cNvPr>
          <p:cNvSpPr txBox="1"/>
          <p:nvPr/>
        </p:nvSpPr>
        <p:spPr>
          <a:xfrm>
            <a:off x="2735106" y="6013031"/>
            <a:ext cx="171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訓練參數太多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50EEE1C-90C1-A0BB-6BA9-5B0279ABBBA2}"/>
              </a:ext>
            </a:extLst>
          </p:cNvPr>
          <p:cNvSpPr txBox="1"/>
          <p:nvPr/>
        </p:nvSpPr>
        <p:spPr>
          <a:xfrm>
            <a:off x="6856363" y="6013031"/>
            <a:ext cx="2494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訓練參數少，僅有 </a:t>
            </a:r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2%</a:t>
            </a:r>
            <a:endParaRPr kumimoji="1" lang="zh-TW" altLang="en-US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0730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0" grpId="0" animBg="1"/>
      <p:bldP spid="11" grpId="0" animBg="1"/>
      <p:bldP spid="13" grpId="0"/>
      <p:bldP spid="18" grpId="0"/>
      <p:bldP spid="3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831C8B-9CBF-9434-0FED-99B7805D6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Low-Rank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的部分在哪？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767E0E-4E2D-572B-4BFD-115FE768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F4966A0-04AB-660C-B4E1-69E818685232}"/>
              </a:ext>
            </a:extLst>
          </p:cNvPr>
          <p:cNvSpPr txBox="1"/>
          <p:nvPr/>
        </p:nvSpPr>
        <p:spPr>
          <a:xfrm>
            <a:off x="1001087" y="3783764"/>
            <a:ext cx="18730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/>
              <a:t>Reduced row-echelon form</a:t>
            </a:r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8EEB28E3-F3D8-B5F2-3E04-74CA47CB89AD}"/>
                  </a:ext>
                </a:extLst>
              </p:cNvPr>
              <p:cNvSpPr txBox="1"/>
              <p:nvPr/>
            </p:nvSpPr>
            <p:spPr>
              <a:xfrm>
                <a:off x="334671" y="2147732"/>
                <a:ext cx="3205886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TW" altLang="en-US" sz="28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8EEB28E3-F3D8-B5F2-3E04-74CA47CB8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71" y="2147732"/>
                <a:ext cx="3205886" cy="1231747"/>
              </a:xfrm>
              <a:prstGeom prst="rect">
                <a:avLst/>
              </a:prstGeom>
              <a:blipFill>
                <a:blip r:embed="rId3"/>
                <a:stretch>
                  <a:fillRect b="-51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26">
            <a:extLst>
              <a:ext uri="{FF2B5EF4-FFF2-40B4-BE49-F238E27FC236}">
                <a16:creationId xmlns:a16="http://schemas.microsoft.com/office/drawing/2014/main" id="{86A8D8B1-0AF5-DD07-389E-57328DA32653}"/>
              </a:ext>
            </a:extLst>
          </p:cNvPr>
          <p:cNvSpPr txBox="1"/>
          <p:nvPr/>
        </p:nvSpPr>
        <p:spPr>
          <a:xfrm>
            <a:off x="4228185" y="2301940"/>
            <a:ext cx="4772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✅ : Linearly-independent vectors</a:t>
            </a:r>
          </a:p>
          <a:p>
            <a:r>
              <a:rPr kumimoji="1" lang="en-US" altLang="zh-TW" sz="2400" dirty="0"/>
              <a:t>rank = 3</a:t>
            </a:r>
            <a:endParaRPr kumimoji="1" lang="zh-TW" altLang="en-US" sz="24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BC36B0C-5DC6-D9CF-607F-B8F3A7D6B8FE}"/>
              </a:ext>
            </a:extLst>
          </p:cNvPr>
          <p:cNvSpPr txBox="1"/>
          <p:nvPr/>
        </p:nvSpPr>
        <p:spPr>
          <a:xfrm>
            <a:off x="667774" y="1793789"/>
            <a:ext cx="616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sz="1800" dirty="0"/>
              <a:t>✅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C50AB2FA-23C0-2E6F-89F6-6F2296A983F6}"/>
              </a:ext>
            </a:extLst>
          </p:cNvPr>
          <p:cNvSpPr txBox="1"/>
          <p:nvPr/>
        </p:nvSpPr>
        <p:spPr>
          <a:xfrm>
            <a:off x="1218242" y="1798167"/>
            <a:ext cx="616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sz="1800" dirty="0"/>
              <a:t>✅</a:t>
            </a:r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94123318-CC7B-1F94-B8C6-1A7DDF9C4B78}"/>
              </a:ext>
            </a:extLst>
          </p:cNvPr>
          <p:cNvSpPr txBox="1"/>
          <p:nvPr/>
        </p:nvSpPr>
        <p:spPr>
          <a:xfrm>
            <a:off x="2595247" y="1793789"/>
            <a:ext cx="616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sz="1800" dirty="0"/>
              <a:t>✅</a:t>
            </a:r>
            <a:endParaRPr lang="zh-TW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77077F6-1163-A384-CA75-53F3B7E7959C}"/>
              </a:ext>
            </a:extLst>
          </p:cNvPr>
          <p:cNvSpPr/>
          <p:nvPr/>
        </p:nvSpPr>
        <p:spPr>
          <a:xfrm>
            <a:off x="844413" y="2163121"/>
            <a:ext cx="260715" cy="12658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E2F9E01-F2CD-63D1-6941-2E2A3AFF6264}"/>
              </a:ext>
            </a:extLst>
          </p:cNvPr>
          <p:cNvSpPr/>
          <p:nvPr/>
        </p:nvSpPr>
        <p:spPr>
          <a:xfrm>
            <a:off x="2737382" y="2163121"/>
            <a:ext cx="274760" cy="12658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4227730-2E07-2065-9583-C747944AF38C}"/>
              </a:ext>
            </a:extLst>
          </p:cNvPr>
          <p:cNvSpPr/>
          <p:nvPr/>
        </p:nvSpPr>
        <p:spPr>
          <a:xfrm>
            <a:off x="1389014" y="2163121"/>
            <a:ext cx="274760" cy="12658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F9BC7DA-5351-2152-F424-FF2B90BE7436}"/>
              </a:ext>
            </a:extLst>
          </p:cNvPr>
          <p:cNvSpPr txBox="1"/>
          <p:nvPr/>
        </p:nvSpPr>
        <p:spPr>
          <a:xfrm>
            <a:off x="4228185" y="3487033"/>
            <a:ext cx="4772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ea typeface="Microsoft JhengHei" panose="020B0604030504040204" pitchFamily="34" charset="-120"/>
              </a:rPr>
              <a:t>rank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大小最多等於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column vectors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或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row vectors)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的數量</a:t>
            </a:r>
          </a:p>
        </p:txBody>
      </p:sp>
    </p:spTree>
    <p:extLst>
      <p:ext uri="{BB962C8B-B14F-4D97-AF65-F5344CB8AC3E}">
        <p14:creationId xmlns:p14="http://schemas.microsoft.com/office/powerpoint/2010/main" val="1116903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 animBg="1"/>
      <p:bldP spid="34" grpId="0" animBg="1"/>
      <p:bldP spid="3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831C8B-9CBF-9434-0FED-99B7805D6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Low-Rank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的部分在哪？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767E0E-4E2D-572B-4BFD-115FE768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E661FC-1D97-64AC-2E43-0EF64EEB4EFA}"/>
              </a:ext>
            </a:extLst>
          </p:cNvPr>
          <p:cNvSpPr/>
          <p:nvPr/>
        </p:nvSpPr>
        <p:spPr>
          <a:xfrm>
            <a:off x="860327" y="3273120"/>
            <a:ext cx="2056660" cy="2123242"/>
          </a:xfrm>
          <a:prstGeom prst="rect">
            <a:avLst/>
          </a:prstGeom>
          <a:solidFill>
            <a:srgbClr val="5A9BD5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Pretrained</a:t>
            </a: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Weights</a:t>
            </a:r>
          </a:p>
          <a:p>
            <a:pPr algn="ctr"/>
            <a:endParaRPr lang="zh-TW" altLang="en-US" sz="2400" b="1" dirty="0">
              <a:latin typeface="Times New Roman"/>
              <a:ea typeface="新細明體"/>
              <a:cs typeface="Calibri"/>
            </a:endParaRP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2400" b="1" baseline="30000" dirty="0" err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dxd</a:t>
            </a:r>
            <a:endParaRPr lang="en-US" altLang="zh-TW" sz="2400" b="1" baseline="30000" dirty="0">
              <a:solidFill>
                <a:schemeClr val="bg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8" name="梯形 3">
            <a:extLst>
              <a:ext uri="{FF2B5EF4-FFF2-40B4-BE49-F238E27FC236}">
                <a16:creationId xmlns:a16="http://schemas.microsoft.com/office/drawing/2014/main" id="{728331CA-4B15-0EB9-089F-6743CBCD80D3}"/>
              </a:ext>
            </a:extLst>
          </p:cNvPr>
          <p:cNvSpPr/>
          <p:nvPr/>
        </p:nvSpPr>
        <p:spPr>
          <a:xfrm rot="10800000">
            <a:off x="3312782" y="3273119"/>
            <a:ext cx="1908699" cy="813786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新細明體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梯形 5">
                <a:extLst>
                  <a:ext uri="{FF2B5EF4-FFF2-40B4-BE49-F238E27FC236}">
                    <a16:creationId xmlns:a16="http://schemas.microsoft.com/office/drawing/2014/main" id="{5CA52514-A4A8-5188-6839-96FC77FFE34B}"/>
                  </a:ext>
                </a:extLst>
              </p:cNvPr>
              <p:cNvSpPr/>
              <p:nvPr/>
            </p:nvSpPr>
            <p:spPr>
              <a:xfrm>
                <a:off x="3312781" y="4582576"/>
                <a:ext cx="1908699" cy="813786"/>
              </a:xfrm>
              <a:prstGeom prst="trapezoid">
                <a:avLst/>
              </a:prstGeom>
              <a:solidFill>
                <a:srgbClr val="FFC000"/>
              </a:solidFill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A =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</a:rPr>
                      <m:t>𝒩</m:t>
                    </m:r>
                  </m:oMath>
                </a14:m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(0,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/>
                    <a:ea typeface="+mn-lt"/>
                    <a:cs typeface="+mn-lt"/>
                  </a:rPr>
                  <a:t>σ</a:t>
                </a:r>
                <a:r>
                  <a:rPr lang="en-US" sz="2400" baseline="30000" dirty="0">
                    <a:solidFill>
                      <a:schemeClr val="bg1"/>
                    </a:solidFill>
                    <a:latin typeface="Times New Roman"/>
                    <a:ea typeface="+mn-lt"/>
                    <a:cs typeface="+mn-lt"/>
                  </a:rPr>
                  <a:t>2</a:t>
                </a:r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)</a:t>
                </a:r>
                <a:endParaRPr lang="zh-TW" sz="2400" dirty="0">
                  <a:solidFill>
                    <a:schemeClr val="bg1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9" name="梯形 5">
                <a:extLst>
                  <a:ext uri="{FF2B5EF4-FFF2-40B4-BE49-F238E27FC236}">
                    <a16:creationId xmlns:a16="http://schemas.microsoft.com/office/drawing/2014/main" id="{5CA52514-A4A8-5188-6839-96FC77FFE3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781" y="4582576"/>
                <a:ext cx="1908699" cy="813786"/>
              </a:xfrm>
              <a:prstGeom prst="trapezoid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74B8DC8C-6237-A880-8B90-276DB65A5771}"/>
              </a:ext>
            </a:extLst>
          </p:cNvPr>
          <p:cNvSpPr/>
          <p:nvPr/>
        </p:nvSpPr>
        <p:spPr>
          <a:xfrm>
            <a:off x="1947841" y="6058489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CB6867-9EAE-0392-AC76-9D8B5E4C228A}"/>
              </a:ext>
            </a:extLst>
          </p:cNvPr>
          <p:cNvSpPr/>
          <p:nvPr/>
        </p:nvSpPr>
        <p:spPr>
          <a:xfrm>
            <a:off x="1955239" y="2403848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2CE0987-ACCC-1747-05DC-B2224B88BC77}"/>
              </a:ext>
            </a:extLst>
          </p:cNvPr>
          <p:cNvSpPr txBox="1"/>
          <p:nvPr/>
        </p:nvSpPr>
        <p:spPr>
          <a:xfrm>
            <a:off x="3616103" y="3446974"/>
            <a:ext cx="130057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FFFF"/>
                </a:solidFill>
                <a:latin typeface="Times New Roman"/>
                <a:ea typeface="新細明體"/>
                <a:cs typeface="Times New Roman"/>
              </a:rPr>
              <a:t>B = 0</a:t>
            </a:r>
            <a:endParaRPr lang="zh-TW" sz="2400" dirty="0">
              <a:latin typeface="Times New Roman"/>
              <a:cs typeface="Times New Roman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B1E225A-2E3C-2C94-3B10-94621C6D7B88}"/>
              </a:ext>
            </a:extLst>
          </p:cNvPr>
          <p:cNvSpPr txBox="1"/>
          <p:nvPr/>
        </p:nvSpPr>
        <p:spPr>
          <a:xfrm>
            <a:off x="1504698" y="5996346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i="1" dirty="0">
                <a:latin typeface="Times New Roman"/>
                <a:ea typeface="新細明體"/>
                <a:cs typeface="Times New Roman"/>
              </a:rPr>
              <a:t>x</a:t>
            </a:r>
            <a:endParaRPr lang="zh-TW" i="1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DD41502-16F0-F49C-7A44-F72AC7C32FE7}"/>
              </a:ext>
            </a:extLst>
          </p:cNvPr>
          <p:cNvSpPr txBox="1"/>
          <p:nvPr/>
        </p:nvSpPr>
        <p:spPr>
          <a:xfrm>
            <a:off x="2917725" y="6291309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d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C0E0E7F-AFC0-5A03-8399-BFA8A3E62FA6}"/>
              </a:ext>
            </a:extLst>
          </p:cNvPr>
          <p:cNvSpPr txBox="1"/>
          <p:nvPr/>
        </p:nvSpPr>
        <p:spPr>
          <a:xfrm>
            <a:off x="1504698" y="2341705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h</a:t>
            </a:r>
            <a:endParaRPr lang="zh-TW" dirty="0"/>
          </a:p>
        </p:txBody>
      </p:sp>
      <p:sp>
        <p:nvSpPr>
          <p:cNvPr id="16" name="箭號: 向右 19">
            <a:extLst>
              <a:ext uri="{FF2B5EF4-FFF2-40B4-BE49-F238E27FC236}">
                <a16:creationId xmlns:a16="http://schemas.microsoft.com/office/drawing/2014/main" id="{FB278068-1126-BE55-2A99-F0839F94C1B8}"/>
              </a:ext>
            </a:extLst>
          </p:cNvPr>
          <p:cNvSpPr/>
          <p:nvPr/>
        </p:nvSpPr>
        <p:spPr>
          <a:xfrm rot="14640000">
            <a:off x="2055224" y="5554550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箭號: 向右 20">
            <a:extLst>
              <a:ext uri="{FF2B5EF4-FFF2-40B4-BE49-F238E27FC236}">
                <a16:creationId xmlns:a16="http://schemas.microsoft.com/office/drawing/2014/main" id="{C14D613E-845B-D6FE-02E3-D3F7BA6250C6}"/>
              </a:ext>
            </a:extLst>
          </p:cNvPr>
          <p:cNvSpPr/>
          <p:nvPr/>
        </p:nvSpPr>
        <p:spPr>
          <a:xfrm rot="-4140000">
            <a:off x="3727184" y="5554550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箭號: 向右 21">
            <a:extLst>
              <a:ext uri="{FF2B5EF4-FFF2-40B4-BE49-F238E27FC236}">
                <a16:creationId xmlns:a16="http://schemas.microsoft.com/office/drawing/2014/main" id="{C0DAF17B-D29A-2C6E-6359-BBAC51A8F7DA}"/>
              </a:ext>
            </a:extLst>
          </p:cNvPr>
          <p:cNvSpPr/>
          <p:nvPr/>
        </p:nvSpPr>
        <p:spPr>
          <a:xfrm rot="19260000">
            <a:off x="1855475" y="2832064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箭號: 向右 22">
            <a:extLst>
              <a:ext uri="{FF2B5EF4-FFF2-40B4-BE49-F238E27FC236}">
                <a16:creationId xmlns:a16="http://schemas.microsoft.com/office/drawing/2014/main" id="{C913FE6D-A4D6-C9C7-0B59-806F5EB0870F}"/>
              </a:ext>
            </a:extLst>
          </p:cNvPr>
          <p:cNvSpPr/>
          <p:nvPr/>
        </p:nvSpPr>
        <p:spPr>
          <a:xfrm rot="13440000">
            <a:off x="3978718" y="2839462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08C467D-6C48-10EF-6CF1-36915ADBED09}"/>
              </a:ext>
            </a:extLst>
          </p:cNvPr>
          <p:cNvSpPr txBox="1"/>
          <p:nvPr/>
        </p:nvSpPr>
        <p:spPr>
          <a:xfrm>
            <a:off x="4034834" y="4183821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r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16A8FFA-C91D-E473-4CED-503E87E652ED}"/>
              </a:ext>
            </a:extLst>
          </p:cNvPr>
          <p:cNvSpPr txBox="1"/>
          <p:nvPr/>
        </p:nvSpPr>
        <p:spPr>
          <a:xfrm>
            <a:off x="4457438" y="2741581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α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822D5CE-70E8-59D5-E458-A76B59569C14}"/>
              </a:ext>
            </a:extLst>
          </p:cNvPr>
          <p:cNvSpPr txBox="1"/>
          <p:nvPr/>
        </p:nvSpPr>
        <p:spPr>
          <a:xfrm>
            <a:off x="2601887" y="1665843"/>
            <a:ext cx="1125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2400" b="1" dirty="0" err="1"/>
              <a:t>LoRA</a:t>
            </a:r>
            <a:endParaRPr kumimoji="1" lang="zh-TW" altLang="en-US" sz="2400" b="1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640B710-D718-EF47-C1CB-11A4F4CA1D26}"/>
              </a:ext>
            </a:extLst>
          </p:cNvPr>
          <p:cNvSpPr txBox="1"/>
          <p:nvPr/>
        </p:nvSpPr>
        <p:spPr>
          <a:xfrm>
            <a:off x="5377282" y="3493140"/>
            <a:ext cx="718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b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1800" b="1" baseline="30000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r×</a:t>
            </a:r>
            <a:r>
              <a:rPr lang="en-US" altLang="zh-TW" b="1" baseline="30000" dirty="0" err="1">
                <a:latin typeface="Times New Roman"/>
                <a:ea typeface="+mn-lt"/>
                <a:cs typeface="+mn-lt"/>
              </a:rPr>
              <a:t>d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7ED122E3-F4DE-A637-6E36-98C6549B4C7A}"/>
              </a:ext>
            </a:extLst>
          </p:cNvPr>
          <p:cNvSpPr txBox="1"/>
          <p:nvPr/>
        </p:nvSpPr>
        <p:spPr>
          <a:xfrm>
            <a:off x="5377282" y="4804803"/>
            <a:ext cx="718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b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1800" b="1" baseline="30000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d×</a:t>
            </a:r>
            <a:r>
              <a:rPr lang="en-US" altLang="zh-TW" b="1" baseline="30000" dirty="0" err="1">
                <a:latin typeface="Times New Roman"/>
                <a:ea typeface="+mn-lt"/>
                <a:cs typeface="+mn-lt"/>
              </a:rPr>
              <a:t>r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FB66DB0-92ED-9595-F661-252AC299EA79}"/>
              </a:ext>
            </a:extLst>
          </p:cNvPr>
          <p:cNvSpPr txBox="1"/>
          <p:nvPr/>
        </p:nvSpPr>
        <p:spPr>
          <a:xfrm>
            <a:off x="6496587" y="4573970"/>
            <a:ext cx="47723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ea typeface="Microsoft JhengHei" panose="020B0604030504040204" pitchFamily="34" charset="-120"/>
              </a:rPr>
              <a:t>d &gt; r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的情況下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通常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d&gt;&gt; r)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，</a:t>
            </a:r>
            <a:r>
              <a:rPr kumimoji="1" lang="en-US" altLang="zh-TW" sz="2400" b="1" dirty="0">
                <a:ea typeface="Microsoft JhengHei" panose="020B0604030504040204" pitchFamily="34" charset="-120"/>
              </a:rPr>
              <a:t>A </a:t>
            </a:r>
            <a:r>
              <a:rPr kumimoji="1" lang="zh-TW" altLang="en-US" sz="2400" b="1" dirty="0">
                <a:ea typeface="Microsoft JhengHei" panose="020B0604030504040204" pitchFamily="34" charset="-120"/>
              </a:rPr>
              <a:t>或 </a:t>
            </a:r>
            <a:r>
              <a:rPr kumimoji="1" lang="en-US" altLang="zh-TW" sz="2400" b="1" dirty="0">
                <a:ea typeface="Microsoft JhengHei" panose="020B0604030504040204" pitchFamily="34" charset="-120"/>
              </a:rPr>
              <a:t>B</a:t>
            </a:r>
            <a:r>
              <a:rPr kumimoji="1" lang="zh-TW" altLang="en-US" sz="2400" b="1" dirty="0">
                <a:ea typeface="Microsoft JhengHei" panose="020B0604030504040204" pitchFamily="34" charset="-120"/>
              </a:rPr>
              <a:t> 的</a:t>
            </a:r>
            <a:r>
              <a:rPr kumimoji="1" lang="en-US" altLang="zh-TW" sz="2400" b="1" dirty="0">
                <a:ea typeface="Microsoft JhengHei" panose="020B0604030504040204" pitchFamily="34" charset="-120"/>
              </a:rPr>
              <a:t> rank </a:t>
            </a:r>
            <a:r>
              <a:rPr kumimoji="1" lang="zh-TW" altLang="en-US" sz="2400" b="1" dirty="0">
                <a:ea typeface="Microsoft JhengHei" panose="020B0604030504040204" pitchFamily="34" charset="-120"/>
              </a:rPr>
              <a:t>通常遠小於</a:t>
            </a:r>
            <a:r>
              <a:rPr kumimoji="1" lang="en-US" altLang="zh-TW" sz="2400" b="1" dirty="0">
                <a:ea typeface="Microsoft JhengHei" panose="020B0604030504040204" pitchFamily="34" charset="-120"/>
              </a:rPr>
              <a:t> W</a:t>
            </a:r>
            <a:r>
              <a:rPr kumimoji="1" lang="zh-TW" altLang="en-US" sz="2400" b="1" dirty="0">
                <a:ea typeface="Microsoft JhengHei" panose="020B0604030504040204" pitchFamily="34" charset="-120"/>
              </a:rPr>
              <a:t> 的 </a:t>
            </a:r>
            <a:r>
              <a:rPr kumimoji="1" lang="en-US" altLang="zh-TW" sz="2400" b="1" dirty="0">
                <a:ea typeface="Microsoft JhengHei" panose="020B0604030504040204" pitchFamily="34" charset="-120"/>
              </a:rPr>
              <a:t>rank</a:t>
            </a:r>
          </a:p>
          <a:p>
            <a:r>
              <a:rPr kumimoji="1" lang="zh-TW" altLang="en-US" sz="2400" dirty="0">
                <a:ea typeface="Microsoft JhengHei" panose="020B0604030504040204" pitchFamily="34" charset="-120"/>
              </a:rPr>
              <a:t>故為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low-rank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的由來</a:t>
            </a:r>
          </a:p>
        </p:txBody>
      </p:sp>
    </p:spTree>
    <p:extLst>
      <p:ext uri="{BB962C8B-B14F-4D97-AF65-F5344CB8AC3E}">
        <p14:creationId xmlns:p14="http://schemas.microsoft.com/office/powerpoint/2010/main" val="331543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E9A13-34B5-3EA1-9A2A-02C57C0C6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F8EE4F-7F24-9B98-6D4E-50EDD8D72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4400" dirty="0" err="1">
                <a:ea typeface="+mj-lt"/>
                <a:cs typeface="Times New Roman"/>
              </a:rPr>
              <a:t>LoRA</a:t>
            </a:r>
            <a:r>
              <a:rPr lang="en-US" altLang="zh-TW" sz="4400" dirty="0">
                <a:ea typeface="+mj-lt"/>
                <a:cs typeface="Times New Roman"/>
              </a:rPr>
              <a:t>: </a:t>
            </a:r>
            <a:r>
              <a:rPr lang="en-US" altLang="zh-TW" sz="4400" b="1" dirty="0">
                <a:solidFill>
                  <a:srgbClr val="FF0000"/>
                </a:solidFill>
                <a:ea typeface="+mj-lt"/>
                <a:cs typeface="Times New Roman"/>
              </a:rPr>
              <a:t>Lo</a:t>
            </a:r>
            <a:r>
              <a:rPr lang="en-US" altLang="zh-TW" sz="4400" dirty="0">
                <a:ea typeface="+mj-lt"/>
                <a:cs typeface="Times New Roman"/>
              </a:rPr>
              <a:t>w-</a:t>
            </a:r>
            <a:r>
              <a:rPr lang="en-US" altLang="zh-TW" sz="4400" b="1" dirty="0">
                <a:solidFill>
                  <a:srgbClr val="FF0000"/>
                </a:solidFill>
                <a:ea typeface="+mj-lt"/>
                <a:cs typeface="Times New Roman"/>
              </a:rPr>
              <a:t>R</a:t>
            </a:r>
            <a:r>
              <a:rPr lang="en-US" altLang="zh-TW" sz="4400" dirty="0">
                <a:ea typeface="+mj-lt"/>
                <a:cs typeface="Times New Roman"/>
              </a:rPr>
              <a:t>ank </a:t>
            </a:r>
            <a:r>
              <a:rPr lang="en-US" altLang="zh-TW" sz="4400" b="1" dirty="0">
                <a:solidFill>
                  <a:srgbClr val="FF0000"/>
                </a:solidFill>
                <a:ea typeface="+mj-lt"/>
                <a:cs typeface="Times New Roman"/>
              </a:rPr>
              <a:t>A</a:t>
            </a:r>
            <a:r>
              <a:rPr lang="en-US" altLang="zh-TW" sz="4400" dirty="0">
                <a:ea typeface="+mj-lt"/>
                <a:cs typeface="Times New Roman"/>
              </a:rPr>
              <a:t>daptation (w / pseudo code)</a:t>
            </a:r>
            <a:endParaRPr lang="en-US" altLang="zh-TW" sz="4400" dirty="0">
              <a:latin typeface="Times New Roman"/>
              <a:ea typeface="+mj-lt"/>
              <a:cs typeface="Times New Roman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BC23A01-3E2E-1B70-B021-4E6D2B09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>
                <a:latin typeface="Times New Roman"/>
                <a:cs typeface="Times New Roman"/>
              </a:rPr>
              <a:t>23</a:t>
            </a:fld>
            <a:endParaRPr lang="zh-TW" altLang="en-US">
              <a:latin typeface="Times New Roman"/>
              <a:cs typeface="Times New Roman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6E91577-3397-1AB5-5CD4-F087A50474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47" t="1689" r="715" b="-637"/>
          <a:stretch/>
        </p:blipFill>
        <p:spPr>
          <a:xfrm>
            <a:off x="975788" y="2375806"/>
            <a:ext cx="5080653" cy="3712529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2D9F6D6B-28ED-F86D-F7FC-A4F43373C1A5}"/>
              </a:ext>
            </a:extLst>
          </p:cNvPr>
          <p:cNvSpPr txBox="1"/>
          <p:nvPr/>
        </p:nvSpPr>
        <p:spPr>
          <a:xfrm>
            <a:off x="925194" y="1854355"/>
            <a:ext cx="1562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1200"/>
              </a:spcAft>
            </a:pPr>
            <a:r>
              <a:rPr lang="en-US" altLang="zh-TW" sz="1800" b="0" i="0" u="none" strike="noStrike" dirty="0">
                <a:effectLst/>
                <a:cs typeface="Times New Roman"/>
              </a:rPr>
              <a:t>Pseudocode:</a:t>
            </a:r>
            <a:endParaRPr lang="en-US" altLang="zh-TW" b="0" dirty="0">
              <a:effectLst/>
              <a:cs typeface="Times New Roman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709D75-AEA7-8B99-11E7-B03EE37F255B}"/>
              </a:ext>
            </a:extLst>
          </p:cNvPr>
          <p:cNvSpPr/>
          <p:nvPr/>
        </p:nvSpPr>
        <p:spPr>
          <a:xfrm>
            <a:off x="6728534" y="3036903"/>
            <a:ext cx="2056660" cy="2123242"/>
          </a:xfrm>
          <a:prstGeom prst="rect">
            <a:avLst/>
          </a:prstGeom>
          <a:solidFill>
            <a:srgbClr val="5A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>
                <a:latin typeface="Times New Roman"/>
                <a:ea typeface="新細明體"/>
                <a:cs typeface="Calibri"/>
              </a:rPr>
              <a:t>Pretrained</a:t>
            </a:r>
            <a:endParaRPr lang="zh-TW" altLang="en-US" sz="2400" b="1" dirty="0">
              <a:latin typeface="Times New Roman"/>
              <a:ea typeface="新細明體"/>
              <a:cs typeface="Calibri"/>
            </a:endParaRPr>
          </a:p>
          <a:p>
            <a:pPr algn="ctr"/>
            <a:r>
              <a:rPr lang="zh-TW" altLang="en-US" sz="2400" b="1">
                <a:latin typeface="Times New Roman"/>
                <a:ea typeface="新細明體"/>
                <a:cs typeface="Calibri"/>
              </a:rPr>
              <a:t>Weights</a:t>
            </a:r>
            <a:endParaRPr lang="zh-TW" altLang="en-US" sz="2400" b="1" dirty="0">
              <a:latin typeface="Times New Roman"/>
              <a:ea typeface="新細明體"/>
              <a:cs typeface="Calibri"/>
            </a:endParaRPr>
          </a:p>
          <a:p>
            <a:pPr algn="ctr"/>
            <a:endParaRPr lang="zh-TW" altLang="en-US" sz="2400" b="1" dirty="0">
              <a:latin typeface="Times New Roman"/>
              <a:ea typeface="新細明體"/>
              <a:cs typeface="Calibri"/>
            </a:endParaRPr>
          </a:p>
          <a:p>
            <a:pPr algn="ctr"/>
            <a:r>
              <a:rPr lang="zh-TW" altLang="en-US" sz="2400" b="1">
                <a:latin typeface="Times New Roman"/>
                <a:ea typeface="新細明體"/>
                <a:cs typeface="Calibri"/>
              </a:rPr>
              <a:t>W </a:t>
            </a:r>
            <a:r>
              <a:rPr lang="zh-TW" sz="2400" b="1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2400" b="1" baseline="30000" err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dxd</a:t>
            </a:r>
            <a:endParaRPr lang="en-US" altLang="zh-TW" sz="2400" b="1" baseline="30000" err="1">
              <a:solidFill>
                <a:schemeClr val="bg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4" name="梯形 3">
            <a:extLst>
              <a:ext uri="{FF2B5EF4-FFF2-40B4-BE49-F238E27FC236}">
                <a16:creationId xmlns:a16="http://schemas.microsoft.com/office/drawing/2014/main" id="{1FA20901-FDF9-CC23-E9C2-A4EEE3F87382}"/>
              </a:ext>
            </a:extLst>
          </p:cNvPr>
          <p:cNvSpPr/>
          <p:nvPr/>
        </p:nvSpPr>
        <p:spPr>
          <a:xfrm rot="10800000">
            <a:off x="9180989" y="3036902"/>
            <a:ext cx="1908699" cy="813786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新細明體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梯形 5">
                <a:extLst>
                  <a:ext uri="{FF2B5EF4-FFF2-40B4-BE49-F238E27FC236}">
                    <a16:creationId xmlns:a16="http://schemas.microsoft.com/office/drawing/2014/main" id="{5F82C3E9-C3A2-FE36-025A-F774F9329F40}"/>
                  </a:ext>
                </a:extLst>
              </p:cNvPr>
              <p:cNvSpPr/>
              <p:nvPr/>
            </p:nvSpPr>
            <p:spPr>
              <a:xfrm>
                <a:off x="9180988" y="4346359"/>
                <a:ext cx="1908699" cy="813786"/>
              </a:xfrm>
              <a:prstGeom prst="trapezoid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A =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</a:rPr>
                      <m:t>𝒩</m:t>
                    </m:r>
                  </m:oMath>
                </a14:m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(0,</a:t>
                </a:r>
                <a:r>
                  <a:rPr lang="en-US" altLang="zh-TW" sz="2400" dirty="0">
                    <a:solidFill>
                      <a:schemeClr val="bg1"/>
                    </a:solidFill>
                    <a:latin typeface="Times New Roman"/>
                    <a:ea typeface="+mn-lt"/>
                    <a:cs typeface="+mn-lt"/>
                  </a:rPr>
                  <a:t>σ</a:t>
                </a:r>
                <a:r>
                  <a:rPr lang="en-US" altLang="zh-TW" sz="2400" baseline="30000" dirty="0">
                    <a:solidFill>
                      <a:schemeClr val="bg1"/>
                    </a:solidFill>
                    <a:latin typeface="Times New Roman"/>
                    <a:ea typeface="+mn-lt"/>
                    <a:cs typeface="+mn-lt"/>
                  </a:rPr>
                  <a:t>2</a:t>
                </a:r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)</a:t>
                </a:r>
                <a:endParaRPr lang="zh-TW" altLang="zh-TW" sz="2400" dirty="0">
                  <a:solidFill>
                    <a:schemeClr val="bg1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6" name="梯形 5">
                <a:extLst>
                  <a:ext uri="{FF2B5EF4-FFF2-40B4-BE49-F238E27FC236}">
                    <a16:creationId xmlns:a16="http://schemas.microsoft.com/office/drawing/2014/main" id="{5F82C3E9-C3A2-FE36-025A-F774F9329F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988" y="4346359"/>
                <a:ext cx="1908699" cy="813786"/>
              </a:xfrm>
              <a:prstGeom prst="trapezoid">
                <a:avLst/>
              </a:prstGeom>
              <a:blipFill>
                <a:blip r:embed="rId4"/>
                <a:stretch>
                  <a:fillRect l="-6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AF647EE7-61CC-E17B-9276-B1017D95704A}"/>
              </a:ext>
            </a:extLst>
          </p:cNvPr>
          <p:cNvSpPr/>
          <p:nvPr/>
        </p:nvSpPr>
        <p:spPr>
          <a:xfrm>
            <a:off x="7816048" y="5822272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1ACEA3-B17D-D03F-D38F-465F8F0C7A02}"/>
              </a:ext>
            </a:extLst>
          </p:cNvPr>
          <p:cNvSpPr/>
          <p:nvPr/>
        </p:nvSpPr>
        <p:spPr>
          <a:xfrm>
            <a:off x="7823446" y="2167631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CA84FC7-307B-83C1-727B-073BB9C70E67}"/>
              </a:ext>
            </a:extLst>
          </p:cNvPr>
          <p:cNvSpPr txBox="1"/>
          <p:nvPr/>
        </p:nvSpPr>
        <p:spPr>
          <a:xfrm>
            <a:off x="9484310" y="3210757"/>
            <a:ext cx="130057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FFFF"/>
                </a:solidFill>
                <a:latin typeface="Times New Roman"/>
                <a:ea typeface="新細明體"/>
                <a:cs typeface="Times New Roman"/>
              </a:rPr>
              <a:t>B = 0</a:t>
            </a:r>
            <a:endParaRPr lang="zh-TW" sz="2400" dirty="0">
              <a:latin typeface="Times New Roman"/>
              <a:cs typeface="Times New Roman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A77DFEC-4F05-AAA0-709D-878BF2168C86}"/>
              </a:ext>
            </a:extLst>
          </p:cNvPr>
          <p:cNvSpPr txBox="1"/>
          <p:nvPr/>
        </p:nvSpPr>
        <p:spPr>
          <a:xfrm>
            <a:off x="7372905" y="5760129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x</a:t>
            </a:r>
            <a:endParaRPr lang="zh-TW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E40C2C0-90D6-E7F7-190E-38C73225F2E0}"/>
              </a:ext>
            </a:extLst>
          </p:cNvPr>
          <p:cNvSpPr txBox="1"/>
          <p:nvPr/>
        </p:nvSpPr>
        <p:spPr>
          <a:xfrm>
            <a:off x="8785934" y="5419818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d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A684136-688D-FA57-B605-497B048A1DD9}"/>
              </a:ext>
            </a:extLst>
          </p:cNvPr>
          <p:cNvSpPr txBox="1"/>
          <p:nvPr/>
        </p:nvSpPr>
        <p:spPr>
          <a:xfrm>
            <a:off x="7372905" y="2105488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h</a:t>
            </a:r>
            <a:endParaRPr lang="zh-TW" dirty="0"/>
          </a:p>
        </p:txBody>
      </p:sp>
      <p:sp>
        <p:nvSpPr>
          <p:cNvPr id="20" name="箭號: 向右 19">
            <a:extLst>
              <a:ext uri="{FF2B5EF4-FFF2-40B4-BE49-F238E27FC236}">
                <a16:creationId xmlns:a16="http://schemas.microsoft.com/office/drawing/2014/main" id="{10F91241-30AA-318E-0525-26247FCD56CA}"/>
              </a:ext>
            </a:extLst>
          </p:cNvPr>
          <p:cNvSpPr/>
          <p:nvPr/>
        </p:nvSpPr>
        <p:spPr>
          <a:xfrm rot="14640000">
            <a:off x="7923431" y="5318333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B98272A3-3BCE-D9DD-B31A-8A5F3E254BA2}"/>
              </a:ext>
            </a:extLst>
          </p:cNvPr>
          <p:cNvSpPr/>
          <p:nvPr/>
        </p:nvSpPr>
        <p:spPr>
          <a:xfrm rot="-4140000">
            <a:off x="9595391" y="5318333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箭號: 向右 21">
            <a:extLst>
              <a:ext uri="{FF2B5EF4-FFF2-40B4-BE49-F238E27FC236}">
                <a16:creationId xmlns:a16="http://schemas.microsoft.com/office/drawing/2014/main" id="{8D442355-C060-4FAC-1C8E-DCB98C1DA921}"/>
              </a:ext>
            </a:extLst>
          </p:cNvPr>
          <p:cNvSpPr/>
          <p:nvPr/>
        </p:nvSpPr>
        <p:spPr>
          <a:xfrm rot="19260000">
            <a:off x="7723682" y="2595847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D878430A-C355-CF15-9535-6E936FE02858}"/>
              </a:ext>
            </a:extLst>
          </p:cNvPr>
          <p:cNvSpPr/>
          <p:nvPr/>
        </p:nvSpPr>
        <p:spPr>
          <a:xfrm rot="13440000">
            <a:off x="9846925" y="2603245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E987CD1-FFC8-FFCA-15BD-86C65E1F43B5}"/>
              </a:ext>
            </a:extLst>
          </p:cNvPr>
          <p:cNvSpPr txBox="1"/>
          <p:nvPr/>
        </p:nvSpPr>
        <p:spPr>
          <a:xfrm>
            <a:off x="9903041" y="3947604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r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9F53248-81BB-2959-39C0-DA64CB5D6AEA}"/>
              </a:ext>
            </a:extLst>
          </p:cNvPr>
          <p:cNvSpPr txBox="1"/>
          <p:nvPr/>
        </p:nvSpPr>
        <p:spPr>
          <a:xfrm>
            <a:off x="10325645" y="2505364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α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B48075D-6955-A861-4FF5-21AC98DF7254}"/>
              </a:ext>
            </a:extLst>
          </p:cNvPr>
          <p:cNvSpPr txBox="1"/>
          <p:nvPr/>
        </p:nvSpPr>
        <p:spPr>
          <a:xfrm>
            <a:off x="1" y="6441225"/>
            <a:ext cx="1219199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>
                <a:solidFill>
                  <a:srgbClr val="222222"/>
                </a:solidFill>
                <a:ea typeface="新細明體"/>
                <a:cs typeface="Arial"/>
              </a:rPr>
              <a:t>Hu, Edward J., et al. "LoRA: Low-Rank Adaptation of Large Language Models." </a:t>
            </a:r>
            <a:r>
              <a:rPr lang="en-US" sz="1000" i="1" dirty="0">
                <a:solidFill>
                  <a:srgbClr val="222222"/>
                </a:solidFill>
                <a:ea typeface="新細明體"/>
                <a:cs typeface="Arial"/>
              </a:rPr>
              <a:t>International Conference on Learning Representations</a:t>
            </a:r>
            <a:r>
              <a:rPr lang="en-US" sz="1000" dirty="0">
                <a:solidFill>
                  <a:srgbClr val="222222"/>
                </a:solidFill>
                <a:ea typeface="新細明體"/>
                <a:cs typeface="Arial"/>
              </a:rPr>
              <a:t>. 2021.</a:t>
            </a:r>
            <a:endParaRPr lang="zh-TW" sz="1000" dirty="0">
              <a:ea typeface="新細明體"/>
              <a:cs typeface="Times New Roman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8283E3-0E64-948C-5326-AF1E419DFAE0}"/>
              </a:ext>
            </a:extLst>
          </p:cNvPr>
          <p:cNvSpPr/>
          <p:nvPr/>
        </p:nvSpPr>
        <p:spPr>
          <a:xfrm>
            <a:off x="975788" y="2355024"/>
            <a:ext cx="4687257" cy="5712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5C7A52A-353F-E72C-4B18-7CF510314EB1}"/>
              </a:ext>
            </a:extLst>
          </p:cNvPr>
          <p:cNvSpPr/>
          <p:nvPr/>
        </p:nvSpPr>
        <p:spPr>
          <a:xfrm>
            <a:off x="7358815" y="2065504"/>
            <a:ext cx="477982" cy="4779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E6787027-EC60-9311-0A34-13C3FD508983}"/>
              </a:ext>
            </a:extLst>
          </p:cNvPr>
          <p:cNvSpPr/>
          <p:nvPr/>
        </p:nvSpPr>
        <p:spPr>
          <a:xfrm>
            <a:off x="10306906" y="2466428"/>
            <a:ext cx="477982" cy="4779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7164C726-4647-350E-51D9-A308ACBFA5ED}"/>
              </a:ext>
            </a:extLst>
          </p:cNvPr>
          <p:cNvSpPr/>
          <p:nvPr/>
        </p:nvSpPr>
        <p:spPr>
          <a:xfrm>
            <a:off x="9887614" y="3907991"/>
            <a:ext cx="477982" cy="4779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AA4B481D-52BB-5E1D-4FB4-33252D5E8F01}"/>
              </a:ext>
            </a:extLst>
          </p:cNvPr>
          <p:cNvSpPr/>
          <p:nvPr/>
        </p:nvSpPr>
        <p:spPr>
          <a:xfrm>
            <a:off x="8785194" y="5379795"/>
            <a:ext cx="477982" cy="4779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BC7AFDB-AC4C-C76D-AF03-646500F4B289}"/>
              </a:ext>
            </a:extLst>
          </p:cNvPr>
          <p:cNvSpPr/>
          <p:nvPr/>
        </p:nvSpPr>
        <p:spPr>
          <a:xfrm>
            <a:off x="3059538" y="5745298"/>
            <a:ext cx="494153" cy="1775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8EBD509-644B-8538-151F-51927B9AB903}"/>
              </a:ext>
            </a:extLst>
          </p:cNvPr>
          <p:cNvSpPr/>
          <p:nvPr/>
        </p:nvSpPr>
        <p:spPr>
          <a:xfrm>
            <a:off x="975788" y="4221679"/>
            <a:ext cx="3544257" cy="3607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8BBE001-DA49-3AED-F207-0745E2F6AC7D}"/>
              </a:ext>
            </a:extLst>
          </p:cNvPr>
          <p:cNvSpPr/>
          <p:nvPr/>
        </p:nvSpPr>
        <p:spPr>
          <a:xfrm>
            <a:off x="9205933" y="2918611"/>
            <a:ext cx="1857331" cy="23878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5A40613-76C1-A145-4A48-3A120FC27829}"/>
              </a:ext>
            </a:extLst>
          </p:cNvPr>
          <p:cNvSpPr/>
          <p:nvPr/>
        </p:nvSpPr>
        <p:spPr>
          <a:xfrm>
            <a:off x="950425" y="4724117"/>
            <a:ext cx="4596540" cy="1385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58519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9" grpId="0" animBg="1"/>
      <p:bldP spid="9" grpId="1" animBg="1"/>
      <p:bldP spid="19" grpId="0" animBg="1"/>
      <p:bldP spid="19" grpId="1" animBg="1"/>
      <p:bldP spid="24" grpId="0" animBg="1"/>
      <p:bldP spid="24" grpId="1" animBg="1"/>
      <p:bldP spid="25" grpId="0" animBg="1"/>
      <p:bldP spid="25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47A937-A148-4B4B-2BD5-251D0D8BD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[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注意事項</a:t>
            </a:r>
            <a:r>
              <a:rPr kumimoji="1" lang="en" altLang="zh-TW" dirty="0"/>
              <a:t>]</a:t>
            </a:r>
            <a:r>
              <a:rPr kumimoji="1" lang="zh-TW" altLang="en-US" dirty="0"/>
              <a:t> </a:t>
            </a:r>
            <a:r>
              <a:rPr kumimoji="1" lang="en" altLang="zh-TW" dirty="0" err="1"/>
              <a:t>LoRA</a:t>
            </a:r>
            <a:r>
              <a:rPr kumimoji="1" lang="zh-TW" altLang="en-US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的問題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657673-3BB8-78C7-1B98-43A7BB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0FDE128-8451-8DE1-4F5A-D02B890B7D2D}"/>
              </a:ext>
            </a:extLst>
          </p:cNvPr>
          <p:cNvSpPr/>
          <p:nvPr/>
        </p:nvSpPr>
        <p:spPr>
          <a:xfrm>
            <a:off x="6728534" y="3036903"/>
            <a:ext cx="2056660" cy="2123242"/>
          </a:xfrm>
          <a:prstGeom prst="rect">
            <a:avLst/>
          </a:prstGeom>
          <a:solidFill>
            <a:srgbClr val="5A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Pretrained</a:t>
            </a: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Weights</a:t>
            </a:r>
          </a:p>
          <a:p>
            <a:pPr algn="ctr"/>
            <a:endParaRPr lang="zh-TW" altLang="en-US" sz="2400" b="1" dirty="0">
              <a:latin typeface="Times New Roman"/>
              <a:ea typeface="新細明體"/>
              <a:cs typeface="Calibri"/>
            </a:endParaRP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2400" b="1" baseline="30000" dirty="0" err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dxd</a:t>
            </a:r>
            <a:endParaRPr lang="en-US" altLang="zh-TW" sz="2400" b="1" baseline="30000" dirty="0">
              <a:solidFill>
                <a:schemeClr val="bg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21" name="梯形 3">
            <a:extLst>
              <a:ext uri="{FF2B5EF4-FFF2-40B4-BE49-F238E27FC236}">
                <a16:creationId xmlns:a16="http://schemas.microsoft.com/office/drawing/2014/main" id="{E7A96AF0-8EFD-A0A3-44ED-0B4D7D454CEA}"/>
              </a:ext>
            </a:extLst>
          </p:cNvPr>
          <p:cNvSpPr/>
          <p:nvPr/>
        </p:nvSpPr>
        <p:spPr>
          <a:xfrm rot="10800000">
            <a:off x="9180989" y="3036902"/>
            <a:ext cx="1908699" cy="813786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新細明體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梯形 5">
                <a:extLst>
                  <a:ext uri="{FF2B5EF4-FFF2-40B4-BE49-F238E27FC236}">
                    <a16:creationId xmlns:a16="http://schemas.microsoft.com/office/drawing/2014/main" id="{05DD19F8-36A7-1BF4-7F39-2DD17E123852}"/>
                  </a:ext>
                </a:extLst>
              </p:cNvPr>
              <p:cNvSpPr/>
              <p:nvPr/>
            </p:nvSpPr>
            <p:spPr>
              <a:xfrm>
                <a:off x="9180988" y="4346359"/>
                <a:ext cx="1908699" cy="813786"/>
              </a:xfrm>
              <a:prstGeom prst="trapezoid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A =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</a:rPr>
                      <m:t>𝒩</m:t>
                    </m:r>
                  </m:oMath>
                </a14:m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(0,</a:t>
                </a:r>
                <a:r>
                  <a:rPr lang="en-US" altLang="zh-TW" sz="2400" dirty="0">
                    <a:solidFill>
                      <a:schemeClr val="bg1"/>
                    </a:solidFill>
                    <a:latin typeface="Times New Roman"/>
                    <a:ea typeface="+mn-lt"/>
                    <a:cs typeface="+mn-lt"/>
                  </a:rPr>
                  <a:t>σ</a:t>
                </a:r>
                <a:r>
                  <a:rPr lang="en-US" altLang="zh-TW" sz="2400" baseline="30000" dirty="0">
                    <a:solidFill>
                      <a:schemeClr val="bg1"/>
                    </a:solidFill>
                    <a:latin typeface="Times New Roman"/>
                    <a:ea typeface="+mn-lt"/>
                    <a:cs typeface="+mn-lt"/>
                  </a:rPr>
                  <a:t>2</a:t>
                </a:r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)</a:t>
                </a:r>
                <a:endParaRPr lang="zh-TW" altLang="zh-TW" sz="2400" dirty="0">
                  <a:solidFill>
                    <a:schemeClr val="bg1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22" name="梯形 5">
                <a:extLst>
                  <a:ext uri="{FF2B5EF4-FFF2-40B4-BE49-F238E27FC236}">
                    <a16:creationId xmlns:a16="http://schemas.microsoft.com/office/drawing/2014/main" id="{05DD19F8-36A7-1BF4-7F39-2DD17E1238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988" y="4346359"/>
                <a:ext cx="1908699" cy="813786"/>
              </a:xfrm>
              <a:prstGeom prst="trapezoid">
                <a:avLst/>
              </a:prstGeom>
              <a:blipFill>
                <a:blip r:embed="rId2"/>
                <a:stretch>
                  <a:fillRect l="-6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65F177DA-EE05-2E17-1864-B71F32ED4706}"/>
              </a:ext>
            </a:extLst>
          </p:cNvPr>
          <p:cNvSpPr/>
          <p:nvPr/>
        </p:nvSpPr>
        <p:spPr>
          <a:xfrm>
            <a:off x="7816048" y="5822272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3EB6F16-8C24-3E2D-319A-0B888BC7B211}"/>
              </a:ext>
            </a:extLst>
          </p:cNvPr>
          <p:cNvSpPr/>
          <p:nvPr/>
        </p:nvSpPr>
        <p:spPr>
          <a:xfrm>
            <a:off x="7823446" y="2167631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2B437B7-E5D1-2CB4-3947-6812B0BD18A1}"/>
              </a:ext>
            </a:extLst>
          </p:cNvPr>
          <p:cNvSpPr txBox="1"/>
          <p:nvPr/>
        </p:nvSpPr>
        <p:spPr>
          <a:xfrm>
            <a:off x="9484310" y="3210757"/>
            <a:ext cx="130057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FFFF"/>
                </a:solidFill>
                <a:latin typeface="Times New Roman"/>
                <a:ea typeface="新細明體"/>
                <a:cs typeface="Times New Roman"/>
              </a:rPr>
              <a:t>B = 0</a:t>
            </a:r>
            <a:endParaRPr lang="zh-TW" sz="2400" dirty="0">
              <a:latin typeface="Times New Roman"/>
              <a:cs typeface="Times New Roman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8BAF5A9C-80C2-144E-55E7-2023A14B3FB2}"/>
              </a:ext>
            </a:extLst>
          </p:cNvPr>
          <p:cNvSpPr txBox="1"/>
          <p:nvPr/>
        </p:nvSpPr>
        <p:spPr>
          <a:xfrm>
            <a:off x="7372905" y="5760129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x</a:t>
            </a:r>
            <a:endParaRPr lang="zh-TW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AC93BEED-7F88-2F6B-3172-8E020E0D99A0}"/>
              </a:ext>
            </a:extLst>
          </p:cNvPr>
          <p:cNvSpPr txBox="1"/>
          <p:nvPr/>
        </p:nvSpPr>
        <p:spPr>
          <a:xfrm>
            <a:off x="8785934" y="5419818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d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CEC8607A-4CB7-1C8E-F02F-1FDC1D208BDD}"/>
              </a:ext>
            </a:extLst>
          </p:cNvPr>
          <p:cNvSpPr txBox="1"/>
          <p:nvPr/>
        </p:nvSpPr>
        <p:spPr>
          <a:xfrm>
            <a:off x="7372905" y="2105488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h</a:t>
            </a:r>
            <a:endParaRPr lang="zh-TW" dirty="0"/>
          </a:p>
        </p:txBody>
      </p:sp>
      <p:sp>
        <p:nvSpPr>
          <p:cNvPr id="29" name="箭號: 向右 19">
            <a:extLst>
              <a:ext uri="{FF2B5EF4-FFF2-40B4-BE49-F238E27FC236}">
                <a16:creationId xmlns:a16="http://schemas.microsoft.com/office/drawing/2014/main" id="{0820B71C-523C-C97E-C5D5-55AC61C21283}"/>
              </a:ext>
            </a:extLst>
          </p:cNvPr>
          <p:cNvSpPr/>
          <p:nvPr/>
        </p:nvSpPr>
        <p:spPr>
          <a:xfrm rot="14640000">
            <a:off x="7923431" y="5318333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箭號: 向右 20">
            <a:extLst>
              <a:ext uri="{FF2B5EF4-FFF2-40B4-BE49-F238E27FC236}">
                <a16:creationId xmlns:a16="http://schemas.microsoft.com/office/drawing/2014/main" id="{24D0D390-59AA-0A1C-51FB-AABFBDFA8E53}"/>
              </a:ext>
            </a:extLst>
          </p:cNvPr>
          <p:cNvSpPr/>
          <p:nvPr/>
        </p:nvSpPr>
        <p:spPr>
          <a:xfrm rot="-4140000">
            <a:off x="9595391" y="5318333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箭號: 向右 21">
            <a:extLst>
              <a:ext uri="{FF2B5EF4-FFF2-40B4-BE49-F238E27FC236}">
                <a16:creationId xmlns:a16="http://schemas.microsoft.com/office/drawing/2014/main" id="{85246D8A-ACFF-379C-FE2C-32A27EC946D2}"/>
              </a:ext>
            </a:extLst>
          </p:cNvPr>
          <p:cNvSpPr/>
          <p:nvPr/>
        </p:nvSpPr>
        <p:spPr>
          <a:xfrm rot="19260000">
            <a:off x="7723682" y="2595847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箭號: 向右 22">
            <a:extLst>
              <a:ext uri="{FF2B5EF4-FFF2-40B4-BE49-F238E27FC236}">
                <a16:creationId xmlns:a16="http://schemas.microsoft.com/office/drawing/2014/main" id="{8677DB02-BAAD-2C17-CA49-7BF4FFBE52D9}"/>
              </a:ext>
            </a:extLst>
          </p:cNvPr>
          <p:cNvSpPr/>
          <p:nvPr/>
        </p:nvSpPr>
        <p:spPr>
          <a:xfrm rot="13440000">
            <a:off x="9846925" y="2603245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32A46B0-1F00-A498-43F7-1A55F6E4411D}"/>
              </a:ext>
            </a:extLst>
          </p:cNvPr>
          <p:cNvSpPr txBox="1"/>
          <p:nvPr/>
        </p:nvSpPr>
        <p:spPr>
          <a:xfrm>
            <a:off x="9903041" y="3947604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r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620EE637-C6E3-67CB-B220-8BC70260560C}"/>
              </a:ext>
            </a:extLst>
          </p:cNvPr>
          <p:cNvSpPr txBox="1"/>
          <p:nvPr/>
        </p:nvSpPr>
        <p:spPr>
          <a:xfrm>
            <a:off x="10325645" y="2505364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α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0B9169B0-A03A-1307-4290-6DE6061A543F}"/>
              </a:ext>
            </a:extLst>
          </p:cNvPr>
          <p:cNvSpPr txBox="1"/>
          <p:nvPr/>
        </p:nvSpPr>
        <p:spPr>
          <a:xfrm>
            <a:off x="716808" y="2032822"/>
            <a:ext cx="5483705" cy="2248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r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的數值大小需要手動調整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r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越小，訓練參數量越少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相較於原本沒有 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LoRA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的模型，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LoRA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其實會讓 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inference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 速度變慢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3D3A88C-49D1-CD87-D0C3-7F2F165CC505}"/>
              </a:ext>
            </a:extLst>
          </p:cNvPr>
          <p:cNvSpPr/>
          <p:nvPr/>
        </p:nvSpPr>
        <p:spPr>
          <a:xfrm>
            <a:off x="8997967" y="2469092"/>
            <a:ext cx="2261704" cy="28864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1481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7" grpId="0"/>
      <p:bldP spid="28" grpId="0"/>
      <p:bldP spid="29" grpId="0" animBg="1"/>
      <p:bldP spid="30" grpId="0" animBg="1"/>
      <p:bldP spid="31" grpId="0" animBg="1"/>
      <p:bldP spid="32" grpId="0" animBg="1"/>
      <p:bldP spid="33" grpId="0"/>
      <p:bldP spid="34" grpId="0"/>
      <p:bldP spid="3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D021B0-D006-D86B-E975-3D24A7B6F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可不可以不要外加</a:t>
            </a:r>
            <a:r>
              <a:rPr kumimoji="1" lang="zh-TW" altLang="en-US" dirty="0">
                <a:ea typeface="Microsoft JhengHei" panose="020B0604030504040204" pitchFamily="34" charset="-120"/>
              </a:rPr>
              <a:t>？</a:t>
            </a:r>
            <a:r>
              <a:rPr kumimoji="1" lang="en-US" altLang="zh-TW" dirty="0">
                <a:ea typeface="Microsoft JhengHei" panose="020B0604030504040204" pitchFamily="34" charset="-120"/>
              </a:rPr>
              <a:t>(Adapter </a:t>
            </a:r>
            <a:r>
              <a:rPr kumimoji="1" lang="zh-TW" altLang="en-US" dirty="0">
                <a:ea typeface="Microsoft JhengHei" panose="020B0604030504040204" pitchFamily="34" charset="-120"/>
              </a:rPr>
              <a:t>作法</a:t>
            </a:r>
            <a:r>
              <a:rPr kumimoji="1" lang="en-US" altLang="zh-TW" dirty="0"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936C60-2030-A470-B84B-1A48B48CC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848F99-23CC-E76F-6D65-6CB225AFA533}"/>
              </a:ext>
            </a:extLst>
          </p:cNvPr>
          <p:cNvSpPr/>
          <p:nvPr/>
        </p:nvSpPr>
        <p:spPr>
          <a:xfrm>
            <a:off x="1861560" y="3230803"/>
            <a:ext cx="2056660" cy="2123242"/>
          </a:xfrm>
          <a:prstGeom prst="rect">
            <a:avLst/>
          </a:prstGeom>
          <a:solidFill>
            <a:srgbClr val="5A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2400" b="1" baseline="30000" dirty="0">
              <a:solidFill>
                <a:schemeClr val="bg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6" name="梯形 3">
            <a:extLst>
              <a:ext uri="{FF2B5EF4-FFF2-40B4-BE49-F238E27FC236}">
                <a16:creationId xmlns:a16="http://schemas.microsoft.com/office/drawing/2014/main" id="{B0F1EF30-CFA1-A96C-3C8A-25D9261AA800}"/>
              </a:ext>
            </a:extLst>
          </p:cNvPr>
          <p:cNvSpPr/>
          <p:nvPr/>
        </p:nvSpPr>
        <p:spPr>
          <a:xfrm rot="10800000">
            <a:off x="2144670" y="3420491"/>
            <a:ext cx="1503573" cy="641058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新細明體"/>
              <a:cs typeface="Calibri"/>
            </a:endParaRPr>
          </a:p>
        </p:txBody>
      </p:sp>
      <p:sp>
        <p:nvSpPr>
          <p:cNvPr id="7" name="梯形 5">
            <a:extLst>
              <a:ext uri="{FF2B5EF4-FFF2-40B4-BE49-F238E27FC236}">
                <a16:creationId xmlns:a16="http://schemas.microsoft.com/office/drawing/2014/main" id="{4DBC2F14-6969-330D-B29F-E9BA9C8A4DA2}"/>
              </a:ext>
            </a:extLst>
          </p:cNvPr>
          <p:cNvSpPr/>
          <p:nvPr/>
        </p:nvSpPr>
        <p:spPr>
          <a:xfrm>
            <a:off x="2138103" y="4376849"/>
            <a:ext cx="1503574" cy="711968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TW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A</a:t>
            </a:r>
            <a:endParaRPr lang="zh-TW" altLang="zh-TW" sz="24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B8B019-49FA-A8C7-2F93-4AE63CFFBBEE}"/>
              </a:ext>
            </a:extLst>
          </p:cNvPr>
          <p:cNvSpPr/>
          <p:nvPr/>
        </p:nvSpPr>
        <p:spPr>
          <a:xfrm>
            <a:off x="1702502" y="6008125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56B77C-4360-BF03-4CBA-ADAA59753D74}"/>
              </a:ext>
            </a:extLst>
          </p:cNvPr>
          <p:cNvSpPr/>
          <p:nvPr/>
        </p:nvSpPr>
        <p:spPr>
          <a:xfrm>
            <a:off x="1709900" y="2353484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FCC201B-B8DC-74FD-7CBF-A40D289730F1}"/>
              </a:ext>
            </a:extLst>
          </p:cNvPr>
          <p:cNvSpPr txBox="1"/>
          <p:nvPr/>
        </p:nvSpPr>
        <p:spPr>
          <a:xfrm>
            <a:off x="2246167" y="3491955"/>
            <a:ext cx="130057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FFFF"/>
                </a:solidFill>
                <a:latin typeface="Times New Roman"/>
                <a:ea typeface="新細明體"/>
                <a:cs typeface="Times New Roman"/>
              </a:rPr>
              <a:t>B</a:t>
            </a:r>
            <a:endParaRPr lang="zh-TW" sz="2400" dirty="0">
              <a:latin typeface="Times New Roman"/>
              <a:cs typeface="Times New Roman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68E4D47-4CDD-0DD7-99C0-552962857DB3}"/>
              </a:ext>
            </a:extLst>
          </p:cNvPr>
          <p:cNvSpPr txBox="1"/>
          <p:nvPr/>
        </p:nvSpPr>
        <p:spPr>
          <a:xfrm>
            <a:off x="1259359" y="5945982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x</a:t>
            </a:r>
            <a:endParaRPr lang="zh-TW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6C77226-3454-9C7D-2745-341AAB10DBBD}"/>
              </a:ext>
            </a:extLst>
          </p:cNvPr>
          <p:cNvSpPr txBox="1"/>
          <p:nvPr/>
        </p:nvSpPr>
        <p:spPr>
          <a:xfrm>
            <a:off x="2664988" y="6276250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d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8F5F79A-1B14-BD64-E851-843026BDEECB}"/>
              </a:ext>
            </a:extLst>
          </p:cNvPr>
          <p:cNvSpPr txBox="1"/>
          <p:nvPr/>
        </p:nvSpPr>
        <p:spPr>
          <a:xfrm>
            <a:off x="1259359" y="2291341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h</a:t>
            </a:r>
            <a:endParaRPr lang="zh-TW" dirty="0"/>
          </a:p>
        </p:txBody>
      </p:sp>
      <p:sp>
        <p:nvSpPr>
          <p:cNvPr id="16" name="箭號: 向右 21">
            <a:extLst>
              <a:ext uri="{FF2B5EF4-FFF2-40B4-BE49-F238E27FC236}">
                <a16:creationId xmlns:a16="http://schemas.microsoft.com/office/drawing/2014/main" id="{E19FF131-2B05-3DF4-4A32-A2B940A0B8FF}"/>
              </a:ext>
            </a:extLst>
          </p:cNvPr>
          <p:cNvSpPr/>
          <p:nvPr/>
        </p:nvSpPr>
        <p:spPr>
          <a:xfrm rot="16200000">
            <a:off x="2697233" y="2746321"/>
            <a:ext cx="400111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向右 21">
            <a:extLst>
              <a:ext uri="{FF2B5EF4-FFF2-40B4-BE49-F238E27FC236}">
                <a16:creationId xmlns:a16="http://schemas.microsoft.com/office/drawing/2014/main" id="{FE5CC529-16C4-2A31-EC27-59DDBBDC1E4D}"/>
              </a:ext>
            </a:extLst>
          </p:cNvPr>
          <p:cNvSpPr/>
          <p:nvPr/>
        </p:nvSpPr>
        <p:spPr>
          <a:xfrm rot="16200000">
            <a:off x="2697234" y="5540521"/>
            <a:ext cx="400111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BFF905E-F16D-619D-0B6B-8E7ADDA34CC8}"/>
              </a:ext>
            </a:extLst>
          </p:cNvPr>
          <p:cNvSpPr txBox="1"/>
          <p:nvPr/>
        </p:nvSpPr>
        <p:spPr>
          <a:xfrm>
            <a:off x="653143" y="1641837"/>
            <a:ext cx="74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Adapter</a:t>
            </a:r>
            <a:r>
              <a:rPr kumimoji="1" lang="en-US" altLang="zh-TW" dirty="0"/>
              <a:t>: Parameter-Efficient Transfer Learning for NLP. ICML 2019</a:t>
            </a:r>
            <a:endParaRPr kumimoji="1"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ED4460E-1396-60D8-39EC-52E793E3B25C}"/>
              </a:ext>
            </a:extLst>
          </p:cNvPr>
          <p:cNvSpPr txBox="1"/>
          <p:nvPr/>
        </p:nvSpPr>
        <p:spPr>
          <a:xfrm>
            <a:off x="288485" y="3969258"/>
            <a:ext cx="1461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Transformer Layer</a:t>
            </a:r>
            <a:endParaRPr kumimoji="1"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6FB4447-6FAA-DE8B-FE1E-331BAFB89624}"/>
              </a:ext>
            </a:extLst>
          </p:cNvPr>
          <p:cNvSpPr txBox="1"/>
          <p:nvPr/>
        </p:nvSpPr>
        <p:spPr>
          <a:xfrm>
            <a:off x="5512775" y="2796338"/>
            <a:ext cx="4246685" cy="1889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優點：模型設計更靈活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缺點：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直接變更了模型架構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串聯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-&gt;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計算時間比 </a:t>
            </a:r>
            <a:r>
              <a:rPr kumimoji="1" lang="en-US" altLang="zh-TW" sz="2000" dirty="0" err="1">
                <a:ea typeface="Microsoft JhengHei" panose="020B0604030504040204" pitchFamily="34" charset="-120"/>
              </a:rPr>
              <a:t>LoRA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長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4881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47A937-A148-4B4B-2BD5-251D0D8BD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[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注意事項</a:t>
            </a:r>
            <a:r>
              <a:rPr kumimoji="1" lang="en" altLang="zh-TW" dirty="0"/>
              <a:t>]</a:t>
            </a:r>
            <a:r>
              <a:rPr kumimoji="1" lang="zh-TW" altLang="en-US" dirty="0"/>
              <a:t> </a:t>
            </a:r>
            <a:r>
              <a:rPr kumimoji="1" lang="en" altLang="zh-TW" dirty="0" err="1"/>
              <a:t>LoRA</a:t>
            </a:r>
            <a:r>
              <a:rPr kumimoji="1" lang="zh-TW" altLang="en-US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的問題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657673-3BB8-78C7-1B98-43A7BB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0FDE128-8451-8DE1-4F5A-D02B890B7D2D}"/>
              </a:ext>
            </a:extLst>
          </p:cNvPr>
          <p:cNvSpPr/>
          <p:nvPr/>
        </p:nvSpPr>
        <p:spPr>
          <a:xfrm>
            <a:off x="6728534" y="3036903"/>
            <a:ext cx="2056660" cy="2123242"/>
          </a:xfrm>
          <a:prstGeom prst="rect">
            <a:avLst/>
          </a:prstGeom>
          <a:solidFill>
            <a:srgbClr val="5A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Pretrained</a:t>
            </a: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Weights</a:t>
            </a:r>
          </a:p>
          <a:p>
            <a:pPr algn="ctr"/>
            <a:endParaRPr lang="zh-TW" altLang="en-US" sz="2400" b="1" dirty="0">
              <a:latin typeface="Times New Roman"/>
              <a:ea typeface="新細明體"/>
              <a:cs typeface="Calibri"/>
            </a:endParaRP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2400" b="1" baseline="30000" dirty="0" err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dxd</a:t>
            </a:r>
            <a:endParaRPr lang="en-US" altLang="zh-TW" sz="2400" b="1" baseline="30000" dirty="0">
              <a:solidFill>
                <a:schemeClr val="bg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21" name="梯形 3">
            <a:extLst>
              <a:ext uri="{FF2B5EF4-FFF2-40B4-BE49-F238E27FC236}">
                <a16:creationId xmlns:a16="http://schemas.microsoft.com/office/drawing/2014/main" id="{E7A96AF0-8EFD-A0A3-44ED-0B4D7D454CEA}"/>
              </a:ext>
            </a:extLst>
          </p:cNvPr>
          <p:cNvSpPr/>
          <p:nvPr/>
        </p:nvSpPr>
        <p:spPr>
          <a:xfrm rot="10800000">
            <a:off x="9180989" y="3036902"/>
            <a:ext cx="1908699" cy="813786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新細明體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梯形 5">
                <a:extLst>
                  <a:ext uri="{FF2B5EF4-FFF2-40B4-BE49-F238E27FC236}">
                    <a16:creationId xmlns:a16="http://schemas.microsoft.com/office/drawing/2014/main" id="{05DD19F8-36A7-1BF4-7F39-2DD17E123852}"/>
                  </a:ext>
                </a:extLst>
              </p:cNvPr>
              <p:cNvSpPr/>
              <p:nvPr/>
            </p:nvSpPr>
            <p:spPr>
              <a:xfrm>
                <a:off x="9180988" y="4346359"/>
                <a:ext cx="1908699" cy="813786"/>
              </a:xfrm>
              <a:prstGeom prst="trapezoid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A =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</a:rPr>
                      <m:t>𝒩</m:t>
                    </m:r>
                  </m:oMath>
                </a14:m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(0,</a:t>
                </a:r>
                <a:r>
                  <a:rPr lang="en-US" altLang="zh-TW" sz="2400" dirty="0">
                    <a:solidFill>
                      <a:schemeClr val="bg1"/>
                    </a:solidFill>
                    <a:latin typeface="Times New Roman"/>
                    <a:ea typeface="+mn-lt"/>
                    <a:cs typeface="+mn-lt"/>
                  </a:rPr>
                  <a:t>σ</a:t>
                </a:r>
                <a:r>
                  <a:rPr lang="en-US" altLang="zh-TW" sz="2400" baseline="30000" dirty="0">
                    <a:solidFill>
                      <a:schemeClr val="bg1"/>
                    </a:solidFill>
                    <a:latin typeface="Times New Roman"/>
                    <a:ea typeface="+mn-lt"/>
                    <a:cs typeface="+mn-lt"/>
                  </a:rPr>
                  <a:t>2</a:t>
                </a:r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)</a:t>
                </a:r>
                <a:endParaRPr lang="zh-TW" altLang="zh-TW" sz="2400" dirty="0">
                  <a:solidFill>
                    <a:schemeClr val="bg1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22" name="梯形 5">
                <a:extLst>
                  <a:ext uri="{FF2B5EF4-FFF2-40B4-BE49-F238E27FC236}">
                    <a16:creationId xmlns:a16="http://schemas.microsoft.com/office/drawing/2014/main" id="{05DD19F8-36A7-1BF4-7F39-2DD17E1238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988" y="4346359"/>
                <a:ext cx="1908699" cy="813786"/>
              </a:xfrm>
              <a:prstGeom prst="trapezoid">
                <a:avLst/>
              </a:prstGeom>
              <a:blipFill>
                <a:blip r:embed="rId2"/>
                <a:stretch>
                  <a:fillRect l="-6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65F177DA-EE05-2E17-1864-B71F32ED4706}"/>
              </a:ext>
            </a:extLst>
          </p:cNvPr>
          <p:cNvSpPr/>
          <p:nvPr/>
        </p:nvSpPr>
        <p:spPr>
          <a:xfrm>
            <a:off x="7816048" y="5822272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3EB6F16-8C24-3E2D-319A-0B888BC7B211}"/>
              </a:ext>
            </a:extLst>
          </p:cNvPr>
          <p:cNvSpPr/>
          <p:nvPr/>
        </p:nvSpPr>
        <p:spPr>
          <a:xfrm>
            <a:off x="7823446" y="2167631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2B437B7-E5D1-2CB4-3947-6812B0BD18A1}"/>
              </a:ext>
            </a:extLst>
          </p:cNvPr>
          <p:cNvSpPr txBox="1"/>
          <p:nvPr/>
        </p:nvSpPr>
        <p:spPr>
          <a:xfrm>
            <a:off x="9484310" y="3210757"/>
            <a:ext cx="130057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FFFF"/>
                </a:solidFill>
                <a:latin typeface="Times New Roman"/>
                <a:ea typeface="新細明體"/>
                <a:cs typeface="Times New Roman"/>
              </a:rPr>
              <a:t>B = 0</a:t>
            </a:r>
            <a:endParaRPr lang="zh-TW" sz="2400" dirty="0">
              <a:latin typeface="Times New Roman"/>
              <a:cs typeface="Times New Roman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8BAF5A9C-80C2-144E-55E7-2023A14B3FB2}"/>
              </a:ext>
            </a:extLst>
          </p:cNvPr>
          <p:cNvSpPr txBox="1"/>
          <p:nvPr/>
        </p:nvSpPr>
        <p:spPr>
          <a:xfrm>
            <a:off x="7372905" y="5760129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x</a:t>
            </a:r>
            <a:endParaRPr lang="zh-TW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AC93BEED-7F88-2F6B-3172-8E020E0D99A0}"/>
              </a:ext>
            </a:extLst>
          </p:cNvPr>
          <p:cNvSpPr txBox="1"/>
          <p:nvPr/>
        </p:nvSpPr>
        <p:spPr>
          <a:xfrm>
            <a:off x="8785934" y="5419818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d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CEC8607A-4CB7-1C8E-F02F-1FDC1D208BDD}"/>
              </a:ext>
            </a:extLst>
          </p:cNvPr>
          <p:cNvSpPr txBox="1"/>
          <p:nvPr/>
        </p:nvSpPr>
        <p:spPr>
          <a:xfrm>
            <a:off x="7372905" y="2105488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h</a:t>
            </a:r>
            <a:endParaRPr lang="zh-TW" dirty="0"/>
          </a:p>
        </p:txBody>
      </p:sp>
      <p:sp>
        <p:nvSpPr>
          <p:cNvPr id="29" name="箭號: 向右 19">
            <a:extLst>
              <a:ext uri="{FF2B5EF4-FFF2-40B4-BE49-F238E27FC236}">
                <a16:creationId xmlns:a16="http://schemas.microsoft.com/office/drawing/2014/main" id="{0820B71C-523C-C97E-C5D5-55AC61C21283}"/>
              </a:ext>
            </a:extLst>
          </p:cNvPr>
          <p:cNvSpPr/>
          <p:nvPr/>
        </p:nvSpPr>
        <p:spPr>
          <a:xfrm rot="14640000">
            <a:off x="7923431" y="5318333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箭號: 向右 20">
            <a:extLst>
              <a:ext uri="{FF2B5EF4-FFF2-40B4-BE49-F238E27FC236}">
                <a16:creationId xmlns:a16="http://schemas.microsoft.com/office/drawing/2014/main" id="{24D0D390-59AA-0A1C-51FB-AABFBDFA8E53}"/>
              </a:ext>
            </a:extLst>
          </p:cNvPr>
          <p:cNvSpPr/>
          <p:nvPr/>
        </p:nvSpPr>
        <p:spPr>
          <a:xfrm rot="-4140000">
            <a:off x="9595391" y="5318333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箭號: 向右 21">
            <a:extLst>
              <a:ext uri="{FF2B5EF4-FFF2-40B4-BE49-F238E27FC236}">
                <a16:creationId xmlns:a16="http://schemas.microsoft.com/office/drawing/2014/main" id="{85246D8A-ACFF-379C-FE2C-32A27EC946D2}"/>
              </a:ext>
            </a:extLst>
          </p:cNvPr>
          <p:cNvSpPr/>
          <p:nvPr/>
        </p:nvSpPr>
        <p:spPr>
          <a:xfrm rot="19260000">
            <a:off x="7723682" y="2595847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箭號: 向右 22">
            <a:extLst>
              <a:ext uri="{FF2B5EF4-FFF2-40B4-BE49-F238E27FC236}">
                <a16:creationId xmlns:a16="http://schemas.microsoft.com/office/drawing/2014/main" id="{8677DB02-BAAD-2C17-CA49-7BF4FFBE52D9}"/>
              </a:ext>
            </a:extLst>
          </p:cNvPr>
          <p:cNvSpPr/>
          <p:nvPr/>
        </p:nvSpPr>
        <p:spPr>
          <a:xfrm rot="13440000">
            <a:off x="9846925" y="2603245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32A46B0-1F00-A498-43F7-1A55F6E4411D}"/>
              </a:ext>
            </a:extLst>
          </p:cNvPr>
          <p:cNvSpPr txBox="1"/>
          <p:nvPr/>
        </p:nvSpPr>
        <p:spPr>
          <a:xfrm>
            <a:off x="9903041" y="3947604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r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620EE637-C6E3-67CB-B220-8BC70260560C}"/>
              </a:ext>
            </a:extLst>
          </p:cNvPr>
          <p:cNvSpPr txBox="1"/>
          <p:nvPr/>
        </p:nvSpPr>
        <p:spPr>
          <a:xfrm>
            <a:off x="10325645" y="2505364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α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0B9169B0-A03A-1307-4290-6DE6061A543F}"/>
              </a:ext>
            </a:extLst>
          </p:cNvPr>
          <p:cNvSpPr txBox="1"/>
          <p:nvPr/>
        </p:nvSpPr>
        <p:spPr>
          <a:xfrm>
            <a:off x="716808" y="2032822"/>
            <a:ext cx="5084547" cy="3356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solidFill>
                  <a:schemeClr val="bg1">
                    <a:lumMod val="65000"/>
                  </a:schemeClr>
                </a:solidFill>
                <a:ea typeface="Microsoft JhengHei" panose="020B0604030504040204" pitchFamily="34" charset="-120"/>
              </a:rPr>
              <a:t>r </a:t>
            </a:r>
            <a:r>
              <a:rPr kumimoji="1" lang="zh-TW" altLang="en-US" sz="2400" dirty="0">
                <a:solidFill>
                  <a:schemeClr val="bg1">
                    <a:lumMod val="65000"/>
                  </a:schemeClr>
                </a:solidFill>
                <a:ea typeface="Microsoft JhengHei" panose="020B0604030504040204" pitchFamily="34" charset="-120"/>
              </a:rPr>
              <a:t>的數值大小需要手動調整</a:t>
            </a:r>
            <a:endParaRPr kumimoji="1" lang="en-US" altLang="zh-TW" sz="2400" dirty="0">
              <a:solidFill>
                <a:schemeClr val="bg1">
                  <a:lumMod val="65000"/>
                </a:schemeClr>
              </a:solidFill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solidFill>
                  <a:schemeClr val="bg1">
                    <a:lumMod val="65000"/>
                  </a:schemeClr>
                </a:solidFill>
                <a:ea typeface="Microsoft JhengHei" panose="020B0604030504040204" pitchFamily="34" charset="-120"/>
              </a:rPr>
              <a:t>r</a:t>
            </a:r>
            <a:r>
              <a:rPr kumimoji="1" lang="zh-TW" altLang="en-US" sz="2400" dirty="0">
                <a:solidFill>
                  <a:schemeClr val="bg1">
                    <a:lumMod val="65000"/>
                  </a:schemeClr>
                </a:solidFill>
                <a:ea typeface="Microsoft JhengHei" panose="020B0604030504040204" pitchFamily="34" charset="-120"/>
              </a:rPr>
              <a:t> 越小，訓練參數量越少</a:t>
            </a:r>
            <a:endParaRPr kumimoji="1" lang="en-US" altLang="zh-TW" sz="2400" dirty="0">
              <a:solidFill>
                <a:schemeClr val="bg1">
                  <a:lumMod val="65000"/>
                </a:schemeClr>
              </a:solidFill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solidFill>
                  <a:schemeClr val="bg1">
                    <a:lumMod val="65000"/>
                  </a:schemeClr>
                </a:solidFill>
                <a:ea typeface="Microsoft JhengHei" panose="020B0604030504040204" pitchFamily="34" charset="-120"/>
              </a:rPr>
              <a:t>相較於原本沒有 </a:t>
            </a:r>
            <a:r>
              <a:rPr kumimoji="1" lang="en-US" altLang="zh-TW" sz="2400" dirty="0" err="1">
                <a:solidFill>
                  <a:schemeClr val="bg1">
                    <a:lumMod val="65000"/>
                  </a:schemeClr>
                </a:solidFill>
                <a:ea typeface="Microsoft JhengHei" panose="020B0604030504040204" pitchFamily="34" charset="-120"/>
              </a:rPr>
              <a:t>LoRA</a:t>
            </a:r>
            <a:r>
              <a:rPr kumimoji="1" lang="zh-TW" altLang="en-US" sz="2400" dirty="0">
                <a:solidFill>
                  <a:schemeClr val="bg1">
                    <a:lumMod val="65000"/>
                  </a:schemeClr>
                </a:solidFill>
                <a:ea typeface="Microsoft JhengHei" panose="020B0604030504040204" pitchFamily="34" charset="-120"/>
              </a:rPr>
              <a:t> 的模型，</a:t>
            </a:r>
            <a:r>
              <a:rPr kumimoji="1" lang="en-US" altLang="zh-TW" sz="2400" dirty="0" err="1">
                <a:solidFill>
                  <a:schemeClr val="bg1">
                    <a:lumMod val="65000"/>
                  </a:schemeClr>
                </a:solidFill>
                <a:ea typeface="Microsoft JhengHei" panose="020B0604030504040204" pitchFamily="34" charset="-120"/>
              </a:rPr>
              <a:t>LoRA</a:t>
            </a:r>
            <a:r>
              <a:rPr kumimoji="1" lang="zh-TW" altLang="en-US" sz="2400" dirty="0">
                <a:solidFill>
                  <a:schemeClr val="bg1">
                    <a:lumMod val="65000"/>
                  </a:schemeClr>
                </a:solidFill>
                <a:ea typeface="Microsoft JhengHei" panose="020B0604030504040204" pitchFamily="34" charset="-120"/>
              </a:rPr>
              <a:t> 其實會讓 </a:t>
            </a:r>
            <a:r>
              <a:rPr kumimoji="1" lang="en-US" altLang="zh-TW" sz="2400" dirty="0">
                <a:solidFill>
                  <a:schemeClr val="bg1">
                    <a:lumMod val="65000"/>
                  </a:schemeClr>
                </a:solidFill>
                <a:ea typeface="Microsoft JhengHei" panose="020B0604030504040204" pitchFamily="34" charset="-120"/>
              </a:rPr>
              <a:t>inference</a:t>
            </a:r>
            <a:r>
              <a:rPr kumimoji="1" lang="zh-TW" altLang="en-US" sz="2400" dirty="0">
                <a:solidFill>
                  <a:schemeClr val="bg1">
                    <a:lumMod val="65000"/>
                  </a:schemeClr>
                </a:solidFill>
                <a:ea typeface="Microsoft JhengHei" panose="020B0604030504040204" pitchFamily="34" charset="-120"/>
              </a:rPr>
              <a:t> 速度變慢</a:t>
            </a:r>
            <a:endParaRPr kumimoji="1" lang="en-US" altLang="zh-TW" sz="2400" dirty="0">
              <a:solidFill>
                <a:schemeClr val="bg1">
                  <a:lumMod val="65000"/>
                </a:schemeClr>
              </a:solidFill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訓練和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inference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時，大模型的部分其實還是被載入記憶體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…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3D3A88C-49D1-CD87-D0C3-7F2F165CC505}"/>
              </a:ext>
            </a:extLst>
          </p:cNvPr>
          <p:cNvSpPr/>
          <p:nvPr/>
        </p:nvSpPr>
        <p:spPr>
          <a:xfrm>
            <a:off x="6626012" y="2597570"/>
            <a:ext cx="2261704" cy="28864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95993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E9A13-34B5-3EA1-9A2A-02C57C0C6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F8EE4F-7F24-9B98-6D4E-50EDD8D72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4400" dirty="0" err="1">
                <a:ea typeface="+mj-lt"/>
                <a:cs typeface="Times New Roman"/>
              </a:rPr>
              <a:t>QLoRA</a:t>
            </a:r>
            <a:r>
              <a:rPr lang="en-US" altLang="zh-TW" sz="4400" dirty="0">
                <a:ea typeface="+mj-lt"/>
                <a:cs typeface="Times New Roman"/>
              </a:rPr>
              <a:t>: </a:t>
            </a:r>
            <a:r>
              <a:rPr lang="en-US" altLang="zh-TW" sz="4400" b="1" dirty="0">
                <a:solidFill>
                  <a:srgbClr val="FF0000"/>
                </a:solidFill>
                <a:ea typeface="+mj-lt"/>
                <a:cs typeface="Times New Roman"/>
              </a:rPr>
              <a:t>Quantized </a:t>
            </a:r>
            <a:r>
              <a:rPr lang="en-US" altLang="zh-TW" sz="4400" dirty="0" err="1">
                <a:solidFill>
                  <a:schemeClr val="tx1"/>
                </a:solidFill>
                <a:ea typeface="+mj-lt"/>
                <a:cs typeface="Times New Roman"/>
              </a:rPr>
              <a:t>LoRA</a:t>
            </a:r>
            <a:endParaRPr lang="en-US" altLang="zh-TW" sz="4400" dirty="0">
              <a:solidFill>
                <a:schemeClr val="tx1"/>
              </a:solidFill>
              <a:ea typeface="+mj-lt"/>
              <a:cs typeface="Times New Roman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BC23A01-3E2E-1B70-B021-4E6D2B09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>
                <a:latin typeface="Times New Roman"/>
                <a:cs typeface="Times New Roman"/>
              </a:rPr>
              <a:t>27</a:t>
            </a:fld>
            <a:endParaRPr lang="zh-TW" altLang="en-US">
              <a:latin typeface="Times New Roman"/>
              <a:cs typeface="Times New Roman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709D75-AEA7-8B99-11E7-B03EE37F255B}"/>
              </a:ext>
            </a:extLst>
          </p:cNvPr>
          <p:cNvSpPr/>
          <p:nvPr/>
        </p:nvSpPr>
        <p:spPr>
          <a:xfrm>
            <a:off x="6096000" y="3022108"/>
            <a:ext cx="2056660" cy="2123242"/>
          </a:xfrm>
          <a:prstGeom prst="rect">
            <a:avLst/>
          </a:prstGeom>
          <a:solidFill>
            <a:srgbClr val="5A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Pretrained</a:t>
            </a: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Weights</a:t>
            </a:r>
          </a:p>
          <a:p>
            <a:pPr algn="ctr"/>
            <a:endParaRPr lang="zh-TW" altLang="en-US" sz="2400" b="1" dirty="0">
              <a:latin typeface="Times New Roman"/>
              <a:ea typeface="新細明體"/>
              <a:cs typeface="Calibri"/>
            </a:endParaRP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2400" b="1" baseline="30000" dirty="0" err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dxd</a:t>
            </a:r>
            <a:endParaRPr lang="en-US" altLang="zh-TW" sz="2400" b="1" baseline="30000" dirty="0">
              <a:solidFill>
                <a:schemeClr val="bg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4" name="梯形 3">
            <a:extLst>
              <a:ext uri="{FF2B5EF4-FFF2-40B4-BE49-F238E27FC236}">
                <a16:creationId xmlns:a16="http://schemas.microsoft.com/office/drawing/2014/main" id="{1FA20901-FDF9-CC23-E9C2-A4EEE3F87382}"/>
              </a:ext>
            </a:extLst>
          </p:cNvPr>
          <p:cNvSpPr/>
          <p:nvPr/>
        </p:nvSpPr>
        <p:spPr>
          <a:xfrm rot="10800000">
            <a:off x="8548455" y="3022107"/>
            <a:ext cx="1908699" cy="813786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新細明體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梯形 5">
                <a:extLst>
                  <a:ext uri="{FF2B5EF4-FFF2-40B4-BE49-F238E27FC236}">
                    <a16:creationId xmlns:a16="http://schemas.microsoft.com/office/drawing/2014/main" id="{5F82C3E9-C3A2-FE36-025A-F774F9329F40}"/>
                  </a:ext>
                </a:extLst>
              </p:cNvPr>
              <p:cNvSpPr/>
              <p:nvPr/>
            </p:nvSpPr>
            <p:spPr>
              <a:xfrm>
                <a:off x="8548454" y="4331564"/>
                <a:ext cx="1908699" cy="813786"/>
              </a:xfrm>
              <a:prstGeom prst="trapezoid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A =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</a:rPr>
                      <m:t>𝒩</m:t>
                    </m:r>
                  </m:oMath>
                </a14:m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(0,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/>
                    <a:ea typeface="+mn-lt"/>
                    <a:cs typeface="+mn-lt"/>
                  </a:rPr>
                  <a:t>σ</a:t>
                </a:r>
                <a:r>
                  <a:rPr lang="en-US" sz="2400" baseline="30000" dirty="0">
                    <a:solidFill>
                      <a:schemeClr val="bg1"/>
                    </a:solidFill>
                    <a:latin typeface="Times New Roman"/>
                    <a:ea typeface="+mn-lt"/>
                    <a:cs typeface="+mn-lt"/>
                  </a:rPr>
                  <a:t>2</a:t>
                </a:r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)</a:t>
                </a:r>
                <a:endParaRPr lang="zh-TW" sz="2400" dirty="0">
                  <a:solidFill>
                    <a:schemeClr val="bg1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6" name="梯形 5">
                <a:extLst>
                  <a:ext uri="{FF2B5EF4-FFF2-40B4-BE49-F238E27FC236}">
                    <a16:creationId xmlns:a16="http://schemas.microsoft.com/office/drawing/2014/main" id="{5F82C3E9-C3A2-FE36-025A-F774F9329F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454" y="4331564"/>
                <a:ext cx="1908699" cy="813786"/>
              </a:xfrm>
              <a:prstGeom prst="trapezoid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AF647EE7-61CC-E17B-9276-B1017D95704A}"/>
              </a:ext>
            </a:extLst>
          </p:cNvPr>
          <p:cNvSpPr/>
          <p:nvPr/>
        </p:nvSpPr>
        <p:spPr>
          <a:xfrm>
            <a:off x="7183514" y="5807477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1ACEA3-B17D-D03F-D38F-465F8F0C7A02}"/>
              </a:ext>
            </a:extLst>
          </p:cNvPr>
          <p:cNvSpPr/>
          <p:nvPr/>
        </p:nvSpPr>
        <p:spPr>
          <a:xfrm>
            <a:off x="7190912" y="2152836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CA84FC7-307B-83C1-727B-073BB9C70E67}"/>
              </a:ext>
            </a:extLst>
          </p:cNvPr>
          <p:cNvSpPr txBox="1"/>
          <p:nvPr/>
        </p:nvSpPr>
        <p:spPr>
          <a:xfrm>
            <a:off x="8851776" y="3195962"/>
            <a:ext cx="130057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FFFF"/>
                </a:solidFill>
                <a:latin typeface="Times New Roman"/>
                <a:ea typeface="新細明體"/>
                <a:cs typeface="Times New Roman"/>
              </a:rPr>
              <a:t>B = 0</a:t>
            </a:r>
            <a:endParaRPr lang="zh-TW" sz="2400" dirty="0">
              <a:latin typeface="Times New Roman"/>
              <a:cs typeface="Times New Roman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A77DFEC-4F05-AAA0-709D-878BF2168C86}"/>
              </a:ext>
            </a:extLst>
          </p:cNvPr>
          <p:cNvSpPr txBox="1"/>
          <p:nvPr/>
        </p:nvSpPr>
        <p:spPr>
          <a:xfrm>
            <a:off x="6740371" y="5745334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i="1" dirty="0">
                <a:latin typeface="Times New Roman"/>
                <a:ea typeface="新細明體"/>
                <a:cs typeface="Times New Roman"/>
              </a:rPr>
              <a:t>x</a:t>
            </a:r>
            <a:endParaRPr lang="zh-TW" i="1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E40C2C0-90D6-E7F7-190E-38C73225F2E0}"/>
              </a:ext>
            </a:extLst>
          </p:cNvPr>
          <p:cNvSpPr txBox="1"/>
          <p:nvPr/>
        </p:nvSpPr>
        <p:spPr>
          <a:xfrm>
            <a:off x="8153398" y="6040297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d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A684136-688D-FA57-B605-497B048A1DD9}"/>
              </a:ext>
            </a:extLst>
          </p:cNvPr>
          <p:cNvSpPr txBox="1"/>
          <p:nvPr/>
        </p:nvSpPr>
        <p:spPr>
          <a:xfrm>
            <a:off x="6740371" y="2090693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h</a:t>
            </a:r>
            <a:endParaRPr lang="zh-TW" dirty="0"/>
          </a:p>
        </p:txBody>
      </p:sp>
      <p:sp>
        <p:nvSpPr>
          <p:cNvPr id="20" name="箭號: 向右 19">
            <a:extLst>
              <a:ext uri="{FF2B5EF4-FFF2-40B4-BE49-F238E27FC236}">
                <a16:creationId xmlns:a16="http://schemas.microsoft.com/office/drawing/2014/main" id="{10F91241-30AA-318E-0525-26247FCD56CA}"/>
              </a:ext>
            </a:extLst>
          </p:cNvPr>
          <p:cNvSpPr/>
          <p:nvPr/>
        </p:nvSpPr>
        <p:spPr>
          <a:xfrm rot="14640000">
            <a:off x="7290897" y="5303538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B98272A3-3BCE-D9DD-B31A-8A5F3E254BA2}"/>
              </a:ext>
            </a:extLst>
          </p:cNvPr>
          <p:cNvSpPr/>
          <p:nvPr/>
        </p:nvSpPr>
        <p:spPr>
          <a:xfrm rot="-4140000">
            <a:off x="8962857" y="5303538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箭號: 向右 21">
            <a:extLst>
              <a:ext uri="{FF2B5EF4-FFF2-40B4-BE49-F238E27FC236}">
                <a16:creationId xmlns:a16="http://schemas.microsoft.com/office/drawing/2014/main" id="{8D442355-C060-4FAC-1C8E-DCB98C1DA921}"/>
              </a:ext>
            </a:extLst>
          </p:cNvPr>
          <p:cNvSpPr/>
          <p:nvPr/>
        </p:nvSpPr>
        <p:spPr>
          <a:xfrm rot="19260000">
            <a:off x="7091148" y="2581052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D878430A-C355-CF15-9535-6E936FE02858}"/>
              </a:ext>
            </a:extLst>
          </p:cNvPr>
          <p:cNvSpPr/>
          <p:nvPr/>
        </p:nvSpPr>
        <p:spPr>
          <a:xfrm rot="13440000">
            <a:off x="9214391" y="2588450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E987CD1-FFC8-FFCA-15BD-86C65E1F43B5}"/>
              </a:ext>
            </a:extLst>
          </p:cNvPr>
          <p:cNvSpPr txBox="1"/>
          <p:nvPr/>
        </p:nvSpPr>
        <p:spPr>
          <a:xfrm>
            <a:off x="9270507" y="3932809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r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C021C64-4F49-FF67-B1E5-27949BDD6BE2}"/>
              </a:ext>
            </a:extLst>
          </p:cNvPr>
          <p:cNvSpPr txBox="1"/>
          <p:nvPr/>
        </p:nvSpPr>
        <p:spPr>
          <a:xfrm>
            <a:off x="9693111" y="2490569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α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A5440F6-05AA-3F62-DA35-7918809B64A9}"/>
              </a:ext>
            </a:extLst>
          </p:cNvPr>
          <p:cNvSpPr txBox="1"/>
          <p:nvPr/>
        </p:nvSpPr>
        <p:spPr>
          <a:xfrm>
            <a:off x="1" y="6441225"/>
            <a:ext cx="1219199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 err="1">
                <a:solidFill>
                  <a:srgbClr val="222222"/>
                </a:solidFill>
                <a:ea typeface="新細明體"/>
                <a:cs typeface="Arial"/>
              </a:rPr>
              <a:t>Dettmers</a:t>
            </a:r>
            <a:r>
              <a:rPr lang="en-US" sz="1000" dirty="0">
                <a:solidFill>
                  <a:srgbClr val="222222"/>
                </a:solidFill>
                <a:ea typeface="新細明體"/>
                <a:cs typeface="Arial"/>
              </a:rPr>
              <a:t>, Tim, et al. "</a:t>
            </a:r>
            <a:r>
              <a:rPr lang="en-US" sz="1000" dirty="0" err="1">
                <a:solidFill>
                  <a:srgbClr val="222222"/>
                </a:solidFill>
                <a:ea typeface="新細明體"/>
                <a:cs typeface="Arial"/>
              </a:rPr>
              <a:t>Qlora</a:t>
            </a:r>
            <a:r>
              <a:rPr lang="en-US" sz="1000" dirty="0">
                <a:solidFill>
                  <a:srgbClr val="222222"/>
                </a:solidFill>
                <a:ea typeface="新細明體"/>
                <a:cs typeface="Arial"/>
              </a:rPr>
              <a:t>: Efficient finetuning of quantized </a:t>
            </a:r>
            <a:r>
              <a:rPr lang="en-US" sz="1000" dirty="0" err="1">
                <a:solidFill>
                  <a:srgbClr val="222222"/>
                </a:solidFill>
                <a:ea typeface="新細明體"/>
                <a:cs typeface="Arial"/>
              </a:rPr>
              <a:t>llms</a:t>
            </a:r>
            <a:r>
              <a:rPr lang="en-US" sz="1000" dirty="0">
                <a:solidFill>
                  <a:srgbClr val="222222"/>
                </a:solidFill>
                <a:ea typeface="新細明體"/>
                <a:cs typeface="Arial"/>
              </a:rPr>
              <a:t>." </a:t>
            </a:r>
            <a:r>
              <a:rPr lang="en-US" sz="1000" dirty="0" err="1">
                <a:solidFill>
                  <a:srgbClr val="222222"/>
                </a:solidFill>
                <a:ea typeface="新細明體"/>
                <a:cs typeface="Arial"/>
              </a:rPr>
              <a:t>NeurIPS</a:t>
            </a:r>
            <a:r>
              <a:rPr lang="en-US" sz="1000" dirty="0">
                <a:solidFill>
                  <a:srgbClr val="222222"/>
                </a:solidFill>
                <a:ea typeface="新細明體"/>
                <a:cs typeface="Arial"/>
              </a:rPr>
              <a:t> 2023.</a:t>
            </a:r>
            <a:endParaRPr lang="zh-TW" sz="1000" dirty="0">
              <a:ea typeface="新細明體"/>
              <a:cs typeface="Times New Roman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7BAA35-2B30-7FDA-AA98-373B2C397DA0}"/>
              </a:ext>
            </a:extLst>
          </p:cNvPr>
          <p:cNvSpPr/>
          <p:nvPr/>
        </p:nvSpPr>
        <p:spPr>
          <a:xfrm>
            <a:off x="1890881" y="2992103"/>
            <a:ext cx="2056660" cy="2123242"/>
          </a:xfrm>
          <a:prstGeom prst="rect">
            <a:avLst/>
          </a:prstGeom>
          <a:solidFill>
            <a:srgbClr val="5A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Pretrained</a:t>
            </a: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Weights</a:t>
            </a:r>
          </a:p>
          <a:p>
            <a:pPr algn="ctr"/>
            <a:endParaRPr lang="zh-TW" altLang="en-US" sz="2400" b="1" dirty="0">
              <a:latin typeface="Times New Roman"/>
              <a:ea typeface="新細明體"/>
              <a:cs typeface="Calibri"/>
            </a:endParaRP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2400" b="1" baseline="30000" dirty="0" err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dxd</a:t>
            </a:r>
            <a:endParaRPr lang="en-US" altLang="zh-TW" sz="2400" b="1" baseline="30000" dirty="0">
              <a:solidFill>
                <a:schemeClr val="bg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3739B7D-7AEC-952A-F846-A35391CD8D44}"/>
              </a:ext>
            </a:extLst>
          </p:cNvPr>
          <p:cNvSpPr/>
          <p:nvPr/>
        </p:nvSpPr>
        <p:spPr>
          <a:xfrm>
            <a:off x="1731823" y="5807476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7DF3063-9D70-7822-23D5-1EEAD92CF374}"/>
              </a:ext>
            </a:extLst>
          </p:cNvPr>
          <p:cNvSpPr/>
          <p:nvPr/>
        </p:nvSpPr>
        <p:spPr>
          <a:xfrm>
            <a:off x="1739221" y="2152835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D6CD0F6C-4CF1-3AEE-DF07-6C85F720BDDD}"/>
              </a:ext>
            </a:extLst>
          </p:cNvPr>
          <p:cNvSpPr txBox="1"/>
          <p:nvPr/>
        </p:nvSpPr>
        <p:spPr>
          <a:xfrm>
            <a:off x="1288680" y="5745333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i="1" dirty="0">
                <a:latin typeface="Times New Roman"/>
                <a:ea typeface="新細明體"/>
                <a:cs typeface="Times New Roman"/>
              </a:rPr>
              <a:t>x</a:t>
            </a:r>
            <a:endParaRPr lang="zh-TW" i="1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CA8707B6-E1D4-E55C-B1AC-F00CB5A47BC2}"/>
              </a:ext>
            </a:extLst>
          </p:cNvPr>
          <p:cNvSpPr txBox="1"/>
          <p:nvPr/>
        </p:nvSpPr>
        <p:spPr>
          <a:xfrm>
            <a:off x="2701707" y="6042180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d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9E0E0B09-85FE-EF48-18BC-57A4D6DE22AC}"/>
              </a:ext>
            </a:extLst>
          </p:cNvPr>
          <p:cNvSpPr txBox="1"/>
          <p:nvPr/>
        </p:nvSpPr>
        <p:spPr>
          <a:xfrm>
            <a:off x="1288680" y="2090692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h</a:t>
            </a:r>
            <a:endParaRPr lang="zh-TW" dirty="0"/>
          </a:p>
        </p:txBody>
      </p:sp>
      <p:sp>
        <p:nvSpPr>
          <p:cNvPr id="33" name="箭號: 向右 19">
            <a:extLst>
              <a:ext uri="{FF2B5EF4-FFF2-40B4-BE49-F238E27FC236}">
                <a16:creationId xmlns:a16="http://schemas.microsoft.com/office/drawing/2014/main" id="{39AB999F-9298-1D06-BC53-A32E25952C87}"/>
              </a:ext>
            </a:extLst>
          </p:cNvPr>
          <p:cNvSpPr/>
          <p:nvPr/>
        </p:nvSpPr>
        <p:spPr>
          <a:xfrm rot="16200000">
            <a:off x="2626988" y="5321674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箭號: 向右 21">
            <a:extLst>
              <a:ext uri="{FF2B5EF4-FFF2-40B4-BE49-F238E27FC236}">
                <a16:creationId xmlns:a16="http://schemas.microsoft.com/office/drawing/2014/main" id="{92C3C1BB-8DAB-EC6C-6A1D-9166704671DB}"/>
              </a:ext>
            </a:extLst>
          </p:cNvPr>
          <p:cNvSpPr/>
          <p:nvPr/>
        </p:nvSpPr>
        <p:spPr>
          <a:xfrm rot="16200000">
            <a:off x="2695964" y="2565867"/>
            <a:ext cx="461288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6547D03-CC13-8B5F-A46D-1617FB1BDC0A}"/>
              </a:ext>
            </a:extLst>
          </p:cNvPr>
          <p:cNvSpPr txBox="1"/>
          <p:nvPr/>
        </p:nvSpPr>
        <p:spPr>
          <a:xfrm>
            <a:off x="7796980" y="1552722"/>
            <a:ext cx="12221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2200" b="1" dirty="0" err="1"/>
              <a:t>QLoRA</a:t>
            </a:r>
            <a:endParaRPr kumimoji="1" lang="zh-TW" altLang="en-US" sz="2200" b="1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89B2ADDB-17F2-47B7-F772-3B54BCBE1CE5}"/>
              </a:ext>
            </a:extLst>
          </p:cNvPr>
          <p:cNvSpPr txBox="1"/>
          <p:nvPr/>
        </p:nvSpPr>
        <p:spPr>
          <a:xfrm>
            <a:off x="2227391" y="1553285"/>
            <a:ext cx="13984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2200" b="1" dirty="0"/>
              <a:t>Original</a:t>
            </a:r>
            <a:endParaRPr kumimoji="1" lang="zh-TW" altLang="en-US" sz="22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99857095-78FE-A02B-325B-6248222D36D2}"/>
              </a:ext>
            </a:extLst>
          </p:cNvPr>
          <p:cNvSpPr txBox="1"/>
          <p:nvPr/>
        </p:nvSpPr>
        <p:spPr>
          <a:xfrm>
            <a:off x="10685692" y="3242128"/>
            <a:ext cx="718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b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1800" b="1" baseline="30000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r×</a:t>
            </a:r>
            <a:r>
              <a:rPr lang="en-US" altLang="zh-TW" b="1" baseline="30000" dirty="0" err="1">
                <a:latin typeface="Times New Roman"/>
                <a:ea typeface="+mn-lt"/>
                <a:cs typeface="+mn-lt"/>
              </a:rPr>
              <a:t>d</a:t>
            </a:r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85AE359-01E4-C17A-68AD-DA7A7AD5CBC9}"/>
              </a:ext>
            </a:extLst>
          </p:cNvPr>
          <p:cNvSpPr txBox="1"/>
          <p:nvPr/>
        </p:nvSpPr>
        <p:spPr>
          <a:xfrm>
            <a:off x="10685692" y="4553791"/>
            <a:ext cx="718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b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1800" b="1" baseline="30000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d×</a:t>
            </a:r>
            <a:r>
              <a:rPr lang="en-US" altLang="zh-TW" b="1" baseline="30000" dirty="0" err="1">
                <a:latin typeface="Times New Roman"/>
                <a:ea typeface="+mn-lt"/>
                <a:cs typeface="+mn-lt"/>
              </a:rPr>
              <a:t>r</a:t>
            </a:r>
            <a:endParaRPr lang="zh-TW" altLang="en-US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8B1BAE9-D86B-DC8D-4144-B321C4F77012}"/>
              </a:ext>
            </a:extLst>
          </p:cNvPr>
          <p:cNvSpPr txBox="1"/>
          <p:nvPr/>
        </p:nvSpPr>
        <p:spPr>
          <a:xfrm>
            <a:off x="8735670" y="656955"/>
            <a:ext cx="280318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/>
              </a:rPr>
              <a:t>只有黃色部分會被訓練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/>
            </a:endParaRPr>
          </a:p>
          <a:p>
            <a:pPr algn="r"/>
            <a:r>
              <a:rPr lang="en-US" altLang="zh-TW" sz="2000" dirty="0">
                <a:latin typeface="Times New Roman"/>
                <a:ea typeface="新細明體"/>
                <a:cs typeface="Times New Roman"/>
              </a:rPr>
              <a:t>α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/>
              </a:rPr>
              <a:t>是超參數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5188A46-4A1A-33EE-988A-0FC54990AE17}"/>
              </a:ext>
            </a:extLst>
          </p:cNvPr>
          <p:cNvSpPr txBox="1"/>
          <p:nvPr/>
        </p:nvSpPr>
        <p:spPr>
          <a:xfrm>
            <a:off x="5231282" y="3852896"/>
            <a:ext cx="937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4-bit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5B95419-66E7-3F0F-9DF2-2F9494BBF8EE}"/>
              </a:ext>
            </a:extLst>
          </p:cNvPr>
          <p:cNvSpPr txBox="1"/>
          <p:nvPr/>
        </p:nvSpPr>
        <p:spPr>
          <a:xfrm>
            <a:off x="10399480" y="3487543"/>
            <a:ext cx="1135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16-bit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7E8174A-3923-62D1-8095-D2A7158D4070}"/>
              </a:ext>
            </a:extLst>
          </p:cNvPr>
          <p:cNvSpPr txBox="1"/>
          <p:nvPr/>
        </p:nvSpPr>
        <p:spPr>
          <a:xfrm>
            <a:off x="10399480" y="4855370"/>
            <a:ext cx="1135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16-bit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D06A2E6-D56F-E3C2-D01E-53AD832809AF}"/>
              </a:ext>
            </a:extLst>
          </p:cNvPr>
          <p:cNvSpPr txBox="1"/>
          <p:nvPr/>
        </p:nvSpPr>
        <p:spPr>
          <a:xfrm>
            <a:off x="715177" y="3717365"/>
            <a:ext cx="11209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32-bit /</a:t>
            </a:r>
          </a:p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16-bit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97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47A937-A148-4B4B-2BD5-251D0D8BD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[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注意事項</a:t>
            </a:r>
            <a:r>
              <a:rPr kumimoji="1" lang="en" altLang="zh-TW" dirty="0"/>
              <a:t>]</a:t>
            </a:r>
            <a:r>
              <a:rPr kumimoji="1" lang="zh-TW" altLang="en-US" dirty="0"/>
              <a:t> </a:t>
            </a:r>
            <a:r>
              <a:rPr kumimoji="1" lang="en-US" altLang="zh-TW" dirty="0"/>
              <a:t>Q</a:t>
            </a:r>
            <a:r>
              <a:rPr kumimoji="1" lang="en" altLang="zh-TW" dirty="0" err="1"/>
              <a:t>LoRA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657673-3BB8-78C7-1B98-43A7BB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0B9169B0-A03A-1307-4290-6DE6061A543F}"/>
              </a:ext>
            </a:extLst>
          </p:cNvPr>
          <p:cNvSpPr txBox="1"/>
          <p:nvPr/>
        </p:nvSpPr>
        <p:spPr>
          <a:xfrm>
            <a:off x="716808" y="2032822"/>
            <a:ext cx="5084547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記憶體使用量：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QLoRA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&lt; 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LoRA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模型效能：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QLoRA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&lt;= 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LoRA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10716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D63F6-32C3-1DD6-9F15-05F1E68A9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A0683E-04D0-17F3-E573-6E3B2C206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>
                <a:ea typeface="Microsoft JhengHei" panose="020B0604030504040204" pitchFamily="34" charset="-120"/>
              </a:rPr>
              <a:t>Quantization</a:t>
            </a:r>
            <a:r>
              <a:rPr kumimoji="1" lang="en-US" altLang="zh-TW" dirty="0">
                <a:ea typeface="Microsoft JhengHei" panose="020B0604030504040204" pitchFamily="34" charset="-120"/>
              </a:rPr>
              <a:t> </a:t>
            </a:r>
            <a:r>
              <a:rPr kumimoji="1" lang="zh-TW" altLang="en-US" dirty="0">
                <a:ea typeface="Microsoft JhengHei" panose="020B0604030504040204" pitchFamily="34" charset="-120"/>
              </a:rPr>
              <a:t>方式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3CE3C2-BF73-2483-45B4-488887C76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6F2DD045-A641-AB63-87D8-96895849852B}"/>
              </a:ext>
            </a:extLst>
          </p:cNvPr>
          <p:cNvSpPr/>
          <p:nvPr/>
        </p:nvSpPr>
        <p:spPr>
          <a:xfrm>
            <a:off x="653143" y="2532184"/>
            <a:ext cx="4588954" cy="8621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🧊</a:t>
            </a:r>
            <a:r>
              <a:rPr kumimoji="1" lang="zh-TW" altLang="en-US" sz="2000" dirty="0">
                <a:solidFill>
                  <a:schemeClr val="tx1"/>
                </a:solidFill>
                <a:ea typeface="Microsoft JhengHei" panose="020B0604030504040204" pitchFamily="34" charset="-120"/>
              </a:rPr>
              <a:t> </a:t>
            </a:r>
            <a:r>
              <a:rPr kumimoji="1" lang="en-US" altLang="zh-TW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Post-training Quantization</a:t>
            </a:r>
          </a:p>
          <a:p>
            <a:pPr algn="ctr"/>
            <a:r>
              <a:rPr kumimoji="1" lang="en-US" altLang="zh-TW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(PTQ)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593F1AE4-29AA-0C30-0F01-2B4B9CC8F729}"/>
              </a:ext>
            </a:extLst>
          </p:cNvPr>
          <p:cNvSpPr/>
          <p:nvPr/>
        </p:nvSpPr>
        <p:spPr>
          <a:xfrm>
            <a:off x="653143" y="3997818"/>
            <a:ext cx="4588954" cy="8621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🔥 Quantization-aware Training (QAT)</a:t>
            </a:r>
            <a:endParaRPr kumimoji="1" lang="zh-TW" altLang="en-US" sz="2000" dirty="0">
              <a:solidFill>
                <a:schemeClr val="tx1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143E2A1-AAB9-F7B0-EA20-3CDECF19C631}"/>
              </a:ext>
            </a:extLst>
          </p:cNvPr>
          <p:cNvSpPr txBox="1"/>
          <p:nvPr/>
        </p:nvSpPr>
        <p:spPr>
          <a:xfrm>
            <a:off x="5742629" y="2609315"/>
            <a:ext cx="52227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在模型訓練好之後，直接將權重轉成低精度，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不重新訓練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692B8E3-1CA8-FA65-E11A-DACCDFEC8DC0}"/>
              </a:ext>
            </a:extLst>
          </p:cNvPr>
          <p:cNvSpPr txBox="1"/>
          <p:nvPr/>
        </p:nvSpPr>
        <p:spPr>
          <a:xfrm>
            <a:off x="5742629" y="4074949"/>
            <a:ext cx="52227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在訓練過程中就模擬量化的影響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，讓模型學會適應低精度</a:t>
            </a:r>
          </a:p>
        </p:txBody>
      </p:sp>
    </p:spTree>
    <p:extLst>
      <p:ext uri="{BB962C8B-B14F-4D97-AF65-F5344CB8AC3E}">
        <p14:creationId xmlns:p14="http://schemas.microsoft.com/office/powerpoint/2010/main" val="5088438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CCE46-4041-3204-B4A7-922D68C85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4FEC69-583C-9825-2809-8988E7920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>
                <a:ea typeface="Microsoft JhengHei" panose="020B0604030504040204" pitchFamily="34" charset="-120"/>
              </a:rPr>
              <a:t>PTQ</a:t>
            </a:r>
            <a:r>
              <a:rPr kumimoji="1" lang="zh-TW" altLang="en-US" dirty="0">
                <a:ea typeface="Microsoft JhengHei" panose="020B0604030504040204" pitchFamily="34" charset="-120"/>
              </a:rPr>
              <a:t> 與 </a:t>
            </a:r>
            <a:r>
              <a:rPr kumimoji="1" lang="en-US" altLang="zh-TW" dirty="0">
                <a:ea typeface="Microsoft JhengHei" panose="020B0604030504040204" pitchFamily="34" charset="-120"/>
              </a:rPr>
              <a:t>QAT </a:t>
            </a:r>
            <a:r>
              <a:rPr kumimoji="1" lang="zh-TW" altLang="en-US" dirty="0">
                <a:ea typeface="Microsoft JhengHei" panose="020B0604030504040204" pitchFamily="34" charset="-120"/>
              </a:rPr>
              <a:t>比較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70DAE9-75D2-1ABD-AABA-F8E619E33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6ACC634-6100-EFEC-BE07-9681736B1D0F}"/>
              </a:ext>
            </a:extLst>
          </p:cNvPr>
          <p:cNvGraphicFramePr>
            <a:graphicFrameLocks noGrp="1"/>
          </p:cNvGraphicFramePr>
          <p:nvPr/>
        </p:nvGraphicFramePr>
        <p:xfrm>
          <a:off x="1348059" y="2383778"/>
          <a:ext cx="9364547" cy="2946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9969">
                  <a:extLst>
                    <a:ext uri="{9D8B030D-6E8A-4147-A177-3AD203B41FA5}">
                      <a16:colId xmlns:a16="http://schemas.microsoft.com/office/drawing/2014/main" val="727623194"/>
                    </a:ext>
                  </a:extLst>
                </a:gridCol>
                <a:gridCol w="3592289">
                  <a:extLst>
                    <a:ext uri="{9D8B030D-6E8A-4147-A177-3AD203B41FA5}">
                      <a16:colId xmlns:a16="http://schemas.microsoft.com/office/drawing/2014/main" val="850193845"/>
                    </a:ext>
                  </a:extLst>
                </a:gridCol>
                <a:gridCol w="3592289">
                  <a:extLst>
                    <a:ext uri="{9D8B030D-6E8A-4147-A177-3AD203B41FA5}">
                      <a16:colId xmlns:a16="http://schemas.microsoft.com/office/drawing/2014/main" val="2005718711"/>
                    </a:ext>
                  </a:extLst>
                </a:gridCol>
              </a:tblGrid>
              <a:tr h="589301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zh-TW" altLang="en-US" sz="18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🧊</a:t>
                      </a:r>
                      <a:r>
                        <a:rPr kumimoji="1" lang="en-US" altLang="zh-TW" sz="18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" altLang="zh-TW" dirty="0"/>
                        <a:t>PTQ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zh-TW" sz="18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🔥 </a:t>
                      </a:r>
                      <a:r>
                        <a:rPr lang="en" altLang="zh-TW" dirty="0"/>
                        <a:t>QAT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1064101"/>
                  </a:ext>
                </a:extLst>
              </a:tr>
              <a:tr h="589301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何時做量化？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模型訓練完之後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訓練過程中就模擬量化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5723870"/>
                  </a:ext>
                </a:extLst>
              </a:tr>
              <a:tr h="589301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需不需再訓練？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❌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有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pre-trained model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就可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✅</a:t>
                      </a:r>
                      <a:endParaRPr lang="zh-TW" altLang="en-US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9741388"/>
                  </a:ext>
                </a:extLst>
              </a:tr>
              <a:tr h="589301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最後模型表現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較差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轉換後精度越低，表現越差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較好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2280963"/>
                  </a:ext>
                </a:extLst>
              </a:tr>
              <a:tr h="589301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實作難易度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較簡單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較難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4626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12104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9C08F-F4A5-D209-6DBC-1D6FF74E7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16159D-0AA5-ABBE-C7FB-0D8520D45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Gemma 3 QAT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51AE77-A62B-CB2A-45C4-924DF476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A43F9E6-C340-75E1-3521-8B3F9B936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20" y="1947536"/>
            <a:ext cx="5780699" cy="3909992"/>
          </a:xfrm>
          <a:prstGeom prst="rect">
            <a:avLst/>
          </a:prstGeom>
        </p:spPr>
      </p:pic>
      <p:pic>
        <p:nvPicPr>
          <p:cNvPr id="1026" name="Picture 2" descr="Chatbot Arena Elo Score - Gemma 3 QAT">
            <a:extLst>
              <a:ext uri="{FF2B5EF4-FFF2-40B4-BE49-F238E27FC236}">
                <a16:creationId xmlns:a16="http://schemas.microsoft.com/office/drawing/2014/main" id="{EBC49B4D-56B3-B00B-53A2-214F59F71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512" y="2157365"/>
            <a:ext cx="5364002" cy="3408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2B5F528-94DF-89AB-BF5D-EA8C9A8C1E47}"/>
              </a:ext>
            </a:extLst>
          </p:cNvPr>
          <p:cNvSpPr txBox="1"/>
          <p:nvPr/>
        </p:nvSpPr>
        <p:spPr>
          <a:xfrm>
            <a:off x="3787697" y="6042021"/>
            <a:ext cx="46166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Figure source: https://</a:t>
            </a:r>
            <a:r>
              <a:rPr kumimoji="1" lang="en" altLang="zh-TW" sz="1400" dirty="0" err="1"/>
              <a:t>developers.googleblog.com</a:t>
            </a:r>
            <a:r>
              <a:rPr kumimoji="1" lang="en" altLang="zh-TW" sz="1400" dirty="0"/>
              <a:t>/</a:t>
            </a:r>
            <a:r>
              <a:rPr kumimoji="1" lang="en" altLang="zh-TW" sz="1400" dirty="0" err="1"/>
              <a:t>en</a:t>
            </a:r>
            <a:r>
              <a:rPr kumimoji="1" lang="en" altLang="zh-TW" sz="1400" dirty="0"/>
              <a:t>/gemma-3-quantized-aware-trained-state-of-the-art-ai-to-consumer-gpus/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638121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JetRacer 2GB AI Kit, AI Racing Robot Powered by Jetson Nano 2GB">
            <a:extLst>
              <a:ext uri="{FF2B5EF4-FFF2-40B4-BE49-F238E27FC236}">
                <a16:creationId xmlns:a16="http://schemas.microsoft.com/office/drawing/2014/main" id="{45D42359-4162-9186-715A-A99926D35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683" y="4670053"/>
            <a:ext cx="2020310" cy="2020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6579DDF-A0B5-DE22-2511-5C0D5B7C6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How about m</a:t>
            </a:r>
            <a:r>
              <a:rPr kumimoji="1" lang="en" altLang="zh-TW" dirty="0"/>
              <a:t>od</a:t>
            </a:r>
            <a:r>
              <a:rPr kumimoji="1" lang="en-US" altLang="zh-TW" dirty="0"/>
              <a:t>e</a:t>
            </a:r>
            <a:r>
              <a:rPr kumimoji="1" lang="en" altLang="zh-TW" dirty="0"/>
              <a:t>l compression</a:t>
            </a:r>
            <a:r>
              <a:rPr kumimoji="1" lang="en-US" altLang="zh-TW" dirty="0"/>
              <a:t>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22CD4E-7E03-DFC9-6C0A-935A8D3C1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1026" name="Picture 2" descr="APPLE iPhone 16 Pro_256G-(鈦)(5G)">
            <a:extLst>
              <a:ext uri="{FF2B5EF4-FFF2-40B4-BE49-F238E27FC236}">
                <a16:creationId xmlns:a16="http://schemas.microsoft.com/office/drawing/2014/main" id="{84B84B4E-71CF-5410-D734-26A5CC29C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207" y="2017361"/>
            <a:ext cx="1580685" cy="158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回歸舊款潮流！全新配備M1 Pro 和M1 Max晶片的MacBook Pro的「三大亮點」整理！">
            <a:extLst>
              <a:ext uri="{FF2B5EF4-FFF2-40B4-BE49-F238E27FC236}">
                <a16:creationId xmlns:a16="http://schemas.microsoft.com/office/drawing/2014/main" id="{FE1560C2-3B0F-6A4F-8F73-0558C438B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159" y="3675271"/>
            <a:ext cx="4311805" cy="269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Zenbo - 智慧居家好夥伴">
            <a:extLst>
              <a:ext uri="{FF2B5EF4-FFF2-40B4-BE49-F238E27FC236}">
                <a16:creationId xmlns:a16="http://schemas.microsoft.com/office/drawing/2014/main" id="{EF3D0C91-FDD2-1EA5-13CF-5B74D808F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7964" y="2187947"/>
            <a:ext cx="1629902" cy="2479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8C8211CD-A109-BCB1-FE46-80C6DE27DAC5}"/>
              </a:ext>
            </a:extLst>
          </p:cNvPr>
          <p:cNvGrpSpPr/>
          <p:nvPr/>
        </p:nvGrpSpPr>
        <p:grpSpPr>
          <a:xfrm>
            <a:off x="1159648" y="2807703"/>
            <a:ext cx="2090813" cy="2479288"/>
            <a:chOff x="1196046" y="2686323"/>
            <a:chExt cx="2922518" cy="3465525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7B816B79-0D0B-9D6C-6D23-93388DFBD3CE}"/>
                </a:ext>
              </a:extLst>
            </p:cNvPr>
            <p:cNvSpPr/>
            <p:nvPr/>
          </p:nvSpPr>
          <p:spPr>
            <a:xfrm>
              <a:off x="1600995" y="5004737"/>
              <a:ext cx="532016" cy="5320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F2C99743-3152-A936-3C18-7ED93B0E47CF}"/>
                </a:ext>
              </a:extLst>
            </p:cNvPr>
            <p:cNvSpPr/>
            <p:nvPr/>
          </p:nvSpPr>
          <p:spPr>
            <a:xfrm>
              <a:off x="2397829" y="5004737"/>
              <a:ext cx="532016" cy="5320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E387AD26-6E5C-E076-1512-43509ACA91C8}"/>
                </a:ext>
              </a:extLst>
            </p:cNvPr>
            <p:cNvSpPr/>
            <p:nvPr/>
          </p:nvSpPr>
          <p:spPr>
            <a:xfrm>
              <a:off x="3194663" y="5004737"/>
              <a:ext cx="532016" cy="5320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F926390E-316E-E4A0-4B50-0B9CB6CC85A5}"/>
                </a:ext>
              </a:extLst>
            </p:cNvPr>
            <p:cNvSpPr/>
            <p:nvPr/>
          </p:nvSpPr>
          <p:spPr>
            <a:xfrm>
              <a:off x="1196046" y="3857626"/>
              <a:ext cx="532016" cy="5320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CC870D43-98AE-4CC4-4139-9C1A30A1FD73}"/>
                </a:ext>
              </a:extLst>
            </p:cNvPr>
            <p:cNvSpPr/>
            <p:nvPr/>
          </p:nvSpPr>
          <p:spPr>
            <a:xfrm>
              <a:off x="1992880" y="3857626"/>
              <a:ext cx="532016" cy="5320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B9C7CC1E-F41E-E80D-DF4F-1F2A1690E0FB}"/>
                </a:ext>
              </a:extLst>
            </p:cNvPr>
            <p:cNvSpPr/>
            <p:nvPr/>
          </p:nvSpPr>
          <p:spPr>
            <a:xfrm>
              <a:off x="2789714" y="3857626"/>
              <a:ext cx="532016" cy="5320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CE73D66C-21DB-A1D7-A8F6-9368AC40BD3B}"/>
                </a:ext>
              </a:extLst>
            </p:cNvPr>
            <p:cNvSpPr/>
            <p:nvPr/>
          </p:nvSpPr>
          <p:spPr>
            <a:xfrm>
              <a:off x="3586548" y="3857626"/>
              <a:ext cx="532016" cy="5320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39B10DBE-957A-22CE-B15E-F76C1172C65C}"/>
                </a:ext>
              </a:extLst>
            </p:cNvPr>
            <p:cNvSpPr/>
            <p:nvPr/>
          </p:nvSpPr>
          <p:spPr>
            <a:xfrm>
              <a:off x="1600995" y="2686323"/>
              <a:ext cx="532016" cy="5320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A10E9549-EC35-9D33-3597-7708C0767E5D}"/>
                </a:ext>
              </a:extLst>
            </p:cNvPr>
            <p:cNvSpPr/>
            <p:nvPr/>
          </p:nvSpPr>
          <p:spPr>
            <a:xfrm>
              <a:off x="2397829" y="2686323"/>
              <a:ext cx="532016" cy="5320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5B729C1E-7C52-AE0C-4578-17171CCA52FA}"/>
                </a:ext>
              </a:extLst>
            </p:cNvPr>
            <p:cNvSpPr/>
            <p:nvPr/>
          </p:nvSpPr>
          <p:spPr>
            <a:xfrm>
              <a:off x="3194663" y="2686323"/>
              <a:ext cx="532016" cy="5320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112979E5-F7A8-269B-870A-F4E6894E3216}"/>
                </a:ext>
              </a:extLst>
            </p:cNvPr>
            <p:cNvCxnSpPr>
              <a:cxnSpLocks/>
              <a:stCxn id="6" idx="0"/>
              <a:endCxn id="10" idx="4"/>
            </p:cNvCxnSpPr>
            <p:nvPr/>
          </p:nvCxnSpPr>
          <p:spPr>
            <a:xfrm flipV="1">
              <a:off x="1867003" y="4389642"/>
              <a:ext cx="391885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42F5E4AB-06E9-F28B-E9F0-1B987A7D173A}"/>
                </a:ext>
              </a:extLst>
            </p:cNvPr>
            <p:cNvCxnSpPr>
              <a:cxnSpLocks/>
              <a:stCxn id="7" idx="0"/>
              <a:endCxn id="11" idx="4"/>
            </p:cNvCxnSpPr>
            <p:nvPr/>
          </p:nvCxnSpPr>
          <p:spPr>
            <a:xfrm flipV="1">
              <a:off x="2663837" y="4389642"/>
              <a:ext cx="391885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F263CEDA-1F8E-2B8B-E03A-9E0D04B708B5}"/>
                </a:ext>
              </a:extLst>
            </p:cNvPr>
            <p:cNvCxnSpPr>
              <a:cxnSpLocks/>
              <a:stCxn id="8" idx="0"/>
              <a:endCxn id="12" idx="4"/>
            </p:cNvCxnSpPr>
            <p:nvPr/>
          </p:nvCxnSpPr>
          <p:spPr>
            <a:xfrm flipV="1">
              <a:off x="3460671" y="4389642"/>
              <a:ext cx="391885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D38F1C6B-22A5-094B-BFCD-2F69BDD1069C}"/>
                </a:ext>
              </a:extLst>
            </p:cNvPr>
            <p:cNvCxnSpPr>
              <a:cxnSpLocks/>
              <a:stCxn id="8" idx="0"/>
              <a:endCxn id="11" idx="4"/>
            </p:cNvCxnSpPr>
            <p:nvPr/>
          </p:nvCxnSpPr>
          <p:spPr>
            <a:xfrm flipH="1" flipV="1">
              <a:off x="3055722" y="4389642"/>
              <a:ext cx="404949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B5E0AC55-4D22-E576-2261-85BC2DDCE3E1}"/>
                </a:ext>
              </a:extLst>
            </p:cNvPr>
            <p:cNvCxnSpPr>
              <a:cxnSpLocks/>
              <a:stCxn id="7" idx="0"/>
              <a:endCxn id="10" idx="4"/>
            </p:cNvCxnSpPr>
            <p:nvPr/>
          </p:nvCxnSpPr>
          <p:spPr>
            <a:xfrm flipH="1" flipV="1">
              <a:off x="2258888" y="4389642"/>
              <a:ext cx="404949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D663A38A-3FC4-C18A-DCC1-4FE4BE359B94}"/>
                </a:ext>
              </a:extLst>
            </p:cNvPr>
            <p:cNvCxnSpPr>
              <a:cxnSpLocks/>
              <a:stCxn id="6" idx="0"/>
              <a:endCxn id="9" idx="4"/>
            </p:cNvCxnSpPr>
            <p:nvPr/>
          </p:nvCxnSpPr>
          <p:spPr>
            <a:xfrm flipH="1" flipV="1">
              <a:off x="1462054" y="4389642"/>
              <a:ext cx="404949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160756E9-52F9-5E3F-FB13-73A2FF213D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7003" y="5536753"/>
              <a:ext cx="0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BA6D5E8C-1DD4-AAA2-E0E2-ABD0F852BE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3837" y="5536753"/>
              <a:ext cx="0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2703283C-6471-FA71-282E-4D2141EEC2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0671" y="5536753"/>
              <a:ext cx="0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>
              <a:extLst>
                <a:ext uri="{FF2B5EF4-FFF2-40B4-BE49-F238E27FC236}">
                  <a16:creationId xmlns:a16="http://schemas.microsoft.com/office/drawing/2014/main" id="{5120B844-405B-3F8E-4346-DD652893A649}"/>
                </a:ext>
              </a:extLst>
            </p:cNvPr>
            <p:cNvCxnSpPr>
              <a:cxnSpLocks/>
              <a:stCxn id="10" idx="0"/>
              <a:endCxn id="13" idx="4"/>
            </p:cNvCxnSpPr>
            <p:nvPr/>
          </p:nvCxnSpPr>
          <p:spPr>
            <a:xfrm flipH="1" flipV="1">
              <a:off x="1867003" y="3218339"/>
              <a:ext cx="391885" cy="63928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33C38F3E-41FD-7982-A4CD-D14AB6746D42}"/>
                </a:ext>
              </a:extLst>
            </p:cNvPr>
            <p:cNvCxnSpPr>
              <a:cxnSpLocks/>
              <a:stCxn id="10" idx="0"/>
              <a:endCxn id="14" idx="4"/>
            </p:cNvCxnSpPr>
            <p:nvPr/>
          </p:nvCxnSpPr>
          <p:spPr>
            <a:xfrm flipV="1">
              <a:off x="2258888" y="3218339"/>
              <a:ext cx="404949" cy="63928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61306584-3DE5-1062-2384-5D50FA819110}"/>
                </a:ext>
              </a:extLst>
            </p:cNvPr>
            <p:cNvCxnSpPr>
              <a:cxnSpLocks/>
              <a:stCxn id="10" idx="0"/>
              <a:endCxn id="15" idx="4"/>
            </p:cNvCxnSpPr>
            <p:nvPr/>
          </p:nvCxnSpPr>
          <p:spPr>
            <a:xfrm flipV="1">
              <a:off x="2258888" y="3218339"/>
              <a:ext cx="1201783" cy="63928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72374615-2F77-E9EF-FCDD-3B9F2F203F2D}"/>
                </a:ext>
              </a:extLst>
            </p:cNvPr>
            <p:cNvCxnSpPr>
              <a:cxnSpLocks/>
              <a:stCxn id="12" idx="0"/>
              <a:endCxn id="15" idx="4"/>
            </p:cNvCxnSpPr>
            <p:nvPr/>
          </p:nvCxnSpPr>
          <p:spPr>
            <a:xfrm flipH="1" flipV="1">
              <a:off x="3460671" y="3218339"/>
              <a:ext cx="391885" cy="63928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>
              <a:extLst>
                <a:ext uri="{FF2B5EF4-FFF2-40B4-BE49-F238E27FC236}">
                  <a16:creationId xmlns:a16="http://schemas.microsoft.com/office/drawing/2014/main" id="{41A083B1-8BAB-B8FB-9089-F6DFEFB652CF}"/>
                </a:ext>
              </a:extLst>
            </p:cNvPr>
            <p:cNvCxnSpPr>
              <a:cxnSpLocks/>
              <a:stCxn id="11" idx="0"/>
              <a:endCxn id="14" idx="4"/>
            </p:cNvCxnSpPr>
            <p:nvPr/>
          </p:nvCxnSpPr>
          <p:spPr>
            <a:xfrm flipH="1" flipV="1">
              <a:off x="2663837" y="3218339"/>
              <a:ext cx="391885" cy="63928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DB6B76A9-B7E9-3932-F58C-97585DB5F8BA}"/>
                </a:ext>
              </a:extLst>
            </p:cNvPr>
            <p:cNvCxnSpPr>
              <a:cxnSpLocks/>
              <a:stCxn id="12" idx="0"/>
              <a:endCxn id="14" idx="4"/>
            </p:cNvCxnSpPr>
            <p:nvPr/>
          </p:nvCxnSpPr>
          <p:spPr>
            <a:xfrm flipH="1" flipV="1">
              <a:off x="2663837" y="3218339"/>
              <a:ext cx="1188719" cy="63928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ED03CF2F-A75F-26C3-D1BE-7B824ABD0D58}"/>
                </a:ext>
              </a:extLst>
            </p:cNvPr>
            <p:cNvCxnSpPr>
              <a:cxnSpLocks/>
              <a:stCxn id="9" idx="0"/>
              <a:endCxn id="14" idx="4"/>
            </p:cNvCxnSpPr>
            <p:nvPr/>
          </p:nvCxnSpPr>
          <p:spPr>
            <a:xfrm flipV="1">
              <a:off x="1462054" y="3218339"/>
              <a:ext cx="1201783" cy="63928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51B4CCE5-2706-C641-083F-4B19AACEFE03}"/>
                </a:ext>
              </a:extLst>
            </p:cNvPr>
            <p:cNvCxnSpPr>
              <a:cxnSpLocks/>
              <a:stCxn id="9" idx="0"/>
              <a:endCxn id="13" idx="4"/>
            </p:cNvCxnSpPr>
            <p:nvPr/>
          </p:nvCxnSpPr>
          <p:spPr>
            <a:xfrm flipV="1">
              <a:off x="1462054" y="3218339"/>
              <a:ext cx="404949" cy="63928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BA4F1F9B-8F5A-0F8A-7A06-231855BB9E53}"/>
                </a:ext>
              </a:extLst>
            </p:cNvPr>
            <p:cNvCxnSpPr>
              <a:cxnSpLocks/>
              <a:stCxn id="6" idx="0"/>
              <a:endCxn id="11" idx="4"/>
            </p:cNvCxnSpPr>
            <p:nvPr/>
          </p:nvCxnSpPr>
          <p:spPr>
            <a:xfrm flipV="1">
              <a:off x="1867003" y="4389642"/>
              <a:ext cx="1188719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B26B63C0-F33E-E779-8BCF-A2A8D8289046}"/>
                </a:ext>
              </a:extLst>
            </p:cNvPr>
            <p:cNvCxnSpPr>
              <a:cxnSpLocks/>
              <a:stCxn id="7" idx="0"/>
              <a:endCxn id="12" idx="4"/>
            </p:cNvCxnSpPr>
            <p:nvPr/>
          </p:nvCxnSpPr>
          <p:spPr>
            <a:xfrm flipV="1">
              <a:off x="2663837" y="4389642"/>
              <a:ext cx="1188719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03745314-CAFD-8DBD-2B38-67765E3D509F}"/>
                </a:ext>
              </a:extLst>
            </p:cNvPr>
            <p:cNvCxnSpPr>
              <a:cxnSpLocks/>
              <a:stCxn id="8" idx="0"/>
              <a:endCxn id="10" idx="4"/>
            </p:cNvCxnSpPr>
            <p:nvPr/>
          </p:nvCxnSpPr>
          <p:spPr>
            <a:xfrm flipH="1" flipV="1">
              <a:off x="2258888" y="4389642"/>
              <a:ext cx="1201783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C052F85F-9717-190F-F478-8ACC37A26DBF}"/>
                </a:ext>
              </a:extLst>
            </p:cNvPr>
            <p:cNvCxnSpPr>
              <a:cxnSpLocks/>
              <a:stCxn id="8" idx="0"/>
              <a:endCxn id="9" idx="4"/>
            </p:cNvCxnSpPr>
            <p:nvPr/>
          </p:nvCxnSpPr>
          <p:spPr>
            <a:xfrm flipH="1" flipV="1">
              <a:off x="1462054" y="4389642"/>
              <a:ext cx="1998617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1AA318FD-2B89-9E54-67DB-C35DB7C6AFC8}"/>
                </a:ext>
              </a:extLst>
            </p:cNvPr>
            <p:cNvCxnSpPr>
              <a:cxnSpLocks/>
              <a:stCxn id="7" idx="0"/>
              <a:endCxn id="9" idx="4"/>
            </p:cNvCxnSpPr>
            <p:nvPr/>
          </p:nvCxnSpPr>
          <p:spPr>
            <a:xfrm flipH="1" flipV="1">
              <a:off x="1462054" y="4389642"/>
              <a:ext cx="1201783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C154A733-F37C-5CB1-521F-4748AC11E091}"/>
                </a:ext>
              </a:extLst>
            </p:cNvPr>
            <p:cNvCxnSpPr>
              <a:cxnSpLocks/>
              <a:stCxn id="6" idx="0"/>
              <a:endCxn id="12" idx="4"/>
            </p:cNvCxnSpPr>
            <p:nvPr/>
          </p:nvCxnSpPr>
          <p:spPr>
            <a:xfrm flipV="1">
              <a:off x="1867003" y="4389642"/>
              <a:ext cx="1985553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>
              <a:extLst>
                <a:ext uri="{FF2B5EF4-FFF2-40B4-BE49-F238E27FC236}">
                  <a16:creationId xmlns:a16="http://schemas.microsoft.com/office/drawing/2014/main" id="{7E971E52-3CFF-5BBB-4E94-06ED20A9EB8C}"/>
                </a:ext>
              </a:extLst>
            </p:cNvPr>
            <p:cNvCxnSpPr>
              <a:cxnSpLocks/>
              <a:stCxn id="11" idx="0"/>
              <a:endCxn id="15" idx="4"/>
            </p:cNvCxnSpPr>
            <p:nvPr/>
          </p:nvCxnSpPr>
          <p:spPr>
            <a:xfrm flipV="1">
              <a:off x="3055722" y="3218339"/>
              <a:ext cx="404949" cy="63928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78AF84B3-BBB9-15B8-3329-0D3B33D0CFFB}"/>
                </a:ext>
              </a:extLst>
            </p:cNvPr>
            <p:cNvCxnSpPr>
              <a:cxnSpLocks/>
              <a:stCxn id="12" idx="0"/>
              <a:endCxn id="13" idx="4"/>
            </p:cNvCxnSpPr>
            <p:nvPr/>
          </p:nvCxnSpPr>
          <p:spPr>
            <a:xfrm flipH="1" flipV="1">
              <a:off x="1867003" y="3218339"/>
              <a:ext cx="1985553" cy="63928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>
              <a:extLst>
                <a:ext uri="{FF2B5EF4-FFF2-40B4-BE49-F238E27FC236}">
                  <a16:creationId xmlns:a16="http://schemas.microsoft.com/office/drawing/2014/main" id="{1E4CC2B8-062C-4F51-9027-B25C1DC15E67}"/>
                </a:ext>
              </a:extLst>
            </p:cNvPr>
            <p:cNvCxnSpPr>
              <a:cxnSpLocks/>
              <a:stCxn id="11" idx="0"/>
              <a:endCxn id="13" idx="4"/>
            </p:cNvCxnSpPr>
            <p:nvPr/>
          </p:nvCxnSpPr>
          <p:spPr>
            <a:xfrm flipH="1" flipV="1">
              <a:off x="1867003" y="3218339"/>
              <a:ext cx="1188719" cy="63928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>
              <a:extLst>
                <a:ext uri="{FF2B5EF4-FFF2-40B4-BE49-F238E27FC236}">
                  <a16:creationId xmlns:a16="http://schemas.microsoft.com/office/drawing/2014/main" id="{A5A06CF9-1A78-960D-64E0-B15D1DDB3122}"/>
                </a:ext>
              </a:extLst>
            </p:cNvPr>
            <p:cNvCxnSpPr>
              <a:cxnSpLocks/>
              <a:stCxn id="9" idx="0"/>
              <a:endCxn id="15" idx="4"/>
            </p:cNvCxnSpPr>
            <p:nvPr/>
          </p:nvCxnSpPr>
          <p:spPr>
            <a:xfrm flipV="1">
              <a:off x="1462054" y="3218339"/>
              <a:ext cx="1998617" cy="63928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向下箭號 43">
            <a:extLst>
              <a:ext uri="{FF2B5EF4-FFF2-40B4-BE49-F238E27FC236}">
                <a16:creationId xmlns:a16="http://schemas.microsoft.com/office/drawing/2014/main" id="{0B8BD25A-96C1-9E85-E37F-31DA7E800A6A}"/>
              </a:ext>
            </a:extLst>
          </p:cNvPr>
          <p:cNvSpPr/>
          <p:nvPr/>
        </p:nvSpPr>
        <p:spPr>
          <a:xfrm rot="16200000">
            <a:off x="4001562" y="3673663"/>
            <a:ext cx="310593" cy="49672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38" name="Picture 14" descr="購買Apple Watch Series 10 (GPS)；46 公釐銀色鋁金屬錶殼；丹寧色運動型錶帶- M/L - Apple (台灣)">
            <a:extLst>
              <a:ext uri="{FF2B5EF4-FFF2-40B4-BE49-F238E27FC236}">
                <a16:creationId xmlns:a16="http://schemas.microsoft.com/office/drawing/2014/main" id="{0DCA2A28-A9C0-B1C2-9A6E-C411C0B01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8950" y="2699542"/>
            <a:ext cx="671634" cy="643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84388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F206B3-721A-DC0C-10A5-4907A7FB4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Comparison: What is Model Compression?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B4505B-BFB0-6C81-9AA6-D92EF8C08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6EFF915-AB23-B5F5-7E92-473D6375A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937" y="2623725"/>
            <a:ext cx="9710125" cy="250100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DFDF08F-ABB8-242E-FC1E-F6170FA3FFBE}"/>
              </a:ext>
            </a:extLst>
          </p:cNvPr>
          <p:cNvSpPr txBox="1"/>
          <p:nvPr/>
        </p:nvSpPr>
        <p:spPr>
          <a:xfrm>
            <a:off x="4796246" y="6415560"/>
            <a:ext cx="25995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1600" dirty="0"/>
              <a:t>Figure credit: </a:t>
            </a:r>
            <a:r>
              <a:rPr kumimoji="1" lang="en" altLang="zh-TW" sz="1600" dirty="0" err="1"/>
              <a:t>yxhong-tw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692212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011217-8AEA-0903-6E8A-D086C99C4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PEFT</a:t>
            </a:r>
            <a:r>
              <a:rPr kumimoji="1" lang="zh-TW" altLang="en-US" dirty="0"/>
              <a:t> </a:t>
            </a:r>
            <a:r>
              <a:rPr kumimoji="1" lang="en-US" altLang="zh-TW" dirty="0"/>
              <a:t>vs. Model compression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B9FF42-476D-4C9B-3D90-8362CDFA6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D0D9490-8F96-46F9-E781-4A4F6F1BEC90}"/>
              </a:ext>
            </a:extLst>
          </p:cNvPr>
          <p:cNvGraphicFramePr>
            <a:graphicFrameLocks noGrp="1"/>
          </p:cNvGraphicFramePr>
          <p:nvPr/>
        </p:nvGraphicFramePr>
        <p:xfrm>
          <a:off x="1102659" y="2412081"/>
          <a:ext cx="9690848" cy="2980901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947843886"/>
                    </a:ext>
                  </a:extLst>
                </a:gridCol>
                <a:gridCol w="3778624">
                  <a:extLst>
                    <a:ext uri="{9D8B030D-6E8A-4147-A177-3AD203B41FA5}">
                      <a16:colId xmlns:a16="http://schemas.microsoft.com/office/drawing/2014/main" val="1439152719"/>
                    </a:ext>
                  </a:extLst>
                </a:gridCol>
                <a:gridCol w="3778624">
                  <a:extLst>
                    <a:ext uri="{9D8B030D-6E8A-4147-A177-3AD203B41FA5}">
                      <a16:colId xmlns:a16="http://schemas.microsoft.com/office/drawing/2014/main" val="1365398480"/>
                    </a:ext>
                  </a:extLst>
                </a:gridCol>
              </a:tblGrid>
              <a:tr h="516195">
                <a:tc>
                  <a:txBody>
                    <a:bodyPr/>
                    <a:lstStyle/>
                    <a:p>
                      <a:pPr algn="ctr" fontAlgn="t"/>
                      <a:endParaRPr lang="zh-TW" altLang="en-US" sz="1800" b="1" i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800" b="1" i="0" dirty="0">
                          <a:effectLst/>
                          <a:latin typeface="+mn-lt"/>
                          <a:ea typeface="Microsoft JhengHei" panose="020B0604030504040204" pitchFamily="34" charset="-120"/>
                        </a:rPr>
                        <a:t>PEFT</a:t>
                      </a:r>
                      <a:endParaRPr lang="zh-TW" altLang="en-US" sz="1800" b="1" i="0" dirty="0">
                        <a:effectLst/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dirty="0">
                          <a:effectLst/>
                          <a:latin typeface="+mn-lt"/>
                        </a:rPr>
                        <a:t>Model Compression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956191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目標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讓模型適應新的任務</a:t>
                      </a:r>
                      <a:r>
                        <a:rPr lang="en-US" sz="1800" i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但模型大小不變</a:t>
                      </a:r>
                      <a:endParaRPr lang="en-US" sz="1800" i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加速模型運算或模型儲存空間</a:t>
                      </a:r>
                      <a:endParaRPr lang="en-US" sz="1800" i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467647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相較於原始模型的改變內容</a:t>
                      </a:r>
                      <a:endParaRPr lang="en-US" sz="1800" i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800" i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插入少量可訓練參數</a:t>
                      </a:r>
                      <a:endParaRPr lang="en-US" sz="1800" i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減少整體模型結構或權重</a:t>
                      </a:r>
                      <a:endParaRPr lang="en-US" sz="1800" i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878449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參數更新</a:t>
                      </a:r>
                      <a:endParaRPr lang="en-US" sz="1800" i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800" i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只更新少量新參數</a:t>
                      </a:r>
                      <a:endParaRPr lang="en-US" sz="1800" i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先</a:t>
                      </a: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減少整體模型結構後針對新的模型進行訓練</a:t>
                      </a:r>
                      <a:endParaRPr lang="en-US" sz="1800" i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564126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使用情境</a:t>
                      </a:r>
                      <a:endParaRPr lang="pt-BR" sz="1800" i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i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需要模型學會新的任務時</a:t>
                      </a:r>
                      <a:endParaRPr lang="pt-BR" sz="1800" i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手機、邊緣裝置</a:t>
                      </a:r>
                      <a:endParaRPr lang="en-US" sz="1800" i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225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67869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1317D-6B8E-608A-975B-4A7AF5E6E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97B3D1-1FF5-FD7A-82B4-C9D9C8C8E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Previous Videos of Model Compression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932F4B-C913-AFC2-804F-9B4F5AD13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5E7602B-5AE9-EED1-4DF0-5C5EBFFCF95F}"/>
              </a:ext>
            </a:extLst>
          </p:cNvPr>
          <p:cNvSpPr txBox="1"/>
          <p:nvPr/>
        </p:nvSpPr>
        <p:spPr>
          <a:xfrm>
            <a:off x="653143" y="1878701"/>
            <a:ext cx="8226906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  <a:hlinkClick r:id="rId2"/>
              </a:rPr>
              <a:t>https://youtu.be/Qqyo9U2JRBQ?si=V9F_nNm44dijmYKc</a:t>
            </a:r>
            <a:endParaRPr kumimoji="1" lang="en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  <a:hlinkClick r:id="rId3"/>
              </a:rPr>
              <a:t>https://youtu.be/luBa01XYoBc?si=8Hj8fUUI6RwPPI1j</a:t>
            </a:r>
            <a:endParaRPr kumimoji="1" lang="en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  <a:hlinkClick r:id="rId4"/>
              </a:rPr>
              <a:t>https://youtu.be/dpE6LyIGU9w?si=5XBdr-JDJaHojoJD</a:t>
            </a:r>
            <a:endParaRPr kumimoji="1" lang="en" altLang="zh-TW" sz="24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462790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47A50A0-BE83-714F-87D1-D56B21A39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Announcements</a:t>
            </a:r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5F8333C8-CA8D-E1F0-F37D-D27318425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663329-3583-EC83-64B0-F93DA6FF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5673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B4BB2F-EC1F-1942-C5BA-BF2D8C862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Project checkpoints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C906AD-7CDC-C0A3-BEBF-A34A414C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00A3179-E190-AE8C-D4EF-A133A70D5EDD}"/>
              </a:ext>
            </a:extLst>
          </p:cNvPr>
          <p:cNvSpPr txBox="1"/>
          <p:nvPr/>
        </p:nvSpPr>
        <p:spPr>
          <a:xfrm>
            <a:off x="653144" y="1806093"/>
            <a:ext cx="1091837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strike="sngStrike" dirty="0">
                <a:ea typeface="Microsoft JhengHei" panose="020B0604030504040204" pitchFamily="34" charset="-120"/>
              </a:rPr>
              <a:t>Week 9: </a:t>
            </a:r>
            <a:r>
              <a:rPr kumimoji="1" lang="zh-TW" altLang="en-US" sz="2400" strike="sngStrike" dirty="0">
                <a:ea typeface="Microsoft JhengHei" panose="020B0604030504040204" pitchFamily="34" charset="-120"/>
              </a:rPr>
              <a:t>確定各組的題目</a:t>
            </a:r>
            <a:endParaRPr kumimoji="1" lang="en-US" altLang="zh-TW" sz="2400" strike="sngStrike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strike="sngStrike" dirty="0">
                <a:ea typeface="Microsoft JhengHei" panose="020B0604030504040204" pitchFamily="34" charset="-120"/>
              </a:rPr>
              <a:t>Week 12: </a:t>
            </a:r>
            <a:r>
              <a:rPr kumimoji="1" lang="zh-TW" altLang="en-US" sz="2400" strike="sngStrike" dirty="0">
                <a:ea typeface="Microsoft JhengHei" panose="020B0604030504040204" pitchFamily="34" charset="-120"/>
              </a:rPr>
              <a:t>進度報告 </a:t>
            </a:r>
            <a:r>
              <a:rPr kumimoji="1" lang="en-US" altLang="zh-TW" sz="2400" strike="sngStrike" dirty="0">
                <a:ea typeface="Microsoft JhengHei" panose="020B0604030504040204" pitchFamily="34" charset="-120"/>
              </a:rPr>
              <a:t>PPT (5 pages)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Week 14: 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進度報告 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PPT (5+5 pages), Presentations (selected teams)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Week 16: Final presentations for all teams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Week 16-17: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繳交書面報告以及程式碼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91607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5E7F39-290C-D102-4E6C-BA283CFC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Week 14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之前要繳交什麼？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0BAF86-D3E8-8066-F44E-7EAB8A09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C85A9A9-AB70-91D9-06C4-DE2676BBA254}"/>
              </a:ext>
            </a:extLst>
          </p:cNvPr>
          <p:cNvSpPr txBox="1"/>
          <p:nvPr/>
        </p:nvSpPr>
        <p:spPr>
          <a:xfrm>
            <a:off x="636815" y="1772701"/>
            <a:ext cx="10918370" cy="3736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前</a:t>
            </a:r>
            <a:r>
              <a:rPr kumimoji="1" lang="en-US" altLang="zh-TW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5</a:t>
            </a:r>
            <a:r>
              <a:rPr kumimoji="1" lang="zh-TW" altLang="en-US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頁：</a:t>
            </a:r>
            <a:r>
              <a:rPr kumimoji="1" lang="en" altLang="zh-TW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Checkpoint1 </a:t>
            </a:r>
            <a:r>
              <a:rPr kumimoji="1" lang="zh-TW" altLang="en-US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原始簡報內容</a:t>
            </a:r>
            <a:r>
              <a:rPr kumimoji="1" lang="en-US" altLang="zh-TW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 (</a:t>
            </a:r>
            <a:r>
              <a:rPr kumimoji="1" lang="zh-TW" altLang="en-US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如有需要，可修改，不需要與</a:t>
            </a:r>
            <a:r>
              <a:rPr kumimoji="1" lang="en-US" altLang="zh-TW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Checkpoint1</a:t>
            </a:r>
            <a:r>
              <a:rPr kumimoji="1" lang="zh-TW" altLang="en-US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完全一樣</a:t>
            </a:r>
            <a:r>
              <a:rPr kumimoji="1" lang="en-US" altLang="zh-TW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後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5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頁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或更多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：新進度補充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實作的方法介紹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代表各組需完成初步實作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，可以包含：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1371600" lvl="2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資料前處理、模型介紹、訓練策略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如 </a:t>
            </a:r>
            <a:r>
              <a:rPr kumimoji="1" lang="en" altLang="zh-TW" sz="2000" dirty="0">
                <a:ea typeface="Microsoft JhengHei" panose="020B0604030504040204" pitchFamily="34" charset="-120"/>
              </a:rPr>
              <a:t>loss function</a:t>
            </a:r>
            <a:r>
              <a:rPr kumimoji="1" lang="zh-TW" altLang="en" sz="2000" dirty="0">
                <a:ea typeface="Microsoft JhengHei" panose="020B0604030504040204" pitchFamily="34" charset="-120"/>
              </a:rPr>
              <a:t>、</a:t>
            </a:r>
            <a:r>
              <a:rPr kumimoji="1" lang="en" altLang="zh-TW" sz="2000" dirty="0">
                <a:ea typeface="Microsoft JhengHei" panose="020B0604030504040204" pitchFamily="34" charset="-120"/>
              </a:rPr>
              <a:t>optimizer</a:t>
            </a:r>
            <a:r>
              <a:rPr kumimoji="1" lang="zh-TW" altLang="en" sz="2000" dirty="0">
                <a:ea typeface="Microsoft JhengHei" panose="020B0604030504040204" pitchFamily="34" charset="-120"/>
              </a:rPr>
              <a:t>、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scheduler</a:t>
            </a:r>
            <a:r>
              <a:rPr kumimoji="1" lang="en" altLang="zh-TW" sz="2000" dirty="0">
                <a:ea typeface="Microsoft JhengHei" panose="020B0604030504040204" pitchFamily="34" charset="-120"/>
              </a:rPr>
              <a:t>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等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等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…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實驗結果比較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含實驗設定說明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Kaggle Leaderboard </a:t>
            </a:r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名次</a:t>
            </a:r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請截圖貼到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pptx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中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時程規劃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再來還要測試什麼？用表格列出未來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1–2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週內的預定測試與安排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針對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</a:t>
            </a:r>
            <a:r>
              <a:rPr kumimoji="1" lang="en" altLang="zh-TW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Checkpoint2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之前的小組分工細節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707062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5E7F39-290C-D102-4E6C-BA283CFC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Checkpoint 2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繳交注意事項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0BAF86-D3E8-8066-F44E-7EAB8A09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C85A9A9-AB70-91D9-06C4-DE2676BBA254}"/>
              </a:ext>
            </a:extLst>
          </p:cNvPr>
          <p:cNvSpPr txBox="1"/>
          <p:nvPr/>
        </p:nvSpPr>
        <p:spPr>
          <a:xfrm>
            <a:off x="636815" y="1731932"/>
            <a:ext cx="10918370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一組繳交一份，請上傳至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E-Learning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檔名：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DL_teamN_checkpoint2.pdf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或 </a:t>
            </a:r>
            <a:r>
              <a:rPr kumimoji="1" lang="en" altLang="zh-TW" sz="2000" dirty="0">
                <a:ea typeface="Microsoft JhengHei" panose="020B0604030504040204" pitchFamily="34" charset="-120"/>
              </a:rPr>
              <a:t>DL_teamN_checkpoint2.pptx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>
                <a:ea typeface="Microsoft JhengHei" panose="020B0604030504040204" pitchFamily="34" charset="-120"/>
              </a:rPr>
              <a:t>Deadline: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2025/12/02 </a:t>
            </a:r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星期二</a:t>
            </a:r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 23:59 </a:t>
            </a:r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前</a:t>
            </a:r>
            <a:endParaRPr kumimoji="1" lang="en-US" altLang="zh-TW" sz="20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如果你想要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Week 14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進行口頭報告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-&gt; </a:t>
            </a:r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2025/12/01 </a:t>
            </a:r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星期一</a:t>
            </a:r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 18:00 </a:t>
            </a:r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前</a:t>
            </a:r>
            <a:endParaRPr kumimoji="1" lang="en-US" altLang="zh-TW" sz="20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將於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2025/12/02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星期二中午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12:00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前公布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Week 14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進行報告的組別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報告內容同前一頁的項目規範，可以自行</a:t>
            </a:r>
            <a:r>
              <a:rPr kumimoji="1" lang="zh-TW" altLang="en-US" sz="2000" u="sng" dirty="0">
                <a:ea typeface="Microsoft JhengHei" panose="020B0604030504040204" pitchFamily="34" charset="-120"/>
              </a:rPr>
              <a:t>精簡</a:t>
            </a:r>
            <a:endParaRPr kumimoji="1" lang="en-US" altLang="zh-TW" sz="2000" u="sng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" altLang="zh-TW" sz="20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TW" sz="20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21319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72F72D-E5D1-0DDE-C1FF-D18DAF732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800" dirty="0">
                <a:ea typeface="Microsoft JhengHei" panose="020B0604030504040204" pitchFamily="34" charset="-120"/>
              </a:rPr>
              <a:t>Project</a:t>
            </a:r>
            <a:r>
              <a:rPr kumimoji="1" lang="en-US" altLang="zh-TW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各個階段分數佔比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30D8D9-00A2-AA7E-846E-861333C5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40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740BB514-B3C0-2706-E040-F93E69839E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298080"/>
              </p:ext>
            </p:extLst>
          </p:nvPr>
        </p:nvGraphicFramePr>
        <p:xfrm>
          <a:off x="653142" y="2304626"/>
          <a:ext cx="10700657" cy="3255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6818">
                  <a:extLst>
                    <a:ext uri="{9D8B030D-6E8A-4147-A177-3AD203B41FA5}">
                      <a16:colId xmlns:a16="http://schemas.microsoft.com/office/drawing/2014/main" val="3021830611"/>
                    </a:ext>
                  </a:extLst>
                </a:gridCol>
                <a:gridCol w="6156960">
                  <a:extLst>
                    <a:ext uri="{9D8B030D-6E8A-4147-A177-3AD203B41FA5}">
                      <a16:colId xmlns:a16="http://schemas.microsoft.com/office/drawing/2014/main" val="3683024315"/>
                    </a:ext>
                  </a:extLst>
                </a:gridCol>
                <a:gridCol w="1706879">
                  <a:extLst>
                    <a:ext uri="{9D8B030D-6E8A-4147-A177-3AD203B41FA5}">
                      <a16:colId xmlns:a16="http://schemas.microsoft.com/office/drawing/2014/main" val="2892346200"/>
                    </a:ext>
                  </a:extLst>
                </a:gridCol>
              </a:tblGrid>
              <a:tr h="585333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查核點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週次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對象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繳交內容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分數佔比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6931947"/>
                  </a:ext>
                </a:extLst>
              </a:tr>
              <a:tr h="585333">
                <a:tc>
                  <a:txBody>
                    <a:bodyPr/>
                    <a:lstStyle/>
                    <a:p>
                      <a:r>
                        <a:rPr lang="en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Checkpoint1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(Week 12)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All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teams: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進度報告 </a:t>
                      </a:r>
                      <a:r>
                        <a:rPr lang="en" altLang="zh-TW" dirty="0">
                          <a:latin typeface="+mn-lt"/>
                          <a:ea typeface="Microsoft JhengHei" panose="020B0604030504040204" pitchFamily="34" charset="-120"/>
                        </a:rPr>
                        <a:t>PPT (5 pages)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檔案</a:t>
                      </a:r>
                      <a:endParaRPr lang="en" altLang="zh-TW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5%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7866771"/>
                  </a:ext>
                </a:extLst>
              </a:tr>
              <a:tr h="7261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Checkpoint2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(Week 14)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All teams: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 進度報告 </a:t>
                      </a:r>
                      <a:r>
                        <a:rPr lang="en" altLang="zh-TW" dirty="0">
                          <a:latin typeface="+mn-lt"/>
                          <a:ea typeface="Microsoft JhengHei" panose="020B0604030504040204" pitchFamily="34" charset="-120"/>
                        </a:rPr>
                        <a:t>PPT (5+5 pages*)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檔案</a:t>
                      </a:r>
                      <a:endParaRPr lang="en" altLang="zh-TW" dirty="0">
                        <a:latin typeface="+mn-lt"/>
                        <a:ea typeface="Microsoft JhengHei" panose="020B0604030504040204" pitchFamily="34" charset="-120"/>
                      </a:endParaRPr>
                    </a:p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Selected teams: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取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6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組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 (1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題目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2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組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)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於課堂中報告，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1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組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10min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5%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3711125"/>
                  </a:ext>
                </a:extLst>
              </a:tr>
              <a:tr h="585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Checkpoint3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(Week 16)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All teams: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最終口頭報告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15%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2299533"/>
                  </a:ext>
                </a:extLst>
              </a:tr>
              <a:tr h="585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Checkpoint4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en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Week 16-17)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All teams: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書面報告檔案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 (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含程式碼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)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、小平台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(optional)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15%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1173830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380A544A-B20C-DC01-EA74-C3212CC709C5}"/>
              </a:ext>
            </a:extLst>
          </p:cNvPr>
          <p:cNvSpPr txBox="1"/>
          <p:nvPr/>
        </p:nvSpPr>
        <p:spPr>
          <a:xfrm>
            <a:off x="653142" y="56885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*</a:t>
            </a:r>
            <a:r>
              <a:rPr lang="zh-TW" altLang="en-US" dirty="0">
                <a:ea typeface="Microsoft JhengHei" panose="020B0604030504040204" pitchFamily="34" charset="-120"/>
              </a:rPr>
              <a:t>繼承</a:t>
            </a:r>
            <a:r>
              <a:rPr lang="en" altLang="zh-TW" dirty="0">
                <a:ea typeface="Microsoft JhengHei" panose="020B0604030504040204" pitchFamily="34" charset="-120"/>
              </a:rPr>
              <a:t>Checkpoint1</a:t>
            </a:r>
            <a:r>
              <a:rPr lang="zh-TW" altLang="en-US" dirty="0">
                <a:ea typeface="Microsoft JhengHei" panose="020B0604030504040204" pitchFamily="34" charset="-120"/>
              </a:rPr>
              <a:t>內容</a:t>
            </a:r>
            <a:r>
              <a:rPr lang="en-US" altLang="zh-TW" dirty="0">
                <a:ea typeface="Microsoft JhengHei" panose="020B0604030504040204" pitchFamily="34" charset="-120"/>
              </a:rPr>
              <a:t>+</a:t>
            </a:r>
            <a:r>
              <a:rPr lang="zh-TW" altLang="en-US" dirty="0">
                <a:ea typeface="Microsoft JhengHei" panose="020B0604030504040204" pitchFamily="34" charset="-120"/>
              </a:rPr>
              <a:t>實作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B64E78C-24D0-6BB5-B7BD-9324B370A080}"/>
              </a:ext>
            </a:extLst>
          </p:cNvPr>
          <p:cNvSpPr txBox="1"/>
          <p:nvPr/>
        </p:nvSpPr>
        <p:spPr>
          <a:xfrm>
            <a:off x="653142" y="180348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ea typeface="Microsoft JhengHei" panose="020B0604030504040204" pitchFamily="34" charset="-120"/>
              </a:rPr>
              <a:t>Final Project </a:t>
            </a:r>
            <a:r>
              <a:rPr lang="zh-TW" altLang="en-US" sz="2000" dirty="0">
                <a:ea typeface="Microsoft JhengHei" panose="020B0604030504040204" pitchFamily="34" charset="-120"/>
              </a:rPr>
              <a:t>佔學期總成績</a:t>
            </a:r>
            <a:r>
              <a:rPr lang="en-US" altLang="zh-TW" sz="2000" dirty="0">
                <a:ea typeface="Microsoft JhengHei" panose="020B0604030504040204" pitchFamily="34" charset="-120"/>
              </a:rPr>
              <a:t> 40%</a:t>
            </a:r>
            <a:endParaRPr lang="zh-TW" altLang="en-US" sz="2000" dirty="0"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FA7E926-1758-C170-EC5B-E9066D0116EA}"/>
              </a:ext>
            </a:extLst>
          </p:cNvPr>
          <p:cNvSpPr txBox="1"/>
          <p:nvPr/>
        </p:nvSpPr>
        <p:spPr>
          <a:xfrm>
            <a:off x="10071100" y="3124200"/>
            <a:ext cx="198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TW" dirty="0">
                <a:solidFill>
                  <a:srgbClr val="FF0000"/>
                </a:solidFill>
              </a:rPr>
              <a:t>W14</a:t>
            </a:r>
            <a:r>
              <a:rPr kumimoji="1" lang="zh-TW" altLang="en-US" dirty="0">
                <a:solidFill>
                  <a:srgbClr val="FF0000"/>
                </a:solidFill>
              </a:rPr>
              <a:t>報告組別可得</a:t>
            </a:r>
            <a:r>
              <a:rPr kumimoji="1" lang="en-US" altLang="zh-TW" dirty="0">
                <a:solidFill>
                  <a:srgbClr val="FF0000"/>
                </a:solidFill>
              </a:rPr>
              <a:t>Checkpoint1</a:t>
            </a:r>
            <a:r>
              <a:rPr kumimoji="1" lang="zh-TW" altLang="en-US" dirty="0">
                <a:solidFill>
                  <a:srgbClr val="FF0000"/>
                </a:solidFill>
              </a:rPr>
              <a:t>和</a:t>
            </a:r>
            <a:r>
              <a:rPr kumimoji="1" lang="en-US" altLang="zh-TW" dirty="0">
                <a:solidFill>
                  <a:srgbClr val="FF0000"/>
                </a:solidFill>
              </a:rPr>
              <a:t>Checkpoint2</a:t>
            </a:r>
            <a:r>
              <a:rPr kumimoji="1" lang="zh-TW" altLang="en-US" dirty="0">
                <a:solidFill>
                  <a:srgbClr val="FF0000"/>
                </a:solidFill>
              </a:rPr>
              <a:t>滿分</a:t>
            </a:r>
          </a:p>
        </p:txBody>
      </p:sp>
    </p:spTree>
    <p:extLst>
      <p:ext uri="{BB962C8B-B14F-4D97-AF65-F5344CB8AC3E}">
        <p14:creationId xmlns:p14="http://schemas.microsoft.com/office/powerpoint/2010/main" val="40601509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CC2DB8D-FB34-E3BD-0CDD-276E352FE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802" y="2769461"/>
            <a:ext cx="4071257" cy="2046786"/>
          </a:xfrm>
        </p:spPr>
        <p:txBody>
          <a:bodyPr>
            <a:normAutofit fontScale="85000" lnSpcReduction="10000"/>
          </a:bodyPr>
          <a:lstStyle/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劉美辰</a:t>
            </a:r>
          </a:p>
          <a:p>
            <a:pPr marL="0" indent="0">
              <a:buNone/>
            </a:pP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m1461014@cgu.edu.tw</a:t>
            </a:r>
          </a:p>
          <a:p>
            <a:pPr marL="0" indent="0">
              <a:buNone/>
            </a:pP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365187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9497</TotalTime>
  <Words>2247</Words>
  <Application>Microsoft Macintosh PowerPoint</Application>
  <PresentationFormat>寬螢幕</PresentationFormat>
  <Paragraphs>518</Paragraphs>
  <Slides>41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41</vt:i4>
      </vt:variant>
    </vt:vector>
  </HeadingPairs>
  <TitlesOfParts>
    <vt:vector size="50" baseType="lpstr">
      <vt:lpstr>Microsoft JhengHei</vt:lpstr>
      <vt:lpstr>新細明體</vt:lpstr>
      <vt:lpstr>Arial</vt:lpstr>
      <vt:lpstr>Calibri</vt:lpstr>
      <vt:lpstr>Calibri Light</vt:lpstr>
      <vt:lpstr>Cambria Math</vt:lpstr>
      <vt:lpstr>Times New Roman</vt:lpstr>
      <vt:lpstr>Wingdings</vt:lpstr>
      <vt:lpstr>回顧</vt:lpstr>
      <vt:lpstr>深度學習 Deep Learning</vt:lpstr>
      <vt:lpstr>Outline</vt:lpstr>
      <vt:lpstr>The Revolution of ChatGPT</vt:lpstr>
      <vt:lpstr>大型語言模型參數量非常多</vt:lpstr>
      <vt:lpstr>GPU Memory Estimated (Model weights)</vt:lpstr>
      <vt:lpstr>數值範圍比較</vt:lpstr>
      <vt:lpstr>Introduction to Quantization (量化)</vt:lpstr>
      <vt:lpstr>量化後的模型非常常見</vt:lpstr>
      <vt:lpstr>GPU Memory Estimated (Model weights)</vt:lpstr>
      <vt:lpstr>讓大型語言模型適用於你的任務？</vt:lpstr>
      <vt:lpstr>GPU Memory Estimated (Full Fine-tuning)</vt:lpstr>
      <vt:lpstr>有沒有可能只微調 LLM 一部分的參數呢？</vt:lpstr>
      <vt:lpstr>GPU Memory Estimated (PEFT)</vt:lpstr>
      <vt:lpstr>PEFT Outline</vt:lpstr>
      <vt:lpstr>LoRA is common …</vt:lpstr>
      <vt:lpstr>[Prerequisite] Weights in Transformer layers</vt:lpstr>
      <vt:lpstr>[Recap] MLP is composed of weight matrices</vt:lpstr>
      <vt:lpstr>[Prerequisite] 矩陣分解</vt:lpstr>
      <vt:lpstr>LoRA: Low-Rank Adaptation</vt:lpstr>
      <vt:lpstr>為什麼 LoRA 要這樣做？</vt:lpstr>
      <vt:lpstr>Low-Rank 的部分在哪？(1)</vt:lpstr>
      <vt:lpstr>Low-Rank 的部分在哪？(2)</vt:lpstr>
      <vt:lpstr>LoRA: Low-Rank Adaptation (w / pseudo code)</vt:lpstr>
      <vt:lpstr>[注意事項] LoRA 的問題</vt:lpstr>
      <vt:lpstr>可不可以不要外加？(Adapter 作法)</vt:lpstr>
      <vt:lpstr>[注意事項] LoRA 的問題</vt:lpstr>
      <vt:lpstr>QLoRA: Quantized LoRA</vt:lpstr>
      <vt:lpstr>[注意事項] QLoRA</vt:lpstr>
      <vt:lpstr>Quantization 方式</vt:lpstr>
      <vt:lpstr>PTQ 與 QAT 比較</vt:lpstr>
      <vt:lpstr>Gemma 3 QAT</vt:lpstr>
      <vt:lpstr>How about model compression?</vt:lpstr>
      <vt:lpstr>Comparison: What is Model Compression?</vt:lpstr>
      <vt:lpstr>PEFT vs. Model compression</vt:lpstr>
      <vt:lpstr>Previous Videos of Model Compression</vt:lpstr>
      <vt:lpstr>Announcements</vt:lpstr>
      <vt:lpstr>Project checkpoints</vt:lpstr>
      <vt:lpstr>Week 14 之前要繳交什麼？</vt:lpstr>
      <vt:lpstr>Checkpoint 2 繳交注意事項</vt:lpstr>
      <vt:lpstr>Project 各個階段分數佔比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英嘉 林</cp:lastModifiedBy>
  <cp:revision>1720</cp:revision>
  <dcterms:created xsi:type="dcterms:W3CDTF">2025-02-06T07:16:08Z</dcterms:created>
  <dcterms:modified xsi:type="dcterms:W3CDTF">2025-11-26T03:31:39Z</dcterms:modified>
</cp:coreProperties>
</file>