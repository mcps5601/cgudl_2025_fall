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0"/>
  </p:notesMasterIdLst>
  <p:sldIdLst>
    <p:sldId id="264" r:id="rId2"/>
    <p:sldId id="665" r:id="rId3"/>
    <p:sldId id="690" r:id="rId4"/>
    <p:sldId id="692" r:id="rId5"/>
    <p:sldId id="504" r:id="rId6"/>
    <p:sldId id="691" r:id="rId7"/>
    <p:sldId id="307" r:id="rId8"/>
    <p:sldId id="688" r:id="rId9"/>
    <p:sldId id="689" r:id="rId10"/>
    <p:sldId id="531" r:id="rId11"/>
    <p:sldId id="693" r:id="rId12"/>
    <p:sldId id="293" r:id="rId13"/>
    <p:sldId id="697" r:id="rId14"/>
    <p:sldId id="698" r:id="rId15"/>
    <p:sldId id="706" r:id="rId16"/>
    <p:sldId id="714" r:id="rId17"/>
    <p:sldId id="731" r:id="rId18"/>
    <p:sldId id="700" r:id="rId19"/>
    <p:sldId id="702" r:id="rId20"/>
    <p:sldId id="694" r:id="rId21"/>
    <p:sldId id="701" r:id="rId22"/>
    <p:sldId id="703" r:id="rId23"/>
    <p:sldId id="705" r:id="rId24"/>
    <p:sldId id="730" r:id="rId25"/>
    <p:sldId id="711" r:id="rId26"/>
    <p:sldId id="710" r:id="rId27"/>
    <p:sldId id="709" r:id="rId28"/>
    <p:sldId id="716" r:id="rId29"/>
    <p:sldId id="712" r:id="rId30"/>
    <p:sldId id="726" r:id="rId31"/>
    <p:sldId id="695" r:id="rId32"/>
    <p:sldId id="713" r:id="rId33"/>
    <p:sldId id="717" r:id="rId34"/>
    <p:sldId id="707" r:id="rId35"/>
    <p:sldId id="718" r:id="rId36"/>
    <p:sldId id="719" r:id="rId37"/>
    <p:sldId id="721" r:id="rId38"/>
    <p:sldId id="722" r:id="rId39"/>
    <p:sldId id="723" r:id="rId40"/>
    <p:sldId id="696" r:id="rId41"/>
    <p:sldId id="727" r:id="rId42"/>
    <p:sldId id="708" r:id="rId43"/>
    <p:sldId id="728" r:id="rId44"/>
    <p:sldId id="729" r:id="rId45"/>
    <p:sldId id="720" r:id="rId46"/>
    <p:sldId id="715" r:id="rId47"/>
    <p:sldId id="732" r:id="rId48"/>
    <p:sldId id="505" r:id="rId4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F5EA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9"/>
    <p:restoredTop sz="96056"/>
  </p:normalViewPr>
  <p:slideViewPr>
    <p:cSldViewPr snapToGrid="0">
      <p:cViewPr varScale="1">
        <p:scale>
          <a:sx n="125" d="100"/>
          <a:sy n="125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3175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0461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1485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57831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98786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8249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5AB24-C0FA-F4F2-219F-B4DB69C4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F5223BF-AD3A-9B9F-F84C-6E918958B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8BD7919-7711-9EE3-39BB-3D690CA2B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FDE089-9BEF-7920-2060-189E04C61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0682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59793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6139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50099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34343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72519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50391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02600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77048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6342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79579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34594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65549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pp.sli.do/event/uyWSeR8qMc3PF1VxbaevGh" TargetMode="External"/><Relationship Id="rId5" Type="http://schemas.openxmlformats.org/officeDocument/2006/relationships/hyperlink" Target="https://github.com/mcps5601/CGUDL_2025_Spring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dXxDNjS5jw?feature=oembed" TargetMode="Externa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12.png"/><Relationship Id="rId1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7.png"/><Relationship Id="rId3" Type="http://schemas.openxmlformats.org/officeDocument/2006/relationships/image" Target="../media/image340.png"/><Relationship Id="rId7" Type="http://schemas.openxmlformats.org/officeDocument/2006/relationships/image" Target="../media/image35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8.png"/><Relationship Id="rId3" Type="http://schemas.openxmlformats.org/officeDocument/2006/relationships/image" Target="../media/image340.png"/><Relationship Id="rId7" Type="http://schemas.openxmlformats.org/officeDocument/2006/relationships/image" Target="../media/image35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3.png"/><Relationship Id="rId3" Type="http://schemas.openxmlformats.org/officeDocument/2006/relationships/image" Target="../media/image320.png"/><Relationship Id="rId7" Type="http://schemas.openxmlformats.org/officeDocument/2006/relationships/image" Target="../media/image380.png"/><Relationship Id="rId12" Type="http://schemas.openxmlformats.org/officeDocument/2006/relationships/image" Target="../media/image39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10" Type="http://schemas.openxmlformats.org/officeDocument/2006/relationships/image" Target="../media/image42.png"/><Relationship Id="rId4" Type="http://schemas.openxmlformats.org/officeDocument/2006/relationships/image" Target="../media/image350.png"/><Relationship Id="rId9" Type="http://schemas.openxmlformats.org/officeDocument/2006/relationships/image" Target="../media/image41.png"/><Relationship Id="rId1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1.png"/><Relationship Id="rId3" Type="http://schemas.openxmlformats.org/officeDocument/2006/relationships/image" Target="../media/image44.png"/><Relationship Id="rId12" Type="http://schemas.openxmlformats.org/officeDocument/2006/relationships/image" Target="../media/image46.pn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9.png"/><Relationship Id="rId20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5.png"/><Relationship Id="rId15" Type="http://schemas.openxmlformats.org/officeDocument/2006/relationships/image" Target="../media/image48.png"/><Relationship Id="rId10" Type="http://schemas.openxmlformats.org/officeDocument/2006/relationships/image" Target="../media/image41.png"/><Relationship Id="rId19" Type="http://schemas.openxmlformats.org/officeDocument/2006/relationships/image" Target="../media/image52.png"/><Relationship Id="rId9" Type="http://schemas.openxmlformats.org/officeDocument/2006/relationships/image" Target="../media/image400.png"/><Relationship Id="rId14" Type="http://schemas.openxmlformats.org/officeDocument/2006/relationships/image" Target="../media/image35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0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12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0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0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71.png"/><Relationship Id="rId3" Type="http://schemas.openxmlformats.org/officeDocument/2006/relationships/image" Target="../media/image340.png"/><Relationship Id="rId7" Type="http://schemas.openxmlformats.org/officeDocument/2006/relationships/image" Target="../media/image35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50.png"/><Relationship Id="rId7" Type="http://schemas.openxmlformats.org/officeDocument/2006/relationships/image" Target="../media/image7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0.png"/><Relationship Id="rId5" Type="http://schemas.openxmlformats.org/officeDocument/2006/relationships/image" Target="../media/image770.png"/><Relationship Id="rId4" Type="http://schemas.openxmlformats.org/officeDocument/2006/relationships/image" Target="../media/image7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0.png"/><Relationship Id="rId7" Type="http://schemas.openxmlformats.org/officeDocument/2006/relationships/image" Target="../media/image9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1.png"/><Relationship Id="rId10" Type="http://schemas.openxmlformats.org/officeDocument/2006/relationships/image" Target="../media/image97.png"/><Relationship Id="rId4" Type="http://schemas.openxmlformats.org/officeDocument/2006/relationships/image" Target="../media/image92.png"/><Relationship Id="rId9" Type="http://schemas.openxmlformats.org/officeDocument/2006/relationships/image" Target="../media/image9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0.png"/><Relationship Id="rId5" Type="http://schemas.openxmlformats.org/officeDocument/2006/relationships/image" Target="../media/image980.png"/><Relationship Id="rId4" Type="http://schemas.openxmlformats.org/officeDocument/2006/relationships/image" Target="../media/image9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100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.png"/><Relationship Id="rId9" Type="http://schemas.openxmlformats.org/officeDocument/2006/relationships/image" Target="../media/image11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image" Target="../media/image116.png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0.png"/><Relationship Id="rId3" Type="http://schemas.openxmlformats.org/officeDocument/2006/relationships/image" Target="../media/image11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5" Type="http://schemas.openxmlformats.org/officeDocument/2006/relationships/image" Target="../media/image14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4.png"/><Relationship Id="rId7" Type="http://schemas.openxmlformats.org/officeDocument/2006/relationships/image" Target="../media/image150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10" Type="http://schemas.openxmlformats.org/officeDocument/2006/relationships/image" Target="../media/image153.png"/><Relationship Id="rId4" Type="http://schemas.openxmlformats.org/officeDocument/2006/relationships/image" Target="../media/image145.png"/><Relationship Id="rId9" Type="http://schemas.openxmlformats.org/officeDocument/2006/relationships/image" Target="../media/image15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8886F629-FA5E-7D22-67D5-6023703A9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4" y="4542902"/>
            <a:ext cx="1903732" cy="1903732"/>
          </a:xfrm>
          <a:prstGeom prst="rect">
            <a:avLst/>
          </a:prstGeom>
        </p:spPr>
      </p:pic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901959" y="4749453"/>
            <a:ext cx="508083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Reinforcement Learning</a:t>
            </a:r>
          </a:p>
          <a:p>
            <a:r>
              <a:rPr kumimoji="1" lang="zh-TW" altLang="en-US" sz="2400" b="1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強化學習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901959" y="5827136"/>
            <a:ext cx="36381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2025/12/10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528" y="253272"/>
            <a:ext cx="1468923" cy="146892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6E2C9EE-FDD5-78EA-2636-913A4243AEB1}"/>
              </a:ext>
            </a:extLst>
          </p:cNvPr>
          <p:cNvSpPr txBox="1"/>
          <p:nvPr/>
        </p:nvSpPr>
        <p:spPr>
          <a:xfrm>
            <a:off x="6627734" y="6296804"/>
            <a:ext cx="157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5"/>
              </a:rPr>
              <a:t>Course GitHub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E7A67D5-5AC8-9967-75E0-2F84F254D546}"/>
              </a:ext>
            </a:extLst>
          </p:cNvPr>
          <p:cNvSpPr txBox="1"/>
          <p:nvPr/>
        </p:nvSpPr>
        <p:spPr>
          <a:xfrm>
            <a:off x="9164787" y="6296804"/>
            <a:ext cx="171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Slido # DL1210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B12ED3B-C024-1834-CB54-7F04A2A021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1124" y="4708835"/>
            <a:ext cx="1524887" cy="152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53143" y="1586847"/>
            <a:ext cx="10918370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srgbClr val="0070C0"/>
                </a:solidFill>
                <a:ea typeface="Microsoft JhengHei" panose="020B0604030504040204" pitchFamily="34" charset="-120"/>
              </a:rPr>
              <a:t>Reinforcement Learning</a:t>
            </a:r>
            <a:r>
              <a:rPr kumimoji="1" lang="zh-TW" altLang="en-US" sz="2800" dirty="0">
                <a:solidFill>
                  <a:srgbClr val="0070C0"/>
                </a:solidFill>
                <a:ea typeface="Microsoft JhengHei" panose="020B0604030504040204" pitchFamily="34" charset="-120"/>
              </a:rPr>
              <a:t> </a:t>
            </a:r>
            <a:r>
              <a:rPr kumimoji="1" lang="en-US" altLang="zh-TW" sz="2800" dirty="0">
                <a:solidFill>
                  <a:srgbClr val="0070C0"/>
                </a:solidFill>
                <a:ea typeface="Microsoft JhengHei" panose="020B0604030504040204" pitchFamily="34" charset="-120"/>
              </a:rPr>
              <a:t>(RL) 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[100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Quiz [20 min]</a:t>
            </a:r>
          </a:p>
        </p:txBody>
      </p:sp>
    </p:spTree>
    <p:extLst>
      <p:ext uri="{BB962C8B-B14F-4D97-AF65-F5344CB8AC3E}">
        <p14:creationId xmlns:p14="http://schemas.microsoft.com/office/powerpoint/2010/main" val="91611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5CEB04-3408-03CE-7AD9-8B8F2F270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Reinforcement Learning (RL)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歸類</a:t>
            </a:r>
            <a:r>
              <a:rPr kumimoji="1" lang="en-US" altLang="zh-TW" dirty="0"/>
              <a:t>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AAF897-6EEF-A08A-8F1E-0A2AD360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7B7C9C5-8DCC-2738-4185-856C7B0B3A20}"/>
              </a:ext>
            </a:extLst>
          </p:cNvPr>
          <p:cNvSpPr/>
          <p:nvPr/>
        </p:nvSpPr>
        <p:spPr>
          <a:xfrm>
            <a:off x="1958340" y="1691957"/>
            <a:ext cx="8275320" cy="49061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7F87F7E-5D13-8FCE-023C-1FEAEC0C5885}"/>
              </a:ext>
            </a:extLst>
          </p:cNvPr>
          <p:cNvSpPr txBox="1"/>
          <p:nvPr/>
        </p:nvSpPr>
        <p:spPr>
          <a:xfrm>
            <a:off x="4781550" y="6057341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Artificial Intelligence (AI)</a:t>
            </a:r>
            <a:endParaRPr kumimoji="1"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355A577A-0E3D-A2DE-9FD1-A008173ECFA4}"/>
              </a:ext>
            </a:extLst>
          </p:cNvPr>
          <p:cNvSpPr/>
          <p:nvPr/>
        </p:nvSpPr>
        <p:spPr>
          <a:xfrm>
            <a:off x="2373630" y="2598874"/>
            <a:ext cx="5215890" cy="30923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9EEDD22-B0CA-DF80-F0AD-3E505F9574BD}"/>
              </a:ext>
            </a:extLst>
          </p:cNvPr>
          <p:cNvSpPr txBox="1"/>
          <p:nvPr/>
        </p:nvSpPr>
        <p:spPr>
          <a:xfrm>
            <a:off x="3667125" y="2735528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Machine Learning (ML)</a:t>
            </a:r>
            <a:endParaRPr kumimoji="1"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AEE7635-3B2D-D527-11D6-BCA09EAE6332}"/>
              </a:ext>
            </a:extLst>
          </p:cNvPr>
          <p:cNvSpPr/>
          <p:nvPr/>
        </p:nvSpPr>
        <p:spPr>
          <a:xfrm>
            <a:off x="2626995" y="3150073"/>
            <a:ext cx="2637978" cy="20607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DAD844F-BD86-3AB1-A3BE-D92FEEF2D7B8}"/>
              </a:ext>
            </a:extLst>
          </p:cNvPr>
          <p:cNvSpPr txBox="1"/>
          <p:nvPr/>
        </p:nvSpPr>
        <p:spPr>
          <a:xfrm>
            <a:off x="3044549" y="3327413"/>
            <a:ext cx="1445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Deep Learning (DL)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D460B47-ADDA-020F-9A8C-A1ED10267804}"/>
              </a:ext>
            </a:extLst>
          </p:cNvPr>
          <p:cNvSpPr txBox="1"/>
          <p:nvPr/>
        </p:nvSpPr>
        <p:spPr>
          <a:xfrm>
            <a:off x="7961948" y="3764952"/>
            <a:ext cx="1813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Ex. </a:t>
            </a:r>
            <a:r>
              <a:rPr kumimoji="1" lang="zh-TW" altLang="en-US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專家系統 </a:t>
            </a:r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(Expert system; Knowledge base)</a:t>
            </a:r>
            <a:endParaRPr kumimoji="1" lang="zh-TW" altLang="en-US" sz="16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77333DF-F612-C63A-3BA2-1574F7A12EA0}"/>
              </a:ext>
            </a:extLst>
          </p:cNvPr>
          <p:cNvSpPr txBox="1"/>
          <p:nvPr/>
        </p:nvSpPr>
        <p:spPr>
          <a:xfrm>
            <a:off x="2969667" y="4225662"/>
            <a:ext cx="1595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Ex. Multi-layer Perceptron</a:t>
            </a:r>
            <a:endParaRPr kumimoji="1" lang="zh-TW" altLang="en-US" sz="16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5E56883-670A-4054-920A-ADFD1411CF60}"/>
              </a:ext>
            </a:extLst>
          </p:cNvPr>
          <p:cNvSpPr/>
          <p:nvPr/>
        </p:nvSpPr>
        <p:spPr>
          <a:xfrm>
            <a:off x="4490224" y="3150073"/>
            <a:ext cx="2816194" cy="20607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1A4F0D9-9249-0C07-A56F-021B76A7F940}"/>
              </a:ext>
            </a:extLst>
          </p:cNvPr>
          <p:cNvSpPr txBox="1"/>
          <p:nvPr/>
        </p:nvSpPr>
        <p:spPr>
          <a:xfrm>
            <a:off x="5200822" y="3327413"/>
            <a:ext cx="1662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Reinforcement Learning (RL)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DD94BDD-490E-B163-D3BE-12341B8BFCE1}"/>
              </a:ext>
            </a:extLst>
          </p:cNvPr>
          <p:cNvSpPr txBox="1"/>
          <p:nvPr/>
        </p:nvSpPr>
        <p:spPr>
          <a:xfrm>
            <a:off x="4523006" y="3888062"/>
            <a:ext cx="765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Deep</a:t>
            </a:r>
          </a:p>
          <a:p>
            <a:pPr algn="ctr"/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RL</a:t>
            </a:r>
            <a:endParaRPr kumimoji="1" lang="zh-TW" altLang="en-US" sz="16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4FBC7D3-CC85-BB33-2025-A9D70102260A}"/>
              </a:ext>
            </a:extLst>
          </p:cNvPr>
          <p:cNvSpPr txBox="1"/>
          <p:nvPr/>
        </p:nvSpPr>
        <p:spPr>
          <a:xfrm>
            <a:off x="5338872" y="4225661"/>
            <a:ext cx="1595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Ex. Q-Learning</a:t>
            </a:r>
            <a:endParaRPr kumimoji="1" lang="zh-TW" altLang="en-US" sz="16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9126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F31655-EA0B-E607-1B7D-DE29ABB3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 Taxonomy of RL Algorithms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B737AA-B8FA-D33C-C49B-585F01B8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9F09233-B562-1321-1E27-0FF6EE213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217" y="1721195"/>
            <a:ext cx="8521565" cy="452776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06182368-996E-527D-C7F1-C99886FCD2B1}"/>
              </a:ext>
            </a:extLst>
          </p:cNvPr>
          <p:cNvSpPr txBox="1"/>
          <p:nvPr/>
        </p:nvSpPr>
        <p:spPr>
          <a:xfrm>
            <a:off x="2227218" y="6411375"/>
            <a:ext cx="8385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https://</a:t>
            </a:r>
            <a:r>
              <a:rPr kumimoji="1" lang="en" altLang="zh-TW" sz="1600" dirty="0" err="1"/>
              <a:t>spinningup.openai.com</a:t>
            </a:r>
            <a:r>
              <a:rPr kumimoji="1" lang="en" altLang="zh-TW" sz="1600" dirty="0"/>
              <a:t>/</a:t>
            </a:r>
            <a:r>
              <a:rPr kumimoji="1" lang="en" altLang="zh-TW" sz="1600" dirty="0" err="1"/>
              <a:t>en</a:t>
            </a:r>
            <a:r>
              <a:rPr kumimoji="1" lang="en" altLang="zh-TW" sz="1600" dirty="0"/>
              <a:t>/latest/</a:t>
            </a:r>
            <a:r>
              <a:rPr kumimoji="1" lang="en" altLang="zh-TW" sz="1600" dirty="0" err="1"/>
              <a:t>spinningup</a:t>
            </a:r>
            <a:r>
              <a:rPr kumimoji="1" lang="en" altLang="zh-TW" sz="1600" dirty="0"/>
              <a:t>/rl_intro2.html#a-taxonomy-of-rl-algorithms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8272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40A990-5BD7-D33E-5CB8-A651DAD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為什麼我們要學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/>
              <a:t>RL (1): RL is everywhere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FDB9EE-D9CD-BAFF-1350-4CF5FE6A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0D7CC4C-1E1B-88D3-131F-B22657F3ABC5}"/>
              </a:ext>
            </a:extLst>
          </p:cNvPr>
          <p:cNvSpPr txBox="1"/>
          <p:nvPr/>
        </p:nvSpPr>
        <p:spPr>
          <a:xfrm>
            <a:off x="2217548" y="5881803"/>
            <a:ext cx="7756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1200" dirty="0"/>
              <a:t>Paper: Silver, D., Huang, A., Maddison, C. J., </a:t>
            </a:r>
            <a:r>
              <a:rPr kumimoji="1" lang="en" altLang="zh-TW" sz="1200" dirty="0" err="1"/>
              <a:t>Guez</a:t>
            </a:r>
            <a:r>
              <a:rPr kumimoji="1" lang="en" altLang="zh-TW" sz="1200" dirty="0"/>
              <a:t>, A., </a:t>
            </a:r>
            <a:r>
              <a:rPr kumimoji="1" lang="en" altLang="zh-TW" sz="1200" dirty="0" err="1"/>
              <a:t>Sifre</a:t>
            </a:r>
            <a:r>
              <a:rPr kumimoji="1" lang="en" altLang="zh-TW" sz="1200" dirty="0"/>
              <a:t>, L., Van Den </a:t>
            </a:r>
            <a:r>
              <a:rPr kumimoji="1" lang="en" altLang="zh-TW" sz="1200" dirty="0" err="1"/>
              <a:t>Driessche</a:t>
            </a:r>
            <a:r>
              <a:rPr kumimoji="1" lang="en" altLang="zh-TW" sz="1200" dirty="0"/>
              <a:t>, G., ... &amp; Hassabis, D. (2016). Mastering the game of Go with deep neural networks and tree search. nature, 529(7587), 484-489.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1200" dirty="0"/>
              <a:t>Figure source: https://</a:t>
            </a:r>
            <a:r>
              <a:rPr kumimoji="1" lang="en" altLang="zh-TW" sz="1200" dirty="0" err="1"/>
              <a:t>www.newyorker.com</a:t>
            </a:r>
            <a:r>
              <a:rPr kumimoji="1" lang="en" altLang="zh-TW" sz="1200" dirty="0"/>
              <a:t>/tech/annals-of-technology/alphago-lee-sedol-and-the-reassuring-future-of-humans-and-machines</a:t>
            </a:r>
            <a:endParaRPr kumimoji="1" lang="zh-TW" altLang="en-US" sz="1200" dirty="0"/>
          </a:p>
        </p:txBody>
      </p:sp>
      <p:pic>
        <p:nvPicPr>
          <p:cNvPr id="5124" name="Picture 4" descr="On Tuesday Lee Sedol a topranked Go player lost the last of five games to AlphaGo a computer program.">
            <a:extLst>
              <a:ext uri="{FF2B5EF4-FFF2-40B4-BE49-F238E27FC236}">
                <a16:creationId xmlns:a16="http://schemas.microsoft.com/office/drawing/2014/main" id="{88272E02-27E1-3F66-B2AB-5C17D2CDE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653" y="2202332"/>
            <a:ext cx="5337541" cy="345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541B88B-4C0B-2057-82E1-F1AAAA0785E2}"/>
              </a:ext>
            </a:extLst>
          </p:cNvPr>
          <p:cNvSpPr txBox="1"/>
          <p:nvPr/>
        </p:nvSpPr>
        <p:spPr>
          <a:xfrm>
            <a:off x="5715796" y="1833000"/>
            <a:ext cx="3249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dirty="0"/>
              <a:t>AlphaGo vs. Lee Sedol  (2016)</a:t>
            </a:r>
            <a:endParaRPr lang="zh-TW" alt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8914BB3-8E77-5DED-1BB2-A77C1DE3A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54" y="2389158"/>
            <a:ext cx="3165703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53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C5ECEC-118B-ABC4-15CF-6E1F9A00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為什麼我們要學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/>
              <a:t>RL (1): RL is everywhere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A20D70-EB89-7E41-B921-ECA4B3A7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B617836-C124-75C8-43E1-8B374E18E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128" y="2117245"/>
            <a:ext cx="7772400" cy="466344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6AD97E6-A467-877C-F953-307A5B422596}"/>
              </a:ext>
            </a:extLst>
          </p:cNvPr>
          <p:cNvSpPr txBox="1"/>
          <p:nvPr/>
        </p:nvSpPr>
        <p:spPr>
          <a:xfrm>
            <a:off x="7780099" y="1460815"/>
            <a:ext cx="3791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Ouyang, Long, et al. "Training language models to follow instructions with human feedback." </a:t>
            </a:r>
            <a:r>
              <a:rPr kumimoji="1" lang="en" altLang="zh-TW" sz="1200" dirty="0" err="1"/>
              <a:t>NeurIPS</a:t>
            </a:r>
            <a:r>
              <a:rPr kumimoji="1" lang="en" altLang="zh-TW" sz="1200" dirty="0"/>
              <a:t> 2022.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7513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E22B3D-DB8C-D0C8-2EB8-6FACE7EA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為什麼我們要學 </a:t>
            </a:r>
            <a:r>
              <a:rPr kumimoji="1" lang="en-US" altLang="zh-TW" dirty="0"/>
              <a:t>RL (1): RL is everywhere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DA68B1-A6E7-3093-F743-F7F6F73E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線上媒體 4" descr="Reinforcment Learning - Mario Training Video">
            <a:hlinkClick r:id="" action="ppaction://media"/>
            <a:extLst>
              <a:ext uri="{FF2B5EF4-FFF2-40B4-BE49-F238E27FC236}">
                <a16:creationId xmlns:a16="http://schemas.microsoft.com/office/drawing/2014/main" id="{76B824A3-213B-10B3-F587-8C2E7E9913D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320500" y="2149245"/>
            <a:ext cx="7550999" cy="426631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BFAEF58-5F7E-A39D-F41F-71E3BB8B7549}"/>
              </a:ext>
            </a:extLst>
          </p:cNvPr>
          <p:cNvSpPr txBox="1"/>
          <p:nvPr/>
        </p:nvSpPr>
        <p:spPr>
          <a:xfrm>
            <a:off x="653142" y="1438348"/>
            <a:ext cx="5442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Using reinforcement learning.</a:t>
            </a:r>
          </a:p>
          <a:p>
            <a:r>
              <a:rPr kumimoji="1" lang="en-US" altLang="zh-TW" dirty="0"/>
              <a:t>Code: https://</a:t>
            </a:r>
            <a:r>
              <a:rPr kumimoji="1" lang="en-US" altLang="zh-TW" dirty="0" err="1"/>
              <a:t>github.com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jiseongHAN</a:t>
            </a:r>
            <a:r>
              <a:rPr kumimoji="1" lang="en-US" altLang="zh-TW" dirty="0"/>
              <a:t>/Super-Mario-RL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9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E7C426-22C9-2369-C106-950BD309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Atari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46FD7D-8BEE-DC04-1C89-D8CCDF03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6C6F15F-30C4-8CF6-8340-D1F7688BA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27" y="2184670"/>
            <a:ext cx="5133507" cy="336818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29806E9-D72C-DF86-6A01-A4C51E6D1033}"/>
              </a:ext>
            </a:extLst>
          </p:cNvPr>
          <p:cNvSpPr txBox="1"/>
          <p:nvPr/>
        </p:nvSpPr>
        <p:spPr>
          <a:xfrm>
            <a:off x="2403780" y="6348023"/>
            <a:ext cx="7384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Figure from: Mnih, Volodymyr, et al. "Playing atari with deep reinforcement learning." NIPS (2013).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7D4408C-F8E1-A4D9-D5F5-BAE09AC57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11" y="3290602"/>
            <a:ext cx="2875341" cy="175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06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48948-0708-D578-2CD3-C0C7F12B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為什麼我們要學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/>
              <a:t>RL (2):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訓練方式的不同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025D56-A670-6752-EF0E-2B8279FD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2" descr="Free Adorable grey and white cat with striking yellow eyes against a plain backdrop. Stock Photo">
            <a:extLst>
              <a:ext uri="{FF2B5EF4-FFF2-40B4-BE49-F238E27FC236}">
                <a16:creationId xmlns:a16="http://schemas.microsoft.com/office/drawing/2014/main" id="{2F13603A-3AEB-4AFB-8F28-B6478B364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085" y="1955540"/>
            <a:ext cx="1468691" cy="975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87BBC5B-08D2-CAC1-FFE8-6CAB9636BD01}"/>
              </a:ext>
            </a:extLst>
          </p:cNvPr>
          <p:cNvSpPr/>
          <p:nvPr/>
        </p:nvSpPr>
        <p:spPr>
          <a:xfrm>
            <a:off x="5163447" y="2563355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Machine Learning function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131B9D7A-C836-FEBF-52CA-88F4ADAEAC2C}"/>
              </a:ext>
            </a:extLst>
          </p:cNvPr>
          <p:cNvCxnSpPr/>
          <p:nvPr/>
        </p:nvCxnSpPr>
        <p:spPr>
          <a:xfrm>
            <a:off x="4237617" y="3054845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164A7A35-CD2A-FF81-D8D3-FC1B7D67DE6A}"/>
              </a:ext>
            </a:extLst>
          </p:cNvPr>
          <p:cNvCxnSpPr/>
          <p:nvPr/>
        </p:nvCxnSpPr>
        <p:spPr>
          <a:xfrm>
            <a:off x="7201797" y="3054845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圖片 14" descr="一張含有 寵物, 室內, 狗飼養, corgi 的圖片&#10;&#10;自動產生的描述">
            <a:extLst>
              <a:ext uri="{FF2B5EF4-FFF2-40B4-BE49-F238E27FC236}">
                <a16:creationId xmlns:a16="http://schemas.microsoft.com/office/drawing/2014/main" id="{10F65985-9AB2-95DF-B77C-69D0D9138B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4003" r="17757" b="22533"/>
          <a:stretch/>
        </p:blipFill>
        <p:spPr>
          <a:xfrm>
            <a:off x="1906718" y="2955356"/>
            <a:ext cx="1043430" cy="1045987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1C1A1E93-398E-1DEE-594D-27E4F3B8AF14}"/>
              </a:ext>
            </a:extLst>
          </p:cNvPr>
          <p:cNvSpPr txBox="1"/>
          <p:nvPr/>
        </p:nvSpPr>
        <p:spPr>
          <a:xfrm>
            <a:off x="8049792" y="2854790"/>
            <a:ext cx="2563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Supervised Learning</a:t>
            </a:r>
            <a:endParaRPr kumimoji="1" lang="zh-TW" altLang="en-US" sz="2000" b="1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1B0BB65-A418-A57C-97C1-868CD0ACF8CE}"/>
              </a:ext>
            </a:extLst>
          </p:cNvPr>
          <p:cNvSpPr txBox="1"/>
          <p:nvPr/>
        </p:nvSpPr>
        <p:spPr>
          <a:xfrm>
            <a:off x="3370948" y="2258631"/>
            <a:ext cx="620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cat</a:t>
            </a:r>
            <a:endParaRPr kumimoji="1"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AEDE0CB-A73F-C75A-5B14-B8ACF11FC8DA}"/>
              </a:ext>
            </a:extLst>
          </p:cNvPr>
          <p:cNvSpPr txBox="1"/>
          <p:nvPr/>
        </p:nvSpPr>
        <p:spPr>
          <a:xfrm>
            <a:off x="3401262" y="1389504"/>
            <a:ext cx="559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y</a:t>
            </a:r>
            <a:endParaRPr kumimoji="1" lang="zh-TW" altLang="en-US" sz="3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B6D3853-62E7-6EC2-B698-3F7A01A31CD8}"/>
              </a:ext>
            </a:extLst>
          </p:cNvPr>
          <p:cNvSpPr txBox="1"/>
          <p:nvPr/>
        </p:nvSpPr>
        <p:spPr>
          <a:xfrm>
            <a:off x="2096258" y="1389505"/>
            <a:ext cx="656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x</a:t>
            </a:r>
            <a:endParaRPr kumimoji="1" lang="zh-TW" altLang="en-US" sz="32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A428ADB-82B1-4997-0B88-F17FC1DF7592}"/>
              </a:ext>
            </a:extLst>
          </p:cNvPr>
          <p:cNvSpPr txBox="1"/>
          <p:nvPr/>
        </p:nvSpPr>
        <p:spPr>
          <a:xfrm>
            <a:off x="3370947" y="3263074"/>
            <a:ext cx="620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dog</a:t>
            </a:r>
            <a:endParaRPr kumimoji="1"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21CE016E-DC14-D370-FD39-A1217FEA7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175" y="4538309"/>
            <a:ext cx="1340507" cy="879531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0B3D5598-A62C-542C-6BFE-D90105491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174" y="5468495"/>
            <a:ext cx="1340507" cy="879531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F4EC4BB1-93BA-D18F-4A38-43DE4B92ADAA}"/>
              </a:ext>
            </a:extLst>
          </p:cNvPr>
          <p:cNvSpPr/>
          <p:nvPr/>
        </p:nvSpPr>
        <p:spPr>
          <a:xfrm>
            <a:off x="5147279" y="4978075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Machine Learning function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592D9DD4-5660-6E1D-E32E-F227D31B0135}"/>
              </a:ext>
            </a:extLst>
          </p:cNvPr>
          <p:cNvCxnSpPr/>
          <p:nvPr/>
        </p:nvCxnSpPr>
        <p:spPr>
          <a:xfrm>
            <a:off x="4221449" y="5469565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B0527736-A172-5FA9-440F-9542706019DF}"/>
              </a:ext>
            </a:extLst>
          </p:cNvPr>
          <p:cNvCxnSpPr/>
          <p:nvPr/>
        </p:nvCxnSpPr>
        <p:spPr>
          <a:xfrm>
            <a:off x="7185629" y="5469565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>
            <a:extLst>
              <a:ext uri="{FF2B5EF4-FFF2-40B4-BE49-F238E27FC236}">
                <a16:creationId xmlns:a16="http://schemas.microsoft.com/office/drawing/2014/main" id="{0ACBAEE6-4269-389E-23B9-309A14AD784B}"/>
              </a:ext>
            </a:extLst>
          </p:cNvPr>
          <p:cNvSpPr/>
          <p:nvPr/>
        </p:nvSpPr>
        <p:spPr>
          <a:xfrm>
            <a:off x="1906717" y="4331014"/>
            <a:ext cx="627477" cy="5283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E4C0E08-A919-FD1E-3F82-D14ECE21F3E0}"/>
              </a:ext>
            </a:extLst>
          </p:cNvPr>
          <p:cNvSpPr txBox="1"/>
          <p:nvPr/>
        </p:nvSpPr>
        <p:spPr>
          <a:xfrm>
            <a:off x="8049792" y="5114552"/>
            <a:ext cx="316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Reinforcement Learning</a:t>
            </a:r>
          </a:p>
          <a:p>
            <a:pPr algn="ctr"/>
            <a:r>
              <a:rPr kumimoji="1" lang="en-US" altLang="zh-TW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不需要每個狀態都有標註</a:t>
            </a:r>
            <a:r>
              <a:rPr kumimoji="1" lang="en-US" altLang="zh-TW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sz="2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1B60BC9C-C777-AC0C-8946-AAF1972166D2}"/>
              </a:ext>
            </a:extLst>
          </p:cNvPr>
          <p:cNvSpPr/>
          <p:nvPr/>
        </p:nvSpPr>
        <p:spPr>
          <a:xfrm>
            <a:off x="1906717" y="5256006"/>
            <a:ext cx="627477" cy="5283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2063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6" grpId="0" animBg="1"/>
      <p:bldP spid="29" grpId="0" animBg="1"/>
      <p:bldP spid="30" grpId="0" build="allAtOnce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4BB2F-EC1F-1942-C5BA-BF2D8C86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Supervised Learning vs. Reinforcement Learning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C906AD-7CDC-C0A3-BEBF-A34A414C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466A18D-6FA5-9047-5902-5DC0B4DDE78C}"/>
              </a:ext>
            </a:extLst>
          </p:cNvPr>
          <p:cNvSpPr txBox="1"/>
          <p:nvPr/>
        </p:nvSpPr>
        <p:spPr>
          <a:xfrm>
            <a:off x="653144" y="1806093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In supervised learning, the goal is to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minimize the expected error from the label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In reinforcement learning, the goal is to maximize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sum of reward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4C2E413-8894-72C3-1C6F-C57369E82C09}"/>
              </a:ext>
            </a:extLst>
          </p:cNvPr>
          <p:cNvSpPr txBox="1"/>
          <p:nvPr/>
        </p:nvSpPr>
        <p:spPr>
          <a:xfrm>
            <a:off x="1048215" y="3462953"/>
            <a:ext cx="3025697" cy="6463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Self-supervised learning </a:t>
            </a:r>
            <a:r>
              <a:rPr kumimoji="1" lang="zh-TW" altLang="en-US" dirty="0">
                <a:ea typeface="Microsoft JhengHei" panose="020B0604030504040204" pitchFamily="34" charset="-120"/>
              </a:rPr>
              <a:t>也是一種 </a:t>
            </a:r>
            <a:r>
              <a:rPr kumimoji="1" lang="en-US" altLang="zh-TW" dirty="0">
                <a:ea typeface="Microsoft JhengHei" panose="020B0604030504040204" pitchFamily="34" charset="-120"/>
              </a:rPr>
              <a:t>supervised learning!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916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D2193D2D-1771-63FE-73D1-29E5EAA6F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472" y="2313237"/>
            <a:ext cx="3200400" cy="3379124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(Simplified) Path of Deep Reinforcement Learning</a:t>
            </a:r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1DEBF9-6C13-262A-6DAA-8B289DD0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B620BE5-89AD-A3D6-E46B-41BF30B5023E}"/>
              </a:ext>
            </a:extLst>
          </p:cNvPr>
          <p:cNvSpPr/>
          <p:nvPr/>
        </p:nvSpPr>
        <p:spPr>
          <a:xfrm>
            <a:off x="5225712" y="1293779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Elements of RL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B75F2EC2-DF05-92E6-3419-8057F9567AFE}"/>
              </a:ext>
            </a:extLst>
          </p:cNvPr>
          <p:cNvSpPr/>
          <p:nvPr/>
        </p:nvSpPr>
        <p:spPr>
          <a:xfrm>
            <a:off x="5225712" y="2500594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Policy Gradient Methods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E6ACFF52-86F2-F9DD-44C3-D873DAA3756B}"/>
              </a:ext>
            </a:extLst>
          </p:cNvPr>
          <p:cNvSpPr/>
          <p:nvPr/>
        </p:nvSpPr>
        <p:spPr>
          <a:xfrm>
            <a:off x="5225712" y="4914223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On-policy and Off-policy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F97AD872-0B13-2E7D-8F1F-CF003BEEA02C}"/>
              </a:ext>
            </a:extLst>
          </p:cNvPr>
          <p:cNvSpPr/>
          <p:nvPr/>
        </p:nvSpPr>
        <p:spPr>
          <a:xfrm>
            <a:off x="5225712" y="3707409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Actor-Critic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82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7D31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4351F5-7CC3-264B-AA9D-245F1F014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[Illustration] RL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的元素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8969B8-E193-DC4E-855E-47CAAA79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12</a:t>
            </a:fld>
            <a:endParaRPr kumimoji="1" lang="zh-TW" alt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64912BB3-F18E-7546-B636-D6A2104A5E47}"/>
              </a:ext>
            </a:extLst>
          </p:cNvPr>
          <p:cNvSpPr/>
          <p:nvPr/>
        </p:nvSpPr>
        <p:spPr>
          <a:xfrm>
            <a:off x="4029549" y="2753532"/>
            <a:ext cx="1009402" cy="54626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Agent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2226552C-ECE4-424F-A670-4DC3737DF999}"/>
              </a:ext>
            </a:extLst>
          </p:cNvPr>
          <p:cNvSpPr/>
          <p:nvPr/>
        </p:nvSpPr>
        <p:spPr>
          <a:xfrm>
            <a:off x="3593131" y="4319095"/>
            <a:ext cx="1882237" cy="54626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Environment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8" name="肘形接點 7">
            <a:extLst>
              <a:ext uri="{FF2B5EF4-FFF2-40B4-BE49-F238E27FC236}">
                <a16:creationId xmlns:a16="http://schemas.microsoft.com/office/drawing/2014/main" id="{B1B067CE-C56B-F04F-A739-5EB67DA740C3}"/>
              </a:ext>
            </a:extLst>
          </p:cNvPr>
          <p:cNvCxnSpPr>
            <a:stCxn id="5" idx="3"/>
            <a:endCxn id="6" idx="3"/>
          </p:cNvCxnSpPr>
          <p:nvPr/>
        </p:nvCxnSpPr>
        <p:spPr>
          <a:xfrm>
            <a:off x="5038951" y="3026664"/>
            <a:ext cx="436417" cy="1565563"/>
          </a:xfrm>
          <a:prstGeom prst="bentConnector3">
            <a:avLst>
              <a:gd name="adj1" fmla="val 38639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接點 9">
            <a:extLst>
              <a:ext uri="{FF2B5EF4-FFF2-40B4-BE49-F238E27FC236}">
                <a16:creationId xmlns:a16="http://schemas.microsoft.com/office/drawing/2014/main" id="{0A0B3084-1411-244B-901E-7003CCA2E8C7}"/>
              </a:ext>
            </a:extLst>
          </p:cNvPr>
          <p:cNvCxnSpPr>
            <a:cxnSpLocks/>
          </p:cNvCxnSpPr>
          <p:nvPr/>
        </p:nvCxnSpPr>
        <p:spPr>
          <a:xfrm rot="10800000" flipH="1">
            <a:off x="3593131" y="2907908"/>
            <a:ext cx="436418" cy="1838695"/>
          </a:xfrm>
          <a:prstGeom prst="bentConnector4">
            <a:avLst>
              <a:gd name="adj1" fmla="val -291837"/>
              <a:gd name="adj2" fmla="val 10005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接點 13">
            <a:extLst>
              <a:ext uri="{FF2B5EF4-FFF2-40B4-BE49-F238E27FC236}">
                <a16:creationId xmlns:a16="http://schemas.microsoft.com/office/drawing/2014/main" id="{8CC0B23C-4C4A-2840-B9DA-D332F01811CD}"/>
              </a:ext>
            </a:extLst>
          </p:cNvPr>
          <p:cNvCxnSpPr>
            <a:cxnSpLocks/>
          </p:cNvCxnSpPr>
          <p:nvPr/>
        </p:nvCxnSpPr>
        <p:spPr>
          <a:xfrm rot="10800000" flipH="1">
            <a:off x="3593131" y="3050415"/>
            <a:ext cx="436418" cy="1565563"/>
          </a:xfrm>
          <a:prstGeom prst="bentConnector3">
            <a:avLst>
              <a:gd name="adj1" fmla="val -24829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22AA40C-E827-D445-BC09-DAA41C852EC2}"/>
                  </a:ext>
                </a:extLst>
              </p:cNvPr>
              <p:cNvSpPr txBox="1"/>
              <p:nvPr/>
            </p:nvSpPr>
            <p:spPr>
              <a:xfrm>
                <a:off x="6748997" y="3527798"/>
                <a:ext cx="7956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action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22AA40C-E827-D445-BC09-DAA41C852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997" y="3527798"/>
                <a:ext cx="795647" cy="646331"/>
              </a:xfrm>
              <a:prstGeom prst="rect">
                <a:avLst/>
              </a:prstGeom>
              <a:blipFill>
                <a:blip r:embed="rId3"/>
                <a:stretch>
                  <a:fillRect l="-6250" t="-3846" r="-15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99092A98-33B4-3B47-9393-0F84132E427E}"/>
                  </a:ext>
                </a:extLst>
              </p:cNvPr>
              <p:cNvSpPr txBox="1"/>
              <p:nvPr/>
            </p:nvSpPr>
            <p:spPr>
              <a:xfrm>
                <a:off x="2558492" y="3478317"/>
                <a:ext cx="86541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reward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99092A98-33B4-3B47-9393-0F84132E4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492" y="3478317"/>
                <a:ext cx="865414" cy="646331"/>
              </a:xfrm>
              <a:prstGeom prst="rect">
                <a:avLst/>
              </a:prstGeom>
              <a:blipFill>
                <a:blip r:embed="rId4"/>
                <a:stretch>
                  <a:fillRect l="-5797" t="-5882" r="-28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6668CD9-07DD-2D41-A0DE-DA84CE8489D5}"/>
                  </a:ext>
                </a:extLst>
              </p:cNvPr>
              <p:cNvSpPr txBox="1"/>
              <p:nvPr/>
            </p:nvSpPr>
            <p:spPr>
              <a:xfrm>
                <a:off x="1649289" y="3478316"/>
                <a:ext cx="6761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dirty="0"/>
                  <a:t>state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6668CD9-07DD-2D41-A0DE-DA84CE848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289" y="3478316"/>
                <a:ext cx="676152" cy="646331"/>
              </a:xfrm>
              <a:prstGeom prst="rect">
                <a:avLst/>
              </a:prstGeom>
              <a:blipFill>
                <a:blip r:embed="rId5"/>
                <a:stretch>
                  <a:fillRect l="-5660" t="-5882" r="-5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7337901C-2E4E-5548-B001-B3C19818FF94}"/>
              </a:ext>
            </a:extLst>
          </p:cNvPr>
          <p:cNvCxnSpPr/>
          <p:nvPr/>
        </p:nvCxnSpPr>
        <p:spPr>
          <a:xfrm>
            <a:off x="3138902" y="4366595"/>
            <a:ext cx="0" cy="546264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A26E07DA-6AD4-B443-85B2-0426D7CB10D9}"/>
              </a:ext>
            </a:extLst>
          </p:cNvPr>
          <p:cNvCxnSpPr>
            <a:cxnSpLocks/>
          </p:cNvCxnSpPr>
          <p:nvPr/>
        </p:nvCxnSpPr>
        <p:spPr>
          <a:xfrm flipH="1">
            <a:off x="3138901" y="4617952"/>
            <a:ext cx="4542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AB9C2443-FFB4-F241-BBD6-F0BB76140CA2}"/>
              </a:ext>
            </a:extLst>
          </p:cNvPr>
          <p:cNvCxnSpPr>
            <a:cxnSpLocks/>
          </p:cNvCxnSpPr>
          <p:nvPr/>
        </p:nvCxnSpPr>
        <p:spPr>
          <a:xfrm flipH="1">
            <a:off x="3138901" y="4746603"/>
            <a:ext cx="4542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638BF2AC-890F-7C4C-998A-51BA5EF572B6}"/>
                  </a:ext>
                </a:extLst>
              </p:cNvPr>
              <p:cNvSpPr txBox="1"/>
              <p:nvPr/>
            </p:nvSpPr>
            <p:spPr>
              <a:xfrm>
                <a:off x="3093623" y="4331950"/>
                <a:ext cx="6239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zh-TW" altLang="en-US" sz="14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638BF2AC-890F-7C4C-998A-51BA5EF57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623" y="4331950"/>
                <a:ext cx="62395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60C63307-2317-2E40-B222-9995B1692AF6}"/>
                  </a:ext>
                </a:extLst>
              </p:cNvPr>
              <p:cNvSpPr txBox="1"/>
              <p:nvPr/>
            </p:nvSpPr>
            <p:spPr>
              <a:xfrm>
                <a:off x="3138901" y="4734735"/>
                <a:ext cx="6239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zh-TW" altLang="en-US" sz="14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60C63307-2317-2E40-B222-9995B1692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901" y="4734735"/>
                <a:ext cx="62395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圖片 40">
            <a:extLst>
              <a:ext uri="{FF2B5EF4-FFF2-40B4-BE49-F238E27FC236}">
                <a16:creationId xmlns:a16="http://schemas.microsoft.com/office/drawing/2014/main" id="{C075DB16-CEB2-3C4A-B6DA-686B1C7536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2185" y="5107362"/>
            <a:ext cx="866979" cy="87683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42FC6EE-E70C-1D4F-BCE0-3BFA1AB627AA}"/>
              </a:ext>
            </a:extLst>
          </p:cNvPr>
          <p:cNvSpPr txBox="1"/>
          <p:nvPr/>
        </p:nvSpPr>
        <p:spPr>
          <a:xfrm>
            <a:off x="4401894" y="6117838"/>
            <a:ext cx="6547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0070C0"/>
                </a:solidFill>
              </a:rPr>
              <a:t>Rennie, Steven J., et al. "Self-critical sequence training for image captioning." </a:t>
            </a:r>
            <a:r>
              <a:rPr lang="en-US" altLang="zh-TW" sz="1400" i="1" dirty="0">
                <a:solidFill>
                  <a:srgbClr val="0070C0"/>
                </a:solidFill>
              </a:rPr>
              <a:t>Proceedings of the IEEE Conference on Computer Vision and Pattern Recognition</a:t>
            </a:r>
            <a:r>
              <a:rPr lang="en-US" altLang="zh-TW" sz="1400" dirty="0">
                <a:solidFill>
                  <a:srgbClr val="0070C0"/>
                </a:solidFill>
              </a:rPr>
              <a:t>. 2017.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E581AE4-D11B-3F46-0B3B-3C47794F6B1E}"/>
              </a:ext>
            </a:extLst>
          </p:cNvPr>
          <p:cNvSpPr txBox="1"/>
          <p:nvPr/>
        </p:nvSpPr>
        <p:spPr>
          <a:xfrm>
            <a:off x="4192356" y="2033617"/>
            <a:ext cx="622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000" dirty="0"/>
              <a:t>🤖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136B5D3-806E-CFF4-7E4B-E8214CE73E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5757" y="5093414"/>
            <a:ext cx="1417402" cy="867028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B10A00EA-B82C-E3D8-A5AC-B31F5222CD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9077" y="1797936"/>
            <a:ext cx="1473775" cy="9669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451DA98-F001-5238-C84A-70DC4466F6E0}"/>
                  </a:ext>
                </a:extLst>
              </p:cNvPr>
              <p:cNvSpPr txBox="1"/>
              <p:nvPr/>
            </p:nvSpPr>
            <p:spPr>
              <a:xfrm>
                <a:off x="6748997" y="4147687"/>
                <a:ext cx="35507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800" kern="100" dirty="0"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以打磚塊來說：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8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∈{</m:t>
                    </m:r>
                    <m:r>
                      <m:rPr>
                        <m:sty m:val="p"/>
                      </m:rPr>
                      <a:rPr lang="en-US" altLang="zh-TW" sz="1800" b="0" i="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left</m:t>
                    </m:r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18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800" b="0" i="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rig</m:t>
                    </m:r>
                    <m:r>
                      <a:rPr lang="en-US" altLang="zh-TW" sz="18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h𝑡</m:t>
                    </m:r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zh-TW" altLang="zh-TW" sz="1800" kern="100" dirty="0"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451DA98-F001-5238-C84A-70DC4466F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997" y="4147687"/>
                <a:ext cx="3550717" cy="369332"/>
              </a:xfrm>
              <a:prstGeom prst="rect">
                <a:avLst/>
              </a:prstGeom>
              <a:blipFill>
                <a:blip r:embed="rId11"/>
                <a:stretch>
                  <a:fillRect l="-1423" t="-6667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A vertical rectangular video game screenshot that is a digital representation of a battle between aliens and a laser cannon. The white aliens hover above four green, inverted U-shaped blocks. Below the blocks is a smaller horizontal block with a triangle on its top.">
            <a:extLst>
              <a:ext uri="{FF2B5EF4-FFF2-40B4-BE49-F238E27FC236}">
                <a16:creationId xmlns:a16="http://schemas.microsoft.com/office/drawing/2014/main" id="{9EC1C664-9B68-5CC9-F4A3-8C85B9ABD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44" y="1482821"/>
            <a:ext cx="1468867" cy="167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3B9DE08-32F5-4D01-3B86-0BFB439CEB53}"/>
                  </a:ext>
                </a:extLst>
              </p:cNvPr>
              <p:cNvSpPr txBox="1"/>
              <p:nvPr/>
            </p:nvSpPr>
            <p:spPr>
              <a:xfrm>
                <a:off x="6748997" y="4492096"/>
                <a:ext cx="46068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800" kern="100" dirty="0"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以</a:t>
                </a:r>
                <a:r>
                  <a:rPr lang="zh-TW" altLang="en-US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太空侵略者</a:t>
                </a:r>
                <a:r>
                  <a:rPr lang="zh-TW" altLang="en-US" sz="1800" kern="100" dirty="0"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來說：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8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∈{</m:t>
                    </m:r>
                    <m:r>
                      <m:rPr>
                        <m:sty m:val="p"/>
                      </m:rPr>
                      <a:rPr lang="en-US" altLang="zh-TW" sz="1800" b="0" i="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left</m:t>
                    </m:r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18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800" b="0" i="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rig</m:t>
                    </m:r>
                    <m:r>
                      <a:rPr lang="en-US" altLang="zh-TW" sz="18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h𝑡</m:t>
                    </m:r>
                    <m:r>
                      <a:rPr lang="en-US" altLang="zh-TW" sz="18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TW" sz="1800" b="0" i="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fire</m:t>
                    </m:r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zh-TW" altLang="zh-TW" sz="1800" kern="100" dirty="0"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3B9DE08-32F5-4D01-3B86-0BFB439CE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997" y="4492096"/>
                <a:ext cx="4606862" cy="369332"/>
              </a:xfrm>
              <a:prstGeom prst="rect">
                <a:avLst/>
              </a:prstGeom>
              <a:blipFill>
                <a:blip r:embed="rId13"/>
                <a:stretch>
                  <a:fillRect l="-1099" t="-6667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C742AFAB-72D8-5CAC-D3EA-D62AA98A9681}"/>
              </a:ext>
            </a:extLst>
          </p:cNvPr>
          <p:cNvCxnSpPr>
            <a:cxnSpLocks/>
          </p:cNvCxnSpPr>
          <p:nvPr/>
        </p:nvCxnSpPr>
        <p:spPr>
          <a:xfrm>
            <a:off x="5038951" y="3026664"/>
            <a:ext cx="4542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08C016C0-51E5-09B5-23BB-E1A16A64FCDD}"/>
                  </a:ext>
                </a:extLst>
              </p:cNvPr>
              <p:cNvSpPr txBox="1"/>
              <p:nvPr/>
            </p:nvSpPr>
            <p:spPr>
              <a:xfrm>
                <a:off x="5003400" y="2681934"/>
                <a:ext cx="6239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zh-TW" altLang="en-US" sz="1400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08C016C0-51E5-09B5-23BB-E1A16A64F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00" y="2681934"/>
                <a:ext cx="623951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97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37" grpId="0"/>
      <p:bldP spid="38" grpId="0"/>
      <p:bldP spid="42" grpId="0"/>
      <p:bldP spid="44" grpId="0"/>
      <p:bldP spid="5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4351F5-7CC3-264B-AA9D-245F1F014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[Definitions] RL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的元素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8969B8-E193-DC4E-855E-47CAAA79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13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42FC6EE-E70C-1D4F-BCE0-3BFA1AB627AA}"/>
              </a:ext>
            </a:extLst>
          </p:cNvPr>
          <p:cNvSpPr txBox="1"/>
          <p:nvPr/>
        </p:nvSpPr>
        <p:spPr>
          <a:xfrm>
            <a:off x="2822423" y="6240302"/>
            <a:ext cx="6547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0070C0"/>
                </a:solidFill>
              </a:rPr>
              <a:t>Rennie, Steven J., et al. "Self-critical sequence training for image captioning." </a:t>
            </a:r>
            <a:r>
              <a:rPr lang="en-US" altLang="zh-TW" sz="1400" i="1" dirty="0">
                <a:solidFill>
                  <a:srgbClr val="0070C0"/>
                </a:solidFill>
              </a:rPr>
              <a:t>Proceedings of the IEEE Conference on Computer Vision and Pattern Recognition</a:t>
            </a:r>
            <a:r>
              <a:rPr lang="en-US" altLang="zh-TW" sz="1400" dirty="0">
                <a:solidFill>
                  <a:srgbClr val="0070C0"/>
                </a:solidFill>
              </a:rPr>
              <a:t>. 2017.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9953FA30-0EE5-2C48-C6B8-22ABD95C04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2801874"/>
                  </p:ext>
                </p:extLst>
              </p:nvPr>
            </p:nvGraphicFramePr>
            <p:xfrm>
              <a:off x="1153296" y="1761694"/>
              <a:ext cx="9885406" cy="41064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2108">
                      <a:extLst>
                        <a:ext uri="{9D8B030D-6E8A-4147-A177-3AD203B41FA5}">
                          <a16:colId xmlns:a16="http://schemas.microsoft.com/office/drawing/2014/main" val="3273140195"/>
                        </a:ext>
                      </a:extLst>
                    </a:gridCol>
                    <a:gridCol w="3101546">
                      <a:extLst>
                        <a:ext uri="{9D8B030D-6E8A-4147-A177-3AD203B41FA5}">
                          <a16:colId xmlns:a16="http://schemas.microsoft.com/office/drawing/2014/main" val="3599654838"/>
                        </a:ext>
                      </a:extLst>
                    </a:gridCol>
                    <a:gridCol w="5671752">
                      <a:extLst>
                        <a:ext uri="{9D8B030D-6E8A-4147-A177-3AD203B41FA5}">
                          <a16:colId xmlns:a16="http://schemas.microsoft.com/office/drawing/2014/main" val="3839551679"/>
                        </a:ext>
                      </a:extLst>
                    </a:gridCol>
                  </a:tblGrid>
                  <a:tr h="624784"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符號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名稱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意義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3420168"/>
                      </a:ext>
                    </a:extLst>
                  </a:tr>
                  <a:tr h="6247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kumimoji="1"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時間點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狀態或 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agent </a:t>
                          </a:r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執行動作的最小單位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216428"/>
                      </a:ext>
                    </a:extLst>
                  </a:tr>
                  <a:tr h="9824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狀態 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(state)</a:t>
                          </a:r>
                          <a:endParaRPr lang="zh-TW" altLang="en-US" sz="2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在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kumimoji="1" lang="zh-TW" altLang="en-US" sz="2400" dirty="0">
                              <a:latin typeface="+mn-lt"/>
                              <a:ea typeface="+mn-ea"/>
                            </a:rPr>
                            <a:t> </a:t>
                          </a:r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時間點，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agent</a:t>
                          </a:r>
                          <a:r>
                            <a:rPr lang="en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 </a:t>
                          </a:r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所觀察到的狀態，由環境 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(environment)</a:t>
                          </a:r>
                          <a:r>
                            <a:rPr lang="en-US" altLang="zh-TW" sz="2400" baseline="0" dirty="0">
                              <a:latin typeface="+mn-lt"/>
                              <a:ea typeface="Microsoft JhengHei" panose="020B0604030504040204" pitchFamily="34" charset="-120"/>
                            </a:rPr>
                            <a:t> </a:t>
                          </a:r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所提供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8244523"/>
                      </a:ext>
                    </a:extLst>
                  </a:tr>
                  <a:tr h="6247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動作 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(action)</a:t>
                          </a:r>
                          <a:endParaRPr lang="zh-TW" altLang="en-US" sz="2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agent</a:t>
                          </a:r>
                          <a:r>
                            <a:rPr lang="en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 </a:t>
                          </a:r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在狀態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​ </a:t>
                          </a:r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下選擇的動作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4164072"/>
                      </a:ext>
                    </a:extLst>
                  </a:tr>
                  <a:tr h="6247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即時回饋 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(reward)</a:t>
                          </a:r>
                          <a:endParaRPr lang="zh-TW" altLang="en-US" sz="2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agent</a:t>
                          </a:r>
                          <a:r>
                            <a:rPr lang="en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 </a:t>
                          </a:r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執行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​ </a:t>
                          </a:r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後，由環境給的分數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7360008"/>
                      </a:ext>
                    </a:extLst>
                  </a:tr>
                  <a:tr h="6247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策略 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(policy)</a:t>
                          </a:r>
                          <a:endParaRPr lang="zh-TW" altLang="en-US" sz="2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policy</a:t>
                          </a:r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 是一個帶參數 </a:t>
                          </a:r>
                          <a14:m>
                            <m:oMath xmlns:m="http://schemas.openxmlformats.org/officeDocument/2006/math">
                              <m: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 的模型 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(agent)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0342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9953FA30-0EE5-2C48-C6B8-22ABD95C04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2801874"/>
                  </p:ext>
                </p:extLst>
              </p:nvPr>
            </p:nvGraphicFramePr>
            <p:xfrm>
              <a:off x="1153296" y="1761694"/>
              <a:ext cx="9885406" cy="41064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2108">
                      <a:extLst>
                        <a:ext uri="{9D8B030D-6E8A-4147-A177-3AD203B41FA5}">
                          <a16:colId xmlns:a16="http://schemas.microsoft.com/office/drawing/2014/main" val="3273140195"/>
                        </a:ext>
                      </a:extLst>
                    </a:gridCol>
                    <a:gridCol w="3101546">
                      <a:extLst>
                        <a:ext uri="{9D8B030D-6E8A-4147-A177-3AD203B41FA5}">
                          <a16:colId xmlns:a16="http://schemas.microsoft.com/office/drawing/2014/main" val="3599654838"/>
                        </a:ext>
                      </a:extLst>
                    </a:gridCol>
                    <a:gridCol w="5671752">
                      <a:extLst>
                        <a:ext uri="{9D8B030D-6E8A-4147-A177-3AD203B41FA5}">
                          <a16:colId xmlns:a16="http://schemas.microsoft.com/office/drawing/2014/main" val="3839551679"/>
                        </a:ext>
                      </a:extLst>
                    </a:gridCol>
                  </a:tblGrid>
                  <a:tr h="624784"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符號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名稱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意義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3420168"/>
                      </a:ext>
                    </a:extLst>
                  </a:tr>
                  <a:tr h="6247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100000" r="-788636" b="-4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時間點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狀態或 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agent </a:t>
                          </a:r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執行動作的最小單位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216428"/>
                      </a:ext>
                    </a:extLst>
                  </a:tr>
                  <a:tr h="98249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128205" r="-788636" b="-1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狀態 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(state)</a:t>
                          </a:r>
                          <a:endParaRPr lang="zh-TW" altLang="en-US" sz="2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4107" t="-128205" r="-446" b="-1948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8244523"/>
                      </a:ext>
                    </a:extLst>
                  </a:tr>
                  <a:tr h="6247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363265" r="-788636" b="-2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動作 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(action)</a:t>
                          </a:r>
                          <a:endParaRPr lang="zh-TW" altLang="en-US" sz="2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4107" t="-363265" r="-446" b="-2102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164072"/>
                      </a:ext>
                    </a:extLst>
                  </a:tr>
                  <a:tr h="6247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454000" r="-788636" b="-1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即時回饋 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(reward)</a:t>
                          </a:r>
                          <a:endParaRPr lang="zh-TW" altLang="en-US" sz="2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4107" t="-454000" r="-446" b="-1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7360008"/>
                      </a:ext>
                    </a:extLst>
                  </a:tr>
                  <a:tr h="6247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565306" r="-788636" b="-8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策略 </a:t>
                          </a:r>
                          <a:r>
                            <a:rPr lang="en-US" altLang="zh-TW" sz="2400" dirty="0">
                              <a:latin typeface="+mn-lt"/>
                              <a:ea typeface="Microsoft JhengHei" panose="020B0604030504040204" pitchFamily="34" charset="-120"/>
                            </a:rPr>
                            <a:t>(policy)</a:t>
                          </a:r>
                          <a:endParaRPr lang="zh-TW" altLang="en-US" sz="2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4107" t="-565306" r="-446" b="-8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0342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30304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4351F5-7CC3-264B-AA9D-245F1F014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[Illustration] RL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的元素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8969B8-E193-DC4E-855E-47CAAA79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14</a:t>
            </a:fld>
            <a:endParaRPr kumimoji="1"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EA04F0CF-CDB3-9298-9625-5963736E233D}"/>
              </a:ext>
            </a:extLst>
          </p:cNvPr>
          <p:cNvGrpSpPr/>
          <p:nvPr/>
        </p:nvGrpSpPr>
        <p:grpSpPr>
          <a:xfrm>
            <a:off x="942934" y="1832942"/>
            <a:ext cx="10599396" cy="2836335"/>
            <a:chOff x="344221" y="1920491"/>
            <a:chExt cx="11709479" cy="4224351"/>
          </a:xfrm>
        </p:grpSpPr>
        <p:sp>
          <p:nvSpPr>
            <p:cNvPr id="11" name="圓角矩形 10">
              <a:extLst>
                <a:ext uri="{FF2B5EF4-FFF2-40B4-BE49-F238E27FC236}">
                  <a16:creationId xmlns:a16="http://schemas.microsoft.com/office/drawing/2014/main" id="{421824FD-BD4F-C6DC-5BA0-1D0D947E234E}"/>
                </a:ext>
              </a:extLst>
            </p:cNvPr>
            <p:cNvSpPr/>
            <p:nvPr/>
          </p:nvSpPr>
          <p:spPr>
            <a:xfrm>
              <a:off x="681975" y="3005787"/>
              <a:ext cx="1571141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Agent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箭頭接點 12">
              <a:extLst>
                <a:ext uri="{FF2B5EF4-FFF2-40B4-BE49-F238E27FC236}">
                  <a16:creationId xmlns:a16="http://schemas.microsoft.com/office/drawing/2014/main" id="{3B3FB321-5168-9543-6DBB-4104649DADC9}"/>
                </a:ext>
              </a:extLst>
            </p:cNvPr>
            <p:cNvCxnSpPr>
              <a:cxnSpLocks/>
              <a:stCxn id="34" idx="2"/>
              <a:endCxn id="11" idx="0"/>
            </p:cNvCxnSpPr>
            <p:nvPr/>
          </p:nvCxnSpPr>
          <p:spPr>
            <a:xfrm>
              <a:off x="1467545" y="2649240"/>
              <a:ext cx="1" cy="3565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箭頭接點 15">
              <a:extLst>
                <a:ext uri="{FF2B5EF4-FFF2-40B4-BE49-F238E27FC236}">
                  <a16:creationId xmlns:a16="http://schemas.microsoft.com/office/drawing/2014/main" id="{12FFAE59-D320-C68D-B965-A1245330F79B}"/>
                </a:ext>
              </a:extLst>
            </p:cNvPr>
            <p:cNvCxnSpPr>
              <a:cxnSpLocks/>
              <a:stCxn id="11" idx="2"/>
              <a:endCxn id="17" idx="0"/>
            </p:cNvCxnSpPr>
            <p:nvPr/>
          </p:nvCxnSpPr>
          <p:spPr>
            <a:xfrm flipH="1">
              <a:off x="1467544" y="3809968"/>
              <a:ext cx="2" cy="3565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5A78754A-BE63-28A9-A147-8DFEC7D1FB15}"/>
                    </a:ext>
                  </a:extLst>
                </p:cNvPr>
                <p:cNvSpPr/>
                <p:nvPr/>
              </p:nvSpPr>
              <p:spPr>
                <a:xfrm>
                  <a:off x="516993" y="4166515"/>
                  <a:ext cx="1901102" cy="724561"/>
                </a:xfrm>
                <a:prstGeom prst="rect">
                  <a:avLst/>
                </a:prstGeom>
                <a:noFill/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5A78754A-BE63-28A9-A147-8DFEC7D1FB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993" y="4166515"/>
                  <a:ext cx="1901102" cy="724561"/>
                </a:xfrm>
                <a:prstGeom prst="rect">
                  <a:avLst/>
                </a:prstGeom>
                <a:blipFill>
                  <a:blip r:embed="rId3"/>
                  <a:stretch>
                    <a:fillRect t="-2439" b="-21951"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線箭頭接點 27">
              <a:extLst>
                <a:ext uri="{FF2B5EF4-FFF2-40B4-BE49-F238E27FC236}">
                  <a16:creationId xmlns:a16="http://schemas.microsoft.com/office/drawing/2014/main" id="{40986850-1491-7EC6-3F91-F065C66A3E65}"/>
                </a:ext>
              </a:extLst>
            </p:cNvPr>
            <p:cNvCxnSpPr>
              <a:cxnSpLocks/>
              <a:stCxn id="17" idx="2"/>
              <a:endCxn id="33" idx="0"/>
            </p:cNvCxnSpPr>
            <p:nvPr/>
          </p:nvCxnSpPr>
          <p:spPr>
            <a:xfrm>
              <a:off x="1467544" y="4891076"/>
              <a:ext cx="0" cy="3901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圓角矩形 32">
              <a:extLst>
                <a:ext uri="{FF2B5EF4-FFF2-40B4-BE49-F238E27FC236}">
                  <a16:creationId xmlns:a16="http://schemas.microsoft.com/office/drawing/2014/main" id="{C4FDC229-FFC8-BFF1-D84E-9A69903C9522}"/>
                </a:ext>
              </a:extLst>
            </p:cNvPr>
            <p:cNvSpPr/>
            <p:nvPr/>
          </p:nvSpPr>
          <p:spPr>
            <a:xfrm>
              <a:off x="344222" y="5281256"/>
              <a:ext cx="2246644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Environment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FEA76B5D-F439-5C8E-8495-A6ABAEC91ECF}"/>
                    </a:ext>
                  </a:extLst>
                </p:cNvPr>
                <p:cNvSpPr/>
                <p:nvPr/>
              </p:nvSpPr>
              <p:spPr>
                <a:xfrm>
                  <a:off x="516993" y="1924679"/>
                  <a:ext cx="1901103" cy="724561"/>
                </a:xfrm>
                <a:prstGeom prst="rect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FEA76B5D-F439-5C8E-8495-A6ABAEC91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993" y="1924679"/>
                  <a:ext cx="1901103" cy="724561"/>
                </a:xfrm>
                <a:prstGeom prst="rect">
                  <a:avLst/>
                </a:prstGeom>
                <a:blipFill>
                  <a:blip r:embed="rId4"/>
                  <a:stretch>
                    <a:fillRect b="-19048"/>
                  </a:stretch>
                </a:blipFill>
                <a:ln w="285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942762A-005F-E665-EB75-6C6E001CF8C0}"/>
                    </a:ext>
                  </a:extLst>
                </p:cNvPr>
                <p:cNvSpPr/>
                <p:nvPr/>
              </p:nvSpPr>
              <p:spPr>
                <a:xfrm>
                  <a:off x="4474057" y="1924679"/>
                  <a:ext cx="1901103" cy="724561"/>
                </a:xfrm>
                <a:prstGeom prst="rect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942762A-005F-E665-EB75-6C6E001CF8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4057" y="1924679"/>
                  <a:ext cx="1901103" cy="724561"/>
                </a:xfrm>
                <a:prstGeom prst="rect">
                  <a:avLst/>
                </a:prstGeom>
                <a:blipFill>
                  <a:blip r:embed="rId5"/>
                  <a:stretch>
                    <a:fillRect b="-19048"/>
                  </a:stretch>
                </a:blipFill>
                <a:ln w="285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7" name="矩形 1026">
                  <a:extLst>
                    <a:ext uri="{FF2B5EF4-FFF2-40B4-BE49-F238E27FC236}">
                      <a16:creationId xmlns:a16="http://schemas.microsoft.com/office/drawing/2014/main" id="{5284B69A-545A-0C28-5C52-39F1AAA6E08D}"/>
                    </a:ext>
                  </a:extLst>
                </p:cNvPr>
                <p:cNvSpPr/>
                <p:nvPr/>
              </p:nvSpPr>
              <p:spPr>
                <a:xfrm>
                  <a:off x="4474058" y="4193053"/>
                  <a:ext cx="1901102" cy="724561"/>
                </a:xfrm>
                <a:prstGeom prst="rect">
                  <a:avLst/>
                </a:prstGeom>
                <a:noFill/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27" name="矩形 1026">
                  <a:extLst>
                    <a:ext uri="{FF2B5EF4-FFF2-40B4-BE49-F238E27FC236}">
                      <a16:creationId xmlns:a16="http://schemas.microsoft.com/office/drawing/2014/main" id="{5284B69A-545A-0C28-5C52-39F1AAA6E0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4058" y="4193053"/>
                  <a:ext cx="1901102" cy="724561"/>
                </a:xfrm>
                <a:prstGeom prst="rect">
                  <a:avLst/>
                </a:prstGeom>
                <a:blipFill>
                  <a:blip r:embed="rId6"/>
                  <a:stretch>
                    <a:fillRect l="-719" t="-2381" b="-19048"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8" name="圓角矩形 1027">
              <a:extLst>
                <a:ext uri="{FF2B5EF4-FFF2-40B4-BE49-F238E27FC236}">
                  <a16:creationId xmlns:a16="http://schemas.microsoft.com/office/drawing/2014/main" id="{7EF8D726-AF84-0F39-1C6B-61292F0AB4B4}"/>
                </a:ext>
              </a:extLst>
            </p:cNvPr>
            <p:cNvSpPr/>
            <p:nvPr/>
          </p:nvSpPr>
          <p:spPr>
            <a:xfrm>
              <a:off x="4639035" y="3019056"/>
              <a:ext cx="1571141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Agent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29" name="直線箭頭接點 1028">
              <a:extLst>
                <a:ext uri="{FF2B5EF4-FFF2-40B4-BE49-F238E27FC236}">
                  <a16:creationId xmlns:a16="http://schemas.microsoft.com/office/drawing/2014/main" id="{8CBC73FB-0A7D-CD85-D4AA-14C9BA7125B2}"/>
                </a:ext>
              </a:extLst>
            </p:cNvPr>
            <p:cNvCxnSpPr>
              <a:cxnSpLocks/>
              <a:endCxn id="1028" idx="0"/>
            </p:cNvCxnSpPr>
            <p:nvPr/>
          </p:nvCxnSpPr>
          <p:spPr>
            <a:xfrm>
              <a:off x="5424605" y="2645052"/>
              <a:ext cx="1" cy="3740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直線箭頭接點 1029">
              <a:extLst>
                <a:ext uri="{FF2B5EF4-FFF2-40B4-BE49-F238E27FC236}">
                  <a16:creationId xmlns:a16="http://schemas.microsoft.com/office/drawing/2014/main" id="{7A0A3E2E-B3D8-6618-DA81-3B9EB8296CA8}"/>
                </a:ext>
              </a:extLst>
            </p:cNvPr>
            <p:cNvCxnSpPr>
              <a:cxnSpLocks/>
              <a:stCxn id="1028" idx="2"/>
            </p:cNvCxnSpPr>
            <p:nvPr/>
          </p:nvCxnSpPr>
          <p:spPr>
            <a:xfrm flipH="1">
              <a:off x="5424604" y="3823237"/>
              <a:ext cx="2" cy="3542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1" name="圓角矩形 1030">
              <a:extLst>
                <a:ext uri="{FF2B5EF4-FFF2-40B4-BE49-F238E27FC236}">
                  <a16:creationId xmlns:a16="http://schemas.microsoft.com/office/drawing/2014/main" id="{874385A5-459A-4449-4855-6CABE18D3A8C}"/>
                </a:ext>
              </a:extLst>
            </p:cNvPr>
            <p:cNvSpPr/>
            <p:nvPr/>
          </p:nvSpPr>
          <p:spPr>
            <a:xfrm>
              <a:off x="4301282" y="5287430"/>
              <a:ext cx="2246644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Environment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32" name="直線箭頭接點 1031">
              <a:extLst>
                <a:ext uri="{FF2B5EF4-FFF2-40B4-BE49-F238E27FC236}">
                  <a16:creationId xmlns:a16="http://schemas.microsoft.com/office/drawing/2014/main" id="{DCF77A01-CF22-C54A-821B-D9F37A2EE1D5}"/>
                </a:ext>
              </a:extLst>
            </p:cNvPr>
            <p:cNvCxnSpPr>
              <a:cxnSpLocks/>
              <a:stCxn id="1027" idx="2"/>
              <a:endCxn id="1031" idx="0"/>
            </p:cNvCxnSpPr>
            <p:nvPr/>
          </p:nvCxnSpPr>
          <p:spPr>
            <a:xfrm flipH="1">
              <a:off x="5424604" y="4917614"/>
              <a:ext cx="5" cy="3698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直線箭頭接點 1035">
              <a:extLst>
                <a:ext uri="{FF2B5EF4-FFF2-40B4-BE49-F238E27FC236}">
                  <a16:creationId xmlns:a16="http://schemas.microsoft.com/office/drawing/2014/main" id="{3C9C5508-711B-7E6A-17A5-0144D67864E7}"/>
                </a:ext>
              </a:extLst>
            </p:cNvPr>
            <p:cNvCxnSpPr>
              <a:cxnSpLocks/>
              <a:stCxn id="33" idx="3"/>
              <a:endCxn id="1070" idx="1"/>
            </p:cNvCxnSpPr>
            <p:nvPr/>
          </p:nvCxnSpPr>
          <p:spPr>
            <a:xfrm>
              <a:off x="2590866" y="5683347"/>
              <a:ext cx="389722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肘形接點 1042">
              <a:extLst>
                <a:ext uri="{FF2B5EF4-FFF2-40B4-BE49-F238E27FC236}">
                  <a16:creationId xmlns:a16="http://schemas.microsoft.com/office/drawing/2014/main" id="{CDA1D2F5-7DED-9C3B-E30C-8AA7DC056528}"/>
                </a:ext>
              </a:extLst>
            </p:cNvPr>
            <p:cNvCxnSpPr>
              <a:stCxn id="33" idx="3"/>
              <a:endCxn id="57" idx="1"/>
            </p:cNvCxnSpPr>
            <p:nvPr/>
          </p:nvCxnSpPr>
          <p:spPr>
            <a:xfrm flipV="1">
              <a:off x="2590866" y="2286960"/>
              <a:ext cx="1883191" cy="3396387"/>
            </a:xfrm>
            <a:prstGeom prst="bentConnector3">
              <a:avLst>
                <a:gd name="adj1" fmla="val 800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5" name="矩形 1044">
                  <a:extLst>
                    <a:ext uri="{FF2B5EF4-FFF2-40B4-BE49-F238E27FC236}">
                      <a16:creationId xmlns:a16="http://schemas.microsoft.com/office/drawing/2014/main" id="{0EFD938A-663C-A824-5F0D-6BAB8EB05466}"/>
                    </a:ext>
                  </a:extLst>
                </p:cNvPr>
                <p:cNvSpPr/>
                <p:nvPr/>
              </p:nvSpPr>
              <p:spPr>
                <a:xfrm>
                  <a:off x="6905988" y="5221855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5" name="矩形 1044">
                  <a:extLst>
                    <a:ext uri="{FF2B5EF4-FFF2-40B4-BE49-F238E27FC236}">
                      <a16:creationId xmlns:a16="http://schemas.microsoft.com/office/drawing/2014/main" id="{0EFD938A-663C-A824-5F0D-6BAB8EB054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5988" y="5221855"/>
                  <a:ext cx="1254564" cy="922987"/>
                </a:xfrm>
                <a:prstGeom prst="rect">
                  <a:avLst/>
                </a:prstGeom>
                <a:blipFill>
                  <a:blip r:embed="rId7"/>
                  <a:stretch>
                    <a:fillRect t="-9434" b="-3774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6" name="矩形 1045">
                  <a:extLst>
                    <a:ext uri="{FF2B5EF4-FFF2-40B4-BE49-F238E27FC236}">
                      <a16:creationId xmlns:a16="http://schemas.microsoft.com/office/drawing/2014/main" id="{C17232B3-1B71-A198-2E6F-A8A70C312A78}"/>
                    </a:ext>
                  </a:extLst>
                </p:cNvPr>
                <p:cNvSpPr/>
                <p:nvPr/>
              </p:nvSpPr>
              <p:spPr>
                <a:xfrm>
                  <a:off x="8402003" y="1920491"/>
                  <a:ext cx="1901103" cy="724561"/>
                </a:xfrm>
                <a:prstGeom prst="rect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6" name="矩形 1045">
                  <a:extLst>
                    <a:ext uri="{FF2B5EF4-FFF2-40B4-BE49-F238E27FC236}">
                      <a16:creationId xmlns:a16="http://schemas.microsoft.com/office/drawing/2014/main" id="{C17232B3-1B71-A198-2E6F-A8A70C312A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2003" y="1920491"/>
                  <a:ext cx="1901103" cy="724561"/>
                </a:xfrm>
                <a:prstGeom prst="rect">
                  <a:avLst/>
                </a:prstGeom>
                <a:blipFill>
                  <a:blip r:embed="rId8"/>
                  <a:stretch>
                    <a:fillRect t="-2439" b="-21951"/>
                  </a:stretch>
                </a:blipFill>
                <a:ln w="285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7" name="矩形 1046">
                  <a:extLst>
                    <a:ext uri="{FF2B5EF4-FFF2-40B4-BE49-F238E27FC236}">
                      <a16:creationId xmlns:a16="http://schemas.microsoft.com/office/drawing/2014/main" id="{C1F595E7-2087-9CD2-041C-2854597FFD82}"/>
                    </a:ext>
                  </a:extLst>
                </p:cNvPr>
                <p:cNvSpPr/>
                <p:nvPr/>
              </p:nvSpPr>
              <p:spPr>
                <a:xfrm>
                  <a:off x="8402004" y="4188865"/>
                  <a:ext cx="1901102" cy="724561"/>
                </a:xfrm>
                <a:prstGeom prst="rect">
                  <a:avLst/>
                </a:prstGeom>
                <a:noFill/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7" name="矩形 1046">
                  <a:extLst>
                    <a:ext uri="{FF2B5EF4-FFF2-40B4-BE49-F238E27FC236}">
                      <a16:creationId xmlns:a16="http://schemas.microsoft.com/office/drawing/2014/main" id="{C1F595E7-2087-9CD2-041C-2854597FFD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2004" y="4188865"/>
                  <a:ext cx="1901102" cy="724561"/>
                </a:xfrm>
                <a:prstGeom prst="rect">
                  <a:avLst/>
                </a:prstGeom>
                <a:blipFill>
                  <a:blip r:embed="rId9"/>
                  <a:stretch>
                    <a:fillRect l="-719" t="-2439" b="-21951"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8" name="圓角矩形 1047">
              <a:extLst>
                <a:ext uri="{FF2B5EF4-FFF2-40B4-BE49-F238E27FC236}">
                  <a16:creationId xmlns:a16="http://schemas.microsoft.com/office/drawing/2014/main" id="{B20768B7-794C-4374-DD0F-3D4574776986}"/>
                </a:ext>
              </a:extLst>
            </p:cNvPr>
            <p:cNvSpPr/>
            <p:nvPr/>
          </p:nvSpPr>
          <p:spPr>
            <a:xfrm>
              <a:off x="8566981" y="3014868"/>
              <a:ext cx="1571141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Agent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49" name="直線箭頭接點 1048">
              <a:extLst>
                <a:ext uri="{FF2B5EF4-FFF2-40B4-BE49-F238E27FC236}">
                  <a16:creationId xmlns:a16="http://schemas.microsoft.com/office/drawing/2014/main" id="{CD04541E-44CB-2A88-56BA-58E907ED02F6}"/>
                </a:ext>
              </a:extLst>
            </p:cNvPr>
            <p:cNvCxnSpPr>
              <a:cxnSpLocks/>
              <a:endCxn id="1048" idx="0"/>
            </p:cNvCxnSpPr>
            <p:nvPr/>
          </p:nvCxnSpPr>
          <p:spPr>
            <a:xfrm>
              <a:off x="9352551" y="2640864"/>
              <a:ext cx="1" cy="3740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直線箭頭接點 1049">
              <a:extLst>
                <a:ext uri="{FF2B5EF4-FFF2-40B4-BE49-F238E27FC236}">
                  <a16:creationId xmlns:a16="http://schemas.microsoft.com/office/drawing/2014/main" id="{213EF01F-DFA2-87DE-DAFF-402C045B4CEF}"/>
                </a:ext>
              </a:extLst>
            </p:cNvPr>
            <p:cNvCxnSpPr>
              <a:cxnSpLocks/>
              <a:stCxn id="1048" idx="2"/>
            </p:cNvCxnSpPr>
            <p:nvPr/>
          </p:nvCxnSpPr>
          <p:spPr>
            <a:xfrm flipH="1">
              <a:off x="9352550" y="3819049"/>
              <a:ext cx="2" cy="3542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1" name="圓角矩形 1050">
              <a:extLst>
                <a:ext uri="{FF2B5EF4-FFF2-40B4-BE49-F238E27FC236}">
                  <a16:creationId xmlns:a16="http://schemas.microsoft.com/office/drawing/2014/main" id="{9C163932-61DA-A20B-7715-F2C3B5E947B2}"/>
                </a:ext>
              </a:extLst>
            </p:cNvPr>
            <p:cNvSpPr/>
            <p:nvPr/>
          </p:nvSpPr>
          <p:spPr>
            <a:xfrm>
              <a:off x="8229228" y="5283242"/>
              <a:ext cx="2246644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Environment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52" name="直線箭頭接點 1051">
              <a:extLst>
                <a:ext uri="{FF2B5EF4-FFF2-40B4-BE49-F238E27FC236}">
                  <a16:creationId xmlns:a16="http://schemas.microsoft.com/office/drawing/2014/main" id="{EB40ED2E-A08A-F412-C446-630C8A586B72}"/>
                </a:ext>
              </a:extLst>
            </p:cNvPr>
            <p:cNvCxnSpPr>
              <a:cxnSpLocks/>
              <a:stCxn id="1047" idx="2"/>
              <a:endCxn id="1051" idx="0"/>
            </p:cNvCxnSpPr>
            <p:nvPr/>
          </p:nvCxnSpPr>
          <p:spPr>
            <a:xfrm flipH="1">
              <a:off x="9352550" y="4913426"/>
              <a:ext cx="5" cy="3698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直線箭頭接點 1052">
              <a:extLst>
                <a:ext uri="{FF2B5EF4-FFF2-40B4-BE49-F238E27FC236}">
                  <a16:creationId xmlns:a16="http://schemas.microsoft.com/office/drawing/2014/main" id="{25464985-7A43-9820-DDA0-E58B2C97D607}"/>
                </a:ext>
              </a:extLst>
            </p:cNvPr>
            <p:cNvCxnSpPr>
              <a:cxnSpLocks/>
              <a:stCxn id="1031" idx="3"/>
            </p:cNvCxnSpPr>
            <p:nvPr/>
          </p:nvCxnSpPr>
          <p:spPr>
            <a:xfrm flipV="1">
              <a:off x="6547926" y="5683349"/>
              <a:ext cx="345705" cy="61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肘形接點 1053">
              <a:extLst>
                <a:ext uri="{FF2B5EF4-FFF2-40B4-BE49-F238E27FC236}">
                  <a16:creationId xmlns:a16="http://schemas.microsoft.com/office/drawing/2014/main" id="{2A49F230-1EA6-CAC3-912B-31AC0517DCF7}"/>
                </a:ext>
              </a:extLst>
            </p:cNvPr>
            <p:cNvCxnSpPr>
              <a:cxnSpLocks/>
              <a:stCxn id="1031" idx="3"/>
              <a:endCxn id="1046" idx="1"/>
            </p:cNvCxnSpPr>
            <p:nvPr/>
          </p:nvCxnSpPr>
          <p:spPr>
            <a:xfrm flipV="1">
              <a:off x="6547926" y="2282772"/>
              <a:ext cx="1854077" cy="3406749"/>
            </a:xfrm>
            <a:prstGeom prst="bentConnector3">
              <a:avLst>
                <a:gd name="adj1" fmla="val 734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0" name="矩形 1069">
                  <a:extLst>
                    <a:ext uri="{FF2B5EF4-FFF2-40B4-BE49-F238E27FC236}">
                      <a16:creationId xmlns:a16="http://schemas.microsoft.com/office/drawing/2014/main" id="{3898EDAE-584C-B244-8E14-3F1800E1E926}"/>
                    </a:ext>
                  </a:extLst>
                </p:cNvPr>
                <p:cNvSpPr/>
                <p:nvPr/>
              </p:nvSpPr>
              <p:spPr>
                <a:xfrm>
                  <a:off x="2980588" y="5221854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0" name="矩形 1069">
                  <a:extLst>
                    <a:ext uri="{FF2B5EF4-FFF2-40B4-BE49-F238E27FC236}">
                      <a16:creationId xmlns:a16="http://schemas.microsoft.com/office/drawing/2014/main" id="{3898EDAE-584C-B244-8E14-3F1800E1E9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0588" y="5221854"/>
                  <a:ext cx="1254564" cy="922987"/>
                </a:xfrm>
                <a:prstGeom prst="rect">
                  <a:avLst/>
                </a:prstGeom>
                <a:blipFill>
                  <a:blip r:embed="rId10"/>
                  <a:stretch>
                    <a:fillRect t="-9434" b="-3774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6" name="矩形 1075">
                  <a:extLst>
                    <a:ext uri="{FF2B5EF4-FFF2-40B4-BE49-F238E27FC236}">
                      <a16:creationId xmlns:a16="http://schemas.microsoft.com/office/drawing/2014/main" id="{FA22442F-3036-79E5-DEC9-96974117DCD5}"/>
                    </a:ext>
                  </a:extLst>
                </p:cNvPr>
                <p:cNvSpPr/>
                <p:nvPr/>
              </p:nvSpPr>
              <p:spPr>
                <a:xfrm>
                  <a:off x="10799136" y="5221852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6" name="矩形 1075">
                  <a:extLst>
                    <a:ext uri="{FF2B5EF4-FFF2-40B4-BE49-F238E27FC236}">
                      <a16:creationId xmlns:a16="http://schemas.microsoft.com/office/drawing/2014/main" id="{FA22442F-3036-79E5-DEC9-96974117DC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9136" y="5221852"/>
                  <a:ext cx="1254564" cy="922987"/>
                </a:xfrm>
                <a:prstGeom prst="rect">
                  <a:avLst/>
                </a:prstGeom>
                <a:blipFill>
                  <a:blip r:embed="rId11"/>
                  <a:stretch>
                    <a:fillRect t="-9434" b="-3774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9" name="直線箭頭接點 1078">
              <a:extLst>
                <a:ext uri="{FF2B5EF4-FFF2-40B4-BE49-F238E27FC236}">
                  <a16:creationId xmlns:a16="http://schemas.microsoft.com/office/drawing/2014/main" id="{617D9C65-9511-CCF2-F5F3-E4FD8EE66E56}"/>
                </a:ext>
              </a:extLst>
            </p:cNvPr>
            <p:cNvCxnSpPr>
              <a:cxnSpLocks/>
              <a:stCxn id="1051" idx="3"/>
              <a:endCxn id="1076" idx="1"/>
            </p:cNvCxnSpPr>
            <p:nvPr/>
          </p:nvCxnSpPr>
          <p:spPr>
            <a:xfrm flipV="1">
              <a:off x="10475872" y="5683346"/>
              <a:ext cx="323264" cy="19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肘形接點 1083">
              <a:extLst>
                <a:ext uri="{FF2B5EF4-FFF2-40B4-BE49-F238E27FC236}">
                  <a16:creationId xmlns:a16="http://schemas.microsoft.com/office/drawing/2014/main" id="{6B167792-10CA-81CE-229E-E34969DC5AEC}"/>
                </a:ext>
              </a:extLst>
            </p:cNvPr>
            <p:cNvCxnSpPr>
              <a:cxnSpLocks/>
              <a:stCxn id="33" idx="1"/>
              <a:endCxn id="34" idx="1"/>
            </p:cNvCxnSpPr>
            <p:nvPr/>
          </p:nvCxnSpPr>
          <p:spPr>
            <a:xfrm rot="10800000" flipH="1">
              <a:off x="344221" y="2286961"/>
              <a:ext cx="172771" cy="3396387"/>
            </a:xfrm>
            <a:prstGeom prst="bentConnector3">
              <a:avLst>
                <a:gd name="adj1" fmla="val -82249"/>
              </a:avLst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0897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E7DC25-EE30-4A04-0D3A-E06EC043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[Definition] Trajectory and Episode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236DF4-2584-9D22-4AD5-827CB9DF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D327CC8-F82B-1EA7-CFEB-C867F11C3D3A}"/>
                  </a:ext>
                </a:extLst>
              </p:cNvPr>
              <p:cNvSpPr txBox="1"/>
              <p:nvPr/>
            </p:nvSpPr>
            <p:spPr>
              <a:xfrm>
                <a:off x="653143" y="1618663"/>
                <a:ext cx="10397478" cy="1140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" altLang="zh-TW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Trajectory (</a:t>
                </a:r>
                <a:r>
                  <a:rPr lang="zh-TW" altLang="en-US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軌跡</a:t>
                </a:r>
                <a:r>
                  <a:rPr lang="en-US" altLang="zh-TW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, </a:t>
                </a:r>
                <a:r>
                  <a:rPr lang="zh-TW" altLang="en-US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通常</a:t>
                </a:r>
                <a:r>
                  <a:rPr lang="en-US" altLang="zh-TW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symbol </a:t>
                </a:r>
                <a:r>
                  <a:rPr lang="zh-TW" altLang="en-US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TW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 </a:t>
                </a:r>
                <a:r>
                  <a:rPr lang="zh-TW" altLang="en-US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是指 </a:t>
                </a:r>
                <a:r>
                  <a:rPr lang="en" altLang="zh-TW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agent </a:t>
                </a:r>
                <a:r>
                  <a:rPr lang="zh-TW" altLang="en-US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從環境中互動時，依序經歷的一連串狀態、動作和得到的回饋。</a:t>
                </a:r>
                <a:endParaRPr lang="zh-TW" altLang="zh-TW" sz="2400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D327CC8-F82B-1EA7-CFEB-C867F11C3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618663"/>
                <a:ext cx="10397478" cy="1140825"/>
              </a:xfrm>
              <a:prstGeom prst="rect">
                <a:avLst/>
              </a:prstGeom>
              <a:blipFill>
                <a:blip r:embed="rId2"/>
                <a:stretch>
                  <a:fillRect l="-732" r="-244" b="-120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9C1CC2D-C6C4-8576-CFBA-B6AE043AE8F7}"/>
                  </a:ext>
                </a:extLst>
              </p:cNvPr>
              <p:cNvSpPr txBox="1"/>
              <p:nvPr/>
            </p:nvSpPr>
            <p:spPr>
              <a:xfrm>
                <a:off x="1890767" y="3186146"/>
                <a:ext cx="841046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TW" altLang="en-US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TW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zh-TW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3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3200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TW" altLang="en-US" sz="3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3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3200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TW" altLang="en-US" sz="3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3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3200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zh-TW" alt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zh-TW" alt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9C1CC2D-C6C4-8576-CFBA-B6AE043AE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767" y="3186146"/>
                <a:ext cx="8410466" cy="584775"/>
              </a:xfrm>
              <a:prstGeom prst="rect">
                <a:avLst/>
              </a:prstGeom>
              <a:blipFill>
                <a:blip r:embed="rId3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506007B8-80B0-0495-0170-A0E5777F0D1A}"/>
              </a:ext>
            </a:extLst>
          </p:cNvPr>
          <p:cNvSpPr txBox="1"/>
          <p:nvPr/>
        </p:nvSpPr>
        <p:spPr>
          <a:xfrm>
            <a:off x="3502652" y="6125133"/>
            <a:ext cx="4610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ai.stackexchange.com</a:t>
            </a:r>
            <a:r>
              <a:rPr kumimoji="1" lang="en" altLang="zh-TW" dirty="0"/>
              <a:t>/questions/7359/what-is-a-trajectory-in-reinforcement-learning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B1F8F5C-FB31-255A-DBC6-02232258A3D0}"/>
              </a:ext>
            </a:extLst>
          </p:cNvPr>
          <p:cNvSpPr txBox="1"/>
          <p:nvPr/>
        </p:nvSpPr>
        <p:spPr>
          <a:xfrm>
            <a:off x="653143" y="4098513"/>
            <a:ext cx="10397478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Episode (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回合</a:t>
            </a:r>
            <a:r>
              <a:rPr lang="en-US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通常無固定</a:t>
            </a:r>
            <a:r>
              <a:rPr lang="en-US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 symbol) 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是指從「開始遊戲」到「遊戲結束」</a:t>
            </a:r>
            <a:r>
              <a:rPr lang="en-US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或者達到某種終止條件，比如死亡、完成任務</a:t>
            </a:r>
            <a:r>
              <a:rPr lang="en-US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這段完整的互動過程</a:t>
            </a:r>
            <a:endParaRPr lang="en-US" altLang="zh-TW" sz="2400" kern="100" dirty="0"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在分回合任務中，一條完整的 </a:t>
            </a:r>
            <a:r>
              <a:rPr lang="en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trajectory</a:t>
            </a:r>
            <a:r>
              <a:rPr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即代表一個 </a:t>
            </a:r>
            <a:r>
              <a:rPr lang="en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episode</a:t>
            </a:r>
            <a:endParaRPr lang="zh-TW" altLang="zh-TW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339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14351F5-7CC3-264B-AA9D-245F1F0140C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zh-TW" dirty="0"/>
                  <a:t>[Illustration] RL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的元素 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(</a:t>
                </a:r>
                <a:r>
                  <a:rPr kumimoji="1" lang="zh-TW" altLang="en-US" dirty="0">
                    <a:ea typeface="Microsoft JhengHei" panose="020B0604030504040204" pitchFamily="34" charset="-120"/>
                  </a:rPr>
                  <a:t>假設</a:t>
                </a:r>
                <a14:m>
                  <m:oMath xmlns:m="http://schemas.openxmlformats.org/officeDocument/2006/math">
                    <m:r>
                      <a:rPr lang="zh-TW" altLang="en-US" sz="4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kumimoji="1" lang="zh-TW" altLang="en-US" dirty="0">
                    <a:ea typeface="Microsoft JhengHei" panose="020B0604030504040204" pitchFamily="34" charset="-120"/>
                  </a:rPr>
                  <a:t>只有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3</a:t>
                </a:r>
                <a:r>
                  <a:rPr kumimoji="1" lang="zh-TW" altLang="en-US" dirty="0">
                    <a:ea typeface="Microsoft JhengHei" panose="020B0604030504040204" pitchFamily="34" charset="-120"/>
                  </a:rPr>
                  <a:t>個點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)</a:t>
                </a:r>
                <a:endParaRPr kumimoji="1" lang="zh-TW" altLang="en-US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14351F5-7CC3-264B-AA9D-245F1F0140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555" t="-9639" b="-16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8969B8-E193-DC4E-855E-47CAAA79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16</a:t>
            </a:fld>
            <a:endParaRPr kumimoji="1"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EA04F0CF-CDB3-9298-9625-5963736E233D}"/>
              </a:ext>
            </a:extLst>
          </p:cNvPr>
          <p:cNvGrpSpPr/>
          <p:nvPr/>
        </p:nvGrpSpPr>
        <p:grpSpPr>
          <a:xfrm>
            <a:off x="942934" y="1832942"/>
            <a:ext cx="10599396" cy="2836335"/>
            <a:chOff x="344221" y="1920491"/>
            <a:chExt cx="11709479" cy="4224351"/>
          </a:xfrm>
        </p:grpSpPr>
        <p:sp>
          <p:nvSpPr>
            <p:cNvPr id="11" name="圓角矩形 10">
              <a:extLst>
                <a:ext uri="{FF2B5EF4-FFF2-40B4-BE49-F238E27FC236}">
                  <a16:creationId xmlns:a16="http://schemas.microsoft.com/office/drawing/2014/main" id="{421824FD-BD4F-C6DC-5BA0-1D0D947E234E}"/>
                </a:ext>
              </a:extLst>
            </p:cNvPr>
            <p:cNvSpPr/>
            <p:nvPr/>
          </p:nvSpPr>
          <p:spPr>
            <a:xfrm>
              <a:off x="681975" y="3005787"/>
              <a:ext cx="1571141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Agent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箭頭接點 12">
              <a:extLst>
                <a:ext uri="{FF2B5EF4-FFF2-40B4-BE49-F238E27FC236}">
                  <a16:creationId xmlns:a16="http://schemas.microsoft.com/office/drawing/2014/main" id="{3B3FB321-5168-9543-6DBB-4104649DADC9}"/>
                </a:ext>
              </a:extLst>
            </p:cNvPr>
            <p:cNvCxnSpPr>
              <a:cxnSpLocks/>
              <a:stCxn id="34" idx="2"/>
              <a:endCxn id="11" idx="0"/>
            </p:cNvCxnSpPr>
            <p:nvPr/>
          </p:nvCxnSpPr>
          <p:spPr>
            <a:xfrm>
              <a:off x="1467545" y="2649240"/>
              <a:ext cx="1" cy="3565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箭頭接點 15">
              <a:extLst>
                <a:ext uri="{FF2B5EF4-FFF2-40B4-BE49-F238E27FC236}">
                  <a16:creationId xmlns:a16="http://schemas.microsoft.com/office/drawing/2014/main" id="{12FFAE59-D320-C68D-B965-A1245330F79B}"/>
                </a:ext>
              </a:extLst>
            </p:cNvPr>
            <p:cNvCxnSpPr>
              <a:cxnSpLocks/>
              <a:stCxn id="11" idx="2"/>
              <a:endCxn id="17" idx="0"/>
            </p:cNvCxnSpPr>
            <p:nvPr/>
          </p:nvCxnSpPr>
          <p:spPr>
            <a:xfrm flipH="1">
              <a:off x="1467544" y="3809968"/>
              <a:ext cx="2" cy="3565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5A78754A-BE63-28A9-A147-8DFEC7D1FB15}"/>
                    </a:ext>
                  </a:extLst>
                </p:cNvPr>
                <p:cNvSpPr/>
                <p:nvPr/>
              </p:nvSpPr>
              <p:spPr>
                <a:xfrm>
                  <a:off x="516993" y="4166515"/>
                  <a:ext cx="1901102" cy="724561"/>
                </a:xfrm>
                <a:prstGeom prst="rect">
                  <a:avLst/>
                </a:prstGeom>
                <a:noFill/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5A78754A-BE63-28A9-A147-8DFEC7D1FB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993" y="4166515"/>
                  <a:ext cx="1901102" cy="724561"/>
                </a:xfrm>
                <a:prstGeom prst="rect">
                  <a:avLst/>
                </a:prstGeom>
                <a:blipFill>
                  <a:blip r:embed="rId4"/>
                  <a:stretch>
                    <a:fillRect t="-2439" b="-21951"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線箭頭接點 27">
              <a:extLst>
                <a:ext uri="{FF2B5EF4-FFF2-40B4-BE49-F238E27FC236}">
                  <a16:creationId xmlns:a16="http://schemas.microsoft.com/office/drawing/2014/main" id="{40986850-1491-7EC6-3F91-F065C66A3E65}"/>
                </a:ext>
              </a:extLst>
            </p:cNvPr>
            <p:cNvCxnSpPr>
              <a:cxnSpLocks/>
              <a:stCxn id="17" idx="2"/>
              <a:endCxn id="33" idx="0"/>
            </p:cNvCxnSpPr>
            <p:nvPr/>
          </p:nvCxnSpPr>
          <p:spPr>
            <a:xfrm>
              <a:off x="1467544" y="4891076"/>
              <a:ext cx="0" cy="3901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圓角矩形 32">
              <a:extLst>
                <a:ext uri="{FF2B5EF4-FFF2-40B4-BE49-F238E27FC236}">
                  <a16:creationId xmlns:a16="http://schemas.microsoft.com/office/drawing/2014/main" id="{C4FDC229-FFC8-BFF1-D84E-9A69903C9522}"/>
                </a:ext>
              </a:extLst>
            </p:cNvPr>
            <p:cNvSpPr/>
            <p:nvPr/>
          </p:nvSpPr>
          <p:spPr>
            <a:xfrm>
              <a:off x="344222" y="5281256"/>
              <a:ext cx="2246644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Environment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FEA76B5D-F439-5C8E-8495-A6ABAEC91ECF}"/>
                    </a:ext>
                  </a:extLst>
                </p:cNvPr>
                <p:cNvSpPr/>
                <p:nvPr/>
              </p:nvSpPr>
              <p:spPr>
                <a:xfrm>
                  <a:off x="516993" y="1924679"/>
                  <a:ext cx="1901103" cy="724561"/>
                </a:xfrm>
                <a:prstGeom prst="rect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FEA76B5D-F439-5C8E-8495-A6ABAEC91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993" y="1924679"/>
                  <a:ext cx="1901103" cy="724561"/>
                </a:xfrm>
                <a:prstGeom prst="rect">
                  <a:avLst/>
                </a:prstGeom>
                <a:blipFill>
                  <a:blip r:embed="rId5"/>
                  <a:stretch>
                    <a:fillRect b="-19048"/>
                  </a:stretch>
                </a:blipFill>
                <a:ln w="285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942762A-005F-E665-EB75-6C6E001CF8C0}"/>
                    </a:ext>
                  </a:extLst>
                </p:cNvPr>
                <p:cNvSpPr/>
                <p:nvPr/>
              </p:nvSpPr>
              <p:spPr>
                <a:xfrm>
                  <a:off x="4474057" y="1924679"/>
                  <a:ext cx="1901103" cy="724561"/>
                </a:xfrm>
                <a:prstGeom prst="rect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942762A-005F-E665-EB75-6C6E001CF8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4057" y="1924679"/>
                  <a:ext cx="1901103" cy="724561"/>
                </a:xfrm>
                <a:prstGeom prst="rect">
                  <a:avLst/>
                </a:prstGeom>
                <a:blipFill>
                  <a:blip r:embed="rId6"/>
                  <a:stretch>
                    <a:fillRect b="-19048"/>
                  </a:stretch>
                </a:blipFill>
                <a:ln w="285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7" name="矩形 1026">
                  <a:extLst>
                    <a:ext uri="{FF2B5EF4-FFF2-40B4-BE49-F238E27FC236}">
                      <a16:creationId xmlns:a16="http://schemas.microsoft.com/office/drawing/2014/main" id="{5284B69A-545A-0C28-5C52-39F1AAA6E08D}"/>
                    </a:ext>
                  </a:extLst>
                </p:cNvPr>
                <p:cNvSpPr/>
                <p:nvPr/>
              </p:nvSpPr>
              <p:spPr>
                <a:xfrm>
                  <a:off x="4474058" y="4193053"/>
                  <a:ext cx="1901102" cy="724561"/>
                </a:xfrm>
                <a:prstGeom prst="rect">
                  <a:avLst/>
                </a:prstGeom>
                <a:noFill/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27" name="矩形 1026">
                  <a:extLst>
                    <a:ext uri="{FF2B5EF4-FFF2-40B4-BE49-F238E27FC236}">
                      <a16:creationId xmlns:a16="http://schemas.microsoft.com/office/drawing/2014/main" id="{5284B69A-545A-0C28-5C52-39F1AAA6E0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4058" y="4193053"/>
                  <a:ext cx="1901102" cy="724561"/>
                </a:xfrm>
                <a:prstGeom prst="rect">
                  <a:avLst/>
                </a:prstGeom>
                <a:blipFill>
                  <a:blip r:embed="rId7"/>
                  <a:stretch>
                    <a:fillRect l="-719" t="-2381" b="-19048"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8" name="圓角矩形 1027">
              <a:extLst>
                <a:ext uri="{FF2B5EF4-FFF2-40B4-BE49-F238E27FC236}">
                  <a16:creationId xmlns:a16="http://schemas.microsoft.com/office/drawing/2014/main" id="{7EF8D726-AF84-0F39-1C6B-61292F0AB4B4}"/>
                </a:ext>
              </a:extLst>
            </p:cNvPr>
            <p:cNvSpPr/>
            <p:nvPr/>
          </p:nvSpPr>
          <p:spPr>
            <a:xfrm>
              <a:off x="4639035" y="3019056"/>
              <a:ext cx="1571141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Agent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29" name="直線箭頭接點 1028">
              <a:extLst>
                <a:ext uri="{FF2B5EF4-FFF2-40B4-BE49-F238E27FC236}">
                  <a16:creationId xmlns:a16="http://schemas.microsoft.com/office/drawing/2014/main" id="{8CBC73FB-0A7D-CD85-D4AA-14C9BA7125B2}"/>
                </a:ext>
              </a:extLst>
            </p:cNvPr>
            <p:cNvCxnSpPr>
              <a:cxnSpLocks/>
              <a:endCxn id="1028" idx="0"/>
            </p:cNvCxnSpPr>
            <p:nvPr/>
          </p:nvCxnSpPr>
          <p:spPr>
            <a:xfrm>
              <a:off x="5424605" y="2645052"/>
              <a:ext cx="1" cy="3740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直線箭頭接點 1029">
              <a:extLst>
                <a:ext uri="{FF2B5EF4-FFF2-40B4-BE49-F238E27FC236}">
                  <a16:creationId xmlns:a16="http://schemas.microsoft.com/office/drawing/2014/main" id="{7A0A3E2E-B3D8-6618-DA81-3B9EB8296CA8}"/>
                </a:ext>
              </a:extLst>
            </p:cNvPr>
            <p:cNvCxnSpPr>
              <a:cxnSpLocks/>
              <a:stCxn id="1028" idx="2"/>
            </p:cNvCxnSpPr>
            <p:nvPr/>
          </p:nvCxnSpPr>
          <p:spPr>
            <a:xfrm flipH="1">
              <a:off x="5424604" y="3823237"/>
              <a:ext cx="2" cy="3542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1" name="圓角矩形 1030">
              <a:extLst>
                <a:ext uri="{FF2B5EF4-FFF2-40B4-BE49-F238E27FC236}">
                  <a16:creationId xmlns:a16="http://schemas.microsoft.com/office/drawing/2014/main" id="{874385A5-459A-4449-4855-6CABE18D3A8C}"/>
                </a:ext>
              </a:extLst>
            </p:cNvPr>
            <p:cNvSpPr/>
            <p:nvPr/>
          </p:nvSpPr>
          <p:spPr>
            <a:xfrm>
              <a:off x="4301282" y="5287430"/>
              <a:ext cx="2246644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Environment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32" name="直線箭頭接點 1031">
              <a:extLst>
                <a:ext uri="{FF2B5EF4-FFF2-40B4-BE49-F238E27FC236}">
                  <a16:creationId xmlns:a16="http://schemas.microsoft.com/office/drawing/2014/main" id="{DCF77A01-CF22-C54A-821B-D9F37A2EE1D5}"/>
                </a:ext>
              </a:extLst>
            </p:cNvPr>
            <p:cNvCxnSpPr>
              <a:cxnSpLocks/>
              <a:stCxn id="1027" idx="2"/>
              <a:endCxn id="1031" idx="0"/>
            </p:cNvCxnSpPr>
            <p:nvPr/>
          </p:nvCxnSpPr>
          <p:spPr>
            <a:xfrm flipH="1">
              <a:off x="5424604" y="4917614"/>
              <a:ext cx="5" cy="3698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直線箭頭接點 1035">
              <a:extLst>
                <a:ext uri="{FF2B5EF4-FFF2-40B4-BE49-F238E27FC236}">
                  <a16:creationId xmlns:a16="http://schemas.microsoft.com/office/drawing/2014/main" id="{3C9C5508-711B-7E6A-17A5-0144D67864E7}"/>
                </a:ext>
              </a:extLst>
            </p:cNvPr>
            <p:cNvCxnSpPr>
              <a:cxnSpLocks/>
              <a:stCxn id="33" idx="3"/>
              <a:endCxn id="1070" idx="1"/>
            </p:cNvCxnSpPr>
            <p:nvPr/>
          </p:nvCxnSpPr>
          <p:spPr>
            <a:xfrm>
              <a:off x="2590866" y="5683347"/>
              <a:ext cx="389722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肘形接點 1042">
              <a:extLst>
                <a:ext uri="{FF2B5EF4-FFF2-40B4-BE49-F238E27FC236}">
                  <a16:creationId xmlns:a16="http://schemas.microsoft.com/office/drawing/2014/main" id="{CDA1D2F5-7DED-9C3B-E30C-8AA7DC056528}"/>
                </a:ext>
              </a:extLst>
            </p:cNvPr>
            <p:cNvCxnSpPr>
              <a:stCxn id="33" idx="3"/>
              <a:endCxn id="57" idx="1"/>
            </p:cNvCxnSpPr>
            <p:nvPr/>
          </p:nvCxnSpPr>
          <p:spPr>
            <a:xfrm flipV="1">
              <a:off x="2590866" y="2286960"/>
              <a:ext cx="1883191" cy="3396387"/>
            </a:xfrm>
            <a:prstGeom prst="bentConnector3">
              <a:avLst>
                <a:gd name="adj1" fmla="val 800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5" name="矩形 1044">
                  <a:extLst>
                    <a:ext uri="{FF2B5EF4-FFF2-40B4-BE49-F238E27FC236}">
                      <a16:creationId xmlns:a16="http://schemas.microsoft.com/office/drawing/2014/main" id="{0EFD938A-663C-A824-5F0D-6BAB8EB05466}"/>
                    </a:ext>
                  </a:extLst>
                </p:cNvPr>
                <p:cNvSpPr/>
                <p:nvPr/>
              </p:nvSpPr>
              <p:spPr>
                <a:xfrm>
                  <a:off x="6905988" y="5221855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5" name="矩形 1044">
                  <a:extLst>
                    <a:ext uri="{FF2B5EF4-FFF2-40B4-BE49-F238E27FC236}">
                      <a16:creationId xmlns:a16="http://schemas.microsoft.com/office/drawing/2014/main" id="{0EFD938A-663C-A824-5F0D-6BAB8EB054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5988" y="5221855"/>
                  <a:ext cx="1254564" cy="922987"/>
                </a:xfrm>
                <a:prstGeom prst="rect">
                  <a:avLst/>
                </a:prstGeom>
                <a:blipFill>
                  <a:blip r:embed="rId8"/>
                  <a:stretch>
                    <a:fillRect t="-9434" b="-3774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6" name="矩形 1045">
                  <a:extLst>
                    <a:ext uri="{FF2B5EF4-FFF2-40B4-BE49-F238E27FC236}">
                      <a16:creationId xmlns:a16="http://schemas.microsoft.com/office/drawing/2014/main" id="{C17232B3-1B71-A198-2E6F-A8A70C312A78}"/>
                    </a:ext>
                  </a:extLst>
                </p:cNvPr>
                <p:cNvSpPr/>
                <p:nvPr/>
              </p:nvSpPr>
              <p:spPr>
                <a:xfrm>
                  <a:off x="8402003" y="1920491"/>
                  <a:ext cx="1901103" cy="724561"/>
                </a:xfrm>
                <a:prstGeom prst="rect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6" name="矩形 1045">
                  <a:extLst>
                    <a:ext uri="{FF2B5EF4-FFF2-40B4-BE49-F238E27FC236}">
                      <a16:creationId xmlns:a16="http://schemas.microsoft.com/office/drawing/2014/main" id="{C17232B3-1B71-A198-2E6F-A8A70C312A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2003" y="1920491"/>
                  <a:ext cx="1901103" cy="724561"/>
                </a:xfrm>
                <a:prstGeom prst="rect">
                  <a:avLst/>
                </a:prstGeom>
                <a:blipFill>
                  <a:blip r:embed="rId9"/>
                  <a:stretch>
                    <a:fillRect t="-2439" b="-21951"/>
                  </a:stretch>
                </a:blipFill>
                <a:ln w="285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7" name="矩形 1046">
                  <a:extLst>
                    <a:ext uri="{FF2B5EF4-FFF2-40B4-BE49-F238E27FC236}">
                      <a16:creationId xmlns:a16="http://schemas.microsoft.com/office/drawing/2014/main" id="{C1F595E7-2087-9CD2-041C-2854597FFD82}"/>
                    </a:ext>
                  </a:extLst>
                </p:cNvPr>
                <p:cNvSpPr/>
                <p:nvPr/>
              </p:nvSpPr>
              <p:spPr>
                <a:xfrm>
                  <a:off x="8402004" y="4188865"/>
                  <a:ext cx="1901102" cy="724561"/>
                </a:xfrm>
                <a:prstGeom prst="rect">
                  <a:avLst/>
                </a:prstGeom>
                <a:noFill/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7" name="矩形 1046">
                  <a:extLst>
                    <a:ext uri="{FF2B5EF4-FFF2-40B4-BE49-F238E27FC236}">
                      <a16:creationId xmlns:a16="http://schemas.microsoft.com/office/drawing/2014/main" id="{C1F595E7-2087-9CD2-041C-2854597FFD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2004" y="4188865"/>
                  <a:ext cx="1901102" cy="724561"/>
                </a:xfrm>
                <a:prstGeom prst="rect">
                  <a:avLst/>
                </a:prstGeom>
                <a:blipFill>
                  <a:blip r:embed="rId10"/>
                  <a:stretch>
                    <a:fillRect l="-719" t="-2439" b="-21951"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8" name="圓角矩形 1047">
              <a:extLst>
                <a:ext uri="{FF2B5EF4-FFF2-40B4-BE49-F238E27FC236}">
                  <a16:creationId xmlns:a16="http://schemas.microsoft.com/office/drawing/2014/main" id="{B20768B7-794C-4374-DD0F-3D4574776986}"/>
                </a:ext>
              </a:extLst>
            </p:cNvPr>
            <p:cNvSpPr/>
            <p:nvPr/>
          </p:nvSpPr>
          <p:spPr>
            <a:xfrm>
              <a:off x="8566981" y="3014868"/>
              <a:ext cx="1571141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Agent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49" name="直線箭頭接點 1048">
              <a:extLst>
                <a:ext uri="{FF2B5EF4-FFF2-40B4-BE49-F238E27FC236}">
                  <a16:creationId xmlns:a16="http://schemas.microsoft.com/office/drawing/2014/main" id="{CD04541E-44CB-2A88-56BA-58E907ED02F6}"/>
                </a:ext>
              </a:extLst>
            </p:cNvPr>
            <p:cNvCxnSpPr>
              <a:cxnSpLocks/>
              <a:endCxn id="1048" idx="0"/>
            </p:cNvCxnSpPr>
            <p:nvPr/>
          </p:nvCxnSpPr>
          <p:spPr>
            <a:xfrm>
              <a:off x="9352551" y="2640864"/>
              <a:ext cx="1" cy="3740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直線箭頭接點 1049">
              <a:extLst>
                <a:ext uri="{FF2B5EF4-FFF2-40B4-BE49-F238E27FC236}">
                  <a16:creationId xmlns:a16="http://schemas.microsoft.com/office/drawing/2014/main" id="{213EF01F-DFA2-87DE-DAFF-402C045B4CEF}"/>
                </a:ext>
              </a:extLst>
            </p:cNvPr>
            <p:cNvCxnSpPr>
              <a:cxnSpLocks/>
              <a:stCxn id="1048" idx="2"/>
            </p:cNvCxnSpPr>
            <p:nvPr/>
          </p:nvCxnSpPr>
          <p:spPr>
            <a:xfrm flipH="1">
              <a:off x="9352550" y="3819049"/>
              <a:ext cx="2" cy="3542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1" name="圓角矩形 1050">
              <a:extLst>
                <a:ext uri="{FF2B5EF4-FFF2-40B4-BE49-F238E27FC236}">
                  <a16:creationId xmlns:a16="http://schemas.microsoft.com/office/drawing/2014/main" id="{9C163932-61DA-A20B-7715-F2C3B5E947B2}"/>
                </a:ext>
              </a:extLst>
            </p:cNvPr>
            <p:cNvSpPr/>
            <p:nvPr/>
          </p:nvSpPr>
          <p:spPr>
            <a:xfrm>
              <a:off x="8229228" y="5283242"/>
              <a:ext cx="2246644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Environment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52" name="直線箭頭接點 1051">
              <a:extLst>
                <a:ext uri="{FF2B5EF4-FFF2-40B4-BE49-F238E27FC236}">
                  <a16:creationId xmlns:a16="http://schemas.microsoft.com/office/drawing/2014/main" id="{EB40ED2E-A08A-F412-C446-630C8A586B72}"/>
                </a:ext>
              </a:extLst>
            </p:cNvPr>
            <p:cNvCxnSpPr>
              <a:cxnSpLocks/>
              <a:stCxn id="1047" idx="2"/>
              <a:endCxn id="1051" idx="0"/>
            </p:cNvCxnSpPr>
            <p:nvPr/>
          </p:nvCxnSpPr>
          <p:spPr>
            <a:xfrm flipH="1">
              <a:off x="9352550" y="4913426"/>
              <a:ext cx="5" cy="3698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直線箭頭接點 1052">
              <a:extLst>
                <a:ext uri="{FF2B5EF4-FFF2-40B4-BE49-F238E27FC236}">
                  <a16:creationId xmlns:a16="http://schemas.microsoft.com/office/drawing/2014/main" id="{25464985-7A43-9820-DDA0-E58B2C97D607}"/>
                </a:ext>
              </a:extLst>
            </p:cNvPr>
            <p:cNvCxnSpPr>
              <a:cxnSpLocks/>
              <a:stCxn id="1031" idx="3"/>
            </p:cNvCxnSpPr>
            <p:nvPr/>
          </p:nvCxnSpPr>
          <p:spPr>
            <a:xfrm flipV="1">
              <a:off x="6547926" y="5683349"/>
              <a:ext cx="345705" cy="61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肘形接點 1053">
              <a:extLst>
                <a:ext uri="{FF2B5EF4-FFF2-40B4-BE49-F238E27FC236}">
                  <a16:creationId xmlns:a16="http://schemas.microsoft.com/office/drawing/2014/main" id="{2A49F230-1EA6-CAC3-912B-31AC0517DCF7}"/>
                </a:ext>
              </a:extLst>
            </p:cNvPr>
            <p:cNvCxnSpPr>
              <a:cxnSpLocks/>
              <a:stCxn id="1031" idx="3"/>
              <a:endCxn id="1046" idx="1"/>
            </p:cNvCxnSpPr>
            <p:nvPr/>
          </p:nvCxnSpPr>
          <p:spPr>
            <a:xfrm flipV="1">
              <a:off x="6547926" y="2282772"/>
              <a:ext cx="1854077" cy="3406749"/>
            </a:xfrm>
            <a:prstGeom prst="bentConnector3">
              <a:avLst>
                <a:gd name="adj1" fmla="val 734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0" name="矩形 1069">
                  <a:extLst>
                    <a:ext uri="{FF2B5EF4-FFF2-40B4-BE49-F238E27FC236}">
                      <a16:creationId xmlns:a16="http://schemas.microsoft.com/office/drawing/2014/main" id="{3898EDAE-584C-B244-8E14-3F1800E1E926}"/>
                    </a:ext>
                  </a:extLst>
                </p:cNvPr>
                <p:cNvSpPr/>
                <p:nvPr/>
              </p:nvSpPr>
              <p:spPr>
                <a:xfrm>
                  <a:off x="2980588" y="5221854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0" name="矩形 1069">
                  <a:extLst>
                    <a:ext uri="{FF2B5EF4-FFF2-40B4-BE49-F238E27FC236}">
                      <a16:creationId xmlns:a16="http://schemas.microsoft.com/office/drawing/2014/main" id="{3898EDAE-584C-B244-8E14-3F1800E1E9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0588" y="5221854"/>
                  <a:ext cx="1254564" cy="922987"/>
                </a:xfrm>
                <a:prstGeom prst="rect">
                  <a:avLst/>
                </a:prstGeom>
                <a:blipFill>
                  <a:blip r:embed="rId11"/>
                  <a:stretch>
                    <a:fillRect t="-9434" b="-3774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6" name="矩形 1075">
                  <a:extLst>
                    <a:ext uri="{FF2B5EF4-FFF2-40B4-BE49-F238E27FC236}">
                      <a16:creationId xmlns:a16="http://schemas.microsoft.com/office/drawing/2014/main" id="{FA22442F-3036-79E5-DEC9-96974117DCD5}"/>
                    </a:ext>
                  </a:extLst>
                </p:cNvPr>
                <p:cNvSpPr/>
                <p:nvPr/>
              </p:nvSpPr>
              <p:spPr>
                <a:xfrm>
                  <a:off x="10799136" y="5221852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6" name="矩形 1075">
                  <a:extLst>
                    <a:ext uri="{FF2B5EF4-FFF2-40B4-BE49-F238E27FC236}">
                      <a16:creationId xmlns:a16="http://schemas.microsoft.com/office/drawing/2014/main" id="{FA22442F-3036-79E5-DEC9-96974117DC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9136" y="5221852"/>
                  <a:ext cx="1254564" cy="922987"/>
                </a:xfrm>
                <a:prstGeom prst="rect">
                  <a:avLst/>
                </a:prstGeom>
                <a:blipFill>
                  <a:blip r:embed="rId12"/>
                  <a:stretch>
                    <a:fillRect t="-9434" b="-3774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9" name="直線箭頭接點 1078">
              <a:extLst>
                <a:ext uri="{FF2B5EF4-FFF2-40B4-BE49-F238E27FC236}">
                  <a16:creationId xmlns:a16="http://schemas.microsoft.com/office/drawing/2014/main" id="{617D9C65-9511-CCF2-F5F3-E4FD8EE66E56}"/>
                </a:ext>
              </a:extLst>
            </p:cNvPr>
            <p:cNvCxnSpPr>
              <a:cxnSpLocks/>
              <a:stCxn id="1051" idx="3"/>
              <a:endCxn id="1076" idx="1"/>
            </p:cNvCxnSpPr>
            <p:nvPr/>
          </p:nvCxnSpPr>
          <p:spPr>
            <a:xfrm flipV="1">
              <a:off x="10475872" y="5683346"/>
              <a:ext cx="323264" cy="19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肘形接點 1083">
              <a:extLst>
                <a:ext uri="{FF2B5EF4-FFF2-40B4-BE49-F238E27FC236}">
                  <a16:creationId xmlns:a16="http://schemas.microsoft.com/office/drawing/2014/main" id="{6B167792-10CA-81CE-229E-E34969DC5AEC}"/>
                </a:ext>
              </a:extLst>
            </p:cNvPr>
            <p:cNvCxnSpPr>
              <a:cxnSpLocks/>
              <a:stCxn id="33" idx="1"/>
              <a:endCxn id="34" idx="1"/>
            </p:cNvCxnSpPr>
            <p:nvPr/>
          </p:nvCxnSpPr>
          <p:spPr>
            <a:xfrm rot="10800000" flipH="1">
              <a:off x="344221" y="2286961"/>
              <a:ext cx="172771" cy="3396387"/>
            </a:xfrm>
            <a:prstGeom prst="bentConnector3">
              <a:avLst>
                <a:gd name="adj1" fmla="val -82249"/>
              </a:avLst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A40A4BD-66E4-CAB9-0A87-560B722409AC}"/>
                  </a:ext>
                </a:extLst>
              </p:cNvPr>
              <p:cNvSpPr txBox="1"/>
              <p:nvPr/>
            </p:nvSpPr>
            <p:spPr>
              <a:xfrm>
                <a:off x="1076613" y="5063671"/>
                <a:ext cx="10304604" cy="1303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A40A4BD-66E4-CAB9-0A87-560B72240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613" y="5063671"/>
                <a:ext cx="10304604" cy="1303627"/>
              </a:xfrm>
              <a:prstGeom prst="rect">
                <a:avLst/>
              </a:prstGeom>
              <a:blipFill>
                <a:blip r:embed="rId13"/>
                <a:stretch>
                  <a:fillRect t="-100000" b="-15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9912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18079-206C-1B3E-9AED-60C7D7C6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03376A9E-0588-8ECC-6B64-A8EE8998EF4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zh-TW" dirty="0"/>
                  <a:t>[Illustration] RL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的元素 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(</a:t>
                </a:r>
                <a:r>
                  <a:rPr kumimoji="1" lang="zh-TW" altLang="en-US" dirty="0">
                    <a:ea typeface="Microsoft JhengHei" panose="020B0604030504040204" pitchFamily="34" charset="-120"/>
                  </a:rPr>
                  <a:t>假設</a:t>
                </a:r>
                <a14:m>
                  <m:oMath xmlns:m="http://schemas.openxmlformats.org/officeDocument/2006/math">
                    <m:r>
                      <a:rPr lang="zh-TW" altLang="en-US" sz="4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kumimoji="1" lang="zh-TW" altLang="en-US" dirty="0">
                    <a:ea typeface="Microsoft JhengHei" panose="020B0604030504040204" pitchFamily="34" charset="-120"/>
                  </a:rPr>
                  <a:t>只有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3</a:t>
                </a:r>
                <a:r>
                  <a:rPr kumimoji="1" lang="zh-TW" altLang="en-US" dirty="0">
                    <a:ea typeface="Microsoft JhengHei" panose="020B0604030504040204" pitchFamily="34" charset="-120"/>
                  </a:rPr>
                  <a:t>個點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)</a:t>
                </a:r>
                <a:endParaRPr kumimoji="1" lang="zh-TW" altLang="en-US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14351F5-7CC3-264B-AA9D-245F1F0140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555" t="-9639" b="-16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3CCFED-6BB7-5F9F-C39B-5C450A89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17</a:t>
            </a:fld>
            <a:endParaRPr kumimoji="1"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8D41CF79-473C-8B3A-8A45-D20A96648729}"/>
              </a:ext>
            </a:extLst>
          </p:cNvPr>
          <p:cNvGrpSpPr/>
          <p:nvPr/>
        </p:nvGrpSpPr>
        <p:grpSpPr>
          <a:xfrm>
            <a:off x="942934" y="1832942"/>
            <a:ext cx="10599396" cy="2836335"/>
            <a:chOff x="344221" y="1920491"/>
            <a:chExt cx="11709479" cy="4224351"/>
          </a:xfrm>
        </p:grpSpPr>
        <p:sp>
          <p:nvSpPr>
            <p:cNvPr id="11" name="圓角矩形 10">
              <a:extLst>
                <a:ext uri="{FF2B5EF4-FFF2-40B4-BE49-F238E27FC236}">
                  <a16:creationId xmlns:a16="http://schemas.microsoft.com/office/drawing/2014/main" id="{C2904742-701F-E04E-9EEA-128ACEA21239}"/>
                </a:ext>
              </a:extLst>
            </p:cNvPr>
            <p:cNvSpPr/>
            <p:nvPr/>
          </p:nvSpPr>
          <p:spPr>
            <a:xfrm>
              <a:off x="681975" y="3005787"/>
              <a:ext cx="1571141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Agent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箭頭接點 12">
              <a:extLst>
                <a:ext uri="{FF2B5EF4-FFF2-40B4-BE49-F238E27FC236}">
                  <a16:creationId xmlns:a16="http://schemas.microsoft.com/office/drawing/2014/main" id="{8898B43A-5363-E344-F166-F9EDC5314264}"/>
                </a:ext>
              </a:extLst>
            </p:cNvPr>
            <p:cNvCxnSpPr>
              <a:cxnSpLocks/>
              <a:stCxn id="34" idx="2"/>
              <a:endCxn id="11" idx="0"/>
            </p:cNvCxnSpPr>
            <p:nvPr/>
          </p:nvCxnSpPr>
          <p:spPr>
            <a:xfrm>
              <a:off x="1467545" y="2649240"/>
              <a:ext cx="1" cy="3565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箭頭接點 15">
              <a:extLst>
                <a:ext uri="{FF2B5EF4-FFF2-40B4-BE49-F238E27FC236}">
                  <a16:creationId xmlns:a16="http://schemas.microsoft.com/office/drawing/2014/main" id="{F4A1E992-0098-F79C-F177-DDE8F4DB15B1}"/>
                </a:ext>
              </a:extLst>
            </p:cNvPr>
            <p:cNvCxnSpPr>
              <a:cxnSpLocks/>
              <a:stCxn id="11" idx="2"/>
              <a:endCxn id="17" idx="0"/>
            </p:cNvCxnSpPr>
            <p:nvPr/>
          </p:nvCxnSpPr>
          <p:spPr>
            <a:xfrm flipH="1">
              <a:off x="1467544" y="3809968"/>
              <a:ext cx="2" cy="3565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3839747A-A7A0-6D13-66F0-A66F4D859883}"/>
                    </a:ext>
                  </a:extLst>
                </p:cNvPr>
                <p:cNvSpPr/>
                <p:nvPr/>
              </p:nvSpPr>
              <p:spPr>
                <a:xfrm>
                  <a:off x="516993" y="4166515"/>
                  <a:ext cx="1901102" cy="724561"/>
                </a:xfrm>
                <a:prstGeom prst="rect">
                  <a:avLst/>
                </a:prstGeom>
                <a:noFill/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5A78754A-BE63-28A9-A147-8DFEC7D1FB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993" y="4166515"/>
                  <a:ext cx="1901102" cy="724561"/>
                </a:xfrm>
                <a:prstGeom prst="rect">
                  <a:avLst/>
                </a:prstGeom>
                <a:blipFill>
                  <a:blip r:embed="rId4"/>
                  <a:stretch>
                    <a:fillRect t="-2439" b="-21951"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線箭頭接點 27">
              <a:extLst>
                <a:ext uri="{FF2B5EF4-FFF2-40B4-BE49-F238E27FC236}">
                  <a16:creationId xmlns:a16="http://schemas.microsoft.com/office/drawing/2014/main" id="{A0D0B3B2-CB6E-C3B8-49FE-FCAF12923CE4}"/>
                </a:ext>
              </a:extLst>
            </p:cNvPr>
            <p:cNvCxnSpPr>
              <a:cxnSpLocks/>
              <a:stCxn id="17" idx="2"/>
              <a:endCxn id="33" idx="0"/>
            </p:cNvCxnSpPr>
            <p:nvPr/>
          </p:nvCxnSpPr>
          <p:spPr>
            <a:xfrm>
              <a:off x="1467544" y="4891076"/>
              <a:ext cx="0" cy="3901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圓角矩形 32">
              <a:extLst>
                <a:ext uri="{FF2B5EF4-FFF2-40B4-BE49-F238E27FC236}">
                  <a16:creationId xmlns:a16="http://schemas.microsoft.com/office/drawing/2014/main" id="{AACB6BD9-ABAD-963A-61E7-5926CD7ED3C5}"/>
                </a:ext>
              </a:extLst>
            </p:cNvPr>
            <p:cNvSpPr/>
            <p:nvPr/>
          </p:nvSpPr>
          <p:spPr>
            <a:xfrm>
              <a:off x="344222" y="5281256"/>
              <a:ext cx="2246644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Environment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869A5DF4-78CD-D303-1FD1-924EC03980F3}"/>
                    </a:ext>
                  </a:extLst>
                </p:cNvPr>
                <p:cNvSpPr/>
                <p:nvPr/>
              </p:nvSpPr>
              <p:spPr>
                <a:xfrm>
                  <a:off x="516993" y="1924679"/>
                  <a:ext cx="1901103" cy="724561"/>
                </a:xfrm>
                <a:prstGeom prst="rect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FEA76B5D-F439-5C8E-8495-A6ABAEC91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993" y="1924679"/>
                  <a:ext cx="1901103" cy="724561"/>
                </a:xfrm>
                <a:prstGeom prst="rect">
                  <a:avLst/>
                </a:prstGeom>
                <a:blipFill>
                  <a:blip r:embed="rId5"/>
                  <a:stretch>
                    <a:fillRect b="-19048"/>
                  </a:stretch>
                </a:blipFill>
                <a:ln w="285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C1F0245-D5E5-A114-9374-F9C389C8F613}"/>
                    </a:ext>
                  </a:extLst>
                </p:cNvPr>
                <p:cNvSpPr/>
                <p:nvPr/>
              </p:nvSpPr>
              <p:spPr>
                <a:xfrm>
                  <a:off x="4474057" y="1924679"/>
                  <a:ext cx="1901103" cy="724561"/>
                </a:xfrm>
                <a:prstGeom prst="rect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942762A-005F-E665-EB75-6C6E001CF8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4057" y="1924679"/>
                  <a:ext cx="1901103" cy="724561"/>
                </a:xfrm>
                <a:prstGeom prst="rect">
                  <a:avLst/>
                </a:prstGeom>
                <a:blipFill>
                  <a:blip r:embed="rId6"/>
                  <a:stretch>
                    <a:fillRect b="-19048"/>
                  </a:stretch>
                </a:blipFill>
                <a:ln w="285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7" name="矩形 1026">
                  <a:extLst>
                    <a:ext uri="{FF2B5EF4-FFF2-40B4-BE49-F238E27FC236}">
                      <a16:creationId xmlns:a16="http://schemas.microsoft.com/office/drawing/2014/main" id="{BF061006-7516-5DFC-D1F8-FAE84935375F}"/>
                    </a:ext>
                  </a:extLst>
                </p:cNvPr>
                <p:cNvSpPr/>
                <p:nvPr/>
              </p:nvSpPr>
              <p:spPr>
                <a:xfrm>
                  <a:off x="4474058" y="4193053"/>
                  <a:ext cx="1901102" cy="724561"/>
                </a:xfrm>
                <a:prstGeom prst="rect">
                  <a:avLst/>
                </a:prstGeom>
                <a:noFill/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27" name="矩形 1026">
                  <a:extLst>
                    <a:ext uri="{FF2B5EF4-FFF2-40B4-BE49-F238E27FC236}">
                      <a16:creationId xmlns:a16="http://schemas.microsoft.com/office/drawing/2014/main" id="{5284B69A-545A-0C28-5C52-39F1AAA6E0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4058" y="4193053"/>
                  <a:ext cx="1901102" cy="724561"/>
                </a:xfrm>
                <a:prstGeom prst="rect">
                  <a:avLst/>
                </a:prstGeom>
                <a:blipFill>
                  <a:blip r:embed="rId7"/>
                  <a:stretch>
                    <a:fillRect l="-719" t="-2381" b="-19048"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8" name="圓角矩形 1027">
              <a:extLst>
                <a:ext uri="{FF2B5EF4-FFF2-40B4-BE49-F238E27FC236}">
                  <a16:creationId xmlns:a16="http://schemas.microsoft.com/office/drawing/2014/main" id="{DAF9AF6E-D2A4-CA1A-CAF0-B2E25B47FE28}"/>
                </a:ext>
              </a:extLst>
            </p:cNvPr>
            <p:cNvSpPr/>
            <p:nvPr/>
          </p:nvSpPr>
          <p:spPr>
            <a:xfrm>
              <a:off x="4639035" y="3019056"/>
              <a:ext cx="1571141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Agent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29" name="直線箭頭接點 1028">
              <a:extLst>
                <a:ext uri="{FF2B5EF4-FFF2-40B4-BE49-F238E27FC236}">
                  <a16:creationId xmlns:a16="http://schemas.microsoft.com/office/drawing/2014/main" id="{5E88ADE8-767A-481B-4362-3EADAC0ED2D9}"/>
                </a:ext>
              </a:extLst>
            </p:cNvPr>
            <p:cNvCxnSpPr>
              <a:cxnSpLocks/>
              <a:endCxn id="1028" idx="0"/>
            </p:cNvCxnSpPr>
            <p:nvPr/>
          </p:nvCxnSpPr>
          <p:spPr>
            <a:xfrm>
              <a:off x="5424605" y="2645052"/>
              <a:ext cx="1" cy="3740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直線箭頭接點 1029">
              <a:extLst>
                <a:ext uri="{FF2B5EF4-FFF2-40B4-BE49-F238E27FC236}">
                  <a16:creationId xmlns:a16="http://schemas.microsoft.com/office/drawing/2014/main" id="{E29E8E26-A699-DBCC-4CE8-A64AF42B776F}"/>
                </a:ext>
              </a:extLst>
            </p:cNvPr>
            <p:cNvCxnSpPr>
              <a:cxnSpLocks/>
              <a:stCxn id="1028" idx="2"/>
            </p:cNvCxnSpPr>
            <p:nvPr/>
          </p:nvCxnSpPr>
          <p:spPr>
            <a:xfrm flipH="1">
              <a:off x="5424604" y="3823237"/>
              <a:ext cx="2" cy="3542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1" name="圓角矩形 1030">
              <a:extLst>
                <a:ext uri="{FF2B5EF4-FFF2-40B4-BE49-F238E27FC236}">
                  <a16:creationId xmlns:a16="http://schemas.microsoft.com/office/drawing/2014/main" id="{62E833FD-92D7-F435-9611-BC77384285DB}"/>
                </a:ext>
              </a:extLst>
            </p:cNvPr>
            <p:cNvSpPr/>
            <p:nvPr/>
          </p:nvSpPr>
          <p:spPr>
            <a:xfrm>
              <a:off x="4301282" y="5287430"/>
              <a:ext cx="2246644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Environment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32" name="直線箭頭接點 1031">
              <a:extLst>
                <a:ext uri="{FF2B5EF4-FFF2-40B4-BE49-F238E27FC236}">
                  <a16:creationId xmlns:a16="http://schemas.microsoft.com/office/drawing/2014/main" id="{60A3A84A-A352-87FC-EC6D-BDABF2B5511E}"/>
                </a:ext>
              </a:extLst>
            </p:cNvPr>
            <p:cNvCxnSpPr>
              <a:cxnSpLocks/>
              <a:stCxn id="1027" idx="2"/>
              <a:endCxn id="1031" idx="0"/>
            </p:cNvCxnSpPr>
            <p:nvPr/>
          </p:nvCxnSpPr>
          <p:spPr>
            <a:xfrm flipH="1">
              <a:off x="5424604" y="4917614"/>
              <a:ext cx="5" cy="3698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直線箭頭接點 1035">
              <a:extLst>
                <a:ext uri="{FF2B5EF4-FFF2-40B4-BE49-F238E27FC236}">
                  <a16:creationId xmlns:a16="http://schemas.microsoft.com/office/drawing/2014/main" id="{34DE7F22-2B1F-748D-8FA7-C84A43056DFC}"/>
                </a:ext>
              </a:extLst>
            </p:cNvPr>
            <p:cNvCxnSpPr>
              <a:cxnSpLocks/>
              <a:stCxn id="33" idx="3"/>
              <a:endCxn id="1070" idx="1"/>
            </p:cNvCxnSpPr>
            <p:nvPr/>
          </p:nvCxnSpPr>
          <p:spPr>
            <a:xfrm>
              <a:off x="2590866" y="5683347"/>
              <a:ext cx="389722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肘形接點 1042">
              <a:extLst>
                <a:ext uri="{FF2B5EF4-FFF2-40B4-BE49-F238E27FC236}">
                  <a16:creationId xmlns:a16="http://schemas.microsoft.com/office/drawing/2014/main" id="{DA548A0F-1D91-2F39-56C7-F4E450DCE7A0}"/>
                </a:ext>
              </a:extLst>
            </p:cNvPr>
            <p:cNvCxnSpPr>
              <a:stCxn id="33" idx="3"/>
              <a:endCxn id="57" idx="1"/>
            </p:cNvCxnSpPr>
            <p:nvPr/>
          </p:nvCxnSpPr>
          <p:spPr>
            <a:xfrm flipV="1">
              <a:off x="2590866" y="2286960"/>
              <a:ext cx="1883191" cy="3396387"/>
            </a:xfrm>
            <a:prstGeom prst="bentConnector3">
              <a:avLst>
                <a:gd name="adj1" fmla="val 800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5" name="矩形 1044">
                  <a:extLst>
                    <a:ext uri="{FF2B5EF4-FFF2-40B4-BE49-F238E27FC236}">
                      <a16:creationId xmlns:a16="http://schemas.microsoft.com/office/drawing/2014/main" id="{71675C5C-774D-95F1-FCFF-A41CBC0F99F8}"/>
                    </a:ext>
                  </a:extLst>
                </p:cNvPr>
                <p:cNvSpPr/>
                <p:nvPr/>
              </p:nvSpPr>
              <p:spPr>
                <a:xfrm>
                  <a:off x="6905988" y="5221855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5" name="矩形 1044">
                  <a:extLst>
                    <a:ext uri="{FF2B5EF4-FFF2-40B4-BE49-F238E27FC236}">
                      <a16:creationId xmlns:a16="http://schemas.microsoft.com/office/drawing/2014/main" id="{0EFD938A-663C-A824-5F0D-6BAB8EB054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5988" y="5221855"/>
                  <a:ext cx="1254564" cy="922987"/>
                </a:xfrm>
                <a:prstGeom prst="rect">
                  <a:avLst/>
                </a:prstGeom>
                <a:blipFill>
                  <a:blip r:embed="rId8"/>
                  <a:stretch>
                    <a:fillRect t="-9434" b="-3774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6" name="矩形 1045">
                  <a:extLst>
                    <a:ext uri="{FF2B5EF4-FFF2-40B4-BE49-F238E27FC236}">
                      <a16:creationId xmlns:a16="http://schemas.microsoft.com/office/drawing/2014/main" id="{E78DA7B1-BAD8-4D37-1913-EB6A97D1E83B}"/>
                    </a:ext>
                  </a:extLst>
                </p:cNvPr>
                <p:cNvSpPr/>
                <p:nvPr/>
              </p:nvSpPr>
              <p:spPr>
                <a:xfrm>
                  <a:off x="8402003" y="1920491"/>
                  <a:ext cx="1901103" cy="724561"/>
                </a:xfrm>
                <a:prstGeom prst="rect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6" name="矩形 1045">
                  <a:extLst>
                    <a:ext uri="{FF2B5EF4-FFF2-40B4-BE49-F238E27FC236}">
                      <a16:creationId xmlns:a16="http://schemas.microsoft.com/office/drawing/2014/main" id="{C17232B3-1B71-A198-2E6F-A8A70C312A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2003" y="1920491"/>
                  <a:ext cx="1901103" cy="724561"/>
                </a:xfrm>
                <a:prstGeom prst="rect">
                  <a:avLst/>
                </a:prstGeom>
                <a:blipFill>
                  <a:blip r:embed="rId9"/>
                  <a:stretch>
                    <a:fillRect t="-2439" b="-21951"/>
                  </a:stretch>
                </a:blipFill>
                <a:ln w="285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7" name="矩形 1046">
                  <a:extLst>
                    <a:ext uri="{FF2B5EF4-FFF2-40B4-BE49-F238E27FC236}">
                      <a16:creationId xmlns:a16="http://schemas.microsoft.com/office/drawing/2014/main" id="{7FBDAEB7-C4EB-13B6-28D6-91E9A2D5007D}"/>
                    </a:ext>
                  </a:extLst>
                </p:cNvPr>
                <p:cNvSpPr/>
                <p:nvPr/>
              </p:nvSpPr>
              <p:spPr>
                <a:xfrm>
                  <a:off x="8402004" y="4188865"/>
                  <a:ext cx="1901102" cy="724561"/>
                </a:xfrm>
                <a:prstGeom prst="rect">
                  <a:avLst/>
                </a:prstGeom>
                <a:noFill/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7" name="矩形 1046">
                  <a:extLst>
                    <a:ext uri="{FF2B5EF4-FFF2-40B4-BE49-F238E27FC236}">
                      <a16:creationId xmlns:a16="http://schemas.microsoft.com/office/drawing/2014/main" id="{C1F595E7-2087-9CD2-041C-2854597FFD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2004" y="4188865"/>
                  <a:ext cx="1901102" cy="724561"/>
                </a:xfrm>
                <a:prstGeom prst="rect">
                  <a:avLst/>
                </a:prstGeom>
                <a:blipFill>
                  <a:blip r:embed="rId10"/>
                  <a:stretch>
                    <a:fillRect l="-719" t="-2439" b="-21951"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8" name="圓角矩形 1047">
              <a:extLst>
                <a:ext uri="{FF2B5EF4-FFF2-40B4-BE49-F238E27FC236}">
                  <a16:creationId xmlns:a16="http://schemas.microsoft.com/office/drawing/2014/main" id="{6B4A2A51-7956-938E-0240-ABC5A5B2B32F}"/>
                </a:ext>
              </a:extLst>
            </p:cNvPr>
            <p:cNvSpPr/>
            <p:nvPr/>
          </p:nvSpPr>
          <p:spPr>
            <a:xfrm>
              <a:off x="8566981" y="3014868"/>
              <a:ext cx="1571141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Agent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49" name="直線箭頭接點 1048">
              <a:extLst>
                <a:ext uri="{FF2B5EF4-FFF2-40B4-BE49-F238E27FC236}">
                  <a16:creationId xmlns:a16="http://schemas.microsoft.com/office/drawing/2014/main" id="{14BC76C3-9626-BFCF-B8BA-C7FCFC521A2F}"/>
                </a:ext>
              </a:extLst>
            </p:cNvPr>
            <p:cNvCxnSpPr>
              <a:cxnSpLocks/>
              <a:endCxn id="1048" idx="0"/>
            </p:cNvCxnSpPr>
            <p:nvPr/>
          </p:nvCxnSpPr>
          <p:spPr>
            <a:xfrm>
              <a:off x="9352551" y="2640864"/>
              <a:ext cx="1" cy="3740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直線箭頭接點 1049">
              <a:extLst>
                <a:ext uri="{FF2B5EF4-FFF2-40B4-BE49-F238E27FC236}">
                  <a16:creationId xmlns:a16="http://schemas.microsoft.com/office/drawing/2014/main" id="{FFC931CC-9274-8E6B-276A-3FF57650B706}"/>
                </a:ext>
              </a:extLst>
            </p:cNvPr>
            <p:cNvCxnSpPr>
              <a:cxnSpLocks/>
              <a:stCxn id="1048" idx="2"/>
            </p:cNvCxnSpPr>
            <p:nvPr/>
          </p:nvCxnSpPr>
          <p:spPr>
            <a:xfrm flipH="1">
              <a:off x="9352550" y="3819049"/>
              <a:ext cx="2" cy="3542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1" name="圓角矩形 1050">
              <a:extLst>
                <a:ext uri="{FF2B5EF4-FFF2-40B4-BE49-F238E27FC236}">
                  <a16:creationId xmlns:a16="http://schemas.microsoft.com/office/drawing/2014/main" id="{688936BF-F7E6-8156-F0D1-4687549032FA}"/>
                </a:ext>
              </a:extLst>
            </p:cNvPr>
            <p:cNvSpPr/>
            <p:nvPr/>
          </p:nvSpPr>
          <p:spPr>
            <a:xfrm>
              <a:off x="8229228" y="5283242"/>
              <a:ext cx="2246644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Environment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52" name="直線箭頭接點 1051">
              <a:extLst>
                <a:ext uri="{FF2B5EF4-FFF2-40B4-BE49-F238E27FC236}">
                  <a16:creationId xmlns:a16="http://schemas.microsoft.com/office/drawing/2014/main" id="{0D72E983-9C26-734E-E2AE-DE96A466CF1C}"/>
                </a:ext>
              </a:extLst>
            </p:cNvPr>
            <p:cNvCxnSpPr>
              <a:cxnSpLocks/>
              <a:stCxn id="1047" idx="2"/>
              <a:endCxn id="1051" idx="0"/>
            </p:cNvCxnSpPr>
            <p:nvPr/>
          </p:nvCxnSpPr>
          <p:spPr>
            <a:xfrm flipH="1">
              <a:off x="9352550" y="4913426"/>
              <a:ext cx="5" cy="3698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直線箭頭接點 1052">
              <a:extLst>
                <a:ext uri="{FF2B5EF4-FFF2-40B4-BE49-F238E27FC236}">
                  <a16:creationId xmlns:a16="http://schemas.microsoft.com/office/drawing/2014/main" id="{EF750AE5-505B-0A78-4568-CF4378857770}"/>
                </a:ext>
              </a:extLst>
            </p:cNvPr>
            <p:cNvCxnSpPr>
              <a:cxnSpLocks/>
              <a:stCxn id="1031" idx="3"/>
            </p:cNvCxnSpPr>
            <p:nvPr/>
          </p:nvCxnSpPr>
          <p:spPr>
            <a:xfrm flipV="1">
              <a:off x="6547926" y="5683349"/>
              <a:ext cx="345705" cy="61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肘形接點 1053">
              <a:extLst>
                <a:ext uri="{FF2B5EF4-FFF2-40B4-BE49-F238E27FC236}">
                  <a16:creationId xmlns:a16="http://schemas.microsoft.com/office/drawing/2014/main" id="{0C7B33C2-10C2-4BD1-84EC-8A67F2B10ACD}"/>
                </a:ext>
              </a:extLst>
            </p:cNvPr>
            <p:cNvCxnSpPr>
              <a:cxnSpLocks/>
              <a:stCxn id="1031" idx="3"/>
              <a:endCxn id="1046" idx="1"/>
            </p:cNvCxnSpPr>
            <p:nvPr/>
          </p:nvCxnSpPr>
          <p:spPr>
            <a:xfrm flipV="1">
              <a:off x="6547926" y="2282772"/>
              <a:ext cx="1854077" cy="3406749"/>
            </a:xfrm>
            <a:prstGeom prst="bentConnector3">
              <a:avLst>
                <a:gd name="adj1" fmla="val 734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0" name="矩形 1069">
                  <a:extLst>
                    <a:ext uri="{FF2B5EF4-FFF2-40B4-BE49-F238E27FC236}">
                      <a16:creationId xmlns:a16="http://schemas.microsoft.com/office/drawing/2014/main" id="{DF66E901-1FD2-E200-29A2-822314B71593}"/>
                    </a:ext>
                  </a:extLst>
                </p:cNvPr>
                <p:cNvSpPr/>
                <p:nvPr/>
              </p:nvSpPr>
              <p:spPr>
                <a:xfrm>
                  <a:off x="2980588" y="5221854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0" name="矩形 1069">
                  <a:extLst>
                    <a:ext uri="{FF2B5EF4-FFF2-40B4-BE49-F238E27FC236}">
                      <a16:creationId xmlns:a16="http://schemas.microsoft.com/office/drawing/2014/main" id="{3898EDAE-584C-B244-8E14-3F1800E1E9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0588" y="5221854"/>
                  <a:ext cx="1254564" cy="922987"/>
                </a:xfrm>
                <a:prstGeom prst="rect">
                  <a:avLst/>
                </a:prstGeom>
                <a:blipFill>
                  <a:blip r:embed="rId11"/>
                  <a:stretch>
                    <a:fillRect t="-9434" b="-3774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6" name="矩形 1075">
                  <a:extLst>
                    <a:ext uri="{FF2B5EF4-FFF2-40B4-BE49-F238E27FC236}">
                      <a16:creationId xmlns:a16="http://schemas.microsoft.com/office/drawing/2014/main" id="{1D5F4559-96A6-FBA0-2F59-2243A16AB54F}"/>
                    </a:ext>
                  </a:extLst>
                </p:cNvPr>
                <p:cNvSpPr/>
                <p:nvPr/>
              </p:nvSpPr>
              <p:spPr>
                <a:xfrm>
                  <a:off x="10799136" y="5221852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6" name="矩形 1075">
                  <a:extLst>
                    <a:ext uri="{FF2B5EF4-FFF2-40B4-BE49-F238E27FC236}">
                      <a16:creationId xmlns:a16="http://schemas.microsoft.com/office/drawing/2014/main" id="{FA22442F-3036-79E5-DEC9-96974117DC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9136" y="5221852"/>
                  <a:ext cx="1254564" cy="922987"/>
                </a:xfrm>
                <a:prstGeom prst="rect">
                  <a:avLst/>
                </a:prstGeom>
                <a:blipFill>
                  <a:blip r:embed="rId12"/>
                  <a:stretch>
                    <a:fillRect t="-9434" b="-3774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9" name="直線箭頭接點 1078">
              <a:extLst>
                <a:ext uri="{FF2B5EF4-FFF2-40B4-BE49-F238E27FC236}">
                  <a16:creationId xmlns:a16="http://schemas.microsoft.com/office/drawing/2014/main" id="{B296E148-3201-94CE-344E-B3C51DDA3A49}"/>
                </a:ext>
              </a:extLst>
            </p:cNvPr>
            <p:cNvCxnSpPr>
              <a:cxnSpLocks/>
              <a:stCxn id="1051" idx="3"/>
              <a:endCxn id="1076" idx="1"/>
            </p:cNvCxnSpPr>
            <p:nvPr/>
          </p:nvCxnSpPr>
          <p:spPr>
            <a:xfrm flipV="1">
              <a:off x="10475872" y="5683346"/>
              <a:ext cx="323264" cy="19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肘形接點 1083">
              <a:extLst>
                <a:ext uri="{FF2B5EF4-FFF2-40B4-BE49-F238E27FC236}">
                  <a16:creationId xmlns:a16="http://schemas.microsoft.com/office/drawing/2014/main" id="{D980F243-97FA-827D-8B27-7C97BD88AA26}"/>
                </a:ext>
              </a:extLst>
            </p:cNvPr>
            <p:cNvCxnSpPr>
              <a:cxnSpLocks/>
              <a:stCxn id="33" idx="1"/>
              <a:endCxn id="34" idx="1"/>
            </p:cNvCxnSpPr>
            <p:nvPr/>
          </p:nvCxnSpPr>
          <p:spPr>
            <a:xfrm rot="10800000" flipH="1">
              <a:off x="344221" y="2286961"/>
              <a:ext cx="172771" cy="3396387"/>
            </a:xfrm>
            <a:prstGeom prst="bentConnector3">
              <a:avLst>
                <a:gd name="adj1" fmla="val -82249"/>
              </a:avLst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CF6703B-A527-7E8D-99DA-FA3FB86AE2DC}"/>
                  </a:ext>
                </a:extLst>
              </p:cNvPr>
              <p:cNvSpPr txBox="1"/>
              <p:nvPr/>
            </p:nvSpPr>
            <p:spPr>
              <a:xfrm>
                <a:off x="1076613" y="5063671"/>
                <a:ext cx="10304604" cy="1303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CF6703B-A527-7E8D-99DA-FA3FB86AE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613" y="5063671"/>
                <a:ext cx="10304604" cy="1303627"/>
              </a:xfrm>
              <a:prstGeom prst="rect">
                <a:avLst/>
              </a:prstGeom>
              <a:blipFill>
                <a:blip r:embed="rId13"/>
                <a:stretch>
                  <a:fillRect l="-246" t="-100000" b="-15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DA6A013-A938-5F2E-65C8-FEED0A32FD1C}"/>
                  </a:ext>
                </a:extLst>
              </p:cNvPr>
              <p:cNvSpPr txBox="1"/>
              <p:nvPr/>
            </p:nvSpPr>
            <p:spPr>
              <a:xfrm>
                <a:off x="4177351" y="4968530"/>
                <a:ext cx="17941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DA6A013-A938-5F2E-65C8-FEED0A32F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351" y="4968530"/>
                <a:ext cx="1794135" cy="400110"/>
              </a:xfrm>
              <a:prstGeom prst="rect">
                <a:avLst/>
              </a:prstGeom>
              <a:blipFill>
                <a:blip r:embed="rId14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89C3CB3-F52A-3EDE-4A71-5B0DC6BE5507}"/>
                  </a:ext>
                </a:extLst>
              </p:cNvPr>
              <p:cNvSpPr txBox="1"/>
              <p:nvPr/>
            </p:nvSpPr>
            <p:spPr>
              <a:xfrm>
                <a:off x="5899713" y="4968530"/>
                <a:ext cx="17941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89C3CB3-F52A-3EDE-4A71-5B0DC6BE5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713" y="4968530"/>
                <a:ext cx="1794135" cy="400110"/>
              </a:xfrm>
              <a:prstGeom prst="rect">
                <a:avLst/>
              </a:prstGeom>
              <a:blipFill>
                <a:blip r:embed="rId15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A25DD15C-4EF6-23B0-0C2F-BAB33EB6012C}"/>
              </a:ext>
            </a:extLst>
          </p:cNvPr>
          <p:cNvCxnSpPr>
            <a:cxnSpLocks/>
          </p:cNvCxnSpPr>
          <p:nvPr/>
        </p:nvCxnSpPr>
        <p:spPr>
          <a:xfrm>
            <a:off x="5074419" y="5365822"/>
            <a:ext cx="0" cy="299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3581814B-66B4-5DAD-B7E2-D8D7F75A979B}"/>
              </a:ext>
            </a:extLst>
          </p:cNvPr>
          <p:cNvCxnSpPr>
            <a:cxnSpLocks/>
          </p:cNvCxnSpPr>
          <p:nvPr/>
        </p:nvCxnSpPr>
        <p:spPr>
          <a:xfrm>
            <a:off x="6791062" y="5365822"/>
            <a:ext cx="0" cy="299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127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DA20A2-CFE9-C8A5-5976-6A300B43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[Definition] Cumulated reward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85D6F3-083F-36C5-FFA9-D23FABDF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D372108-8419-90A2-9693-356BD6542C9A}"/>
                  </a:ext>
                </a:extLst>
              </p:cNvPr>
              <p:cNvSpPr/>
              <p:nvPr/>
            </p:nvSpPr>
            <p:spPr>
              <a:xfrm>
                <a:off x="6283129" y="1860941"/>
                <a:ext cx="1254564" cy="922987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reward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D372108-8419-90A2-9693-356BD6542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129" y="1860941"/>
                <a:ext cx="1254564" cy="9229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ECDFAA-ED4D-1758-B417-1C185249BCBD}"/>
                  </a:ext>
                </a:extLst>
              </p:cNvPr>
              <p:cNvSpPr/>
              <p:nvPr/>
            </p:nvSpPr>
            <p:spPr>
              <a:xfrm>
                <a:off x="4841436" y="1860943"/>
                <a:ext cx="1254564" cy="922987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reward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ECDFAA-ED4D-1758-B417-1C185249BC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436" y="1860943"/>
                <a:ext cx="1254564" cy="9229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EB1A468-B059-AA37-330E-343D81807B02}"/>
                  </a:ext>
                </a:extLst>
              </p:cNvPr>
              <p:cNvSpPr/>
              <p:nvPr/>
            </p:nvSpPr>
            <p:spPr>
              <a:xfrm>
                <a:off x="9493408" y="1860941"/>
                <a:ext cx="1254564" cy="922987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reward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EB1A468-B059-AA37-330E-343D81807B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3408" y="1860941"/>
                <a:ext cx="1254564" cy="9229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5DCFAD8F-D2D3-06A0-DA49-D6A48E29758B}"/>
              </a:ext>
            </a:extLst>
          </p:cNvPr>
          <p:cNvSpPr txBox="1"/>
          <p:nvPr/>
        </p:nvSpPr>
        <p:spPr>
          <a:xfrm>
            <a:off x="9051855" y="2122379"/>
            <a:ext cx="395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…</a:t>
            </a:r>
            <a:endParaRPr kumimoji="1"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1030D3A-2038-3305-A300-E727ACD55BD7}"/>
                  </a:ext>
                </a:extLst>
              </p:cNvPr>
              <p:cNvSpPr txBox="1"/>
              <p:nvPr/>
            </p:nvSpPr>
            <p:spPr>
              <a:xfrm>
                <a:off x="4841435" y="3176490"/>
                <a:ext cx="390001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1030D3A-2038-3305-A300-E727ACD55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435" y="3176490"/>
                <a:ext cx="3900017" cy="461665"/>
              </a:xfrm>
              <a:prstGeom prst="rect">
                <a:avLst/>
              </a:prstGeom>
              <a:blipFill>
                <a:blip r:embed="rId5"/>
                <a:stretch>
                  <a:fillRect l="-325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DF41A97-EE52-3C8F-0A74-89F3E34183EB}"/>
                  </a:ext>
                </a:extLst>
              </p:cNvPr>
              <p:cNvSpPr txBox="1"/>
              <p:nvPr/>
            </p:nvSpPr>
            <p:spPr>
              <a:xfrm>
                <a:off x="4841436" y="3771301"/>
                <a:ext cx="329690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DF41A97-EE52-3C8F-0A74-89F3E3418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436" y="3771301"/>
                <a:ext cx="3296902" cy="461665"/>
              </a:xfrm>
              <a:prstGeom prst="rect">
                <a:avLst/>
              </a:prstGeom>
              <a:blipFill>
                <a:blip r:embed="rId6"/>
                <a:stretch>
                  <a:fillRect l="-385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3E7CBD8F-DBB5-515F-321D-FE051507CE02}"/>
                  </a:ext>
                </a:extLst>
              </p:cNvPr>
              <p:cNvSpPr txBox="1"/>
              <p:nvPr/>
            </p:nvSpPr>
            <p:spPr>
              <a:xfrm>
                <a:off x="4841435" y="4960923"/>
                <a:ext cx="17671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3E7CBD8F-DBB5-515F-321D-FE051507C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435" y="4960923"/>
                <a:ext cx="1767148" cy="461665"/>
              </a:xfrm>
              <a:prstGeom prst="rect">
                <a:avLst/>
              </a:prstGeom>
              <a:blipFill>
                <a:blip r:embed="rId7"/>
                <a:stretch>
                  <a:fillRect l="-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262ED5C-5C83-1575-42EC-05B5A06EBF37}"/>
                  </a:ext>
                </a:extLst>
              </p:cNvPr>
              <p:cNvSpPr/>
              <p:nvPr/>
            </p:nvSpPr>
            <p:spPr>
              <a:xfrm>
                <a:off x="1509808" y="2794044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262ED5C-5C83-1575-42EC-05B5A06EBF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808" y="2794044"/>
                <a:ext cx="679509" cy="5058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8C5910A-6FF0-3F5E-7390-7119C3781E95}"/>
                  </a:ext>
                </a:extLst>
              </p:cNvPr>
              <p:cNvSpPr/>
              <p:nvPr/>
            </p:nvSpPr>
            <p:spPr>
              <a:xfrm>
                <a:off x="2480116" y="2794043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8C5910A-6FF0-3F5E-7390-7119C3781E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116" y="2794043"/>
                <a:ext cx="679509" cy="5058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168BB4A-0577-F2D1-A325-B980BE5FE5CF}"/>
                  </a:ext>
                </a:extLst>
              </p:cNvPr>
              <p:cNvSpPr/>
              <p:nvPr/>
            </p:nvSpPr>
            <p:spPr>
              <a:xfrm>
                <a:off x="1509807" y="3795433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168BB4A-0577-F2D1-A325-B980BE5FE5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807" y="3795433"/>
                <a:ext cx="679509" cy="50582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05B60FD1-91C8-DE61-3123-B49E7A7D52CE}"/>
              </a:ext>
            </a:extLst>
          </p:cNvPr>
          <p:cNvSpPr txBox="1"/>
          <p:nvPr/>
        </p:nvSpPr>
        <p:spPr>
          <a:xfrm>
            <a:off x="653143" y="1860941"/>
            <a:ext cx="30496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ea typeface="Microsoft JhengHei" panose="020B0604030504040204" pitchFamily="34" charset="-120"/>
              </a:rPr>
              <a:t>對</a:t>
            </a:r>
            <a:r>
              <a:rPr lang="en-US" altLang="zh-TW" sz="2400" dirty="0">
                <a:ea typeface="Microsoft JhengHei" panose="020B0604030504040204" pitchFamily="34" charset="-120"/>
              </a:rPr>
              <a:t> agent</a:t>
            </a:r>
            <a:r>
              <a:rPr lang="zh-TW" altLang="en-US" sz="2400" dirty="0">
                <a:ea typeface="Microsoft JhengHei" panose="020B0604030504040204" pitchFamily="34" charset="-120"/>
              </a:rPr>
              <a:t> 來說：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3B50054-9F24-C5C9-EBAC-1E6C5793A286}"/>
              </a:ext>
            </a:extLst>
          </p:cNvPr>
          <p:cNvSpPr txBox="1"/>
          <p:nvPr/>
        </p:nvSpPr>
        <p:spPr>
          <a:xfrm>
            <a:off x="653143" y="2805959"/>
            <a:ext cx="984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ea typeface="Microsoft JhengHei" panose="020B0604030504040204" pitchFamily="34" charset="-120"/>
              </a:rPr>
              <a:t>輸入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B908302-6C74-E7A2-E9C1-773183DDA226}"/>
              </a:ext>
            </a:extLst>
          </p:cNvPr>
          <p:cNvSpPr txBox="1"/>
          <p:nvPr/>
        </p:nvSpPr>
        <p:spPr>
          <a:xfrm>
            <a:off x="653143" y="3817511"/>
            <a:ext cx="984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ea typeface="Microsoft JhengHei" panose="020B0604030504040204" pitchFamily="34" charset="-120"/>
              </a:rPr>
              <a:t>得到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994D7DA-6E64-BE94-D94B-B2C16E039531}"/>
                  </a:ext>
                </a:extLst>
              </p:cNvPr>
              <p:cNvSpPr/>
              <p:nvPr/>
            </p:nvSpPr>
            <p:spPr>
              <a:xfrm>
                <a:off x="7712031" y="1862702"/>
                <a:ext cx="1254564" cy="922987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reward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994D7DA-6E64-BE94-D94B-B2C16E0395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031" y="1862702"/>
                <a:ext cx="1254564" cy="9229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E4C86D6-5DFC-FA17-9B06-DD4C011BACD0}"/>
                  </a:ext>
                </a:extLst>
              </p:cNvPr>
              <p:cNvSpPr txBox="1"/>
              <p:nvPr/>
            </p:nvSpPr>
            <p:spPr>
              <a:xfrm>
                <a:off x="4842498" y="4366112"/>
                <a:ext cx="25070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TW" altLang="en-US" sz="24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2400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E4C86D6-5DFC-FA17-9B06-DD4C011BA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498" y="4366112"/>
                <a:ext cx="2507004" cy="461665"/>
              </a:xfrm>
              <a:prstGeom prst="rect">
                <a:avLst/>
              </a:prstGeom>
              <a:blipFill>
                <a:blip r:embed="rId13"/>
                <a:stretch>
                  <a:fillRect l="-505"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968EE02-B8B8-72C2-8378-22028CCE10D9}"/>
                  </a:ext>
                </a:extLst>
              </p:cNvPr>
              <p:cNvSpPr txBox="1"/>
              <p:nvPr/>
            </p:nvSpPr>
            <p:spPr>
              <a:xfrm>
                <a:off x="7968597" y="5861905"/>
                <a:ext cx="304962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/>
                  <a:t>: cumulated reward since the time step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968EE02-B8B8-72C2-8378-22028CCE1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597" y="5861905"/>
                <a:ext cx="3049621" cy="830997"/>
              </a:xfrm>
              <a:prstGeom prst="rect">
                <a:avLst/>
              </a:prstGeom>
              <a:blipFill>
                <a:blip r:embed="rId14"/>
                <a:stretch>
                  <a:fillRect l="-3320" t="-4478" r="-415" b="-149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087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DA20A2-CFE9-C8A5-5976-6A300B43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[Definition] </a:t>
            </a:r>
            <a:r>
              <a:rPr kumimoji="1" lang="en-US" altLang="zh-TW" dirty="0">
                <a:solidFill>
                  <a:srgbClr val="FF0000"/>
                </a:solidFill>
              </a:rPr>
              <a:t>Discounted</a:t>
            </a:r>
            <a:r>
              <a:rPr kumimoji="1" lang="en-US" altLang="zh-TW" dirty="0"/>
              <a:t> cumulated reward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85D6F3-083F-36C5-FFA9-D23FABDF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36AAABC-55F3-1463-2E4F-3B84AEB79EC8}"/>
                  </a:ext>
                </a:extLst>
              </p:cNvPr>
              <p:cNvSpPr txBox="1"/>
              <p:nvPr/>
            </p:nvSpPr>
            <p:spPr>
              <a:xfrm>
                <a:off x="7968597" y="5861905"/>
                <a:ext cx="304962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/>
                  <a:t>: cumulated reward since the time step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36AAABC-55F3-1463-2E4F-3B84AEB79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597" y="5861905"/>
                <a:ext cx="3049621" cy="830997"/>
              </a:xfrm>
              <a:prstGeom prst="rect">
                <a:avLst/>
              </a:prstGeom>
              <a:blipFill>
                <a:blip r:embed="rId3"/>
                <a:stretch>
                  <a:fillRect l="-3320" t="-4478" r="-415" b="-149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262ED5C-5C83-1575-42EC-05B5A06EBF37}"/>
                  </a:ext>
                </a:extLst>
              </p:cNvPr>
              <p:cNvSpPr/>
              <p:nvPr/>
            </p:nvSpPr>
            <p:spPr>
              <a:xfrm>
                <a:off x="1509808" y="2794044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262ED5C-5C83-1575-42EC-05B5A06EBF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808" y="2794044"/>
                <a:ext cx="679509" cy="5058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8C5910A-6FF0-3F5E-7390-7119C3781E95}"/>
                  </a:ext>
                </a:extLst>
              </p:cNvPr>
              <p:cNvSpPr/>
              <p:nvPr/>
            </p:nvSpPr>
            <p:spPr>
              <a:xfrm>
                <a:off x="2480116" y="2794043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8C5910A-6FF0-3F5E-7390-7119C3781E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116" y="2794043"/>
                <a:ext cx="679509" cy="50582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168BB4A-0577-F2D1-A325-B980BE5FE5CF}"/>
                  </a:ext>
                </a:extLst>
              </p:cNvPr>
              <p:cNvSpPr/>
              <p:nvPr/>
            </p:nvSpPr>
            <p:spPr>
              <a:xfrm>
                <a:off x="1509807" y="3795433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168BB4A-0577-F2D1-A325-B980BE5FE5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807" y="3795433"/>
                <a:ext cx="679509" cy="50582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05B60FD1-91C8-DE61-3123-B49E7A7D52CE}"/>
              </a:ext>
            </a:extLst>
          </p:cNvPr>
          <p:cNvSpPr txBox="1"/>
          <p:nvPr/>
        </p:nvSpPr>
        <p:spPr>
          <a:xfrm>
            <a:off x="653143" y="1860941"/>
            <a:ext cx="30496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ea typeface="Microsoft JhengHei" panose="020B0604030504040204" pitchFamily="34" charset="-120"/>
              </a:rPr>
              <a:t>對</a:t>
            </a:r>
            <a:r>
              <a:rPr lang="en-US" altLang="zh-TW" sz="2400" dirty="0">
                <a:ea typeface="Microsoft JhengHei" panose="020B0604030504040204" pitchFamily="34" charset="-120"/>
              </a:rPr>
              <a:t> agent</a:t>
            </a:r>
            <a:r>
              <a:rPr lang="zh-TW" altLang="en-US" sz="2400" dirty="0">
                <a:ea typeface="Microsoft JhengHei" panose="020B0604030504040204" pitchFamily="34" charset="-120"/>
              </a:rPr>
              <a:t> 來說：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3B50054-9F24-C5C9-EBAC-1E6C5793A286}"/>
              </a:ext>
            </a:extLst>
          </p:cNvPr>
          <p:cNvSpPr txBox="1"/>
          <p:nvPr/>
        </p:nvSpPr>
        <p:spPr>
          <a:xfrm>
            <a:off x="653143" y="2805959"/>
            <a:ext cx="984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ea typeface="Microsoft JhengHei" panose="020B0604030504040204" pitchFamily="34" charset="-120"/>
              </a:rPr>
              <a:t>輸入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B908302-6C74-E7A2-E9C1-773183DDA226}"/>
              </a:ext>
            </a:extLst>
          </p:cNvPr>
          <p:cNvSpPr txBox="1"/>
          <p:nvPr/>
        </p:nvSpPr>
        <p:spPr>
          <a:xfrm>
            <a:off x="653143" y="3817511"/>
            <a:ext cx="984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ea typeface="Microsoft JhengHei" panose="020B0604030504040204" pitchFamily="34" charset="-120"/>
              </a:rPr>
              <a:t>得到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20420A6-C26A-3C04-7228-4DAEF68D712F}"/>
                  </a:ext>
                </a:extLst>
              </p:cNvPr>
              <p:cNvSpPr/>
              <p:nvPr/>
            </p:nvSpPr>
            <p:spPr>
              <a:xfrm>
                <a:off x="6283129" y="1860941"/>
                <a:ext cx="1254564" cy="922987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reward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20420A6-C26A-3C04-7228-4DAEF68D7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129" y="1860941"/>
                <a:ext cx="1254564" cy="9229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4912C4A9-B4FA-5D89-CB81-4DD06F33945F}"/>
                  </a:ext>
                </a:extLst>
              </p:cNvPr>
              <p:cNvSpPr/>
              <p:nvPr/>
            </p:nvSpPr>
            <p:spPr>
              <a:xfrm>
                <a:off x="4841436" y="1860943"/>
                <a:ext cx="1254564" cy="922987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reward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4912C4A9-B4FA-5D89-CB81-4DD06F3394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436" y="1860943"/>
                <a:ext cx="1254564" cy="9229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0C8D32FA-E46A-ECB4-E759-83BCFA099F94}"/>
                  </a:ext>
                </a:extLst>
              </p:cNvPr>
              <p:cNvSpPr/>
              <p:nvPr/>
            </p:nvSpPr>
            <p:spPr>
              <a:xfrm>
                <a:off x="9493408" y="1860941"/>
                <a:ext cx="1254564" cy="922987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reward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0C8D32FA-E46A-ECB4-E759-83BCFA099F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3408" y="1860941"/>
                <a:ext cx="1254564" cy="9229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2DF77F3A-A0C8-4E81-DED1-DD24BF2F10AA}"/>
              </a:ext>
            </a:extLst>
          </p:cNvPr>
          <p:cNvSpPr txBox="1"/>
          <p:nvPr/>
        </p:nvSpPr>
        <p:spPr>
          <a:xfrm>
            <a:off x="9051855" y="2122379"/>
            <a:ext cx="395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…</a:t>
            </a:r>
            <a:endParaRPr kumimoji="1"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F79BCB20-0F1C-D42A-6CD7-81D659F761B3}"/>
                  </a:ext>
                </a:extLst>
              </p:cNvPr>
              <p:cNvSpPr txBox="1"/>
              <p:nvPr/>
            </p:nvSpPr>
            <p:spPr>
              <a:xfrm>
                <a:off x="4841435" y="3176490"/>
                <a:ext cx="54796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zh-TW" altLang="zh-TW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…+</m:t>
                      </m:r>
                      <m:sSup>
                        <m:sSupPr>
                          <m:ctrlPr>
                            <a:rPr lang="zh-TW" altLang="zh-TW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F79BCB20-0F1C-D42A-6CD7-81D659F76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435" y="3176490"/>
                <a:ext cx="5479612" cy="461665"/>
              </a:xfrm>
              <a:prstGeom prst="rect">
                <a:avLst/>
              </a:prstGeom>
              <a:blipFill>
                <a:blip r:embed="rId15"/>
                <a:stretch>
                  <a:fillRect l="-231" b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C38B3A5D-178D-A11C-3095-DD53B873ECE6}"/>
                  </a:ext>
                </a:extLst>
              </p:cNvPr>
              <p:cNvSpPr txBox="1"/>
              <p:nvPr/>
            </p:nvSpPr>
            <p:spPr>
              <a:xfrm>
                <a:off x="4841435" y="3771301"/>
                <a:ext cx="41251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…+</m:t>
                      </m:r>
                      <m:sSup>
                        <m:sSupPr>
                          <m:ctrlPr>
                            <a:rPr lang="zh-TW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C38B3A5D-178D-A11C-3095-DD53B873E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435" y="3771301"/>
                <a:ext cx="4125159" cy="461665"/>
              </a:xfrm>
              <a:prstGeom prst="rect">
                <a:avLst/>
              </a:prstGeom>
              <a:blipFill>
                <a:blip r:embed="rId16"/>
                <a:stretch>
                  <a:fillRect l="-307" b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62066925-071B-1669-0A7E-0B9F56C0537A}"/>
                  </a:ext>
                </a:extLst>
              </p:cNvPr>
              <p:cNvSpPr txBox="1"/>
              <p:nvPr/>
            </p:nvSpPr>
            <p:spPr>
              <a:xfrm>
                <a:off x="4841435" y="5400240"/>
                <a:ext cx="17671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62066925-071B-1669-0A7E-0B9F56C05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435" y="5400240"/>
                <a:ext cx="1767148" cy="461665"/>
              </a:xfrm>
              <a:prstGeom prst="rect">
                <a:avLst/>
              </a:prstGeom>
              <a:blipFill>
                <a:blip r:embed="rId17"/>
                <a:stretch>
                  <a:fillRect l="-714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F789A76-BCB2-ADF3-ABF8-F33B0839C6F4}"/>
                  </a:ext>
                </a:extLst>
              </p:cNvPr>
              <p:cNvSpPr/>
              <p:nvPr/>
            </p:nvSpPr>
            <p:spPr>
              <a:xfrm>
                <a:off x="7712031" y="1862702"/>
                <a:ext cx="1254564" cy="922987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reward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F789A76-BCB2-ADF3-ABF8-F33B0839C6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031" y="1862702"/>
                <a:ext cx="1254564" cy="9229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F68A42A-C176-B7F0-723B-46F7A3BA21F7}"/>
                  </a:ext>
                </a:extLst>
              </p:cNvPr>
              <p:cNvSpPr txBox="1"/>
              <p:nvPr/>
            </p:nvSpPr>
            <p:spPr>
              <a:xfrm>
                <a:off x="4842498" y="4366112"/>
                <a:ext cx="38771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TW" altLang="en-US" sz="24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2400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TW" altLang="zh-TW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F68A42A-C176-B7F0-723B-46F7A3BA2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498" y="4366112"/>
                <a:ext cx="3877166" cy="461665"/>
              </a:xfrm>
              <a:prstGeom prst="rect">
                <a:avLst/>
              </a:prstGeom>
              <a:blipFill>
                <a:blip r:embed="rId19"/>
                <a:stretch>
                  <a:fillRect l="-327" b="-78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FA561C09-D7F3-EFA5-9F84-72F0F97F508A}"/>
              </a:ext>
            </a:extLst>
          </p:cNvPr>
          <p:cNvSpPr txBox="1"/>
          <p:nvPr/>
        </p:nvSpPr>
        <p:spPr>
          <a:xfrm rot="5400000">
            <a:off x="4947526" y="4952587"/>
            <a:ext cx="463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4877B27-ACFC-4C80-C31D-7D90CBDB7DDC}"/>
                  </a:ext>
                </a:extLst>
              </p:cNvPr>
              <p:cNvSpPr txBox="1"/>
              <p:nvPr/>
            </p:nvSpPr>
            <p:spPr>
              <a:xfrm>
                <a:off x="681380" y="4777648"/>
                <a:ext cx="304962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TW" sz="2400" dirty="0">
                    <a:ea typeface="Microsoft JhengHei" panose="020B0604030504040204" pitchFamily="34" charset="-120"/>
                  </a:rPr>
                  <a:t>: discount factor</a:t>
                </a:r>
              </a:p>
              <a:p>
                <a:r>
                  <a:rPr lang="en-US" altLang="zh-TW" sz="2400" dirty="0">
                    <a:ea typeface="Microsoft JhengHei" panose="020B0604030504040204" pitchFamily="34" charset="-120"/>
                  </a:rPr>
                  <a:t>(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通常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TW" sz="2400" dirty="0">
                    <a:ea typeface="Microsoft JhengHei" panose="020B0604030504040204" pitchFamily="34" charset="-120"/>
                  </a:rPr>
                  <a:t>)</a:t>
                </a:r>
                <a:endParaRPr lang="zh-TW" altLang="en-US" sz="2400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4877B27-ACFC-4C80-C31D-7D90CBDB7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80" y="4777648"/>
                <a:ext cx="3049621" cy="830997"/>
              </a:xfrm>
              <a:prstGeom prst="rect">
                <a:avLst/>
              </a:prstGeom>
              <a:blipFill>
                <a:blip r:embed="rId20"/>
                <a:stretch>
                  <a:fillRect l="-2905" t="-4545" b="-151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400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D2193D2D-1771-63FE-73D1-29E5EAA6F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472" y="2313237"/>
            <a:ext cx="3200400" cy="3379124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(Simplified) Path of Deep Reinforcement Learning</a:t>
            </a:r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1DEBF9-6C13-262A-6DAA-8B289DD0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B620BE5-89AD-A3D6-E46B-41BF30B5023E}"/>
              </a:ext>
            </a:extLst>
          </p:cNvPr>
          <p:cNvSpPr/>
          <p:nvPr/>
        </p:nvSpPr>
        <p:spPr>
          <a:xfrm>
            <a:off x="5225712" y="1293779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Elements of RL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B75F2EC2-DF05-92E6-3419-8057F9567AFE}"/>
              </a:ext>
            </a:extLst>
          </p:cNvPr>
          <p:cNvSpPr/>
          <p:nvPr/>
        </p:nvSpPr>
        <p:spPr>
          <a:xfrm>
            <a:off x="5225712" y="2500594"/>
            <a:ext cx="5330757" cy="807395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b="1" dirty="0">
                <a:solidFill>
                  <a:schemeClr val="tx1"/>
                </a:solidFill>
              </a:rPr>
              <a:t>Policy Gradient Methods</a:t>
            </a:r>
            <a:endParaRPr kumimoji="1" lang="zh-TW" altLang="en-US" sz="3600" b="1" dirty="0">
              <a:solidFill>
                <a:schemeClr val="tx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E6ACFF52-86F2-F9DD-44C3-D873DAA3756B}"/>
              </a:ext>
            </a:extLst>
          </p:cNvPr>
          <p:cNvSpPr/>
          <p:nvPr/>
        </p:nvSpPr>
        <p:spPr>
          <a:xfrm>
            <a:off x="5225712" y="4914223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On-policy and Off-policy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F97AD872-0B13-2E7D-8F1F-CF003BEEA02C}"/>
              </a:ext>
            </a:extLst>
          </p:cNvPr>
          <p:cNvSpPr/>
          <p:nvPr/>
        </p:nvSpPr>
        <p:spPr>
          <a:xfrm>
            <a:off x="5225712" y="3707409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Actor-Critic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260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3345AC-CEAE-F5F4-C8BC-FFEA30D85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[Definition] What is policy?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4896EF-F0FD-86C2-8A59-74ABEEFE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2F119C7C-534D-6E72-E259-0068B7DF754D}"/>
              </a:ext>
            </a:extLst>
          </p:cNvPr>
          <p:cNvSpPr/>
          <p:nvPr/>
        </p:nvSpPr>
        <p:spPr>
          <a:xfrm>
            <a:off x="5018065" y="4799377"/>
            <a:ext cx="1009402" cy="54626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Agent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FAF01F4-C031-0913-97A9-4F4741CDBF66}"/>
              </a:ext>
            </a:extLst>
          </p:cNvPr>
          <p:cNvSpPr txBox="1"/>
          <p:nvPr/>
        </p:nvSpPr>
        <p:spPr>
          <a:xfrm>
            <a:off x="5229510" y="4091491"/>
            <a:ext cx="622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000" dirty="0"/>
              <a:t>🤖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9CDBBE2-E0A4-0CEC-AFEC-53F938B3C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884" y="4589023"/>
            <a:ext cx="1473775" cy="966971"/>
          </a:xfrm>
          <a:prstGeom prst="rect">
            <a:avLst/>
          </a:prstGeom>
        </p:spPr>
      </p:pic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389A9AE0-B464-6F00-1A37-A6459EA91E84}"/>
              </a:ext>
            </a:extLst>
          </p:cNvPr>
          <p:cNvCxnSpPr>
            <a:cxnSpLocks/>
          </p:cNvCxnSpPr>
          <p:nvPr/>
        </p:nvCxnSpPr>
        <p:spPr>
          <a:xfrm>
            <a:off x="4130551" y="5072508"/>
            <a:ext cx="6390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D558A38-027E-4FA2-7844-DB6F0680EC48}"/>
                  </a:ext>
                </a:extLst>
              </p:cNvPr>
              <p:cNvSpPr txBox="1"/>
              <p:nvPr/>
            </p:nvSpPr>
            <p:spPr>
              <a:xfrm>
                <a:off x="6267393" y="6017925"/>
                <a:ext cx="35507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800" kern="100" dirty="0"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以打磚塊來說：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8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∈{</m:t>
                    </m:r>
                    <m:r>
                      <m:rPr>
                        <m:sty m:val="p"/>
                      </m:rPr>
                      <a:rPr lang="en-US" altLang="zh-TW" sz="1800" b="0" i="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left</m:t>
                    </m:r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18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800" b="0" i="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rig</m:t>
                    </m:r>
                    <m:r>
                      <a:rPr lang="en-US" altLang="zh-TW" sz="18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h𝑡</m:t>
                    </m:r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zh-TW" altLang="zh-TW" sz="1800" kern="100" dirty="0">
                  <a:effectLst/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D558A38-027E-4FA2-7844-DB6F0680E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393" y="6017925"/>
                <a:ext cx="3550717" cy="369332"/>
              </a:xfrm>
              <a:prstGeom prst="rect">
                <a:avLst/>
              </a:prstGeom>
              <a:blipFill>
                <a:blip r:embed="rId4"/>
                <a:stretch>
                  <a:fillRect l="-1423" t="-6452" b="-193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92BB475-6BDF-89C5-D1D0-E7E25A60A0B7}"/>
                  </a:ext>
                </a:extLst>
              </p:cNvPr>
              <p:cNvSpPr/>
              <p:nvPr/>
            </p:nvSpPr>
            <p:spPr>
              <a:xfrm>
                <a:off x="8478813" y="3895773"/>
                <a:ext cx="679509" cy="505822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92BB475-6BDF-89C5-D1D0-E7E25A60A0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813" y="3895773"/>
                <a:ext cx="679509" cy="505822"/>
              </a:xfrm>
              <a:prstGeom prst="rect">
                <a:avLst/>
              </a:prstGeom>
              <a:blipFill>
                <a:blip r:embed="rId5"/>
                <a:stretch>
                  <a:fillRect b="-2439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88F369FE-5C95-AE34-1095-7266ACC19D85}"/>
              </a:ext>
            </a:extLst>
          </p:cNvPr>
          <p:cNvCxnSpPr>
            <a:cxnSpLocks/>
          </p:cNvCxnSpPr>
          <p:nvPr/>
        </p:nvCxnSpPr>
        <p:spPr>
          <a:xfrm>
            <a:off x="6267393" y="5072508"/>
            <a:ext cx="6390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5AE74D8-6C4F-71E3-5634-76181552F813}"/>
                  </a:ext>
                </a:extLst>
              </p:cNvPr>
              <p:cNvSpPr/>
              <p:nvPr/>
            </p:nvSpPr>
            <p:spPr>
              <a:xfrm>
                <a:off x="7148152" y="4505284"/>
                <a:ext cx="1117868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TW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left</m:t>
                      </m:r>
                    </m:oMath>
                  </m:oMathPara>
                </a14:m>
                <a:endParaRPr kumimoji="1"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5AE74D8-6C4F-71E3-5634-76181552F8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152" y="4505284"/>
                <a:ext cx="1117868" cy="5058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2F67270-1786-47DC-92F8-134F8C89E5BE}"/>
                  </a:ext>
                </a:extLst>
              </p:cNvPr>
              <p:cNvSpPr/>
              <p:nvPr/>
            </p:nvSpPr>
            <p:spPr>
              <a:xfrm>
                <a:off x="7148152" y="5171988"/>
                <a:ext cx="1117868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righ</m:t>
                      </m:r>
                      <m:r>
                        <m:rPr>
                          <m:sty m:val="p"/>
                        </m:rPr>
                        <a:rPr kumimoji="1" lang="en-US" altLang="zh-TW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kumimoji="1"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2F67270-1786-47DC-92F8-134F8C89E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152" y="5171988"/>
                <a:ext cx="1117868" cy="505822"/>
              </a:xfrm>
              <a:prstGeom prst="rect">
                <a:avLst/>
              </a:prstGeom>
              <a:blipFill>
                <a:blip r:embed="rId7"/>
                <a:stretch>
                  <a:fillRect l="-1099" b="-16279"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9C664685-7C15-990F-49E6-6D9DC2F8F681}"/>
              </a:ext>
            </a:extLst>
          </p:cNvPr>
          <p:cNvSpPr txBox="1"/>
          <p:nvPr/>
        </p:nvSpPr>
        <p:spPr>
          <a:xfrm>
            <a:off x="8478813" y="5203374"/>
            <a:ext cx="729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0.9</a:t>
            </a:r>
            <a:endParaRPr kumimoji="1" lang="zh-TW" altLang="en-US" sz="2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459FDAC-2AE7-35D1-8F8B-8835237D62B6}"/>
              </a:ext>
            </a:extLst>
          </p:cNvPr>
          <p:cNvSpPr txBox="1"/>
          <p:nvPr/>
        </p:nvSpPr>
        <p:spPr>
          <a:xfrm>
            <a:off x="8478813" y="4549441"/>
            <a:ext cx="729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0.1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47B4D22-9F12-ABB8-5F9C-992F63F58DF0}"/>
                  </a:ext>
                </a:extLst>
              </p:cNvPr>
              <p:cNvSpPr txBox="1"/>
              <p:nvPr/>
            </p:nvSpPr>
            <p:spPr>
              <a:xfrm>
                <a:off x="731790" y="1844663"/>
                <a:ext cx="8426532" cy="1427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" altLang="zh-TW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Policy (</a:t>
                </a:r>
                <a:r>
                  <a:rPr lang="zh-TW" altLang="en-US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策略</a:t>
                </a:r>
                <a:r>
                  <a:rPr lang="en-US" altLang="zh-TW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 </a:t>
                </a:r>
                <a:r>
                  <a:rPr lang="zh-TW" altLang="en-US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是 </a:t>
                </a:r>
                <a:r>
                  <a:rPr lang="en" altLang="zh-TW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agent </a:t>
                </a:r>
                <a:r>
                  <a:rPr lang="zh-TW" altLang="en-US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根據當前狀態來決定要採取哪個動作的行為準則</a:t>
                </a:r>
                <a:endParaRPr lang="en-US" altLang="zh-TW" sz="2000" kern="100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actor</a:t>
                </a:r>
                <a:r>
                  <a:rPr lang="zh-TW" altLang="en-US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是其中一種</a:t>
                </a:r>
                <a:r>
                  <a:rPr lang="en-US" altLang="zh-TW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lang="en" altLang="zh-TW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agent</a:t>
                </a:r>
                <a:r>
                  <a:rPr lang="en-US" altLang="zh-TW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Policy </a:t>
                </a:r>
                <a:r>
                  <a:rPr lang="zh-TW" altLang="en-US" sz="2000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通常以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TW" sz="2000" dirty="0"/>
                  <a:t> </a:t>
                </a:r>
                <a:r>
                  <a:rPr lang="zh-TW" altLang="en-US" sz="2000" dirty="0">
                    <a:ea typeface="Microsoft JhengHei" panose="020B0604030504040204" pitchFamily="34" charset="-120"/>
                  </a:rPr>
                  <a:t>為符號，在 </a:t>
                </a:r>
                <a:r>
                  <a:rPr lang="en-US" altLang="zh-TW" sz="2000" dirty="0">
                    <a:ea typeface="Microsoft JhengHei" panose="020B0604030504040204" pitchFamily="34" charset="-120"/>
                  </a:rPr>
                  <a:t>DRL </a:t>
                </a:r>
                <a:r>
                  <a:rPr lang="zh-TW" altLang="en-US" sz="2000" dirty="0">
                    <a:ea typeface="Microsoft JhengHei" panose="020B0604030504040204" pitchFamily="34" charset="-120"/>
                  </a:rPr>
                  <a:t>中屬於可以被訓練的模型</a:t>
                </a:r>
                <a:endParaRPr lang="zh-TW" altLang="zh-TW" sz="2000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47B4D22-9F12-ABB8-5F9C-992F63F58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790" y="1844663"/>
                <a:ext cx="8426532" cy="1427699"/>
              </a:xfrm>
              <a:prstGeom prst="rect">
                <a:avLst/>
              </a:prstGeom>
              <a:blipFill>
                <a:blip r:embed="rId8"/>
                <a:stretch>
                  <a:fillRect l="-602" b="-61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3BB27C5-5B52-9968-E134-6427ECD4E166}"/>
                  </a:ext>
                </a:extLst>
              </p:cNvPr>
              <p:cNvSpPr txBox="1"/>
              <p:nvPr/>
            </p:nvSpPr>
            <p:spPr>
              <a:xfrm>
                <a:off x="2787695" y="3878375"/>
                <a:ext cx="6761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3BB27C5-5B52-9968-E134-6427ECD4E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695" y="3878375"/>
                <a:ext cx="676152" cy="523220"/>
              </a:xfrm>
              <a:prstGeom prst="rect">
                <a:avLst/>
              </a:prstGeom>
              <a:blipFill>
                <a:blip r:embed="rId9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25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3" grpId="0" animBg="1"/>
      <p:bldP spid="14" grpId="0" animBg="1"/>
      <p:bldP spid="15" grpId="0"/>
      <p:bldP spid="16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C0893-4E98-1BBB-513F-9F018BBD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如何訓練一個</a:t>
            </a:r>
            <a:r>
              <a:rPr kumimoji="1" lang="en-US" altLang="zh-TW" dirty="0">
                <a:ea typeface="Microsoft JhengHei" panose="020B0604030504040204" pitchFamily="34" charset="-120"/>
              </a:rPr>
              <a:t>RL</a:t>
            </a:r>
            <a:r>
              <a:rPr kumimoji="1" lang="zh-TW" altLang="en-US" dirty="0">
                <a:ea typeface="Microsoft JhengHei" panose="020B0604030504040204" pitchFamily="34" charset="-120"/>
              </a:rPr>
              <a:t>模型？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5AD1E0-6F05-44B7-0D03-AA115D51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AEFA5BC-D03A-48F6-9FAF-C20FC78EF9BA}"/>
              </a:ext>
            </a:extLst>
          </p:cNvPr>
          <p:cNvSpPr txBox="1"/>
          <p:nvPr/>
        </p:nvSpPr>
        <p:spPr>
          <a:xfrm>
            <a:off x="653143" y="1511659"/>
            <a:ext cx="301418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Policy gradient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931C600-AC52-E1CA-805B-D355AD6B4E27}"/>
              </a:ext>
            </a:extLst>
          </p:cNvPr>
          <p:cNvSpPr txBox="1"/>
          <p:nvPr/>
        </p:nvSpPr>
        <p:spPr>
          <a:xfrm>
            <a:off x="653142" y="2100731"/>
            <a:ext cx="301418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Step1: 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收集資料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9EC246D-2D81-297E-FC12-722D526DA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32" y="3035504"/>
            <a:ext cx="1417402" cy="86702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9890136-A6BB-9902-6F47-95BF304EF329}"/>
              </a:ext>
            </a:extLst>
          </p:cNvPr>
          <p:cNvSpPr txBox="1"/>
          <p:nvPr/>
        </p:nvSpPr>
        <p:spPr>
          <a:xfrm>
            <a:off x="2285735" y="3194646"/>
            <a:ext cx="622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000" dirty="0"/>
              <a:t>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41D8C87-0250-01EA-1ED3-7A8F0759A6B2}"/>
                  </a:ext>
                </a:extLst>
              </p:cNvPr>
              <p:cNvSpPr/>
              <p:nvPr/>
            </p:nvSpPr>
            <p:spPr>
              <a:xfrm>
                <a:off x="3263101" y="2783004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41D8C87-0250-01EA-1ED3-7A8F0759A6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101" y="2783004"/>
                <a:ext cx="679509" cy="505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16036C5-85A9-69E7-C475-0851607AAC69}"/>
                  </a:ext>
                </a:extLst>
              </p:cNvPr>
              <p:cNvSpPr/>
              <p:nvPr/>
            </p:nvSpPr>
            <p:spPr>
              <a:xfrm>
                <a:off x="3999945" y="2783004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16036C5-85A9-69E7-C475-0851607AAC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945" y="2783004"/>
                <a:ext cx="679509" cy="505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BAB018E-E0D5-2858-4316-61C447574DCC}"/>
                  </a:ext>
                </a:extLst>
              </p:cNvPr>
              <p:cNvSpPr/>
              <p:nvPr/>
            </p:nvSpPr>
            <p:spPr>
              <a:xfrm>
                <a:off x="4736789" y="2783879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BAB018E-E0D5-2858-4316-61C447574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789" y="2783879"/>
                <a:ext cx="679509" cy="5058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635FF2D-B43E-991D-7C2F-FBA8C9FAC670}"/>
                  </a:ext>
                </a:extLst>
              </p:cNvPr>
              <p:cNvSpPr/>
              <p:nvPr/>
            </p:nvSpPr>
            <p:spPr>
              <a:xfrm>
                <a:off x="3272044" y="3396711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635FF2D-B43E-991D-7C2F-FBA8C9FAC6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044" y="3396711"/>
                <a:ext cx="679509" cy="5058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A88666A-35E8-3AB0-B4DA-D4C400D75AAE}"/>
                  </a:ext>
                </a:extLst>
              </p:cNvPr>
              <p:cNvSpPr/>
              <p:nvPr/>
            </p:nvSpPr>
            <p:spPr>
              <a:xfrm>
                <a:off x="4008888" y="3396711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A88666A-35E8-3AB0-B4DA-D4C400D75A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888" y="3396711"/>
                <a:ext cx="679509" cy="5058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89B4136-8FDF-0A61-63CE-6D50BA82675A}"/>
                  </a:ext>
                </a:extLst>
              </p:cNvPr>
              <p:cNvSpPr/>
              <p:nvPr/>
            </p:nvSpPr>
            <p:spPr>
              <a:xfrm>
                <a:off x="3272044" y="4010417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89B4136-8FDF-0A61-63CE-6D50BA8267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044" y="4010417"/>
                <a:ext cx="679509" cy="5058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E612418-09EC-CA30-F0A8-645BFFF1EF35}"/>
                  </a:ext>
                </a:extLst>
              </p:cNvPr>
              <p:cNvSpPr/>
              <p:nvPr/>
            </p:nvSpPr>
            <p:spPr>
              <a:xfrm>
                <a:off x="4008888" y="4010417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E612418-09EC-CA30-F0A8-645BFFF1EF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888" y="4010417"/>
                <a:ext cx="679509" cy="5058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0E8182E-E7EF-153C-C32B-45EE12DC0AEE}"/>
                  </a:ext>
                </a:extLst>
              </p:cNvPr>
              <p:cNvSpPr/>
              <p:nvPr/>
            </p:nvSpPr>
            <p:spPr>
              <a:xfrm>
                <a:off x="3272044" y="5043120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0E8182E-E7EF-153C-C32B-45EE12DC0A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044" y="5043120"/>
                <a:ext cx="679509" cy="5058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DAAAE921-EA7C-D6FA-12A5-43E556294562}"/>
                  </a:ext>
                </a:extLst>
              </p:cNvPr>
              <p:cNvSpPr/>
              <p:nvPr/>
            </p:nvSpPr>
            <p:spPr>
              <a:xfrm>
                <a:off x="4008888" y="5043120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DAAAE921-EA7C-D6FA-12A5-43E5562945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888" y="5043120"/>
                <a:ext cx="679509" cy="50582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D38E2515-91C9-0F0B-07C8-78168E1EC4F8}"/>
              </a:ext>
            </a:extLst>
          </p:cNvPr>
          <p:cNvSpPr txBox="1"/>
          <p:nvPr/>
        </p:nvSpPr>
        <p:spPr>
          <a:xfrm rot="5400000">
            <a:off x="4206114" y="4618177"/>
            <a:ext cx="463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FE110FE-812B-4207-0882-8065F4273D58}"/>
              </a:ext>
            </a:extLst>
          </p:cNvPr>
          <p:cNvSpPr txBox="1"/>
          <p:nvPr/>
        </p:nvSpPr>
        <p:spPr>
          <a:xfrm>
            <a:off x="6095999" y="2099693"/>
            <a:ext cx="5426529" cy="58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Step2: 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計算 </a:t>
            </a:r>
            <a:r>
              <a:rPr lang="en-US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reward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 總和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4841290-011A-B520-419C-C403DA8E7C01}"/>
              </a:ext>
            </a:extLst>
          </p:cNvPr>
          <p:cNvSpPr txBox="1"/>
          <p:nvPr/>
        </p:nvSpPr>
        <p:spPr>
          <a:xfrm>
            <a:off x="6096000" y="3895110"/>
            <a:ext cx="5426529" cy="58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Step3: 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更新模型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2327B59-FDA8-1582-AE1F-A7EDA751DF04}"/>
                  </a:ext>
                </a:extLst>
              </p:cNvPr>
              <p:cNvSpPr txBox="1"/>
              <p:nvPr/>
            </p:nvSpPr>
            <p:spPr>
              <a:xfrm>
                <a:off x="6008804" y="4617014"/>
                <a:ext cx="2016516" cy="130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2327B59-FDA8-1582-AE1F-A7EDA751D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804" y="4617014"/>
                <a:ext cx="2016516" cy="1303883"/>
              </a:xfrm>
              <a:prstGeom prst="rect">
                <a:avLst/>
              </a:prstGeom>
              <a:blipFill>
                <a:blip r:embed="rId12"/>
                <a:stretch>
                  <a:fillRect l="-20755" t="-100962" r="-13836" b="-15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E9026E0E-E411-FB74-1C83-3374C3AD2A50}"/>
              </a:ext>
            </a:extLst>
          </p:cNvPr>
          <p:cNvSpPr txBox="1"/>
          <p:nvPr/>
        </p:nvSpPr>
        <p:spPr>
          <a:xfrm>
            <a:off x="8240114" y="4998655"/>
            <a:ext cx="3049773" cy="50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累積的 </a:t>
            </a:r>
            <a:r>
              <a:rPr lang="en-US" altLang="zh-TW" sz="20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reward</a:t>
            </a:r>
            <a:r>
              <a:rPr lang="zh-TW" altLang="en-US" sz="20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 越大越好</a:t>
            </a:r>
            <a:endParaRPr lang="zh-TW" altLang="zh-TW" sz="2000" dirty="0"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359CAC4-FD55-9CF1-1C1E-44979743D37D}"/>
                  </a:ext>
                </a:extLst>
              </p:cNvPr>
              <p:cNvSpPr/>
              <p:nvPr/>
            </p:nvSpPr>
            <p:spPr>
              <a:xfrm>
                <a:off x="4736453" y="3396710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359CAC4-FD55-9CF1-1C1E-44979743D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453" y="3396710"/>
                <a:ext cx="679509" cy="5058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1A6BB42-8C39-5F35-99A0-83A3589D2065}"/>
                  </a:ext>
                </a:extLst>
              </p:cNvPr>
              <p:cNvSpPr/>
              <p:nvPr/>
            </p:nvSpPr>
            <p:spPr>
              <a:xfrm>
                <a:off x="4745732" y="4010416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1A6BB42-8C39-5F35-99A0-83A3589D20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732" y="4010416"/>
                <a:ext cx="679509" cy="50582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40E7B8E-176A-099E-A4F5-8B15AE11CB83}"/>
                  </a:ext>
                </a:extLst>
              </p:cNvPr>
              <p:cNvSpPr/>
              <p:nvPr/>
            </p:nvSpPr>
            <p:spPr>
              <a:xfrm>
                <a:off x="4745732" y="5043120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40E7B8E-176A-099E-A4F5-8B15AE11CB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732" y="5043120"/>
                <a:ext cx="679509" cy="50582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6D1960E-9DAA-A1B5-B1F0-94CCCB87296F}"/>
                  </a:ext>
                </a:extLst>
              </p:cNvPr>
              <p:cNvSpPr txBox="1"/>
              <p:nvPr/>
            </p:nvSpPr>
            <p:spPr>
              <a:xfrm>
                <a:off x="9195553" y="1821803"/>
                <a:ext cx="1417402" cy="1130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6D1960E-9DAA-A1B5-B1F0-94CCCB872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553" y="1821803"/>
                <a:ext cx="1417402" cy="1130759"/>
              </a:xfrm>
              <a:prstGeom prst="rect">
                <a:avLst/>
              </a:prstGeom>
              <a:blipFill>
                <a:blip r:embed="rId16"/>
                <a:stretch>
                  <a:fillRect l="-55752" t="-102222" r="-8850" b="-15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C47D1329-DCDC-9FC1-9AFA-AF5F898C9EC2}"/>
              </a:ext>
            </a:extLst>
          </p:cNvPr>
          <p:cNvSpPr txBox="1"/>
          <p:nvPr/>
        </p:nvSpPr>
        <p:spPr>
          <a:xfrm>
            <a:off x="3788229" y="43020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246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/>
      <p:bldP spid="25" grpId="0"/>
      <p:bldP spid="26" grpId="0"/>
      <p:bldP spid="28" grpId="0"/>
      <p:bldP spid="29" grpId="0"/>
      <p:bldP spid="3" grpId="0" animBg="1"/>
      <p:bldP spid="6" grpId="0" animBg="1"/>
      <p:bldP spid="23" grpId="0" animBg="1"/>
      <p:bldP spid="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C0893-4E98-1BBB-513F-9F018BBD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如何訓練一個</a:t>
            </a:r>
            <a:r>
              <a:rPr kumimoji="1" lang="en-US" altLang="zh-TW" dirty="0">
                <a:ea typeface="Microsoft JhengHei" panose="020B0604030504040204" pitchFamily="34" charset="-120"/>
              </a:rPr>
              <a:t>RL</a:t>
            </a:r>
            <a:r>
              <a:rPr kumimoji="1" lang="zh-TW" altLang="en-US" dirty="0">
                <a:ea typeface="Microsoft JhengHei" panose="020B0604030504040204" pitchFamily="34" charset="-120"/>
              </a:rPr>
              <a:t>模型？</a:t>
            </a:r>
            <a:r>
              <a:rPr kumimoji="1" lang="en-US" altLang="zh-TW" dirty="0">
                <a:ea typeface="Microsoft JhengHei" panose="020B0604030504040204" pitchFamily="34" charset="-120"/>
              </a:rPr>
              <a:t>(3-1)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5AD1E0-6F05-44B7-0D03-AA115D51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AEFA5BC-D03A-48F6-9FAF-C20FC78EF9BA}"/>
              </a:ext>
            </a:extLst>
          </p:cNvPr>
          <p:cNvSpPr txBox="1"/>
          <p:nvPr/>
        </p:nvSpPr>
        <p:spPr>
          <a:xfrm>
            <a:off x="653143" y="1511659"/>
            <a:ext cx="538066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400" kern="100" dirty="0">
                <a:solidFill>
                  <a:srgbClr val="FF0000"/>
                </a:solidFill>
                <a:ea typeface="Microsoft JhengHei" panose="020B0604030504040204" pitchFamily="34" charset="-120"/>
                <a:cs typeface="Times New Roman" panose="02020603050405020304" pitchFamily="18" charset="0"/>
              </a:rPr>
              <a:t>Policy gradient</a:t>
            </a:r>
            <a:r>
              <a:rPr lang="zh-TW" altLang="en-US" sz="2400" kern="100" dirty="0">
                <a:solidFill>
                  <a:srgbClr val="FF0000"/>
                </a:solidFill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and gradient descent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4841290-011A-B520-419C-C403DA8E7C01}"/>
              </a:ext>
            </a:extLst>
          </p:cNvPr>
          <p:cNvSpPr txBox="1"/>
          <p:nvPr/>
        </p:nvSpPr>
        <p:spPr>
          <a:xfrm>
            <a:off x="718188" y="2358140"/>
            <a:ext cx="5426529" cy="58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Step3: 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更新模型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B3C1814-B1B4-A4CF-CE6A-C6DAE83B4732}"/>
                  </a:ext>
                </a:extLst>
              </p:cNvPr>
              <p:cNvSpPr txBox="1"/>
              <p:nvPr/>
            </p:nvSpPr>
            <p:spPr>
              <a:xfrm>
                <a:off x="718189" y="4656509"/>
                <a:ext cx="3279880" cy="15685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TW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)⋅</m:t>
                              </m:r>
                              <m: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zh-TW" sz="2800" dirty="0"/>
              </a:p>
              <a:p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B3C1814-B1B4-A4CF-CE6A-C6DAE83B4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89" y="4656509"/>
                <a:ext cx="3279880" cy="1568506"/>
              </a:xfrm>
              <a:prstGeom prst="rect">
                <a:avLst/>
              </a:prstGeom>
              <a:blipFill>
                <a:blip r:embed="rId3"/>
                <a:stretch>
                  <a:fillRect l="-18147" t="-93600" b="-10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3AB13E4-101F-B51F-ED81-8F60832B4FB4}"/>
                  </a:ext>
                </a:extLst>
              </p:cNvPr>
              <p:cNvSpPr txBox="1"/>
              <p:nvPr/>
            </p:nvSpPr>
            <p:spPr>
              <a:xfrm>
                <a:off x="718188" y="3177997"/>
                <a:ext cx="3543757" cy="130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3AB13E4-101F-B51F-ED81-8F60832B4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88" y="3177997"/>
                <a:ext cx="3543757" cy="1303883"/>
              </a:xfrm>
              <a:prstGeom prst="rect">
                <a:avLst/>
              </a:prstGeom>
              <a:blipFill>
                <a:blip r:embed="rId4"/>
                <a:stretch>
                  <a:fillRect l="-16786" t="-101942" b="-1592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0E48801-391F-A633-D2E9-41F5FDEAF04C}"/>
                  </a:ext>
                </a:extLst>
              </p:cNvPr>
              <p:cNvSpPr txBox="1"/>
              <p:nvPr/>
            </p:nvSpPr>
            <p:spPr>
              <a:xfrm>
                <a:off x="4321456" y="2291124"/>
                <a:ext cx="4032153" cy="1137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)⋅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0E48801-391F-A633-D2E9-41F5FDEAF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456" y="2291124"/>
                <a:ext cx="4032153" cy="1137876"/>
              </a:xfrm>
              <a:prstGeom prst="rect">
                <a:avLst/>
              </a:prstGeom>
              <a:blipFill>
                <a:blip r:embed="rId5"/>
                <a:stretch>
                  <a:fillRect l="-9748" t="-129670" b="-180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572DE6F-99F5-3879-DF8C-5EFECE376D7D}"/>
                  </a:ext>
                </a:extLst>
              </p:cNvPr>
              <p:cNvSpPr txBox="1"/>
              <p:nvPr/>
            </p:nvSpPr>
            <p:spPr>
              <a:xfrm>
                <a:off x="4824880" y="3429000"/>
                <a:ext cx="4877920" cy="1137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)⋅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m:rPr>
                              <m:sty m:val="p"/>
                            </m:rP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572DE6F-99F5-3879-DF8C-5EFECE376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880" y="3429000"/>
                <a:ext cx="4877920" cy="1137876"/>
              </a:xfrm>
              <a:prstGeom prst="rect">
                <a:avLst/>
              </a:prstGeom>
              <a:blipFill>
                <a:blip r:embed="rId6"/>
                <a:stretch>
                  <a:fillRect l="-18135" t="-131111" b="-18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6621400B-EF89-FBC7-3E4C-14E9F4342BF9}"/>
              </a:ext>
            </a:extLst>
          </p:cNvPr>
          <p:cNvSpPr txBox="1"/>
          <p:nvPr/>
        </p:nvSpPr>
        <p:spPr>
          <a:xfrm>
            <a:off x="7865213" y="3180242"/>
            <a:ext cx="2217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Log-derivative trick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120E413-5341-F237-F825-EE1A16EB47D1}"/>
                  </a:ext>
                </a:extLst>
              </p:cNvPr>
              <p:cNvSpPr txBox="1"/>
              <p:nvPr/>
            </p:nvSpPr>
            <p:spPr>
              <a:xfrm>
                <a:off x="4824880" y="4846256"/>
                <a:ext cx="4769835" cy="561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m:rPr>
                              <m:sty m:val="p"/>
                            </m:rPr>
                            <a:rPr lang="en-US" altLang="zh-TW" sz="2800" i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TW" altLang="zh-TW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120E413-5341-F237-F825-EE1A16EB4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880" y="4846256"/>
                <a:ext cx="4769835" cy="561308"/>
              </a:xfrm>
              <a:prstGeom prst="rect">
                <a:avLst/>
              </a:prstGeom>
              <a:blipFill>
                <a:blip r:embed="rId7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B709FD16-96B6-C7B0-CAB5-04F0EEEC979E}"/>
              </a:ext>
            </a:extLst>
          </p:cNvPr>
          <p:cNvSpPr txBox="1"/>
          <p:nvPr/>
        </p:nvSpPr>
        <p:spPr>
          <a:xfrm>
            <a:off x="8573904" y="503464"/>
            <a:ext cx="30560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Log-derivative trick: http://</a:t>
            </a:r>
            <a:r>
              <a:rPr kumimoji="1" lang="en" altLang="zh-TW" sz="1400" dirty="0" err="1"/>
              <a:t>www.math.ncu.edu.tw</a:t>
            </a:r>
            <a:r>
              <a:rPr kumimoji="1" lang="en" altLang="zh-TW" sz="1400" dirty="0"/>
              <a:t>/~</a:t>
            </a:r>
            <a:r>
              <a:rPr kumimoji="1" lang="en" altLang="zh-TW" sz="1400" dirty="0" err="1"/>
              <a:t>yu</a:t>
            </a:r>
            <a:r>
              <a:rPr kumimoji="1" lang="en" altLang="zh-TW" sz="1400" dirty="0"/>
              <a:t>/smrcal100_1/boards/lec28_sc_100.pdf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C1AC150-E04C-7AF4-C51A-B9C70F123B34}"/>
                  </a:ext>
                </a:extLst>
              </p:cNvPr>
              <p:cNvSpPr txBox="1"/>
              <p:nvPr/>
            </p:nvSpPr>
            <p:spPr>
              <a:xfrm>
                <a:off x="3431452" y="6072799"/>
                <a:ext cx="651337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從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機率分佈中採樣 </a:t>
                </a:r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(sampled) </a:t>
                </a:r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的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altLang="zh-TW" sz="2000" dirty="0"/>
              </a:p>
              <a:p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想成有可能你玩很多個回合，現在探討的是這組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C1AC150-E04C-7AF4-C51A-B9C70F123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452" y="6072799"/>
                <a:ext cx="6513378" cy="707886"/>
              </a:xfrm>
              <a:prstGeom prst="rect">
                <a:avLst/>
              </a:prstGeom>
              <a:blipFill>
                <a:blip r:embed="rId8"/>
                <a:stretch>
                  <a:fillRect l="-1170" t="-5357"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7B7CB92D-E73C-A531-0343-3B54245D0C70}"/>
              </a:ext>
            </a:extLst>
          </p:cNvPr>
          <p:cNvCxnSpPr/>
          <p:nvPr/>
        </p:nvCxnSpPr>
        <p:spPr>
          <a:xfrm flipV="1">
            <a:off x="6033812" y="5498993"/>
            <a:ext cx="0" cy="4858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EA9A33C4-D007-1C88-63FC-34FE00DBDC90}"/>
              </a:ext>
            </a:extLst>
          </p:cNvPr>
          <p:cNvCxnSpPr>
            <a:cxnSpLocks/>
          </p:cNvCxnSpPr>
          <p:nvPr/>
        </p:nvCxnSpPr>
        <p:spPr>
          <a:xfrm>
            <a:off x="5526495" y="5388108"/>
            <a:ext cx="97572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E935A26-0178-F0A3-0842-A57627948008}"/>
              </a:ext>
            </a:extLst>
          </p:cNvPr>
          <p:cNvSpPr txBox="1"/>
          <p:nvPr/>
        </p:nvSpPr>
        <p:spPr>
          <a:xfrm>
            <a:off x="1974370" y="5457421"/>
            <a:ext cx="2217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期望值的概念</a:t>
            </a:r>
          </a:p>
        </p:txBody>
      </p:sp>
    </p:spTree>
    <p:extLst>
      <p:ext uri="{BB962C8B-B14F-4D97-AF65-F5344CB8AC3E}">
        <p14:creationId xmlns:p14="http://schemas.microsoft.com/office/powerpoint/2010/main" val="359692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7" grpId="0"/>
      <p:bldP spid="10" grpId="0"/>
      <p:bldP spid="11" grpId="0"/>
      <p:bldP spid="12" grpId="0"/>
      <p:bldP spid="13" grpId="0"/>
      <p:bldP spid="6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14351F5-7CC3-264B-AA9D-245F1F0140C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zh-TW" dirty="0"/>
                  <a:t>[Illustration] RL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的元素 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(</a:t>
                </a:r>
                <a:r>
                  <a:rPr kumimoji="1" lang="zh-TW" altLang="en-US" dirty="0">
                    <a:ea typeface="Microsoft JhengHei" panose="020B0604030504040204" pitchFamily="34" charset="-120"/>
                  </a:rPr>
                  <a:t>假設</a:t>
                </a:r>
                <a14:m>
                  <m:oMath xmlns:m="http://schemas.openxmlformats.org/officeDocument/2006/math">
                    <m:r>
                      <a:rPr lang="zh-TW" altLang="en-US" sz="4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kumimoji="1" lang="zh-TW" altLang="en-US" dirty="0">
                    <a:ea typeface="Microsoft JhengHei" panose="020B0604030504040204" pitchFamily="34" charset="-120"/>
                  </a:rPr>
                  <a:t>只有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3</a:t>
                </a:r>
                <a:r>
                  <a:rPr kumimoji="1" lang="zh-TW" altLang="en-US" dirty="0">
                    <a:ea typeface="Microsoft JhengHei" panose="020B0604030504040204" pitchFamily="34" charset="-120"/>
                  </a:rPr>
                  <a:t>個點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)</a:t>
                </a:r>
                <a:endParaRPr kumimoji="1" lang="zh-TW" altLang="en-US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14351F5-7CC3-264B-AA9D-245F1F0140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555" t="-9639" b="-16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8969B8-E193-DC4E-855E-47CAAA79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24</a:t>
            </a:fld>
            <a:endParaRPr kumimoji="1"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EA04F0CF-CDB3-9298-9625-5963736E233D}"/>
              </a:ext>
            </a:extLst>
          </p:cNvPr>
          <p:cNvGrpSpPr/>
          <p:nvPr/>
        </p:nvGrpSpPr>
        <p:grpSpPr>
          <a:xfrm>
            <a:off x="942934" y="1832942"/>
            <a:ext cx="10599396" cy="2836335"/>
            <a:chOff x="344221" y="1920491"/>
            <a:chExt cx="11709479" cy="4224351"/>
          </a:xfrm>
        </p:grpSpPr>
        <p:sp>
          <p:nvSpPr>
            <p:cNvPr id="11" name="圓角矩形 10">
              <a:extLst>
                <a:ext uri="{FF2B5EF4-FFF2-40B4-BE49-F238E27FC236}">
                  <a16:creationId xmlns:a16="http://schemas.microsoft.com/office/drawing/2014/main" id="{421824FD-BD4F-C6DC-5BA0-1D0D947E234E}"/>
                </a:ext>
              </a:extLst>
            </p:cNvPr>
            <p:cNvSpPr/>
            <p:nvPr/>
          </p:nvSpPr>
          <p:spPr>
            <a:xfrm>
              <a:off x="681975" y="3005787"/>
              <a:ext cx="1571141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Agent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箭頭接點 12">
              <a:extLst>
                <a:ext uri="{FF2B5EF4-FFF2-40B4-BE49-F238E27FC236}">
                  <a16:creationId xmlns:a16="http://schemas.microsoft.com/office/drawing/2014/main" id="{3B3FB321-5168-9543-6DBB-4104649DADC9}"/>
                </a:ext>
              </a:extLst>
            </p:cNvPr>
            <p:cNvCxnSpPr>
              <a:cxnSpLocks/>
              <a:stCxn id="34" idx="2"/>
              <a:endCxn id="11" idx="0"/>
            </p:cNvCxnSpPr>
            <p:nvPr/>
          </p:nvCxnSpPr>
          <p:spPr>
            <a:xfrm>
              <a:off x="1467545" y="2649240"/>
              <a:ext cx="1" cy="3565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箭頭接點 15">
              <a:extLst>
                <a:ext uri="{FF2B5EF4-FFF2-40B4-BE49-F238E27FC236}">
                  <a16:creationId xmlns:a16="http://schemas.microsoft.com/office/drawing/2014/main" id="{12FFAE59-D320-C68D-B965-A1245330F79B}"/>
                </a:ext>
              </a:extLst>
            </p:cNvPr>
            <p:cNvCxnSpPr>
              <a:cxnSpLocks/>
              <a:stCxn id="11" idx="2"/>
              <a:endCxn id="17" idx="0"/>
            </p:cNvCxnSpPr>
            <p:nvPr/>
          </p:nvCxnSpPr>
          <p:spPr>
            <a:xfrm flipH="1">
              <a:off x="1467544" y="3809968"/>
              <a:ext cx="2" cy="3565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5A78754A-BE63-28A9-A147-8DFEC7D1FB15}"/>
                    </a:ext>
                  </a:extLst>
                </p:cNvPr>
                <p:cNvSpPr/>
                <p:nvPr/>
              </p:nvSpPr>
              <p:spPr>
                <a:xfrm>
                  <a:off x="516993" y="4166515"/>
                  <a:ext cx="1901102" cy="724561"/>
                </a:xfrm>
                <a:prstGeom prst="rect">
                  <a:avLst/>
                </a:prstGeom>
                <a:noFill/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5A78754A-BE63-28A9-A147-8DFEC7D1FB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993" y="4166515"/>
                  <a:ext cx="1901102" cy="724561"/>
                </a:xfrm>
                <a:prstGeom prst="rect">
                  <a:avLst/>
                </a:prstGeom>
                <a:blipFill>
                  <a:blip r:embed="rId4"/>
                  <a:stretch>
                    <a:fillRect t="-2439" b="-21951"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線箭頭接點 27">
              <a:extLst>
                <a:ext uri="{FF2B5EF4-FFF2-40B4-BE49-F238E27FC236}">
                  <a16:creationId xmlns:a16="http://schemas.microsoft.com/office/drawing/2014/main" id="{40986850-1491-7EC6-3F91-F065C66A3E65}"/>
                </a:ext>
              </a:extLst>
            </p:cNvPr>
            <p:cNvCxnSpPr>
              <a:cxnSpLocks/>
              <a:stCxn id="17" idx="2"/>
              <a:endCxn id="33" idx="0"/>
            </p:cNvCxnSpPr>
            <p:nvPr/>
          </p:nvCxnSpPr>
          <p:spPr>
            <a:xfrm>
              <a:off x="1467544" y="4891076"/>
              <a:ext cx="0" cy="3901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圓角矩形 32">
              <a:extLst>
                <a:ext uri="{FF2B5EF4-FFF2-40B4-BE49-F238E27FC236}">
                  <a16:creationId xmlns:a16="http://schemas.microsoft.com/office/drawing/2014/main" id="{C4FDC229-FFC8-BFF1-D84E-9A69903C9522}"/>
                </a:ext>
              </a:extLst>
            </p:cNvPr>
            <p:cNvSpPr/>
            <p:nvPr/>
          </p:nvSpPr>
          <p:spPr>
            <a:xfrm>
              <a:off x="344222" y="5281256"/>
              <a:ext cx="2246644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Environment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FEA76B5D-F439-5C8E-8495-A6ABAEC91ECF}"/>
                    </a:ext>
                  </a:extLst>
                </p:cNvPr>
                <p:cNvSpPr/>
                <p:nvPr/>
              </p:nvSpPr>
              <p:spPr>
                <a:xfrm>
                  <a:off x="516993" y="1924679"/>
                  <a:ext cx="1901103" cy="724561"/>
                </a:xfrm>
                <a:prstGeom prst="rect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FEA76B5D-F439-5C8E-8495-A6ABAEC91E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993" y="1924679"/>
                  <a:ext cx="1901103" cy="724561"/>
                </a:xfrm>
                <a:prstGeom prst="rect">
                  <a:avLst/>
                </a:prstGeom>
                <a:blipFill>
                  <a:blip r:embed="rId5"/>
                  <a:stretch>
                    <a:fillRect b="-19048"/>
                  </a:stretch>
                </a:blipFill>
                <a:ln w="285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942762A-005F-E665-EB75-6C6E001CF8C0}"/>
                    </a:ext>
                  </a:extLst>
                </p:cNvPr>
                <p:cNvSpPr/>
                <p:nvPr/>
              </p:nvSpPr>
              <p:spPr>
                <a:xfrm>
                  <a:off x="4474057" y="1924679"/>
                  <a:ext cx="1901103" cy="724561"/>
                </a:xfrm>
                <a:prstGeom prst="rect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E942762A-005F-E665-EB75-6C6E001CF8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4057" y="1924679"/>
                  <a:ext cx="1901103" cy="724561"/>
                </a:xfrm>
                <a:prstGeom prst="rect">
                  <a:avLst/>
                </a:prstGeom>
                <a:blipFill>
                  <a:blip r:embed="rId6"/>
                  <a:stretch>
                    <a:fillRect b="-19048"/>
                  </a:stretch>
                </a:blipFill>
                <a:ln w="285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7" name="矩形 1026">
                  <a:extLst>
                    <a:ext uri="{FF2B5EF4-FFF2-40B4-BE49-F238E27FC236}">
                      <a16:creationId xmlns:a16="http://schemas.microsoft.com/office/drawing/2014/main" id="{5284B69A-545A-0C28-5C52-39F1AAA6E08D}"/>
                    </a:ext>
                  </a:extLst>
                </p:cNvPr>
                <p:cNvSpPr/>
                <p:nvPr/>
              </p:nvSpPr>
              <p:spPr>
                <a:xfrm>
                  <a:off x="4474058" y="4193053"/>
                  <a:ext cx="1901102" cy="724561"/>
                </a:xfrm>
                <a:prstGeom prst="rect">
                  <a:avLst/>
                </a:prstGeom>
                <a:noFill/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27" name="矩形 1026">
                  <a:extLst>
                    <a:ext uri="{FF2B5EF4-FFF2-40B4-BE49-F238E27FC236}">
                      <a16:creationId xmlns:a16="http://schemas.microsoft.com/office/drawing/2014/main" id="{5284B69A-545A-0C28-5C52-39F1AAA6E0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4058" y="4193053"/>
                  <a:ext cx="1901102" cy="724561"/>
                </a:xfrm>
                <a:prstGeom prst="rect">
                  <a:avLst/>
                </a:prstGeom>
                <a:blipFill>
                  <a:blip r:embed="rId7"/>
                  <a:stretch>
                    <a:fillRect l="-719" t="-2381" b="-19048"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8" name="圓角矩形 1027">
              <a:extLst>
                <a:ext uri="{FF2B5EF4-FFF2-40B4-BE49-F238E27FC236}">
                  <a16:creationId xmlns:a16="http://schemas.microsoft.com/office/drawing/2014/main" id="{7EF8D726-AF84-0F39-1C6B-61292F0AB4B4}"/>
                </a:ext>
              </a:extLst>
            </p:cNvPr>
            <p:cNvSpPr/>
            <p:nvPr/>
          </p:nvSpPr>
          <p:spPr>
            <a:xfrm>
              <a:off x="4639035" y="3019056"/>
              <a:ext cx="1571141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Agent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29" name="直線箭頭接點 1028">
              <a:extLst>
                <a:ext uri="{FF2B5EF4-FFF2-40B4-BE49-F238E27FC236}">
                  <a16:creationId xmlns:a16="http://schemas.microsoft.com/office/drawing/2014/main" id="{8CBC73FB-0A7D-CD85-D4AA-14C9BA7125B2}"/>
                </a:ext>
              </a:extLst>
            </p:cNvPr>
            <p:cNvCxnSpPr>
              <a:cxnSpLocks/>
              <a:endCxn id="1028" idx="0"/>
            </p:cNvCxnSpPr>
            <p:nvPr/>
          </p:nvCxnSpPr>
          <p:spPr>
            <a:xfrm>
              <a:off x="5424605" y="2645052"/>
              <a:ext cx="1" cy="3740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直線箭頭接點 1029">
              <a:extLst>
                <a:ext uri="{FF2B5EF4-FFF2-40B4-BE49-F238E27FC236}">
                  <a16:creationId xmlns:a16="http://schemas.microsoft.com/office/drawing/2014/main" id="{7A0A3E2E-B3D8-6618-DA81-3B9EB8296CA8}"/>
                </a:ext>
              </a:extLst>
            </p:cNvPr>
            <p:cNvCxnSpPr>
              <a:cxnSpLocks/>
              <a:stCxn id="1028" idx="2"/>
            </p:cNvCxnSpPr>
            <p:nvPr/>
          </p:nvCxnSpPr>
          <p:spPr>
            <a:xfrm flipH="1">
              <a:off x="5424604" y="3823237"/>
              <a:ext cx="2" cy="3542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1" name="圓角矩形 1030">
              <a:extLst>
                <a:ext uri="{FF2B5EF4-FFF2-40B4-BE49-F238E27FC236}">
                  <a16:creationId xmlns:a16="http://schemas.microsoft.com/office/drawing/2014/main" id="{874385A5-459A-4449-4855-6CABE18D3A8C}"/>
                </a:ext>
              </a:extLst>
            </p:cNvPr>
            <p:cNvSpPr/>
            <p:nvPr/>
          </p:nvSpPr>
          <p:spPr>
            <a:xfrm>
              <a:off x="4301282" y="5287430"/>
              <a:ext cx="2246644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Environment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32" name="直線箭頭接點 1031">
              <a:extLst>
                <a:ext uri="{FF2B5EF4-FFF2-40B4-BE49-F238E27FC236}">
                  <a16:creationId xmlns:a16="http://schemas.microsoft.com/office/drawing/2014/main" id="{DCF77A01-CF22-C54A-821B-D9F37A2EE1D5}"/>
                </a:ext>
              </a:extLst>
            </p:cNvPr>
            <p:cNvCxnSpPr>
              <a:cxnSpLocks/>
              <a:stCxn id="1027" idx="2"/>
              <a:endCxn id="1031" idx="0"/>
            </p:cNvCxnSpPr>
            <p:nvPr/>
          </p:nvCxnSpPr>
          <p:spPr>
            <a:xfrm flipH="1">
              <a:off x="5424604" y="4917614"/>
              <a:ext cx="5" cy="3698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直線箭頭接點 1035">
              <a:extLst>
                <a:ext uri="{FF2B5EF4-FFF2-40B4-BE49-F238E27FC236}">
                  <a16:creationId xmlns:a16="http://schemas.microsoft.com/office/drawing/2014/main" id="{3C9C5508-711B-7E6A-17A5-0144D67864E7}"/>
                </a:ext>
              </a:extLst>
            </p:cNvPr>
            <p:cNvCxnSpPr>
              <a:cxnSpLocks/>
              <a:stCxn id="33" idx="3"/>
              <a:endCxn id="1070" idx="1"/>
            </p:cNvCxnSpPr>
            <p:nvPr/>
          </p:nvCxnSpPr>
          <p:spPr>
            <a:xfrm>
              <a:off x="2590866" y="5683347"/>
              <a:ext cx="389722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肘形接點 1042">
              <a:extLst>
                <a:ext uri="{FF2B5EF4-FFF2-40B4-BE49-F238E27FC236}">
                  <a16:creationId xmlns:a16="http://schemas.microsoft.com/office/drawing/2014/main" id="{CDA1D2F5-7DED-9C3B-E30C-8AA7DC056528}"/>
                </a:ext>
              </a:extLst>
            </p:cNvPr>
            <p:cNvCxnSpPr>
              <a:stCxn id="33" idx="3"/>
              <a:endCxn id="57" idx="1"/>
            </p:cNvCxnSpPr>
            <p:nvPr/>
          </p:nvCxnSpPr>
          <p:spPr>
            <a:xfrm flipV="1">
              <a:off x="2590866" y="2286960"/>
              <a:ext cx="1883191" cy="3396387"/>
            </a:xfrm>
            <a:prstGeom prst="bentConnector3">
              <a:avLst>
                <a:gd name="adj1" fmla="val 800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5" name="矩形 1044">
                  <a:extLst>
                    <a:ext uri="{FF2B5EF4-FFF2-40B4-BE49-F238E27FC236}">
                      <a16:creationId xmlns:a16="http://schemas.microsoft.com/office/drawing/2014/main" id="{0EFD938A-663C-A824-5F0D-6BAB8EB05466}"/>
                    </a:ext>
                  </a:extLst>
                </p:cNvPr>
                <p:cNvSpPr/>
                <p:nvPr/>
              </p:nvSpPr>
              <p:spPr>
                <a:xfrm>
                  <a:off x="6905988" y="5221855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5" name="矩形 1044">
                  <a:extLst>
                    <a:ext uri="{FF2B5EF4-FFF2-40B4-BE49-F238E27FC236}">
                      <a16:creationId xmlns:a16="http://schemas.microsoft.com/office/drawing/2014/main" id="{0EFD938A-663C-A824-5F0D-6BAB8EB054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5988" y="5221855"/>
                  <a:ext cx="1254564" cy="922987"/>
                </a:xfrm>
                <a:prstGeom prst="rect">
                  <a:avLst/>
                </a:prstGeom>
                <a:blipFill>
                  <a:blip r:embed="rId8"/>
                  <a:stretch>
                    <a:fillRect t="-9434" b="-3774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6" name="矩形 1045">
                  <a:extLst>
                    <a:ext uri="{FF2B5EF4-FFF2-40B4-BE49-F238E27FC236}">
                      <a16:creationId xmlns:a16="http://schemas.microsoft.com/office/drawing/2014/main" id="{C17232B3-1B71-A198-2E6F-A8A70C312A78}"/>
                    </a:ext>
                  </a:extLst>
                </p:cNvPr>
                <p:cNvSpPr/>
                <p:nvPr/>
              </p:nvSpPr>
              <p:spPr>
                <a:xfrm>
                  <a:off x="8402003" y="1920491"/>
                  <a:ext cx="1901103" cy="724561"/>
                </a:xfrm>
                <a:prstGeom prst="rect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6" name="矩形 1045">
                  <a:extLst>
                    <a:ext uri="{FF2B5EF4-FFF2-40B4-BE49-F238E27FC236}">
                      <a16:creationId xmlns:a16="http://schemas.microsoft.com/office/drawing/2014/main" id="{C17232B3-1B71-A198-2E6F-A8A70C312A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2003" y="1920491"/>
                  <a:ext cx="1901103" cy="724561"/>
                </a:xfrm>
                <a:prstGeom prst="rect">
                  <a:avLst/>
                </a:prstGeom>
                <a:blipFill>
                  <a:blip r:embed="rId9"/>
                  <a:stretch>
                    <a:fillRect t="-2439" b="-21951"/>
                  </a:stretch>
                </a:blipFill>
                <a:ln w="285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7" name="矩形 1046">
                  <a:extLst>
                    <a:ext uri="{FF2B5EF4-FFF2-40B4-BE49-F238E27FC236}">
                      <a16:creationId xmlns:a16="http://schemas.microsoft.com/office/drawing/2014/main" id="{C1F595E7-2087-9CD2-041C-2854597FFD82}"/>
                    </a:ext>
                  </a:extLst>
                </p:cNvPr>
                <p:cNvSpPr/>
                <p:nvPr/>
              </p:nvSpPr>
              <p:spPr>
                <a:xfrm>
                  <a:off x="8402004" y="4188865"/>
                  <a:ext cx="1901102" cy="724561"/>
                </a:xfrm>
                <a:prstGeom prst="rect">
                  <a:avLst/>
                </a:prstGeom>
                <a:noFill/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400" dirty="0">
                      <a:solidFill>
                        <a:schemeClr val="tx1"/>
                      </a:solidFill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a14:m>
                  <a:endParaRPr kumimoji="1"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7" name="矩形 1046">
                  <a:extLst>
                    <a:ext uri="{FF2B5EF4-FFF2-40B4-BE49-F238E27FC236}">
                      <a16:creationId xmlns:a16="http://schemas.microsoft.com/office/drawing/2014/main" id="{C1F595E7-2087-9CD2-041C-2854597FFD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2004" y="4188865"/>
                  <a:ext cx="1901102" cy="724561"/>
                </a:xfrm>
                <a:prstGeom prst="rect">
                  <a:avLst/>
                </a:prstGeom>
                <a:blipFill>
                  <a:blip r:embed="rId10"/>
                  <a:stretch>
                    <a:fillRect l="-719" t="-2439" b="-21951"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8" name="圓角矩形 1047">
              <a:extLst>
                <a:ext uri="{FF2B5EF4-FFF2-40B4-BE49-F238E27FC236}">
                  <a16:creationId xmlns:a16="http://schemas.microsoft.com/office/drawing/2014/main" id="{B20768B7-794C-4374-DD0F-3D4574776986}"/>
                </a:ext>
              </a:extLst>
            </p:cNvPr>
            <p:cNvSpPr/>
            <p:nvPr/>
          </p:nvSpPr>
          <p:spPr>
            <a:xfrm>
              <a:off x="8566981" y="3014868"/>
              <a:ext cx="1571141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Agent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49" name="直線箭頭接點 1048">
              <a:extLst>
                <a:ext uri="{FF2B5EF4-FFF2-40B4-BE49-F238E27FC236}">
                  <a16:creationId xmlns:a16="http://schemas.microsoft.com/office/drawing/2014/main" id="{CD04541E-44CB-2A88-56BA-58E907ED02F6}"/>
                </a:ext>
              </a:extLst>
            </p:cNvPr>
            <p:cNvCxnSpPr>
              <a:cxnSpLocks/>
              <a:endCxn id="1048" idx="0"/>
            </p:cNvCxnSpPr>
            <p:nvPr/>
          </p:nvCxnSpPr>
          <p:spPr>
            <a:xfrm>
              <a:off x="9352551" y="2640864"/>
              <a:ext cx="1" cy="3740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直線箭頭接點 1049">
              <a:extLst>
                <a:ext uri="{FF2B5EF4-FFF2-40B4-BE49-F238E27FC236}">
                  <a16:creationId xmlns:a16="http://schemas.microsoft.com/office/drawing/2014/main" id="{213EF01F-DFA2-87DE-DAFF-402C045B4CEF}"/>
                </a:ext>
              </a:extLst>
            </p:cNvPr>
            <p:cNvCxnSpPr>
              <a:cxnSpLocks/>
              <a:stCxn id="1048" idx="2"/>
            </p:cNvCxnSpPr>
            <p:nvPr/>
          </p:nvCxnSpPr>
          <p:spPr>
            <a:xfrm flipH="1">
              <a:off x="9352550" y="3819049"/>
              <a:ext cx="2" cy="3542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1" name="圓角矩形 1050">
              <a:extLst>
                <a:ext uri="{FF2B5EF4-FFF2-40B4-BE49-F238E27FC236}">
                  <a16:creationId xmlns:a16="http://schemas.microsoft.com/office/drawing/2014/main" id="{9C163932-61DA-A20B-7715-F2C3B5E947B2}"/>
                </a:ext>
              </a:extLst>
            </p:cNvPr>
            <p:cNvSpPr/>
            <p:nvPr/>
          </p:nvSpPr>
          <p:spPr>
            <a:xfrm>
              <a:off x="8229228" y="5283242"/>
              <a:ext cx="2246644" cy="80418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Environment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52" name="直線箭頭接點 1051">
              <a:extLst>
                <a:ext uri="{FF2B5EF4-FFF2-40B4-BE49-F238E27FC236}">
                  <a16:creationId xmlns:a16="http://schemas.microsoft.com/office/drawing/2014/main" id="{EB40ED2E-A08A-F412-C446-630C8A586B72}"/>
                </a:ext>
              </a:extLst>
            </p:cNvPr>
            <p:cNvCxnSpPr>
              <a:cxnSpLocks/>
              <a:stCxn id="1047" idx="2"/>
              <a:endCxn id="1051" idx="0"/>
            </p:cNvCxnSpPr>
            <p:nvPr/>
          </p:nvCxnSpPr>
          <p:spPr>
            <a:xfrm flipH="1">
              <a:off x="9352550" y="4913426"/>
              <a:ext cx="5" cy="3698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直線箭頭接點 1052">
              <a:extLst>
                <a:ext uri="{FF2B5EF4-FFF2-40B4-BE49-F238E27FC236}">
                  <a16:creationId xmlns:a16="http://schemas.microsoft.com/office/drawing/2014/main" id="{25464985-7A43-9820-DDA0-E58B2C97D607}"/>
                </a:ext>
              </a:extLst>
            </p:cNvPr>
            <p:cNvCxnSpPr>
              <a:cxnSpLocks/>
              <a:stCxn id="1031" idx="3"/>
            </p:cNvCxnSpPr>
            <p:nvPr/>
          </p:nvCxnSpPr>
          <p:spPr>
            <a:xfrm flipV="1">
              <a:off x="6547926" y="5683349"/>
              <a:ext cx="345705" cy="61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肘形接點 1053">
              <a:extLst>
                <a:ext uri="{FF2B5EF4-FFF2-40B4-BE49-F238E27FC236}">
                  <a16:creationId xmlns:a16="http://schemas.microsoft.com/office/drawing/2014/main" id="{2A49F230-1EA6-CAC3-912B-31AC0517DCF7}"/>
                </a:ext>
              </a:extLst>
            </p:cNvPr>
            <p:cNvCxnSpPr>
              <a:cxnSpLocks/>
              <a:stCxn id="1031" idx="3"/>
              <a:endCxn id="1046" idx="1"/>
            </p:cNvCxnSpPr>
            <p:nvPr/>
          </p:nvCxnSpPr>
          <p:spPr>
            <a:xfrm flipV="1">
              <a:off x="6547926" y="2282772"/>
              <a:ext cx="1854077" cy="3406749"/>
            </a:xfrm>
            <a:prstGeom prst="bentConnector3">
              <a:avLst>
                <a:gd name="adj1" fmla="val 734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0" name="矩形 1069">
                  <a:extLst>
                    <a:ext uri="{FF2B5EF4-FFF2-40B4-BE49-F238E27FC236}">
                      <a16:creationId xmlns:a16="http://schemas.microsoft.com/office/drawing/2014/main" id="{3898EDAE-584C-B244-8E14-3F1800E1E926}"/>
                    </a:ext>
                  </a:extLst>
                </p:cNvPr>
                <p:cNvSpPr/>
                <p:nvPr/>
              </p:nvSpPr>
              <p:spPr>
                <a:xfrm>
                  <a:off x="2980588" y="5221854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0" name="矩形 1069">
                  <a:extLst>
                    <a:ext uri="{FF2B5EF4-FFF2-40B4-BE49-F238E27FC236}">
                      <a16:creationId xmlns:a16="http://schemas.microsoft.com/office/drawing/2014/main" id="{3898EDAE-584C-B244-8E14-3F1800E1E9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0588" y="5221854"/>
                  <a:ext cx="1254564" cy="922987"/>
                </a:xfrm>
                <a:prstGeom prst="rect">
                  <a:avLst/>
                </a:prstGeom>
                <a:blipFill>
                  <a:blip r:embed="rId11"/>
                  <a:stretch>
                    <a:fillRect t="-9434" b="-3774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6" name="矩形 1075">
                  <a:extLst>
                    <a:ext uri="{FF2B5EF4-FFF2-40B4-BE49-F238E27FC236}">
                      <a16:creationId xmlns:a16="http://schemas.microsoft.com/office/drawing/2014/main" id="{FA22442F-3036-79E5-DEC9-96974117DCD5}"/>
                    </a:ext>
                  </a:extLst>
                </p:cNvPr>
                <p:cNvSpPr/>
                <p:nvPr/>
              </p:nvSpPr>
              <p:spPr>
                <a:xfrm>
                  <a:off x="10799136" y="5221852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6" name="矩形 1075">
                  <a:extLst>
                    <a:ext uri="{FF2B5EF4-FFF2-40B4-BE49-F238E27FC236}">
                      <a16:creationId xmlns:a16="http://schemas.microsoft.com/office/drawing/2014/main" id="{FA22442F-3036-79E5-DEC9-96974117DC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9136" y="5221852"/>
                  <a:ext cx="1254564" cy="922987"/>
                </a:xfrm>
                <a:prstGeom prst="rect">
                  <a:avLst/>
                </a:prstGeom>
                <a:blipFill>
                  <a:blip r:embed="rId12"/>
                  <a:stretch>
                    <a:fillRect t="-9434" b="-3774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9" name="直線箭頭接點 1078">
              <a:extLst>
                <a:ext uri="{FF2B5EF4-FFF2-40B4-BE49-F238E27FC236}">
                  <a16:creationId xmlns:a16="http://schemas.microsoft.com/office/drawing/2014/main" id="{617D9C65-9511-CCF2-F5F3-E4FD8EE66E56}"/>
                </a:ext>
              </a:extLst>
            </p:cNvPr>
            <p:cNvCxnSpPr>
              <a:cxnSpLocks/>
              <a:stCxn id="1051" idx="3"/>
              <a:endCxn id="1076" idx="1"/>
            </p:cNvCxnSpPr>
            <p:nvPr/>
          </p:nvCxnSpPr>
          <p:spPr>
            <a:xfrm flipV="1">
              <a:off x="10475872" y="5683346"/>
              <a:ext cx="323264" cy="19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肘形接點 1083">
              <a:extLst>
                <a:ext uri="{FF2B5EF4-FFF2-40B4-BE49-F238E27FC236}">
                  <a16:creationId xmlns:a16="http://schemas.microsoft.com/office/drawing/2014/main" id="{6B167792-10CA-81CE-229E-E34969DC5AEC}"/>
                </a:ext>
              </a:extLst>
            </p:cNvPr>
            <p:cNvCxnSpPr>
              <a:cxnSpLocks/>
              <a:stCxn id="33" idx="1"/>
              <a:endCxn id="34" idx="1"/>
            </p:cNvCxnSpPr>
            <p:nvPr/>
          </p:nvCxnSpPr>
          <p:spPr>
            <a:xfrm rot="10800000" flipH="1">
              <a:off x="344221" y="2286961"/>
              <a:ext cx="172771" cy="3396387"/>
            </a:xfrm>
            <a:prstGeom prst="bentConnector3">
              <a:avLst>
                <a:gd name="adj1" fmla="val -82249"/>
              </a:avLst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A40A4BD-66E4-CAB9-0A87-560B722409AC}"/>
                  </a:ext>
                </a:extLst>
              </p:cNvPr>
              <p:cNvSpPr txBox="1"/>
              <p:nvPr/>
            </p:nvSpPr>
            <p:spPr>
              <a:xfrm>
                <a:off x="1076613" y="5063671"/>
                <a:ext cx="10304604" cy="1303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A40A4BD-66E4-CAB9-0A87-560B72240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613" y="5063671"/>
                <a:ext cx="10304604" cy="1303627"/>
              </a:xfrm>
              <a:prstGeom prst="rect">
                <a:avLst/>
              </a:prstGeom>
              <a:blipFill>
                <a:blip r:embed="rId13"/>
                <a:stretch>
                  <a:fillRect t="-100000" b="-15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F2243D23-A47A-787D-97F9-74BA8CA5291E}"/>
              </a:ext>
            </a:extLst>
          </p:cNvPr>
          <p:cNvCxnSpPr>
            <a:cxnSpLocks/>
          </p:cNvCxnSpPr>
          <p:nvPr/>
        </p:nvCxnSpPr>
        <p:spPr>
          <a:xfrm>
            <a:off x="2466594" y="5758408"/>
            <a:ext cx="109373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199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E73FD-75E9-856D-C2DF-17258EE3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Log Derivative Trick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5620445-63ED-EFBA-CA1F-973B3C99D2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142" y="1973219"/>
                <a:ext cx="3512457" cy="633306"/>
              </a:xfrm>
            </p:spPr>
            <p:txBody>
              <a:bodyPr>
                <a:normAutofit/>
              </a:bodyPr>
              <a:lstStyle/>
              <a:p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假設有一</a:t>
                </a:r>
                <a:r>
                  <a:rPr kumimoji="1" lang="en-US" altLang="zh-TW" sz="2400" dirty="0"/>
                  <a:t>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5620445-63ED-EFBA-CA1F-973B3C99D2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142" y="1973219"/>
                <a:ext cx="3512457" cy="633306"/>
              </a:xfrm>
              <a:blipFill>
                <a:blip r:embed="rId2"/>
                <a:stretch>
                  <a:fillRect l="-2888" t="-137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D8B36D-1CF0-CD14-8116-BCC732B1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3F6A236D-F5B0-A033-629B-2D2D001D75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08503" y="3053926"/>
                <a:ext cx="4091577" cy="75014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sz="280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800" b="0" i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Sup>
                          <m:sSubSup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TW" altLang="en-US" sz="2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3F6A236D-F5B0-A033-629B-2D2D001D7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503" y="3053926"/>
                <a:ext cx="4091577" cy="750147"/>
              </a:xfrm>
              <a:prstGeom prst="rect">
                <a:avLst/>
              </a:prstGeom>
              <a:blipFill>
                <a:blip r:embed="rId3"/>
                <a:stretch>
                  <a:fillRect l="-5263" t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3A719587-E293-F0E0-E5E9-DC8DBBBB84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92662" y="3066719"/>
                <a:ext cx="3512457" cy="63330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Sup>
                          <m:sSubSup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TW" altLang="en-US" sz="2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3A719587-E293-F0E0-E5E9-DC8DBBBB8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662" y="3066719"/>
                <a:ext cx="3512457" cy="633307"/>
              </a:xfrm>
              <a:prstGeom prst="rect">
                <a:avLst/>
              </a:prstGeom>
              <a:blipFill>
                <a:blip r:embed="rId4"/>
                <a:stretch>
                  <a:fillRect l="-5755" t="-15686"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向右箭號 6">
            <a:extLst>
              <a:ext uri="{FF2B5EF4-FFF2-40B4-BE49-F238E27FC236}">
                <a16:creationId xmlns:a16="http://schemas.microsoft.com/office/drawing/2014/main" id="{19159287-3974-5AD3-F8DF-5FB3EE5A2059}"/>
              </a:ext>
            </a:extLst>
          </p:cNvPr>
          <p:cNvSpPr/>
          <p:nvPr/>
        </p:nvSpPr>
        <p:spPr>
          <a:xfrm>
            <a:off x="5862320" y="3190240"/>
            <a:ext cx="457200" cy="238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ADD11AD-C949-0D69-069A-4CAF1A8C6F61}"/>
                  </a:ext>
                </a:extLst>
              </p:cNvPr>
              <p:cNvSpPr txBox="1"/>
              <p:nvPr/>
            </p:nvSpPr>
            <p:spPr>
              <a:xfrm>
                <a:off x="3397069" y="2802872"/>
                <a:ext cx="2103120" cy="978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ADD11AD-C949-0D69-069A-4CAF1A8C6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069" y="2802872"/>
                <a:ext cx="2103120" cy="978217"/>
              </a:xfrm>
              <a:prstGeom prst="rect">
                <a:avLst/>
              </a:prstGeom>
              <a:blipFill>
                <a:blip r:embed="rId5"/>
                <a:stretch>
                  <a:fillRect r="-3614" b="-10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890DDBA-9E73-D40B-BF20-55EE05C758C6}"/>
                  </a:ext>
                </a:extLst>
              </p:cNvPr>
              <p:cNvSpPr txBox="1"/>
              <p:nvPr/>
            </p:nvSpPr>
            <p:spPr>
              <a:xfrm>
                <a:off x="917301" y="4292116"/>
                <a:ext cx="38578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function</a:t>
                </a:r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取</a:t>
                </a:r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log</a:t>
                </a:r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的一次微分 </a:t>
                </a:r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(</a:t>
                </a:r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梯度</a:t>
                </a:r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)</a:t>
                </a:r>
              </a:p>
              <a:p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對照上一頁：</a:t>
                </a: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m:rPr>
                        <m:sty m:val="p"/>
                      </m:rPr>
                      <a:rPr lang="en-US" altLang="zh-TW" sz="20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TW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TW" altLang="zh-TW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TW" altLang="en-US" sz="2000" dirty="0">
                  <a:solidFill>
                    <a:srgbClr val="FF0000"/>
                  </a:solidFill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890DDBA-9E73-D40B-BF20-55EE05C75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301" y="4292116"/>
                <a:ext cx="3857899" cy="707886"/>
              </a:xfrm>
              <a:prstGeom prst="rect">
                <a:avLst/>
              </a:prstGeom>
              <a:blipFill>
                <a:blip r:embed="rId6"/>
                <a:stretch>
                  <a:fillRect l="-1645" t="-3509" b="-140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86450E27-4160-3679-0224-F43F30ED26F6}"/>
              </a:ext>
            </a:extLst>
          </p:cNvPr>
          <p:cNvCxnSpPr/>
          <p:nvPr/>
        </p:nvCxnSpPr>
        <p:spPr>
          <a:xfrm>
            <a:off x="1892662" y="3540503"/>
            <a:ext cx="150440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766571F-BEDD-5EE8-C9A8-ADD8EC7F6518}"/>
                  </a:ext>
                </a:extLst>
              </p:cNvPr>
              <p:cNvSpPr txBox="1"/>
              <p:nvPr/>
            </p:nvSpPr>
            <p:spPr>
              <a:xfrm>
                <a:off x="5811522" y="4292116"/>
                <a:ext cx="32105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function</a:t>
                </a:r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的一次微分 </a:t>
                </a:r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(</a:t>
                </a:r>
                <a:r>
                  <a:rPr kumimoji="1"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梯度</a:t>
                </a:r>
                <a:r>
                  <a:rPr kumimoji="1"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)</a:t>
                </a:r>
              </a:p>
              <a:p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對照上一頁：</a:t>
                </a: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zh-TW" altLang="zh-TW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TW" altLang="en-US" sz="2000" dirty="0">
                  <a:solidFill>
                    <a:srgbClr val="FF0000"/>
                  </a:solidFill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766571F-BEDD-5EE8-C9A8-ADD8EC7F6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522" y="4292116"/>
                <a:ext cx="3210560" cy="707886"/>
              </a:xfrm>
              <a:prstGeom prst="rect">
                <a:avLst/>
              </a:prstGeom>
              <a:blipFill>
                <a:blip r:embed="rId7"/>
                <a:stretch>
                  <a:fillRect l="-1969" t="-3509" b="-140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05A63C8F-FB74-D61B-4EF6-3F9FDD797724}"/>
              </a:ext>
            </a:extLst>
          </p:cNvPr>
          <p:cNvCxnSpPr/>
          <p:nvPr/>
        </p:nvCxnSpPr>
        <p:spPr>
          <a:xfrm flipV="1">
            <a:off x="2644865" y="3700026"/>
            <a:ext cx="0" cy="4858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B8EB49FE-754B-382D-CD74-42E0F8F66AA7}"/>
              </a:ext>
            </a:extLst>
          </p:cNvPr>
          <p:cNvCxnSpPr/>
          <p:nvPr/>
        </p:nvCxnSpPr>
        <p:spPr>
          <a:xfrm flipV="1">
            <a:off x="7195681" y="3700026"/>
            <a:ext cx="0" cy="4858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8DC72884-3F8A-A8AA-0A87-CD83B0E07437}"/>
              </a:ext>
            </a:extLst>
          </p:cNvPr>
          <p:cNvCxnSpPr>
            <a:cxnSpLocks/>
          </p:cNvCxnSpPr>
          <p:nvPr/>
        </p:nvCxnSpPr>
        <p:spPr>
          <a:xfrm>
            <a:off x="6705238" y="3540503"/>
            <a:ext cx="97572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08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9" grpId="0"/>
      <p:bldP spid="11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C0893-4E98-1BBB-513F-9F018BBD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如何訓練一個</a:t>
            </a:r>
            <a:r>
              <a:rPr kumimoji="1" lang="en-US" altLang="zh-TW" dirty="0">
                <a:ea typeface="Microsoft JhengHei" panose="020B0604030504040204" pitchFamily="34" charset="-120"/>
              </a:rPr>
              <a:t>RL</a:t>
            </a:r>
            <a:r>
              <a:rPr kumimoji="1" lang="zh-TW" altLang="en-US" dirty="0">
                <a:ea typeface="Microsoft JhengHei" panose="020B0604030504040204" pitchFamily="34" charset="-120"/>
              </a:rPr>
              <a:t>模型？</a:t>
            </a:r>
            <a:r>
              <a:rPr kumimoji="1" lang="en-US" altLang="zh-TW" dirty="0">
                <a:ea typeface="Microsoft JhengHei" panose="020B0604030504040204" pitchFamily="34" charset="-120"/>
              </a:rPr>
              <a:t>(3-2)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5AD1E0-6F05-44B7-0D03-AA115D51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AEFA5BC-D03A-48F6-9FAF-C20FC78EF9BA}"/>
              </a:ext>
            </a:extLst>
          </p:cNvPr>
          <p:cNvSpPr txBox="1"/>
          <p:nvPr/>
        </p:nvSpPr>
        <p:spPr>
          <a:xfrm>
            <a:off x="653143" y="1511659"/>
            <a:ext cx="538066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400" kern="100" dirty="0">
                <a:solidFill>
                  <a:srgbClr val="FF0000"/>
                </a:solidFill>
                <a:ea typeface="Microsoft JhengHei" panose="020B0604030504040204" pitchFamily="34" charset="-120"/>
                <a:cs typeface="Times New Roman" panose="02020603050405020304" pitchFamily="18" charset="0"/>
              </a:rPr>
              <a:t>Policy gradient</a:t>
            </a:r>
            <a:r>
              <a:rPr lang="zh-TW" altLang="en-US" sz="2400" kern="100" dirty="0">
                <a:solidFill>
                  <a:srgbClr val="FF0000"/>
                </a:solidFill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and gradient descent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4841290-011A-B520-419C-C403DA8E7C01}"/>
              </a:ext>
            </a:extLst>
          </p:cNvPr>
          <p:cNvSpPr txBox="1"/>
          <p:nvPr/>
        </p:nvSpPr>
        <p:spPr>
          <a:xfrm>
            <a:off x="718188" y="2358140"/>
            <a:ext cx="5426529" cy="58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Step3: 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更新模型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120E413-5341-F237-F825-EE1A16EB47D1}"/>
                  </a:ext>
                </a:extLst>
              </p:cNvPr>
              <p:cNvSpPr txBox="1"/>
              <p:nvPr/>
            </p:nvSpPr>
            <p:spPr>
              <a:xfrm>
                <a:off x="5567579" y="2548763"/>
                <a:ext cx="5259460" cy="564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m:rPr>
                              <m:sty m:val="p"/>
                            </m:rPr>
                            <a:rPr lang="en-US" altLang="zh-TW" sz="2800" i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TW" altLang="zh-TW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120E413-5341-F237-F825-EE1A16EB4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579" y="2548763"/>
                <a:ext cx="5259460" cy="564706"/>
              </a:xfrm>
              <a:prstGeom prst="rect">
                <a:avLst/>
              </a:prstGeom>
              <a:blipFill>
                <a:blip r:embed="rId3"/>
                <a:stretch>
                  <a:fillRect l="-723" b="-13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9C8482A-332A-7209-BF55-99FB16703F67}"/>
                  </a:ext>
                </a:extLst>
              </p:cNvPr>
              <p:cNvSpPr txBox="1"/>
              <p:nvPr/>
            </p:nvSpPr>
            <p:spPr>
              <a:xfrm>
                <a:off x="653143" y="3069367"/>
                <a:ext cx="4372583" cy="130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9C8482A-332A-7209-BF55-99FB16703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3069367"/>
                <a:ext cx="4372583" cy="1303883"/>
              </a:xfrm>
              <a:prstGeom prst="rect">
                <a:avLst/>
              </a:prstGeom>
              <a:blipFill>
                <a:blip r:embed="rId4"/>
                <a:stretch>
                  <a:fillRect t="-100000" b="-15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4E93D84-64AE-3985-025D-15926B6753DC}"/>
                  </a:ext>
                </a:extLst>
              </p:cNvPr>
              <p:cNvSpPr txBox="1"/>
              <p:nvPr/>
            </p:nvSpPr>
            <p:spPr>
              <a:xfrm>
                <a:off x="805252" y="4184126"/>
                <a:ext cx="5076449" cy="130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TW" altLang="en-US" sz="2800">
                          <a:latin typeface="Cambria Math" panose="02040503050406030204" pitchFamily="18" charset="0"/>
                        </a:rPr>
                        <m:t>log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4E93D84-64AE-3985-025D-15926B675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52" y="4184126"/>
                <a:ext cx="5076449" cy="1303883"/>
              </a:xfrm>
              <a:prstGeom prst="rect">
                <a:avLst/>
              </a:prstGeom>
              <a:blipFill>
                <a:blip r:embed="rId5"/>
                <a:stretch>
                  <a:fillRect t="-100962" b="-15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3DD47D5-8CBA-CF07-2774-5A30487E9DCB}"/>
                  </a:ext>
                </a:extLst>
              </p:cNvPr>
              <p:cNvSpPr txBox="1"/>
              <p:nvPr/>
            </p:nvSpPr>
            <p:spPr>
              <a:xfrm>
                <a:off x="2349133" y="5468338"/>
                <a:ext cx="3409641" cy="1312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unc>
                            <m:func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3DD47D5-8CBA-CF07-2774-5A30487E9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133" y="5468338"/>
                <a:ext cx="3409641" cy="1312347"/>
              </a:xfrm>
              <a:prstGeom prst="rect">
                <a:avLst/>
              </a:prstGeom>
              <a:blipFill>
                <a:blip r:embed="rId6"/>
                <a:stretch>
                  <a:fillRect l="-19630" t="-100962" b="-15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6AC67478-1BF4-F882-E7AA-5C2483D402CD}"/>
                  </a:ext>
                </a:extLst>
              </p:cNvPr>
              <p:cNvSpPr txBox="1"/>
              <p:nvPr/>
            </p:nvSpPr>
            <p:spPr>
              <a:xfrm>
                <a:off x="6096000" y="3392999"/>
                <a:ext cx="5917660" cy="130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𝛻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zh-TW" altLang="zh-TW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6AC67478-1BF4-F882-E7AA-5C2483D40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392999"/>
                <a:ext cx="5917660" cy="1303883"/>
              </a:xfrm>
              <a:prstGeom prst="rect">
                <a:avLst/>
              </a:prstGeom>
              <a:blipFill>
                <a:blip r:embed="rId7"/>
                <a:stretch>
                  <a:fillRect t="-101942" b="-1601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BB6E0150-5725-5B51-7CC0-F482F824D55F}"/>
                  </a:ext>
                </a:extLst>
              </p:cNvPr>
              <p:cNvSpPr txBox="1"/>
              <p:nvPr/>
            </p:nvSpPr>
            <p:spPr>
              <a:xfrm>
                <a:off x="6096000" y="4704110"/>
                <a:ext cx="5917660" cy="130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func>
                                <m:func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zh-TW" altLang="zh-TW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BB6E0150-5725-5B51-7CC0-F482F824D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704110"/>
                <a:ext cx="5917660" cy="1303883"/>
              </a:xfrm>
              <a:prstGeom prst="rect">
                <a:avLst/>
              </a:prstGeom>
              <a:blipFill>
                <a:blip r:embed="rId8"/>
                <a:stretch>
                  <a:fillRect t="-100962" b="-15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EA22531E-0731-785C-1195-90D43FD7322B}"/>
              </a:ext>
            </a:extLst>
          </p:cNvPr>
          <p:cNvSpPr txBox="1"/>
          <p:nvPr/>
        </p:nvSpPr>
        <p:spPr>
          <a:xfrm>
            <a:off x="3022118" y="2984833"/>
            <a:ext cx="2217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帶入動作和狀態</a:t>
            </a:r>
          </a:p>
        </p:txBody>
      </p:sp>
    </p:spTree>
    <p:extLst>
      <p:ext uri="{BB962C8B-B14F-4D97-AF65-F5344CB8AC3E}">
        <p14:creationId xmlns:p14="http://schemas.microsoft.com/office/powerpoint/2010/main" val="342388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8" grpId="0"/>
      <p:bldP spid="19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B07FDF-8221-6EB6-9A0B-80C81141F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Why Log Derivative Trick?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4ABD57-9601-FC67-CDE0-0516E19CA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959" y="1845734"/>
            <a:ext cx="1091837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還沒有使用</a:t>
            </a:r>
            <a:r>
              <a:rPr kumimoji="1"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kumimoji="1" lang="en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log derivative trick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0EDDB7-7E37-D029-90E3-6E8B8F699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FD57C85-311E-C0D8-08FB-D0447E049CF4}"/>
                  </a:ext>
                </a:extLst>
              </p:cNvPr>
              <p:cNvSpPr txBox="1"/>
              <p:nvPr/>
            </p:nvSpPr>
            <p:spPr>
              <a:xfrm>
                <a:off x="623959" y="2437039"/>
                <a:ext cx="4032153" cy="1137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)⋅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FD57C85-311E-C0D8-08FB-D0447E049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59" y="2437039"/>
                <a:ext cx="4032153" cy="1137876"/>
              </a:xfrm>
              <a:prstGeom prst="rect">
                <a:avLst/>
              </a:prstGeom>
              <a:blipFill>
                <a:blip r:embed="rId2"/>
                <a:stretch>
                  <a:fillRect l="-9404" t="-131111" b="-18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98CDCA7-A74F-37B2-6191-B10707B26B07}"/>
                  </a:ext>
                </a:extLst>
              </p:cNvPr>
              <p:cNvSpPr txBox="1"/>
              <p:nvPr/>
            </p:nvSpPr>
            <p:spPr>
              <a:xfrm>
                <a:off x="623959" y="3378090"/>
                <a:ext cx="10757402" cy="130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×…×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98CDCA7-A74F-37B2-6191-B10707B26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59" y="3378090"/>
                <a:ext cx="10757402" cy="1303883"/>
              </a:xfrm>
              <a:prstGeom prst="rect">
                <a:avLst/>
              </a:prstGeom>
              <a:blipFill>
                <a:blip r:embed="rId3"/>
                <a:stretch>
                  <a:fillRect t="-100000" b="-15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E1B5962-D919-5014-E186-59C6B70D171B}"/>
                  </a:ext>
                </a:extLst>
              </p:cNvPr>
              <p:cNvSpPr txBox="1"/>
              <p:nvPr/>
            </p:nvSpPr>
            <p:spPr>
              <a:xfrm>
                <a:off x="623959" y="4749061"/>
                <a:ext cx="11428610" cy="1312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func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sz="2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sz="2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sz="2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sz="2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×…×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unc>
                            <m:func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E1B5962-D919-5014-E186-59C6B70D1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59" y="4749061"/>
                <a:ext cx="11428610" cy="1312347"/>
              </a:xfrm>
              <a:prstGeom prst="rect">
                <a:avLst/>
              </a:prstGeom>
              <a:blipFill>
                <a:blip r:embed="rId4"/>
                <a:stretch>
                  <a:fillRect l="-555" t="-99048" b="-1552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16638F7C-D0B7-1620-09D4-A452CA6E80E1}"/>
              </a:ext>
            </a:extLst>
          </p:cNvPr>
          <p:cNvSpPr txBox="1"/>
          <p:nvPr/>
        </p:nvSpPr>
        <p:spPr>
          <a:xfrm>
            <a:off x="9241970" y="6080022"/>
            <a:ext cx="1798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相加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-&gt; easier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627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C0893-4E98-1BBB-513F-9F018BBD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如何訓練一個</a:t>
            </a:r>
            <a:r>
              <a:rPr kumimoji="1" lang="en-US" altLang="zh-TW" dirty="0">
                <a:ea typeface="Microsoft JhengHei" panose="020B0604030504040204" pitchFamily="34" charset="-120"/>
              </a:rPr>
              <a:t>RL</a:t>
            </a:r>
            <a:r>
              <a:rPr kumimoji="1" lang="zh-TW" altLang="en-US" dirty="0">
                <a:ea typeface="Microsoft JhengHei" panose="020B0604030504040204" pitchFamily="34" charset="-120"/>
              </a:rPr>
              <a:t>模型？</a:t>
            </a:r>
            <a:r>
              <a:rPr kumimoji="1" lang="en-US" altLang="zh-TW" dirty="0">
                <a:ea typeface="Microsoft JhengHei" panose="020B0604030504040204" pitchFamily="34" charset="-120"/>
              </a:rPr>
              <a:t>(3-3)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5AD1E0-6F05-44B7-0D03-AA115D51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AEFA5BC-D03A-48F6-9FAF-C20FC78EF9BA}"/>
              </a:ext>
            </a:extLst>
          </p:cNvPr>
          <p:cNvSpPr txBox="1"/>
          <p:nvPr/>
        </p:nvSpPr>
        <p:spPr>
          <a:xfrm>
            <a:off x="653143" y="1511659"/>
            <a:ext cx="538066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Policy gradient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and </a:t>
            </a:r>
            <a:r>
              <a:rPr lang="en-US" altLang="zh-TW" sz="2400" kern="100" dirty="0">
                <a:solidFill>
                  <a:srgbClr val="FF0000"/>
                </a:solidFill>
                <a:ea typeface="Microsoft JhengHei" panose="020B0604030504040204" pitchFamily="34" charset="-120"/>
                <a:cs typeface="Times New Roman" panose="02020603050405020304" pitchFamily="18" charset="0"/>
              </a:rPr>
              <a:t>gradient descent</a:t>
            </a:r>
            <a:endParaRPr lang="zh-TW" altLang="zh-TW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4841290-011A-B520-419C-C403DA8E7C01}"/>
              </a:ext>
            </a:extLst>
          </p:cNvPr>
          <p:cNvSpPr txBox="1"/>
          <p:nvPr/>
        </p:nvSpPr>
        <p:spPr>
          <a:xfrm>
            <a:off x="718188" y="2358140"/>
            <a:ext cx="5426529" cy="58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Step3: 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更新模型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395DAA1-FDBB-4B40-C4BB-F6A7D1CC7EBC}"/>
                  </a:ext>
                </a:extLst>
              </p:cNvPr>
              <p:cNvSpPr txBox="1"/>
              <p:nvPr/>
            </p:nvSpPr>
            <p:spPr>
              <a:xfrm>
                <a:off x="3091647" y="2777058"/>
                <a:ext cx="7010284" cy="130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func>
                                <m:func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zh-TW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395DAA1-FDBB-4B40-C4BB-F6A7D1CC7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647" y="2777058"/>
                <a:ext cx="7010284" cy="1303883"/>
              </a:xfrm>
              <a:prstGeom prst="rect">
                <a:avLst/>
              </a:prstGeom>
              <a:blipFill>
                <a:blip r:embed="rId3"/>
                <a:stretch>
                  <a:fillRect l="-542" t="-100000" b="-15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F6D511B-8ED0-F9BA-130D-28BE378DECBD}"/>
                  </a:ext>
                </a:extLst>
              </p:cNvPr>
              <p:cNvSpPr txBox="1"/>
              <p:nvPr/>
            </p:nvSpPr>
            <p:spPr>
              <a:xfrm>
                <a:off x="1334533" y="4689988"/>
                <a:ext cx="4020064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F6D511B-8ED0-F9BA-130D-28BE378DE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533" y="4689988"/>
                <a:ext cx="4020064" cy="984372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0FCA768-D064-209C-A82A-7C3B3936EDA1}"/>
                  </a:ext>
                </a:extLst>
              </p:cNvPr>
              <p:cNvSpPr txBox="1"/>
              <p:nvPr/>
            </p:nvSpPr>
            <p:spPr>
              <a:xfrm>
                <a:off x="6565411" y="4689988"/>
                <a:ext cx="3534033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0FCA768-D064-209C-A82A-7C3B3936E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411" y="4689988"/>
                <a:ext cx="3534033" cy="984372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DE0D3508-CCF7-A0F0-5321-AFACE07D8CDA}"/>
              </a:ext>
            </a:extLst>
          </p:cNvPr>
          <p:cNvSpPr txBox="1"/>
          <p:nvPr/>
        </p:nvSpPr>
        <p:spPr>
          <a:xfrm>
            <a:off x="1573430" y="4234249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6413987-D754-FE0E-EC81-2AF35650F9FB}"/>
              </a:ext>
            </a:extLst>
          </p:cNvPr>
          <p:cNvSpPr txBox="1"/>
          <p:nvPr/>
        </p:nvSpPr>
        <p:spPr>
          <a:xfrm>
            <a:off x="6652055" y="4234249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D395232-BC76-19A0-3D3E-CA3C4DAB96F8}"/>
                  </a:ext>
                </a:extLst>
              </p:cNvPr>
              <p:cNvSpPr txBox="1"/>
              <p:nvPr/>
            </p:nvSpPr>
            <p:spPr>
              <a:xfrm>
                <a:off x="2451579" y="5969475"/>
                <a:ext cx="7288842" cy="586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4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代表</a:t>
                </a:r>
                <a:r>
                  <a:rPr lang="en-US" altLang="zh-TW" sz="2400" dirty="0">
                    <a:solidFill>
                      <a:schemeClr val="tx1"/>
                    </a:solidFill>
                  </a:rPr>
                  <a:t> learning rate</a:t>
                </a:r>
                <a:endParaRPr kumimoji="1" lang="en-US" altLang="zh-TW" sz="24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D395232-BC76-19A0-3D3E-CA3C4DAB9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579" y="5969475"/>
                <a:ext cx="7288842" cy="586827"/>
              </a:xfrm>
              <a:prstGeom prst="rect">
                <a:avLst/>
              </a:prstGeom>
              <a:blipFill>
                <a:blip r:embed="rId6"/>
                <a:stretch>
                  <a:fillRect l="-1042" b="-208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29AE7B4E-7613-8236-EBB4-CC9BE387641B}"/>
              </a:ext>
            </a:extLst>
          </p:cNvPr>
          <p:cNvSpPr/>
          <p:nvPr/>
        </p:nvSpPr>
        <p:spPr>
          <a:xfrm>
            <a:off x="3993716" y="4634359"/>
            <a:ext cx="1103577" cy="11146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3542A9-492B-5546-B5AE-1358971B93FA}"/>
              </a:ext>
            </a:extLst>
          </p:cNvPr>
          <p:cNvSpPr/>
          <p:nvPr/>
        </p:nvSpPr>
        <p:spPr>
          <a:xfrm>
            <a:off x="8963204" y="4634359"/>
            <a:ext cx="1017376" cy="11146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822566CF-75CA-5219-010E-0878CD512CD3}"/>
                  </a:ext>
                </a:extLst>
              </p:cNvPr>
              <p:cNvSpPr txBox="1"/>
              <p:nvPr/>
            </p:nvSpPr>
            <p:spPr>
              <a:xfrm>
                <a:off x="4484180" y="4292842"/>
                <a:ext cx="5496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2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822566CF-75CA-5219-010E-0878CD512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4180" y="4292842"/>
                <a:ext cx="549613" cy="400110"/>
              </a:xfrm>
              <a:prstGeom prst="rect">
                <a:avLst/>
              </a:prstGeom>
              <a:blipFill>
                <a:blip r:embed="rId7"/>
                <a:stretch>
                  <a:fillRect r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F8AE0FA3-404C-BCF2-66D7-0FA08786D60C}"/>
                  </a:ext>
                </a:extLst>
              </p:cNvPr>
              <p:cNvSpPr txBox="1"/>
              <p:nvPr/>
            </p:nvSpPr>
            <p:spPr>
              <a:xfrm>
                <a:off x="9359615" y="4285601"/>
                <a:ext cx="5496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2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F8AE0FA3-404C-BCF2-66D7-0FA08786D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615" y="4285601"/>
                <a:ext cx="549613" cy="400110"/>
              </a:xfrm>
              <a:prstGeom prst="rect">
                <a:avLst/>
              </a:prstGeom>
              <a:blipFill>
                <a:blip r:embed="rId8"/>
                <a:stretch>
                  <a:fillRect r="-1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04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 animBg="1"/>
      <p:bldP spid="22" grpId="0" animBg="1"/>
      <p:bldP spid="24" grpId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728D40A-CD4C-B2EA-8FC6-B8D9CEBE1C33}"/>
                  </a:ext>
                </a:extLst>
              </p:cNvPr>
              <p:cNvSpPr txBox="1"/>
              <p:nvPr/>
            </p:nvSpPr>
            <p:spPr>
              <a:xfrm>
                <a:off x="666420" y="1775604"/>
                <a:ext cx="7010284" cy="130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func>
                                <m:func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zh-TW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728D40A-CD4C-B2EA-8FC6-B8D9CEBE1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20" y="1775604"/>
                <a:ext cx="7010284" cy="1303883"/>
              </a:xfrm>
              <a:prstGeom prst="rect">
                <a:avLst/>
              </a:prstGeom>
              <a:blipFill>
                <a:blip r:embed="rId2"/>
                <a:stretch>
                  <a:fillRect l="-542" t="-100000" b="-15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C7DDF8BB-0F68-9E0D-5AC7-29805B96532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zh-TW" altLang="en-US" dirty="0">
                    <a:ea typeface="Microsoft JhengHei" panose="020B0604030504040204" pitchFamily="34" charset="-120"/>
                  </a:rPr>
                  <a:t>把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4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4800" b="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4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en-US" altLang="zh-TW" dirty="0">
                    <a:ea typeface="Microsoft JhengHei" panose="020B0604030504040204" pitchFamily="34" charset="-120"/>
                  </a:rPr>
                  <a:t> (Cumulated reward) </a:t>
                </a:r>
                <a:r>
                  <a:rPr kumimoji="1" lang="zh-TW" altLang="en-US" dirty="0">
                    <a:ea typeface="Microsoft JhengHei" panose="020B0604030504040204" pitchFamily="34" charset="-120"/>
                  </a:rPr>
                  <a:t>考慮進去</a:t>
                </a: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C7DDF8BB-0F68-9E0D-5AC7-29805B9653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555" t="-9639" b="-16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D42656-EDAB-997C-B541-912F33EC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5F81D72-B895-A817-FF4F-9067C7AE5944}"/>
                  </a:ext>
                </a:extLst>
              </p:cNvPr>
              <p:cNvSpPr txBox="1"/>
              <p:nvPr/>
            </p:nvSpPr>
            <p:spPr>
              <a:xfrm>
                <a:off x="653143" y="3429000"/>
                <a:ext cx="2936363" cy="13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zh-TW" altLang="zh-TW" sz="2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TW" sz="2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zh-TW" altLang="zh-TW" sz="2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zh-TW" altLang="zh-TW" sz="2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TW" sz="2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2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sz="2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TW" altLang="zh-TW" sz="2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5F81D72-B895-A817-FF4F-9067C7AE5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3429000"/>
                <a:ext cx="2936363" cy="1318246"/>
              </a:xfrm>
              <a:prstGeom prst="rect">
                <a:avLst/>
              </a:prstGeom>
              <a:blipFill>
                <a:blip r:embed="rId4"/>
                <a:stretch>
                  <a:fillRect l="-13793" t="-100962" b="-1567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C04FD05-CC5B-9892-9E3F-DB9AAB261C04}"/>
              </a:ext>
            </a:extLst>
          </p:cNvPr>
          <p:cNvCxnSpPr>
            <a:cxnSpLocks/>
          </p:cNvCxnSpPr>
          <p:nvPr/>
        </p:nvCxnSpPr>
        <p:spPr>
          <a:xfrm>
            <a:off x="3572254" y="2662077"/>
            <a:ext cx="75820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接點 10">
            <a:extLst>
              <a:ext uri="{FF2B5EF4-FFF2-40B4-BE49-F238E27FC236}">
                <a16:creationId xmlns:a16="http://schemas.microsoft.com/office/drawing/2014/main" id="{4FCCF2B4-27BA-290C-334D-5081520E882B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589506" y="2662077"/>
            <a:ext cx="361851" cy="1426046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09396FE-D431-C9D2-C956-BCF018B7EFA5}"/>
                  </a:ext>
                </a:extLst>
              </p:cNvPr>
              <p:cNvSpPr txBox="1"/>
              <p:nvPr/>
            </p:nvSpPr>
            <p:spPr>
              <a:xfrm>
                <a:off x="7107786" y="1956438"/>
                <a:ext cx="54796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zh-TW" altLang="zh-TW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…+</m:t>
                      </m:r>
                      <m:sSup>
                        <m:sSupPr>
                          <m:ctrlPr>
                            <a:rPr lang="zh-TW" altLang="zh-TW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09396FE-D431-C9D2-C956-BCF018B7E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86" y="1956438"/>
                <a:ext cx="5479612" cy="461665"/>
              </a:xfrm>
              <a:prstGeom prst="rect">
                <a:avLst/>
              </a:prstGeom>
              <a:blipFill>
                <a:blip r:embed="rId5"/>
                <a:stretch>
                  <a:fillRect l="-231" b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14D2A634-B9FD-C623-2E56-086BB5D8CF7A}"/>
                  </a:ext>
                </a:extLst>
              </p:cNvPr>
              <p:cNvSpPr txBox="1"/>
              <p:nvPr/>
            </p:nvSpPr>
            <p:spPr>
              <a:xfrm>
                <a:off x="7107786" y="2551249"/>
                <a:ext cx="41251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…+</m:t>
                      </m:r>
                      <m:sSup>
                        <m:sSupPr>
                          <m:ctrlPr>
                            <a:rPr lang="zh-TW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14D2A634-B9FD-C623-2E56-086BB5D8C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86" y="2551249"/>
                <a:ext cx="4125159" cy="461665"/>
              </a:xfrm>
              <a:prstGeom prst="rect">
                <a:avLst/>
              </a:prstGeom>
              <a:blipFill>
                <a:blip r:embed="rId6"/>
                <a:stretch>
                  <a:fillRect l="-307" b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523A005-0C45-76B3-8C79-DE56C4827808}"/>
                  </a:ext>
                </a:extLst>
              </p:cNvPr>
              <p:cNvSpPr txBox="1"/>
              <p:nvPr/>
            </p:nvSpPr>
            <p:spPr>
              <a:xfrm>
                <a:off x="7107786" y="4180188"/>
                <a:ext cx="17671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523A005-0C45-76B3-8C79-DE56C4827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86" y="4180188"/>
                <a:ext cx="1767148" cy="461665"/>
              </a:xfrm>
              <a:prstGeom prst="rect">
                <a:avLst/>
              </a:prstGeom>
              <a:blipFill>
                <a:blip r:embed="rId7"/>
                <a:stretch>
                  <a:fillRect l="-714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F78142D-5DC9-6607-FA75-6CDA8DDDD5B8}"/>
                  </a:ext>
                </a:extLst>
              </p:cNvPr>
              <p:cNvSpPr txBox="1"/>
              <p:nvPr/>
            </p:nvSpPr>
            <p:spPr>
              <a:xfrm>
                <a:off x="7108849" y="3146060"/>
                <a:ext cx="38771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TW" altLang="en-US" sz="24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2400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TW" altLang="zh-TW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F78142D-5DC9-6607-FA75-6CDA8DDDD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849" y="3146060"/>
                <a:ext cx="3877166" cy="461665"/>
              </a:xfrm>
              <a:prstGeom prst="rect">
                <a:avLst/>
              </a:prstGeom>
              <a:blipFill>
                <a:blip r:embed="rId8"/>
                <a:stretch>
                  <a:fillRect l="-327" b="-78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EB44965F-A958-C49F-5306-A55FBAB41F19}"/>
              </a:ext>
            </a:extLst>
          </p:cNvPr>
          <p:cNvSpPr txBox="1"/>
          <p:nvPr/>
        </p:nvSpPr>
        <p:spPr>
          <a:xfrm rot="5400000">
            <a:off x="7213877" y="3732535"/>
            <a:ext cx="463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1DAE954-01F5-EB04-BD6A-214A6073F099}"/>
                  </a:ext>
                </a:extLst>
              </p:cNvPr>
              <p:cNvSpPr txBox="1"/>
              <p:nvPr/>
            </p:nvSpPr>
            <p:spPr>
              <a:xfrm>
                <a:off x="653144" y="5030186"/>
                <a:ext cx="6066834" cy="1303883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TW" altLang="zh-TW" sz="28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func>
                                <m:funcPr>
                                  <m:ctrlPr>
                                    <a:rPr lang="zh-TW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zh-TW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1DAE954-01F5-EB04-BD6A-214A6073F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4" y="5030186"/>
                <a:ext cx="6066834" cy="1303883"/>
              </a:xfrm>
              <a:prstGeom prst="rect">
                <a:avLst/>
              </a:prstGeom>
              <a:blipFill>
                <a:blip r:embed="rId9"/>
                <a:stretch>
                  <a:fillRect l="-417" t="-99048" b="-15523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021A8B1-D1F0-2C43-4AAE-B6DF59A43835}"/>
                  </a:ext>
                </a:extLst>
              </p:cNvPr>
              <p:cNvSpPr txBox="1"/>
              <p:nvPr/>
            </p:nvSpPr>
            <p:spPr>
              <a:xfrm>
                <a:off x="3959983" y="3050898"/>
                <a:ext cx="267559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" altLang="zh-TW" sz="1600" dirty="0">
                    <a:solidFill>
                      <a:srgbClr val="FF0000"/>
                    </a:solidFill>
                  </a:rPr>
                  <a:t>Replace total reward </a:t>
                </a:r>
                <a14:m>
                  <m:oMath xmlns:m="http://schemas.openxmlformats.org/officeDocument/2006/math">
                    <m:r>
                      <a:rPr lang="en-US" altLang="zh-TW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zh-TW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" altLang="zh-TW" sz="1600" dirty="0">
                    <a:solidFill>
                      <a:srgbClr val="FF0000"/>
                    </a:solidFill>
                  </a:rPr>
                  <a:t>with timestep-specific cumulative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6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6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16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1" lang="zh-TW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021A8B1-D1F0-2C43-4AAE-B6DF59A43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83" y="3050898"/>
                <a:ext cx="2675594" cy="830997"/>
              </a:xfrm>
              <a:prstGeom prst="rect">
                <a:avLst/>
              </a:prstGeom>
              <a:blipFill>
                <a:blip r:embed="rId10"/>
                <a:stretch>
                  <a:fillRect l="-1422" t="-1515"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98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DDF8BB-0F68-9E0D-5AC7-29805B96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[Important Notes] Training </a:t>
            </a:r>
            <a:r>
              <a:rPr kumimoji="1" lang="zh-TW" altLang="en-US" dirty="0">
                <a:ea typeface="Microsoft JhengHei" panose="020B0604030504040204" pitchFamily="34" charset="-120"/>
              </a:rPr>
              <a:t>細節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D42656-EDAB-997C-B541-912F33EC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A74204B-430E-6405-F9A8-FCE7228521FC}"/>
              </a:ext>
            </a:extLst>
          </p:cNvPr>
          <p:cNvSpPr txBox="1"/>
          <p:nvPr/>
        </p:nvSpPr>
        <p:spPr>
          <a:xfrm>
            <a:off x="653143" y="1697925"/>
            <a:ext cx="5380669" cy="1140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ea typeface="Microsoft JhengHei" panose="020B0604030504040204" pitchFamily="34" charset="-120"/>
              </a:rPr>
              <a:t>通常一個</a:t>
            </a:r>
            <a:r>
              <a:rPr lang="en-US" altLang="zh-TW" sz="2400" dirty="0">
                <a:ea typeface="Microsoft JhengHei" panose="020B0604030504040204" pitchFamily="34" charset="-120"/>
              </a:rPr>
              <a:t> episode </a:t>
            </a:r>
            <a:r>
              <a:rPr lang="zh-TW" altLang="en-US" sz="2400" dirty="0">
                <a:ea typeface="Microsoft JhengHei" panose="020B0604030504040204" pitchFamily="34" charset="-120"/>
              </a:rPr>
              <a:t>更新一次</a:t>
            </a:r>
            <a:r>
              <a:rPr lang="en-US" altLang="zh-TW" sz="2400" dirty="0">
                <a:ea typeface="Microsoft JhengHei" panose="020B0604030504040204" pitchFamily="34" charset="-120"/>
              </a:rPr>
              <a:t> agent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ea typeface="Microsoft JhengHei" panose="020B0604030504040204" pitchFamily="34" charset="-120"/>
              </a:rPr>
              <a:t>每次 </a:t>
            </a:r>
            <a:r>
              <a:rPr lang="en-US" altLang="zh-TW" sz="2400" dirty="0">
                <a:ea typeface="Microsoft JhengHei" panose="020B0604030504040204" pitchFamily="34" charset="-120"/>
              </a:rPr>
              <a:t>agent </a:t>
            </a:r>
            <a:r>
              <a:rPr lang="zh-TW" altLang="en-US" sz="2400" dirty="0">
                <a:ea typeface="Microsoft JhengHei" panose="020B0604030504040204" pitchFamily="34" charset="-120"/>
              </a:rPr>
              <a:t>更新後，資料要重新收集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D7E051A-50AD-CF4F-4501-4177CDEB7410}"/>
              </a:ext>
            </a:extLst>
          </p:cNvPr>
          <p:cNvSpPr txBox="1"/>
          <p:nvPr/>
        </p:nvSpPr>
        <p:spPr>
          <a:xfrm>
            <a:off x="3184676" y="2967349"/>
            <a:ext cx="301418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Step1: 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收集資料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AF593C6-0D8D-0C60-E7E0-0DD0E694E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366" y="3902122"/>
            <a:ext cx="1417402" cy="86702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260576FD-E9CD-6CF7-6590-DC5D3F87984D}"/>
              </a:ext>
            </a:extLst>
          </p:cNvPr>
          <p:cNvSpPr txBox="1"/>
          <p:nvPr/>
        </p:nvSpPr>
        <p:spPr>
          <a:xfrm>
            <a:off x="4817269" y="4061264"/>
            <a:ext cx="622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000" dirty="0"/>
              <a:t>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3C41F1A-917E-0C33-7102-F0F6265DBEA7}"/>
                  </a:ext>
                </a:extLst>
              </p:cNvPr>
              <p:cNvSpPr/>
              <p:nvPr/>
            </p:nvSpPr>
            <p:spPr>
              <a:xfrm>
                <a:off x="5794635" y="3649622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3C41F1A-917E-0C33-7102-F0F6265DBE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635" y="3649622"/>
                <a:ext cx="679509" cy="505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C1657E0-E0DD-9521-8F12-FF7D603EF504}"/>
                  </a:ext>
                </a:extLst>
              </p:cNvPr>
              <p:cNvSpPr/>
              <p:nvPr/>
            </p:nvSpPr>
            <p:spPr>
              <a:xfrm>
                <a:off x="6531479" y="3649622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C1657E0-E0DD-9521-8F12-FF7D603EF5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79" y="3649622"/>
                <a:ext cx="679509" cy="505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43D6BB75-204C-C6AC-8443-97E14FD16987}"/>
                  </a:ext>
                </a:extLst>
              </p:cNvPr>
              <p:cNvSpPr/>
              <p:nvPr/>
            </p:nvSpPr>
            <p:spPr>
              <a:xfrm>
                <a:off x="7268323" y="3650497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43D6BB75-204C-C6AC-8443-97E14FD169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8323" y="3650497"/>
                <a:ext cx="679509" cy="5058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FF644B4-A84B-9093-A64A-2F000029D423}"/>
                  </a:ext>
                </a:extLst>
              </p:cNvPr>
              <p:cNvSpPr/>
              <p:nvPr/>
            </p:nvSpPr>
            <p:spPr>
              <a:xfrm>
                <a:off x="5803578" y="4263329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FF644B4-A84B-9093-A64A-2F000029D4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578" y="4263329"/>
                <a:ext cx="679509" cy="5058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03DBD682-BBDC-414E-47CF-97C9C24440CA}"/>
                  </a:ext>
                </a:extLst>
              </p:cNvPr>
              <p:cNvSpPr/>
              <p:nvPr/>
            </p:nvSpPr>
            <p:spPr>
              <a:xfrm>
                <a:off x="6540422" y="4263329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03DBD682-BBDC-414E-47CF-97C9C24440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422" y="4263329"/>
                <a:ext cx="679509" cy="5058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F355629-C828-E96D-7E18-B6E9C2D784A7}"/>
                  </a:ext>
                </a:extLst>
              </p:cNvPr>
              <p:cNvSpPr/>
              <p:nvPr/>
            </p:nvSpPr>
            <p:spPr>
              <a:xfrm>
                <a:off x="5803578" y="4877035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F355629-C828-E96D-7E18-B6E9C2D784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578" y="4877035"/>
                <a:ext cx="679509" cy="5058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5C3A821-31FF-6FE2-3D37-71CC3B93193F}"/>
                  </a:ext>
                </a:extLst>
              </p:cNvPr>
              <p:cNvSpPr/>
              <p:nvPr/>
            </p:nvSpPr>
            <p:spPr>
              <a:xfrm>
                <a:off x="6540422" y="4877035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5C3A821-31FF-6FE2-3D37-71CC3B9319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422" y="4877035"/>
                <a:ext cx="679509" cy="5058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229E833-A776-1C58-E36C-B71A34D5B6DC}"/>
                  </a:ext>
                </a:extLst>
              </p:cNvPr>
              <p:cNvSpPr/>
              <p:nvPr/>
            </p:nvSpPr>
            <p:spPr>
              <a:xfrm>
                <a:off x="5803578" y="5909738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229E833-A776-1C58-E36C-B71A34D5B6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578" y="5909738"/>
                <a:ext cx="679509" cy="5058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B2747E14-3A0D-06C8-A3C0-14FBE21D9FBB}"/>
                  </a:ext>
                </a:extLst>
              </p:cNvPr>
              <p:cNvSpPr/>
              <p:nvPr/>
            </p:nvSpPr>
            <p:spPr>
              <a:xfrm>
                <a:off x="6540422" y="5909738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B2747E14-3A0D-06C8-A3C0-14FBE21D9F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422" y="5909738"/>
                <a:ext cx="679509" cy="50582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E2122B83-1A85-A024-5E97-109C4DE8284E}"/>
              </a:ext>
            </a:extLst>
          </p:cNvPr>
          <p:cNvSpPr txBox="1"/>
          <p:nvPr/>
        </p:nvSpPr>
        <p:spPr>
          <a:xfrm rot="5400000">
            <a:off x="6737648" y="5484795"/>
            <a:ext cx="463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E3C57F8C-651F-7E76-7D13-359FE7075095}"/>
                  </a:ext>
                </a:extLst>
              </p:cNvPr>
              <p:cNvSpPr/>
              <p:nvPr/>
            </p:nvSpPr>
            <p:spPr>
              <a:xfrm>
                <a:off x="7267987" y="4263328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E3C57F8C-651F-7E76-7D13-359FE7075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987" y="4263328"/>
                <a:ext cx="679509" cy="50582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3D7D000-EAA1-3C48-B428-D491001381B8}"/>
                  </a:ext>
                </a:extLst>
              </p:cNvPr>
              <p:cNvSpPr/>
              <p:nvPr/>
            </p:nvSpPr>
            <p:spPr>
              <a:xfrm>
                <a:off x="7277266" y="4877034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3D7D000-EAA1-3C48-B428-D491001381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266" y="4877034"/>
                <a:ext cx="679509" cy="5058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B7D3635-DD91-B78C-AE23-BB35A75365E1}"/>
                  </a:ext>
                </a:extLst>
              </p:cNvPr>
              <p:cNvSpPr/>
              <p:nvPr/>
            </p:nvSpPr>
            <p:spPr>
              <a:xfrm>
                <a:off x="7277266" y="5909738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B7D3635-DD91-B78C-AE23-BB35A75365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266" y="5909738"/>
                <a:ext cx="679509" cy="50582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823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D2193D2D-1771-63FE-73D1-29E5EAA6F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472" y="2313237"/>
            <a:ext cx="3200400" cy="3379124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(Simplified) Path of Deep Reinforcement Learning</a:t>
            </a:r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1DEBF9-6C13-262A-6DAA-8B289DD0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B620BE5-89AD-A3D6-E46B-41BF30B5023E}"/>
              </a:ext>
            </a:extLst>
          </p:cNvPr>
          <p:cNvSpPr/>
          <p:nvPr/>
        </p:nvSpPr>
        <p:spPr>
          <a:xfrm>
            <a:off x="5225712" y="1293779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Elements of RL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B75F2EC2-DF05-92E6-3419-8057F9567AFE}"/>
              </a:ext>
            </a:extLst>
          </p:cNvPr>
          <p:cNvSpPr/>
          <p:nvPr/>
        </p:nvSpPr>
        <p:spPr>
          <a:xfrm>
            <a:off x="5225712" y="2500594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Policy Gradient Methods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E6ACFF52-86F2-F9DD-44C3-D873DAA3756B}"/>
              </a:ext>
            </a:extLst>
          </p:cNvPr>
          <p:cNvSpPr/>
          <p:nvPr/>
        </p:nvSpPr>
        <p:spPr>
          <a:xfrm>
            <a:off x="5225712" y="4914223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On-policy and Off-policy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F97AD872-0B13-2E7D-8F1F-CF003BEEA02C}"/>
              </a:ext>
            </a:extLst>
          </p:cNvPr>
          <p:cNvSpPr/>
          <p:nvPr/>
        </p:nvSpPr>
        <p:spPr>
          <a:xfrm>
            <a:off x="5225712" y="3707409"/>
            <a:ext cx="5330757" cy="807395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b="1" dirty="0">
                <a:solidFill>
                  <a:schemeClr val="tx1"/>
                </a:solidFill>
              </a:rPr>
              <a:t>Actor-Critic</a:t>
            </a:r>
            <a:endParaRPr kumimoji="1" lang="zh-TW" alt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702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513FA-269C-5EEE-B77D-3A3F9ECB9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General Problem 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D8B3BD-F0DB-E8BA-17EC-1E5CB354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91A8A8F-6BCC-5691-8277-0CDA19DD6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43" y="2614548"/>
            <a:ext cx="1473775" cy="96697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AD1C26C-B1FC-5B39-DAD9-30BC52D74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624" y="2614547"/>
            <a:ext cx="1473775" cy="96697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70E25F0-0C76-354D-7B22-B7A621FA276A}"/>
              </a:ext>
            </a:extLst>
          </p:cNvPr>
          <p:cNvSpPr txBox="1"/>
          <p:nvPr/>
        </p:nvSpPr>
        <p:spPr>
          <a:xfrm>
            <a:off x="653143" y="1863593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通常一個回合你會玩很久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… (?)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8BBBD65-2696-1B00-BD1E-05B544A6B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905" y="2614546"/>
            <a:ext cx="1473775" cy="96697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BC3B8DA-8738-ACFD-4867-A3E10F876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186" y="2624502"/>
            <a:ext cx="1473775" cy="96697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8082FA0-9712-8C48-8D15-D823ADAE1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467" y="2614545"/>
            <a:ext cx="1473775" cy="96697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815D7BD-13B1-4E37-B5FA-DA6DCA1D3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7739" y="2624502"/>
            <a:ext cx="1473775" cy="96697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E2EA3AB1-98F3-8007-7E65-5B12E25AB925}"/>
              </a:ext>
            </a:extLst>
          </p:cNvPr>
          <p:cNvSpPr txBox="1"/>
          <p:nvPr/>
        </p:nvSpPr>
        <p:spPr>
          <a:xfrm>
            <a:off x="9441312" y="2868791"/>
            <a:ext cx="4308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A9CF78AD-F92A-7041-09DE-95DEAB4EAFCC}"/>
                  </a:ext>
                </a:extLst>
              </p:cNvPr>
              <p:cNvSpPr/>
              <p:nvPr/>
            </p:nvSpPr>
            <p:spPr>
              <a:xfrm>
                <a:off x="758343" y="4459257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A9CF78AD-F92A-7041-09DE-95DEAB4EA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43" y="4459257"/>
                <a:ext cx="679509" cy="505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58ED6F0A-6A44-2C83-E697-217E732920D0}"/>
              </a:ext>
            </a:extLst>
          </p:cNvPr>
          <p:cNvSpPr txBox="1"/>
          <p:nvPr/>
        </p:nvSpPr>
        <p:spPr>
          <a:xfrm>
            <a:off x="1098097" y="3609830"/>
            <a:ext cx="832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t=1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66FAEA5-15D6-3D46-0297-D0E25BA3DCBB}"/>
              </a:ext>
            </a:extLst>
          </p:cNvPr>
          <p:cNvSpPr txBox="1"/>
          <p:nvPr/>
        </p:nvSpPr>
        <p:spPr>
          <a:xfrm>
            <a:off x="2807446" y="3603628"/>
            <a:ext cx="832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t=2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B108701-2660-BFC9-B11F-AF753F05845C}"/>
              </a:ext>
            </a:extLst>
          </p:cNvPr>
          <p:cNvSpPr txBox="1"/>
          <p:nvPr/>
        </p:nvSpPr>
        <p:spPr>
          <a:xfrm>
            <a:off x="4535727" y="3603628"/>
            <a:ext cx="832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t=3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AAC9EDA-AD09-7465-C239-351C0AF5C26F}"/>
              </a:ext>
            </a:extLst>
          </p:cNvPr>
          <p:cNvSpPr txBox="1"/>
          <p:nvPr/>
        </p:nvSpPr>
        <p:spPr>
          <a:xfrm>
            <a:off x="6264008" y="3603627"/>
            <a:ext cx="832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t=4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380FEC3-2EE2-23B9-3E74-D22B59C5FBCC}"/>
              </a:ext>
            </a:extLst>
          </p:cNvPr>
          <p:cNvSpPr txBox="1"/>
          <p:nvPr/>
        </p:nvSpPr>
        <p:spPr>
          <a:xfrm>
            <a:off x="7992289" y="3603627"/>
            <a:ext cx="832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t=5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479DEFE-6E5F-B2B1-0AC8-41DFB9C4D151}"/>
              </a:ext>
            </a:extLst>
          </p:cNvPr>
          <p:cNvSpPr txBox="1"/>
          <p:nvPr/>
        </p:nvSpPr>
        <p:spPr>
          <a:xfrm>
            <a:off x="10418561" y="3603626"/>
            <a:ext cx="832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t=T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7A5228C-2D74-8A74-8ACD-D12EDACEF170}"/>
                  </a:ext>
                </a:extLst>
              </p:cNvPr>
              <p:cNvSpPr txBox="1"/>
              <p:nvPr/>
            </p:nvSpPr>
            <p:spPr>
              <a:xfrm>
                <a:off x="1780160" y="4527502"/>
                <a:ext cx="8832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每個</a:t>
                </a:r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t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時間點的動作都會影響未來的</a:t>
                </a:r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s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跟</a:t>
                </a:r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a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，導致每個回合的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都有可能出現很大差異</a:t>
                </a:r>
                <a:endPara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7A5228C-2D74-8A74-8ACD-D12EDACEF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160" y="4527502"/>
                <a:ext cx="8832795" cy="369332"/>
              </a:xfrm>
              <a:prstGeom prst="rect">
                <a:avLst/>
              </a:prstGeom>
              <a:blipFill>
                <a:blip r:embed="rId5"/>
                <a:stretch>
                  <a:fillRect l="-575" t="-6667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表格 30">
                <a:extLst>
                  <a:ext uri="{FF2B5EF4-FFF2-40B4-BE49-F238E27FC236}">
                    <a16:creationId xmlns:a16="http://schemas.microsoft.com/office/drawing/2014/main" id="{6827EFAA-C2E3-1917-CC07-1C33F175E6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4652117"/>
                  </p:ext>
                </p:extLst>
              </p:nvPr>
            </p:nvGraphicFramePr>
            <p:xfrm>
              <a:off x="3276266" y="5370923"/>
              <a:ext cx="5639468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9867">
                      <a:extLst>
                        <a:ext uri="{9D8B030D-6E8A-4147-A177-3AD203B41FA5}">
                          <a16:colId xmlns:a16="http://schemas.microsoft.com/office/drawing/2014/main" val="2484987424"/>
                        </a:ext>
                      </a:extLst>
                    </a:gridCol>
                    <a:gridCol w="1409867">
                      <a:extLst>
                        <a:ext uri="{9D8B030D-6E8A-4147-A177-3AD203B41FA5}">
                          <a16:colId xmlns:a16="http://schemas.microsoft.com/office/drawing/2014/main" val="3567356578"/>
                        </a:ext>
                      </a:extLst>
                    </a:gridCol>
                    <a:gridCol w="1409867">
                      <a:extLst>
                        <a:ext uri="{9D8B030D-6E8A-4147-A177-3AD203B41FA5}">
                          <a16:colId xmlns:a16="http://schemas.microsoft.com/office/drawing/2014/main" val="3037397163"/>
                        </a:ext>
                      </a:extLst>
                    </a:gridCol>
                    <a:gridCol w="1409867">
                      <a:extLst>
                        <a:ext uri="{9D8B030D-6E8A-4147-A177-3AD203B41FA5}">
                          <a16:colId xmlns:a16="http://schemas.microsoft.com/office/drawing/2014/main" val="13507252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TW" sz="1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TW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TW" altLang="en-US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做什麼？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右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不動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4626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8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18977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表格 30">
                <a:extLst>
                  <a:ext uri="{FF2B5EF4-FFF2-40B4-BE49-F238E27FC236}">
                    <a16:creationId xmlns:a16="http://schemas.microsoft.com/office/drawing/2014/main" id="{6827EFAA-C2E3-1917-CC07-1C33F175E6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4652117"/>
                  </p:ext>
                </p:extLst>
              </p:nvPr>
            </p:nvGraphicFramePr>
            <p:xfrm>
              <a:off x="3276266" y="5370923"/>
              <a:ext cx="5639468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9867">
                      <a:extLst>
                        <a:ext uri="{9D8B030D-6E8A-4147-A177-3AD203B41FA5}">
                          <a16:colId xmlns:a16="http://schemas.microsoft.com/office/drawing/2014/main" val="2484987424"/>
                        </a:ext>
                      </a:extLst>
                    </a:gridCol>
                    <a:gridCol w="1409867">
                      <a:extLst>
                        <a:ext uri="{9D8B030D-6E8A-4147-A177-3AD203B41FA5}">
                          <a16:colId xmlns:a16="http://schemas.microsoft.com/office/drawing/2014/main" val="3567356578"/>
                        </a:ext>
                      </a:extLst>
                    </a:gridCol>
                    <a:gridCol w="1409867">
                      <a:extLst>
                        <a:ext uri="{9D8B030D-6E8A-4147-A177-3AD203B41FA5}">
                          <a16:colId xmlns:a16="http://schemas.microsoft.com/office/drawing/2014/main" val="3037397163"/>
                        </a:ext>
                      </a:extLst>
                    </a:gridCol>
                    <a:gridCol w="1409867">
                      <a:extLst>
                        <a:ext uri="{9D8B030D-6E8A-4147-A177-3AD203B41FA5}">
                          <a16:colId xmlns:a16="http://schemas.microsoft.com/office/drawing/2014/main" val="13507252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t="-6667" r="-3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右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不動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4626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t="-106667" r="-3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18977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917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513FA-269C-5EEE-B77D-3A3F9ECB9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General Problem 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D8B3BD-F0DB-E8BA-17EC-1E5CB354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8ED8CB0-1A03-8391-4BD5-76D57BC1B93D}"/>
                  </a:ext>
                </a:extLst>
              </p:cNvPr>
              <p:cNvSpPr txBox="1"/>
              <p:nvPr/>
            </p:nvSpPr>
            <p:spPr>
              <a:xfrm>
                <a:off x="836540" y="2205863"/>
                <a:ext cx="5259460" cy="564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m:rPr>
                              <m:sty m:val="p"/>
                            </m:rPr>
                            <a:rPr lang="en-US" altLang="zh-TW" sz="2800" i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TW" altLang="zh-TW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8ED8CB0-1A03-8391-4BD5-76D57BC1B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40" y="2205863"/>
                <a:ext cx="5259460" cy="564706"/>
              </a:xfrm>
              <a:prstGeom prst="rect">
                <a:avLst/>
              </a:prstGeom>
              <a:blipFill>
                <a:blip r:embed="rId3"/>
                <a:stretch>
                  <a:fillRect l="-481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681E8678-8474-3002-F6F2-1F9D91F9BFA2}"/>
              </a:ext>
            </a:extLst>
          </p:cNvPr>
          <p:cNvSpPr txBox="1"/>
          <p:nvPr/>
        </p:nvSpPr>
        <p:spPr>
          <a:xfrm>
            <a:off x="836540" y="3628323"/>
            <a:ext cx="8323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代表玩完整場遊戲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才能知道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reward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高不高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過程中的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actions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到底好不好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  <a:endParaRPr kumimoji="1" lang="zh-TW" altLang="en-US" sz="2000" dirty="0"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D3E940E1-E809-B113-692F-67BA143E1843}"/>
              </a:ext>
            </a:extLst>
          </p:cNvPr>
          <p:cNvCxnSpPr/>
          <p:nvPr/>
        </p:nvCxnSpPr>
        <p:spPr>
          <a:xfrm flipV="1">
            <a:off x="3563481" y="2956499"/>
            <a:ext cx="0" cy="4858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1BCFD464-EAAC-DF68-B239-03543ECAF73C}"/>
              </a:ext>
            </a:extLst>
          </p:cNvPr>
          <p:cNvCxnSpPr>
            <a:cxnSpLocks/>
          </p:cNvCxnSpPr>
          <p:nvPr/>
        </p:nvCxnSpPr>
        <p:spPr>
          <a:xfrm>
            <a:off x="3075620" y="2748145"/>
            <a:ext cx="8994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DDE6FC0-7B47-C7D1-D84A-6E7E7DF3D4D1}"/>
              </a:ext>
            </a:extLst>
          </p:cNvPr>
          <p:cNvSpPr txBox="1"/>
          <p:nvPr/>
        </p:nvSpPr>
        <p:spPr>
          <a:xfrm>
            <a:off x="836540" y="4463745"/>
            <a:ext cx="8323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rgbClr val="FF0000"/>
                </a:solidFill>
                <a:ea typeface="Microsoft JhengHei" panose="020B0604030504040204" pitchFamily="34" charset="-120"/>
              </a:rPr>
              <a:t>有沒有可能每個 </a:t>
            </a:r>
            <a:r>
              <a:rPr kumimoji="1" lang="en-US" altLang="zh-TW" sz="2800" dirty="0">
                <a:solidFill>
                  <a:srgbClr val="FF0000"/>
                </a:solidFill>
                <a:ea typeface="Microsoft JhengHei" panose="020B0604030504040204" pitchFamily="34" charset="-120"/>
              </a:rPr>
              <a:t>t </a:t>
            </a:r>
            <a:r>
              <a:rPr kumimoji="1" lang="zh-TW" altLang="en-US" sz="2800" dirty="0">
                <a:solidFill>
                  <a:srgbClr val="FF0000"/>
                </a:solidFill>
                <a:ea typeface="Microsoft JhengHei" panose="020B0604030504040204" pitchFamily="34" charset="-120"/>
              </a:rPr>
              <a:t>時間點都能算出一個 </a:t>
            </a:r>
            <a:r>
              <a:rPr kumimoji="1" lang="en-US" altLang="zh-TW" sz="2800" dirty="0">
                <a:solidFill>
                  <a:srgbClr val="FF0000"/>
                </a:solidFill>
                <a:ea typeface="Microsoft JhengHei" panose="020B0604030504040204" pitchFamily="34" charset="-120"/>
              </a:rPr>
              <a:t>reward </a:t>
            </a:r>
            <a:r>
              <a:rPr kumimoji="1" lang="zh-TW" altLang="en-US" sz="2800" dirty="0">
                <a:solidFill>
                  <a:srgbClr val="FF0000"/>
                </a:solidFill>
                <a:ea typeface="Microsoft JhengHei" panose="020B0604030504040204" pitchFamily="34" charset="-120"/>
              </a:rPr>
              <a:t>分數？</a:t>
            </a:r>
          </a:p>
        </p:txBody>
      </p:sp>
    </p:spTree>
    <p:extLst>
      <p:ext uri="{BB962C8B-B14F-4D97-AF65-F5344CB8AC3E}">
        <p14:creationId xmlns:p14="http://schemas.microsoft.com/office/powerpoint/2010/main" val="7273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C0893-4E98-1BBB-513F-9F018BBD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[Definition] Critic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5AD1E0-6F05-44B7-0D03-AA115D51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EFA5BC-D03A-48F6-9FAF-C20FC78EF9BA}"/>
                  </a:ext>
                </a:extLst>
              </p:cNvPr>
              <p:cNvSpPr txBox="1"/>
              <p:nvPr/>
            </p:nvSpPr>
            <p:spPr>
              <a:xfrm>
                <a:off x="653142" y="1764578"/>
                <a:ext cx="10835224" cy="22488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Critic: </a:t>
                </a:r>
                <a:r>
                  <a:rPr lang="zh-TW" altLang="en-US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用來評價</a:t>
                </a:r>
                <a:r>
                  <a:rPr lang="en-US" altLang="zh-TW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state (</a:t>
                </a:r>
                <a:r>
                  <a:rPr lang="zh-TW" altLang="en-US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或</a:t>
                </a:r>
                <a:r>
                  <a:rPr lang="en-US" altLang="zh-TW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state, action)</a:t>
                </a:r>
                <a:r>
                  <a:rPr lang="zh-TW" altLang="en-US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的函數，可以是個</a:t>
                </a:r>
                <a:r>
                  <a:rPr lang="zh-TW" altLang="en-US" sz="2400" kern="100" dirty="0">
                    <a:solidFill>
                      <a:srgbClr val="FF0000"/>
                    </a:solidFill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模型</a:t>
                </a:r>
                <a:endParaRPr lang="en-US" altLang="zh-TW" sz="2400" kern="100" dirty="0">
                  <a:solidFill>
                    <a:srgbClr val="FF0000"/>
                  </a:solidFill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400" dirty="0">
                    <a:ea typeface="Microsoft JhengHei" panose="020B0604030504040204" pitchFamily="34" charset="-120"/>
                  </a:rPr>
                  <a:t>用來評價 </a:t>
                </a:r>
                <a:r>
                  <a:rPr lang="en" altLang="zh-TW" sz="2400" dirty="0">
                    <a:ea typeface="Microsoft JhengHei" panose="020B0604030504040204" pitchFamily="34" charset="-120"/>
                  </a:rPr>
                  <a:t>state 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的函數：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Value Function (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通常 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symbol 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為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TW" sz="2400" dirty="0">
                    <a:ea typeface="Microsoft JhengHei" panose="020B0604030504040204" pitchFamily="34" charset="-120"/>
                  </a:rPr>
                  <a:t>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400" dirty="0">
                    <a:ea typeface="Microsoft JhengHei" panose="020B0604030504040204" pitchFamily="34" charset="-120"/>
                  </a:rPr>
                  <a:t>用來評價 </a:t>
                </a:r>
                <a:r>
                  <a:rPr lang="en" altLang="zh-TW" sz="2400" dirty="0">
                    <a:ea typeface="Microsoft JhengHei" panose="020B0604030504040204" pitchFamily="34" charset="-120"/>
                  </a:rPr>
                  <a:t>state, </a:t>
                </a:r>
                <a:r>
                  <a:rPr lang="en-US" altLang="zh-TW" sz="2400" kern="100" dirty="0"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action</a:t>
                </a:r>
                <a:r>
                  <a:rPr lang="en" altLang="zh-TW" sz="2400" dirty="0"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的函數：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State-action Value Function (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通常 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symbol 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為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TW" sz="2400" dirty="0">
                    <a:ea typeface="Microsoft JhengHei" panose="020B0604030504040204" pitchFamily="34" charset="-120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Microsoft JhengHei" panose="020B0604030504040204" pitchFamily="34" charset="-120"/>
                  </a:rPr>
                  <a:t>Critic 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就是 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value function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，功能為未卜先知，預測「未來總 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reward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」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EFA5BC-D03A-48F6-9FAF-C20FC78EF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2" y="1764578"/>
                <a:ext cx="10835224" cy="2248821"/>
              </a:xfrm>
              <a:prstGeom prst="rect">
                <a:avLst/>
              </a:prstGeom>
              <a:blipFill>
                <a:blip r:embed="rId2"/>
                <a:stretch>
                  <a:fillRect l="-703" r="-1756" b="-56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57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07CE7E5E-BF91-16E5-587D-90B41700844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訓練 </a:t>
                </a:r>
                <a14:m>
                  <m:oMath xmlns:m="http://schemas.openxmlformats.org/officeDocument/2006/math">
                    <m:r>
                      <a:rPr lang="en-US" altLang="zh-TW" sz="480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sz="4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的方法 </a:t>
                </a:r>
                <a:r>
                  <a:rPr kumimoji="1" lang="en-US" altLang="zh-TW" dirty="0"/>
                  <a:t>(1): Monte Carlo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07CE7E5E-BF91-16E5-587D-90B417008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555" t="-9639" b="-16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9CB6C3-BD52-80A7-EFE0-12DF61EA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CDDC2CB-42FF-2183-43A7-BC4B67A43063}"/>
              </a:ext>
            </a:extLst>
          </p:cNvPr>
          <p:cNvSpPr txBox="1"/>
          <p:nvPr/>
        </p:nvSpPr>
        <p:spPr>
          <a:xfrm>
            <a:off x="653142" y="1764578"/>
            <a:ext cx="10835224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ea typeface="Microsoft JhengHei" panose="020B0604030504040204" pitchFamily="34" charset="-120"/>
              </a:rPr>
              <a:t>直接 </a:t>
            </a:r>
            <a:r>
              <a:rPr lang="en-US" altLang="zh-TW" sz="2400" dirty="0">
                <a:ea typeface="Microsoft JhengHei" panose="020B0604030504040204" pitchFamily="34" charset="-120"/>
              </a:rPr>
              <a:t>train</a:t>
            </a:r>
            <a:r>
              <a:rPr lang="zh-TW" altLang="en-US" sz="2400" dirty="0">
                <a:ea typeface="Microsoft JhengHei" panose="020B0604030504040204" pitchFamily="34" charset="-120"/>
              </a:rPr>
              <a:t> 下去</a:t>
            </a:r>
            <a:endParaRPr lang="en-US" altLang="zh-TW" sz="2400" dirty="0">
              <a:ea typeface="Microsoft JhengHei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831E12-974F-B776-8D20-0BEB15F51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535" y="3091178"/>
            <a:ext cx="1473775" cy="96697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209B8B9-5398-6665-A1BF-7BB2BF9AC976}"/>
              </a:ext>
            </a:extLst>
          </p:cNvPr>
          <p:cNvSpPr txBox="1"/>
          <p:nvPr/>
        </p:nvSpPr>
        <p:spPr>
          <a:xfrm>
            <a:off x="1341289" y="4086460"/>
            <a:ext cx="832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t=1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C02A7AD-211E-1884-1AA1-D629687E6169}"/>
                  </a:ext>
                </a:extLst>
              </p:cNvPr>
              <p:cNvSpPr/>
              <p:nvPr/>
            </p:nvSpPr>
            <p:spPr>
              <a:xfrm>
                <a:off x="2629569" y="3321752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C02A7AD-211E-1884-1AA1-D629687E61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569" y="3321752"/>
                <a:ext cx="679509" cy="5058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2A1EC1E1-AC6C-DBD0-3468-B42DB1FB95B7}"/>
              </a:ext>
            </a:extLst>
          </p:cNvPr>
          <p:cNvCxnSpPr>
            <a:cxnSpLocks/>
          </p:cNvCxnSpPr>
          <p:nvPr/>
        </p:nvCxnSpPr>
        <p:spPr>
          <a:xfrm>
            <a:off x="3485165" y="3582155"/>
            <a:ext cx="8630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圓角矩形 11">
                <a:extLst>
                  <a:ext uri="{FF2B5EF4-FFF2-40B4-BE49-F238E27FC236}">
                    <a16:creationId xmlns:a16="http://schemas.microsoft.com/office/drawing/2014/main" id="{A63FAA7D-A150-14DD-E694-22A61A648EB6}"/>
                  </a:ext>
                </a:extLst>
              </p:cNvPr>
              <p:cNvSpPr/>
              <p:nvPr/>
            </p:nvSpPr>
            <p:spPr>
              <a:xfrm>
                <a:off x="4543807" y="3309023"/>
                <a:ext cx="2536621" cy="546264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zh-TW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TW" sz="2400" dirty="0">
                    <a:solidFill>
                      <a:schemeClr val="tx1"/>
                    </a:solidFill>
                  </a:rPr>
                  <a:t>(Value function)</a:t>
                </a:r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圓角矩形 11">
                <a:extLst>
                  <a:ext uri="{FF2B5EF4-FFF2-40B4-BE49-F238E27FC236}">
                    <a16:creationId xmlns:a16="http://schemas.microsoft.com/office/drawing/2014/main" id="{A63FAA7D-A150-14DD-E694-22A61A648E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807" y="3309023"/>
                <a:ext cx="2536621" cy="546264"/>
              </a:xfrm>
              <a:prstGeom prst="roundRect">
                <a:avLst/>
              </a:prstGeom>
              <a:blipFill>
                <a:blip r:embed="rId6"/>
                <a:stretch>
                  <a:fillRect r="-985" b="-1521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A3F37B77-E329-4A7C-6F19-E86FCA6386BE}"/>
              </a:ext>
            </a:extLst>
          </p:cNvPr>
          <p:cNvCxnSpPr>
            <a:cxnSpLocks/>
          </p:cNvCxnSpPr>
          <p:nvPr/>
        </p:nvCxnSpPr>
        <p:spPr>
          <a:xfrm>
            <a:off x="7256255" y="3581289"/>
            <a:ext cx="8630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1FFF37A-3739-0E69-5C50-AB345CCFCFD7}"/>
                  </a:ext>
                </a:extLst>
              </p:cNvPr>
              <p:cNvSpPr/>
              <p:nvPr/>
            </p:nvSpPr>
            <p:spPr>
              <a:xfrm>
                <a:off x="8295181" y="3328378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1FFF37A-3739-0E69-5C50-AB345CCFCF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181" y="3328378"/>
                <a:ext cx="679509" cy="5058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3ADFDAE-063F-3984-8A4F-51F42A1EB1D5}"/>
                  </a:ext>
                </a:extLst>
              </p:cNvPr>
              <p:cNvSpPr/>
              <p:nvPr/>
            </p:nvSpPr>
            <p:spPr>
              <a:xfrm>
                <a:off x="10011127" y="3321751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3ADFDAE-063F-3984-8A4F-51F42A1EB1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127" y="3321751"/>
                <a:ext cx="679509" cy="5058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AD225153-ADE0-2DA7-E081-C7B36CF53467}"/>
              </a:ext>
            </a:extLst>
          </p:cNvPr>
          <p:cNvCxnSpPr>
            <a:cxnSpLocks/>
          </p:cNvCxnSpPr>
          <p:nvPr/>
        </p:nvCxnSpPr>
        <p:spPr>
          <a:xfrm>
            <a:off x="9061359" y="3582813"/>
            <a:ext cx="863099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0CE50EF-9087-8565-EA05-634F821F877F}"/>
              </a:ext>
            </a:extLst>
          </p:cNvPr>
          <p:cNvSpPr txBox="1"/>
          <p:nvPr/>
        </p:nvSpPr>
        <p:spPr>
          <a:xfrm>
            <a:off x="8485169" y="2755349"/>
            <a:ext cx="2015479" cy="50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越接近越好</a:t>
            </a:r>
            <a:endParaRPr lang="en-US" altLang="zh-TW" sz="20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4F70EE2-156D-835B-4856-0783070A3A59}"/>
              </a:ext>
            </a:extLst>
          </p:cNvPr>
          <p:cNvSpPr txBox="1"/>
          <p:nvPr/>
        </p:nvSpPr>
        <p:spPr>
          <a:xfrm>
            <a:off x="3263194" y="6240302"/>
            <a:ext cx="56656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400" dirty="0"/>
              <a:t>Sutton, R. S., &amp; </a:t>
            </a:r>
            <a:r>
              <a:rPr lang="en" altLang="zh-TW" sz="1400" dirty="0" err="1"/>
              <a:t>Barto</a:t>
            </a:r>
            <a:r>
              <a:rPr lang="en" altLang="zh-TW" sz="1400" dirty="0"/>
              <a:t>, A. G. (2018). </a:t>
            </a:r>
            <a:r>
              <a:rPr lang="en" altLang="zh-TW" sz="1400" i="1" dirty="0"/>
              <a:t>Reinforcement Learning: An Introduction</a:t>
            </a:r>
            <a:r>
              <a:rPr lang="en" altLang="zh-TW" sz="1400" dirty="0"/>
              <a:t> (2nd ed.), Chapter 5: Monte Carlo Methods.</a:t>
            </a:r>
            <a:endParaRPr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036C82D1-F0EC-64D5-E61E-2E12E7DF45F4}"/>
                  </a:ext>
                </a:extLst>
              </p:cNvPr>
              <p:cNvSpPr txBox="1"/>
              <p:nvPr/>
            </p:nvSpPr>
            <p:spPr>
              <a:xfrm>
                <a:off x="7485501" y="4039413"/>
                <a:ext cx="4086013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ean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squared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zh-TW" alt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TW" altLang="zh-TW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zh-TW" alt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036C82D1-F0EC-64D5-E61E-2E12E7DF4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501" y="4039413"/>
                <a:ext cx="4086013" cy="871201"/>
              </a:xfrm>
              <a:prstGeom prst="rect">
                <a:avLst/>
              </a:prstGeom>
              <a:blipFill>
                <a:blip r:embed="rId9"/>
                <a:stretch>
                  <a:fillRect t="-95652" b="-1521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88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9511AE4E-561D-74FA-E060-8430AC1A69F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訓練 </a:t>
                </a:r>
                <a14:m>
                  <m:oMath xmlns:m="http://schemas.openxmlformats.org/officeDocument/2006/math">
                    <m:r>
                      <a:rPr lang="en-US" altLang="zh-TW" sz="480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sz="4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的方法 </a:t>
                </a:r>
                <a:r>
                  <a:rPr kumimoji="1" lang="en-US" altLang="zh-TW" dirty="0"/>
                  <a:t>(2): Temporal Difference (TD)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9511AE4E-561D-74FA-E060-8430AC1A69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555" t="-9639" r="-2439" b="-16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07A192-2D13-3F65-E2F7-9FDF4BA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2AD365F-2685-6C82-FDE4-78BFBD3E5990}"/>
              </a:ext>
            </a:extLst>
          </p:cNvPr>
          <p:cNvSpPr txBox="1"/>
          <p:nvPr/>
        </p:nvSpPr>
        <p:spPr>
          <a:xfrm>
            <a:off x="653142" y="1764578"/>
            <a:ext cx="555437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Microsoft JhengHei" panose="020B0604030504040204" pitchFamily="34" charset="-120"/>
              </a:rPr>
              <a:t>[Recap] Discounted cumulated reward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0ECAFDE-3D2B-C1AA-81CE-C34AE126D949}"/>
                  </a:ext>
                </a:extLst>
              </p:cNvPr>
              <p:cNvSpPr txBox="1"/>
              <p:nvPr/>
            </p:nvSpPr>
            <p:spPr>
              <a:xfrm>
                <a:off x="3777956" y="5670915"/>
                <a:ext cx="3049621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/>
                  <a:t>: cumulated reward since the time step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0ECAFDE-3D2B-C1AA-81CE-C34AE126D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956" y="5670915"/>
                <a:ext cx="3049621" cy="830997"/>
              </a:xfrm>
              <a:prstGeom prst="rect">
                <a:avLst/>
              </a:prstGeom>
              <a:blipFill>
                <a:blip r:embed="rId3"/>
                <a:stretch>
                  <a:fillRect l="-3306" t="-2941" b="-13235"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E030F4F8-E532-A2BC-AA6E-D18C8CB0F1D2}"/>
                  </a:ext>
                </a:extLst>
              </p:cNvPr>
              <p:cNvSpPr txBox="1"/>
              <p:nvPr/>
            </p:nvSpPr>
            <p:spPr>
              <a:xfrm>
                <a:off x="1005415" y="3786761"/>
                <a:ext cx="54796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zh-TW" altLang="zh-TW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…+</m:t>
                      </m:r>
                      <m:sSup>
                        <m:sSupPr>
                          <m:ctrlPr>
                            <a:rPr lang="zh-TW" altLang="zh-TW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E030F4F8-E532-A2BC-AA6E-D18C8CB0F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415" y="3786761"/>
                <a:ext cx="5479612" cy="461665"/>
              </a:xfrm>
              <a:prstGeom prst="rect">
                <a:avLst/>
              </a:prstGeom>
              <a:blipFill>
                <a:blip r:embed="rId4"/>
                <a:stretch>
                  <a:fillRect l="-231" b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DBDDCF56-92DA-C642-BADA-07F180BE7C52}"/>
                  </a:ext>
                </a:extLst>
              </p:cNvPr>
              <p:cNvSpPr txBox="1"/>
              <p:nvPr/>
            </p:nvSpPr>
            <p:spPr>
              <a:xfrm>
                <a:off x="1005415" y="4381572"/>
                <a:ext cx="41251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…+</m:t>
                      </m:r>
                      <m:sSup>
                        <m:sSupPr>
                          <m:ctrlPr>
                            <a:rPr lang="zh-TW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DBDDCF56-92DA-C642-BADA-07F180BE7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415" y="4381572"/>
                <a:ext cx="4125159" cy="461665"/>
              </a:xfrm>
              <a:prstGeom prst="rect">
                <a:avLst/>
              </a:prstGeom>
              <a:blipFill>
                <a:blip r:embed="rId5"/>
                <a:stretch>
                  <a:fillRect l="-307" b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D39C333-CD85-573C-FA03-9A2EE7917166}"/>
                  </a:ext>
                </a:extLst>
              </p:cNvPr>
              <p:cNvSpPr txBox="1"/>
              <p:nvPr/>
            </p:nvSpPr>
            <p:spPr>
              <a:xfrm>
                <a:off x="1005415" y="6010511"/>
                <a:ext cx="17671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D39C333-CD85-573C-FA03-9A2EE7917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415" y="6010511"/>
                <a:ext cx="1767148" cy="461665"/>
              </a:xfrm>
              <a:prstGeom prst="rect">
                <a:avLst/>
              </a:prstGeom>
              <a:blipFill>
                <a:blip r:embed="rId6"/>
                <a:stretch>
                  <a:fillRect l="-714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5BDC967A-B927-D773-CC86-13852B41CE36}"/>
              </a:ext>
            </a:extLst>
          </p:cNvPr>
          <p:cNvGrpSpPr/>
          <p:nvPr/>
        </p:nvGrpSpPr>
        <p:grpSpPr>
          <a:xfrm>
            <a:off x="1112667" y="2878498"/>
            <a:ext cx="5714910" cy="683856"/>
            <a:chOff x="4841436" y="1860941"/>
            <a:chExt cx="5906536" cy="9247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FEBF8143-DE18-1E8E-319C-AC70C3635018}"/>
                    </a:ext>
                  </a:extLst>
                </p:cNvPr>
                <p:cNvSpPr/>
                <p:nvPr/>
              </p:nvSpPr>
              <p:spPr>
                <a:xfrm>
                  <a:off x="6283129" y="1860941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FEBF8143-DE18-1E8E-319C-AC70C36350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3129" y="1860941"/>
                  <a:ext cx="1254564" cy="922987"/>
                </a:xfrm>
                <a:prstGeom prst="rect">
                  <a:avLst/>
                </a:prstGeom>
                <a:blipFill>
                  <a:blip r:embed="rId7"/>
                  <a:stretch>
                    <a:fillRect t="-3509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BFCA72DB-E3C2-BD54-583D-4F046374B7A4}"/>
                    </a:ext>
                  </a:extLst>
                </p:cNvPr>
                <p:cNvSpPr/>
                <p:nvPr/>
              </p:nvSpPr>
              <p:spPr>
                <a:xfrm>
                  <a:off x="4841436" y="1860943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BFCA72DB-E3C2-BD54-583D-4F046374B7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1436" y="1860943"/>
                  <a:ext cx="1254564" cy="922987"/>
                </a:xfrm>
                <a:prstGeom prst="rect">
                  <a:avLst/>
                </a:prstGeom>
                <a:blipFill>
                  <a:blip r:embed="rId8"/>
                  <a:stretch>
                    <a:fillRect t="-3509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6ADAA82-228E-F36A-8B18-977CF7ED20DA}"/>
                    </a:ext>
                  </a:extLst>
                </p:cNvPr>
                <p:cNvSpPr/>
                <p:nvPr/>
              </p:nvSpPr>
              <p:spPr>
                <a:xfrm>
                  <a:off x="9493408" y="1860941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6ADAA82-228E-F36A-8B18-977CF7ED20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3408" y="1860941"/>
                  <a:ext cx="1254564" cy="922987"/>
                </a:xfrm>
                <a:prstGeom prst="rect">
                  <a:avLst/>
                </a:prstGeom>
                <a:blipFill>
                  <a:blip r:embed="rId9"/>
                  <a:stretch>
                    <a:fillRect t="-3509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A3637487-6EE1-24F8-746A-5DE3E98C40CE}"/>
                </a:ext>
              </a:extLst>
            </p:cNvPr>
            <p:cNvSpPr txBox="1"/>
            <p:nvPr/>
          </p:nvSpPr>
          <p:spPr>
            <a:xfrm>
              <a:off x="9051855" y="2122379"/>
              <a:ext cx="3952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…</a:t>
              </a:r>
              <a:endParaRPr kumimoji="1"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80B099AD-5EA1-4EE8-9D94-EEA9CD367DC2}"/>
                    </a:ext>
                  </a:extLst>
                </p:cNvPr>
                <p:cNvSpPr/>
                <p:nvPr/>
              </p:nvSpPr>
              <p:spPr>
                <a:xfrm>
                  <a:off x="7712031" y="1862702"/>
                  <a:ext cx="1254564" cy="922987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TW" sz="2000" dirty="0">
                      <a:solidFill>
                        <a:schemeClr val="tx1"/>
                      </a:solidFill>
                    </a:rPr>
                    <a:t>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80B099AD-5EA1-4EE8-9D94-EEA9CD367D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2031" y="1862702"/>
                  <a:ext cx="1254564" cy="922987"/>
                </a:xfrm>
                <a:prstGeom prst="rect">
                  <a:avLst/>
                </a:prstGeom>
                <a:blipFill>
                  <a:blip r:embed="rId10"/>
                  <a:stretch>
                    <a:fillRect t="-3509"/>
                  </a:stretch>
                </a:blipFill>
                <a:ln w="28575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B81EABA-0B87-CF1C-D38A-3B9B49543A6F}"/>
                  </a:ext>
                </a:extLst>
              </p:cNvPr>
              <p:cNvSpPr txBox="1"/>
              <p:nvPr/>
            </p:nvSpPr>
            <p:spPr>
              <a:xfrm>
                <a:off x="1006478" y="4976383"/>
                <a:ext cx="38771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TW" altLang="en-US" sz="24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2400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TW" altLang="zh-TW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B81EABA-0B87-CF1C-D38A-3B9B49543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8" y="4976383"/>
                <a:ext cx="3877166" cy="461665"/>
              </a:xfrm>
              <a:prstGeom prst="rect">
                <a:avLst/>
              </a:prstGeom>
              <a:blipFill>
                <a:blip r:embed="rId11"/>
                <a:stretch>
                  <a:fillRect l="-327" b="-78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7990FE8A-1B37-88EF-7EF0-515C9B0E4AAB}"/>
              </a:ext>
            </a:extLst>
          </p:cNvPr>
          <p:cNvSpPr txBox="1"/>
          <p:nvPr/>
        </p:nvSpPr>
        <p:spPr>
          <a:xfrm rot="5400000">
            <a:off x="1111506" y="5562858"/>
            <a:ext cx="463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</a:t>
            </a:r>
            <a:endParaRPr kumimoji="1" lang="zh-TW" altLang="en-US" sz="24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FB0C6E7-59FE-9296-5AEC-D20D244CC55C}"/>
              </a:ext>
            </a:extLst>
          </p:cNvPr>
          <p:cNvSpPr/>
          <p:nvPr/>
        </p:nvSpPr>
        <p:spPr>
          <a:xfrm>
            <a:off x="1005415" y="3786761"/>
            <a:ext cx="4718878" cy="10564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C2E6A330-EABD-E907-1E46-F804967479CD}"/>
                  </a:ext>
                </a:extLst>
              </p:cNvPr>
              <p:cNvSpPr txBox="1"/>
              <p:nvPr/>
            </p:nvSpPr>
            <p:spPr>
              <a:xfrm>
                <a:off x="5809787" y="4130333"/>
                <a:ext cx="1654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1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TW" alt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C2E6A330-EABD-E907-1E46-F80496747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787" y="4130333"/>
                <a:ext cx="1654096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03261BB0-DB08-8424-D7DF-38FB16E9504D}"/>
              </a:ext>
            </a:extLst>
          </p:cNvPr>
          <p:cNvSpPr/>
          <p:nvPr/>
        </p:nvSpPr>
        <p:spPr>
          <a:xfrm>
            <a:off x="1005415" y="4381572"/>
            <a:ext cx="4718878" cy="10564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DF4E8809-953B-5B88-1D4C-C2DE962C147B}"/>
                  </a:ext>
                </a:extLst>
              </p:cNvPr>
              <p:cNvSpPr txBox="1"/>
              <p:nvPr/>
            </p:nvSpPr>
            <p:spPr>
              <a:xfrm>
                <a:off x="5809787" y="4732302"/>
                <a:ext cx="1654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18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TW" alt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DF4E8809-953B-5B88-1D4C-C2DE962C1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787" y="4732302"/>
                <a:ext cx="1654096" cy="369332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BC787242-03EF-9791-6725-4DA05356E5A9}"/>
                  </a:ext>
                </a:extLst>
              </p:cNvPr>
              <p:cNvSpPr txBox="1"/>
              <p:nvPr/>
            </p:nvSpPr>
            <p:spPr>
              <a:xfrm>
                <a:off x="8302411" y="4427738"/>
                <a:ext cx="1845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18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TW" alt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BC787242-03EF-9791-6725-4DA05356E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411" y="4427738"/>
                <a:ext cx="1845635" cy="369332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向右箭號 40">
            <a:extLst>
              <a:ext uri="{FF2B5EF4-FFF2-40B4-BE49-F238E27FC236}">
                <a16:creationId xmlns:a16="http://schemas.microsoft.com/office/drawing/2014/main" id="{EB260C3A-6E29-7230-6A5F-5682DEAC052E}"/>
              </a:ext>
            </a:extLst>
          </p:cNvPr>
          <p:cNvSpPr/>
          <p:nvPr/>
        </p:nvSpPr>
        <p:spPr>
          <a:xfrm>
            <a:off x="7708692" y="4499665"/>
            <a:ext cx="313765" cy="2326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04B409DD-7E41-7A07-A97F-7D282C672760}"/>
                  </a:ext>
                </a:extLst>
              </p:cNvPr>
              <p:cNvSpPr txBox="1"/>
              <p:nvPr/>
            </p:nvSpPr>
            <p:spPr>
              <a:xfrm>
                <a:off x="8302411" y="5301583"/>
                <a:ext cx="30496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任兩個時間點的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的關係</a:t>
                </a: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04B409DD-7E41-7A07-A97F-7D282C672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411" y="5301583"/>
                <a:ext cx="3049620" cy="369332"/>
              </a:xfrm>
              <a:prstGeom prst="rect">
                <a:avLst/>
              </a:prstGeom>
              <a:blipFill>
                <a:blip r:embed="rId15"/>
                <a:stretch>
                  <a:fillRect l="-1660" t="-6667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FC340528-E4A2-FCD4-BEE9-04C07EF2CDCB}"/>
                  </a:ext>
                </a:extLst>
              </p:cNvPr>
              <p:cNvSpPr txBox="1"/>
              <p:nvPr/>
            </p:nvSpPr>
            <p:spPr>
              <a:xfrm>
                <a:off x="8302411" y="4864660"/>
                <a:ext cx="1845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18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FC340528-E4A2-FCD4-BEE9-04C07EF2C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411" y="4864660"/>
                <a:ext cx="1845635" cy="369332"/>
              </a:xfrm>
              <a:prstGeom prst="rect">
                <a:avLst/>
              </a:prstGeom>
              <a:blipFill>
                <a:blip r:embed="rId16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444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  <p:bldP spid="37" grpId="0"/>
      <p:bldP spid="38" grpId="0" animBg="1"/>
      <p:bldP spid="38" grpId="1" animBg="1"/>
      <p:bldP spid="39" grpId="0"/>
      <p:bldP spid="40" grpId="0"/>
      <p:bldP spid="41" grpId="0" animBg="1"/>
      <p:bldP spid="42" grpId="0"/>
      <p:bldP spid="4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9511AE4E-561D-74FA-E060-8430AC1A69F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訓練 </a:t>
                </a:r>
                <a14:m>
                  <m:oMath xmlns:m="http://schemas.openxmlformats.org/officeDocument/2006/math">
                    <m:r>
                      <a:rPr lang="en-US" altLang="zh-TW" sz="480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sz="4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的方法 </a:t>
                </a:r>
                <a:r>
                  <a:rPr kumimoji="1" lang="en-US" altLang="zh-TW" dirty="0"/>
                  <a:t>(2): Temporal Difference (TD)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9511AE4E-561D-74FA-E060-8430AC1A69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555" t="-9639" r="-2439" b="-16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07A192-2D13-3F65-E2F7-9FDF4BA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C5C4C2A-B2CE-F01F-79D2-3D86A3FC5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535" y="3234614"/>
            <a:ext cx="1473775" cy="96697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2752F36-A91F-4689-3A0C-A70F67251410}"/>
              </a:ext>
            </a:extLst>
          </p:cNvPr>
          <p:cNvSpPr txBox="1"/>
          <p:nvPr/>
        </p:nvSpPr>
        <p:spPr>
          <a:xfrm>
            <a:off x="730682" y="4169032"/>
            <a:ext cx="2015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time step: t</a:t>
            </a:r>
            <a:endParaRPr kumimoji="1" lang="zh-TW" altLang="en-US" sz="2000" dirty="0"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BEE218E-A87E-BC43-EBBC-888B4089FBD3}"/>
                  </a:ext>
                </a:extLst>
              </p:cNvPr>
              <p:cNvSpPr/>
              <p:nvPr/>
            </p:nvSpPr>
            <p:spPr>
              <a:xfrm>
                <a:off x="2629569" y="3465188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BEE218E-A87E-BC43-EBBC-888B4089FB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569" y="3465188"/>
                <a:ext cx="679509" cy="5058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941C8C29-3628-7B0D-1546-79903FAAE800}"/>
              </a:ext>
            </a:extLst>
          </p:cNvPr>
          <p:cNvCxnSpPr>
            <a:cxnSpLocks/>
          </p:cNvCxnSpPr>
          <p:nvPr/>
        </p:nvCxnSpPr>
        <p:spPr>
          <a:xfrm>
            <a:off x="3485165" y="3725591"/>
            <a:ext cx="8630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圓角矩形 8">
                <a:extLst>
                  <a:ext uri="{FF2B5EF4-FFF2-40B4-BE49-F238E27FC236}">
                    <a16:creationId xmlns:a16="http://schemas.microsoft.com/office/drawing/2014/main" id="{0FD00443-3992-80C8-A944-7F682177CE83}"/>
                  </a:ext>
                </a:extLst>
              </p:cNvPr>
              <p:cNvSpPr/>
              <p:nvPr/>
            </p:nvSpPr>
            <p:spPr>
              <a:xfrm>
                <a:off x="4543807" y="3452459"/>
                <a:ext cx="2536621" cy="546264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zh-TW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TW" sz="2400" dirty="0">
                    <a:solidFill>
                      <a:schemeClr val="tx1"/>
                    </a:solidFill>
                  </a:rPr>
                  <a:t>(Value function)</a:t>
                </a:r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圓角矩形 8">
                <a:extLst>
                  <a:ext uri="{FF2B5EF4-FFF2-40B4-BE49-F238E27FC236}">
                    <a16:creationId xmlns:a16="http://schemas.microsoft.com/office/drawing/2014/main" id="{0FD00443-3992-80C8-A944-7F682177CE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807" y="3452459"/>
                <a:ext cx="2536621" cy="546264"/>
              </a:xfrm>
              <a:prstGeom prst="roundRect">
                <a:avLst/>
              </a:prstGeom>
              <a:blipFill>
                <a:blip r:embed="rId5"/>
                <a:stretch>
                  <a:fillRect r="-985" b="-1276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32AD365F-2685-6C82-FDE4-78BFBD3E5990}"/>
              </a:ext>
            </a:extLst>
          </p:cNvPr>
          <p:cNvSpPr txBox="1"/>
          <p:nvPr/>
        </p:nvSpPr>
        <p:spPr>
          <a:xfrm>
            <a:off x="4788424" y="1965656"/>
            <a:ext cx="529045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ea typeface="Microsoft JhengHei" panose="020B0604030504040204" pitchFamily="34" charset="-120"/>
              </a:rPr>
              <a:t>以相鄰的兩個</a:t>
            </a:r>
            <a:r>
              <a:rPr lang="en-US" altLang="zh-TW" sz="2400" dirty="0">
                <a:ea typeface="Microsoft JhengHei" panose="020B0604030504040204" pitchFamily="34" charset="-120"/>
              </a:rPr>
              <a:t> steps </a:t>
            </a:r>
            <a:r>
              <a:rPr lang="zh-TW" altLang="en-US" sz="2400" dirty="0">
                <a:ea typeface="Microsoft JhengHei" panose="020B0604030504040204" pitchFamily="34" charset="-120"/>
              </a:rPr>
              <a:t>的差異 </a:t>
            </a:r>
            <a:r>
              <a:rPr lang="en-US" altLang="zh-TW" sz="2400" dirty="0">
                <a:ea typeface="Microsoft JhengHei" panose="020B0604030504040204" pitchFamily="34" charset="-120"/>
              </a:rPr>
              <a:t>train</a:t>
            </a:r>
            <a:r>
              <a:rPr lang="zh-TW" altLang="en-US" sz="2400" dirty="0">
                <a:ea typeface="Microsoft JhengHei" panose="020B0604030504040204" pitchFamily="34" charset="-120"/>
              </a:rPr>
              <a:t> 下去</a:t>
            </a:r>
            <a:endParaRPr lang="en-US" altLang="zh-TW" sz="2400" dirty="0">
              <a:ea typeface="Microsoft JhengHei" panose="020B0604030504040204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37EB15B-2BA6-3066-4695-B998F93C8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535" y="4816980"/>
            <a:ext cx="1473775" cy="9669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4FEC8CB-F1D6-3A91-7532-5EF66FF678D5}"/>
                  </a:ext>
                </a:extLst>
              </p:cNvPr>
              <p:cNvSpPr/>
              <p:nvPr/>
            </p:nvSpPr>
            <p:spPr>
              <a:xfrm>
                <a:off x="2629569" y="5047554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4FEC8CB-F1D6-3A91-7532-5EF66FF678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569" y="5047554"/>
                <a:ext cx="679509" cy="505821"/>
              </a:xfrm>
              <a:prstGeom prst="rect">
                <a:avLst/>
              </a:prstGeom>
              <a:blipFill>
                <a:blip r:embed="rId6"/>
                <a:stretch>
                  <a:fillRect l="-1724"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050947F8-4F83-8965-3443-F7A75636CA6E}"/>
              </a:ext>
            </a:extLst>
          </p:cNvPr>
          <p:cNvCxnSpPr>
            <a:cxnSpLocks/>
          </p:cNvCxnSpPr>
          <p:nvPr/>
        </p:nvCxnSpPr>
        <p:spPr>
          <a:xfrm>
            <a:off x="3485165" y="5320686"/>
            <a:ext cx="8630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圓角矩形 15">
                <a:extLst>
                  <a:ext uri="{FF2B5EF4-FFF2-40B4-BE49-F238E27FC236}">
                    <a16:creationId xmlns:a16="http://schemas.microsoft.com/office/drawing/2014/main" id="{23A0736E-54FA-C646-FAD7-06784BF0C342}"/>
                  </a:ext>
                </a:extLst>
              </p:cNvPr>
              <p:cNvSpPr/>
              <p:nvPr/>
            </p:nvSpPr>
            <p:spPr>
              <a:xfrm>
                <a:off x="4543807" y="5047554"/>
                <a:ext cx="2536621" cy="546264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zh-TW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TW" sz="2400" dirty="0">
                    <a:solidFill>
                      <a:schemeClr val="tx1"/>
                    </a:solidFill>
                  </a:rPr>
                  <a:t>(Value function)</a:t>
                </a:r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圓角矩形 15">
                <a:extLst>
                  <a:ext uri="{FF2B5EF4-FFF2-40B4-BE49-F238E27FC236}">
                    <a16:creationId xmlns:a16="http://schemas.microsoft.com/office/drawing/2014/main" id="{23A0736E-54FA-C646-FAD7-06784BF0C3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807" y="5047554"/>
                <a:ext cx="2536621" cy="546264"/>
              </a:xfrm>
              <a:prstGeom prst="roundRect">
                <a:avLst/>
              </a:prstGeom>
              <a:blipFill>
                <a:blip r:embed="rId7"/>
                <a:stretch>
                  <a:fillRect r="-985" b="-1276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B57A57E9-6B46-5B0A-74A6-F53573081F57}"/>
              </a:ext>
            </a:extLst>
          </p:cNvPr>
          <p:cNvCxnSpPr>
            <a:cxnSpLocks/>
          </p:cNvCxnSpPr>
          <p:nvPr/>
        </p:nvCxnSpPr>
        <p:spPr>
          <a:xfrm>
            <a:off x="7256255" y="3724725"/>
            <a:ext cx="8630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EABF1A6C-2551-6AC4-F9B2-DC419283C1B0}"/>
                  </a:ext>
                </a:extLst>
              </p:cNvPr>
              <p:cNvSpPr/>
              <p:nvPr/>
            </p:nvSpPr>
            <p:spPr>
              <a:xfrm>
                <a:off x="8295181" y="3471814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EABF1A6C-2551-6AC4-F9B2-DC419283C1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181" y="3471814"/>
                <a:ext cx="679509" cy="5058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BEE1EF44-20A4-0765-23D6-48697297457D}"/>
              </a:ext>
            </a:extLst>
          </p:cNvPr>
          <p:cNvCxnSpPr>
            <a:cxnSpLocks/>
          </p:cNvCxnSpPr>
          <p:nvPr/>
        </p:nvCxnSpPr>
        <p:spPr>
          <a:xfrm>
            <a:off x="7256255" y="5300465"/>
            <a:ext cx="8630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51B85370-E677-A0B0-03CC-F339E098164A}"/>
                  </a:ext>
                </a:extLst>
              </p:cNvPr>
              <p:cNvSpPr/>
              <p:nvPr/>
            </p:nvSpPr>
            <p:spPr>
              <a:xfrm>
                <a:off x="8295181" y="5047554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TW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51B85370-E677-A0B0-03CC-F339E09816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181" y="5047554"/>
                <a:ext cx="679509" cy="5058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D000E7C-D57E-F85C-A15E-2BDDCB1270F9}"/>
                  </a:ext>
                </a:extLst>
              </p:cNvPr>
              <p:cNvSpPr txBox="1"/>
              <p:nvPr/>
            </p:nvSpPr>
            <p:spPr>
              <a:xfrm>
                <a:off x="7983579" y="4309410"/>
                <a:ext cx="22336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TW" i="1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kumimoji="1"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D000E7C-D57E-F85C-A15E-2BDDCB127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3579" y="4309410"/>
                <a:ext cx="2233680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A98BFA93-00FE-F6BB-E115-030FC3D3E904}"/>
                  </a:ext>
                </a:extLst>
              </p:cNvPr>
              <p:cNvSpPr txBox="1"/>
              <p:nvPr/>
            </p:nvSpPr>
            <p:spPr>
              <a:xfrm>
                <a:off x="9909501" y="4206526"/>
                <a:ext cx="2015479" cy="504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TW" altLang="en-US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越接近</a:t>
                </a: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越好</a:t>
                </a:r>
                <a:endParaRPr lang="en-US" altLang="zh-TW" sz="2000" dirty="0">
                  <a:solidFill>
                    <a:schemeClr val="tx1"/>
                  </a:solidFill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A98BFA93-00FE-F6BB-E115-030FC3D3E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9501" y="4206526"/>
                <a:ext cx="2015479" cy="504369"/>
              </a:xfrm>
              <a:prstGeom prst="rect">
                <a:avLst/>
              </a:prstGeom>
              <a:blipFill>
                <a:blip r:embed="rId11"/>
                <a:stretch>
                  <a:fillRect b="-195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A5398E0-2840-6411-E67F-A698DC104C2F}"/>
                  </a:ext>
                </a:extLst>
              </p:cNvPr>
              <p:cNvSpPr txBox="1"/>
              <p:nvPr/>
            </p:nvSpPr>
            <p:spPr>
              <a:xfrm>
                <a:off x="981988" y="1908547"/>
                <a:ext cx="30496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任兩個時間點的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的關係：</a:t>
                </a:r>
                <a:endPara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A5398E0-2840-6411-E67F-A698DC104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988" y="1908547"/>
                <a:ext cx="3049620" cy="369332"/>
              </a:xfrm>
              <a:prstGeom prst="rect">
                <a:avLst/>
              </a:prstGeom>
              <a:blipFill>
                <a:blip r:embed="rId12"/>
                <a:stretch>
                  <a:fillRect l="-1660" t="-6667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D67A8AD-D808-D012-AE1B-279F60A89D56}"/>
                  </a:ext>
                </a:extLst>
              </p:cNvPr>
              <p:cNvSpPr txBox="1"/>
              <p:nvPr/>
            </p:nvSpPr>
            <p:spPr>
              <a:xfrm>
                <a:off x="981988" y="2297858"/>
                <a:ext cx="1845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18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D67A8AD-D808-D012-AE1B-279F60A89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988" y="2297858"/>
                <a:ext cx="1845635" cy="369332"/>
              </a:xfrm>
              <a:prstGeom prst="rect">
                <a:avLst/>
              </a:prstGeom>
              <a:blipFill>
                <a:blip r:embed="rId13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BF5170D2-AB21-E845-D5F7-4E53494736CF}"/>
              </a:ext>
            </a:extLst>
          </p:cNvPr>
          <p:cNvSpPr/>
          <p:nvPr/>
        </p:nvSpPr>
        <p:spPr>
          <a:xfrm>
            <a:off x="927180" y="1846129"/>
            <a:ext cx="3096260" cy="895004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向右箭號 19">
            <a:extLst>
              <a:ext uri="{FF2B5EF4-FFF2-40B4-BE49-F238E27FC236}">
                <a16:creationId xmlns:a16="http://schemas.microsoft.com/office/drawing/2014/main" id="{97B04201-C3A3-5887-6956-32142AEF7CBE}"/>
              </a:ext>
            </a:extLst>
          </p:cNvPr>
          <p:cNvSpPr/>
          <p:nvPr/>
        </p:nvSpPr>
        <p:spPr>
          <a:xfrm>
            <a:off x="4307583" y="2177312"/>
            <a:ext cx="313765" cy="2326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0EF6EC3-54EB-B28A-D646-F6B4DBC3F2B9}"/>
              </a:ext>
            </a:extLst>
          </p:cNvPr>
          <p:cNvSpPr txBox="1"/>
          <p:nvPr/>
        </p:nvSpPr>
        <p:spPr>
          <a:xfrm>
            <a:off x="723998" y="5757056"/>
            <a:ext cx="2015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time step: t+1</a:t>
            </a:r>
            <a:endParaRPr kumimoji="1" lang="zh-TW" altLang="en-US" sz="2000" dirty="0">
              <a:ea typeface="Microsoft JhengHei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BCDA612-9978-2360-7D68-AA1C457BEA3A}"/>
              </a:ext>
            </a:extLst>
          </p:cNvPr>
          <p:cNvSpPr txBox="1"/>
          <p:nvPr/>
        </p:nvSpPr>
        <p:spPr>
          <a:xfrm>
            <a:off x="6248515" y="4206526"/>
            <a:ext cx="2015479" cy="50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模型訓練目標：</a:t>
            </a:r>
            <a:endParaRPr lang="en-US" altLang="zh-TW" sz="2000" dirty="0">
              <a:solidFill>
                <a:schemeClr val="tx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790E8D-6196-B5E4-7F55-2B660F524026}"/>
              </a:ext>
            </a:extLst>
          </p:cNvPr>
          <p:cNvSpPr txBox="1"/>
          <p:nvPr/>
        </p:nvSpPr>
        <p:spPr>
          <a:xfrm>
            <a:off x="4013424" y="6240302"/>
            <a:ext cx="4165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1400" dirty="0"/>
              <a:t>Sutton, R. S., "Learning to Predict by the Methods of Temporal Differences," </a:t>
            </a:r>
            <a:r>
              <a:rPr lang="en" altLang="zh-TW" sz="1400" i="1" dirty="0"/>
              <a:t>Machine Learning</a:t>
            </a:r>
            <a:r>
              <a:rPr lang="en" altLang="zh-TW" sz="1400" dirty="0"/>
              <a:t>, 1988.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2376E57-4B0D-2305-9D3E-7254E15D8AE8}"/>
                  </a:ext>
                </a:extLst>
              </p:cNvPr>
              <p:cNvSpPr txBox="1"/>
              <p:nvPr/>
            </p:nvSpPr>
            <p:spPr>
              <a:xfrm>
                <a:off x="9148922" y="3535409"/>
                <a:ext cx="1707205" cy="378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2376E57-4B0D-2305-9D3E-7254E15D8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922" y="3535409"/>
                <a:ext cx="1707205" cy="378630"/>
              </a:xfrm>
              <a:prstGeom prst="rect">
                <a:avLst/>
              </a:prstGeom>
              <a:blipFill>
                <a:blip r:embed="rId14"/>
                <a:stretch>
                  <a:fillRect t="-6452"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16B939E7-B704-BE1C-7A79-EA5DC813B629}"/>
                  </a:ext>
                </a:extLst>
              </p:cNvPr>
              <p:cNvSpPr txBox="1"/>
              <p:nvPr/>
            </p:nvSpPr>
            <p:spPr>
              <a:xfrm>
                <a:off x="9148923" y="5131371"/>
                <a:ext cx="1707205" cy="378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16B939E7-B704-BE1C-7A79-EA5DC813B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923" y="5131371"/>
                <a:ext cx="1707205" cy="378630"/>
              </a:xfrm>
              <a:prstGeom prst="rect">
                <a:avLst/>
              </a:prstGeom>
              <a:blipFill>
                <a:blip r:embed="rId15"/>
                <a:stretch>
                  <a:fillRect t="-6667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16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 animBg="1"/>
      <p:bldP spid="13" grpId="0" animBg="1"/>
      <p:bldP spid="16" grpId="0" animBg="1"/>
      <p:bldP spid="25" grpId="0" animBg="1"/>
      <p:bldP spid="27" grpId="0" animBg="1"/>
      <p:bldP spid="29" grpId="0"/>
      <p:bldP spid="30" grpId="0"/>
      <p:bldP spid="21" grpId="0"/>
      <p:bldP spid="23" grpId="0"/>
      <p:bldP spid="31" grpId="0"/>
      <p:bldP spid="3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A1566210-2AF1-BC12-57AC-DF3F90A169B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sz="48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如何幫助</a:t>
                </a:r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actor</a:t>
                </a:r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訓練？</a:t>
                </a: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A1566210-2AF1-BC12-57AC-DF3F90A16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045" t="-9639" b="-16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38A93A-1F09-3BC8-6384-6D82B2FE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F8DCF29-2D28-F719-7EC8-49E524526B45}"/>
              </a:ext>
            </a:extLst>
          </p:cNvPr>
          <p:cNvSpPr txBox="1"/>
          <p:nvPr/>
        </p:nvSpPr>
        <p:spPr>
          <a:xfrm>
            <a:off x="653143" y="1756819"/>
            <a:ext cx="6094562" cy="5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ea typeface="Microsoft JhengHei" panose="020B0604030504040204" pitchFamily="34" charset="-120"/>
              </a:rPr>
              <a:t>Advantage function (</a:t>
            </a:r>
            <a:r>
              <a:rPr lang="zh-TW" altLang="en-US" sz="2400" dirty="0">
                <a:ea typeface="Microsoft JhengHei" panose="020B0604030504040204" pitchFamily="34" charset="-120"/>
              </a:rPr>
              <a:t>優勢函數</a:t>
            </a:r>
            <a:r>
              <a:rPr lang="en-US" altLang="zh-TW" sz="2400" dirty="0">
                <a:ea typeface="Microsoft JhengHei" panose="020B0604030504040204" pitchFamily="34" charset="-12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B813A1B-200D-C818-B52C-264FFE17387F}"/>
                  </a:ext>
                </a:extLst>
              </p:cNvPr>
              <p:cNvSpPr txBox="1"/>
              <p:nvPr/>
            </p:nvSpPr>
            <p:spPr>
              <a:xfrm>
                <a:off x="4906633" y="2480128"/>
                <a:ext cx="23787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B813A1B-200D-C818-B52C-264FFE173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633" y="2480128"/>
                <a:ext cx="2378734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FBDC95D-829F-95A8-983D-09EEABA87268}"/>
                  </a:ext>
                </a:extLst>
              </p:cNvPr>
              <p:cNvSpPr txBox="1"/>
              <p:nvPr/>
            </p:nvSpPr>
            <p:spPr>
              <a:xfrm>
                <a:off x="7180054" y="347462"/>
                <a:ext cx="4358803" cy="957826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TW" altLang="zh-TW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func>
                                <m:funcPr>
                                  <m:ctrlPr>
                                    <a:rPr lang="zh-TW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zh-TW" altLang="zh-TW" sz="1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FBDC95D-829F-95A8-983D-09EEABA87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054" y="347462"/>
                <a:ext cx="4358803" cy="957826"/>
              </a:xfrm>
              <a:prstGeom prst="rect">
                <a:avLst/>
              </a:prstGeom>
              <a:blipFill>
                <a:blip r:embed="rId5"/>
                <a:stretch>
                  <a:fillRect t="-94872" b="-14871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CF3EB0-3EB0-C6EA-01D0-B8D39967DD41}"/>
              </a:ext>
            </a:extLst>
          </p:cNvPr>
          <p:cNvSpPr txBox="1"/>
          <p:nvPr/>
        </p:nvSpPr>
        <p:spPr>
          <a:xfrm>
            <a:off x="653143" y="3078275"/>
            <a:ext cx="6094562" cy="5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Microsoft JhengHei" panose="020B0604030504040204" pitchFamily="34" charset="-120"/>
              </a:rPr>
              <a:t>Monte Carlo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F43BD1A-B8EA-D1DA-5BF9-0FCDD3074987}"/>
                  </a:ext>
                </a:extLst>
              </p:cNvPr>
              <p:cNvSpPr txBox="1"/>
              <p:nvPr/>
            </p:nvSpPr>
            <p:spPr>
              <a:xfrm>
                <a:off x="3283634" y="3553504"/>
                <a:ext cx="5624731" cy="957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TW" altLang="zh-TW" sz="2000" i="1" kern="1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kern="1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000" i="1" kern="1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TW" sz="2000" i="1" kern="1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zh-TW" altLang="en-US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zh-TW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func>
                                <m:funcPr>
                                  <m:ctrlPr>
                                    <a:rPr lang="zh-TW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zh-TW" altLang="zh-TW" sz="1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F43BD1A-B8EA-D1DA-5BF9-0FCDD3074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634" y="3553504"/>
                <a:ext cx="5624731" cy="957826"/>
              </a:xfrm>
              <a:prstGeom prst="rect">
                <a:avLst/>
              </a:prstGeom>
              <a:blipFill>
                <a:blip r:embed="rId6"/>
                <a:stretch>
                  <a:fillRect t="-97403" b="-1506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F8107627-78B4-F17C-D12B-9716A3C8FD17}"/>
              </a:ext>
            </a:extLst>
          </p:cNvPr>
          <p:cNvCxnSpPr>
            <a:cxnSpLocks/>
          </p:cNvCxnSpPr>
          <p:nvPr/>
        </p:nvCxnSpPr>
        <p:spPr>
          <a:xfrm flipV="1">
            <a:off x="6202850" y="4290079"/>
            <a:ext cx="0" cy="41074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40935316-176F-45F0-8A46-925A8F3DBE87}"/>
                  </a:ext>
                </a:extLst>
              </p:cNvPr>
              <p:cNvSpPr txBox="1"/>
              <p:nvPr/>
            </p:nvSpPr>
            <p:spPr>
              <a:xfrm>
                <a:off x="4923885" y="4601424"/>
                <a:ext cx="6664881" cy="966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TW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>
                    <a:solidFill>
                      <a:srgbClr val="0070C0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000" dirty="0">
                    <a:solidFill>
                      <a:srgbClr val="0070C0"/>
                    </a:solidFill>
                    <a:ea typeface="Microsoft JhengHei" panose="020B0604030504040204" pitchFamily="34" charset="-120"/>
                  </a:rPr>
                  <a:t>學到預估的</a:t>
                </a:r>
                <a:r>
                  <a:rPr lang="zh-TW" altLang="en-US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累積</a:t>
                </a:r>
                <a:r>
                  <a:rPr lang="en-US" altLang="zh-TW" sz="20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reward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solidFill>
                      <a:srgbClr val="0070C0"/>
                    </a:solidFill>
                    <a:ea typeface="Microsoft JhengHei" panose="020B0604030504040204" pitchFamily="34" charset="-120"/>
                  </a:rPr>
                  <a:t>只要</a:t>
                </a:r>
                <a:r>
                  <a:rPr lang="en-US" altLang="zh-TW" sz="2000" dirty="0">
                    <a:solidFill>
                      <a:srgbClr val="0070C0"/>
                    </a:solidFill>
                    <a:ea typeface="Microsoft JhengHei" panose="020B0604030504040204" pitchFamily="34" charset="-120"/>
                  </a:rPr>
                  <a:t> actor </a:t>
                </a:r>
                <a:r>
                  <a:rPr lang="zh-TW" altLang="en-US" sz="2000" dirty="0">
                    <a:solidFill>
                      <a:srgbClr val="0070C0"/>
                    </a:solidFill>
                    <a:ea typeface="Microsoft JhengHei" panose="020B0604030504040204" pitchFamily="34" charset="-120"/>
                  </a:rPr>
                  <a:t>試著將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zh-TW" alt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TW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000" dirty="0">
                    <a:solidFill>
                      <a:srgbClr val="0070C0"/>
                    </a:solidFill>
                    <a:ea typeface="Microsoft JhengHei" panose="020B0604030504040204" pitchFamily="34" charset="-120"/>
                  </a:rPr>
                  <a:t> 變大，就能產生更好的 </a:t>
                </a:r>
                <a:r>
                  <a:rPr lang="en-US" altLang="zh-TW" sz="2000" dirty="0">
                    <a:solidFill>
                      <a:srgbClr val="0070C0"/>
                    </a:solidFill>
                    <a:ea typeface="Microsoft JhengHei" panose="020B0604030504040204" pitchFamily="34" charset="-120"/>
                  </a:rPr>
                  <a:t>action</a:t>
                </a: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40935316-176F-45F0-8A46-925A8F3DB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885" y="4601424"/>
                <a:ext cx="6664881" cy="966034"/>
              </a:xfrm>
              <a:prstGeom prst="rect">
                <a:avLst/>
              </a:prstGeom>
              <a:blipFill>
                <a:blip r:embed="rId7"/>
                <a:stretch>
                  <a:fillRect l="-951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D11712C7-F4BE-32E0-5D58-636320A63BD0}"/>
              </a:ext>
            </a:extLst>
          </p:cNvPr>
          <p:cNvCxnSpPr>
            <a:cxnSpLocks/>
          </p:cNvCxnSpPr>
          <p:nvPr/>
        </p:nvCxnSpPr>
        <p:spPr>
          <a:xfrm>
            <a:off x="5916582" y="4220771"/>
            <a:ext cx="553229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0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A1566210-2AF1-BC12-57AC-DF3F90A169B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sz="48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如何幫助</a:t>
                </a:r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actor</a:t>
                </a:r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訓練？</a:t>
                </a: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A1566210-2AF1-BC12-57AC-DF3F90A16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045" t="-9639" b="-16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38A93A-1F09-3BC8-6384-6D82B2FE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F8DCF29-2D28-F719-7EC8-49E524526B45}"/>
              </a:ext>
            </a:extLst>
          </p:cNvPr>
          <p:cNvSpPr txBox="1"/>
          <p:nvPr/>
        </p:nvSpPr>
        <p:spPr>
          <a:xfrm>
            <a:off x="653143" y="1756819"/>
            <a:ext cx="6094562" cy="5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ea typeface="Microsoft JhengHei" panose="020B0604030504040204" pitchFamily="34" charset="-120"/>
              </a:rPr>
              <a:t>Advantage function (</a:t>
            </a:r>
            <a:r>
              <a:rPr lang="zh-TW" altLang="en-US" sz="2400" dirty="0">
                <a:ea typeface="Microsoft JhengHei" panose="020B0604030504040204" pitchFamily="34" charset="-120"/>
              </a:rPr>
              <a:t>優勢函數</a:t>
            </a:r>
            <a:r>
              <a:rPr lang="en-US" altLang="zh-TW" sz="2400" dirty="0">
                <a:ea typeface="Microsoft JhengHei" panose="020B0604030504040204" pitchFamily="34" charset="-12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B813A1B-200D-C818-B52C-264FFE17387F}"/>
                  </a:ext>
                </a:extLst>
              </p:cNvPr>
              <p:cNvSpPr txBox="1"/>
              <p:nvPr/>
            </p:nvSpPr>
            <p:spPr>
              <a:xfrm>
                <a:off x="4906633" y="2480128"/>
                <a:ext cx="23787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B813A1B-200D-C818-B52C-264FFE173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633" y="2480128"/>
                <a:ext cx="2378734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FBDC95D-829F-95A8-983D-09EEABA87268}"/>
                  </a:ext>
                </a:extLst>
              </p:cNvPr>
              <p:cNvSpPr txBox="1"/>
              <p:nvPr/>
            </p:nvSpPr>
            <p:spPr>
              <a:xfrm>
                <a:off x="7180054" y="347462"/>
                <a:ext cx="4358803" cy="957826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TW" altLang="zh-TW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TW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func>
                                <m:funcPr>
                                  <m:ctrlPr>
                                    <a:rPr lang="zh-TW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zh-TW" altLang="zh-TW" sz="1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FBDC95D-829F-95A8-983D-09EEABA87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054" y="347462"/>
                <a:ext cx="4358803" cy="957826"/>
              </a:xfrm>
              <a:prstGeom prst="rect">
                <a:avLst/>
              </a:prstGeom>
              <a:blipFill>
                <a:blip r:embed="rId4"/>
                <a:stretch>
                  <a:fillRect t="-94872" b="-14871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CF3EB0-3EB0-C6EA-01D0-B8D39967DD41}"/>
              </a:ext>
            </a:extLst>
          </p:cNvPr>
          <p:cNvSpPr txBox="1"/>
          <p:nvPr/>
        </p:nvSpPr>
        <p:spPr>
          <a:xfrm>
            <a:off x="653143" y="3078275"/>
            <a:ext cx="6094562" cy="5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Microsoft JhengHei" panose="020B0604030504040204" pitchFamily="34" charset="-120"/>
              </a:rPr>
              <a:t>Temporal Difference</a:t>
            </a:r>
            <a:r>
              <a:rPr lang="zh-TW" altLang="en-US" sz="2400" dirty="0">
                <a:ea typeface="Microsoft JhengHei" panose="020B0604030504040204" pitchFamily="34" charset="-120"/>
              </a:rPr>
              <a:t> </a:t>
            </a:r>
            <a:r>
              <a:rPr lang="en-US" altLang="zh-TW" sz="2400" dirty="0">
                <a:ea typeface="Microsoft JhengHei" panose="020B0604030504040204" pitchFamily="34" charset="-120"/>
              </a:rPr>
              <a:t>(TD)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103B3E8-3D41-8625-66AA-FED0B353E9C2}"/>
                  </a:ext>
                </a:extLst>
              </p:cNvPr>
              <p:cNvSpPr txBox="1"/>
              <p:nvPr/>
            </p:nvSpPr>
            <p:spPr>
              <a:xfrm>
                <a:off x="2696350" y="5117772"/>
                <a:ext cx="7111197" cy="957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TW" altLang="en-US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zh-TW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zh-TW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20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zh-TW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func>
                                <m:funcPr>
                                  <m:ctrlPr>
                                    <a:rPr lang="zh-TW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zh-TW" altLang="zh-TW" sz="1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103B3E8-3D41-8625-66AA-FED0B353E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350" y="5117772"/>
                <a:ext cx="7111197" cy="957826"/>
              </a:xfrm>
              <a:prstGeom prst="rect">
                <a:avLst/>
              </a:prstGeom>
              <a:blipFill>
                <a:blip r:embed="rId5"/>
                <a:stretch>
                  <a:fillRect t="-98684" b="-1526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9650570-68A0-87DC-3AE2-07846F3D75EB}"/>
                  </a:ext>
                </a:extLst>
              </p:cNvPr>
              <p:cNvSpPr txBox="1"/>
              <p:nvPr/>
            </p:nvSpPr>
            <p:spPr>
              <a:xfrm>
                <a:off x="2080528" y="3921494"/>
                <a:ext cx="22336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TW" i="1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kumimoji="1"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9650570-68A0-87DC-3AE2-07846F3D7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528" y="3921494"/>
                <a:ext cx="223368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CD2EDF1-D777-DDBC-DC7E-4A1572076910}"/>
                  </a:ext>
                </a:extLst>
              </p:cNvPr>
              <p:cNvSpPr txBox="1"/>
              <p:nvPr/>
            </p:nvSpPr>
            <p:spPr>
              <a:xfrm>
                <a:off x="4006450" y="3818610"/>
                <a:ext cx="2015479" cy="504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TW" altLang="en-US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越接近</a:t>
                </a: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越好</a:t>
                </a:r>
                <a:endParaRPr lang="en-US" altLang="zh-TW" sz="2000" dirty="0">
                  <a:solidFill>
                    <a:schemeClr val="tx1"/>
                  </a:solidFill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CD2EDF1-D777-DDBC-DC7E-4A1572076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450" y="3818610"/>
                <a:ext cx="2015479" cy="504369"/>
              </a:xfrm>
              <a:prstGeom prst="rect">
                <a:avLst/>
              </a:prstGeom>
              <a:blipFill>
                <a:blip r:embed="rId7"/>
                <a:stretch>
                  <a:fillRect b="-195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FE96104-9764-13FC-DF10-C5863034F6B4}"/>
                  </a:ext>
                </a:extLst>
              </p:cNvPr>
              <p:cNvSpPr txBox="1"/>
              <p:nvPr/>
            </p:nvSpPr>
            <p:spPr>
              <a:xfrm>
                <a:off x="2668622" y="4455777"/>
                <a:ext cx="24271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FE96104-9764-13FC-DF10-C5863034F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622" y="4455777"/>
                <a:ext cx="2427176" cy="369332"/>
              </a:xfrm>
              <a:prstGeom prst="rect">
                <a:avLst/>
              </a:prstGeom>
              <a:blipFill>
                <a:blip r:embed="rId8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C10AE26-1BFF-3D45-445B-752CB52968EF}"/>
                  </a:ext>
                </a:extLst>
              </p:cNvPr>
              <p:cNvSpPr txBox="1"/>
              <p:nvPr/>
            </p:nvSpPr>
            <p:spPr>
              <a:xfrm>
                <a:off x="653143" y="3797900"/>
                <a:ext cx="2015479" cy="504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TW" altLang="en-US" sz="2000" dirty="0">
                    <a:ea typeface="Microsoft JhengHei" panose="020B0604030504040204" pitchFamily="34" charset="-120"/>
                  </a:rPr>
                  <a:t>訓練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TW" altLang="en-US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時：</a:t>
                </a:r>
                <a:endParaRPr lang="en-US" altLang="zh-TW" sz="2000" dirty="0">
                  <a:solidFill>
                    <a:schemeClr val="tx1"/>
                  </a:solidFill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C10AE26-1BFF-3D45-445B-752CB5296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3797900"/>
                <a:ext cx="2015479" cy="504369"/>
              </a:xfrm>
              <a:prstGeom prst="rect">
                <a:avLst/>
              </a:prstGeom>
              <a:blipFill>
                <a:blip r:embed="rId9"/>
                <a:stretch>
                  <a:fillRect b="-2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3A3F70A3-4EEE-B404-45AB-2F3C8B1CB0A8}"/>
              </a:ext>
            </a:extLst>
          </p:cNvPr>
          <p:cNvSpPr txBox="1"/>
          <p:nvPr/>
        </p:nvSpPr>
        <p:spPr>
          <a:xfrm>
            <a:off x="887618" y="4342698"/>
            <a:ext cx="2015479" cy="50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000" dirty="0">
                <a:ea typeface="Microsoft JhengHei" panose="020B0604030504040204" pitchFamily="34" charset="-120"/>
              </a:rPr>
              <a:t>訓練</a:t>
            </a:r>
            <a:r>
              <a:rPr lang="en-US" altLang="zh-TW" sz="2000" dirty="0">
                <a:ea typeface="Microsoft JhengHei" panose="020B0604030504040204" pitchFamily="34" charset="-12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actor </a:t>
            </a:r>
            <a:r>
              <a:rPr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時：</a:t>
            </a:r>
            <a:endParaRPr lang="en-US" altLang="zh-TW" sz="2000" dirty="0">
              <a:solidFill>
                <a:schemeClr val="tx1"/>
              </a:solidFill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2FC49D66-2FC4-09DC-AE5B-9D2BF8BB15EC}"/>
                  </a:ext>
                </a:extLst>
              </p:cNvPr>
              <p:cNvSpPr txBox="1"/>
              <p:nvPr/>
            </p:nvSpPr>
            <p:spPr>
              <a:xfrm>
                <a:off x="4921705" y="4342540"/>
                <a:ext cx="5429990" cy="504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TW" altLang="en-US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越大越好，因為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sz="2000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zh-TW" altLang="en-US" sz="20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kumimoji="1"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zh-TW" altLang="en-US" sz="2000" dirty="0">
                    <a:solidFill>
                      <a:schemeClr val="tx1"/>
                    </a:solidFill>
                    <a:ea typeface="Microsoft JhengHei" panose="020B0604030504040204" pitchFamily="34" charset="-120"/>
                  </a:rPr>
                  <a:t>只是預估值</a:t>
                </a:r>
                <a:endParaRPr lang="en-US" altLang="zh-TW" sz="2000" dirty="0">
                  <a:solidFill>
                    <a:schemeClr val="tx1"/>
                  </a:solidFill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2FC49D66-2FC4-09DC-AE5B-9D2BF8BB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705" y="4342540"/>
                <a:ext cx="5429990" cy="504369"/>
              </a:xfrm>
              <a:prstGeom prst="rect">
                <a:avLst/>
              </a:prstGeom>
              <a:blipFill>
                <a:blip r:embed="rId10"/>
                <a:stretch>
                  <a:fillRect b="-195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87CFF0DB-D761-62C3-92A6-CAF2F298E7DB}"/>
              </a:ext>
            </a:extLst>
          </p:cNvPr>
          <p:cNvCxnSpPr>
            <a:cxnSpLocks/>
          </p:cNvCxnSpPr>
          <p:nvPr/>
        </p:nvCxnSpPr>
        <p:spPr>
          <a:xfrm flipV="1">
            <a:off x="4947583" y="5852030"/>
            <a:ext cx="0" cy="41074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0B1B0E51-1FF5-D080-270E-57D77A466B15}"/>
              </a:ext>
            </a:extLst>
          </p:cNvPr>
          <p:cNvCxnSpPr>
            <a:cxnSpLocks/>
          </p:cNvCxnSpPr>
          <p:nvPr/>
        </p:nvCxnSpPr>
        <p:spPr>
          <a:xfrm>
            <a:off x="4809530" y="5816659"/>
            <a:ext cx="28626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A4F4BB3-F810-608B-212B-3B558BD7FF54}"/>
              </a:ext>
            </a:extLst>
          </p:cNvPr>
          <p:cNvSpPr txBox="1"/>
          <p:nvPr/>
        </p:nvSpPr>
        <p:spPr>
          <a:xfrm>
            <a:off x="3651366" y="6163375"/>
            <a:ext cx="2510533" cy="50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TD </a:t>
            </a:r>
            <a:r>
              <a:rPr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是看即時</a:t>
            </a:r>
            <a:r>
              <a:rPr lang="en-US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 reward</a:t>
            </a:r>
          </a:p>
        </p:txBody>
      </p:sp>
    </p:spTree>
    <p:extLst>
      <p:ext uri="{BB962C8B-B14F-4D97-AF65-F5344CB8AC3E}">
        <p14:creationId xmlns:p14="http://schemas.microsoft.com/office/powerpoint/2010/main" val="26867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  <p:bldP spid="15" grpId="0"/>
      <p:bldP spid="18" grpId="0"/>
      <p:bldP spid="2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D2193D2D-1771-63FE-73D1-29E5EAA6F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472" y="2313237"/>
            <a:ext cx="3200400" cy="3379124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(Simplified) Path of Deep Reinforcement Learning</a:t>
            </a:r>
            <a:endParaRPr lang="zh-TW" altLang="en-US" sz="3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1DEBF9-6C13-262A-6DAA-8B289DD0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B620BE5-89AD-A3D6-E46B-41BF30B5023E}"/>
              </a:ext>
            </a:extLst>
          </p:cNvPr>
          <p:cNvSpPr/>
          <p:nvPr/>
        </p:nvSpPr>
        <p:spPr>
          <a:xfrm>
            <a:off x="5225712" y="1293779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Elements of RL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B75F2EC2-DF05-92E6-3419-8057F9567AFE}"/>
              </a:ext>
            </a:extLst>
          </p:cNvPr>
          <p:cNvSpPr/>
          <p:nvPr/>
        </p:nvSpPr>
        <p:spPr>
          <a:xfrm>
            <a:off x="5225712" y="2500594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Policy Gradient Methods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E6ACFF52-86F2-F9DD-44C3-D873DAA3756B}"/>
              </a:ext>
            </a:extLst>
          </p:cNvPr>
          <p:cNvSpPr/>
          <p:nvPr/>
        </p:nvSpPr>
        <p:spPr>
          <a:xfrm>
            <a:off x="5225712" y="4914223"/>
            <a:ext cx="5330757" cy="807395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b="1" dirty="0">
                <a:solidFill>
                  <a:schemeClr val="tx1"/>
                </a:solidFill>
              </a:rPr>
              <a:t>On-policy and Off-policy</a:t>
            </a:r>
            <a:endParaRPr kumimoji="1" lang="zh-TW" altLang="en-US" sz="3600" b="1" dirty="0">
              <a:solidFill>
                <a:schemeClr val="tx1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F97AD872-0B13-2E7D-8F1F-CF003BEEA02C}"/>
              </a:ext>
            </a:extLst>
          </p:cNvPr>
          <p:cNvSpPr/>
          <p:nvPr/>
        </p:nvSpPr>
        <p:spPr>
          <a:xfrm>
            <a:off x="5225712" y="3707409"/>
            <a:ext cx="5330757" cy="807395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600" dirty="0">
                <a:solidFill>
                  <a:schemeClr val="tx1"/>
                </a:solidFill>
              </a:rPr>
              <a:t>Actor-Critic</a:t>
            </a:r>
            <a:endParaRPr kumimoji="1" lang="zh-TW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695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DDF8BB-0F68-9E0D-5AC7-29805B96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[Recap, Important Notes] Training </a:t>
            </a:r>
            <a:r>
              <a:rPr kumimoji="1" lang="zh-TW" altLang="en-US" dirty="0">
                <a:ea typeface="Microsoft JhengHei" panose="020B0604030504040204" pitchFamily="34" charset="-120"/>
              </a:rPr>
              <a:t>細節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D42656-EDAB-997C-B541-912F33EC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A74204B-430E-6405-F9A8-FCE7228521FC}"/>
              </a:ext>
            </a:extLst>
          </p:cNvPr>
          <p:cNvSpPr txBox="1"/>
          <p:nvPr/>
        </p:nvSpPr>
        <p:spPr>
          <a:xfrm>
            <a:off x="653143" y="1697925"/>
            <a:ext cx="5380669" cy="1140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ea typeface="Microsoft JhengHei" panose="020B0604030504040204" pitchFamily="34" charset="-120"/>
              </a:rPr>
              <a:t>通常一個</a:t>
            </a:r>
            <a:r>
              <a:rPr lang="en-US" altLang="zh-TW" sz="2400" dirty="0">
                <a:ea typeface="Microsoft JhengHei" panose="020B0604030504040204" pitchFamily="34" charset="-120"/>
              </a:rPr>
              <a:t> episode </a:t>
            </a:r>
            <a:r>
              <a:rPr lang="zh-TW" altLang="en-US" sz="2400" dirty="0">
                <a:ea typeface="Microsoft JhengHei" panose="020B0604030504040204" pitchFamily="34" charset="-120"/>
              </a:rPr>
              <a:t>更新一次</a:t>
            </a:r>
            <a:r>
              <a:rPr lang="en-US" altLang="zh-TW" sz="2400" dirty="0">
                <a:ea typeface="Microsoft JhengHei" panose="020B0604030504040204" pitchFamily="34" charset="-12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actor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ea typeface="Microsoft JhengHei" panose="020B0604030504040204" pitchFamily="34" charset="-120"/>
              </a:rPr>
              <a:t>每次 </a:t>
            </a:r>
            <a:r>
              <a:rPr lang="en-US" altLang="zh-TW" sz="2400" dirty="0">
                <a:ea typeface="Microsoft JhengHei" panose="020B0604030504040204" pitchFamily="34" charset="-120"/>
              </a:rPr>
              <a:t>agent </a:t>
            </a:r>
            <a:r>
              <a:rPr lang="zh-TW" altLang="en-US" sz="2400" dirty="0">
                <a:ea typeface="Microsoft JhengHei" panose="020B0604030504040204" pitchFamily="34" charset="-120"/>
              </a:rPr>
              <a:t>更新後，資料要重新收集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D7E051A-50AD-CF4F-4501-4177CDEB7410}"/>
              </a:ext>
            </a:extLst>
          </p:cNvPr>
          <p:cNvSpPr txBox="1"/>
          <p:nvPr/>
        </p:nvSpPr>
        <p:spPr>
          <a:xfrm>
            <a:off x="3184676" y="2967349"/>
            <a:ext cx="301418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TW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Step1: </a:t>
            </a:r>
            <a:r>
              <a:rPr lang="zh-TW" altLang="en-US" sz="2400" kern="100" dirty="0">
                <a:ea typeface="Microsoft JhengHei" panose="020B0604030504040204" pitchFamily="34" charset="-120"/>
                <a:cs typeface="Times New Roman" panose="02020603050405020304" pitchFamily="18" charset="0"/>
              </a:rPr>
              <a:t>收集資料</a:t>
            </a:r>
            <a:endParaRPr lang="zh-TW" altLang="zh-TW" sz="2400" dirty="0">
              <a:ea typeface="Microsoft JhengHei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AF593C6-0D8D-0C60-E7E0-0DD0E694E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366" y="3902122"/>
            <a:ext cx="1417402" cy="86702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260576FD-E9CD-6CF7-6590-DC5D3F87984D}"/>
              </a:ext>
            </a:extLst>
          </p:cNvPr>
          <p:cNvSpPr txBox="1"/>
          <p:nvPr/>
        </p:nvSpPr>
        <p:spPr>
          <a:xfrm>
            <a:off x="4817269" y="4061264"/>
            <a:ext cx="622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000" dirty="0"/>
              <a:t>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3C41F1A-917E-0C33-7102-F0F6265DBEA7}"/>
                  </a:ext>
                </a:extLst>
              </p:cNvPr>
              <p:cNvSpPr/>
              <p:nvPr/>
            </p:nvSpPr>
            <p:spPr>
              <a:xfrm>
                <a:off x="5794635" y="3649622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3C41F1A-917E-0C33-7102-F0F6265DBE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635" y="3649622"/>
                <a:ext cx="679509" cy="505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C1657E0-E0DD-9521-8F12-FF7D603EF504}"/>
                  </a:ext>
                </a:extLst>
              </p:cNvPr>
              <p:cNvSpPr/>
              <p:nvPr/>
            </p:nvSpPr>
            <p:spPr>
              <a:xfrm>
                <a:off x="6531479" y="3649622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C1657E0-E0DD-9521-8F12-FF7D603EF5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79" y="3649622"/>
                <a:ext cx="679509" cy="505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43D6BB75-204C-C6AC-8443-97E14FD16987}"/>
                  </a:ext>
                </a:extLst>
              </p:cNvPr>
              <p:cNvSpPr/>
              <p:nvPr/>
            </p:nvSpPr>
            <p:spPr>
              <a:xfrm>
                <a:off x="7268323" y="3650497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43D6BB75-204C-C6AC-8443-97E14FD169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8323" y="3650497"/>
                <a:ext cx="679509" cy="5058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FF644B4-A84B-9093-A64A-2F000029D423}"/>
                  </a:ext>
                </a:extLst>
              </p:cNvPr>
              <p:cNvSpPr/>
              <p:nvPr/>
            </p:nvSpPr>
            <p:spPr>
              <a:xfrm>
                <a:off x="5803578" y="4263329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FF644B4-A84B-9093-A64A-2F000029D4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578" y="4263329"/>
                <a:ext cx="679509" cy="5058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03DBD682-BBDC-414E-47CF-97C9C24440CA}"/>
                  </a:ext>
                </a:extLst>
              </p:cNvPr>
              <p:cNvSpPr/>
              <p:nvPr/>
            </p:nvSpPr>
            <p:spPr>
              <a:xfrm>
                <a:off x="6540422" y="4263329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03DBD682-BBDC-414E-47CF-97C9C24440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422" y="4263329"/>
                <a:ext cx="679509" cy="5058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F355629-C828-E96D-7E18-B6E9C2D784A7}"/>
                  </a:ext>
                </a:extLst>
              </p:cNvPr>
              <p:cNvSpPr/>
              <p:nvPr/>
            </p:nvSpPr>
            <p:spPr>
              <a:xfrm>
                <a:off x="5803578" y="4877035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F355629-C828-E96D-7E18-B6E9C2D784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578" y="4877035"/>
                <a:ext cx="679509" cy="5058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5C3A821-31FF-6FE2-3D37-71CC3B93193F}"/>
                  </a:ext>
                </a:extLst>
              </p:cNvPr>
              <p:cNvSpPr/>
              <p:nvPr/>
            </p:nvSpPr>
            <p:spPr>
              <a:xfrm>
                <a:off x="6540422" y="4877035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5C3A821-31FF-6FE2-3D37-71CC3B9319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422" y="4877035"/>
                <a:ext cx="679509" cy="5058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229E833-A776-1C58-E36C-B71A34D5B6DC}"/>
                  </a:ext>
                </a:extLst>
              </p:cNvPr>
              <p:cNvSpPr/>
              <p:nvPr/>
            </p:nvSpPr>
            <p:spPr>
              <a:xfrm>
                <a:off x="5803578" y="5909738"/>
                <a:ext cx="679509" cy="505821"/>
              </a:xfrm>
              <a:prstGeom prst="rect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229E833-A776-1C58-E36C-B71A34D5B6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578" y="5909738"/>
                <a:ext cx="679509" cy="5058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B2747E14-3A0D-06C8-A3C0-14FBE21D9FBB}"/>
                  </a:ext>
                </a:extLst>
              </p:cNvPr>
              <p:cNvSpPr/>
              <p:nvPr/>
            </p:nvSpPr>
            <p:spPr>
              <a:xfrm>
                <a:off x="6540422" y="5909738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B2747E14-3A0D-06C8-A3C0-14FBE21D9F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422" y="5909738"/>
                <a:ext cx="679509" cy="50582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E2122B83-1A85-A024-5E97-109C4DE8284E}"/>
              </a:ext>
            </a:extLst>
          </p:cNvPr>
          <p:cNvSpPr txBox="1"/>
          <p:nvPr/>
        </p:nvSpPr>
        <p:spPr>
          <a:xfrm rot="5400000">
            <a:off x="6737648" y="5484795"/>
            <a:ext cx="463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E3C57F8C-651F-7E76-7D13-359FE7075095}"/>
                  </a:ext>
                </a:extLst>
              </p:cNvPr>
              <p:cNvSpPr/>
              <p:nvPr/>
            </p:nvSpPr>
            <p:spPr>
              <a:xfrm>
                <a:off x="7267987" y="4263328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E3C57F8C-651F-7E76-7D13-359FE7075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987" y="4263328"/>
                <a:ext cx="679509" cy="50582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3D7D000-EAA1-3C48-B428-D491001381B8}"/>
                  </a:ext>
                </a:extLst>
              </p:cNvPr>
              <p:cNvSpPr/>
              <p:nvPr/>
            </p:nvSpPr>
            <p:spPr>
              <a:xfrm>
                <a:off x="7277266" y="4877034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3D7D000-EAA1-3C48-B428-D491001381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266" y="4877034"/>
                <a:ext cx="679509" cy="5058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B7D3635-DD91-B78C-AE23-BB35A75365E1}"/>
                  </a:ext>
                </a:extLst>
              </p:cNvPr>
              <p:cNvSpPr/>
              <p:nvPr/>
            </p:nvSpPr>
            <p:spPr>
              <a:xfrm>
                <a:off x="7277266" y="5909738"/>
                <a:ext cx="679509" cy="50582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B7D3635-DD91-B78C-AE23-BB35A75365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266" y="5909738"/>
                <a:ext cx="679509" cy="50582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BB8710F7-92BA-7634-4BF6-2DC7E4E419B3}"/>
              </a:ext>
            </a:extLst>
          </p:cNvPr>
          <p:cNvSpPr txBox="1"/>
          <p:nvPr/>
        </p:nvSpPr>
        <p:spPr>
          <a:xfrm>
            <a:off x="6618514" y="2215620"/>
            <a:ext cx="4953000" cy="58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kern="100" dirty="0">
                <a:solidFill>
                  <a:srgbClr val="FF0000"/>
                </a:solidFill>
                <a:ea typeface="Microsoft JhengHei" panose="020B0604030504040204" pitchFamily="34" charset="-120"/>
                <a:cs typeface="Times New Roman" panose="02020603050405020304" pitchFamily="18" charset="0"/>
              </a:rPr>
              <a:t>Question: </a:t>
            </a:r>
            <a:r>
              <a:rPr lang="zh-TW" altLang="en-US" sz="2400" kern="100" dirty="0">
                <a:solidFill>
                  <a:srgbClr val="FF0000"/>
                </a:solidFill>
                <a:ea typeface="Microsoft JhengHei" panose="020B0604030504040204" pitchFamily="34" charset="-120"/>
                <a:cs typeface="Times New Roman" panose="02020603050405020304" pitchFamily="18" charset="0"/>
              </a:rPr>
              <a:t>舊的資料是否能沿用呢？</a:t>
            </a:r>
            <a:endParaRPr lang="zh-TW" altLang="zh-TW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5861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C0893-4E98-1BBB-513F-9F018BBD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[Definition] On-policy and Off-policy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5AD1E0-6F05-44B7-0D03-AA115D51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EFA5BC-D03A-48F6-9FAF-C20FC78EF9BA}"/>
                  </a:ext>
                </a:extLst>
              </p:cNvPr>
              <p:cNvSpPr txBox="1"/>
              <p:nvPr/>
            </p:nvSpPr>
            <p:spPr>
              <a:xfrm>
                <a:off x="653142" y="1764578"/>
                <a:ext cx="10835224" cy="22488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On-policy</a:t>
                </a:r>
                <a:r>
                  <a:rPr kumimoji="1" lang="zh-TW" altLang="en-US" sz="2400" dirty="0"/>
                  <a:t>：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被訓練的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 agent 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跟資料是來自同一個 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policy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訓練資料來自目前的 </a:t>
                </a:r>
                <a:r>
                  <a:rPr kumimoji="1" lang="en" altLang="zh-TW" sz="2400" dirty="0">
                    <a:ea typeface="Microsoft JhengHei" panose="020B0604030504040204" pitchFamily="34" charset="-120"/>
                  </a:rPr>
                  <a:t>policy (</a:t>
                </a:r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現在訓練</a:t>
                </a:r>
                <a14:m>
                  <m:oMath xmlns:m="http://schemas.openxmlformats.org/officeDocument/2006/math">
                    <m:r>
                      <a:rPr lang="zh-TW" alt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，資料來自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kumimoji="1" lang="en" altLang="zh-TW" sz="2400" dirty="0">
                    <a:ea typeface="Microsoft JhengHei" panose="020B0604030504040204" pitchFamily="34" charset="-120"/>
                  </a:rPr>
                  <a:t>)</a:t>
                </a:r>
                <a:endParaRPr lang="en-US" altLang="zh-TW" sz="2400" dirty="0">
                  <a:ea typeface="Microsoft JhengHei" panose="020B0604030504040204" pitchFamily="34" charset="-12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Off-policy</a:t>
                </a:r>
                <a:r>
                  <a:rPr kumimoji="1" lang="zh-TW" altLang="en-US" sz="2400" dirty="0"/>
                  <a:t>：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被訓練的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 agent 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跟資料</a:t>
                </a:r>
                <a:r>
                  <a:rPr lang="zh-TW" altLang="en-US" sz="2400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不是</a:t>
                </a:r>
                <a:r>
                  <a:rPr lang="zh-TW" altLang="en-US" sz="2400" dirty="0">
                    <a:ea typeface="Microsoft JhengHei" panose="020B0604030504040204" pitchFamily="34" charset="-120"/>
                  </a:rPr>
                  <a:t>來自同一個 </a:t>
                </a:r>
                <a:r>
                  <a:rPr lang="en-US" altLang="zh-TW" sz="2400" dirty="0">
                    <a:ea typeface="Microsoft JhengHei" panose="020B0604030504040204" pitchFamily="34" charset="-120"/>
                  </a:rPr>
                  <a:t>policy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訓練資料來自不同的 </a:t>
                </a:r>
                <a:r>
                  <a:rPr kumimoji="1" lang="en" altLang="zh-TW" sz="2400" dirty="0">
                    <a:ea typeface="Microsoft JhengHei" panose="020B0604030504040204" pitchFamily="34" charset="-120"/>
                  </a:rPr>
                  <a:t>policies (</a:t>
                </a:r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例如：現在訓練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sty m:val="p"/>
                          </m:rPr>
                          <a:rPr lang="en-US" altLang="zh-TW" sz="2400" baseline="-2500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但資料來自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sty m:val="p"/>
                          </m:rPr>
                          <a:rPr lang="en-US" altLang="zh-TW" sz="2400" baseline="-25000"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</m:oMath>
                </a14:m>
                <a:r>
                  <a:rPr kumimoji="1" lang="en" altLang="zh-TW" sz="2400" dirty="0">
                    <a:ea typeface="Microsoft JhengHei" panose="020B0604030504040204" pitchFamily="34" charset="-120"/>
                  </a:rPr>
                  <a:t>)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EFA5BC-D03A-48F6-9FAF-C20FC78EF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2" y="1764578"/>
                <a:ext cx="10835224" cy="2248821"/>
              </a:xfrm>
              <a:prstGeom prst="rect">
                <a:avLst/>
              </a:prstGeom>
              <a:blipFill>
                <a:blip r:embed="rId3"/>
                <a:stretch>
                  <a:fillRect l="-703" b="-56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88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7C8067-C4C1-3762-7D2F-76478305D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On-policy and Off-policy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5ECA35-2B1A-41A2-D147-FB6C78FE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0CE5A4E-01AB-54D0-50EA-4594F5D92918}"/>
              </a:ext>
            </a:extLst>
          </p:cNvPr>
          <p:cNvSpPr txBox="1"/>
          <p:nvPr/>
        </p:nvSpPr>
        <p:spPr>
          <a:xfrm>
            <a:off x="653143" y="2022101"/>
            <a:ext cx="88887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/>
              <a:t>Hung-</a:t>
            </a:r>
            <a:r>
              <a:rPr lang="en-US" altLang="zh-TW" sz="2000" dirty="0" err="1"/>
              <a:t>yi</a:t>
            </a:r>
            <a:r>
              <a:rPr lang="en-US" altLang="zh-TW" sz="2000" dirty="0"/>
              <a:t> Lee: </a:t>
            </a:r>
            <a:r>
              <a:rPr lang="zh-TW" altLang="en-US" sz="2000" dirty="0"/>
              <a:t>https://youtu.be/OAKAZhFmYoI?si=zmFUM46UJ4ONKchQ&amp;t=90</a:t>
            </a:r>
            <a:endParaRPr lang="en-US" altLang="zh-TW" sz="2000" dirty="0"/>
          </a:p>
          <a:p>
            <a:r>
              <a:rPr lang="en-US" altLang="zh-TW" sz="2000" dirty="0">
                <a:ea typeface="Microsoft JhengHei" panose="020B0604030504040204" pitchFamily="34" charset="-120"/>
              </a:rPr>
              <a:t>On-policy: </a:t>
            </a:r>
            <a:r>
              <a:rPr lang="zh-TW" altLang="en-US" sz="2000" dirty="0">
                <a:ea typeface="Microsoft JhengHei" panose="020B0604030504040204" pitchFamily="34" charset="-120"/>
              </a:rPr>
              <a:t>阿光下棋</a:t>
            </a:r>
            <a:endParaRPr lang="en-US" altLang="zh-TW" sz="2000" dirty="0">
              <a:ea typeface="Microsoft JhengHei" panose="020B0604030504040204" pitchFamily="34" charset="-120"/>
            </a:endParaRPr>
          </a:p>
          <a:p>
            <a:r>
              <a:rPr lang="en-US" altLang="zh-TW" sz="2000" dirty="0">
                <a:ea typeface="Microsoft JhengHei" panose="020B0604030504040204" pitchFamily="34" charset="-120"/>
              </a:rPr>
              <a:t>Off-policy: </a:t>
            </a:r>
            <a:r>
              <a:rPr lang="zh-TW" altLang="en-US" sz="2000" dirty="0">
                <a:ea typeface="Microsoft JhengHei" panose="020B0604030504040204" pitchFamily="34" charset="-120"/>
              </a:rPr>
              <a:t>佐為下棋、阿光在旁邊看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86BD51C-A787-2597-589C-8323C0705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644" y="3292437"/>
            <a:ext cx="4420311" cy="280345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7D121A8-2EAD-4D57-AA5C-13D146BC0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52" y="3292437"/>
            <a:ext cx="4148419" cy="2799223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BC87EE8A-207F-2BA3-4C95-C124135E06FF}"/>
              </a:ext>
            </a:extLst>
          </p:cNvPr>
          <p:cNvSpPr txBox="1"/>
          <p:nvPr/>
        </p:nvSpPr>
        <p:spPr>
          <a:xfrm>
            <a:off x="2024301" y="6161667"/>
            <a:ext cx="2517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ea typeface="Microsoft JhengHei" panose="020B0604030504040204" pitchFamily="34" charset="-120"/>
              </a:rPr>
              <a:t>On-policy: </a:t>
            </a:r>
            <a:r>
              <a:rPr lang="zh-TW" altLang="en-US" dirty="0">
                <a:ea typeface="Microsoft JhengHei" panose="020B0604030504040204" pitchFamily="34" charset="-120"/>
              </a:rPr>
              <a:t>自己打</a:t>
            </a:r>
            <a:r>
              <a:rPr lang="en-US" altLang="zh-TW" dirty="0">
                <a:ea typeface="Microsoft JhengHei" panose="020B0604030504040204" pitchFamily="34" charset="-120"/>
              </a:rPr>
              <a:t>game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D506AD1-13ED-B105-2078-275CDAA2E696}"/>
              </a:ext>
            </a:extLst>
          </p:cNvPr>
          <p:cNvSpPr txBox="1"/>
          <p:nvPr/>
        </p:nvSpPr>
        <p:spPr>
          <a:xfrm>
            <a:off x="6355997" y="6161667"/>
            <a:ext cx="41707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ea typeface="Microsoft JhengHei" panose="020B0604030504040204" pitchFamily="34" charset="-120"/>
              </a:rPr>
              <a:t>Off-policy: </a:t>
            </a:r>
            <a:r>
              <a:rPr lang="zh-TW" altLang="en-US" sz="1800" dirty="0">
                <a:ea typeface="Microsoft JhengHei" panose="020B0604030504040204" pitchFamily="34" charset="-120"/>
              </a:rPr>
              <a:t>看實況主</a:t>
            </a:r>
            <a:r>
              <a:rPr lang="zh-TW" altLang="en-US" dirty="0">
                <a:ea typeface="Microsoft JhengHei" panose="020B0604030504040204" pitchFamily="34" charset="-120"/>
              </a:rPr>
              <a:t>打</a:t>
            </a:r>
            <a:r>
              <a:rPr lang="en-US" altLang="zh-TW" dirty="0">
                <a:ea typeface="Microsoft JhengHei" panose="020B0604030504040204" pitchFamily="34" charset="-120"/>
              </a:rPr>
              <a:t>game</a:t>
            </a:r>
            <a:r>
              <a:rPr lang="zh-TW" altLang="en-US" dirty="0">
                <a:ea typeface="Microsoft JhengHei" panose="020B0604030504040204" pitchFamily="34" charset="-120"/>
              </a:rPr>
              <a:t>，自己偷學</a:t>
            </a:r>
            <a:endParaRPr lang="en-US" altLang="zh-TW" dirty="0">
              <a:ea typeface="Microsoft JhengHei" panose="020B0604030504040204" pitchFamily="34" charset="-120"/>
            </a:endParaRPr>
          </a:p>
          <a:p>
            <a:r>
              <a:rPr lang="en-US" altLang="zh-TW" sz="1400" dirty="0">
                <a:ea typeface="Microsoft JhengHei" panose="020B0604030504040204" pitchFamily="34" charset="-120"/>
              </a:rPr>
              <a:t>https://</a:t>
            </a:r>
            <a:r>
              <a:rPr lang="en-US" altLang="zh-TW" sz="1400" dirty="0" err="1">
                <a:ea typeface="Microsoft JhengHei" panose="020B0604030504040204" pitchFamily="34" charset="-120"/>
              </a:rPr>
              <a:t>www.youtube.com</a:t>
            </a:r>
            <a:r>
              <a:rPr lang="en-US" altLang="zh-TW" sz="1400" dirty="0">
                <a:ea typeface="Microsoft JhengHei" panose="020B0604030504040204" pitchFamily="34" charset="-120"/>
              </a:rPr>
              <a:t>/</a:t>
            </a:r>
            <a:r>
              <a:rPr lang="en-US" altLang="zh-TW" sz="1400" dirty="0" err="1">
                <a:ea typeface="Microsoft JhengHei" panose="020B0604030504040204" pitchFamily="34" charset="-120"/>
              </a:rPr>
              <a:t>watch?v</a:t>
            </a:r>
            <a:r>
              <a:rPr lang="en-US" altLang="zh-TW" sz="1400" dirty="0">
                <a:ea typeface="Microsoft JhengHei" panose="020B0604030504040204" pitchFamily="34" charset="-120"/>
              </a:rPr>
              <a:t>=wmabM0dFGWU</a:t>
            </a:r>
          </a:p>
        </p:txBody>
      </p:sp>
    </p:spTree>
    <p:extLst>
      <p:ext uri="{BB962C8B-B14F-4D97-AF65-F5344CB8AC3E}">
        <p14:creationId xmlns:p14="http://schemas.microsoft.com/office/powerpoint/2010/main" val="23503627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2FDD99-EA16-5164-84A5-A655154A7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Off-policy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的問題與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PPO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F56694-E7AD-EB93-D947-B177DA9C7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9F20AAF-C56C-CC63-E00D-F83B452E85E9}"/>
                  </a:ext>
                </a:extLst>
              </p:cNvPr>
              <p:cNvSpPr txBox="1"/>
              <p:nvPr/>
            </p:nvSpPr>
            <p:spPr>
              <a:xfrm>
                <a:off x="653143" y="1683489"/>
                <a:ext cx="1091837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資料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 (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來自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sty m:val="p"/>
                          </m:rPr>
                          <a:rPr lang="en-US" altLang="zh-TW" sz="2000" baseline="-25000"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)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是舊的，但模型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sty m:val="p"/>
                          </m:rPr>
                          <a:rPr lang="en-US" altLang="zh-TW" sz="2000" baseline="-2500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)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是新的</a:t>
                </a:r>
                <a:endParaRPr kumimoji="1" lang="en-US" altLang="zh-TW" sz="2000" dirty="0">
                  <a:ea typeface="Microsoft JhengHei" panose="020B0604030504040204" pitchFamily="34" charset="-12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sty m:val="p"/>
                          </m:rPr>
                          <a:rPr lang="en-US" altLang="zh-TW" sz="2000" baseline="-2500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可能已經變強了，可能會被舊的資料誤導</a:t>
                </a:r>
                <a:endParaRPr kumimoji="1" lang="en-US" altLang="zh-TW" sz="2000" dirty="0">
                  <a:ea typeface="Microsoft JhengHei" panose="020B0604030504040204" pitchFamily="34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有些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paper (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如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 TRPO)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會採用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importance sampling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的方法來限制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TW" altLang="en-US" sz="200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的變化</a:t>
                </a:r>
                <a:endParaRPr kumimoji="1" lang="en-US" altLang="zh-TW" sz="2000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9F20AAF-C56C-CC63-E00D-F83B452E8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683489"/>
                <a:ext cx="10918370" cy="1477328"/>
              </a:xfrm>
              <a:prstGeom prst="rect">
                <a:avLst/>
              </a:prstGeom>
              <a:blipFill>
                <a:blip r:embed="rId3"/>
                <a:stretch>
                  <a:fillRect l="-465" b="-42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51877E8A-F23D-C837-57B0-8060F423C4B4}"/>
              </a:ext>
            </a:extLst>
          </p:cNvPr>
          <p:cNvSpPr txBox="1"/>
          <p:nvPr/>
        </p:nvSpPr>
        <p:spPr>
          <a:xfrm>
            <a:off x="7592247" y="381419"/>
            <a:ext cx="41323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/>
              <a:t>TRPO: Schulman, John, et al. "Trust region policy optimization." </a:t>
            </a:r>
            <a:r>
              <a:rPr lang="en" altLang="zh-TW" sz="1200" i="1" dirty="0"/>
              <a:t>International conference on machine learning</a:t>
            </a:r>
            <a:r>
              <a:rPr lang="en" altLang="zh-TW" sz="1200" dirty="0"/>
              <a:t>. 2015.</a:t>
            </a:r>
          </a:p>
          <a:p>
            <a:r>
              <a:rPr lang="en-US" altLang="zh-TW" sz="1200" dirty="0"/>
              <a:t>PPO: Schulman, John, et al. "Proximal policy optimization algorithms." </a:t>
            </a:r>
            <a:r>
              <a:rPr lang="en-US" altLang="zh-TW" sz="1200" dirty="0" err="1"/>
              <a:t>arXiv</a:t>
            </a:r>
            <a:r>
              <a:rPr lang="en-US" altLang="zh-TW" sz="1200" dirty="0"/>
              <a:t> preprint arXiv:1707.06347 (2017).</a:t>
            </a:r>
            <a:endParaRPr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243E204-21E8-3B63-92DB-98D6586B9DC7}"/>
                  </a:ext>
                </a:extLst>
              </p:cNvPr>
              <p:cNvSpPr txBox="1"/>
              <p:nvPr/>
            </p:nvSpPr>
            <p:spPr>
              <a:xfrm>
                <a:off x="3048000" y="3334841"/>
                <a:ext cx="6096000" cy="724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new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old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243E204-21E8-3B63-92DB-98D6586B9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334841"/>
                <a:ext cx="6096000" cy="7246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9DC4245-12BA-7E85-976B-28990F336971}"/>
                  </a:ext>
                </a:extLst>
              </p:cNvPr>
              <p:cNvSpPr txBox="1"/>
              <p:nvPr/>
            </p:nvSpPr>
            <p:spPr>
              <a:xfrm>
                <a:off x="653142" y="4418856"/>
                <a:ext cx="10241837" cy="674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zh-TW" altLang="en-US" dirty="0">
                    <a:ea typeface="Microsoft JhengHei" panose="020B0604030504040204" pitchFamily="34" charset="-120"/>
                  </a:rPr>
                  <a:t>但在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zh-TW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TW" altLang="en-US" sz="180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zh-TW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TW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zh-TW" altLang="en-US" dirty="0">
                    <a:ea typeface="Microsoft JhengHei" panose="020B0604030504040204" pitchFamily="34" charset="-120"/>
                  </a:rPr>
                  <a:t> 和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TW" altLang="en-US">
                                <a:latin typeface="Cambria Math" panose="02040503050406030204" pitchFamily="18" charset="0"/>
                              </a:rPr>
                              <m:t>old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zh-TW" dirty="0"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ea typeface="Microsoft JhengHei" panose="020B0604030504040204" pitchFamily="34" charset="-120"/>
                  </a:rPr>
                  <a:t>差異很大的情況下，訓練不穩定</a:t>
                </a:r>
                <a:endParaRPr kumimoji="1" lang="en-US" altLang="zh-TW" dirty="0">
                  <a:ea typeface="Microsoft JhengHei" panose="020B0604030504040204" pitchFamily="34" charset="-12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dirty="0">
                    <a:ea typeface="Microsoft JhengHei" panose="020B0604030504040204" pitchFamily="34" charset="-120"/>
                  </a:rPr>
                  <a:t>-&gt; </a:t>
                </a:r>
                <a:r>
                  <a:rPr kumimoji="1" lang="zh-TW" altLang="en-US" dirty="0">
                    <a:ea typeface="Microsoft JhengHei" panose="020B0604030504040204" pitchFamily="34" charset="-120"/>
                  </a:rPr>
                  <a:t>近代作法 </a:t>
                </a:r>
                <a:r>
                  <a:rPr kumimoji="1" lang="en-US" altLang="zh-TW" dirty="0">
                    <a:ea typeface="Microsoft JhengHei" panose="020B0604030504040204" pitchFamily="34" charset="-120"/>
                  </a:rPr>
                  <a:t>PPO (Proximal Policy Optimization) </a:t>
                </a:r>
                <a:r>
                  <a:rPr kumimoji="1" lang="zh-TW" altLang="en-US" dirty="0">
                    <a:ea typeface="Microsoft JhengHei" panose="020B0604030504040204" pitchFamily="34" charset="-120"/>
                  </a:rPr>
                  <a:t>用範圍更加限制 </a:t>
                </a:r>
                <a:r>
                  <a:rPr kumimoji="1" lang="en-US" altLang="zh-TW" sz="1800" dirty="0">
                    <a:ea typeface="Microsoft JhengHei" panose="020B0604030504040204" pitchFamily="34" charset="-120"/>
                  </a:rPr>
                  <a:t>importance sampling </a:t>
                </a:r>
                <a:r>
                  <a:rPr kumimoji="1" lang="zh-TW" altLang="en-US" sz="1800" dirty="0">
                    <a:ea typeface="Microsoft JhengHei" panose="020B0604030504040204" pitchFamily="34" charset="-120"/>
                  </a:rPr>
                  <a:t>的</a:t>
                </a:r>
                <a:r>
                  <a:rPr kumimoji="1" lang="zh-TW" altLang="en-US" dirty="0">
                    <a:ea typeface="Microsoft JhengHei" panose="020B0604030504040204" pitchFamily="34" charset="-120"/>
                  </a:rPr>
                  <a:t>變化：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9DC4245-12BA-7E85-976B-28990F336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2" y="4418856"/>
                <a:ext cx="10241837" cy="674480"/>
              </a:xfrm>
              <a:prstGeom prst="rect">
                <a:avLst/>
              </a:prstGeom>
              <a:blipFill>
                <a:blip r:embed="rId5"/>
                <a:stretch>
                  <a:fillRect l="-372" t="-5556" b="-129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7F03D1C-CD70-281F-5DDB-CCF081D9440D}"/>
                  </a:ext>
                </a:extLst>
              </p:cNvPr>
              <p:cNvSpPr txBox="1"/>
              <p:nvPr/>
            </p:nvSpPr>
            <p:spPr>
              <a:xfrm>
                <a:off x="3047999" y="5313057"/>
                <a:ext cx="6096000" cy="748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new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old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≤1+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7F03D1C-CD70-281F-5DDB-CCF081D94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9" y="5313057"/>
                <a:ext cx="6096000" cy="7480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C6F1AF5-F371-362B-6CF5-1C115EEDC47B}"/>
                  </a:ext>
                </a:extLst>
              </p:cNvPr>
              <p:cNvSpPr txBox="1"/>
              <p:nvPr/>
            </p:nvSpPr>
            <p:spPr>
              <a:xfrm>
                <a:off x="4185920" y="6230894"/>
                <a:ext cx="3931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>
                    <a:ea typeface="Microsoft JhengHei" panose="020B0604030504040204" pitchFamily="34" charset="-120"/>
                  </a:rPr>
                  <a:t> </a:t>
                </a:r>
                <a:r>
                  <a:rPr lang="zh-TW" altLang="en-US" dirty="0">
                    <a:ea typeface="Microsoft JhengHei" panose="020B0604030504040204" pitchFamily="34" charset="-120"/>
                  </a:rPr>
                  <a:t>為超參數，</a:t>
                </a:r>
                <a:r>
                  <a:rPr lang="en-US" altLang="zh-TW" dirty="0">
                    <a:ea typeface="Microsoft JhengHei" panose="020B0604030504040204" pitchFamily="34" charset="-120"/>
                  </a:rPr>
                  <a:t>PPO</a:t>
                </a:r>
                <a:r>
                  <a:rPr lang="zh-TW" altLang="en-US" dirty="0">
                    <a:ea typeface="Microsoft JhengHei" panose="020B0604030504040204" pitchFamily="34" charset="-120"/>
                  </a:rPr>
                  <a:t> 論文中設為 </a:t>
                </a:r>
                <a:r>
                  <a:rPr lang="en-US" altLang="zh-TW" dirty="0">
                    <a:ea typeface="Microsoft JhengHei" panose="020B0604030504040204" pitchFamily="34" charset="-120"/>
                  </a:rPr>
                  <a:t>0.2</a:t>
                </a:r>
                <a:endParaRPr lang="zh-TW" altLang="en-US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C6F1AF5-F371-362B-6CF5-1C115EEDC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920" y="6230894"/>
                <a:ext cx="3931920" cy="369332"/>
              </a:xfrm>
              <a:prstGeom prst="rect">
                <a:avLst/>
              </a:prstGeom>
              <a:blipFill>
                <a:blip r:embed="rId7"/>
                <a:stretch>
                  <a:fillRect l="-965" t="-6667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87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4DD5A-6655-641D-AE2A-5F94EBB01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/>
              <a:t>Summary</a:t>
            </a:r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E23A9C-0F16-F159-E331-9B382214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70C7F47-DE31-A9C1-D41B-F6D859672CB6}"/>
              </a:ext>
            </a:extLst>
          </p:cNvPr>
          <p:cNvSpPr txBox="1"/>
          <p:nvPr/>
        </p:nvSpPr>
        <p:spPr>
          <a:xfrm>
            <a:off x="653143" y="1927329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Policy gradient: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讓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policy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透過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maximize reward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方向更新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Value function: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預測一個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state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的「未來總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reward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」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400" dirty="0"/>
              <a:t>On-policy vs. Off-policy: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模型「自己收資料」或「看舊資料學習」的差別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PPO: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透過限制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policy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來小步更新幅度，慢慢變好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33234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2768E3-08C5-733E-DD63-4718718A5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學習資源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88017F-F5A0-8107-D835-376EFE07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072EBFB-22F8-6EAC-8394-3744FE55886D}"/>
              </a:ext>
            </a:extLst>
          </p:cNvPr>
          <p:cNvSpPr txBox="1"/>
          <p:nvPr/>
        </p:nvSpPr>
        <p:spPr>
          <a:xfrm>
            <a:off x="636815" y="1749469"/>
            <a:ext cx="10918370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400" dirty="0"/>
              <a:t>Sutton, R. S., &amp; </a:t>
            </a:r>
            <a:r>
              <a:rPr lang="en" altLang="zh-TW" sz="2400" dirty="0" err="1"/>
              <a:t>Barto</a:t>
            </a:r>
            <a:r>
              <a:rPr lang="en" altLang="zh-TW" sz="2400" dirty="0"/>
              <a:t>, A. G. (2018). </a:t>
            </a:r>
            <a:r>
              <a:rPr lang="en" altLang="zh-TW" sz="2400" i="1" dirty="0"/>
              <a:t>Reinforcement Learning: An Introduction</a:t>
            </a:r>
            <a:r>
              <a:rPr lang="en" altLang="zh-TW" sz="2400" dirty="0"/>
              <a:t> (2nd ed.), Chapter 5: Monte Carlo Methods.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http://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incompleteideas.net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/book/the-book-2nd.html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李宏毅老師 </a:t>
            </a:r>
            <a:r>
              <a:rPr lang="en" altLang="zh-TW" sz="2400" dirty="0"/>
              <a:t>Deep Reinforcement Learning, 2018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播放清單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400" dirty="0"/>
              <a:t>https://</a:t>
            </a:r>
            <a:r>
              <a:rPr lang="en" altLang="zh-TW" sz="2400" dirty="0" err="1"/>
              <a:t>youtube.com</a:t>
            </a:r>
            <a:r>
              <a:rPr lang="en" altLang="zh-TW" sz="2400" dirty="0"/>
              <a:t>/</a:t>
            </a:r>
            <a:r>
              <a:rPr lang="en" altLang="zh-TW" sz="2400" dirty="0" err="1"/>
              <a:t>playlist?list</a:t>
            </a:r>
            <a:r>
              <a:rPr lang="en" altLang="zh-TW" sz="2400" dirty="0"/>
              <a:t>=PLJV_el3uVTsODxQFgzMzPLa16h6B8kWM_&amp;si=qN41KpUMwMBVipiA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400" dirty="0" err="1"/>
              <a:t>OpenAI</a:t>
            </a:r>
            <a:r>
              <a:rPr lang="en" altLang="zh-TW" sz="2400" dirty="0"/>
              <a:t> Spinning Up in Deep RL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2400" dirty="0"/>
              <a:t>https://</a:t>
            </a:r>
            <a:r>
              <a:rPr lang="en" altLang="zh-TW" sz="2400" dirty="0" err="1"/>
              <a:t>spinningup.openai.com</a:t>
            </a:r>
            <a:r>
              <a:rPr lang="en" altLang="zh-TW" sz="2400" dirty="0"/>
              <a:t>/</a:t>
            </a:r>
            <a:r>
              <a:rPr lang="en" altLang="zh-TW" sz="2400" dirty="0" err="1"/>
              <a:t>en</a:t>
            </a:r>
            <a:r>
              <a:rPr lang="en" altLang="zh-TW" sz="2400" dirty="0"/>
              <a:t>/latest/algorithms/</a:t>
            </a:r>
            <a:r>
              <a:rPr lang="en" altLang="zh-TW" sz="2400" dirty="0" err="1"/>
              <a:t>ppo.html</a:t>
            </a:r>
            <a:endParaRPr lang="en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3711543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Week 15 / Week 16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之前要繳交什麼？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36815" y="1502495"/>
            <a:ext cx="10918370" cy="5121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一組繳交一份，請上傳至 </a:t>
            </a:r>
            <a:r>
              <a:rPr kumimoji="1" lang="en-US" altLang="zh-TW" sz="2000">
                <a:ea typeface="Microsoft JhengHei" panose="020B0604030504040204" pitchFamily="34" charset="-120"/>
              </a:rPr>
              <a:t>E-Learning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檔名：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DL_teamN_checkpoint3.pdf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或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DL_teamN_checkpoint3.pptx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前</a:t>
            </a:r>
            <a:r>
              <a:rPr kumimoji="1" lang="en-US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10</a:t>
            </a: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頁：</a:t>
            </a:r>
            <a:r>
              <a:rPr kumimoji="1" lang="en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Checkpoint1+2 </a:t>
            </a: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原始簡報內容</a:t>
            </a:r>
            <a:r>
              <a:rPr kumimoji="1" lang="en-US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 (</a:t>
            </a: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如有需要，可修改</a:t>
            </a:r>
            <a:r>
              <a:rPr kumimoji="1" lang="en-US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後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5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頁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或更多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：新進度補充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實作的方法介紹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代表各組需完成初步實作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，可以包含：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371600" lvl="2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資料前處理、模型介紹、訓練策略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如 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loss function</a:t>
            </a:r>
            <a:r>
              <a:rPr kumimoji="1" lang="zh-TW" altLang="en" sz="2000" dirty="0">
                <a:ea typeface="Microsoft JhengHei" panose="020B0604030504040204" pitchFamily="34" charset="-120"/>
              </a:rPr>
              <a:t>、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optimizer</a:t>
            </a:r>
            <a:r>
              <a:rPr kumimoji="1" lang="zh-TW" altLang="en" sz="2000" dirty="0">
                <a:ea typeface="Microsoft JhengHei" panose="020B0604030504040204" pitchFamily="34" charset="-120"/>
              </a:rPr>
              <a:t>、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scheduler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等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等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…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與上次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 (Checkpoint2) 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的差異</a:t>
            </a:r>
            <a:endParaRPr kumimoji="1" lang="en-US" altLang="zh-TW" sz="20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實驗結果比較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含實驗設定說明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，可比較上次結果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Kaggle Leaderboard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名次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或分數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請截圖貼到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pptx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中，希望能有分數進展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時程規劃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再來還要簡單測試什麼？用表格列出未來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1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週內的可能測試與安排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針對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en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Checkpoint3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之前的小組分工細節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07062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882537"/>
            <a:ext cx="4071257" cy="1933709"/>
          </a:xfrm>
        </p:spPr>
        <p:txBody>
          <a:bodyPr>
            <a:normAutofit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81662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9274</TotalTime>
  <Words>2977</Words>
  <Application>Microsoft Macintosh PowerPoint</Application>
  <PresentationFormat>寬螢幕</PresentationFormat>
  <Paragraphs>582</Paragraphs>
  <Slides>48</Slides>
  <Notes>19</Notes>
  <HiddenSlides>0</HiddenSlides>
  <MMClips>1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57" baseType="lpstr">
      <vt:lpstr>Microsoft JhengHei</vt:lpstr>
      <vt:lpstr>Aptos</vt:lpstr>
      <vt:lpstr>Arial</vt:lpstr>
      <vt:lpstr>Calibri</vt:lpstr>
      <vt:lpstr>Calibri Light</vt:lpstr>
      <vt:lpstr>Cambria Math</vt:lpstr>
      <vt:lpstr>Times New Roman</vt:lpstr>
      <vt:lpstr>Wingdings</vt:lpstr>
      <vt:lpstr>回顧</vt:lpstr>
      <vt:lpstr>深度學習 Deep Learning</vt:lpstr>
      <vt:lpstr>Outline</vt:lpstr>
      <vt:lpstr>Reinforcement Learning (RL) 歸類?</vt:lpstr>
      <vt:lpstr>A Taxonomy of RL Algorithms</vt:lpstr>
      <vt:lpstr>為什麼我們要學 RL (1): RL is everywhere</vt:lpstr>
      <vt:lpstr>為什麼我們要學 RL (1): RL is everywhere</vt:lpstr>
      <vt:lpstr>為什麼我們要學 RL (1): RL is everywhere</vt:lpstr>
      <vt:lpstr>Atari</vt:lpstr>
      <vt:lpstr>為什麼我們要學 RL (2): 訓練方式的不同</vt:lpstr>
      <vt:lpstr>Supervised Learning vs. Reinforcement Learning</vt:lpstr>
      <vt:lpstr>PowerPoint 簡報</vt:lpstr>
      <vt:lpstr>[Illustration] RL 的元素</vt:lpstr>
      <vt:lpstr>[Definitions] RL 的元素</vt:lpstr>
      <vt:lpstr>[Illustration] RL 的元素</vt:lpstr>
      <vt:lpstr>[Definition] Trajectory and Episode</vt:lpstr>
      <vt:lpstr>[Illustration] RL 的元素 (假設τ只有3個點)</vt:lpstr>
      <vt:lpstr>[Illustration] RL 的元素 (假設τ只有3個點)</vt:lpstr>
      <vt:lpstr>[Definition] Cumulated reward</vt:lpstr>
      <vt:lpstr>[Definition] Discounted cumulated reward</vt:lpstr>
      <vt:lpstr>PowerPoint 簡報</vt:lpstr>
      <vt:lpstr>[Definition] What is policy?</vt:lpstr>
      <vt:lpstr>如何訓練一個RL模型？</vt:lpstr>
      <vt:lpstr>如何訓練一個RL模型？(3-1)</vt:lpstr>
      <vt:lpstr>[Illustration] RL 的元素 (假設τ只有3個點)</vt:lpstr>
      <vt:lpstr>Log Derivative Trick</vt:lpstr>
      <vt:lpstr>如何訓練一個RL模型？(3-2)</vt:lpstr>
      <vt:lpstr>Why Log Derivative Trick?</vt:lpstr>
      <vt:lpstr>如何訓練一個RL模型？(3-3)</vt:lpstr>
      <vt:lpstr>把 G_t (Cumulated reward) 考慮進去</vt:lpstr>
      <vt:lpstr>[Important Notes] Training 細節</vt:lpstr>
      <vt:lpstr>PowerPoint 簡報</vt:lpstr>
      <vt:lpstr>General Problem (1)</vt:lpstr>
      <vt:lpstr>General Problem (2)</vt:lpstr>
      <vt:lpstr>[Definition] Critic</vt:lpstr>
      <vt:lpstr>訓練 V 的方法 (1): Monte Carlo</vt:lpstr>
      <vt:lpstr>訓練 V 的方法 (2): Temporal Difference (TD)</vt:lpstr>
      <vt:lpstr>訓練 V 的方法 (2): Temporal Difference (TD)</vt:lpstr>
      <vt:lpstr>V 如何幫助 actor 訓練？</vt:lpstr>
      <vt:lpstr>V 如何幫助 actor 訓練？</vt:lpstr>
      <vt:lpstr>PowerPoint 簡報</vt:lpstr>
      <vt:lpstr>[Recap, Important Notes] Training 細節</vt:lpstr>
      <vt:lpstr>[Definition] On-policy and Off-policy</vt:lpstr>
      <vt:lpstr>On-policy and Off-policy</vt:lpstr>
      <vt:lpstr>Off-policy 的問題與 PPO</vt:lpstr>
      <vt:lpstr>Summary</vt:lpstr>
      <vt:lpstr>學習資源</vt:lpstr>
      <vt:lpstr>Week 15 / Week 16 之前要繳交什麼？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1605</cp:revision>
  <dcterms:created xsi:type="dcterms:W3CDTF">2025-02-06T07:16:08Z</dcterms:created>
  <dcterms:modified xsi:type="dcterms:W3CDTF">2025-12-10T05:04:38Z</dcterms:modified>
</cp:coreProperties>
</file>